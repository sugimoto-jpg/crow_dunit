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107/"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458/"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232/"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130/"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306/"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789920" cy="365760"/>
          </a:xfrm>
          <a:prstGeom prst="rect">
            <a:avLst/>
          </a:prstGeom>
          <a:noFill/>
          <a:ln/>
        </p:spPr>
        <p:txBody>
          <a:bodyPr wrap="square" rtlCol="0" anchor="ctr"/>
          <a:lstStyle/>
          <a:p>
            <a:pPr indent="0" marL="0">
              <a:buNone/>
            </a:pPr>
            <a:r>
              <a:rPr lang="en-US" sz="1150" b="1" spc="100" kern="0" dirty="0">
                <a:solidFill>
                  <a:srgbClr val="CADCFC"/>
                </a:solidFill>
                <a:latin typeface="Meiryo" pitchFamily="34" charset="0"/>
                <a:ea typeface="Meiryo" pitchFamily="34" charset="-122"/>
                <a:cs typeface="Meiryo" pitchFamily="34" charset="-120"/>
              </a:rPr>
              <a:t>CASE STUDIES ─ 営業支援ユニット × 就労支援・作業委託・グッズ制作・福祉コンサル</a:t>
            </a:r>
            <a:endParaRPr lang="en-US" sz="115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000" b="1" dirty="0">
                <a:solidFill>
                  <a:srgbClr val="FFFFFF"/>
                </a:solidFill>
                <a:latin typeface="Meiryo" pitchFamily="34" charset="0"/>
                <a:ea typeface="Meiryo" pitchFamily="34" charset="-122"/>
                <a:cs typeface="Meiryo" pitchFamily="34" charset="-120"/>
              </a:rPr>
              <a:t>株式会社Product of Japan様</a:t>
            </a:r>
            <a:endParaRPr lang="en-US" sz="3000" dirty="0"/>
          </a:p>
          <a:p>
            <a:pPr indent="0" marL="0">
              <a:lnSpc>
                <a:spcPct val="110000"/>
              </a:lnSpc>
              <a:buNone/>
            </a:pPr>
            <a:r>
              <a:rPr lang="en-US" sz="3000" b="1" dirty="0">
                <a:solidFill>
                  <a:srgbClr val="FFFFFF"/>
                </a:solidFill>
                <a:latin typeface="Meiryo" pitchFamily="34" charset="0"/>
                <a:ea typeface="Meiryo" pitchFamily="34" charset="-122"/>
                <a:cs typeface="Meiryo" pitchFamily="34" charset="-120"/>
              </a:rPr>
              <a:t>提案引用実績 5選</a:t>
            </a:r>
            <a:endParaRPr lang="en-US" sz="3000" dirty="0"/>
          </a:p>
        </p:txBody>
      </p:sp>
      <p:sp>
        <p:nvSpPr>
          <p:cNvPr id="7" name="Text 5"/>
          <p:cNvSpPr/>
          <p:nvPr/>
        </p:nvSpPr>
        <p:spPr>
          <a:xfrm>
            <a:off x="822960" y="3401568"/>
            <a:ext cx="10241280" cy="1371600"/>
          </a:xfrm>
          <a:prstGeom prst="rect">
            <a:avLst/>
          </a:prstGeom>
          <a:noFill/>
          <a:ln/>
        </p:spPr>
        <p:txBody>
          <a:bodyPr wrap="square" rtlCol="0" anchor="ctr"/>
          <a:lstStyle/>
          <a:p>
            <a:pPr indent="0" marL="0">
              <a:lnSpc>
                <a:spcPct val="120000"/>
              </a:lnSpc>
              <a:buNone/>
            </a:pPr>
            <a:r>
              <a:rPr lang="en-US" sz="1100" dirty="0">
                <a:solidFill>
                  <a:srgbClr val="DDE8F6"/>
                </a:solidFill>
                <a:latin typeface="Meiryo" pitchFamily="34" charset="0"/>
                <a:ea typeface="Meiryo" pitchFamily="34" charset="-122"/>
                <a:cs typeface="Meiryo" pitchFamily="34" charset="-120"/>
              </a:rPr>
              <a:t>株式会社Product of Japan様（企業と障害者就労施設を結ぶ仲介・委託、缶バッチ・キャラクターグッズ制作、内職受託・品質管理・作業振分、障害福祉サービス事業所の運営・コンサル／課題：新規BtoB営業・作業委託企業の開拓・グッズ受託および福祉コンサル案件の獲得）と同業界・関連領域で、「企業からの作業委託・軽作業・オリジナルグッズ受注の能動獲得」「社会貢献・SDGs文脈でのBtoBアプローチ」「営業リソース不足からの脱却」を解決した実績を5件厳選しました。</a:t>
            </a:r>
            <a:endParaRPr lang="en-US" sz="1100" dirty="0"/>
          </a:p>
        </p:txBody>
      </p:sp>
      <p:sp>
        <p:nvSpPr>
          <p:cNvPr id="8" name="Shape 6"/>
          <p:cNvSpPr/>
          <p:nvPr/>
        </p:nvSpPr>
        <p:spPr>
          <a:xfrm>
            <a:off x="822960" y="5102352"/>
            <a:ext cx="10515600" cy="0"/>
          </a:xfrm>
          <a:prstGeom prst="line">
            <a:avLst/>
          </a:prstGeom>
          <a:noFill/>
          <a:ln w="12700">
            <a:solidFill>
              <a:srgbClr val="3A5A87"/>
            </a:solidFill>
            <a:prstDash val="solid"/>
          </a:ln>
        </p:spPr>
      </p:sp>
      <p:sp>
        <p:nvSpPr>
          <p:cNvPr id="9" name="Text 7"/>
          <p:cNvSpPr/>
          <p:nvPr/>
        </p:nvSpPr>
        <p:spPr>
          <a:xfrm>
            <a:off x="822960" y="5248656"/>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企業からの作業委託・軽作業・グッズ受注を能動獲得／CSR・SDGs・障害者雇用の切り口で法人開拓を自動化／福祉コンサル案件の獲得</a:t>
            </a:r>
            <a:endParaRPr lang="en-US" sz="1000" dirty="0"/>
          </a:p>
        </p:txBody>
      </p:sp>
      <p:sp>
        <p:nvSpPr>
          <p:cNvPr id="10" name="Text 8"/>
          <p:cNvSpPr/>
          <p:nvPr/>
        </p:nvSpPr>
        <p:spPr>
          <a:xfrm>
            <a:off x="822960" y="5596128"/>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Platform・セールスユニット・Crowd Members連携）</a:t>
            </a:r>
            <a:endParaRPr lang="en-US" sz="1100" dirty="0"/>
          </a:p>
        </p:txBody>
      </p:sp>
      <p:sp>
        <p:nvSpPr>
          <p:cNvPr id="11" name="Text 9"/>
          <p:cNvSpPr/>
          <p:nvPr/>
        </p:nvSpPr>
        <p:spPr>
          <a:xfrm>
            <a:off x="822960" y="6089904"/>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営業専任を抱えず外部連携で新規開拓を体制化。固定費を抑えBtoB受託先を獲得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株式会社楽喜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ご当地キャラクター商品・缶バッジ・オリジナルグッズの企画・製造・販売、ノベルティ受託、軽作業・内職連携。</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55676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55676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グッズ・ノベルティのBtoB販路・受託案件を拡大したい</a:t>
            </a:r>
            <a:endParaRPr lang="en-US" sz="950" dirty="0"/>
          </a:p>
        </p:txBody>
      </p:sp>
      <p:sp>
        <p:nvSpPr>
          <p:cNvPr id="13" name="Shape 11"/>
          <p:cNvSpPr/>
          <p:nvPr/>
        </p:nvSpPr>
        <p:spPr>
          <a:xfrm>
            <a:off x="585216" y="455371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自社内の営業体制・人的リソース不足で新規開拓が停滞</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キャラクターグッズやノベルティ企画を手がける同社。自社に営業専任者を抱え込まず、外部の営業支援仕組みを活用してターゲット企業への打診を体制化。最小限の固定費で新規顧客を開拓する仕組み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ママワークス（Crowd Members）等を活用し、新規アプローチや商品提案のサポート体制を迅速に構築。自社の負担を増やさずに新規BtoB取引先や受託案件の獲得に成功した。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Product of Japan様が展開する「缶バッチ・キャラクターグッズ制作」や「軽作業・作業振分」のBtoB開拓にダイレクトに合致する事例です。営業支援ユニットを通じて「オリジナルグッズやノベルティを作りたい企業・アニメ/エンタメ事業者」へ直接アプローチをかけ、効率的に受注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「自社に営業ノウハウや人的リソースがなくても、外部の仕組みを活用して連携することで、スピーディーに新しいグッズ・商品の販路や受託先を広げることができます。」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https://www.aidma-hd.jp/case/zirei-107/</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株式会社Product of Japan様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営業マン不在でもCSR/SDGs文脈で法人を開拓。新規契約を連続獲得しBtoBを自動化</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ZERO株式会社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サステナブル自販機・SDGs/健康経営ソリューションのBtoB導入提案、社会貢献型BtoB事業。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19481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1948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社会貢献性・SDGs要素を持つBtoBサービスを展開</a:t>
            </a:r>
            <a:endParaRPr lang="en-US" sz="950" dirty="0"/>
          </a:p>
        </p:txBody>
      </p:sp>
      <p:sp>
        <p:nvSpPr>
          <p:cNvPr id="13" name="Shape 11"/>
          <p:cNvSpPr/>
          <p:nvPr/>
        </p:nvSpPr>
        <p:spPr>
          <a:xfrm>
            <a:off x="585216" y="4553712"/>
            <a:ext cx="365810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65810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自社に営業・テレアポ部隊がなく法人開拓の体制が未確立</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社会貢献型プロダクトの普及を目指すベンチャー。自社で営業マンを雇うリスクを避け、アイドマの営業支援ユニットを導入。企業の総務・人事・CSR担当者へ導入メリットを伝えるプッシュ型営業を展開し、質の高い商談を自動獲得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Platform」と「セールスユニット」の導入により、ターゲット法人へ能動的にアプローチを実施。自社営業マン不在のまま新規契約を連続獲得し、BtoB開拓の自動化に成功した。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Product of Japan様が持つ「企業と障害者就労施設を結ぶ仲介・委託事業」を、企業の「CSR活動・SDGs推進・障害者雇用支援・コスト削減」の切り口で法人企業へアプローチする際の最高のモデルです。営業支援ユニットで企業へ直接提案し、内職や軽作業の委託案件をスムーズに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に営業担当がいなかったり、リソースが不足している場合は、外部のプロフェッショナルを活用することが最も効率化を図る上で良いと思います。幅広い業界にテストマーケティングできた点は大きなメリットでした。」</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https://www.aidma-hd.jp/case/zirei-458/</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株式会社Product of Japan様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作業委託・アセンブリのBtoB開拓を自動化。現場負担を削減しつつ発注企業を拡大</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日商デリカ株式会社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高付加価値商品の企画・製造・作業委託・BtoB受託販売。</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433857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433857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商品・軽作業・アセンブリのBtoB販路開拓で営業リソース・人員不足</a:t>
            </a:r>
            <a:endParaRPr lang="en-US" sz="950" dirty="0"/>
          </a:p>
        </p:txBody>
      </p:sp>
      <p:sp>
        <p:nvSpPr>
          <p:cNvPr id="13" name="Shape 11"/>
          <p:cNvSpPr/>
          <p:nvPr/>
        </p:nvSpPr>
        <p:spPr>
          <a:xfrm>
            <a:off x="585216" y="4553712"/>
            <a:ext cx="287629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新規営業・アプローチにパワーを集中できず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商品企画や受託作業を手がける同社が、人手不足の中で新規販路拡大を推進するため導入。初期アプローチを仕組み化・外部化することで、社内メンバーが品質管理や受託実務に専念できる体制を構築した。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外部の営業支援仕組み（Sales Platform/Crowd Members）を活用し、アプローチ業務を自動化・効率化。現場の負担を大幅に削減しながら、新規BtoB取引先（作業委託・発注企業）の獲得と案件拡大を達成した。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Product of Japan様が手がける「内職受託・品質管理・作業振分」という軽作業・梱包・アセンブリのBtoB受託開拓における手本となります。営業支援ユニットがバックエンドで「軽作業や封入・検品などの外注を検討している企業」へ自動アプローチするため、Product of Japan様は障害者施設との連携や品質管理に集中したまま委託案件を増やせます。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「社内の限られたリソースだけで営業や販路拡大の全てを抱え込むのではなく、外部の仕組みを上手に活用して、未来に向けた重要度の高いコア業務にパワーを集中させることが成長への鍵となります。」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株式会社Product of Japan様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営業マンを持たない経営を実現。自社工数ほぼゼロで見込み客33件・多数の資料請求を獲得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株式会社テイクオーバル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ノベルティ・コンテンツ制作、各種代行・受託プロデュース事業。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55676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55676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少人数体制で新規営業（BtoB）のノウハウも体制も皆無</a:t>
            </a:r>
            <a:endParaRPr lang="en-US" sz="950" dirty="0"/>
          </a:p>
        </p:txBody>
      </p:sp>
      <p:sp>
        <p:nvSpPr>
          <p:cNvPr id="13" name="Shape 11"/>
          <p:cNvSpPr/>
          <p:nvPr/>
        </p:nvSpPr>
        <p:spPr>
          <a:xfrm>
            <a:off x="585216" y="4553712"/>
            <a:ext cx="209448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0944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新規受託案件の開拓が手つかず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営業マンを持たない「持たない経営」を追求。新規アプローチを完全アウトソースし、自社はサービス提供・作業管理実務とお膳立てされた商談の対応のみに専念する「営業プロセスの完全外部化」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アイドマの「Sales Platform」を導入したことで、見込み客33件、および多数の資料請求という自社工数ほぼゼロでの強力な新規リード・商談を獲得。最少リソースで直請け受託案件を獲得する仕組み作りに成功した。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Product of Japan様のように「自前で営業チームを抱える余裕がない」場合において、営業支援ユニットを外部の営業部隊として稼働させ、委託・制作ニーズを持つ企業との商談を自動的に獲得する実践モデルです。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「優れた技術やサービスがあるならば、営業担当者を雇用するリスクや教育の手間を考えれば、営業活動は最初から仕組みとしてアウトソーシング（外注）するほうが圧倒的にメリットが大きいです。」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株式会社Product of Japan様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実務多忙でも営業を自動化。アポ率3.5〜5%・成約率30%でコンサル案件を継続創出</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坂本コンサルティング株式会社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経営支援、コンサルティング、事業承継・組織再生アドバイザリー。</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コンサルタント実務に追われ営業アプローチが停止</a:t>
            </a:r>
            <a:endParaRPr lang="en-US" sz="950" dirty="0"/>
          </a:p>
        </p:txBody>
      </p:sp>
      <p:sp>
        <p:nvSpPr>
          <p:cNvPr id="13" name="Shape 11"/>
          <p:cNvSpPr/>
          <p:nvPr/>
        </p:nvSpPr>
        <p:spPr>
          <a:xfrm>
            <a:off x="585216" y="4553712"/>
            <a:ext cx="287629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新規の相談先・コンサル受託先を開拓できず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実務を行っていたため営業活動が困難だったが、「Sales Platform」を導入。支援チームと二人三脚で切り口を言語化し、アプローチを自動化。全国規模でコンサル相談を受託できる体制を整えた。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営業支援ユニットの導入とアプローチトークの磨き込みにより、高いアポイント率（3.5%〜5%）と成約率30%を達成。継続的にコンサルティング案件を自動創出する体制を確立した。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Product of Japan様が展開する「障害福祉サービス事業所の運営・コンサルティング」の新規開拓に合致する事例です。全国の障害福祉サービス事業所や新規立ち上げを検討している事業者へ向けて、運営・コンサルティング提案を営業支援ユニットで自動配信し、相談・案件獲得を伸ばすことが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「私1人では不可能な量の営業活動を達成することができ、費用対効果も抜群で、小規模企業にもかかわらず素晴らしい営業の仕組みを構築できたと思います。」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https://www.aidma-hd.jp/case/zirei-306/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株式会社Product of Japan様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まとめ ─ 就労支援・作業委託・グッズ・福祉コンサル：営業不足 → 委託・受託案件を自動獲得（Before → After）</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株式会社楽喜</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キャラクターグッズ・缶バッジ・ノベルティ</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グッズ・ノベルティのBtoB販路を拡大したいが営業体制・人的リソース不足で新規開拓が停滞</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ママワークス（Crowd Members）等（新規アプローチ・商品提案サポート体制を構築）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固定費を抑え、新規BtoB取引先・受託案件の獲得に成功</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ZERO株式会社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サステナブル・SDGs/社会貢献型BtoB</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社会貢献型BtoBを展開するが営業・テレアポ部隊がなく法人開拓の体制が未確立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Platform・セールスユニット（総務/人事/CSR担当へプッシュ型営業）</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営業マン不在のまま新規契約を連続獲得、BtoB開拓を自動化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日商デリカ株式会社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企画・製造／軽作業・BtoB受託</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軽作業・アセンブリのBtoB販路開拓で営業リソース・人員不足／アプローチに集中できず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Platform／Crowd Members（初期アプローチを自動化・外部化）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現場負担を大幅削減しつつ新規BtoB取引先（作業委託・発注企業）の獲得と案件拡大を達成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株式会社テイクオーバル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ノベルティ・コンテンツ制作／受託代行</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少人数体制で新規営業のノウハウも体制も皆無／新規受託案件の開拓が手つかず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Platform（新規アプローチを完全アウトソース）</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自社工数ほぼゼロで見込み客33件・多数の資料請求を獲得、直請け受託の仕組みを構築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坂本コンサルティング株式会社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経営支援・コンサルティング</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コンサル実務に追われ営業が停止／新規の相談先・コンサル受託先を開拓できず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Platform（切り口を言語化しアプローチを自動化）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アポ率3.5〜5%・成約率30%を達成、全国規模でコンサル案件を継続創出</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00" b="1" dirty="0">
                <a:solidFill>
                  <a:srgbClr val="16407A"/>
                </a:solidFill>
                <a:latin typeface="Meiryo" pitchFamily="34" charset="0"/>
                <a:ea typeface="Meiryo" pitchFamily="34" charset="-122"/>
                <a:cs typeface="Meiryo" pitchFamily="34" charset="-120"/>
              </a:rPr>
              <a:t>障害者就労施設との連携や品質管理に集中したまま、自社の稼働を消費せずに営業支援ユニットで企業からの作業委託・グッズ受託・福祉コンサル案件を能動的に獲得できることを示す、就労支援・作業委託・グッズ制作・コンサル領域の実績で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2026-10-09T11:17:47Z</dcterms:created>
  <dcterms:modified xsi:type="dcterms:W3CDTF">2026-10-09T11:17:47Z</dcterms:modified>
</cp:coreProperties>
</file>