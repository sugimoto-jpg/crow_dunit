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aidma-hd.jp/case/zirei-130/"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aidma-hd.jp/case/zirei-414/"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aidma-hd.jp/case/zirei-132/"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idma-hd.jp/case/zirei-107/"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aidma-hd.jp/case/zirei-232/"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F5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F2F5C"/>
          </a:solidFill>
          <a:ln/>
        </p:spPr>
      </p:sp>
      <p:sp>
        <p:nvSpPr>
          <p:cNvPr id="3" name="Shape 1"/>
          <p:cNvSpPr/>
          <p:nvPr/>
        </p:nvSpPr>
        <p:spPr>
          <a:xfrm>
            <a:off x="9326880" y="-2011680"/>
            <a:ext cx="5029200" cy="5029200"/>
          </a:xfrm>
          <a:prstGeom prst="ellipse">
            <a:avLst/>
          </a:prstGeom>
          <a:solidFill>
            <a:srgbClr val="FFFFFF">
              <a:alpha val="8000"/>
            </a:srgbClr>
          </a:solidFill>
          <a:ln/>
        </p:spPr>
      </p:sp>
      <p:sp>
        <p:nvSpPr>
          <p:cNvPr id="4" name="Shape 2"/>
          <p:cNvSpPr/>
          <p:nvPr/>
        </p:nvSpPr>
        <p:spPr>
          <a:xfrm>
            <a:off x="8595360" y="4023360"/>
            <a:ext cx="3840480" cy="3840480"/>
          </a:xfrm>
          <a:prstGeom prst="ellipse">
            <a:avLst/>
          </a:prstGeom>
          <a:solidFill>
            <a:srgbClr val="FFFFFF">
              <a:alpha val="6000"/>
            </a:srgbClr>
          </a:solidFill>
          <a:ln/>
        </p:spPr>
      </p:sp>
      <p:sp>
        <p:nvSpPr>
          <p:cNvPr id="5" name="Text 3"/>
          <p:cNvSpPr/>
          <p:nvPr/>
        </p:nvSpPr>
        <p:spPr>
          <a:xfrm>
            <a:off x="822960" y="1188720"/>
            <a:ext cx="10607040" cy="365760"/>
          </a:xfrm>
          <a:prstGeom prst="rect">
            <a:avLst/>
          </a:prstGeom>
          <a:noFill/>
          <a:ln/>
        </p:spPr>
        <p:txBody>
          <a:bodyPr wrap="square" rtlCol="0" anchor="ctr"/>
          <a:lstStyle/>
          <a:p>
            <a:pPr indent="0" marL="0">
              <a:buNone/>
            </a:pPr>
            <a:r>
              <a:rPr lang="en-US" sz="1200" b="1" spc="100" kern="0" dirty="0">
                <a:solidFill>
                  <a:srgbClr val="CADCFC"/>
                </a:solidFill>
                <a:latin typeface="Meiryo" pitchFamily="34" charset="0"/>
                <a:ea typeface="Meiryo" pitchFamily="34" charset="-122"/>
                <a:cs typeface="Meiryo" pitchFamily="34" charset="-120"/>
              </a:rPr>
              <a:t>CASE STUDIES ─ 営業支援ユニット × 印刷・販促・デザイン加工</a:t>
            </a:r>
            <a:endParaRPr lang="en-US" sz="1200" dirty="0"/>
          </a:p>
        </p:txBody>
      </p:sp>
      <p:sp>
        <p:nvSpPr>
          <p:cNvPr id="6" name="Text 4"/>
          <p:cNvSpPr/>
          <p:nvPr/>
        </p:nvSpPr>
        <p:spPr>
          <a:xfrm>
            <a:off x="822960" y="1627632"/>
            <a:ext cx="10789920" cy="1737360"/>
          </a:xfrm>
          <a:prstGeom prst="rect">
            <a:avLst/>
          </a:prstGeom>
          <a:noFill/>
          <a:ln/>
        </p:spPr>
        <p:txBody>
          <a:bodyPr wrap="square" rtlCol="0" anchor="ctr"/>
          <a:lstStyle/>
          <a:p>
            <a:pPr indent="0" marL="0">
              <a:lnSpc>
                <a:spcPct val="110000"/>
              </a:lnSpc>
              <a:buNone/>
            </a:pPr>
            <a:r>
              <a:rPr lang="en-US" sz="3400" b="1" dirty="0">
                <a:solidFill>
                  <a:srgbClr val="FFFFFF"/>
                </a:solidFill>
                <a:latin typeface="Meiryo" pitchFamily="34" charset="0"/>
                <a:ea typeface="Meiryo" pitchFamily="34" charset="-122"/>
                <a:cs typeface="Meiryo" pitchFamily="34" charset="-120"/>
              </a:rPr>
              <a:t>有限会社是沢印刷様</a:t>
            </a:r>
            <a:endParaRPr lang="en-US" sz="3400" dirty="0"/>
          </a:p>
          <a:p>
            <a:pPr indent="0" marL="0">
              <a:lnSpc>
                <a:spcPct val="110000"/>
              </a:lnSpc>
              <a:buNone/>
            </a:pPr>
            <a:r>
              <a:rPr lang="en-US" sz="3200" b="1" dirty="0">
                <a:solidFill>
                  <a:srgbClr val="FFFFFF"/>
                </a:solidFill>
                <a:latin typeface="Meiryo" pitchFamily="34" charset="0"/>
                <a:ea typeface="Meiryo" pitchFamily="34" charset="-122"/>
                <a:cs typeface="Meiryo" pitchFamily="34" charset="-120"/>
              </a:rPr>
              <a:t>提案引用実績 5選</a:t>
            </a:r>
            <a:endParaRPr lang="en-US" sz="3400" dirty="0"/>
          </a:p>
        </p:txBody>
      </p:sp>
      <p:sp>
        <p:nvSpPr>
          <p:cNvPr id="7" name="Text 5"/>
          <p:cNvSpPr/>
          <p:nvPr/>
        </p:nvSpPr>
        <p:spPr>
          <a:xfrm>
            <a:off x="822960" y="3474720"/>
            <a:ext cx="10149840" cy="1188720"/>
          </a:xfrm>
          <a:prstGeom prst="rect">
            <a:avLst/>
          </a:prstGeom>
          <a:noFill/>
          <a:ln/>
        </p:spPr>
        <p:txBody>
          <a:bodyPr wrap="square" rtlCol="0" anchor="ctr"/>
          <a:lstStyle/>
          <a:p>
            <a:pPr indent="0" marL="0">
              <a:lnSpc>
                <a:spcPct val="122000"/>
              </a:lnSpc>
              <a:buNone/>
            </a:pPr>
            <a:r>
              <a:rPr lang="en-US" sz="1200" dirty="0">
                <a:solidFill>
                  <a:srgbClr val="DDE8F6"/>
                </a:solidFill>
                <a:latin typeface="Meiryo" pitchFamily="34" charset="0"/>
                <a:ea typeface="Meiryo" pitchFamily="34" charset="-122"/>
                <a:cs typeface="Meiryo" pitchFamily="34" charset="-120"/>
              </a:rPr>
              <a:t>有限会社是沢印刷様（印刷事業／課題：新規開拓・既存や下請け頼みからの脱却・営業体制の不在）と同じ印刷・販促・デザイン加工業界で、「印刷・加工実務で多忙による新規営業の手回らず」「既存や代理店頼みからの脱却」「直請け・高単価な印刷・販促案件の能動的獲得」を解決した実績を5件厳選しました。</a:t>
            </a:r>
            <a:endParaRPr lang="en-US" sz="1200" dirty="0"/>
          </a:p>
        </p:txBody>
      </p:sp>
      <p:sp>
        <p:nvSpPr>
          <p:cNvPr id="8" name="Shape 6"/>
          <p:cNvSpPr/>
          <p:nvPr/>
        </p:nvSpPr>
        <p:spPr>
          <a:xfrm>
            <a:off x="822960" y="5074920"/>
            <a:ext cx="10515600" cy="0"/>
          </a:xfrm>
          <a:prstGeom prst="line">
            <a:avLst/>
          </a:prstGeom>
          <a:noFill/>
          <a:ln w="12700">
            <a:solidFill>
              <a:srgbClr val="3A5A87"/>
            </a:solidFill>
            <a:prstDash val="solid"/>
          </a:ln>
        </p:spPr>
      </p:sp>
      <p:sp>
        <p:nvSpPr>
          <p:cNvPr id="9" name="Text 7"/>
          <p:cNvSpPr/>
          <p:nvPr/>
        </p:nvSpPr>
        <p:spPr>
          <a:xfrm>
            <a:off x="822960" y="5230368"/>
            <a:ext cx="10607040" cy="320040"/>
          </a:xfrm>
          <a:prstGeom prst="rect">
            <a:avLst/>
          </a:prstGeom>
          <a:noFill/>
          <a:ln/>
        </p:spPr>
        <p:txBody>
          <a:bodyPr wrap="square" rtlCol="0" anchor="ctr"/>
          <a:lstStyle/>
          <a:p>
            <a:pPr indent="0" marL="0">
              <a:buNone/>
            </a:pPr>
            <a:r>
              <a:rPr lang="en-US" sz="1000" b="1" dirty="0">
                <a:solidFill>
                  <a:srgbClr val="CADCFC"/>
                </a:solidFill>
                <a:latin typeface="Meiryo" pitchFamily="34" charset="0"/>
                <a:ea typeface="Meiryo" pitchFamily="34" charset="-122"/>
                <a:cs typeface="Meiryo" pitchFamily="34" charset="-120"/>
              </a:rPr>
              <a:t>提案の狙い　</a:t>
            </a:r>
            <a:pPr indent="0" marL="0">
              <a:buNone/>
            </a:pPr>
            <a:r>
              <a:rPr lang="en-US" sz="1000" dirty="0">
                <a:solidFill>
                  <a:srgbClr val="C9D8ED"/>
                </a:solidFill>
                <a:latin typeface="Meiryo" pitchFamily="34" charset="0"/>
                <a:ea typeface="Meiryo" pitchFamily="34" charset="-122"/>
                <a:cs typeface="Meiryo" pitchFamily="34" charset="-120"/>
              </a:rPr>
              <a:t>印刷・加工に専念したまま直請けBtoB商談を能動獲得／既存・下請け・代理店依存からの脱却／企業の販促・総務部門への直接開拓を自動化</a:t>
            </a:r>
            <a:endParaRPr lang="en-US" sz="1000" dirty="0"/>
          </a:p>
        </p:txBody>
      </p:sp>
      <p:sp>
        <p:nvSpPr>
          <p:cNvPr id="10" name="Text 8"/>
          <p:cNvSpPr/>
          <p:nvPr/>
        </p:nvSpPr>
        <p:spPr>
          <a:xfrm>
            <a:off x="822960" y="5577840"/>
            <a:ext cx="10607040" cy="320040"/>
          </a:xfrm>
          <a:prstGeom prst="rect">
            <a:avLst/>
          </a:prstGeom>
          <a:noFill/>
          <a:ln/>
        </p:spPr>
        <p:txBody>
          <a:bodyPr wrap="square" rtlCol="0" anchor="ctr"/>
          <a:lstStyle/>
          <a:p>
            <a:pPr indent="0" marL="0">
              <a:buNone/>
            </a:pPr>
            <a:r>
              <a:rPr lang="en-US" sz="1100" b="1" dirty="0">
                <a:solidFill>
                  <a:srgbClr val="CADCFC"/>
                </a:solidFill>
                <a:latin typeface="Meiryo" pitchFamily="34" charset="0"/>
                <a:ea typeface="Meiryo" pitchFamily="34" charset="-122"/>
                <a:cs typeface="Meiryo" pitchFamily="34" charset="-120"/>
              </a:rPr>
              <a:t>提供サービス　</a:t>
            </a:r>
            <a:pPr indent="0" marL="0">
              <a:buNone/>
            </a:pPr>
            <a:r>
              <a:rPr lang="en-US" sz="1100" dirty="0">
                <a:solidFill>
                  <a:srgbClr val="C9D8ED"/>
                </a:solidFill>
                <a:latin typeface="Meiryo" pitchFamily="34" charset="0"/>
                <a:ea typeface="Meiryo" pitchFamily="34" charset="-122"/>
                <a:cs typeface="Meiryo" pitchFamily="34" charset="-120"/>
              </a:rPr>
              <a:t>営業支援ユニット（Sales Platform・Crowd Members連携）</a:t>
            </a:r>
            <a:endParaRPr lang="en-US" sz="1100" dirty="0"/>
          </a:p>
        </p:txBody>
      </p:sp>
      <p:sp>
        <p:nvSpPr>
          <p:cNvPr id="11" name="Text 9"/>
          <p:cNvSpPr/>
          <p:nvPr/>
        </p:nvSpPr>
        <p:spPr>
          <a:xfrm>
            <a:off x="822960" y="6071616"/>
            <a:ext cx="7315200" cy="320040"/>
          </a:xfrm>
          <a:prstGeom prst="rect">
            <a:avLst/>
          </a:prstGeom>
          <a:noFill/>
          <a:ln/>
        </p:spPr>
        <p:txBody>
          <a:bodyPr wrap="square" rtlCol="0" anchor="ctr"/>
          <a:lstStyle/>
          <a:p>
            <a:pPr indent="0" marL="0">
              <a:buNone/>
            </a:pPr>
            <a:r>
              <a:rPr lang="en-US" sz="1100" dirty="0">
                <a:solidFill>
                  <a:srgbClr val="8FA9CC"/>
                </a:solidFill>
                <a:latin typeface="Meiryo" pitchFamily="34" charset="0"/>
                <a:ea typeface="Meiryo" pitchFamily="34" charset="-122"/>
                <a:cs typeface="Meiryo" pitchFamily="34" charset="-120"/>
              </a:rPr>
              <a:t>株式会社アイドマ・ホールディングス</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1</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営業マンを持たない経営を実現。自社工数ほぼゼロで見込み客33件・多数の資料請求を獲得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株式会社テイクオーバル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印刷・販促支援、コンテンツデザイン・プロデュース事業、各種受託事業。</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190627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190627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代表と社員1人の少人数体制</a:t>
            </a:r>
            <a:endParaRPr lang="en-US" sz="950" dirty="0"/>
          </a:p>
        </p:txBody>
      </p:sp>
      <p:sp>
        <p:nvSpPr>
          <p:cNvPr id="13" name="Shape 11"/>
          <p:cNvSpPr/>
          <p:nvPr/>
        </p:nvSpPr>
        <p:spPr>
          <a:xfrm>
            <a:off x="585216" y="4553712"/>
            <a:ext cx="4729480"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472948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新規営業（BtoB）のノウハウも体制もなく印刷・販促案件の開拓が手つかず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自社営業マンを持たない「持たない経営」を追求。新規アプローチを完全アウトソースし、自社は印刷・デザイン制作実務とお膳立てされた商談の対応のみに専念する「営業プロセスの完全外部化」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アイドマの「Sales Platform」を導入したことで、見込み客33件、および多数の資料請求という自社工数ほぼゼロでの強力な新規リード・商談を獲得。最少リソースで新規BtoB案件を獲得する仕組み作りに成功した。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有限会社是沢印刷様と「印刷・販促」という事業内容が完全に合致する同業最高峰の事例です。少人数で印刷・加工実務を抱える是沢印刷様が、高額な営業社員を自前で雇用することなく、営業支援ユニットを通じて「チラシ・パンフレット・各種印刷物の作成を検討している企業」へ自動アプローチし、効率的に直請け商談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「優れた技術やサービスがあるならば、営業担当者を雇用するリスクや教育の手間を考えれば、営業活動は最初から仕組みとしてアウトソーシング（外注）するほうが圧倒的にメリットが大きいです。」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https://www.aidma-hd.jp/case/zirei-130/</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有限会社是沢印刷様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1 / 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2</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社長一人の紹介頼みから脱却。5ヵ月でアポ33件・成約率約30%で大型受注5件を獲得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株式会社ELU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印刷・販促プロモーション支援、ホームページ企画制作、デザイン、ITインフラ導入支援。</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209290"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209290"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社長一人の人脈・紹介頼みで印刷/デザインの営業</a:t>
            </a:r>
            <a:endParaRPr lang="en-US" sz="950" dirty="0"/>
          </a:p>
        </p:txBody>
      </p:sp>
      <p:sp>
        <p:nvSpPr>
          <p:cNvPr id="13" name="Shape 11"/>
          <p:cNvSpPr/>
          <p:nvPr/>
        </p:nvSpPr>
        <p:spPr>
          <a:xfrm>
            <a:off x="585216" y="4553712"/>
            <a:ext cx="391871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9187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リソースの物理的限界で新規開拓の仕組みなく売上が伸び悩み</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印刷・デザイン等の制作実務に追われ営業にリソースを割けなかったため、「Sales Platform」に初期アプローチを完全委託。アイドマが自律的にトークやアプローチを自動化し、質の高い直請け印刷・販促商談のみに社長が対応する体制を構築した。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導入から約5ヵ月でアポイント33件を獲得（うち26件が商談化）。商談からの成約率（受注率）約30％（5件の新規大型受注決定）という非常に高い営業成果を達成。</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是沢印刷様において、「日々の印刷・加工・納品業務で手一杯で新規営業に動けない」という状況を完全に解消するモデルです。営業支援ユニットが新規の法人顧客開拓を自動で行うことで、高単価な直接取引（直請け）の印刷案件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「正直、タイミングだと思ったら使ってみるのが一番だと思います。そのタイミングだと感じたなら、アイドマさんはおすすめできます。」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https://www.aidma-hd.jp/case/zirei-414/</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有限会社是沢印刷様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2 / 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3</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制作兼任で営業時間ゼロでも大手・中堅へ直接アプローチ。高単価な直請け案件を次々獲得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株式会社ゼファクト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各種クリエイティブ制作、印刷・販促物デザイン、Webサイト制作、受託開発。</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00659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00659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高い印刷・制作技術はあるが営業担当が少ない</a:t>
            </a:r>
            <a:endParaRPr lang="en-US" sz="950" dirty="0"/>
          </a:p>
        </p:txBody>
      </p:sp>
      <p:sp>
        <p:nvSpPr>
          <p:cNvPr id="13" name="Shape 11"/>
          <p:cNvSpPr/>
          <p:nvPr/>
        </p:nvSpPr>
        <p:spPr>
          <a:xfrm>
            <a:off x="585216" y="4553712"/>
            <a:ext cx="3658108"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65810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大手・中堅からの直接受注（直請け）を自力で獲得できず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クリエイティブ・印刷制作を行う専門企業。トップが制作現場を兼任しており営業の時間が取れなかったが、ターゲットを大手・中堅企業の適切な部門（販促・広報・総務部門等）に絞り込みアプローチしたことで、直請けの商談窓口を次々と開拓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「Sales Platform」を導入し、アプローチが届かなかった大手・中堅企業へのBtoBアプローチを実施した結果、アポイント取得率が大幅に向上し、高単価な直請け案件を次々と獲得。</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是沢印刷様が持つ印刷技術や対応力を、代理店や下請けを介さず「企業の販促・総務・マーケティング担当者」へ直接届けるための手本となります。営業支援ユニットでターゲットを厳選して打診することで、利益率の高い直請け印刷案件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「自社での営業活動には限界があります。アイドマさんは豊富なデータベースとアプローチ後の可視化されたデータがあるため、自社の提供価値を深く理解してくれた確実な商談へスムーズに進めます。」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有限会社是沢印刷様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3 / 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4</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営業専任を抱えず外部連携で新規開拓を体制化。固定費を抑えBtoB受託先を獲得</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株式会社楽喜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印刷物・オリジナルグッズ・ノベルティの企画・製造・販売、内職・アセンブリ受託。</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3817366"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381736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印刷物・ノベルティのBtoB販路・新規受託案件を拡大したい</a:t>
            </a:r>
            <a:endParaRPr lang="en-US" sz="950" dirty="0"/>
          </a:p>
        </p:txBody>
      </p:sp>
      <p:sp>
        <p:nvSpPr>
          <p:cNvPr id="13" name="Shape 11"/>
          <p:cNvSpPr/>
          <p:nvPr/>
        </p:nvSpPr>
        <p:spPr>
          <a:xfrm>
            <a:off x="585216" y="4553712"/>
            <a:ext cx="3918712"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3918712"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営業アプローチ体制・人的リソース不足で新規開拓が手つかず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印刷物・グッズ企画を手がける同社。自社に営業専任者を抱え込まず、外部の営業支援仕組みを活用してターゲット企業への打診を体制化。最小限の固定費で新規顧客を開拓する仕組みを確立した。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ママワークス（Crowd Members）や営業支援の仕組みを活用し、新規アプローチや商品提案のサポート体制を迅速に構築。自社の負担を増やさずに新規BtoB取引先や印刷・加工受託案件の獲得に成功した。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是沢印刷様が展開する「印刷事業・ノベルティ/販促物加工」のBtoB新規開拓に合致する事例です。営業支援ユニットを通じて「印刷物やノベルティを作りたい企業」へ直接アプローチをかけ、効率的に受注を獲得でき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「自社に営業ノウハウや人的リソースがなくても、外部の仕組みを活用して連携することで、スピーディーに新しいグッズ・商品の販路や受託先を広げることができます。」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https://www.aidma-hd.jp/case/zirei-107/</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有限会社是沢印刷様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4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932688"/>
          </a:xfrm>
          <a:prstGeom prst="roundRect">
            <a:avLst>
              <a:gd name="adj" fmla="val 5882"/>
            </a:avLst>
          </a:prstGeom>
          <a:solidFill>
            <a:srgbClr val="16407A"/>
          </a:solidFill>
          <a:ln/>
          <a:effectLst>
            <a:outerShdw sx="100000" sy="100000" kx="0" ky="0" algn="bl" rotWithShape="0" blurRad="76200" dist="25400" dir="5400000">
              <a:srgbClr val="0F2F5C">
                <a:alpha val="35000"/>
              </a:srgbClr>
            </a:outerShdw>
          </a:effectLst>
        </p:spPr>
      </p:sp>
      <p:sp>
        <p:nvSpPr>
          <p:cNvPr id="3" name="Shape 1"/>
          <p:cNvSpPr/>
          <p:nvPr/>
        </p:nvSpPr>
        <p:spPr>
          <a:xfrm>
            <a:off x="566928" y="566928"/>
            <a:ext cx="530352" cy="530352"/>
          </a:xfrm>
          <a:prstGeom prst="roundRect">
            <a:avLst>
              <a:gd name="adj" fmla="val 13793"/>
            </a:avLst>
          </a:prstGeom>
          <a:solidFill>
            <a:srgbClr val="FFFFFF">
              <a:alpha val="16000"/>
            </a:srgbClr>
          </a:solidFill>
          <a:ln w="12700">
            <a:solidFill>
              <a:srgbClr val="FFFFFF">
                <a:alpha val="40000"/>
              </a:srgbClr>
            </a:solidFill>
            <a:prstDash val="solid"/>
          </a:ln>
        </p:spPr>
      </p:sp>
      <p:sp>
        <p:nvSpPr>
          <p:cNvPr id="4" name="Text 2"/>
          <p:cNvSpPr/>
          <p:nvPr/>
        </p:nvSpPr>
        <p:spPr>
          <a:xfrm>
            <a:off x="566928" y="566928"/>
            <a:ext cx="530352" cy="530352"/>
          </a:xfrm>
          <a:prstGeom prst="rect">
            <a:avLst/>
          </a:prstGeom>
          <a:noFill/>
          <a:ln/>
        </p:spPr>
        <p:txBody>
          <a:bodyPr wrap="square" lIns="0" tIns="0" rIns="0" bIns="0" rtlCol="0" anchor="ctr"/>
          <a:lstStyle/>
          <a:p>
            <a:pPr algn="ctr" indent="0" marL="0">
              <a:buNone/>
            </a:pPr>
            <a:r>
              <a:rPr lang="en-US" sz="2400" b="1" dirty="0">
                <a:solidFill>
                  <a:srgbClr val="FFFFFF"/>
                </a:solidFill>
                <a:latin typeface="Meiryo" pitchFamily="34" charset="0"/>
                <a:ea typeface="Meiryo" pitchFamily="34" charset="-122"/>
                <a:cs typeface="Meiryo" pitchFamily="34" charset="-120"/>
              </a:rPr>
              <a:t>5</a:t>
            </a:r>
            <a:endParaRPr lang="en-US" sz="2400" dirty="0"/>
          </a:p>
        </p:txBody>
      </p:sp>
      <p:sp>
        <p:nvSpPr>
          <p:cNvPr id="5" name="Text 3"/>
          <p:cNvSpPr/>
          <p:nvPr/>
        </p:nvSpPr>
        <p:spPr>
          <a:xfrm>
            <a:off x="1280160" y="420624"/>
            <a:ext cx="10378440" cy="822960"/>
          </a:xfrm>
          <a:prstGeom prst="rect">
            <a:avLst/>
          </a:prstGeom>
          <a:noFill/>
          <a:ln/>
        </p:spPr>
        <p:txBody>
          <a:bodyPr wrap="square" lIns="0" tIns="0" rIns="0" bIns="0" rtlCol="0" anchor="ctr"/>
          <a:lstStyle/>
          <a:p>
            <a:pPr indent="0" marL="0">
              <a:lnSpc>
                <a:spcPct val="105000"/>
              </a:lnSpc>
              <a:buNone/>
            </a:pPr>
            <a:r>
              <a:rPr lang="en-US" sz="1400" b="1" dirty="0">
                <a:solidFill>
                  <a:srgbClr val="FFFFFF"/>
                </a:solidFill>
                <a:latin typeface="Meiryo" pitchFamily="34" charset="0"/>
                <a:ea typeface="Meiryo" pitchFamily="34" charset="-122"/>
                <a:cs typeface="Meiryo" pitchFamily="34" charset="-120"/>
              </a:rPr>
              <a:t>印刷加工のBtoB販路開拓を自動化。現場負担を削減しつつ新規取引先を拡大</a:t>
            </a:r>
            <a:endParaRPr lang="en-US" sz="1400" dirty="0"/>
          </a:p>
        </p:txBody>
      </p:sp>
      <p:sp>
        <p:nvSpPr>
          <p:cNvPr id="6" name="Shape 4"/>
          <p:cNvSpPr/>
          <p:nvPr/>
        </p:nvSpPr>
        <p:spPr>
          <a:xfrm>
            <a:off x="365760" y="1481328"/>
            <a:ext cx="3566160" cy="5029200"/>
          </a:xfrm>
          <a:prstGeom prst="roundRect">
            <a:avLst>
              <a:gd name="adj" fmla="val 1282"/>
            </a:avLst>
          </a:prstGeom>
          <a:solidFill>
            <a:srgbClr val="EAF1FA"/>
          </a:solidFill>
          <a:ln w="12700">
            <a:solidFill>
              <a:srgbClr val="D2DCEA"/>
            </a:solidFill>
            <a:prstDash val="solid"/>
          </a:ln>
        </p:spPr>
      </p:sp>
      <p:sp>
        <p:nvSpPr>
          <p:cNvPr id="7" name="Text 5"/>
          <p:cNvSpPr/>
          <p:nvPr/>
        </p:nvSpPr>
        <p:spPr>
          <a:xfrm>
            <a:off x="585216" y="1664208"/>
            <a:ext cx="3127248" cy="822960"/>
          </a:xfrm>
          <a:prstGeom prst="rect">
            <a:avLst/>
          </a:prstGeom>
          <a:noFill/>
          <a:ln/>
        </p:spPr>
        <p:txBody>
          <a:bodyPr wrap="square" lIns="0" tIns="0" rIns="0" bIns="0" rtlCol="0" anchor="t"/>
          <a:lstStyle/>
          <a:p>
            <a:pPr indent="0" marL="0">
              <a:lnSpc>
                <a:spcPct val="105000"/>
              </a:lnSpc>
              <a:buNone/>
            </a:pPr>
            <a:r>
              <a:rPr lang="en-US" sz="1300" b="1" dirty="0">
                <a:solidFill>
                  <a:srgbClr val="1C2530"/>
                </a:solidFill>
                <a:latin typeface="Meiryo" pitchFamily="34" charset="0"/>
                <a:ea typeface="Meiryo" pitchFamily="34" charset="-122"/>
                <a:cs typeface="Meiryo" pitchFamily="34" charset="-120"/>
              </a:rPr>
              <a:t>株式会社日商デリカ　様</a:t>
            </a:r>
            <a:endParaRPr lang="en-US" sz="1300" dirty="0"/>
          </a:p>
        </p:txBody>
      </p:sp>
      <p:sp>
        <p:nvSpPr>
          <p:cNvPr id="8" name="Text 6"/>
          <p:cNvSpPr/>
          <p:nvPr/>
        </p:nvSpPr>
        <p:spPr>
          <a:xfrm>
            <a:off x="585216" y="2615184"/>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事業内容</a:t>
            </a:r>
            <a:endParaRPr lang="en-US" sz="950" dirty="0"/>
          </a:p>
        </p:txBody>
      </p:sp>
      <p:sp>
        <p:nvSpPr>
          <p:cNvPr id="9" name="Text 7"/>
          <p:cNvSpPr/>
          <p:nvPr/>
        </p:nvSpPr>
        <p:spPr>
          <a:xfrm>
            <a:off x="585216" y="2834640"/>
            <a:ext cx="3127248" cy="1051560"/>
          </a:xfrm>
          <a:prstGeom prst="rect">
            <a:avLst/>
          </a:prstGeom>
          <a:noFill/>
          <a:ln/>
        </p:spPr>
        <p:txBody>
          <a:bodyPr wrap="square" lIns="0" tIns="0" rIns="0" bIns="0" rtlCol="0" anchor="ctr"/>
          <a:lstStyle/>
          <a:p>
            <a:pPr indent="0" marL="0">
              <a:lnSpc>
                <a:spcPct val="113000"/>
              </a:lnSpc>
              <a:buNone/>
            </a:pPr>
            <a:r>
              <a:rPr lang="en-US" sz="950" dirty="0">
                <a:solidFill>
                  <a:srgbClr val="45566A"/>
                </a:solidFill>
                <a:latin typeface="Meiryo" pitchFamily="34" charset="0"/>
                <a:ea typeface="Meiryo" pitchFamily="34" charset="-122"/>
                <a:cs typeface="Meiryo" pitchFamily="34" charset="-120"/>
              </a:rPr>
              <a:t>高付加価値商品の企画・印刷加工・製造・BtoB販売。</a:t>
            </a:r>
            <a:endParaRPr lang="en-US" sz="950" dirty="0"/>
          </a:p>
        </p:txBody>
      </p:sp>
      <p:sp>
        <p:nvSpPr>
          <p:cNvPr id="10" name="Text 8"/>
          <p:cNvSpPr/>
          <p:nvPr/>
        </p:nvSpPr>
        <p:spPr>
          <a:xfrm>
            <a:off x="585216" y="3931920"/>
            <a:ext cx="3127248" cy="219456"/>
          </a:xfrm>
          <a:prstGeom prst="rect">
            <a:avLst/>
          </a:prstGeom>
          <a:noFill/>
          <a:ln/>
        </p:spPr>
        <p:txBody>
          <a:bodyPr wrap="square" lIns="0" tIns="0" rIns="0" bIns="0" rtlCol="0" anchor="ctr"/>
          <a:lstStyle/>
          <a:p>
            <a:pPr indent="0" marL="0">
              <a:buNone/>
            </a:pPr>
            <a:r>
              <a:rPr lang="en-US" sz="950" b="1" spc="100" kern="0" dirty="0">
                <a:solidFill>
                  <a:srgbClr val="2B64AB"/>
                </a:solidFill>
                <a:latin typeface="Meiryo" pitchFamily="34" charset="0"/>
                <a:ea typeface="Meiryo" pitchFamily="34" charset="-122"/>
                <a:cs typeface="Meiryo" pitchFamily="34" charset="-120"/>
              </a:rPr>
              <a:t>解決した課題</a:t>
            </a:r>
            <a:endParaRPr lang="en-US" sz="950" dirty="0"/>
          </a:p>
        </p:txBody>
      </p:sp>
      <p:sp>
        <p:nvSpPr>
          <p:cNvPr id="11" name="Shape 9"/>
          <p:cNvSpPr/>
          <p:nvPr/>
        </p:nvSpPr>
        <p:spPr>
          <a:xfrm>
            <a:off x="585216" y="4206240"/>
            <a:ext cx="4599178" cy="274320"/>
          </a:xfrm>
          <a:prstGeom prst="roundRect">
            <a:avLst>
              <a:gd name="adj" fmla="val 50000"/>
            </a:avLst>
          </a:prstGeom>
          <a:solidFill>
            <a:srgbClr val="DCE8F6"/>
          </a:solidFill>
          <a:ln w="9525">
            <a:solidFill>
              <a:srgbClr val="BFD3EC"/>
            </a:solidFill>
            <a:prstDash val="solid"/>
          </a:ln>
        </p:spPr>
      </p:sp>
      <p:sp>
        <p:nvSpPr>
          <p:cNvPr id="12" name="Text 10"/>
          <p:cNvSpPr/>
          <p:nvPr/>
        </p:nvSpPr>
        <p:spPr>
          <a:xfrm>
            <a:off x="585216" y="4206240"/>
            <a:ext cx="4599178"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高品質な商品・印刷・加工受託のBtoB販路開拓で営業リソース・人員不足</a:t>
            </a:r>
            <a:endParaRPr lang="en-US" sz="950" dirty="0"/>
          </a:p>
        </p:txBody>
      </p:sp>
      <p:sp>
        <p:nvSpPr>
          <p:cNvPr id="13" name="Shape 11"/>
          <p:cNvSpPr/>
          <p:nvPr/>
        </p:nvSpPr>
        <p:spPr>
          <a:xfrm>
            <a:off x="585216" y="4553712"/>
            <a:ext cx="2876296" cy="274320"/>
          </a:xfrm>
          <a:prstGeom prst="roundRect">
            <a:avLst>
              <a:gd name="adj" fmla="val 50000"/>
            </a:avLst>
          </a:prstGeom>
          <a:solidFill>
            <a:srgbClr val="DCE8F6"/>
          </a:solidFill>
          <a:ln w="9525">
            <a:solidFill>
              <a:srgbClr val="BFD3EC"/>
            </a:solidFill>
            <a:prstDash val="solid"/>
          </a:ln>
        </p:spPr>
      </p:sp>
      <p:sp>
        <p:nvSpPr>
          <p:cNvPr id="14" name="Text 12"/>
          <p:cNvSpPr/>
          <p:nvPr/>
        </p:nvSpPr>
        <p:spPr>
          <a:xfrm>
            <a:off x="585216" y="4553712"/>
            <a:ext cx="2876296" cy="274320"/>
          </a:xfrm>
          <a:prstGeom prst="rect">
            <a:avLst/>
          </a:prstGeom>
          <a:noFill/>
          <a:ln/>
        </p:spPr>
        <p:txBody>
          <a:bodyPr wrap="square" lIns="0" tIns="0" rIns="0" bIns="0" rtlCol="0" anchor="ctr"/>
          <a:lstStyle/>
          <a:p>
            <a:pPr algn="ctr" indent="0" marL="0">
              <a:buNone/>
            </a:pPr>
            <a:r>
              <a:rPr lang="en-US" sz="950" b="1" dirty="0">
                <a:solidFill>
                  <a:srgbClr val="24548F"/>
                </a:solidFill>
                <a:latin typeface="Meiryo" pitchFamily="34" charset="0"/>
                <a:ea typeface="Meiryo" pitchFamily="34" charset="-122"/>
                <a:cs typeface="Meiryo" pitchFamily="34" charset="-120"/>
              </a:rPr>
              <a:t>新規営業・アプローチにパワーを集中できず</a:t>
            </a:r>
            <a:endParaRPr lang="en-US" sz="950" dirty="0"/>
          </a:p>
        </p:txBody>
      </p:sp>
      <p:sp>
        <p:nvSpPr>
          <p:cNvPr id="15" name="Shape 13"/>
          <p:cNvSpPr/>
          <p:nvPr/>
        </p:nvSpPr>
        <p:spPr>
          <a:xfrm>
            <a:off x="4114800" y="1417320"/>
            <a:ext cx="82296" cy="219456"/>
          </a:xfrm>
          <a:prstGeom prst="roundRect">
            <a:avLst>
              <a:gd name="adj" fmla="val 33333"/>
            </a:avLst>
          </a:prstGeom>
          <a:solidFill>
            <a:srgbClr val="2B64AB"/>
          </a:solidFill>
          <a:ln/>
        </p:spPr>
      </p:sp>
      <p:sp>
        <p:nvSpPr>
          <p:cNvPr id="16" name="Text 14"/>
          <p:cNvSpPr/>
          <p:nvPr/>
        </p:nvSpPr>
        <p:spPr>
          <a:xfrm>
            <a:off x="4297680" y="1353312"/>
            <a:ext cx="7315200" cy="310896"/>
          </a:xfrm>
          <a:prstGeom prst="rect">
            <a:avLst/>
          </a:prstGeom>
          <a:noFill/>
          <a:ln/>
        </p:spPr>
        <p:txBody>
          <a:bodyPr wrap="square" lIns="0" tIns="0" rIns="0" bIns="0" rtlCol="0" anchor="ctr"/>
          <a:lstStyle/>
          <a:p>
            <a:pPr indent="0" marL="0">
              <a:buNone/>
            </a:pPr>
            <a:r>
              <a:rPr lang="en-US" sz="1250" b="1" dirty="0">
                <a:solidFill>
                  <a:srgbClr val="2B64AB"/>
                </a:solidFill>
                <a:latin typeface="Meiryo" pitchFamily="34" charset="0"/>
                <a:ea typeface="Meiryo" pitchFamily="34" charset="-122"/>
                <a:cs typeface="Meiryo" pitchFamily="34" charset="-120"/>
              </a:rPr>
              <a:t>事例の概要</a:t>
            </a:r>
            <a:endParaRPr lang="en-US" sz="1250" dirty="0"/>
          </a:p>
        </p:txBody>
      </p:sp>
      <p:sp>
        <p:nvSpPr>
          <p:cNvPr id="17" name="Text 15"/>
          <p:cNvSpPr/>
          <p:nvPr/>
        </p:nvSpPr>
        <p:spPr>
          <a:xfrm>
            <a:off x="4114800" y="1682496"/>
            <a:ext cx="7708392" cy="676656"/>
          </a:xfrm>
          <a:prstGeom prst="rect">
            <a:avLst/>
          </a:prstGeom>
          <a:noFill/>
          <a:ln/>
        </p:spPr>
        <p:txBody>
          <a:bodyPr wrap="square" lIns="0" tIns="0" rIns="0" bIns="0" rtlCol="0" anchor="t"/>
          <a:lstStyle/>
          <a:p>
            <a:pPr indent="0" marL="0">
              <a:lnSpc>
                <a:spcPct val="116000"/>
              </a:lnSpc>
              <a:buNone/>
            </a:pPr>
            <a:r>
              <a:rPr lang="en-US" sz="1000" dirty="0">
                <a:solidFill>
                  <a:srgbClr val="45566A"/>
                </a:solidFill>
                <a:latin typeface="Meiryo" pitchFamily="34" charset="0"/>
                <a:ea typeface="Meiryo" pitchFamily="34" charset="-122"/>
                <a:cs typeface="Meiryo" pitchFamily="34" charset="-120"/>
              </a:rPr>
              <a:t>企画や加工製造を手がける同社が、人手不足の中で新規販路拡大を推進するため導入。初期アプローチを仕組み化・外部化することで、社内メンバーが品質管理や質の高い商談に専念できる体制を構築した。</a:t>
            </a:r>
            <a:endParaRPr lang="en-US" sz="1000" dirty="0"/>
          </a:p>
        </p:txBody>
      </p:sp>
      <p:sp>
        <p:nvSpPr>
          <p:cNvPr id="18" name="Shape 16"/>
          <p:cNvSpPr/>
          <p:nvPr/>
        </p:nvSpPr>
        <p:spPr>
          <a:xfrm>
            <a:off x="4114800" y="2395728"/>
            <a:ext cx="7708392" cy="950976"/>
          </a:xfrm>
          <a:prstGeom prst="roundRect">
            <a:avLst>
              <a:gd name="adj" fmla="val 4808"/>
            </a:avLst>
          </a:prstGeom>
          <a:solidFill>
            <a:srgbClr val="E9F4EE"/>
          </a:solidFill>
          <a:ln w="12700">
            <a:solidFill>
              <a:srgbClr val="BADFC9"/>
            </a:solidFill>
            <a:prstDash val="solid"/>
          </a:ln>
        </p:spPr>
      </p:sp>
      <p:sp>
        <p:nvSpPr>
          <p:cNvPr id="19" name="Shape 17"/>
          <p:cNvSpPr/>
          <p:nvPr/>
        </p:nvSpPr>
        <p:spPr>
          <a:xfrm>
            <a:off x="4352544" y="2542032"/>
            <a:ext cx="82296" cy="219456"/>
          </a:xfrm>
          <a:prstGeom prst="roundRect">
            <a:avLst>
              <a:gd name="adj" fmla="val 33333"/>
            </a:avLst>
          </a:prstGeom>
          <a:solidFill>
            <a:srgbClr val="1F7A4D"/>
          </a:solidFill>
          <a:ln/>
        </p:spPr>
      </p:sp>
      <p:sp>
        <p:nvSpPr>
          <p:cNvPr id="20" name="Text 18"/>
          <p:cNvSpPr/>
          <p:nvPr/>
        </p:nvSpPr>
        <p:spPr>
          <a:xfrm>
            <a:off x="4535424" y="2487168"/>
            <a:ext cx="7159752" cy="292608"/>
          </a:xfrm>
          <a:prstGeom prst="rect">
            <a:avLst/>
          </a:prstGeom>
          <a:noFill/>
          <a:ln/>
        </p:spPr>
        <p:txBody>
          <a:bodyPr wrap="square" lIns="0" tIns="0" rIns="0" bIns="0" rtlCol="0" anchor="ctr"/>
          <a:lstStyle/>
          <a:p>
            <a:pPr indent="0" marL="0">
              <a:buNone/>
            </a:pPr>
            <a:r>
              <a:rPr lang="en-US" sz="1200" b="1" dirty="0">
                <a:solidFill>
                  <a:srgbClr val="1F7A4D"/>
                </a:solidFill>
                <a:latin typeface="Meiryo" pitchFamily="34" charset="0"/>
                <a:ea typeface="Meiryo" pitchFamily="34" charset="-122"/>
                <a:cs typeface="Meiryo" pitchFamily="34" charset="-120"/>
              </a:rPr>
              <a:t>結果</a:t>
            </a:r>
            <a:endParaRPr lang="en-US" sz="1200" dirty="0"/>
          </a:p>
        </p:txBody>
      </p:sp>
      <p:sp>
        <p:nvSpPr>
          <p:cNvPr id="21" name="Text 19"/>
          <p:cNvSpPr/>
          <p:nvPr/>
        </p:nvSpPr>
        <p:spPr>
          <a:xfrm>
            <a:off x="4352544" y="2798064"/>
            <a:ext cx="7232904" cy="457200"/>
          </a:xfrm>
          <a:prstGeom prst="rect">
            <a:avLst/>
          </a:prstGeom>
          <a:noFill/>
          <a:ln/>
        </p:spPr>
        <p:txBody>
          <a:bodyPr wrap="square" lIns="0" tIns="0" rIns="0" bIns="0" rtlCol="0" anchor="t"/>
          <a:lstStyle/>
          <a:p>
            <a:pPr indent="0" marL="0">
              <a:lnSpc>
                <a:spcPct val="113000"/>
              </a:lnSpc>
              <a:buNone/>
            </a:pPr>
            <a:r>
              <a:rPr lang="en-US" sz="1000" dirty="0">
                <a:solidFill>
                  <a:srgbClr val="1C3A29"/>
                </a:solidFill>
                <a:latin typeface="Meiryo" pitchFamily="34" charset="0"/>
                <a:ea typeface="Meiryo" pitchFamily="34" charset="-122"/>
                <a:cs typeface="Meiryo" pitchFamily="34" charset="-120"/>
              </a:rPr>
              <a:t>外部の営業支援仕組み（Sales Platform等）を活用し、アプローチ業務を自動化・効率化。現場の負担を大幅に削減しながら、新規BtoB取引先の獲得と案件拡大を達成した。</a:t>
            </a:r>
            <a:endParaRPr lang="en-US" sz="1000" dirty="0"/>
          </a:p>
        </p:txBody>
      </p:sp>
      <p:sp>
        <p:nvSpPr>
          <p:cNvPr id="22" name="Shape 20"/>
          <p:cNvSpPr/>
          <p:nvPr/>
        </p:nvSpPr>
        <p:spPr>
          <a:xfrm>
            <a:off x="4114800" y="3456432"/>
            <a:ext cx="7708392" cy="1572768"/>
          </a:xfrm>
          <a:prstGeom prst="roundRect">
            <a:avLst>
              <a:gd name="adj" fmla="val 2907"/>
            </a:avLst>
          </a:prstGeom>
          <a:solidFill>
            <a:srgbClr val="EAF1FA"/>
          </a:solidFill>
          <a:ln w="12700">
            <a:solidFill>
              <a:srgbClr val="C6D8EF"/>
            </a:solidFill>
            <a:prstDash val="solid"/>
          </a:ln>
        </p:spPr>
      </p:sp>
      <p:sp>
        <p:nvSpPr>
          <p:cNvPr id="23" name="Shape 21"/>
          <p:cNvSpPr/>
          <p:nvPr/>
        </p:nvSpPr>
        <p:spPr>
          <a:xfrm>
            <a:off x="4352544" y="3602736"/>
            <a:ext cx="82296" cy="219456"/>
          </a:xfrm>
          <a:prstGeom prst="roundRect">
            <a:avLst>
              <a:gd name="adj" fmla="val 33333"/>
            </a:avLst>
          </a:prstGeom>
          <a:solidFill>
            <a:srgbClr val="2B64AB"/>
          </a:solidFill>
          <a:ln/>
        </p:spPr>
      </p:sp>
      <p:sp>
        <p:nvSpPr>
          <p:cNvPr id="24" name="Text 22"/>
          <p:cNvSpPr/>
          <p:nvPr/>
        </p:nvSpPr>
        <p:spPr>
          <a:xfrm>
            <a:off x="4535424" y="3547872"/>
            <a:ext cx="7159752" cy="292608"/>
          </a:xfrm>
          <a:prstGeom prst="rect">
            <a:avLst/>
          </a:prstGeom>
          <a:noFill/>
          <a:ln/>
        </p:spPr>
        <p:txBody>
          <a:bodyPr wrap="square" lIns="0" tIns="0" rIns="0" bIns="0" rtlCol="0" anchor="ctr"/>
          <a:lstStyle/>
          <a:p>
            <a:pPr indent="0" marL="0">
              <a:buNone/>
            </a:pPr>
            <a:r>
              <a:rPr lang="en-US" sz="1200" b="1" dirty="0">
                <a:solidFill>
                  <a:srgbClr val="2B64AB"/>
                </a:solidFill>
                <a:latin typeface="Meiryo" pitchFamily="34" charset="0"/>
                <a:ea typeface="Meiryo" pitchFamily="34" charset="-122"/>
                <a:cs typeface="Meiryo" pitchFamily="34" charset="-120"/>
              </a:rPr>
              <a:t>今回ご検討をされている企業様への活用ポイント</a:t>
            </a:r>
            <a:endParaRPr lang="en-US" sz="1200" dirty="0"/>
          </a:p>
        </p:txBody>
      </p:sp>
      <p:sp>
        <p:nvSpPr>
          <p:cNvPr id="25" name="Text 23"/>
          <p:cNvSpPr/>
          <p:nvPr/>
        </p:nvSpPr>
        <p:spPr>
          <a:xfrm>
            <a:off x="4352544" y="3858768"/>
            <a:ext cx="7232904" cy="1078992"/>
          </a:xfrm>
          <a:prstGeom prst="rect">
            <a:avLst/>
          </a:prstGeom>
          <a:noFill/>
          <a:ln/>
        </p:spPr>
        <p:txBody>
          <a:bodyPr wrap="square" lIns="0" tIns="0" rIns="0" bIns="0" rtlCol="0" anchor="t"/>
          <a:lstStyle/>
          <a:p>
            <a:pPr indent="0" marL="0">
              <a:lnSpc>
                <a:spcPct val="113000"/>
              </a:lnSpc>
              <a:buNone/>
            </a:pPr>
            <a:r>
              <a:rPr lang="en-US" sz="1000" dirty="0">
                <a:solidFill>
                  <a:srgbClr val="1C2530"/>
                </a:solidFill>
                <a:latin typeface="Meiryo" pitchFamily="34" charset="0"/>
                <a:ea typeface="Meiryo" pitchFamily="34" charset="-122"/>
                <a:cs typeface="Meiryo" pitchFamily="34" charset="-120"/>
              </a:rPr>
              <a:t>是沢印刷様のように「印刷・加工という現場実務」で多忙な企業が、営業リソース不足を解消して新規顧客を増やすための最適事例です。初期アプローチを営業支援ユニットに任せることで、是沢印刷様は印刷品質の追求と商談対応に専念したまま直契約案件を増やせます。</a:t>
            </a:r>
            <a:endParaRPr lang="en-US" sz="1000" dirty="0"/>
          </a:p>
        </p:txBody>
      </p:sp>
      <p:sp>
        <p:nvSpPr>
          <p:cNvPr id="26" name="Shape 24"/>
          <p:cNvSpPr/>
          <p:nvPr/>
        </p:nvSpPr>
        <p:spPr>
          <a:xfrm>
            <a:off x="4114800" y="5138928"/>
            <a:ext cx="7708392" cy="1060704"/>
          </a:xfrm>
          <a:prstGeom prst="roundRect">
            <a:avLst>
              <a:gd name="adj" fmla="val 4310"/>
            </a:avLst>
          </a:prstGeom>
          <a:solidFill>
            <a:srgbClr val="FBF4E6"/>
          </a:solidFill>
          <a:ln w="12700">
            <a:solidFill>
              <a:srgbClr val="E7D6AC"/>
            </a:solidFill>
            <a:prstDash val="solid"/>
          </a:ln>
        </p:spPr>
      </p:sp>
      <p:sp>
        <p:nvSpPr>
          <p:cNvPr id="27" name="Shape 25"/>
          <p:cNvSpPr/>
          <p:nvPr/>
        </p:nvSpPr>
        <p:spPr>
          <a:xfrm>
            <a:off x="4352544" y="5285232"/>
            <a:ext cx="82296" cy="219456"/>
          </a:xfrm>
          <a:prstGeom prst="roundRect">
            <a:avLst>
              <a:gd name="adj" fmla="val 33333"/>
            </a:avLst>
          </a:prstGeom>
          <a:solidFill>
            <a:srgbClr val="9A6B12"/>
          </a:solidFill>
          <a:ln/>
        </p:spPr>
      </p:sp>
      <p:sp>
        <p:nvSpPr>
          <p:cNvPr id="28" name="Text 26"/>
          <p:cNvSpPr/>
          <p:nvPr/>
        </p:nvSpPr>
        <p:spPr>
          <a:xfrm>
            <a:off x="4535424" y="5230368"/>
            <a:ext cx="7159752" cy="292608"/>
          </a:xfrm>
          <a:prstGeom prst="rect">
            <a:avLst/>
          </a:prstGeom>
          <a:noFill/>
          <a:ln/>
        </p:spPr>
        <p:txBody>
          <a:bodyPr wrap="square" lIns="0" tIns="0" rIns="0" bIns="0" rtlCol="0" anchor="ctr"/>
          <a:lstStyle/>
          <a:p>
            <a:pPr indent="0" marL="0">
              <a:buNone/>
            </a:pPr>
            <a:r>
              <a:rPr lang="en-US" sz="1200" b="1" dirty="0">
                <a:solidFill>
                  <a:srgbClr val="9A6B12"/>
                </a:solidFill>
                <a:latin typeface="Meiryo" pitchFamily="34" charset="0"/>
                <a:ea typeface="Meiryo" pitchFamily="34" charset="-122"/>
                <a:cs typeface="Meiryo" pitchFamily="34" charset="-120"/>
              </a:rPr>
              <a:t>導入を検討されえいる企業様へのアドバイス</a:t>
            </a:r>
            <a:endParaRPr lang="en-US" sz="1200" dirty="0"/>
          </a:p>
        </p:txBody>
      </p:sp>
      <p:sp>
        <p:nvSpPr>
          <p:cNvPr id="29" name="Text 27"/>
          <p:cNvSpPr/>
          <p:nvPr/>
        </p:nvSpPr>
        <p:spPr>
          <a:xfrm>
            <a:off x="4352544" y="5541264"/>
            <a:ext cx="7232904" cy="566928"/>
          </a:xfrm>
          <a:prstGeom prst="rect">
            <a:avLst/>
          </a:prstGeom>
          <a:noFill/>
          <a:ln/>
        </p:spPr>
        <p:txBody>
          <a:bodyPr wrap="square" lIns="0" tIns="0" rIns="0" bIns="0" rtlCol="0" anchor="t"/>
          <a:lstStyle/>
          <a:p>
            <a:pPr indent="0" marL="0">
              <a:lnSpc>
                <a:spcPct val="113000"/>
              </a:lnSpc>
              <a:buNone/>
            </a:pPr>
            <a:r>
              <a:rPr lang="en-US" sz="1000" i="1" dirty="0">
                <a:solidFill>
                  <a:srgbClr val="4A3A18"/>
                </a:solidFill>
                <a:latin typeface="Meiryo" pitchFamily="34" charset="0"/>
                <a:ea typeface="Meiryo" pitchFamily="34" charset="-122"/>
                <a:cs typeface="Meiryo" pitchFamily="34" charset="-120"/>
              </a:rPr>
              <a:t>「社内の限られたリソースだけで営業や販路拡大の全てを抱え込むのではなく、外部の仕組みを上手に活用して、未来に向けた重要度の高いコア業務にパワーを集中させることが成長への鍵となります。」</a:t>
            </a:r>
            <a:endParaRPr lang="en-US" sz="1000" dirty="0"/>
          </a:p>
        </p:txBody>
      </p:sp>
      <p:sp>
        <p:nvSpPr>
          <p:cNvPr id="30" name="Text 28"/>
          <p:cNvSpPr/>
          <p:nvPr/>
        </p:nvSpPr>
        <p:spPr>
          <a:xfrm>
            <a:off x="4114800" y="6291072"/>
            <a:ext cx="7708392" cy="219456"/>
          </a:xfrm>
          <a:prstGeom prst="rect">
            <a:avLst/>
          </a:prstGeom>
          <a:noFill/>
          <a:ln/>
        </p:spPr>
        <p:txBody>
          <a:bodyPr wrap="square" lIns="0" tIns="0" rIns="0" bIns="0" rtlCol="0" anchor="ctr"/>
          <a:lstStyle/>
          <a:p>
            <a:pPr indent="0" marL="0">
              <a:buNone/>
            </a:pPr>
            <a:r>
              <a:rPr lang="en-US" sz="950" b="1" dirty="0">
                <a:solidFill>
                  <a:srgbClr val="8593A4"/>
                </a:solidFill>
                <a:latin typeface="Meiryo" pitchFamily="34" charset="0"/>
                <a:ea typeface="Meiryo" pitchFamily="34" charset="-122"/>
                <a:cs typeface="Meiryo" pitchFamily="34" charset="-120"/>
              </a:rPr>
              <a:t>引用URL　</a:t>
            </a:r>
            <a:pPr indent="0" marL="0">
              <a:buNone/>
            </a:pPr>
            <a:r>
              <a:rPr lang="en-US" sz="950" u="sng" dirty="0">
                <a:solidFill>
                  <a:srgbClr val="2B64AB"/>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https://www.aidma-hd.jp/case/zirei-232/</a:t>
            </a:r>
            <a:endParaRPr lang="en-US" sz="950" dirty="0"/>
          </a:p>
        </p:txBody>
      </p:sp>
      <p:sp>
        <p:nvSpPr>
          <p:cNvPr id="31" name="Text 29"/>
          <p:cNvSpPr/>
          <p:nvPr/>
        </p:nvSpPr>
        <p:spPr>
          <a:xfrm>
            <a:off x="365760" y="6537960"/>
            <a:ext cx="8229600" cy="219456"/>
          </a:xfrm>
          <a:prstGeom prst="rect">
            <a:avLst/>
          </a:prstGeom>
          <a:noFill/>
          <a:ln/>
        </p:spPr>
        <p:txBody>
          <a:bodyPr wrap="square" lIns="0" tIns="0" rIns="0" bIns="0" rtlCol="0" anchor="ctr"/>
          <a:lstStyle/>
          <a:p>
            <a:pPr indent="0" marL="0">
              <a:buNone/>
            </a:pPr>
            <a:r>
              <a:rPr lang="en-US" sz="900" dirty="0">
                <a:solidFill>
                  <a:srgbClr val="9AA7B6"/>
                </a:solidFill>
                <a:latin typeface="Meiryo" pitchFamily="34" charset="0"/>
                <a:ea typeface="Meiryo" pitchFamily="34" charset="-122"/>
                <a:cs typeface="Meiryo" pitchFamily="34" charset="-120"/>
              </a:rPr>
              <a:t>有限会社是沢印刷様　提案引用実績5選</a:t>
            </a:r>
            <a:endParaRPr lang="en-US" sz="900" dirty="0"/>
          </a:p>
        </p:txBody>
      </p:sp>
      <p:sp>
        <p:nvSpPr>
          <p:cNvPr id="32" name="Text 30"/>
          <p:cNvSpPr/>
          <p:nvPr/>
        </p:nvSpPr>
        <p:spPr>
          <a:xfrm>
            <a:off x="10424160" y="6537960"/>
            <a:ext cx="1399032" cy="219456"/>
          </a:xfrm>
          <a:prstGeom prst="rect">
            <a:avLst/>
          </a:prstGeom>
          <a:noFill/>
          <a:ln/>
        </p:spPr>
        <p:txBody>
          <a:bodyPr wrap="square" lIns="0" tIns="0" rIns="0" bIns="0" rtlCol="0" anchor="ctr"/>
          <a:lstStyle/>
          <a:p>
            <a:pPr algn="r" indent="0" marL="0">
              <a:buNone/>
            </a:pPr>
            <a:r>
              <a:rPr lang="en-US" sz="900" dirty="0">
                <a:solidFill>
                  <a:srgbClr val="9AA7B6"/>
                </a:solidFill>
                <a:latin typeface="Meiryo" pitchFamily="34" charset="0"/>
                <a:ea typeface="Meiryo" pitchFamily="34" charset="-122"/>
                <a:cs typeface="Meiryo" pitchFamily="34" charset="-120"/>
              </a:rPr>
              <a:t>5 /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Shape 0"/>
          <p:cNvSpPr/>
          <p:nvPr/>
        </p:nvSpPr>
        <p:spPr>
          <a:xfrm>
            <a:off x="365760" y="365760"/>
            <a:ext cx="11457432" cy="749808"/>
          </a:xfrm>
          <a:prstGeom prst="roundRect">
            <a:avLst>
              <a:gd name="adj" fmla="val 7317"/>
            </a:avLst>
          </a:prstGeom>
          <a:solidFill>
            <a:srgbClr val="16407A"/>
          </a:solidFill>
          <a:ln/>
        </p:spPr>
      </p:sp>
      <p:sp>
        <p:nvSpPr>
          <p:cNvPr id="3" name="Text 1"/>
          <p:cNvSpPr/>
          <p:nvPr/>
        </p:nvSpPr>
        <p:spPr>
          <a:xfrm>
            <a:off x="640080" y="365760"/>
            <a:ext cx="10972800" cy="749808"/>
          </a:xfrm>
          <a:prstGeom prst="rect">
            <a:avLst/>
          </a:prstGeom>
          <a:noFill/>
          <a:ln/>
        </p:spPr>
        <p:txBody>
          <a:bodyPr wrap="square" lIns="0" tIns="0" rIns="0" bIns="0" rtlCol="0" anchor="ctr"/>
          <a:lstStyle/>
          <a:p>
            <a:pPr indent="0" marL="0">
              <a:buNone/>
            </a:pPr>
            <a:r>
              <a:rPr lang="en-US" sz="1300" b="1" dirty="0">
                <a:solidFill>
                  <a:srgbClr val="FFFFFF"/>
                </a:solidFill>
                <a:latin typeface="Meiryo" pitchFamily="34" charset="0"/>
                <a:ea typeface="Meiryo" pitchFamily="34" charset="-122"/>
                <a:cs typeface="Meiryo" pitchFamily="34" charset="-120"/>
              </a:rPr>
              <a:t>まとめ ─ 印刷・販促：既存/下請け依存 → 直請けBtoB印刷案件を自動獲得（Before → After）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316736"/>
          <a:ext cx="11457432" cy="914400"/>
        </p:xfrm>
        <a:graphic>
          <a:graphicData uri="http://schemas.openxmlformats.org/drawingml/2006/table">
            <a:tbl>
              <a:tblPr/>
              <a:tblGrid>
                <a:gridCol w="2286000"/>
                <a:gridCol w="1828800"/>
                <a:gridCol w="2651760"/>
                <a:gridCol w="2176272"/>
                <a:gridCol w="2514600"/>
              </a:tblGrid>
              <a:tr h="365760">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企業名</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業種</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Before（課題）</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導入した支援</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c>
                  <a:txBody>
                    <a:bodyPr/>
                    <a:lstStyle/>
                    <a:p>
                      <a:pPr algn="ctr" indent="0" marL="0">
                        <a:buNone/>
                      </a:pPr>
                      <a:r>
                        <a:rPr lang="en-US" sz="1050" b="1" dirty="0">
                          <a:solidFill>
                            <a:srgbClr val="FFFFFF"/>
                          </a:solidFill>
                          <a:latin typeface="Meiryo" pitchFamily="34" charset="0"/>
                          <a:ea typeface="Meiryo" pitchFamily="34" charset="-122"/>
                          <a:cs typeface="Meiryo" pitchFamily="34" charset="-120"/>
                        </a:rPr>
                        <a:t>After（成果）</a:t>
                      </a:r>
                      <a:endParaRPr lang="en-US" sz="1050" dirty="0">
                        <a:latin typeface="Meiryo" charset="0"/>
                        <a:ea typeface="Meiryo" charset="0"/>
                        <a:cs typeface="Meiryo" charset="0"/>
                      </a:endParaRPr>
                    </a:p>
                  </a:txBody>
                  <a:tcPr marL="25400" marR="254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2B64AB"/>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株式会社テイクオーバル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印刷・販促支援／コンテンツデザイン</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代表＋社員1人の少人数体制／新規営業のノウハウも体制もなく印刷・販促案件の開拓が手つかず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Platform（新規アプローチを完全アウトソース）</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自社工数ほぼゼロで見込み客33件・多数の資料請求を獲得、最少リソースで新規BtoB案件の仕組みを構築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株式会社ELU</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印刷・販促プロモ／HP制作・デザイン</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社長一人の人脈・紹介頼みで営業／新規開拓の仕組みなく売上が伸び悩み</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Platform（初期アプローチを完全委託・自動化）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5ヵ月でアポ33件（26件商談化）、成約率約30%で大型受注5件を獲得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株式会社ゼファクト</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クリエイティブ・印刷/販促デザイン／Web</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印刷・制作技術はあるが営業担当が少ない／大手・中堅からの直請けを自力で獲得できず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Platform（大手・中堅の販促/広報/総務部門へ厳選アプローチ）</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アポイント取得率が大幅向上、高単価な直請け案件を次々獲得</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株式会社楽喜</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印刷物・ノベルティ企画製造／内職受託</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印刷物・ノベルティのBtoB販路を拡大したいが営業体制・人的リソース不足で新規開拓が手つかず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ママワークス（Crowd Members）等（新規アプローチ・商品提案サポート体制を構築）</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固定費を抑え、新規BtoB取引先・印刷/加工受託案件の獲得に成功</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EEF3FA"/>
                    </a:solidFill>
                  </a:tcPr>
                </a:tc>
              </a:tr>
              <a:tr h="896112">
                <a:tc>
                  <a:txBody>
                    <a:bodyPr/>
                    <a:lstStyle/>
                    <a:p>
                      <a:pPr algn="l" indent="0" marL="0">
                        <a:buNone/>
                      </a:pPr>
                      <a:r>
                        <a:rPr lang="en-US" sz="850" b="1" dirty="0">
                          <a:solidFill>
                            <a:srgbClr val="1C2530"/>
                          </a:solidFill>
                          <a:latin typeface="Meiryo" pitchFamily="34" charset="0"/>
                          <a:ea typeface="Meiryo" pitchFamily="34" charset="-122"/>
                          <a:cs typeface="Meiryo" pitchFamily="34" charset="-120"/>
                        </a:rPr>
                        <a:t>株式会社日商デリカ</a:t>
                      </a:r>
                      <a:endParaRPr lang="en-US" sz="850" dirty="0">
                        <a:latin typeface="Meiryo" charset="0"/>
                        <a:ea typeface="Meiryo" charset="0"/>
                        <a:cs typeface="Meiryo" charset="0"/>
                      </a:endParaRPr>
                    </a:p>
                    <a:p>
                      <a:pPr algn="l" indent="0" marL="0">
                        <a:buNone/>
                      </a:pPr>
                      <a:r>
                        <a:rPr lang="en-US" sz="850" b="1" dirty="0">
                          <a:solidFill>
                            <a:srgbClr val="1C2530"/>
                          </a:solidFill>
                          <a:latin typeface="Meiryo" pitchFamily="34" charset="0"/>
                          <a:ea typeface="Meiryo" pitchFamily="34" charset="-122"/>
                          <a:cs typeface="Meiryo" pitchFamily="34" charset="-120"/>
                        </a:rPr>
                        <a:t>様</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6407A"/>
                          </a:solidFill>
                          <a:latin typeface="Meiryo" pitchFamily="34" charset="0"/>
                          <a:ea typeface="Meiryo" pitchFamily="34" charset="-122"/>
                          <a:cs typeface="Meiryo" pitchFamily="34" charset="-120"/>
                        </a:rPr>
                        <a:t>企画・印刷加工・製造／BtoB販売</a:t>
                      </a:r>
                      <a:endParaRPr lang="en-US" sz="850" dirty="0">
                        <a:latin typeface="Meiryo" charset="0"/>
                        <a:ea typeface="Meiryo" charset="0"/>
                        <a:cs typeface="Meiryo" charset="0"/>
                      </a:endParaRPr>
                    </a:p>
                  </a:txBody>
                  <a:tcPr marL="38100" marR="381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45566A"/>
                          </a:solidFill>
                          <a:latin typeface="Meiryo" pitchFamily="34" charset="0"/>
                          <a:ea typeface="Meiryo" pitchFamily="34" charset="-122"/>
                          <a:cs typeface="Meiryo" pitchFamily="34" charset="-120"/>
                        </a:rPr>
                        <a:t>商品・印刷・加工受託のBtoB販路開拓で営業リソース・人員不足／アプローチに集中できず</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3A2F5C"/>
                          </a:solidFill>
                          <a:latin typeface="Meiryo" pitchFamily="34" charset="0"/>
                          <a:ea typeface="Meiryo" pitchFamily="34" charset="-122"/>
                          <a:cs typeface="Meiryo" pitchFamily="34" charset="-120"/>
                        </a:rPr>
                        <a:t>Sales Platform等（初期アプローチを自動化・外部化）</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c>
                  <a:txBody>
                    <a:bodyPr/>
                    <a:lstStyle/>
                    <a:p>
                      <a:pPr algn="l" indent="0" marL="0">
                        <a:buNone/>
                      </a:pPr>
                      <a:r>
                        <a:rPr lang="en-US" sz="850" dirty="0">
                          <a:solidFill>
                            <a:srgbClr val="1C3A29"/>
                          </a:solidFill>
                          <a:latin typeface="Meiryo" pitchFamily="34" charset="0"/>
                          <a:ea typeface="Meiryo" pitchFamily="34" charset="-122"/>
                          <a:cs typeface="Meiryo" pitchFamily="34" charset="-120"/>
                        </a:rPr>
                        <a:t>現場負担を大幅削減しつつ新規BtoB取引先の獲得と案件拡大を達成</a:t>
                      </a:r>
                      <a:endParaRPr lang="en-US" sz="850" dirty="0">
                        <a:latin typeface="Meiryo" charset="0"/>
                        <a:ea typeface="Meiryo" charset="0"/>
                        <a:cs typeface="Meiryo" charset="0"/>
                      </a:endParaRPr>
                    </a:p>
                  </a:txBody>
                  <a:tcPr marL="63500" marR="50800" marT="25400" marB="25400" anchor="ctr">
                    <a:lnL w="12700" cap="flat" cmpd="sng" algn="ctr">
                      <a:solidFill>
                        <a:srgbClr val="D2DCEA"/>
                      </a:solidFill>
                      <a:prstDash val="solid"/>
                      <a:round/>
                      <a:headEnd type="none" w="med" len="med"/>
                      <a:tailEnd type="none" w="med" len="med"/>
                    </a:lnL>
                    <a:lnR w="12700" cap="flat" cmpd="sng" algn="ctr">
                      <a:solidFill>
                        <a:srgbClr val="D2DCEA"/>
                      </a:solidFill>
                      <a:prstDash val="solid"/>
                      <a:round/>
                      <a:headEnd type="none" w="med" len="med"/>
                      <a:tailEnd type="none" w="med" len="med"/>
                    </a:lnR>
                    <a:lnT w="12700" cap="flat" cmpd="sng" algn="ctr">
                      <a:solidFill>
                        <a:srgbClr val="D2DCEA"/>
                      </a:solidFill>
                      <a:prstDash val="solid"/>
                      <a:round/>
                      <a:headEnd type="none" w="med" len="med"/>
                      <a:tailEnd type="none" w="med" len="med"/>
                    </a:lnT>
                    <a:lnB w="12700" cap="flat" cmpd="sng" algn="ctr">
                      <a:solidFill>
                        <a:srgbClr val="D2DCEA"/>
                      </a:solidFill>
                      <a:prstDash val="solid"/>
                      <a:round/>
                      <a:headEnd type="none" w="med" len="med"/>
                      <a:tailEnd type="none" w="med" len="med"/>
                    </a:lnB>
                    <a:solidFill>
                      <a:srgbClr val="FFFFFF"/>
                    </a:solidFill>
                  </a:tcPr>
                </a:tc>
              </a:tr>
            </a:tbl>
          </a:graphicData>
        </a:graphic>
      </p:graphicFrame>
      <p:sp>
        <p:nvSpPr>
          <p:cNvPr id="5" name="Shape 2"/>
          <p:cNvSpPr/>
          <p:nvPr/>
        </p:nvSpPr>
        <p:spPr>
          <a:xfrm>
            <a:off x="365760" y="6089904"/>
            <a:ext cx="11457432" cy="548640"/>
          </a:xfrm>
          <a:prstGeom prst="roundRect">
            <a:avLst>
              <a:gd name="adj" fmla="val 8333"/>
            </a:avLst>
          </a:prstGeom>
          <a:solidFill>
            <a:srgbClr val="EAF1FA"/>
          </a:solidFill>
          <a:ln w="12700">
            <a:solidFill>
              <a:srgbClr val="C6D8EF"/>
            </a:solidFill>
            <a:prstDash val="solid"/>
          </a:ln>
        </p:spPr>
      </p:sp>
      <p:sp>
        <p:nvSpPr>
          <p:cNvPr id="6" name="Text 3"/>
          <p:cNvSpPr/>
          <p:nvPr/>
        </p:nvSpPr>
        <p:spPr>
          <a:xfrm>
            <a:off x="566928" y="6089904"/>
            <a:ext cx="11064240" cy="548640"/>
          </a:xfrm>
          <a:prstGeom prst="rect">
            <a:avLst/>
          </a:prstGeom>
          <a:noFill/>
          <a:ln/>
        </p:spPr>
        <p:txBody>
          <a:bodyPr wrap="square" lIns="0" tIns="0" rIns="0" bIns="0" rtlCol="0" anchor="ctr"/>
          <a:lstStyle/>
          <a:p>
            <a:pPr indent="0" marL="0">
              <a:buNone/>
            </a:pPr>
            <a:r>
              <a:rPr lang="en-US" sz="1050" b="1" dirty="0">
                <a:solidFill>
                  <a:srgbClr val="16407A"/>
                </a:solidFill>
                <a:latin typeface="Meiryo" pitchFamily="34" charset="0"/>
                <a:ea typeface="Meiryo" pitchFamily="34" charset="-122"/>
                <a:cs typeface="Meiryo" pitchFamily="34" charset="-120"/>
              </a:rPr>
              <a:t>印刷・加工の現場実務に専念したまま、自社の工数を消費せずに営業支援ユニットで直請け・高単価なBtoB印刷・販促案件を能動的に獲得できることを示す、印刷・販促業界の実績です。</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2026-10-25T13:45:29Z</dcterms:created>
  <dcterms:modified xsi:type="dcterms:W3CDTF">2026-10-25T13:45:29Z</dcterms:modified>
</cp:coreProperties>
</file>