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513/"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260/"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510/"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386/"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184/"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607040" cy="365760"/>
          </a:xfrm>
          <a:prstGeom prst="rect">
            <a:avLst/>
          </a:prstGeom>
          <a:noFill/>
          <a:ln/>
        </p:spPr>
        <p:txBody>
          <a:bodyPr wrap="square" rtlCol="0" anchor="ctr"/>
          <a:lstStyle/>
          <a:p>
            <a:pPr indent="0" marL="0">
              <a:buNone/>
            </a:pPr>
            <a:r>
              <a:rPr lang="en-US" sz="1200" b="1" spc="100" kern="0" dirty="0">
                <a:solidFill>
                  <a:srgbClr val="CADCFC"/>
                </a:solidFill>
                <a:latin typeface="Meiryo" pitchFamily="34" charset="0"/>
                <a:ea typeface="Meiryo" pitchFamily="34" charset="-122"/>
                <a:cs typeface="Meiryo" pitchFamily="34" charset="-120"/>
              </a:rPr>
              <a:t>CASE STUDIES ─ 営業支援ユニット × 不動産買取再販・物件仕入れ</a:t>
            </a:r>
            <a:endParaRPr lang="en-US" sz="120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400" b="1" dirty="0">
                <a:solidFill>
                  <a:srgbClr val="FFFFFF"/>
                </a:solidFill>
                <a:latin typeface="Meiryo" pitchFamily="34" charset="0"/>
                <a:ea typeface="Meiryo" pitchFamily="34" charset="-122"/>
                <a:cs typeface="Meiryo" pitchFamily="34" charset="-120"/>
              </a:rPr>
              <a:t>日本嘉信国際株式会社様</a:t>
            </a:r>
            <a:endParaRPr lang="en-US" sz="3400" dirty="0"/>
          </a:p>
          <a:p>
            <a:pPr indent="0" marL="0">
              <a:lnSpc>
                <a:spcPct val="110000"/>
              </a:lnSpc>
              <a:buNone/>
            </a:pPr>
            <a:r>
              <a:rPr lang="en-US" sz="3200" b="1" dirty="0">
                <a:solidFill>
                  <a:srgbClr val="FFFFFF"/>
                </a:solidFill>
                <a:latin typeface="Meiryo" pitchFamily="34" charset="0"/>
                <a:ea typeface="Meiryo" pitchFamily="34" charset="-122"/>
                <a:cs typeface="Meiryo" pitchFamily="34" charset="-120"/>
              </a:rPr>
              <a:t>提案引用実績 5選</a:t>
            </a:r>
            <a:endParaRPr lang="en-US" sz="3400" dirty="0"/>
          </a:p>
        </p:txBody>
      </p:sp>
      <p:sp>
        <p:nvSpPr>
          <p:cNvPr id="7" name="Text 5"/>
          <p:cNvSpPr/>
          <p:nvPr/>
        </p:nvSpPr>
        <p:spPr>
          <a:xfrm>
            <a:off x="822960" y="3474720"/>
            <a:ext cx="10149840" cy="1188720"/>
          </a:xfrm>
          <a:prstGeom prst="rect">
            <a:avLst/>
          </a:prstGeom>
          <a:noFill/>
          <a:ln/>
        </p:spPr>
        <p:txBody>
          <a:bodyPr wrap="square" rtlCol="0" anchor="ctr"/>
          <a:lstStyle/>
          <a:p>
            <a:pPr indent="0" marL="0">
              <a:lnSpc>
                <a:spcPct val="124000"/>
              </a:lnSpc>
              <a:buNone/>
            </a:pPr>
            <a:r>
              <a:rPr lang="en-US" sz="1250" dirty="0">
                <a:solidFill>
                  <a:srgbClr val="DDE8F6"/>
                </a:solidFill>
                <a:latin typeface="Meiryo" pitchFamily="34" charset="0"/>
                <a:ea typeface="Meiryo" pitchFamily="34" charset="-122"/>
                <a:cs typeface="Meiryo" pitchFamily="34" charset="-120"/>
              </a:rPr>
              <a:t>日本嘉信国際株式会社様（不動産買取再販／課題：新規営業・仕入れ物件情報の獲得・売主および媒介業者へのアプローチ強化）と同業界で、「不動産仕入れ（買取物件情報）の能動的な新規獲得」「飛び込み・アナログ仕入れ営業からの脱却」「少人数での営業自動化」を解決した実績を5件厳選しました。</a:t>
            </a:r>
            <a:endParaRPr lang="en-US" sz="1250" dirty="0"/>
          </a:p>
        </p:txBody>
      </p:sp>
      <p:sp>
        <p:nvSpPr>
          <p:cNvPr id="8" name="Shape 6"/>
          <p:cNvSpPr/>
          <p:nvPr/>
        </p:nvSpPr>
        <p:spPr>
          <a:xfrm>
            <a:off x="822960" y="5074920"/>
            <a:ext cx="10515600" cy="0"/>
          </a:xfrm>
          <a:prstGeom prst="line">
            <a:avLst/>
          </a:prstGeom>
          <a:noFill/>
          <a:ln w="12700">
            <a:solidFill>
              <a:srgbClr val="3A5A87"/>
            </a:solidFill>
            <a:prstDash val="solid"/>
          </a:ln>
        </p:spPr>
      </p:sp>
      <p:sp>
        <p:nvSpPr>
          <p:cNvPr id="9" name="Text 7"/>
          <p:cNvSpPr/>
          <p:nvPr/>
        </p:nvSpPr>
        <p:spPr>
          <a:xfrm>
            <a:off x="822960" y="5230368"/>
            <a:ext cx="10607040" cy="320040"/>
          </a:xfrm>
          <a:prstGeom prst="rect">
            <a:avLst/>
          </a:prstGeom>
          <a:noFill/>
          <a:ln/>
        </p:spPr>
        <p:txBody>
          <a:bodyPr wrap="square" rtlCol="0" anchor="ctr"/>
          <a:lstStyle/>
          <a:p>
            <a:pPr indent="0" marL="0">
              <a:buNone/>
            </a:pPr>
            <a:r>
              <a:rPr lang="en-US" sz="1050" b="1" dirty="0">
                <a:solidFill>
                  <a:srgbClr val="CADCFC"/>
                </a:solidFill>
                <a:latin typeface="Meiryo" pitchFamily="34" charset="0"/>
                <a:ea typeface="Meiryo" pitchFamily="34" charset="-122"/>
                <a:cs typeface="Meiryo" pitchFamily="34" charset="-120"/>
              </a:rPr>
              <a:t>提案の狙い　</a:t>
            </a:r>
            <a:pPr indent="0" marL="0">
              <a:buNone/>
            </a:pPr>
            <a:r>
              <a:rPr lang="en-US" sz="1050" dirty="0">
                <a:solidFill>
                  <a:srgbClr val="C9D8ED"/>
                </a:solidFill>
                <a:latin typeface="Meiryo" pitchFamily="34" charset="0"/>
                <a:ea typeface="Meiryo" pitchFamily="34" charset="-122"/>
                <a:cs typeface="Meiryo" pitchFamily="34" charset="-120"/>
              </a:rPr>
              <a:t>仕入れ物件情報の能動的な新規獲得／売主・媒介業者への買取・査定アプローチの自動化／飛び込み・アナログ営業からの脱却</a:t>
            </a:r>
            <a:endParaRPr lang="en-US" sz="1050" dirty="0"/>
          </a:p>
        </p:txBody>
      </p:sp>
      <p:sp>
        <p:nvSpPr>
          <p:cNvPr id="10" name="Text 8"/>
          <p:cNvSpPr/>
          <p:nvPr/>
        </p:nvSpPr>
        <p:spPr>
          <a:xfrm>
            <a:off x="822960" y="5577840"/>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営業支援ユニット（Sales Platform・ママワークス連携）</a:t>
            </a:r>
            <a:endParaRPr lang="en-US" sz="1100" dirty="0"/>
          </a:p>
        </p:txBody>
      </p:sp>
      <p:sp>
        <p:nvSpPr>
          <p:cNvPr id="11" name="Text 9"/>
          <p:cNvSpPr/>
          <p:nvPr/>
        </p:nvSpPr>
        <p:spPr>
          <a:xfrm>
            <a:off x="822960" y="6071616"/>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開発2名でも飛び込みを排除。得意エリアで買取・仕入れアポを1日1件ペースで安定確保</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株式会社宏企画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不動産売買仲介、賃貸物件仲介、注文住宅の請負、リフォーム、賃貸管理、開発事業部での「不動産仕入れ・物件買取」など。</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1515364"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151536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開発事業部が2名体制</a:t>
            </a:r>
            <a:endParaRPr lang="en-US" sz="950" dirty="0"/>
          </a:p>
        </p:txBody>
      </p:sp>
      <p:sp>
        <p:nvSpPr>
          <p:cNvPr id="13" name="Shape 11"/>
          <p:cNvSpPr/>
          <p:nvPr/>
        </p:nvSpPr>
        <p:spPr>
          <a:xfrm>
            <a:off x="585216" y="4553712"/>
            <a:ext cx="2745994"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74599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飛び込み営業（名刺配り）のタイパが悪い</a:t>
            </a:r>
            <a:endParaRPr lang="en-US" sz="950" dirty="0"/>
          </a:p>
        </p:txBody>
      </p:sp>
      <p:sp>
        <p:nvSpPr>
          <p:cNvPr id="15" name="Shape 13"/>
          <p:cNvSpPr/>
          <p:nvPr/>
        </p:nvSpPr>
        <p:spPr>
          <a:xfrm>
            <a:off x="585216" y="4901184"/>
            <a:ext cx="1964182" cy="274320"/>
          </a:xfrm>
          <a:prstGeom prst="roundRect">
            <a:avLst>
              <a:gd name="adj" fmla="val 50000"/>
            </a:avLst>
          </a:prstGeom>
          <a:solidFill>
            <a:srgbClr val="DCE8F6"/>
          </a:solidFill>
          <a:ln w="9525">
            <a:solidFill>
              <a:srgbClr val="BFD3EC"/>
            </a:solidFill>
            <a:prstDash val="solid"/>
          </a:ln>
        </p:spPr>
      </p:sp>
      <p:sp>
        <p:nvSpPr>
          <p:cNvPr id="16" name="Text 14"/>
          <p:cNvSpPr/>
          <p:nvPr/>
        </p:nvSpPr>
        <p:spPr>
          <a:xfrm>
            <a:off x="585216" y="4901184"/>
            <a:ext cx="196418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物件仕入れアプローチが限界</a:t>
            </a:r>
            <a:endParaRPr lang="en-US" sz="950" dirty="0"/>
          </a:p>
        </p:txBody>
      </p:sp>
      <p:sp>
        <p:nvSpPr>
          <p:cNvPr id="17" name="Shape 15"/>
          <p:cNvSpPr/>
          <p:nvPr/>
        </p:nvSpPr>
        <p:spPr>
          <a:xfrm>
            <a:off x="4114800" y="1417320"/>
            <a:ext cx="82296" cy="219456"/>
          </a:xfrm>
          <a:prstGeom prst="roundRect">
            <a:avLst>
              <a:gd name="adj" fmla="val 33333"/>
            </a:avLst>
          </a:prstGeom>
          <a:solidFill>
            <a:srgbClr val="2B64AB"/>
          </a:solidFill>
          <a:ln/>
        </p:spPr>
      </p:sp>
      <p:sp>
        <p:nvSpPr>
          <p:cNvPr id="18" name="Text 16"/>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9" name="Text 17"/>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約30年続く地域密着の不動産会社。仕入れ・買取事業への本格参入に伴い導入。自社で新人を育成するコスト・リスクを避け、「自分のクローンを動かす」感覚で買取アポイントを量産できる営業支援システムを導入。無駄のない極めて効率的なBtoB物件仕入れ営業フローを確立した。</a:t>
            </a:r>
            <a:endParaRPr lang="en-US" sz="1000" dirty="0"/>
          </a:p>
        </p:txBody>
      </p:sp>
      <p:sp>
        <p:nvSpPr>
          <p:cNvPr id="20" name="Shape 18"/>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21" name="Shape 19"/>
          <p:cNvSpPr/>
          <p:nvPr/>
        </p:nvSpPr>
        <p:spPr>
          <a:xfrm>
            <a:off x="4352544" y="2542032"/>
            <a:ext cx="82296" cy="219456"/>
          </a:xfrm>
          <a:prstGeom prst="roundRect">
            <a:avLst>
              <a:gd name="adj" fmla="val 33333"/>
            </a:avLst>
          </a:prstGeom>
          <a:solidFill>
            <a:srgbClr val="1F7A4D"/>
          </a:solidFill>
          <a:ln/>
        </p:spPr>
      </p:sp>
      <p:sp>
        <p:nvSpPr>
          <p:cNvPr id="22" name="Text 20"/>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3" name="Text 21"/>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で完全に見込みのない飛び込み営業から脱却。得意エリアに絞り込んだ形で不動産売買・仕入れの自動アプローチを行い、話を聞いていただける質の高い買取・仕入れアポイント（1日1件ペース）を安定確保した。</a:t>
            </a:r>
            <a:endParaRPr lang="en-US" sz="1000" dirty="0"/>
          </a:p>
        </p:txBody>
      </p:sp>
      <p:sp>
        <p:nvSpPr>
          <p:cNvPr id="24" name="Shape 22"/>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5" name="Shape 23"/>
          <p:cNvSpPr/>
          <p:nvPr/>
        </p:nvSpPr>
        <p:spPr>
          <a:xfrm>
            <a:off x="4352544" y="3602736"/>
            <a:ext cx="82296" cy="219456"/>
          </a:xfrm>
          <a:prstGeom prst="roundRect">
            <a:avLst>
              <a:gd name="adj" fmla="val 33333"/>
            </a:avLst>
          </a:prstGeom>
          <a:solidFill>
            <a:srgbClr val="2B64AB"/>
          </a:solidFill>
          <a:ln/>
        </p:spPr>
      </p:sp>
      <p:sp>
        <p:nvSpPr>
          <p:cNvPr id="26" name="Text 24"/>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7" name="Text 25"/>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日本嘉信国際株式会社様が最も重要視される「仕入れ・買取物件（中古マンション・土地・一棟ビル等）の情報をいかに効率よく集めるか」という課題に直接合致する事例です。飛び込みやポスティング等のアナログ営業を排除し、営業支援ユニットを通じて仲介業者・地主・オーナーへ「買取査定・即金買取提案」を自動配信することで、少人数で優良な仕入れ案件を安定して獲得できます。</a:t>
            </a:r>
            <a:endParaRPr lang="en-US" sz="1000" dirty="0"/>
          </a:p>
        </p:txBody>
      </p:sp>
      <p:sp>
        <p:nvSpPr>
          <p:cNvPr id="28" name="Shape 26"/>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9" name="Shape 27"/>
          <p:cNvSpPr/>
          <p:nvPr/>
        </p:nvSpPr>
        <p:spPr>
          <a:xfrm>
            <a:off x="4352544" y="5285232"/>
            <a:ext cx="82296" cy="219456"/>
          </a:xfrm>
          <a:prstGeom prst="roundRect">
            <a:avLst>
              <a:gd name="adj" fmla="val 33333"/>
            </a:avLst>
          </a:prstGeom>
          <a:solidFill>
            <a:srgbClr val="9A6B12"/>
          </a:solidFill>
          <a:ln/>
        </p:spPr>
      </p:sp>
      <p:sp>
        <p:nvSpPr>
          <p:cNvPr id="30" name="Text 28"/>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31" name="Text 29"/>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員を1名確保するコストを考えれば、こうした外部の専門家を活用して環境を整えることは決して高くない投資。不動産業界の経営者はアナログ世代が多くデジタル化に懐疑的な方も少なくありませんが、これからの時代、生産性を上げるためにネットや外部サービスを活用することが必要不可欠だと思います。」</a:t>
            </a:r>
            <a:endParaRPr lang="en-US" sz="1000" dirty="0"/>
          </a:p>
        </p:txBody>
      </p:sp>
      <p:sp>
        <p:nvSpPr>
          <p:cNvPr id="32" name="Text 30"/>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https://www.aidma-hd.jp/case/zirei-513/</a:t>
            </a:r>
            <a:endParaRPr lang="en-US" sz="950" dirty="0"/>
          </a:p>
        </p:txBody>
      </p:sp>
      <p:sp>
        <p:nvSpPr>
          <p:cNvPr id="33" name="Text 31"/>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日本嘉信国際株式会社様　提案引用実績5選</a:t>
            </a:r>
            <a:endParaRPr lang="en-US" sz="900" dirty="0"/>
          </a:p>
        </p:txBody>
      </p:sp>
      <p:sp>
        <p:nvSpPr>
          <p:cNvPr id="34" name="Text 32"/>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代表1人営業の限界を突破。買取・売却案件を継続獲得（外部を自社営業部隊化）</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不動産相続アーキテクツ株式会社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不動産売却・買取コンサルティング、不動産売買、相続・家族信託コンサルティング、セミナー運営。</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68808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68808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代表1人体制で買取・売却案件獲得の限界</a:t>
            </a:r>
            <a:endParaRPr lang="en-US" sz="950" dirty="0"/>
          </a:p>
        </p:txBody>
      </p:sp>
      <p:sp>
        <p:nvSpPr>
          <p:cNvPr id="13" name="Shape 11"/>
          <p:cNvSpPr/>
          <p:nvPr/>
        </p:nvSpPr>
        <p:spPr>
          <a:xfrm>
            <a:off x="585216" y="4553712"/>
            <a:ext cx="2485390"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48539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直接雇用の人件費固定化・採用リスク</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不動産・建築の知見を持つ代表が独立。自社内に営業マンを抱え込む採用リスクを回避し、アイドマの営業支援ユニットを活用。自分はトスアップされた確度の高い物件所有者・売主との買取商談のみに対応する高効率な営業フロー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営業支援ユニット（テレアポ・BtoB/BtoCアプローチ）を導入し、仕入れ・売却アプローチを自動化。代表1人営業の限界を突破して、買取再販・売却案件の継続獲得に成功した。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不動産買取再販において仕入れルートの開拓は自社社員の手間がかかります。営業支援ユニットを「自社の営業部隊」として外部稼働させ、買取や売却に関心があるオーナー・売主からの直接アプローチをトスアップしてもらうことで、日本嘉信国際株式会社様は高利益率な再販物件の仕入れ交渉に全集中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開業してすぐに社員を採用するのはハードルが高いと感じていましたが、外部の仕組みをうまく活用して組織化できないかと考えていました。ママワークスや営業支援の話を聞いたとき『まさにこの仕組みだ』とピンときてすぐお願いしました。理想に近い形を作れたと感じてい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https://www.aidma-hd.jp/case/zirei-260/</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日本嘉信国際株式会社様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「買取・査定提案」をフックに掘り出し物件を早期捕捉。大口の買取・仕入れ成約を連続獲得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東日本サポートセンター株式会社（RE/MAX STELLA）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不動産事業（RE/MAX STELLA）、土地・建物売買、物件仕入れ・仲介、店舗・開業物件サポート。</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61569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61569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既存顧客・コネクション頼みからの脱却</a:t>
            </a:r>
            <a:endParaRPr lang="en-US" sz="950" dirty="0"/>
          </a:p>
        </p:txBody>
      </p:sp>
      <p:sp>
        <p:nvSpPr>
          <p:cNvPr id="13" name="Shape 11"/>
          <p:cNvSpPr/>
          <p:nvPr/>
        </p:nvSpPr>
        <p:spPr>
          <a:xfrm>
            <a:off x="585216" y="4553712"/>
            <a:ext cx="3788410"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78841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物件買取・仕入れ・土地取得の営業ノウハウ・リソース不足</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既存顧客依存の構造に危機感を持ち導入。「不動産・土地の買取・活用提案」というターゲットが最も関心を持つ具体的なソリューションをフックにアプローチストーリーを構築。アイドマの仕組みで一次対応からアポ獲得までを完結させ、自社は勝てる買い取り商談にのみ専念する体制を完成させ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営業支援システム（Sales Platform）を活用し、物件買取や土地活用のご案内をフックにしたプッシュ型営業を実施。高品質なターゲットリストを獲得し、一次アプローチを自動化することで大口の不動産買取・仕入れ成約を連続獲得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買取再販事業において、仕入れルート（仲介会社やオーナー）を広げるための「物件買取・スピード査定アプローチ」を営業支援ユニットで自動化できます。「売却・買取を急ぎたい」「事業整理で買い取ってほしい」という市場の掘り出し物件情報を早期に捉えられ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誰がどこで何をするのかが明確に設定されているため、新しい事業のアプローチを委託することに不安はありません。何日に誰が何時間稼働しどんな結果だったかが可視化され、安定して稼働する仕組みが整いました。自社で作れない高品質なターゲットリストは大きな財産にな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https://www.aidma-hd.jp/case/zirei-510/</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日本嘉信国際株式会社様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初期アプローチを切り出し、社員は買取り・再販商談に専念し回転率と利益を最大化</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株式会社すがコーポレーション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既存住宅の売買仲介・買取再販（熊本県内トップクラス）、賃貸業務、不動産コンサルティング。</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788410"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78841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買取再販・売買仲介の取扱件数・店舗数拡大に伴う人手不足</a:t>
            </a:r>
            <a:endParaRPr lang="en-US" sz="950" dirty="0"/>
          </a:p>
        </p:txBody>
      </p:sp>
      <p:sp>
        <p:nvSpPr>
          <p:cNvPr id="13" name="Shape 11"/>
          <p:cNvSpPr/>
          <p:nvPr/>
        </p:nvSpPr>
        <p:spPr>
          <a:xfrm>
            <a:off x="585216" y="4553712"/>
            <a:ext cx="2094484"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09448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買取・売却顧客開拓の人的限界</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地場で多店舗展開する不動産売買・買取再販の大手。業務の切り分けと情報共有フローを整理し、現場の社員が買取り・販売商談・クロージングに専念できる仕組みを構築。営業生産性を一切落とさずに不動産買取再販の拡大を達成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外部の営業仕組み・在宅チーム（ママワークス等）を活用し、買取再販・売買業務周辺の定型実務や初期アプローチを徹底的に切り出し。社員が物件買取り・売買の直接商談に集中できる体制を作り、県内トップクラスの売買仲介・買取業績向上を推進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買取再販の事業において、物件査定から買取り提案、再販時の集客に至るプロセスのうち「新規の仕入れ打診・アプローチ」を営業支援ユニットに任せることで、日本嘉信国際株式会社様は質の高い買取案件・売主との商談に専念し、買取再販の回転率と利益を最大化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今後さらに件数や人員を増やしたいが、生産性は落としたくないので、業務委託の活用を増やしていきたい。自分たちの手で使い込む必要はありますが、早く組織構築ができたことを考えると、活用しない手はないと思い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https://www.aidma-hd.jp/case/zirei-386/</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日本嘉信国際株式会社様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販促・Webを外部化し社員は買取り・再販商談に集中。仕入れルートを自動回転</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株式会社ニューライフオリジナル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土地・建物の売買仲介・買取、アパート・マンションの賃貸仲介、物件管理（総合不動産企業）。</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87629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87629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現場実務と新規買取・売買営業の両立が困難</a:t>
            </a:r>
            <a:endParaRPr lang="en-US" sz="950" dirty="0"/>
          </a:p>
        </p:txBody>
      </p:sp>
      <p:sp>
        <p:nvSpPr>
          <p:cNvPr id="13" name="Shape 11"/>
          <p:cNvSpPr/>
          <p:nvPr/>
        </p:nvSpPr>
        <p:spPr>
          <a:xfrm>
            <a:off x="585216" y="4553712"/>
            <a:ext cx="2485390"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48539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担当離職に伴う営業・組織停滞リスク</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神奈川県で35年以上展開する総合不動産会社。直接雇用のリスクを避け外部の仕組みを活用。オンラインプロモーションや営業サポート業務を任せることで、最も利益に直結する対面での買取契約・売買業務（コア業務）に全集中できる環境を整え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ママワークス（Crowd Members）等を活用し在宅チームを構築。買取・売買物件の販促サポートやWebプロモーション実務を外部化し、社内営業担当が物件の買取り・再販商談に100%集中できる環境を整え、安定して仕入れ・再販案件を獲得する基盤を構築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自社社員が日々の物件調査や契約業務で追われている中でも、営業支援ユニットをバックグラウンドで稼働させることで、「物件仕入れルートの新規開拓」が途切れず自動回転し、安定的な買取再販ビジネスの拡大を実現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不透明な状況でも盤石な企業基盤をつくり体制を強化したいと考えました。コストを抑えながらスキルのある人材を臨機応変に活用し、社内の負担を確実に軽減できるこの仕組みは、今後の不動産会社の組織運営において極めて強力な武器にな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https://www.aidma-hd.jp/case/zirei-184/</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日本嘉信国際株式会社様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まとめ ─ 不動産買取再販・仕入れ：飛び込み/紹介依存 → 仕入れの自動開拓（Before → After）</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286000"/>
                <a:gridCol w="1828800"/>
                <a:gridCol w="2651760"/>
                <a:gridCol w="2176272"/>
                <a:gridCol w="251460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株式会社宏企画</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不動産売買・仕入れ/買取</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開発2名体制／飛び込み営業のタイパが悪い／物件仕入れアプローチが限界</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Platform（得意エリアに絞り仕入れを自動アプローチ）</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飛び込みから脱却、質の高い買取・仕入れアポを1日1件ペースで安定確保</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不動産相続アーキテクツ株式会社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不動産売却・買取コンサル</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代表1人体制で買取・売却案件獲得の限界／直接雇用の固定費・採用リスク</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営業支援ユニット（テレアポ・BtoB/BtoCアプローチを自動化）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代表1人営業の限界を突破、買取再販・売却案件を継続獲得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東日本サポートセンター株式会社（RE/MAX STELLA）</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不動産・物件仕入れ/仲介</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既存顧客・コネクション頼み／物件買取・仕入れ・土地取得の営業ノウハウ・リソース不足</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Platform（買取・土地活用提案をフックにプッシュ営業＋一次対応代行）</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高品質リストを獲得し一次アプローチを自動化、大口の買取・仕入れ成約を連続獲得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株式会社すがコーポレーション</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売買仲介・買取再販（多店舗）</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取扱件数・店舗数拡大に伴う人手不足／買取・売却顧客開拓の人的限界</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外部営業仕組み・在宅チーム（定型実務・初期アプローチを切り出し）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社員が買取り・売買の直接商談に集中、県内トップクラスの仲介・買取業績を向上</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株式会社ニューライフオリジナル</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総合不動産（売買・買取・管理）</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現場実務と新規買取・売買営業の両立が困難／担当離職に伴う停滞リスク</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ママワークス等（販促サポート・Webプロモを外部化）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社員が買取り・再販商談に集中、安定して仕入れ・再販案件を獲得する基盤を構築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50" b="1" dirty="0">
                <a:solidFill>
                  <a:srgbClr val="16407A"/>
                </a:solidFill>
                <a:latin typeface="Meiryo" pitchFamily="34" charset="0"/>
                <a:ea typeface="Meiryo" pitchFamily="34" charset="-122"/>
                <a:cs typeface="Meiryo" pitchFamily="34" charset="-120"/>
              </a:rPr>
              <a:t>飛び込み・紹介依存から脱却し、自社の工数を消費することなく営業支援ユニットで売主・媒介業者へ買取・査定アプローチを自動化。優良な仕入れ物件情報・買取商談を継続的に獲得できることを示す実績で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2026-10-02T00:34:12Z</dcterms:created>
  <dcterms:modified xsi:type="dcterms:W3CDTF">2026-10-02T00:34:12Z</dcterms:modified>
</cp:coreProperties>
</file>