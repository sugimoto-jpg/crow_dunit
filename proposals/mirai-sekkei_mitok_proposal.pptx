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A3332"/>
                </a:solidFill>
                <a:latin typeface="Meiryo UI"/>
              </a:defRPr>
            </a:pPr>
            <a:r>
              <a:rPr sz="1100" b="0" i="0" u="none" strike="noStrike">
                <a:solidFill>
                  <a:srgbClr val="2A3332"/>
                </a:solidFill>
                <a:latin typeface="Meiryo UI"/>
              </a:rPr>
              <a:t>上乗せ利用者数（累計）の推移　※月（ヶ月目）</a:t>
            </a:r>
          </a:p>
        </c:rich>
      </c:tx>
      <c:layout/>
      <c:overlay val="0"/>
    </c:title>
    <c:autoTitleDeleted val="0"/>
    <c:plotArea>
      <c:layout/>
      <c:barChart>
        <c:barDir val="col"/>
        <c:grouping val="clustered"/>
        <c:varyColors val="0"/>
        <c:ser>
          <c:idx val="0"/>
          <c:order val="0"/>
          <c:tx>
            <c:strRef>
              <c:f>Sheet1!$B$1</c:f>
              <c:strCache>
                <c:ptCount val="1"/>
                <c:pt idx="0">
                  <c:v>上乗せ利用者数（累計）</c:v>
                </c:pt>
              </c:strCache>
            </c:strRef>
          </c:tx>
          <c:spPr>
            <a:solidFill>
              <a:srgbClr val="1F5E5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0</c:v>
                </c:pt>
                <c:pt idx="1">
                  <c:v>1</c:v>
                </c:pt>
                <c:pt idx="2">
                  <c:v>2</c:v>
                </c:pt>
                <c:pt idx="3">
                  <c:v>4</c:v>
                </c:pt>
                <c:pt idx="4">
                  <c:v>6</c:v>
                </c:pt>
                <c:pt idx="5">
                  <c:v>8</c:v>
                </c:pt>
                <c:pt idx="6">
                  <c:v>11</c:v>
                </c:pt>
                <c:pt idx="7">
                  <c:v>14</c:v>
                </c:pt>
                <c:pt idx="8">
                  <c:v>17</c:v>
                </c:pt>
                <c:pt idx="9">
                  <c:v>20</c:v>
                </c:pt>
                <c:pt idx="10">
                  <c:v>23</c:v>
                </c:pt>
                <c:pt idx="11">
                  <c:v>26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6807D"/>
                </a:solidFill>
                <a:latin typeface="Meiryo UI"/>
              </a:defRPr>
            </a:pPr>
            <a:endParaRPr lang="en-US"/>
          </a:p>
        </c:txPr>
        <c:crossAx val="2094734552"/>
        <c:crosses val="autoZero"/>
        <c:auto val="1"/>
        <c:lblAlgn val="ctr"/>
        <c:noMultiLvlLbl val="1"/>
      </c:catAx>
      <c:valAx>
        <c:axId val="2094734552"/>
        <c:scaling>
          <c:orientation val="minMax"/>
          <c:max val="30"/>
        </c:scaling>
        <c:delete val="0"/>
        <c:axPos val="l"/>
        <c:majorGridlines>
          <c:spPr>
            <a:ln w="9525" cap="flat">
              <a:solidFill>
                <a:srgbClr val="E3EC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6807D"/>
                </a:solidFill>
                <a:latin typeface="Meiryo U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【営業担当者用・事前確認】
・坂田様は代表ではなく取締役会長。冒頭で決裁権限・決裁フローを必ず確認する。
・今回の対象は保険事業ではなく訪問マッサージ（介護）事業。保険はクロスセル文脈にとどめる。
・課題が「不明」のため、ヒアリングで会長ご自身の言葉で課題を言語化していただくことが成否を分ける。
【時間配分（60分）】0-5分 振り返り／5-20分 Why Now＋ヒアリング／20-35分 プッシュ・プル戦略／35-45分 フェーズ1・2／45-60分 数値ヒアリング・シミュレーション・次回日程の確定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資料をご用意いただいたことへのお礼を伝え、「台本素材として既に活用を始めている」ことを伝えて、プロジェクトが動き出している感覚をつくる。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本商談の最重要パート。6つの仮説を一つずつ指し示し、「この中で一番近いものはどれですか？」と聞く。会長ご自身の言葉で課題を語っていただくまで次に進まない。数字（紹介件数・利用者数）もここで確認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の3本を作って様子を見る」という姿勢そのものが、成果が出ない進め方であることを論理的に伝えるスライド。お客様を否定せず、「多くの企業様がここでつまずく」という第三者の事例として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保険顧客へのクロスセルは貴社にしかない強みとして強調する。「保険の更新・点検のタイミングで、ご家族向けの動画を1本添えるだけ」と、手間が増えないことを伝える。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MiTokのAI掛け合い形式（ご家族役が質問し、専門スタッフ役が回答）を前提としたラフ。無料3本はこの3つの型を1本ずつ制作する（フェーズ1のスライドにつなげる）。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広告規制は断定的な法解釈を述べず、「配慮して設計する」旨の説明にとどめる。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「無料3本＝お試し」ではなく「検証」であることを強調する。検証である以上、KPIと比較軸を最初に決めておく必要があり、その設計自体が伴走の価値であると伝える。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無料の3本を見てから考えたい」への切り返し：「もちろん3本の成果はしっかり検証します。ただ、検証後に検討を始めると1〜2ヶ月の空白が生まれ、SNSも営業での活用も止まってしまいます。検証を“伴走プランの初月”として設計しておけば、結果が出た当日に次の一手を打て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値はあくまで仮置き。ホワイトボードや画面共有で、会長と一緒に実数値（施術単価・月間訪問回数・平均継続月数・現在の月間新規数）を入れて再計算する。「利用者様が月に〇名増えれば回収できる」という損益分岐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8番（決裁フロー）は冒頭で必ず確認。「代表にも相談したい」となった場合は、代表同席の場をその場で日程確定し、会長が社内提案しやすいよう要約版資料をお渡しする。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スライドのヒアリングで伺った数値（利用者数・月間新規・単価・継続期間・受け入れ上限）を上部の帯に記入し、その場で試算を調整する。確定値は次回お打ち合わせで「目標値」として合意する流れをつくる。受け入れ上限（施術者数）を超える場合は、採用動画の活用もあわせて提案する。
試算ロジック：送付60件×視聴50%×面談30%×紹介30%×開始60%≒2名／月、プル（問い合わせ2件×50%）≒1名／月。累計：1ヶ月目0、2〜3ヶ月目+1/月、4〜6ヶ月目+2/月、7〜12ヶ月目+3/月 → 12ヶ月後26名、月間売上上乗せ26名×3万円=78万円。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最後に、次回お打ち合わせの日程をその場で確定させる（代表の同席が必要な場合は、あわせて日程を押さえる）。次回は「シミュレーション確定＋台本ドラフト提示」という具体的な成果物を持参することを約束し、次回の場で契約判断をいただける状態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F3D"/>
        </a:solidFill>
      </p:bgPr>
    </p:bg>
    <p:spTree>
      <p:nvGrpSpPr>
        <p:cNvPr id="1" name=""/>
        <p:cNvGrpSpPr/>
        <p:nvPr/>
      </p:nvGrpSpPr>
      <p:grpSpPr>
        <a:xfrm>
          <a:off x="0" y="0"/>
          <a:ext cx="0" cy="0"/>
          <a:chOff x="0" y="0"/>
          <a:chExt cx="0" cy="0"/>
        </a:xfrm>
      </p:grpSpPr>
      <p:sp>
        <p:nvSpPr>
          <p:cNvPr id="2" name="Shape 0"/>
          <p:cNvSpPr/>
          <p:nvPr/>
        </p:nvSpPr>
        <p:spPr>
          <a:xfrm>
            <a:off x="8138160" y="1097280"/>
            <a:ext cx="4937760" cy="4937760"/>
          </a:xfrm>
          <a:prstGeom prst="ellipse">
            <a:avLst/>
          </a:prstGeom>
          <a:solidFill>
            <a:srgbClr val="1F5E5B"/>
          </a:solidFill>
          <a:ln w="12700">
            <a:solidFill>
              <a:srgbClr val="1F5E5B"/>
            </a:solidFill>
            <a:prstDash val="solid"/>
          </a:ln>
        </p:spPr>
      </p:sp>
      <p:sp>
        <p:nvSpPr>
          <p:cNvPr id="3" name="Shape 1"/>
          <p:cNvSpPr/>
          <p:nvPr/>
        </p:nvSpPr>
        <p:spPr>
          <a:xfrm>
            <a:off x="9326880" y="365760"/>
            <a:ext cx="2011680" cy="2011680"/>
          </a:xfrm>
          <a:prstGeom prst="ellipse">
            <a:avLst/>
          </a:prstGeom>
          <a:solidFill>
            <a:srgbClr val="E07B39">
              <a:alpha val="85000"/>
            </a:srgbClr>
          </a:solidFill>
          <a:ln w="12700">
            <a:solidFill>
              <a:srgbClr val="E07B39"/>
            </a:solidFill>
            <a:prstDash val="solid"/>
          </a:ln>
        </p:spPr>
      </p:sp>
      <p:pic>
        <p:nvPicPr>
          <p:cNvPr id="4" name="Image 0" descr="preencoded.png">    </p:cNvPr>
          <p:cNvPicPr>
            <a:picLocks noChangeAspect="1"/>
          </p:cNvPicPr>
          <p:nvPr/>
        </p:nvPicPr>
        <p:blipFill>
          <a:blip r:embed="rId1"/>
          <a:stretch>
            <a:fillRect/>
          </a:stretch>
        </p:blipFill>
        <p:spPr>
          <a:xfrm>
            <a:off x="9464040" y="2514600"/>
            <a:ext cx="1920240" cy="1920240"/>
          </a:xfrm>
          <a:prstGeom prst="rect">
            <a:avLst/>
          </a:prstGeom>
        </p:spPr>
      </p:pic>
      <p:sp>
        <p:nvSpPr>
          <p:cNvPr id="5" name="Text 2"/>
          <p:cNvSpPr txBox="1"/>
          <p:nvPr/>
        </p:nvSpPr>
        <p:spPr>
          <a:xfrm>
            <a:off x="640080" y="731520"/>
            <a:ext cx="6400800" cy="365760"/>
          </a:xfrm>
          <a:prstGeom prst="rect">
            <a:avLst/>
          </a:prstGeom>
          <a:noFill/>
          <a:ln/>
        </p:spPr>
        <p:txBody>
          <a:bodyPr wrap="square" lIns="0" tIns="0" rIns="0" bIns="0" rtlCol="0" anchor="t"/>
          <a:lstStyle/>
          <a:p>
            <a:pPr indent="0" marL="0">
              <a:buNone/>
            </a:pPr>
            <a:r>
              <a:rPr lang="en-US" sz="1600" dirty="0">
                <a:solidFill>
                  <a:srgbClr val="CFE6E1"/>
                </a:solidFill>
                <a:latin typeface="Meiryo UI" pitchFamily="34" charset="0"/>
                <a:ea typeface="Meiryo UI" pitchFamily="34" charset="-122"/>
                <a:cs typeface="Meiryo UI" pitchFamily="34" charset="-120"/>
              </a:rPr>
              <a:t>株式会社みらい設計 御中</a:t>
            </a:r>
            <a:endParaRPr lang="en-US" sz="1600" dirty="0"/>
          </a:p>
        </p:txBody>
      </p:sp>
      <p:sp>
        <p:nvSpPr>
          <p:cNvPr id="6" name="Text 3"/>
          <p:cNvSpPr txBox="1"/>
          <p:nvPr/>
        </p:nvSpPr>
        <p:spPr>
          <a:xfrm>
            <a:off x="640080" y="1463040"/>
            <a:ext cx="7498080" cy="2468880"/>
          </a:xfrm>
          <a:prstGeom prst="rect">
            <a:avLst/>
          </a:prstGeom>
          <a:noFill/>
          <a:ln/>
        </p:spPr>
        <p:txBody>
          <a:bodyPr wrap="square" lIns="0" tIns="0" rIns="0" bIns="0" rtlCol="0" anchor="t"/>
          <a:lstStyle/>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訪問マッサージ事業</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営業・マーケティング</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総合改革提案書</a:t>
            </a:r>
            <a:endParaRPr lang="en-US" sz="4000" dirty="0"/>
          </a:p>
        </p:txBody>
      </p:sp>
      <p:sp>
        <p:nvSpPr>
          <p:cNvPr id="7" name="Text 4"/>
          <p:cNvSpPr txBox="1"/>
          <p:nvPr/>
        </p:nvSpPr>
        <p:spPr>
          <a:xfrm>
            <a:off x="640080" y="4069080"/>
            <a:ext cx="7498080" cy="457200"/>
          </a:xfrm>
          <a:prstGeom prst="rect">
            <a:avLst/>
          </a:prstGeom>
          <a:noFill/>
          <a:ln/>
        </p:spPr>
        <p:txBody>
          <a:bodyPr wrap="square" lIns="0" tIns="0" rIns="0" bIns="0" rtlCol="0" anchor="t"/>
          <a:lstStyle/>
          <a:p>
            <a:pPr indent="0" marL="0">
              <a:buNone/>
            </a:pPr>
            <a:r>
              <a:rPr lang="en-US" sz="1800" b="1" dirty="0">
                <a:solidFill>
                  <a:srgbClr val="F2A673"/>
                </a:solidFill>
                <a:latin typeface="Meiryo UI" pitchFamily="34" charset="0"/>
                <a:ea typeface="Meiryo UI" pitchFamily="34" charset="-122"/>
                <a:cs typeface="Meiryo UI" pitchFamily="34" charset="-120"/>
              </a:rPr>
              <a:t>「動画をつくる」から「選ばれ続ける仕組みをつくる」へ</a:t>
            </a:r>
            <a:endParaRPr lang="en-US" sz="1800" dirty="0"/>
          </a:p>
        </p:txBody>
      </p:sp>
      <p:sp>
        <p:nvSpPr>
          <p:cNvPr id="8" name="Text 5"/>
          <p:cNvSpPr txBox="1"/>
          <p:nvPr/>
        </p:nvSpPr>
        <p:spPr>
          <a:xfrm>
            <a:off x="640080" y="4709160"/>
            <a:ext cx="7498080" cy="365760"/>
          </a:xfrm>
          <a:prstGeom prst="rect">
            <a:avLst/>
          </a:prstGeom>
          <a:noFill/>
          <a:ln/>
        </p:spPr>
        <p:txBody>
          <a:bodyPr wrap="square" lIns="0" tIns="0" rIns="0" bIns="0" rtlCol="0" anchor="t"/>
          <a:lstStyle/>
          <a:p>
            <a:pPr indent="0" marL="0">
              <a:buNone/>
            </a:pPr>
            <a:r>
              <a:rPr lang="en-US" sz="1300" dirty="0">
                <a:solidFill>
                  <a:srgbClr val="CFE6E1"/>
                </a:solidFill>
                <a:latin typeface="Meiryo UI" pitchFamily="34" charset="0"/>
                <a:ea typeface="Meiryo UI" pitchFamily="34" charset="-122"/>
                <a:cs typeface="Meiryo UI" pitchFamily="34" charset="-120"/>
              </a:rPr>
              <a:t>AI対話・動画プラットフォーム「MiTok（ミトク）」ご活用提案／第2回お打ち合わせ資料</a:t>
            </a:r>
            <a:endParaRPr lang="en-US" sz="1300" dirty="0"/>
          </a:p>
        </p:txBody>
      </p:sp>
      <p:sp>
        <p:nvSpPr>
          <p:cNvPr id="9" name="Text 6"/>
          <p:cNvSpPr txBox="1"/>
          <p:nvPr/>
        </p:nvSpPr>
        <p:spPr>
          <a:xfrm>
            <a:off x="640080" y="5989320"/>
            <a:ext cx="7315200" cy="365760"/>
          </a:xfrm>
          <a:prstGeom prst="rect">
            <a:avLst/>
          </a:prstGeom>
          <a:noFill/>
          <a:ln/>
        </p:spPr>
        <p:txBody>
          <a:bodyPr wrap="square" lIns="0" tIns="0" rIns="0" bIns="0" rtlCol="0" anchor="t"/>
          <a:lstStyle/>
          <a:p>
            <a:pPr indent="0" marL="0">
              <a:buNone/>
            </a:pPr>
            <a:r>
              <a:rPr lang="en-US" sz="1300" b="1"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EXECUTIVE SUMMARY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結論：MiTokを「新規利用者獲得エンジン」として導入する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960120"/>
          </a:xfrm>
          <a:prstGeom prst="roundRect">
            <a:avLst>
              <a:gd name="adj" fmla="val 11429"/>
            </a:avLst>
          </a:prstGeom>
          <a:solidFill>
            <a:srgbClr val="E7F2EF"/>
          </a:solidFill>
          <a:ln w="12700">
            <a:solidFill>
              <a:srgbClr val="E7F2EF"/>
            </a:solidFill>
            <a:prstDash val="solid"/>
          </a:ln>
        </p:spPr>
      </p:sp>
      <p:sp>
        <p:nvSpPr>
          <p:cNvPr id="7" name="Text 5"/>
          <p:cNvSpPr txBox="1"/>
          <p:nvPr/>
        </p:nvSpPr>
        <p:spPr>
          <a:xfrm>
            <a:off x="868680" y="1371600"/>
            <a:ext cx="10454335" cy="960120"/>
          </a:xfrm>
          <a:prstGeom prst="rect">
            <a:avLst/>
          </a:prstGeom>
          <a:noFill/>
          <a:ln/>
        </p:spPr>
        <p:txBody>
          <a:bodyPr wrap="square" lIns="0" tIns="0" rIns="0" bIns="0" rtlCol="0" anchor="ctr"/>
          <a:lstStyle/>
          <a:p>
            <a:pPr indent="0" marL="0">
              <a:buNone/>
            </a:pPr>
            <a:r>
              <a:rPr lang="en-US" sz="1600" b="1" dirty="0">
                <a:solidFill>
                  <a:srgbClr val="163F3D"/>
                </a:solidFill>
                <a:latin typeface="Meiryo UI" pitchFamily="34" charset="0"/>
                <a:ea typeface="Meiryo UI" pitchFamily="34" charset="-122"/>
                <a:cs typeface="Meiryo UI" pitchFamily="34" charset="-120"/>
              </a:rPr>
              <a:t>紹介・人脈に依存した集客から、動画と仕組みで紹介と問い合わせが生まれ続ける</a:t>
            </a:r>
            <a:endParaRPr lang="en-US" sz="1600" dirty="0"/>
          </a:p>
          <a:p>
            <a:pPr indent="0" marL="0">
              <a:buNone/>
            </a:pPr>
            <a:r>
              <a:rPr lang="en-US" sz="1600" b="1" dirty="0">
                <a:solidFill>
                  <a:srgbClr val="163F3D"/>
                </a:solidFill>
                <a:latin typeface="Meiryo UI" pitchFamily="34" charset="0"/>
                <a:ea typeface="Meiryo UI" pitchFamily="34" charset="-122"/>
                <a:cs typeface="Meiryo UI" pitchFamily="34" charset="-120"/>
              </a:rPr>
              <a:t>「地域No.1の訪問マッサージ事業体制」へ転換することをご提案します。</a:t>
            </a:r>
            <a:endParaRPr lang="en-US" sz="1600" dirty="0"/>
          </a:p>
        </p:txBody>
      </p:sp>
      <p:sp>
        <p:nvSpPr>
          <p:cNvPr id="8" name="Shape 6"/>
          <p:cNvSpPr/>
          <p:nvPr/>
        </p:nvSpPr>
        <p:spPr>
          <a:xfrm>
            <a:off x="548640"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822960" y="2834640"/>
            <a:ext cx="640080" cy="640080"/>
          </a:xfrm>
          <a:prstGeom prst="ellipse">
            <a:avLst/>
          </a:prstGeom>
          <a:solidFill>
            <a:srgbClr val="1F5E5B"/>
          </a:solidFill>
          <a:ln w="12700">
            <a:solidFill>
              <a:srgbClr val="1F5E5B"/>
            </a:solidFill>
            <a:prstDash val="solid"/>
          </a:ln>
        </p:spPr>
      </p:sp>
      <p:pic>
        <p:nvPicPr>
          <p:cNvPr id="10" name="Image 0" descr="preencoded.png">    </p:cNvPr>
          <p:cNvPicPr>
            <a:picLocks noChangeAspect="1"/>
          </p:cNvPicPr>
          <p:nvPr/>
        </p:nvPicPr>
        <p:blipFill>
          <a:blip r:embed="rId1"/>
          <a:stretch>
            <a:fillRect/>
          </a:stretch>
        </p:blipFill>
        <p:spPr>
          <a:xfrm>
            <a:off x="989381" y="3001061"/>
            <a:ext cx="307238" cy="307238"/>
          </a:xfrm>
          <a:prstGeom prst="rect">
            <a:avLst/>
          </a:prstGeom>
        </p:spPr>
      </p:pic>
      <p:sp>
        <p:nvSpPr>
          <p:cNvPr id="11" name="Text 8"/>
          <p:cNvSpPr txBox="1"/>
          <p:nvPr/>
        </p:nvSpPr>
        <p:spPr>
          <a:xfrm>
            <a:off x="1600200" y="2834640"/>
            <a:ext cx="2280818" cy="64008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プッシュ｜紹介元への働きかけ</a:t>
            </a:r>
            <a:endParaRPr lang="en-US" sz="1500" dirty="0"/>
          </a:p>
        </p:txBody>
      </p:sp>
      <p:sp>
        <p:nvSpPr>
          <p:cNvPr id="12" name="Text 9"/>
          <p:cNvSpPr txBox="1"/>
          <p:nvPr/>
        </p:nvSpPr>
        <p:spPr>
          <a:xfrm>
            <a:off x="822960"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332"/>
                </a:solidFill>
                <a:latin typeface="Meiryo UI" pitchFamily="34" charset="0"/>
                <a:ea typeface="Meiryo UI" pitchFamily="34" charset="-122"/>
                <a:cs typeface="Meiryo UI" pitchFamily="34" charset="-120"/>
              </a:rPr>
              <a:t>ケアマネジャー・介護施設・医療機関・既存の保険顧客へ、訪問前・訪問後・資料送付時に動画を届け、紹介件数と面談化率を引き上げる。</a:t>
            </a:r>
            <a:endParaRPr lang="en-US" sz="1250" dirty="0"/>
          </a:p>
        </p:txBody>
      </p:sp>
      <p:sp>
        <p:nvSpPr>
          <p:cNvPr id="13" name="Shape 10"/>
          <p:cNvSpPr/>
          <p:nvPr/>
        </p:nvSpPr>
        <p:spPr>
          <a:xfrm>
            <a:off x="4338218"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612538" y="2834640"/>
            <a:ext cx="640080" cy="640080"/>
          </a:xfrm>
          <a:prstGeom prst="ellipse">
            <a:avLst/>
          </a:prstGeom>
          <a:solidFill>
            <a:srgbClr val="1F5E5B"/>
          </a:solidFill>
          <a:ln w="12700">
            <a:solidFill>
              <a:srgbClr val="1F5E5B"/>
            </a:solidFill>
            <a:prstDash val="solid"/>
          </a:ln>
        </p:spPr>
      </p:sp>
      <p:pic>
        <p:nvPicPr>
          <p:cNvPr id="15" name="Image 1" descr="preencoded.png">    </p:cNvPr>
          <p:cNvPicPr>
            <a:picLocks noChangeAspect="1"/>
          </p:cNvPicPr>
          <p:nvPr/>
        </p:nvPicPr>
        <p:blipFill>
          <a:blip r:embed="rId2"/>
          <a:stretch>
            <a:fillRect/>
          </a:stretch>
        </p:blipFill>
        <p:spPr>
          <a:xfrm>
            <a:off x="4778959" y="3001061"/>
            <a:ext cx="307238" cy="307238"/>
          </a:xfrm>
          <a:prstGeom prst="rect">
            <a:avLst/>
          </a:prstGeom>
        </p:spPr>
      </p:pic>
      <p:sp>
        <p:nvSpPr>
          <p:cNvPr id="16" name="Text 12"/>
          <p:cNvSpPr txBox="1"/>
          <p:nvPr/>
        </p:nvSpPr>
        <p:spPr>
          <a:xfrm>
            <a:off x="5389778" y="2834640"/>
            <a:ext cx="2280818" cy="64008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プル｜ご家族からの指名</a:t>
            </a:r>
            <a:endParaRPr lang="en-US" sz="1500" dirty="0"/>
          </a:p>
        </p:txBody>
      </p:sp>
      <p:sp>
        <p:nvSpPr>
          <p:cNvPr id="17" name="Text 13"/>
          <p:cNvSpPr txBox="1"/>
          <p:nvPr/>
        </p:nvSpPr>
        <p:spPr>
          <a:xfrm>
            <a:off x="4612538"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332"/>
                </a:solidFill>
                <a:latin typeface="Meiryo UI" pitchFamily="34" charset="0"/>
                <a:ea typeface="Meiryo UI" pitchFamily="34" charset="-122"/>
                <a:cs typeface="Meiryo UI" pitchFamily="34" charset="-120"/>
              </a:rPr>
              <a:t>YouTube／Instagram／TikTokで「訪問マッサージとは？」「保険で受けられる？」を解説し、ご家族からの直接問い合わせの導線をつくる。</a:t>
            </a:r>
            <a:endParaRPr lang="en-US" sz="1250" dirty="0"/>
          </a:p>
        </p:txBody>
      </p:sp>
      <p:sp>
        <p:nvSpPr>
          <p:cNvPr id="18" name="Shape 14"/>
          <p:cNvSpPr/>
          <p:nvPr/>
        </p:nvSpPr>
        <p:spPr>
          <a:xfrm>
            <a:off x="8127797"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8402117" y="2834640"/>
            <a:ext cx="640080" cy="640080"/>
          </a:xfrm>
          <a:prstGeom prst="ellipse">
            <a:avLst/>
          </a:prstGeom>
          <a:solidFill>
            <a:srgbClr val="1F5E5B"/>
          </a:solidFill>
          <a:ln w="12700">
            <a:solidFill>
              <a:srgbClr val="1F5E5B"/>
            </a:solidFill>
            <a:prstDash val="solid"/>
          </a:ln>
        </p:spPr>
      </p:sp>
      <p:pic>
        <p:nvPicPr>
          <p:cNvPr id="20" name="Image 2" descr="preencoded.png">    </p:cNvPr>
          <p:cNvPicPr>
            <a:picLocks noChangeAspect="1"/>
          </p:cNvPicPr>
          <p:nvPr/>
        </p:nvPicPr>
        <p:blipFill>
          <a:blip r:embed="rId3"/>
          <a:stretch>
            <a:fillRect/>
          </a:stretch>
        </p:blipFill>
        <p:spPr>
          <a:xfrm>
            <a:off x="8568538" y="3001061"/>
            <a:ext cx="307238" cy="307238"/>
          </a:xfrm>
          <a:prstGeom prst="rect">
            <a:avLst/>
          </a:prstGeom>
        </p:spPr>
      </p:pic>
      <p:sp>
        <p:nvSpPr>
          <p:cNvPr id="21" name="Text 16"/>
          <p:cNvSpPr txBox="1"/>
          <p:nvPr/>
        </p:nvSpPr>
        <p:spPr>
          <a:xfrm>
            <a:off x="9179357" y="2834640"/>
            <a:ext cx="2280818" cy="64008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2フェーズの伴走</a:t>
            </a:r>
            <a:endParaRPr lang="en-US" sz="1500" dirty="0"/>
          </a:p>
        </p:txBody>
      </p:sp>
      <p:sp>
        <p:nvSpPr>
          <p:cNvPr id="22" name="Text 17"/>
          <p:cNvSpPr txBox="1"/>
          <p:nvPr/>
        </p:nvSpPr>
        <p:spPr>
          <a:xfrm>
            <a:off x="8402117"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332"/>
                </a:solidFill>
                <a:latin typeface="Meiryo UI" pitchFamily="34" charset="0"/>
                <a:ea typeface="Meiryo UI" pitchFamily="34" charset="-122"/>
                <a:cs typeface="Meiryo UI" pitchFamily="34" charset="-120"/>
              </a:rPr>
              <a:t>無料3本は効果検証のためのプロトタイプ。検証結果をそのまま有料伴走へ引き継ぎ、改善・量産・営業組み込みまで一気通貫で実行する。</a:t>
            </a:r>
            <a:endParaRPr lang="en-US" sz="1250" dirty="0"/>
          </a:p>
        </p:txBody>
      </p:sp>
      <p:sp>
        <p:nvSpPr>
          <p:cNvPr id="23" name="Text 18"/>
          <p:cNvSpPr txBox="1"/>
          <p:nvPr/>
        </p:nvSpPr>
        <p:spPr>
          <a:xfrm>
            <a:off x="548640" y="5193792"/>
            <a:ext cx="2743200" cy="320040"/>
          </a:xfrm>
          <a:prstGeom prst="rect">
            <a:avLst/>
          </a:prstGeom>
          <a:noFill/>
          <a:ln/>
        </p:spPr>
        <p:txBody>
          <a:bodyPr wrap="square" lIns="0" tIns="0" rIns="0" bIns="0" rtlCol="0" anchor="t"/>
          <a:lstStyle/>
          <a:p>
            <a:pPr indent="0" marL="0">
              <a:buNone/>
            </a:pPr>
            <a:r>
              <a:rPr lang="en-US" sz="1300" b="1" dirty="0">
                <a:solidFill>
                  <a:srgbClr val="E07B39"/>
                </a:solidFill>
                <a:latin typeface="Meiryo UI" pitchFamily="34" charset="0"/>
                <a:ea typeface="Meiryo UI" pitchFamily="34" charset="-122"/>
                <a:cs typeface="Meiryo UI" pitchFamily="34" charset="-120"/>
              </a:rPr>
              <a:t>12ヶ月後のゴール</a:t>
            </a:r>
            <a:endParaRPr lang="en-US" sz="1300" dirty="0"/>
          </a:p>
        </p:txBody>
      </p:sp>
      <p:sp>
        <p:nvSpPr>
          <p:cNvPr id="24" name="Shape 19"/>
          <p:cNvSpPr/>
          <p:nvPr/>
        </p:nvSpPr>
        <p:spPr>
          <a:xfrm>
            <a:off x="548640" y="5577840"/>
            <a:ext cx="365760" cy="365760"/>
          </a:xfrm>
          <a:prstGeom prst="ellipse">
            <a:avLst/>
          </a:prstGeom>
          <a:solidFill>
            <a:srgbClr val="FCEBDD"/>
          </a:solidFill>
          <a:ln w="12700">
            <a:solidFill>
              <a:srgbClr val="FCEBDD"/>
            </a:solidFill>
            <a:prstDash val="solid"/>
          </a:ln>
        </p:spPr>
      </p:sp>
      <p:pic>
        <p:nvPicPr>
          <p:cNvPr id="25" name="Image 3" descr="preencoded.png">    </p:cNvPr>
          <p:cNvPicPr>
            <a:picLocks noChangeAspect="1"/>
          </p:cNvPicPr>
          <p:nvPr/>
        </p:nvPicPr>
        <p:blipFill>
          <a:blip r:embed="rId4"/>
          <a:stretch>
            <a:fillRect/>
          </a:stretch>
        </p:blipFill>
        <p:spPr>
          <a:xfrm>
            <a:off x="643738" y="5672938"/>
            <a:ext cx="175565" cy="175565"/>
          </a:xfrm>
          <a:prstGeom prst="rect">
            <a:avLst/>
          </a:prstGeom>
        </p:spPr>
      </p:pic>
      <p:sp>
        <p:nvSpPr>
          <p:cNvPr id="26" name="Text 20"/>
          <p:cNvSpPr txBox="1"/>
          <p:nvPr/>
        </p:nvSpPr>
        <p:spPr>
          <a:xfrm>
            <a:off x="1024128" y="5532120"/>
            <a:ext cx="3012338" cy="5486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「訪問マッサージといえば、みらい設計」と地域で第一想起される</a:t>
            </a:r>
            <a:endParaRPr lang="en-US" sz="1200" dirty="0"/>
          </a:p>
        </p:txBody>
      </p:sp>
      <p:sp>
        <p:nvSpPr>
          <p:cNvPr id="27" name="Shape 21"/>
          <p:cNvSpPr/>
          <p:nvPr/>
        </p:nvSpPr>
        <p:spPr>
          <a:xfrm>
            <a:off x="4338218" y="5577840"/>
            <a:ext cx="365760" cy="365760"/>
          </a:xfrm>
          <a:prstGeom prst="ellipse">
            <a:avLst/>
          </a:prstGeom>
          <a:solidFill>
            <a:srgbClr val="FCEBDD"/>
          </a:solidFill>
          <a:ln w="12700">
            <a:solidFill>
              <a:srgbClr val="FCEBDD"/>
            </a:solidFill>
            <a:prstDash val="solid"/>
          </a:ln>
        </p:spPr>
      </p:sp>
      <p:pic>
        <p:nvPicPr>
          <p:cNvPr id="28" name="Image 4" descr="preencoded.png">    </p:cNvPr>
          <p:cNvPicPr>
            <a:picLocks noChangeAspect="1"/>
          </p:cNvPicPr>
          <p:nvPr/>
        </p:nvPicPr>
        <p:blipFill>
          <a:blip r:embed="rId5"/>
          <a:stretch>
            <a:fillRect/>
          </a:stretch>
        </p:blipFill>
        <p:spPr>
          <a:xfrm>
            <a:off x="4433316" y="5672938"/>
            <a:ext cx="175565" cy="175565"/>
          </a:xfrm>
          <a:prstGeom prst="rect">
            <a:avLst/>
          </a:prstGeom>
        </p:spPr>
      </p:pic>
      <p:sp>
        <p:nvSpPr>
          <p:cNvPr id="29" name="Text 22"/>
          <p:cNvSpPr txBox="1"/>
          <p:nvPr/>
        </p:nvSpPr>
        <p:spPr>
          <a:xfrm>
            <a:off x="4813706" y="5532120"/>
            <a:ext cx="3012338" cy="5486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紹介が担当者の人脈でなく、動画と仕組みで継続的に発生する</a:t>
            </a:r>
            <a:endParaRPr lang="en-US" sz="1200" dirty="0"/>
          </a:p>
        </p:txBody>
      </p:sp>
      <p:sp>
        <p:nvSpPr>
          <p:cNvPr id="30" name="Shape 23"/>
          <p:cNvSpPr/>
          <p:nvPr/>
        </p:nvSpPr>
        <p:spPr>
          <a:xfrm>
            <a:off x="8127797" y="5577840"/>
            <a:ext cx="365760" cy="365760"/>
          </a:xfrm>
          <a:prstGeom prst="ellipse">
            <a:avLst/>
          </a:prstGeom>
          <a:solidFill>
            <a:srgbClr val="FCEBDD"/>
          </a:solidFill>
          <a:ln w="12700">
            <a:solidFill>
              <a:srgbClr val="FCEBDD"/>
            </a:solidFill>
            <a:prstDash val="solid"/>
          </a:ln>
        </p:spPr>
      </p:sp>
      <p:pic>
        <p:nvPicPr>
          <p:cNvPr id="31" name="Image 5" descr="preencoded.png">    </p:cNvPr>
          <p:cNvPicPr>
            <a:picLocks noChangeAspect="1"/>
          </p:cNvPicPr>
          <p:nvPr/>
        </p:nvPicPr>
        <p:blipFill>
          <a:blip r:embed="rId6"/>
          <a:stretch>
            <a:fillRect/>
          </a:stretch>
        </p:blipFill>
        <p:spPr>
          <a:xfrm>
            <a:off x="8222894" y="5672938"/>
            <a:ext cx="175565" cy="175565"/>
          </a:xfrm>
          <a:prstGeom prst="rect">
            <a:avLst/>
          </a:prstGeom>
        </p:spPr>
      </p:pic>
      <p:sp>
        <p:nvSpPr>
          <p:cNvPr id="32" name="Text 24"/>
          <p:cNvSpPr txBox="1"/>
          <p:nvPr/>
        </p:nvSpPr>
        <p:spPr>
          <a:xfrm>
            <a:off x="8603285" y="5532120"/>
            <a:ext cx="3012338" cy="5486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保険事業で培った「安心・安全・安堵」を介護領域の信頼の証にする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01｜RECAP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前回お打ち合わせの振り返り</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1828800"/>
                <a:gridCol w="5669280"/>
              </a:tblGrid>
              <a:tr h="566928">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項目</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確認内容</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体制</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昨年4月に合同会社保険プラザと合併し、株式会社みらい設計として新体制へ（岩国16名）</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事業</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損害保険・生命保険の代理店事業／訪問マッサージ等の介護関連事業（7年目）</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強み</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半径50km圏の地域密着体制、顧客との深い繋がり、「安心・安全・安堵」のイメージ</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MiTok活用の対象</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200" b="1" dirty="0">
                          <a:solidFill>
                            <a:srgbClr val="E07B39"/>
                          </a:solidFill>
                          <a:latin typeface="Meiryo UI" pitchFamily="34" charset="0"/>
                          <a:ea typeface="Meiryo UI" pitchFamily="34" charset="-122"/>
                          <a:cs typeface="Meiryo UI" pitchFamily="34" charset="-120"/>
                        </a:rPr>
                        <a:t>保険事業ではなく、訪問マッサージ（介護）事業</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期待すること</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新規チャネルからの認知拡大・顧客獲得、HP・顧客案内などへの二次利用</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宿題（貴社）</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訪問マッサージ・介護訴求のスライド資料（5〜10P／PDF）のご用意</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200" b="1" dirty="0">
                          <a:solidFill>
                            <a:srgbClr val="1F5E5B"/>
                          </a:solidFill>
                          <a:latin typeface="Meiryo UI" pitchFamily="34" charset="0"/>
                          <a:ea typeface="Meiryo UI" pitchFamily="34" charset="-122"/>
                          <a:cs typeface="Meiryo UI" pitchFamily="34" charset="-120"/>
                        </a:rPr>
                        <a:t>宿題（弊社）</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200" dirty="0">
                          <a:solidFill>
                            <a:srgbClr val="2A3332"/>
                          </a:solidFill>
                          <a:latin typeface="Meiryo UI" pitchFamily="34" charset="0"/>
                          <a:ea typeface="Meiryo UI" pitchFamily="34" charset="-122"/>
                          <a:cs typeface="Meiryo UI" pitchFamily="34" charset="-120"/>
                        </a:rPr>
                        <a:t>改善相談および新プランのご提案（＝本資料）</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bl>
          </a:graphicData>
        </a:graphic>
      </p:graphicFrame>
      <p:sp>
        <p:nvSpPr>
          <p:cNvPr id="7" name="Shape 4"/>
          <p:cNvSpPr/>
          <p:nvPr/>
        </p:nvSpPr>
        <p:spPr>
          <a:xfrm>
            <a:off x="8412480" y="1463040"/>
            <a:ext cx="3227832" cy="4535424"/>
          </a:xfrm>
          <a:prstGeom prst="roundRect">
            <a:avLst>
              <a:gd name="adj" fmla="val 3399"/>
            </a:avLst>
          </a:prstGeom>
          <a:solidFill>
            <a:srgbClr val="E7F2EF"/>
          </a:solidFill>
          <a:ln w="12700">
            <a:solidFill>
              <a:srgbClr val="E7F2EF"/>
            </a:solidFill>
            <a:prstDash val="solid"/>
          </a:ln>
        </p:spPr>
      </p:sp>
      <p:sp>
        <p:nvSpPr>
          <p:cNvPr id="8" name="Shape 5"/>
          <p:cNvSpPr/>
          <p:nvPr/>
        </p:nvSpPr>
        <p:spPr>
          <a:xfrm>
            <a:off x="8732520" y="1783080"/>
            <a:ext cx="731520" cy="731520"/>
          </a:xfrm>
          <a:prstGeom prst="ellipse">
            <a:avLst/>
          </a:prstGeom>
          <a:solidFill>
            <a:srgbClr val="1F5E5B"/>
          </a:solidFill>
          <a:ln w="12700">
            <a:solidFill>
              <a:srgbClr val="1F5E5B"/>
            </a:solidFill>
            <a:prstDash val="solid"/>
          </a:ln>
        </p:spPr>
      </p:sp>
      <p:pic>
        <p:nvPicPr>
          <p:cNvPr id="9" name="Image 0" descr="preencoded.png">    </p:cNvPr>
          <p:cNvPicPr>
            <a:picLocks noChangeAspect="1"/>
          </p:cNvPicPr>
          <p:nvPr/>
        </p:nvPicPr>
        <p:blipFill>
          <a:blip r:embed="rId1"/>
          <a:stretch>
            <a:fillRect/>
          </a:stretch>
        </p:blipFill>
        <p:spPr>
          <a:xfrm>
            <a:off x="8922715" y="1973275"/>
            <a:ext cx="351130" cy="351130"/>
          </a:xfrm>
          <a:prstGeom prst="rect">
            <a:avLst/>
          </a:prstGeom>
        </p:spPr>
      </p:pic>
      <p:sp>
        <p:nvSpPr>
          <p:cNvPr id="10" name="Text 6"/>
          <p:cNvSpPr txBox="1"/>
          <p:nvPr/>
        </p:nvSpPr>
        <p:spPr>
          <a:xfrm>
            <a:off x="8732520" y="2697480"/>
            <a:ext cx="2651760" cy="457200"/>
          </a:xfrm>
          <a:prstGeom prst="rect">
            <a:avLst/>
          </a:prstGeom>
          <a:noFill/>
          <a:ln/>
        </p:spPr>
        <p:txBody>
          <a:bodyPr wrap="square" lIns="0" tIns="0" rIns="0" bIns="0" rtlCol="0" anchor="t"/>
          <a:lstStyle/>
          <a:p>
            <a:pPr indent="0" marL="0">
              <a:buNone/>
            </a:pPr>
            <a:r>
              <a:rPr lang="en-US" sz="1500" b="1" dirty="0">
                <a:solidFill>
                  <a:srgbClr val="1F5E5B"/>
                </a:solidFill>
                <a:latin typeface="Meiryo UI" pitchFamily="34" charset="0"/>
                <a:ea typeface="Meiryo UI" pitchFamily="34" charset="-122"/>
                <a:cs typeface="Meiryo UI" pitchFamily="34" charset="-120"/>
              </a:rPr>
              <a:t>ご用意いただいた資料の活用</a:t>
            </a:r>
            <a:endParaRPr lang="en-US" sz="1500" dirty="0"/>
          </a:p>
        </p:txBody>
      </p:sp>
      <p:sp>
        <p:nvSpPr>
          <p:cNvPr id="11" name="Text 7"/>
          <p:cNvSpPr txBox="1"/>
          <p:nvPr/>
        </p:nvSpPr>
        <p:spPr>
          <a:xfrm>
            <a:off x="8732520" y="3200400"/>
            <a:ext cx="2651760" cy="2651760"/>
          </a:xfrm>
          <a:prstGeom prst="rect">
            <a:avLst/>
          </a:prstGeom>
          <a:noFill/>
          <a:ln/>
        </p:spPr>
        <p:txBody>
          <a:bodyPr wrap="square" lIns="0" tIns="0" rIns="0" bIns="0" rtlCol="0" anchor="t"/>
          <a:lstStyle/>
          <a:p>
            <a:pPr indent="0" marL="0">
              <a:lnSpc>
                <a:spcPct val="120000"/>
              </a:lnSpc>
              <a:buNone/>
            </a:pPr>
            <a:r>
              <a:rPr lang="en-US" sz="1250" dirty="0">
                <a:solidFill>
                  <a:srgbClr val="2A3332"/>
                </a:solidFill>
                <a:latin typeface="Meiryo UI" pitchFamily="34" charset="0"/>
                <a:ea typeface="Meiryo UI" pitchFamily="34" charset="-122"/>
                <a:cs typeface="Meiryo UI" pitchFamily="34" charset="-120"/>
              </a:rPr>
              <a:t>坂田会長にご用意いただくスライド資料は、そのまま無料3本の台本・構成の一次素材として活用します。</a:t>
            </a:r>
            <a:endParaRPr lang="en-US" sz="1250" dirty="0"/>
          </a:p>
          <a:p>
            <a:pPr indent="0" marL="0">
              <a:lnSpc>
                <a:spcPct val="120000"/>
              </a:lnSpc>
              <a:buNone/>
            </a:pPr>
            <a:endParaRPr lang="en-US" sz="1250" dirty="0"/>
          </a:p>
          <a:p>
            <a:pPr indent="0" marL="0">
              <a:lnSpc>
                <a:spcPct val="120000"/>
              </a:lnSpc>
              <a:buNone/>
            </a:pPr>
            <a:r>
              <a:rPr lang="en-US" sz="1250" dirty="0">
                <a:solidFill>
                  <a:srgbClr val="2A3332"/>
                </a:solidFill>
                <a:latin typeface="Meiryo UI" pitchFamily="34" charset="0"/>
                <a:ea typeface="Meiryo UI" pitchFamily="34" charset="-122"/>
                <a:cs typeface="Meiryo UI" pitchFamily="34" charset="-120"/>
              </a:rPr>
              <a:t>貴社の言葉・想いを起点に動画をつくるため、「自社らしさ」が伝わる内容に仕上がります。</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市場環境の変化：「待つ営業」が通用しなくなっている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1417320" y="1417320"/>
            <a:ext cx="274320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変化</a:t>
            </a:r>
            <a:endParaRPr lang="en-US" sz="1100" dirty="0"/>
          </a:p>
        </p:txBody>
      </p:sp>
      <p:sp>
        <p:nvSpPr>
          <p:cNvPr id="7" name="Text 5"/>
          <p:cNvSpPr txBox="1"/>
          <p:nvPr/>
        </p:nvSpPr>
        <p:spPr>
          <a:xfrm>
            <a:off x="3977640" y="1417320"/>
            <a:ext cx="274320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起きていること</a:t>
            </a:r>
            <a:endParaRPr lang="en-US" sz="1100" dirty="0"/>
          </a:p>
        </p:txBody>
      </p:sp>
      <p:sp>
        <p:nvSpPr>
          <p:cNvPr id="8" name="Text 6"/>
          <p:cNvSpPr txBox="1"/>
          <p:nvPr/>
        </p:nvSpPr>
        <p:spPr>
          <a:xfrm>
            <a:off x="7818120" y="1417320"/>
            <a:ext cx="2743200" cy="274320"/>
          </a:xfrm>
          <a:prstGeom prst="rect">
            <a:avLst/>
          </a:prstGeom>
          <a:noFill/>
          <a:ln/>
        </p:spPr>
        <p:txBody>
          <a:bodyPr wrap="square" lIns="0" tIns="0" rIns="0" bIns="0" rtlCol="0" anchor="t"/>
          <a:lstStyle/>
          <a:p>
            <a:pPr indent="0" marL="0">
              <a:buNone/>
            </a:pPr>
            <a:r>
              <a:rPr lang="en-US" sz="1100" b="1" dirty="0">
                <a:solidFill>
                  <a:srgbClr val="E07B39"/>
                </a:solidFill>
                <a:latin typeface="Meiryo UI" pitchFamily="34" charset="0"/>
                <a:ea typeface="Meiryo UI" pitchFamily="34" charset="-122"/>
                <a:cs typeface="Meiryo UI" pitchFamily="34" charset="-120"/>
              </a:rPr>
              <a:t>貴社への影響</a:t>
            </a:r>
            <a:endParaRPr lang="en-US" sz="1100" dirty="0"/>
          </a:p>
        </p:txBody>
      </p:sp>
      <p:sp>
        <p:nvSpPr>
          <p:cNvPr id="9" name="Shape 7"/>
          <p:cNvSpPr/>
          <p:nvPr/>
        </p:nvSpPr>
        <p:spPr>
          <a:xfrm>
            <a:off x="548640" y="1737360"/>
            <a:ext cx="11094415" cy="777240"/>
          </a:xfrm>
          <a:prstGeom prst="roundRect">
            <a:avLst>
              <a:gd name="adj" fmla="val 14118"/>
            </a:avLst>
          </a:prstGeom>
          <a:solidFill>
            <a:srgbClr val="F4F8F7"/>
          </a:solidFill>
          <a:ln w="12700">
            <a:solidFill>
              <a:srgbClr val="F4F8F7"/>
            </a:solidFill>
            <a:prstDash val="solid"/>
          </a:ln>
        </p:spPr>
      </p:sp>
      <p:sp>
        <p:nvSpPr>
          <p:cNvPr id="10" name="Shape 8"/>
          <p:cNvSpPr/>
          <p:nvPr/>
        </p:nvSpPr>
        <p:spPr>
          <a:xfrm>
            <a:off x="713232" y="1847088"/>
            <a:ext cx="548640" cy="548640"/>
          </a:xfrm>
          <a:prstGeom prst="ellipse">
            <a:avLst/>
          </a:prstGeom>
          <a:solidFill>
            <a:srgbClr val="1F5E5B"/>
          </a:solidFill>
          <a:ln w="12700">
            <a:solidFill>
              <a:srgbClr val="1F5E5B"/>
            </a:solidFill>
            <a:prstDash val="solid"/>
          </a:ln>
        </p:spPr>
      </p:sp>
      <p:pic>
        <p:nvPicPr>
          <p:cNvPr id="11" name="Image 0" descr="preencoded.png">    </p:cNvPr>
          <p:cNvPicPr>
            <a:picLocks noChangeAspect="1"/>
          </p:cNvPicPr>
          <p:nvPr/>
        </p:nvPicPr>
        <p:blipFill>
          <a:blip r:embed="rId1"/>
          <a:stretch>
            <a:fillRect/>
          </a:stretch>
        </p:blipFill>
        <p:spPr>
          <a:xfrm>
            <a:off x="855878" y="1989734"/>
            <a:ext cx="263347" cy="263347"/>
          </a:xfrm>
          <a:prstGeom prst="rect">
            <a:avLst/>
          </a:prstGeom>
        </p:spPr>
      </p:pic>
      <p:sp>
        <p:nvSpPr>
          <p:cNvPr id="12" name="Text 9"/>
          <p:cNvSpPr txBox="1"/>
          <p:nvPr/>
        </p:nvSpPr>
        <p:spPr>
          <a:xfrm>
            <a:off x="1417320" y="1737360"/>
            <a:ext cx="2468880" cy="777240"/>
          </a:xfrm>
          <a:prstGeom prst="rect">
            <a:avLst/>
          </a:prstGeom>
          <a:noFill/>
          <a:ln/>
        </p:spPr>
        <p:txBody>
          <a:bodyPr wrap="square" lIns="0" tIns="0" rIns="0" bIns="0" rtlCol="0" anchor="ctr"/>
          <a:lstStyle/>
          <a:p>
            <a:pPr indent="0" marL="0">
              <a:buNone/>
            </a:pPr>
            <a:r>
              <a:rPr lang="en-US" sz="1400" b="1" dirty="0">
                <a:solidFill>
                  <a:srgbClr val="1F5E5B"/>
                </a:solidFill>
                <a:latin typeface="Meiryo UI" pitchFamily="34" charset="0"/>
                <a:ea typeface="Meiryo UI" pitchFamily="34" charset="-122"/>
                <a:cs typeface="Meiryo UI" pitchFamily="34" charset="-120"/>
              </a:rPr>
              <a:t>高齢化の進行と需要の拡大</a:t>
            </a:r>
            <a:endParaRPr lang="en-US" sz="1400" dirty="0"/>
          </a:p>
        </p:txBody>
      </p:sp>
      <p:sp>
        <p:nvSpPr>
          <p:cNvPr id="13" name="Text 10"/>
          <p:cNvSpPr txBox="1"/>
          <p:nvPr/>
        </p:nvSpPr>
        <p:spPr>
          <a:xfrm>
            <a:off x="3977640" y="17373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後期高齢者が増え、在宅で医療・介護を受ける方が増加</a:t>
            </a:r>
            <a:endParaRPr lang="en-US" sz="1200" dirty="0"/>
          </a:p>
        </p:txBody>
      </p:sp>
      <p:pic>
        <p:nvPicPr>
          <p:cNvPr id="14" name="Image 1" descr="preencoded.png">    </p:cNvPr>
          <p:cNvPicPr>
            <a:picLocks noChangeAspect="1"/>
          </p:cNvPicPr>
          <p:nvPr/>
        </p:nvPicPr>
        <p:blipFill>
          <a:blip r:embed="rId2"/>
          <a:stretch>
            <a:fillRect/>
          </a:stretch>
        </p:blipFill>
        <p:spPr>
          <a:xfrm>
            <a:off x="7479792" y="2011680"/>
            <a:ext cx="228600" cy="228600"/>
          </a:xfrm>
          <a:prstGeom prst="rect">
            <a:avLst/>
          </a:prstGeom>
        </p:spPr>
      </p:pic>
      <p:sp>
        <p:nvSpPr>
          <p:cNvPr id="15" name="Text 11"/>
          <p:cNvSpPr txBox="1"/>
          <p:nvPr/>
        </p:nvSpPr>
        <p:spPr>
          <a:xfrm>
            <a:off x="7818120" y="17373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潜在需要は拡大。一方で参入事業者も増え、選ばれる理由が問われる</a:t>
            </a:r>
            <a:endParaRPr lang="en-US" sz="1200" dirty="0"/>
          </a:p>
        </p:txBody>
      </p:sp>
      <p:sp>
        <p:nvSpPr>
          <p:cNvPr id="16" name="Shape 12"/>
          <p:cNvSpPr/>
          <p:nvPr/>
        </p:nvSpPr>
        <p:spPr>
          <a:xfrm>
            <a:off x="548640" y="2651760"/>
            <a:ext cx="11094415" cy="777240"/>
          </a:xfrm>
          <a:prstGeom prst="roundRect">
            <a:avLst>
              <a:gd name="adj" fmla="val 14118"/>
            </a:avLst>
          </a:prstGeom>
          <a:solidFill>
            <a:srgbClr val="F4F8F7"/>
          </a:solidFill>
          <a:ln w="12700">
            <a:solidFill>
              <a:srgbClr val="F4F8F7"/>
            </a:solidFill>
            <a:prstDash val="solid"/>
          </a:ln>
        </p:spPr>
      </p:sp>
      <p:sp>
        <p:nvSpPr>
          <p:cNvPr id="17" name="Shape 13"/>
          <p:cNvSpPr/>
          <p:nvPr/>
        </p:nvSpPr>
        <p:spPr>
          <a:xfrm>
            <a:off x="713232" y="2761488"/>
            <a:ext cx="548640" cy="548640"/>
          </a:xfrm>
          <a:prstGeom prst="ellipse">
            <a:avLst/>
          </a:prstGeom>
          <a:solidFill>
            <a:srgbClr val="1F5E5B"/>
          </a:solidFill>
          <a:ln w="12700">
            <a:solidFill>
              <a:srgbClr val="1F5E5B"/>
            </a:solidFill>
            <a:prstDash val="solid"/>
          </a:ln>
        </p:spPr>
      </p:sp>
      <p:pic>
        <p:nvPicPr>
          <p:cNvPr id="18" name="Image 2" descr="preencoded.png">    </p:cNvPr>
          <p:cNvPicPr>
            <a:picLocks noChangeAspect="1"/>
          </p:cNvPicPr>
          <p:nvPr/>
        </p:nvPicPr>
        <p:blipFill>
          <a:blip r:embed="rId3"/>
          <a:stretch>
            <a:fillRect/>
          </a:stretch>
        </p:blipFill>
        <p:spPr>
          <a:xfrm>
            <a:off x="855878" y="2904134"/>
            <a:ext cx="263347" cy="263347"/>
          </a:xfrm>
          <a:prstGeom prst="rect">
            <a:avLst/>
          </a:prstGeom>
        </p:spPr>
      </p:pic>
      <p:sp>
        <p:nvSpPr>
          <p:cNvPr id="19" name="Text 14"/>
          <p:cNvSpPr txBox="1"/>
          <p:nvPr/>
        </p:nvSpPr>
        <p:spPr>
          <a:xfrm>
            <a:off x="1417320" y="2651760"/>
            <a:ext cx="2468880" cy="777240"/>
          </a:xfrm>
          <a:prstGeom prst="rect">
            <a:avLst/>
          </a:prstGeom>
          <a:noFill/>
          <a:ln/>
        </p:spPr>
        <p:txBody>
          <a:bodyPr wrap="square" lIns="0" tIns="0" rIns="0" bIns="0" rtlCol="0" anchor="ctr"/>
          <a:lstStyle/>
          <a:p>
            <a:pPr indent="0" marL="0">
              <a:buNone/>
            </a:pPr>
            <a:r>
              <a:rPr lang="en-US" sz="1400" b="1" dirty="0">
                <a:solidFill>
                  <a:srgbClr val="1F5E5B"/>
                </a:solidFill>
                <a:latin typeface="Meiryo UI" pitchFamily="34" charset="0"/>
                <a:ea typeface="Meiryo UI" pitchFamily="34" charset="-122"/>
                <a:cs typeface="Meiryo UI" pitchFamily="34" charset="-120"/>
              </a:rPr>
              <a:t>ケアマネ・施設の人手不足</a:t>
            </a:r>
            <a:endParaRPr lang="en-US" sz="1400" dirty="0"/>
          </a:p>
        </p:txBody>
      </p:sp>
      <p:sp>
        <p:nvSpPr>
          <p:cNvPr id="20" name="Text 15"/>
          <p:cNvSpPr txBox="1"/>
          <p:nvPr/>
        </p:nvSpPr>
        <p:spPr>
          <a:xfrm>
            <a:off x="3977640" y="26517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担当件数が多く、業者の話をじっくり聞く時間がない</a:t>
            </a:r>
            <a:endParaRPr lang="en-US" sz="1200" dirty="0"/>
          </a:p>
        </p:txBody>
      </p:sp>
      <p:pic>
        <p:nvPicPr>
          <p:cNvPr id="21" name="Image 3" descr="preencoded.png">    </p:cNvPr>
          <p:cNvPicPr>
            <a:picLocks noChangeAspect="1"/>
          </p:cNvPicPr>
          <p:nvPr/>
        </p:nvPicPr>
        <p:blipFill>
          <a:blip r:embed="rId4"/>
          <a:stretch>
            <a:fillRect/>
          </a:stretch>
        </p:blipFill>
        <p:spPr>
          <a:xfrm>
            <a:off x="7479792" y="2926080"/>
            <a:ext cx="228600" cy="228600"/>
          </a:xfrm>
          <a:prstGeom prst="rect">
            <a:avLst/>
          </a:prstGeom>
        </p:spPr>
      </p:pic>
      <p:sp>
        <p:nvSpPr>
          <p:cNvPr id="22" name="Text 16"/>
          <p:cNvSpPr txBox="1"/>
          <p:nvPr/>
        </p:nvSpPr>
        <p:spPr>
          <a:xfrm>
            <a:off x="7818120" y="26517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訪問して説明する営業は、会ってもらうこと自体が難しくなる</a:t>
            </a:r>
            <a:endParaRPr lang="en-US" sz="1200" dirty="0"/>
          </a:p>
        </p:txBody>
      </p:sp>
      <p:sp>
        <p:nvSpPr>
          <p:cNvPr id="23" name="Shape 17"/>
          <p:cNvSpPr/>
          <p:nvPr/>
        </p:nvSpPr>
        <p:spPr>
          <a:xfrm>
            <a:off x="548640" y="3566160"/>
            <a:ext cx="11094415" cy="777240"/>
          </a:xfrm>
          <a:prstGeom prst="roundRect">
            <a:avLst>
              <a:gd name="adj" fmla="val 14118"/>
            </a:avLst>
          </a:prstGeom>
          <a:solidFill>
            <a:srgbClr val="F4F8F7"/>
          </a:solidFill>
          <a:ln w="12700">
            <a:solidFill>
              <a:srgbClr val="F4F8F7"/>
            </a:solidFill>
            <a:prstDash val="solid"/>
          </a:ln>
        </p:spPr>
      </p:sp>
      <p:sp>
        <p:nvSpPr>
          <p:cNvPr id="24" name="Shape 18"/>
          <p:cNvSpPr/>
          <p:nvPr/>
        </p:nvSpPr>
        <p:spPr>
          <a:xfrm>
            <a:off x="713232" y="3675888"/>
            <a:ext cx="548640" cy="548640"/>
          </a:xfrm>
          <a:prstGeom prst="ellipse">
            <a:avLst/>
          </a:prstGeom>
          <a:solidFill>
            <a:srgbClr val="1F5E5B"/>
          </a:solidFill>
          <a:ln w="12700">
            <a:solidFill>
              <a:srgbClr val="1F5E5B"/>
            </a:solidFill>
            <a:prstDash val="solid"/>
          </a:ln>
        </p:spPr>
      </p:sp>
      <p:pic>
        <p:nvPicPr>
          <p:cNvPr id="25" name="Image 4" descr="preencoded.png">    </p:cNvPr>
          <p:cNvPicPr>
            <a:picLocks noChangeAspect="1"/>
          </p:cNvPicPr>
          <p:nvPr/>
        </p:nvPicPr>
        <p:blipFill>
          <a:blip r:embed="rId5"/>
          <a:stretch>
            <a:fillRect/>
          </a:stretch>
        </p:blipFill>
        <p:spPr>
          <a:xfrm>
            <a:off x="855878" y="3818534"/>
            <a:ext cx="263347" cy="263347"/>
          </a:xfrm>
          <a:prstGeom prst="rect">
            <a:avLst/>
          </a:prstGeom>
        </p:spPr>
      </p:pic>
      <p:sp>
        <p:nvSpPr>
          <p:cNvPr id="26" name="Text 19"/>
          <p:cNvSpPr txBox="1"/>
          <p:nvPr/>
        </p:nvSpPr>
        <p:spPr>
          <a:xfrm>
            <a:off x="1417320" y="3566160"/>
            <a:ext cx="2468880" cy="777240"/>
          </a:xfrm>
          <a:prstGeom prst="rect">
            <a:avLst/>
          </a:prstGeom>
          <a:noFill/>
          <a:ln/>
        </p:spPr>
        <p:txBody>
          <a:bodyPr wrap="square" lIns="0" tIns="0" rIns="0" bIns="0" rtlCol="0" anchor="ctr"/>
          <a:lstStyle/>
          <a:p>
            <a:pPr indent="0" marL="0">
              <a:buNone/>
            </a:pPr>
            <a:r>
              <a:rPr lang="en-US" sz="1400" b="1" dirty="0">
                <a:solidFill>
                  <a:srgbClr val="1F5E5B"/>
                </a:solidFill>
                <a:latin typeface="Meiryo UI" pitchFamily="34" charset="0"/>
                <a:ea typeface="Meiryo UI" pitchFamily="34" charset="-122"/>
                <a:cs typeface="Meiryo UI" pitchFamily="34" charset="-120"/>
              </a:rPr>
              <a:t>意思決定者は“子世代”</a:t>
            </a:r>
            <a:endParaRPr lang="en-US" sz="1400" dirty="0"/>
          </a:p>
        </p:txBody>
      </p:sp>
      <p:sp>
        <p:nvSpPr>
          <p:cNvPr id="27" name="Text 20"/>
          <p:cNvSpPr txBox="1"/>
          <p:nvPr/>
        </p:nvSpPr>
        <p:spPr>
          <a:xfrm>
            <a:off x="3977640" y="35661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利用を決めるのは、スマホで調べる40〜60代のご家族が多い</a:t>
            </a:r>
            <a:endParaRPr lang="en-US" sz="1200" dirty="0"/>
          </a:p>
        </p:txBody>
      </p:sp>
      <p:pic>
        <p:nvPicPr>
          <p:cNvPr id="28" name="Image 5" descr="preencoded.png">    </p:cNvPr>
          <p:cNvPicPr>
            <a:picLocks noChangeAspect="1"/>
          </p:cNvPicPr>
          <p:nvPr/>
        </p:nvPicPr>
        <p:blipFill>
          <a:blip r:embed="rId6"/>
          <a:stretch>
            <a:fillRect/>
          </a:stretch>
        </p:blipFill>
        <p:spPr>
          <a:xfrm>
            <a:off x="7479792" y="3840480"/>
            <a:ext cx="228600" cy="228600"/>
          </a:xfrm>
          <a:prstGeom prst="rect">
            <a:avLst/>
          </a:prstGeom>
        </p:spPr>
      </p:pic>
      <p:sp>
        <p:nvSpPr>
          <p:cNvPr id="29" name="Text 21"/>
          <p:cNvSpPr txBox="1"/>
          <p:nvPr/>
        </p:nvSpPr>
        <p:spPr>
          <a:xfrm>
            <a:off x="7818120" y="35661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検索・SNSで見つからない事業者は、比較の土俵にすら乗らない</a:t>
            </a:r>
            <a:endParaRPr lang="en-US" sz="1200" dirty="0"/>
          </a:p>
        </p:txBody>
      </p:sp>
      <p:sp>
        <p:nvSpPr>
          <p:cNvPr id="30" name="Shape 22"/>
          <p:cNvSpPr/>
          <p:nvPr/>
        </p:nvSpPr>
        <p:spPr>
          <a:xfrm>
            <a:off x="548640" y="4480560"/>
            <a:ext cx="11094415" cy="777240"/>
          </a:xfrm>
          <a:prstGeom prst="roundRect">
            <a:avLst>
              <a:gd name="adj" fmla="val 14118"/>
            </a:avLst>
          </a:prstGeom>
          <a:solidFill>
            <a:srgbClr val="F4F8F7"/>
          </a:solidFill>
          <a:ln w="12700">
            <a:solidFill>
              <a:srgbClr val="F4F8F7"/>
            </a:solidFill>
            <a:prstDash val="solid"/>
          </a:ln>
        </p:spPr>
      </p:sp>
      <p:sp>
        <p:nvSpPr>
          <p:cNvPr id="31" name="Shape 23"/>
          <p:cNvSpPr/>
          <p:nvPr/>
        </p:nvSpPr>
        <p:spPr>
          <a:xfrm>
            <a:off x="713232" y="4590288"/>
            <a:ext cx="548640" cy="548640"/>
          </a:xfrm>
          <a:prstGeom prst="ellipse">
            <a:avLst/>
          </a:prstGeom>
          <a:solidFill>
            <a:srgbClr val="1F5E5B"/>
          </a:solidFill>
          <a:ln w="12700">
            <a:solidFill>
              <a:srgbClr val="1F5E5B"/>
            </a:solidFill>
            <a:prstDash val="solid"/>
          </a:ln>
        </p:spPr>
      </p:sp>
      <p:pic>
        <p:nvPicPr>
          <p:cNvPr id="32" name="Image 6" descr="preencoded.png">    </p:cNvPr>
          <p:cNvPicPr>
            <a:picLocks noChangeAspect="1"/>
          </p:cNvPicPr>
          <p:nvPr/>
        </p:nvPicPr>
        <p:blipFill>
          <a:blip r:embed="rId7"/>
          <a:stretch>
            <a:fillRect/>
          </a:stretch>
        </p:blipFill>
        <p:spPr>
          <a:xfrm>
            <a:off x="855878" y="4732934"/>
            <a:ext cx="263347" cy="263347"/>
          </a:xfrm>
          <a:prstGeom prst="rect">
            <a:avLst/>
          </a:prstGeom>
        </p:spPr>
      </p:pic>
      <p:sp>
        <p:nvSpPr>
          <p:cNvPr id="33" name="Text 24"/>
          <p:cNvSpPr txBox="1"/>
          <p:nvPr/>
        </p:nvSpPr>
        <p:spPr>
          <a:xfrm>
            <a:off x="1417320" y="4480560"/>
            <a:ext cx="2468880" cy="777240"/>
          </a:xfrm>
          <a:prstGeom prst="rect">
            <a:avLst/>
          </a:prstGeom>
          <a:noFill/>
          <a:ln/>
        </p:spPr>
        <p:txBody>
          <a:bodyPr wrap="square" lIns="0" tIns="0" rIns="0" bIns="0" rtlCol="0" anchor="ctr"/>
          <a:lstStyle/>
          <a:p>
            <a:pPr indent="0" marL="0">
              <a:buNone/>
            </a:pPr>
            <a:r>
              <a:rPr lang="en-US" sz="1400" b="1" dirty="0">
                <a:solidFill>
                  <a:srgbClr val="1F5E5B"/>
                </a:solidFill>
                <a:latin typeface="Meiryo UI" pitchFamily="34" charset="0"/>
                <a:ea typeface="Meiryo UI" pitchFamily="34" charset="-122"/>
                <a:cs typeface="Meiryo UI" pitchFamily="34" charset="-120"/>
              </a:rPr>
              <a:t>情報接触の“動画化”</a:t>
            </a:r>
            <a:endParaRPr lang="en-US" sz="1400" dirty="0"/>
          </a:p>
        </p:txBody>
      </p:sp>
      <p:sp>
        <p:nvSpPr>
          <p:cNvPr id="34" name="Text 25"/>
          <p:cNvSpPr txBox="1"/>
          <p:nvPr/>
        </p:nvSpPr>
        <p:spPr>
          <a:xfrm>
            <a:off x="3977640" y="44805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高齢層・子世代ともにYouTube・SNSでの動画視聴が日常化</a:t>
            </a:r>
            <a:endParaRPr lang="en-US" sz="1200" dirty="0"/>
          </a:p>
        </p:txBody>
      </p:sp>
      <p:pic>
        <p:nvPicPr>
          <p:cNvPr id="35" name="Image 7" descr="preencoded.png">    </p:cNvPr>
          <p:cNvPicPr>
            <a:picLocks noChangeAspect="1"/>
          </p:cNvPicPr>
          <p:nvPr/>
        </p:nvPicPr>
        <p:blipFill>
          <a:blip r:embed="rId8"/>
          <a:stretch>
            <a:fillRect/>
          </a:stretch>
        </p:blipFill>
        <p:spPr>
          <a:xfrm>
            <a:off x="7479792" y="4754880"/>
            <a:ext cx="228600" cy="228600"/>
          </a:xfrm>
          <a:prstGeom prst="rect">
            <a:avLst/>
          </a:prstGeom>
        </p:spPr>
      </p:pic>
      <p:sp>
        <p:nvSpPr>
          <p:cNvPr id="36" name="Text 26"/>
          <p:cNvSpPr txBox="1"/>
          <p:nvPr/>
        </p:nvSpPr>
        <p:spPr>
          <a:xfrm>
            <a:off x="7818120" y="44805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文字だけのチラシ・パンフレットでは違いが伝わらない</a:t>
            </a:r>
            <a:endParaRPr lang="en-US" sz="1200" dirty="0"/>
          </a:p>
        </p:txBody>
      </p:sp>
      <p:sp>
        <p:nvSpPr>
          <p:cNvPr id="37" name="Shape 27"/>
          <p:cNvSpPr/>
          <p:nvPr/>
        </p:nvSpPr>
        <p:spPr>
          <a:xfrm>
            <a:off x="548640" y="5394960"/>
            <a:ext cx="11094415" cy="777240"/>
          </a:xfrm>
          <a:prstGeom prst="roundRect">
            <a:avLst>
              <a:gd name="adj" fmla="val 14118"/>
            </a:avLst>
          </a:prstGeom>
          <a:solidFill>
            <a:srgbClr val="FCEBDD"/>
          </a:solidFill>
          <a:ln w="12700">
            <a:solidFill>
              <a:srgbClr val="FCEBDD"/>
            </a:solidFill>
            <a:prstDash val="solid"/>
          </a:ln>
        </p:spPr>
      </p:sp>
      <p:sp>
        <p:nvSpPr>
          <p:cNvPr id="38" name="Shape 28"/>
          <p:cNvSpPr/>
          <p:nvPr/>
        </p:nvSpPr>
        <p:spPr>
          <a:xfrm>
            <a:off x="713232" y="5504688"/>
            <a:ext cx="548640" cy="548640"/>
          </a:xfrm>
          <a:prstGeom prst="ellipse">
            <a:avLst/>
          </a:prstGeom>
          <a:solidFill>
            <a:srgbClr val="E07B39"/>
          </a:solidFill>
          <a:ln w="12700">
            <a:solidFill>
              <a:srgbClr val="E07B39"/>
            </a:solidFill>
            <a:prstDash val="solid"/>
          </a:ln>
        </p:spPr>
      </p:sp>
      <p:pic>
        <p:nvPicPr>
          <p:cNvPr id="39" name="Image 8" descr="preencoded.png">    </p:cNvPr>
          <p:cNvPicPr>
            <a:picLocks noChangeAspect="1"/>
          </p:cNvPicPr>
          <p:nvPr/>
        </p:nvPicPr>
        <p:blipFill>
          <a:blip r:embed="rId9"/>
          <a:stretch>
            <a:fillRect/>
          </a:stretch>
        </p:blipFill>
        <p:spPr>
          <a:xfrm>
            <a:off x="855878" y="5647334"/>
            <a:ext cx="263347" cy="263347"/>
          </a:xfrm>
          <a:prstGeom prst="rect">
            <a:avLst/>
          </a:prstGeom>
        </p:spPr>
      </p:pic>
      <p:sp>
        <p:nvSpPr>
          <p:cNvPr id="40" name="Text 29"/>
          <p:cNvSpPr txBox="1"/>
          <p:nvPr/>
        </p:nvSpPr>
        <p:spPr>
          <a:xfrm>
            <a:off x="1417320" y="5394960"/>
            <a:ext cx="2468880" cy="777240"/>
          </a:xfrm>
          <a:prstGeom prst="rect">
            <a:avLst/>
          </a:prstGeom>
          <a:noFill/>
          <a:ln/>
        </p:spPr>
        <p:txBody>
          <a:bodyPr wrap="square" lIns="0" tIns="0" rIns="0" bIns="0" rtlCol="0" anchor="ctr"/>
          <a:lstStyle/>
          <a:p>
            <a:pPr indent="0" marL="0">
              <a:buNone/>
            </a:pPr>
            <a:r>
              <a:rPr lang="en-US" sz="1400" b="1" dirty="0">
                <a:solidFill>
                  <a:srgbClr val="E07B39"/>
                </a:solidFill>
                <a:latin typeface="Meiryo UI" pitchFamily="34" charset="0"/>
                <a:ea typeface="Meiryo UI" pitchFamily="34" charset="-122"/>
                <a:cs typeface="Meiryo UI" pitchFamily="34" charset="-120"/>
              </a:rPr>
              <a:t>貴社の体制変化（合併）</a:t>
            </a:r>
            <a:endParaRPr lang="en-US" sz="1400" dirty="0"/>
          </a:p>
        </p:txBody>
      </p:sp>
      <p:sp>
        <p:nvSpPr>
          <p:cNvPr id="41" name="Text 30"/>
          <p:cNvSpPr txBox="1"/>
          <p:nvPr/>
        </p:nvSpPr>
        <p:spPr>
          <a:xfrm>
            <a:off x="3977640" y="5394960"/>
            <a:ext cx="3474720" cy="777240"/>
          </a:xfrm>
          <a:prstGeom prst="rect">
            <a:avLst/>
          </a:prstGeom>
          <a:noFill/>
          <a:ln/>
        </p:spPr>
        <p:txBody>
          <a:bodyPr wrap="square" lIns="0" tIns="0" rIns="0" bIns="0" rtlCol="0" anchor="ctr"/>
          <a:lstStyle/>
          <a:p>
            <a:pPr indent="0" marL="0">
              <a:buNone/>
            </a:pPr>
            <a:r>
              <a:rPr lang="en-US" sz="1200" dirty="0">
                <a:solidFill>
                  <a:srgbClr val="2A3332"/>
                </a:solidFill>
                <a:latin typeface="Meiryo UI" pitchFamily="34" charset="0"/>
                <a:ea typeface="Meiryo UI" pitchFamily="34" charset="-122"/>
                <a:cs typeface="Meiryo UI" pitchFamily="34" charset="-120"/>
              </a:rPr>
              <a:t>合併・メーカー統廃合を経て、新体制での再スタート期</a:t>
            </a:r>
            <a:endParaRPr lang="en-US" sz="1200" dirty="0"/>
          </a:p>
        </p:txBody>
      </p:sp>
      <p:pic>
        <p:nvPicPr>
          <p:cNvPr id="42" name="Image 9" descr="preencoded.png">    </p:cNvPr>
          <p:cNvPicPr>
            <a:picLocks noChangeAspect="1"/>
          </p:cNvPicPr>
          <p:nvPr/>
        </p:nvPicPr>
        <p:blipFill>
          <a:blip r:embed="rId10"/>
          <a:stretch>
            <a:fillRect/>
          </a:stretch>
        </p:blipFill>
        <p:spPr>
          <a:xfrm>
            <a:off x="7479792" y="5669280"/>
            <a:ext cx="228600" cy="228600"/>
          </a:xfrm>
          <a:prstGeom prst="rect">
            <a:avLst/>
          </a:prstGeom>
        </p:spPr>
      </p:pic>
      <p:sp>
        <p:nvSpPr>
          <p:cNvPr id="43" name="Text 31"/>
          <p:cNvSpPr txBox="1"/>
          <p:nvPr/>
        </p:nvSpPr>
        <p:spPr>
          <a:xfrm>
            <a:off x="7818120" y="5394960"/>
            <a:ext cx="3657600" cy="777240"/>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ブランドを再定義し、発信を仕切り直せる“今”が最適なタイミング</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貴社が直面していると想定される本質的課題（仮説）</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前回は明確な課題を伺えていないため、同業に共通する構造的課題を仮説として整理しました。本日、該当度をご確認ください。</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5</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77240" y="1938528"/>
            <a:ext cx="457200" cy="457200"/>
          </a:xfrm>
          <a:prstGeom prst="ellipse">
            <a:avLst/>
          </a:prstGeom>
          <a:solidFill>
            <a:srgbClr val="1F5E5B"/>
          </a:solidFill>
          <a:ln w="12700">
            <a:solidFill>
              <a:srgbClr val="1F5E5B"/>
            </a:solidFill>
            <a:prstDash val="solid"/>
          </a:ln>
        </p:spPr>
      </p:sp>
      <p:sp>
        <p:nvSpPr>
          <p:cNvPr id="9" name="Text 7"/>
          <p:cNvSpPr txBox="1"/>
          <p:nvPr/>
        </p:nvSpPr>
        <p:spPr>
          <a:xfrm>
            <a:off x="777240"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10" name="Text 8"/>
          <p:cNvSpPr txBox="1"/>
          <p:nvPr/>
        </p:nvSpPr>
        <p:spPr>
          <a:xfrm>
            <a:off x="1371600" y="1938528"/>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紹介ルートの属人化</a:t>
            </a:r>
            <a:endParaRPr lang="en-US" sz="1500" dirty="0"/>
          </a:p>
        </p:txBody>
      </p:sp>
      <p:sp>
        <p:nvSpPr>
          <p:cNvPr id="11" name="Text 9"/>
          <p:cNvSpPr txBox="1"/>
          <p:nvPr/>
        </p:nvSpPr>
        <p:spPr>
          <a:xfrm>
            <a:off x="777240" y="2514600"/>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12" name="Text 10"/>
          <p:cNvSpPr txBox="1"/>
          <p:nvPr/>
        </p:nvSpPr>
        <p:spPr>
          <a:xfrm>
            <a:off x="1325880" y="2496312"/>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紹介元との関係が特定の担当者・会長ご自身の人脈に依存</a:t>
            </a:r>
            <a:endParaRPr lang="en-US" sz="1200" dirty="0"/>
          </a:p>
        </p:txBody>
      </p:sp>
      <p:sp>
        <p:nvSpPr>
          <p:cNvPr id="13" name="Text 11"/>
          <p:cNvSpPr txBox="1"/>
          <p:nvPr/>
        </p:nvSpPr>
        <p:spPr>
          <a:xfrm>
            <a:off x="777240" y="3154680"/>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14" name="Text 12"/>
          <p:cNvSpPr txBox="1"/>
          <p:nvPr/>
        </p:nvSpPr>
        <p:spPr>
          <a:xfrm>
            <a:off x="1325880" y="3136392"/>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担当者の異動・退職やケアマネの交代で紹介が止まる</a:t>
            </a:r>
            <a:endParaRPr lang="en-US" sz="1200" dirty="0"/>
          </a:p>
        </p:txBody>
      </p:sp>
      <p:sp>
        <p:nvSpPr>
          <p:cNvPr id="15" name="Shape 13"/>
          <p:cNvSpPr/>
          <p:nvPr/>
        </p:nvSpPr>
        <p:spPr>
          <a:xfrm>
            <a:off x="4338218"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4566818" y="1938528"/>
            <a:ext cx="457200" cy="457200"/>
          </a:xfrm>
          <a:prstGeom prst="ellipse">
            <a:avLst/>
          </a:prstGeom>
          <a:solidFill>
            <a:srgbClr val="1F5E5B"/>
          </a:solidFill>
          <a:ln w="12700">
            <a:solidFill>
              <a:srgbClr val="1F5E5B"/>
            </a:solidFill>
            <a:prstDash val="solid"/>
          </a:ln>
        </p:spPr>
      </p:sp>
      <p:sp>
        <p:nvSpPr>
          <p:cNvPr id="17" name="Text 15"/>
          <p:cNvSpPr txBox="1"/>
          <p:nvPr/>
        </p:nvSpPr>
        <p:spPr>
          <a:xfrm>
            <a:off x="4566818"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8" name="Text 16"/>
          <p:cNvSpPr txBox="1"/>
          <p:nvPr/>
        </p:nvSpPr>
        <p:spPr>
          <a:xfrm>
            <a:off x="5161178" y="1938528"/>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面談化率の低下</a:t>
            </a:r>
            <a:endParaRPr lang="en-US" sz="1500" dirty="0"/>
          </a:p>
        </p:txBody>
      </p:sp>
      <p:sp>
        <p:nvSpPr>
          <p:cNvPr id="19" name="Text 17"/>
          <p:cNvSpPr txBox="1"/>
          <p:nvPr/>
        </p:nvSpPr>
        <p:spPr>
          <a:xfrm>
            <a:off x="4566818" y="2514600"/>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20" name="Text 18"/>
          <p:cNvSpPr txBox="1"/>
          <p:nvPr/>
        </p:nvSpPr>
        <p:spPr>
          <a:xfrm>
            <a:off x="5115458" y="2496312"/>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訪問・FAXしても「パンフレットを置いておいて」で終わる</a:t>
            </a:r>
            <a:endParaRPr lang="en-US" sz="1200" dirty="0"/>
          </a:p>
        </p:txBody>
      </p:sp>
      <p:sp>
        <p:nvSpPr>
          <p:cNvPr id="21" name="Text 19"/>
          <p:cNvSpPr txBox="1"/>
          <p:nvPr/>
        </p:nvSpPr>
        <p:spPr>
          <a:xfrm>
            <a:off x="4566818" y="3154680"/>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22" name="Text 20"/>
          <p:cNvSpPr txBox="1"/>
          <p:nvPr/>
        </p:nvSpPr>
        <p:spPr>
          <a:xfrm>
            <a:off x="5115458" y="3136392"/>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接点はあるのに利用者紹介につながらない</a:t>
            </a:r>
            <a:endParaRPr lang="en-US" sz="1200" dirty="0"/>
          </a:p>
        </p:txBody>
      </p:sp>
      <p:sp>
        <p:nvSpPr>
          <p:cNvPr id="23" name="Shape 21"/>
          <p:cNvSpPr/>
          <p:nvPr/>
        </p:nvSpPr>
        <p:spPr>
          <a:xfrm>
            <a:off x="8127797"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8356397" y="1938528"/>
            <a:ext cx="457200" cy="457200"/>
          </a:xfrm>
          <a:prstGeom prst="ellipse">
            <a:avLst/>
          </a:prstGeom>
          <a:solidFill>
            <a:srgbClr val="1F5E5B"/>
          </a:solidFill>
          <a:ln w="12700">
            <a:solidFill>
              <a:srgbClr val="1F5E5B"/>
            </a:solidFill>
            <a:prstDash val="solid"/>
          </a:ln>
        </p:spPr>
      </p:sp>
      <p:sp>
        <p:nvSpPr>
          <p:cNvPr id="25" name="Text 23"/>
          <p:cNvSpPr txBox="1"/>
          <p:nvPr/>
        </p:nvSpPr>
        <p:spPr>
          <a:xfrm>
            <a:off x="8356397"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26" name="Text 24"/>
          <p:cNvSpPr txBox="1"/>
          <p:nvPr/>
        </p:nvSpPr>
        <p:spPr>
          <a:xfrm>
            <a:off x="8950757" y="1938528"/>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資料送付後の離脱</a:t>
            </a:r>
            <a:endParaRPr lang="en-US" sz="1500" dirty="0"/>
          </a:p>
        </p:txBody>
      </p:sp>
      <p:sp>
        <p:nvSpPr>
          <p:cNvPr id="27" name="Text 25"/>
          <p:cNvSpPr txBox="1"/>
          <p:nvPr/>
        </p:nvSpPr>
        <p:spPr>
          <a:xfrm>
            <a:off x="8356397" y="2514600"/>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28" name="Text 26"/>
          <p:cNvSpPr txBox="1"/>
          <p:nvPr/>
        </p:nvSpPr>
        <p:spPr>
          <a:xfrm>
            <a:off x="8905037" y="2496312"/>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パンフレットが読まれない／ご家族まで届かない</a:t>
            </a:r>
            <a:endParaRPr lang="en-US" sz="1200" dirty="0"/>
          </a:p>
        </p:txBody>
      </p:sp>
      <p:sp>
        <p:nvSpPr>
          <p:cNvPr id="29" name="Text 27"/>
          <p:cNvSpPr txBox="1"/>
          <p:nvPr/>
        </p:nvSpPr>
        <p:spPr>
          <a:xfrm>
            <a:off x="8356397" y="3154680"/>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30" name="Text 28"/>
          <p:cNvSpPr txBox="1"/>
          <p:nvPr/>
        </p:nvSpPr>
        <p:spPr>
          <a:xfrm>
            <a:off x="8905037" y="3136392"/>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「保険で受けられる」等の最重要情報が伝わらない</a:t>
            </a:r>
            <a:endParaRPr lang="en-US" sz="1200" dirty="0"/>
          </a:p>
        </p:txBody>
      </p:sp>
      <p:sp>
        <p:nvSpPr>
          <p:cNvPr id="31" name="Shape 29"/>
          <p:cNvSpPr/>
          <p:nvPr/>
        </p:nvSpPr>
        <p:spPr>
          <a:xfrm>
            <a:off x="548640"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777240" y="4242816"/>
            <a:ext cx="457200" cy="457200"/>
          </a:xfrm>
          <a:prstGeom prst="ellipse">
            <a:avLst/>
          </a:prstGeom>
          <a:solidFill>
            <a:srgbClr val="1F5E5B"/>
          </a:solidFill>
          <a:ln w="12700">
            <a:solidFill>
              <a:srgbClr val="1F5E5B"/>
            </a:solidFill>
            <a:prstDash val="solid"/>
          </a:ln>
        </p:spPr>
      </p:sp>
      <p:sp>
        <p:nvSpPr>
          <p:cNvPr id="33" name="Text 31"/>
          <p:cNvSpPr txBox="1"/>
          <p:nvPr/>
        </p:nvSpPr>
        <p:spPr>
          <a:xfrm>
            <a:off x="777240"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34" name="Text 32"/>
          <p:cNvSpPr txBox="1"/>
          <p:nvPr/>
        </p:nvSpPr>
        <p:spPr>
          <a:xfrm>
            <a:off x="1371600" y="4242816"/>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サービス理解の壁</a:t>
            </a:r>
            <a:endParaRPr lang="en-US" sz="1500" dirty="0"/>
          </a:p>
        </p:txBody>
      </p:sp>
      <p:sp>
        <p:nvSpPr>
          <p:cNvPr id="35" name="Text 33"/>
          <p:cNvSpPr txBox="1"/>
          <p:nvPr/>
        </p:nvSpPr>
        <p:spPr>
          <a:xfrm>
            <a:off x="777240" y="4818888"/>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36" name="Text 34"/>
          <p:cNvSpPr txBox="1"/>
          <p:nvPr/>
        </p:nvSpPr>
        <p:spPr>
          <a:xfrm>
            <a:off x="1325880" y="4800600"/>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訪問リハビリ・整体との違いが伝わっていない</a:t>
            </a:r>
            <a:endParaRPr lang="en-US" sz="1200" dirty="0"/>
          </a:p>
        </p:txBody>
      </p:sp>
      <p:sp>
        <p:nvSpPr>
          <p:cNvPr id="37" name="Text 35"/>
          <p:cNvSpPr txBox="1"/>
          <p:nvPr/>
        </p:nvSpPr>
        <p:spPr>
          <a:xfrm>
            <a:off x="777240" y="5458968"/>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38" name="Text 36"/>
          <p:cNvSpPr txBox="1"/>
          <p:nvPr/>
        </p:nvSpPr>
        <p:spPr>
          <a:xfrm>
            <a:off x="1325880" y="5440680"/>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比較されず、知っている事業者・大手に流れる</a:t>
            </a:r>
            <a:endParaRPr lang="en-US" sz="1200" dirty="0"/>
          </a:p>
        </p:txBody>
      </p:sp>
      <p:sp>
        <p:nvSpPr>
          <p:cNvPr id="39" name="Shape 37"/>
          <p:cNvSpPr/>
          <p:nvPr/>
        </p:nvSpPr>
        <p:spPr>
          <a:xfrm>
            <a:off x="4338218"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0" name="Shape 38"/>
          <p:cNvSpPr/>
          <p:nvPr/>
        </p:nvSpPr>
        <p:spPr>
          <a:xfrm>
            <a:off x="4566818" y="4242816"/>
            <a:ext cx="457200" cy="457200"/>
          </a:xfrm>
          <a:prstGeom prst="ellipse">
            <a:avLst/>
          </a:prstGeom>
          <a:solidFill>
            <a:srgbClr val="1F5E5B"/>
          </a:solidFill>
          <a:ln w="12700">
            <a:solidFill>
              <a:srgbClr val="1F5E5B"/>
            </a:solidFill>
            <a:prstDash val="solid"/>
          </a:ln>
        </p:spPr>
      </p:sp>
      <p:sp>
        <p:nvSpPr>
          <p:cNvPr id="41" name="Text 39"/>
          <p:cNvSpPr txBox="1"/>
          <p:nvPr/>
        </p:nvSpPr>
        <p:spPr>
          <a:xfrm>
            <a:off x="4566818"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42" name="Text 40"/>
          <p:cNvSpPr txBox="1"/>
          <p:nvPr/>
        </p:nvSpPr>
        <p:spPr>
          <a:xfrm>
            <a:off x="5161178" y="4242816"/>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保険事業との相乗効果が未活用</a:t>
            </a:r>
            <a:endParaRPr lang="en-US" sz="1500" dirty="0"/>
          </a:p>
        </p:txBody>
      </p:sp>
      <p:sp>
        <p:nvSpPr>
          <p:cNvPr id="43" name="Text 41"/>
          <p:cNvSpPr txBox="1"/>
          <p:nvPr/>
        </p:nvSpPr>
        <p:spPr>
          <a:xfrm>
            <a:off x="4566818" y="4818888"/>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44" name="Text 42"/>
          <p:cNvSpPr txBox="1"/>
          <p:nvPr/>
        </p:nvSpPr>
        <p:spPr>
          <a:xfrm>
            <a:off x="5115458" y="4800600"/>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保険のお客様やそのご家族に介護事業を案内できていない</a:t>
            </a:r>
            <a:endParaRPr lang="en-US" sz="1200" dirty="0"/>
          </a:p>
        </p:txBody>
      </p:sp>
      <p:sp>
        <p:nvSpPr>
          <p:cNvPr id="45" name="Text 43"/>
          <p:cNvSpPr txBox="1"/>
          <p:nvPr/>
        </p:nvSpPr>
        <p:spPr>
          <a:xfrm>
            <a:off x="4566818" y="5458968"/>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46" name="Text 44"/>
          <p:cNvSpPr txBox="1"/>
          <p:nvPr/>
        </p:nvSpPr>
        <p:spPr>
          <a:xfrm>
            <a:off x="5115458" y="5440680"/>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最も信頼関係のある見込み客層を取りこぼす</a:t>
            </a:r>
            <a:endParaRPr lang="en-US" sz="1200" dirty="0"/>
          </a:p>
        </p:txBody>
      </p:sp>
      <p:sp>
        <p:nvSpPr>
          <p:cNvPr id="47" name="Shape 45"/>
          <p:cNvSpPr/>
          <p:nvPr/>
        </p:nvSpPr>
        <p:spPr>
          <a:xfrm>
            <a:off x="8127797"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8" name="Shape 46"/>
          <p:cNvSpPr/>
          <p:nvPr/>
        </p:nvSpPr>
        <p:spPr>
          <a:xfrm>
            <a:off x="8356397" y="4242816"/>
            <a:ext cx="457200" cy="457200"/>
          </a:xfrm>
          <a:prstGeom prst="ellipse">
            <a:avLst/>
          </a:prstGeom>
          <a:solidFill>
            <a:srgbClr val="1F5E5B"/>
          </a:solidFill>
          <a:ln w="12700">
            <a:solidFill>
              <a:srgbClr val="1F5E5B"/>
            </a:solidFill>
            <a:prstDash val="solid"/>
          </a:ln>
        </p:spPr>
      </p:sp>
      <p:sp>
        <p:nvSpPr>
          <p:cNvPr id="49" name="Text 47"/>
          <p:cNvSpPr txBox="1"/>
          <p:nvPr/>
        </p:nvSpPr>
        <p:spPr>
          <a:xfrm>
            <a:off x="8356397"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50" name="Text 48"/>
          <p:cNvSpPr txBox="1"/>
          <p:nvPr/>
        </p:nvSpPr>
        <p:spPr>
          <a:xfrm>
            <a:off x="8950757" y="4242816"/>
            <a:ext cx="2509418" cy="457200"/>
          </a:xfrm>
          <a:prstGeom prst="rect">
            <a:avLst/>
          </a:prstGeom>
          <a:noFill/>
          <a:ln/>
        </p:spPr>
        <p:txBody>
          <a:bodyPr wrap="square" lIns="0" tIns="0" rIns="0" bIns="0" rtlCol="0" anchor="ctr"/>
          <a:lstStyle/>
          <a:p>
            <a:pPr indent="0" marL="0">
              <a:buNone/>
            </a:pPr>
            <a:r>
              <a:rPr lang="en-US" sz="1500" b="1" dirty="0">
                <a:solidFill>
                  <a:srgbClr val="1F5E5B"/>
                </a:solidFill>
                <a:latin typeface="Meiryo UI" pitchFamily="34" charset="0"/>
                <a:ea typeface="Meiryo UI" pitchFamily="34" charset="-122"/>
                <a:cs typeface="Meiryo UI" pitchFamily="34" charset="-120"/>
              </a:rPr>
              <a:t>施術者の採用</a:t>
            </a:r>
            <a:endParaRPr lang="en-US" sz="1500" dirty="0"/>
          </a:p>
        </p:txBody>
      </p:sp>
      <p:sp>
        <p:nvSpPr>
          <p:cNvPr id="51" name="Text 49"/>
          <p:cNvSpPr txBox="1"/>
          <p:nvPr/>
        </p:nvSpPr>
        <p:spPr>
          <a:xfrm>
            <a:off x="8356397" y="4818888"/>
            <a:ext cx="548640"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現象</a:t>
            </a:r>
            <a:endParaRPr lang="en-US" sz="1050" dirty="0"/>
          </a:p>
        </p:txBody>
      </p:sp>
      <p:sp>
        <p:nvSpPr>
          <p:cNvPr id="52" name="Text 50"/>
          <p:cNvSpPr txBox="1"/>
          <p:nvPr/>
        </p:nvSpPr>
        <p:spPr>
          <a:xfrm>
            <a:off x="8905037" y="4800600"/>
            <a:ext cx="2509418" cy="64008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有資格者（あん摩マッサージ指圧師等）の採用競争が激しい</a:t>
            </a:r>
            <a:endParaRPr lang="en-US" sz="1200" dirty="0"/>
          </a:p>
        </p:txBody>
      </p:sp>
      <p:sp>
        <p:nvSpPr>
          <p:cNvPr id="53" name="Text 51"/>
          <p:cNvSpPr txBox="1"/>
          <p:nvPr/>
        </p:nvSpPr>
        <p:spPr>
          <a:xfrm>
            <a:off x="8356397" y="5458968"/>
            <a:ext cx="54864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リスク</a:t>
            </a:r>
            <a:endParaRPr lang="en-US" sz="1050" dirty="0"/>
          </a:p>
        </p:txBody>
      </p:sp>
      <p:sp>
        <p:nvSpPr>
          <p:cNvPr id="54" name="Text 52"/>
          <p:cNvSpPr txBox="1"/>
          <p:nvPr/>
        </p:nvSpPr>
        <p:spPr>
          <a:xfrm>
            <a:off x="8905037" y="5440680"/>
            <a:ext cx="2509418" cy="640080"/>
          </a:xfrm>
          <a:prstGeom prst="rect">
            <a:avLst/>
          </a:prstGeom>
          <a:noFill/>
          <a:ln/>
        </p:spPr>
        <p:txBody>
          <a:bodyPr wrap="square" lIns="0" tIns="0" rIns="0" bIns="0" rtlCol="0" anchor="t"/>
          <a:lstStyle/>
          <a:p>
            <a:pPr indent="0" marL="0">
              <a:buNone/>
            </a:pPr>
            <a:r>
              <a:rPr lang="en-US" sz="1200" b="1" dirty="0">
                <a:solidFill>
                  <a:srgbClr val="2A3332"/>
                </a:solidFill>
                <a:latin typeface="Meiryo UI" pitchFamily="34" charset="0"/>
                <a:ea typeface="Meiryo UI" pitchFamily="34" charset="-122"/>
                <a:cs typeface="Meiryo UI" pitchFamily="34" charset="-120"/>
              </a:rPr>
              <a:t>需要があっても受け入れ枠を増やせない</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「動画を作って放置する（反応待ち）」では成果が出ない理由</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6</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286000" y="1417320"/>
            <a:ext cx="4526280" cy="548640"/>
          </a:xfrm>
          <a:prstGeom prst="roundRect">
            <a:avLst>
              <a:gd name="adj" fmla="val 20000"/>
            </a:avLst>
          </a:prstGeom>
          <a:solidFill>
            <a:srgbClr val="EEF0F0"/>
          </a:solidFill>
          <a:ln w="12700">
            <a:solidFill>
              <a:srgbClr val="EEF0F0"/>
            </a:solidFill>
            <a:prstDash val="solid"/>
          </a:ln>
        </p:spPr>
      </p:sp>
      <p:sp>
        <p:nvSpPr>
          <p:cNvPr id="7" name="Text 5"/>
          <p:cNvSpPr txBox="1"/>
          <p:nvPr/>
        </p:nvSpPr>
        <p:spPr>
          <a:xfrm>
            <a:off x="2286000" y="1417320"/>
            <a:ext cx="4526280" cy="548640"/>
          </a:xfrm>
          <a:prstGeom prst="rect">
            <a:avLst/>
          </a:prstGeom>
          <a:noFill/>
          <a:ln/>
        </p:spPr>
        <p:txBody>
          <a:bodyPr wrap="square" lIns="0" tIns="0" rIns="0" bIns="0" rtlCol="0" anchor="ctr"/>
          <a:lstStyle/>
          <a:p>
            <a:pPr algn="ctr" indent="0" marL="0">
              <a:buNone/>
            </a:pPr>
            <a:r>
              <a:rPr lang="en-US" sz="1500" b="1" dirty="0">
                <a:solidFill>
                  <a:srgbClr val="7A8584"/>
                </a:solidFill>
                <a:latin typeface="Meiryo UI" pitchFamily="34" charset="0"/>
                <a:ea typeface="Meiryo UI" pitchFamily="34" charset="-122"/>
                <a:cs typeface="Meiryo UI" pitchFamily="34" charset="-120"/>
              </a:rPr>
              <a:t>作って放置（反応待ち）</a:t>
            </a:r>
            <a:endParaRPr lang="en-US" sz="1500" dirty="0"/>
          </a:p>
        </p:txBody>
      </p:sp>
      <p:sp>
        <p:nvSpPr>
          <p:cNvPr id="8" name="Shape 6"/>
          <p:cNvSpPr/>
          <p:nvPr/>
        </p:nvSpPr>
        <p:spPr>
          <a:xfrm>
            <a:off x="7086600" y="1417320"/>
            <a:ext cx="4526280" cy="548640"/>
          </a:xfrm>
          <a:prstGeom prst="roundRect">
            <a:avLst>
              <a:gd name="adj" fmla="val 20000"/>
            </a:avLst>
          </a:prstGeom>
          <a:solidFill>
            <a:srgbClr val="1F5E5B"/>
          </a:solidFill>
          <a:ln w="12700">
            <a:solidFill>
              <a:srgbClr val="1F5E5B"/>
            </a:solidFill>
            <a:prstDash val="solid"/>
          </a:ln>
        </p:spPr>
      </p:sp>
      <p:sp>
        <p:nvSpPr>
          <p:cNvPr id="9" name="Text 7"/>
          <p:cNvSpPr txBox="1"/>
          <p:nvPr/>
        </p:nvSpPr>
        <p:spPr>
          <a:xfrm>
            <a:off x="7086600" y="1417320"/>
            <a:ext cx="45262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戦略設計 ＋ 運用</a:t>
            </a:r>
            <a:endParaRPr lang="en-US" sz="1500" dirty="0"/>
          </a:p>
        </p:txBody>
      </p:sp>
      <p:sp>
        <p:nvSpPr>
          <p:cNvPr id="10" name="Text 8"/>
          <p:cNvSpPr txBox="1"/>
          <p:nvPr/>
        </p:nvSpPr>
        <p:spPr>
          <a:xfrm>
            <a:off x="548640" y="2103120"/>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届く人数</a:t>
            </a:r>
            <a:endParaRPr lang="en-US" sz="1300" dirty="0"/>
          </a:p>
        </p:txBody>
      </p:sp>
      <p:sp>
        <p:nvSpPr>
          <p:cNvPr id="11" name="Shape 9"/>
          <p:cNvSpPr/>
          <p:nvPr/>
        </p:nvSpPr>
        <p:spPr>
          <a:xfrm>
            <a:off x="2286000" y="2103120"/>
            <a:ext cx="4526280" cy="603504"/>
          </a:xfrm>
          <a:prstGeom prst="roundRect">
            <a:avLst>
              <a:gd name="adj" fmla="val 18182"/>
            </a:avLst>
          </a:prstGeom>
          <a:solidFill>
            <a:srgbClr val="F4F8F7"/>
          </a:solidFill>
          <a:ln w="12700">
            <a:solidFill>
              <a:srgbClr val="F4F8F7"/>
            </a:solidFill>
            <a:prstDash val="solid"/>
          </a:ln>
        </p:spPr>
      </p:sp>
      <p:sp>
        <p:nvSpPr>
          <p:cNvPr id="12" name="Shape 10"/>
          <p:cNvSpPr/>
          <p:nvPr/>
        </p:nvSpPr>
        <p:spPr>
          <a:xfrm>
            <a:off x="2423160" y="2249424"/>
            <a:ext cx="310896" cy="310896"/>
          </a:xfrm>
          <a:prstGeom prst="ellipse">
            <a:avLst/>
          </a:prstGeom>
          <a:solidFill>
            <a:srgbClr val="D9DEDD"/>
          </a:solidFill>
          <a:ln w="12700">
            <a:solidFill>
              <a:srgbClr val="D9DEDD"/>
            </a:solidFill>
            <a:prstDash val="solid"/>
          </a:ln>
        </p:spPr>
      </p:sp>
      <p:pic>
        <p:nvPicPr>
          <p:cNvPr id="13" name="Image 0" descr="preencoded.png">    </p:cNvPr>
          <p:cNvPicPr>
            <a:picLocks noChangeAspect="1"/>
          </p:cNvPicPr>
          <p:nvPr/>
        </p:nvPicPr>
        <p:blipFill>
          <a:blip r:embed="rId1"/>
          <a:stretch>
            <a:fillRect/>
          </a:stretch>
        </p:blipFill>
        <p:spPr>
          <a:xfrm>
            <a:off x="2503993" y="2330257"/>
            <a:ext cx="149230" cy="149230"/>
          </a:xfrm>
          <a:prstGeom prst="rect">
            <a:avLst/>
          </a:prstGeom>
        </p:spPr>
      </p:pic>
      <p:sp>
        <p:nvSpPr>
          <p:cNvPr id="14" name="Text 11"/>
          <p:cNvSpPr txBox="1"/>
          <p:nvPr/>
        </p:nvSpPr>
        <p:spPr>
          <a:xfrm>
            <a:off x="2852928" y="2103120"/>
            <a:ext cx="3840480" cy="603504"/>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HPに来た人しか見ない</a:t>
            </a:r>
            <a:endParaRPr lang="en-US" sz="1200" dirty="0"/>
          </a:p>
        </p:txBody>
      </p:sp>
      <p:sp>
        <p:nvSpPr>
          <p:cNvPr id="15" name="Shape 12"/>
          <p:cNvSpPr/>
          <p:nvPr/>
        </p:nvSpPr>
        <p:spPr>
          <a:xfrm>
            <a:off x="7086600" y="2103120"/>
            <a:ext cx="4526280" cy="603504"/>
          </a:xfrm>
          <a:prstGeom prst="roundRect">
            <a:avLst>
              <a:gd name="adj" fmla="val 18182"/>
            </a:avLst>
          </a:prstGeom>
          <a:solidFill>
            <a:srgbClr val="E7F2EF"/>
          </a:solidFill>
          <a:ln w="12700">
            <a:solidFill>
              <a:srgbClr val="E7F2EF"/>
            </a:solidFill>
            <a:prstDash val="solid"/>
          </a:ln>
        </p:spPr>
      </p:sp>
      <p:sp>
        <p:nvSpPr>
          <p:cNvPr id="16" name="Shape 13"/>
          <p:cNvSpPr/>
          <p:nvPr/>
        </p:nvSpPr>
        <p:spPr>
          <a:xfrm>
            <a:off x="7223760" y="2249424"/>
            <a:ext cx="310896" cy="310896"/>
          </a:xfrm>
          <a:prstGeom prst="ellipse">
            <a:avLst/>
          </a:prstGeom>
          <a:solidFill>
            <a:srgbClr val="1F5E5B"/>
          </a:solidFill>
          <a:ln w="12700">
            <a:solidFill>
              <a:srgbClr val="1F5E5B"/>
            </a:solidFill>
            <a:prstDash val="solid"/>
          </a:ln>
        </p:spPr>
      </p:sp>
      <p:pic>
        <p:nvPicPr>
          <p:cNvPr id="17" name="Image 1" descr="preencoded.png">    </p:cNvPr>
          <p:cNvPicPr>
            <a:picLocks noChangeAspect="1"/>
          </p:cNvPicPr>
          <p:nvPr/>
        </p:nvPicPr>
        <p:blipFill>
          <a:blip r:embed="rId2"/>
          <a:stretch>
            <a:fillRect/>
          </a:stretch>
        </p:blipFill>
        <p:spPr>
          <a:xfrm>
            <a:off x="7304593" y="2330257"/>
            <a:ext cx="149230" cy="149230"/>
          </a:xfrm>
          <a:prstGeom prst="rect">
            <a:avLst/>
          </a:prstGeom>
        </p:spPr>
      </p:pic>
      <p:sp>
        <p:nvSpPr>
          <p:cNvPr id="18" name="Text 14"/>
          <p:cNvSpPr txBox="1"/>
          <p:nvPr/>
        </p:nvSpPr>
        <p:spPr>
          <a:xfrm>
            <a:off x="7653528" y="2103120"/>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ケアマネ・施設・保険顧客・SNSへ能動的に届ける</a:t>
            </a:r>
            <a:endParaRPr lang="en-US" sz="1200" dirty="0"/>
          </a:p>
        </p:txBody>
      </p:sp>
      <p:sp>
        <p:nvSpPr>
          <p:cNvPr id="19" name="Text 15"/>
          <p:cNvSpPr txBox="1"/>
          <p:nvPr/>
        </p:nvSpPr>
        <p:spPr>
          <a:xfrm>
            <a:off x="548640" y="2816352"/>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判断材料</a:t>
            </a:r>
            <a:endParaRPr lang="en-US" sz="1300" dirty="0"/>
          </a:p>
        </p:txBody>
      </p:sp>
      <p:sp>
        <p:nvSpPr>
          <p:cNvPr id="20" name="Shape 16"/>
          <p:cNvSpPr/>
          <p:nvPr/>
        </p:nvSpPr>
        <p:spPr>
          <a:xfrm>
            <a:off x="2286000" y="2816352"/>
            <a:ext cx="4526280" cy="603504"/>
          </a:xfrm>
          <a:prstGeom prst="roundRect">
            <a:avLst>
              <a:gd name="adj" fmla="val 18182"/>
            </a:avLst>
          </a:prstGeom>
          <a:solidFill>
            <a:srgbClr val="F4F8F7"/>
          </a:solidFill>
          <a:ln w="12700">
            <a:solidFill>
              <a:srgbClr val="F4F8F7"/>
            </a:solidFill>
            <a:prstDash val="solid"/>
          </a:ln>
        </p:spPr>
      </p:sp>
      <p:sp>
        <p:nvSpPr>
          <p:cNvPr id="21" name="Shape 17"/>
          <p:cNvSpPr/>
          <p:nvPr/>
        </p:nvSpPr>
        <p:spPr>
          <a:xfrm>
            <a:off x="2423160" y="2962656"/>
            <a:ext cx="310896" cy="310896"/>
          </a:xfrm>
          <a:prstGeom prst="ellipse">
            <a:avLst/>
          </a:prstGeom>
          <a:solidFill>
            <a:srgbClr val="D9DEDD"/>
          </a:solidFill>
          <a:ln w="12700">
            <a:solidFill>
              <a:srgbClr val="D9DEDD"/>
            </a:solidFill>
            <a:prstDash val="solid"/>
          </a:ln>
        </p:spPr>
      </p:sp>
      <p:pic>
        <p:nvPicPr>
          <p:cNvPr id="22" name="Image 2" descr="preencoded.png">    </p:cNvPr>
          <p:cNvPicPr>
            <a:picLocks noChangeAspect="1"/>
          </p:cNvPicPr>
          <p:nvPr/>
        </p:nvPicPr>
        <p:blipFill>
          <a:blip r:embed="rId3"/>
          <a:stretch>
            <a:fillRect/>
          </a:stretch>
        </p:blipFill>
        <p:spPr>
          <a:xfrm>
            <a:off x="2503993" y="3043489"/>
            <a:ext cx="149230" cy="149230"/>
          </a:xfrm>
          <a:prstGeom prst="rect">
            <a:avLst/>
          </a:prstGeom>
        </p:spPr>
      </p:pic>
      <p:sp>
        <p:nvSpPr>
          <p:cNvPr id="23" name="Text 18"/>
          <p:cNvSpPr txBox="1"/>
          <p:nvPr/>
        </p:nvSpPr>
        <p:spPr>
          <a:xfrm>
            <a:off x="2852928" y="2816352"/>
            <a:ext cx="3840480" cy="603504"/>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再生数が少なく「効果があるのか分からない」まま終わる</a:t>
            </a:r>
            <a:endParaRPr lang="en-US" sz="1200" dirty="0"/>
          </a:p>
        </p:txBody>
      </p:sp>
      <p:sp>
        <p:nvSpPr>
          <p:cNvPr id="24" name="Shape 19"/>
          <p:cNvSpPr/>
          <p:nvPr/>
        </p:nvSpPr>
        <p:spPr>
          <a:xfrm>
            <a:off x="7086600" y="2816352"/>
            <a:ext cx="4526280" cy="603504"/>
          </a:xfrm>
          <a:prstGeom prst="roundRect">
            <a:avLst>
              <a:gd name="adj" fmla="val 18182"/>
            </a:avLst>
          </a:prstGeom>
          <a:solidFill>
            <a:srgbClr val="E7F2EF"/>
          </a:solidFill>
          <a:ln w="12700">
            <a:solidFill>
              <a:srgbClr val="E7F2EF"/>
            </a:solidFill>
            <a:prstDash val="solid"/>
          </a:ln>
        </p:spPr>
      </p:sp>
      <p:sp>
        <p:nvSpPr>
          <p:cNvPr id="25" name="Shape 20"/>
          <p:cNvSpPr/>
          <p:nvPr/>
        </p:nvSpPr>
        <p:spPr>
          <a:xfrm>
            <a:off x="7223760" y="2962656"/>
            <a:ext cx="310896" cy="310896"/>
          </a:xfrm>
          <a:prstGeom prst="ellipse">
            <a:avLst/>
          </a:prstGeom>
          <a:solidFill>
            <a:srgbClr val="1F5E5B"/>
          </a:solidFill>
          <a:ln w="12700">
            <a:solidFill>
              <a:srgbClr val="1F5E5B"/>
            </a:solidFill>
            <a:prstDash val="solid"/>
          </a:ln>
        </p:spPr>
      </p:sp>
      <p:pic>
        <p:nvPicPr>
          <p:cNvPr id="26" name="Image 3" descr="preencoded.png">    </p:cNvPr>
          <p:cNvPicPr>
            <a:picLocks noChangeAspect="1"/>
          </p:cNvPicPr>
          <p:nvPr/>
        </p:nvPicPr>
        <p:blipFill>
          <a:blip r:embed="rId4"/>
          <a:stretch>
            <a:fillRect/>
          </a:stretch>
        </p:blipFill>
        <p:spPr>
          <a:xfrm>
            <a:off x="7304593" y="3043489"/>
            <a:ext cx="149230" cy="149230"/>
          </a:xfrm>
          <a:prstGeom prst="rect">
            <a:avLst/>
          </a:prstGeom>
        </p:spPr>
      </p:pic>
      <p:sp>
        <p:nvSpPr>
          <p:cNvPr id="27" name="Text 21"/>
          <p:cNvSpPr txBox="1"/>
          <p:nvPr/>
        </p:nvSpPr>
        <p:spPr>
          <a:xfrm>
            <a:off x="7653528" y="2816352"/>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送付数・視聴率・問い合わせ数を数値で比較できる</a:t>
            </a:r>
            <a:endParaRPr lang="en-US" sz="1200" dirty="0"/>
          </a:p>
        </p:txBody>
      </p:sp>
      <p:sp>
        <p:nvSpPr>
          <p:cNvPr id="28" name="Text 22"/>
          <p:cNvSpPr txBox="1"/>
          <p:nvPr/>
        </p:nvSpPr>
        <p:spPr>
          <a:xfrm>
            <a:off x="548640" y="3529584"/>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改善</a:t>
            </a:r>
            <a:endParaRPr lang="en-US" sz="1300" dirty="0"/>
          </a:p>
        </p:txBody>
      </p:sp>
      <p:sp>
        <p:nvSpPr>
          <p:cNvPr id="29" name="Shape 23"/>
          <p:cNvSpPr/>
          <p:nvPr/>
        </p:nvSpPr>
        <p:spPr>
          <a:xfrm>
            <a:off x="2286000" y="3529584"/>
            <a:ext cx="4526280" cy="603504"/>
          </a:xfrm>
          <a:prstGeom prst="roundRect">
            <a:avLst>
              <a:gd name="adj" fmla="val 18182"/>
            </a:avLst>
          </a:prstGeom>
          <a:solidFill>
            <a:srgbClr val="F4F8F7"/>
          </a:solidFill>
          <a:ln w="12700">
            <a:solidFill>
              <a:srgbClr val="F4F8F7"/>
            </a:solidFill>
            <a:prstDash val="solid"/>
          </a:ln>
        </p:spPr>
      </p:sp>
      <p:sp>
        <p:nvSpPr>
          <p:cNvPr id="30" name="Shape 24"/>
          <p:cNvSpPr/>
          <p:nvPr/>
        </p:nvSpPr>
        <p:spPr>
          <a:xfrm>
            <a:off x="2423160" y="3675888"/>
            <a:ext cx="310896" cy="310896"/>
          </a:xfrm>
          <a:prstGeom prst="ellipse">
            <a:avLst/>
          </a:prstGeom>
          <a:solidFill>
            <a:srgbClr val="D9DEDD"/>
          </a:solidFill>
          <a:ln w="12700">
            <a:solidFill>
              <a:srgbClr val="D9DEDD"/>
            </a:solidFill>
            <a:prstDash val="solid"/>
          </a:ln>
        </p:spPr>
      </p:sp>
      <p:pic>
        <p:nvPicPr>
          <p:cNvPr id="31" name="Image 4" descr="preencoded.png">    </p:cNvPr>
          <p:cNvPicPr>
            <a:picLocks noChangeAspect="1"/>
          </p:cNvPicPr>
          <p:nvPr/>
        </p:nvPicPr>
        <p:blipFill>
          <a:blip r:embed="rId5"/>
          <a:stretch>
            <a:fillRect/>
          </a:stretch>
        </p:blipFill>
        <p:spPr>
          <a:xfrm>
            <a:off x="2503993" y="3756721"/>
            <a:ext cx="149230" cy="149230"/>
          </a:xfrm>
          <a:prstGeom prst="rect">
            <a:avLst/>
          </a:prstGeom>
        </p:spPr>
      </p:pic>
      <p:sp>
        <p:nvSpPr>
          <p:cNvPr id="32" name="Text 25"/>
          <p:cNvSpPr txBox="1"/>
          <p:nvPr/>
        </p:nvSpPr>
        <p:spPr>
          <a:xfrm>
            <a:off x="2852928" y="3529584"/>
            <a:ext cx="3840480" cy="603504"/>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1本で終わり、何が良く何が悪かったか学べない</a:t>
            </a:r>
            <a:endParaRPr lang="en-US" sz="1200" dirty="0"/>
          </a:p>
        </p:txBody>
      </p:sp>
      <p:sp>
        <p:nvSpPr>
          <p:cNvPr id="33" name="Shape 26"/>
          <p:cNvSpPr/>
          <p:nvPr/>
        </p:nvSpPr>
        <p:spPr>
          <a:xfrm>
            <a:off x="7086600" y="3529584"/>
            <a:ext cx="4526280" cy="603504"/>
          </a:xfrm>
          <a:prstGeom prst="roundRect">
            <a:avLst>
              <a:gd name="adj" fmla="val 18182"/>
            </a:avLst>
          </a:prstGeom>
          <a:solidFill>
            <a:srgbClr val="E7F2EF"/>
          </a:solidFill>
          <a:ln w="12700">
            <a:solidFill>
              <a:srgbClr val="E7F2EF"/>
            </a:solidFill>
            <a:prstDash val="solid"/>
          </a:ln>
        </p:spPr>
      </p:sp>
      <p:sp>
        <p:nvSpPr>
          <p:cNvPr id="34" name="Shape 27"/>
          <p:cNvSpPr/>
          <p:nvPr/>
        </p:nvSpPr>
        <p:spPr>
          <a:xfrm>
            <a:off x="7223760" y="3675888"/>
            <a:ext cx="310896" cy="310896"/>
          </a:xfrm>
          <a:prstGeom prst="ellipse">
            <a:avLst/>
          </a:prstGeom>
          <a:solidFill>
            <a:srgbClr val="1F5E5B"/>
          </a:solidFill>
          <a:ln w="12700">
            <a:solidFill>
              <a:srgbClr val="1F5E5B"/>
            </a:solidFill>
            <a:prstDash val="solid"/>
          </a:ln>
        </p:spPr>
      </p:sp>
      <p:pic>
        <p:nvPicPr>
          <p:cNvPr id="35" name="Image 5" descr="preencoded.png">    </p:cNvPr>
          <p:cNvPicPr>
            <a:picLocks noChangeAspect="1"/>
          </p:cNvPicPr>
          <p:nvPr/>
        </p:nvPicPr>
        <p:blipFill>
          <a:blip r:embed="rId6"/>
          <a:stretch>
            <a:fillRect/>
          </a:stretch>
        </p:blipFill>
        <p:spPr>
          <a:xfrm>
            <a:off x="7304593" y="3756721"/>
            <a:ext cx="149230" cy="149230"/>
          </a:xfrm>
          <a:prstGeom prst="rect">
            <a:avLst/>
          </a:prstGeom>
        </p:spPr>
      </p:pic>
      <p:sp>
        <p:nvSpPr>
          <p:cNvPr id="36" name="Text 28"/>
          <p:cNvSpPr txBox="1"/>
          <p:nvPr/>
        </p:nvSpPr>
        <p:spPr>
          <a:xfrm>
            <a:off x="7653528" y="3529584"/>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検証結果から台本・尺・訴求を改善し続ける</a:t>
            </a:r>
            <a:endParaRPr lang="en-US" sz="1200" dirty="0"/>
          </a:p>
        </p:txBody>
      </p:sp>
      <p:sp>
        <p:nvSpPr>
          <p:cNvPr id="37" name="Text 29"/>
          <p:cNvSpPr txBox="1"/>
          <p:nvPr/>
        </p:nvSpPr>
        <p:spPr>
          <a:xfrm>
            <a:off x="548640" y="4242816"/>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営業との接続</a:t>
            </a:r>
            <a:endParaRPr lang="en-US" sz="1300" dirty="0"/>
          </a:p>
        </p:txBody>
      </p:sp>
      <p:sp>
        <p:nvSpPr>
          <p:cNvPr id="38" name="Shape 30"/>
          <p:cNvSpPr/>
          <p:nvPr/>
        </p:nvSpPr>
        <p:spPr>
          <a:xfrm>
            <a:off x="2286000" y="4242816"/>
            <a:ext cx="4526280" cy="603504"/>
          </a:xfrm>
          <a:prstGeom prst="roundRect">
            <a:avLst>
              <a:gd name="adj" fmla="val 18182"/>
            </a:avLst>
          </a:prstGeom>
          <a:solidFill>
            <a:srgbClr val="F4F8F7"/>
          </a:solidFill>
          <a:ln w="12700">
            <a:solidFill>
              <a:srgbClr val="F4F8F7"/>
            </a:solidFill>
            <a:prstDash val="solid"/>
          </a:ln>
        </p:spPr>
      </p:sp>
      <p:sp>
        <p:nvSpPr>
          <p:cNvPr id="39" name="Shape 31"/>
          <p:cNvSpPr/>
          <p:nvPr/>
        </p:nvSpPr>
        <p:spPr>
          <a:xfrm>
            <a:off x="2423160" y="4389120"/>
            <a:ext cx="310896" cy="310896"/>
          </a:xfrm>
          <a:prstGeom prst="ellipse">
            <a:avLst/>
          </a:prstGeom>
          <a:solidFill>
            <a:srgbClr val="D9DEDD"/>
          </a:solidFill>
          <a:ln w="12700">
            <a:solidFill>
              <a:srgbClr val="D9DEDD"/>
            </a:solidFill>
            <a:prstDash val="solid"/>
          </a:ln>
        </p:spPr>
      </p:sp>
      <p:pic>
        <p:nvPicPr>
          <p:cNvPr id="40" name="Image 6" descr="preencoded.png">    </p:cNvPr>
          <p:cNvPicPr>
            <a:picLocks noChangeAspect="1"/>
          </p:cNvPicPr>
          <p:nvPr/>
        </p:nvPicPr>
        <p:blipFill>
          <a:blip r:embed="rId7"/>
          <a:stretch>
            <a:fillRect/>
          </a:stretch>
        </p:blipFill>
        <p:spPr>
          <a:xfrm>
            <a:off x="2503993" y="4469953"/>
            <a:ext cx="149230" cy="149230"/>
          </a:xfrm>
          <a:prstGeom prst="rect">
            <a:avLst/>
          </a:prstGeom>
        </p:spPr>
      </p:pic>
      <p:sp>
        <p:nvSpPr>
          <p:cNvPr id="41" name="Text 32"/>
          <p:cNvSpPr txBox="1"/>
          <p:nvPr/>
        </p:nvSpPr>
        <p:spPr>
          <a:xfrm>
            <a:off x="2852928" y="4242816"/>
            <a:ext cx="3840480" cy="603504"/>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営業現場で使われず、担当者の手間も減らない</a:t>
            </a:r>
            <a:endParaRPr lang="en-US" sz="1200" dirty="0"/>
          </a:p>
        </p:txBody>
      </p:sp>
      <p:sp>
        <p:nvSpPr>
          <p:cNvPr id="42" name="Shape 33"/>
          <p:cNvSpPr/>
          <p:nvPr/>
        </p:nvSpPr>
        <p:spPr>
          <a:xfrm>
            <a:off x="7086600" y="4242816"/>
            <a:ext cx="4526280" cy="603504"/>
          </a:xfrm>
          <a:prstGeom prst="roundRect">
            <a:avLst>
              <a:gd name="adj" fmla="val 18182"/>
            </a:avLst>
          </a:prstGeom>
          <a:solidFill>
            <a:srgbClr val="E7F2EF"/>
          </a:solidFill>
          <a:ln w="12700">
            <a:solidFill>
              <a:srgbClr val="E7F2EF"/>
            </a:solidFill>
            <a:prstDash val="solid"/>
          </a:ln>
        </p:spPr>
      </p:sp>
      <p:sp>
        <p:nvSpPr>
          <p:cNvPr id="43" name="Shape 34"/>
          <p:cNvSpPr/>
          <p:nvPr/>
        </p:nvSpPr>
        <p:spPr>
          <a:xfrm>
            <a:off x="7223760" y="4389120"/>
            <a:ext cx="310896" cy="310896"/>
          </a:xfrm>
          <a:prstGeom prst="ellipse">
            <a:avLst/>
          </a:prstGeom>
          <a:solidFill>
            <a:srgbClr val="1F5E5B"/>
          </a:solidFill>
          <a:ln w="12700">
            <a:solidFill>
              <a:srgbClr val="1F5E5B"/>
            </a:solidFill>
            <a:prstDash val="solid"/>
          </a:ln>
        </p:spPr>
      </p:sp>
      <p:pic>
        <p:nvPicPr>
          <p:cNvPr id="44" name="Image 7" descr="preencoded.png">    </p:cNvPr>
          <p:cNvPicPr>
            <a:picLocks noChangeAspect="1"/>
          </p:cNvPicPr>
          <p:nvPr/>
        </p:nvPicPr>
        <p:blipFill>
          <a:blip r:embed="rId8"/>
          <a:stretch>
            <a:fillRect/>
          </a:stretch>
        </p:blipFill>
        <p:spPr>
          <a:xfrm>
            <a:off x="7304593" y="4469953"/>
            <a:ext cx="149230" cy="149230"/>
          </a:xfrm>
          <a:prstGeom prst="rect">
            <a:avLst/>
          </a:prstGeom>
        </p:spPr>
      </p:pic>
      <p:sp>
        <p:nvSpPr>
          <p:cNvPr id="45" name="Text 35"/>
          <p:cNvSpPr txBox="1"/>
          <p:nvPr/>
        </p:nvSpPr>
        <p:spPr>
          <a:xfrm>
            <a:off x="7653528" y="4242816"/>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訪問前後・FAX・メールに組み込まれ、営業の型になる</a:t>
            </a:r>
            <a:endParaRPr lang="en-US" sz="1200" dirty="0"/>
          </a:p>
        </p:txBody>
      </p:sp>
      <p:sp>
        <p:nvSpPr>
          <p:cNvPr id="46" name="Text 36"/>
          <p:cNvSpPr txBox="1"/>
          <p:nvPr/>
        </p:nvSpPr>
        <p:spPr>
          <a:xfrm>
            <a:off x="548640" y="4956048"/>
            <a:ext cx="1645920" cy="603504"/>
          </a:xfrm>
          <a:prstGeom prst="rect">
            <a:avLst/>
          </a:prstGeom>
          <a:noFill/>
          <a:ln/>
        </p:spPr>
        <p:txBody>
          <a:bodyPr wrap="square" lIns="0" tIns="0" rIns="0" bIns="0" rtlCol="0" anchor="ctr"/>
          <a:lstStyle/>
          <a:p>
            <a:pPr indent="0" marL="0">
              <a:buNone/>
            </a:pPr>
            <a:r>
              <a:rPr lang="en-US" sz="1300" b="1" dirty="0">
                <a:solidFill>
                  <a:srgbClr val="1F5E5B"/>
                </a:solidFill>
                <a:latin typeface="Meiryo UI" pitchFamily="34" charset="0"/>
                <a:ea typeface="Meiryo UI" pitchFamily="34" charset="-122"/>
                <a:cs typeface="Meiryo UI" pitchFamily="34" charset="-120"/>
              </a:rPr>
              <a:t>結論</a:t>
            </a:r>
            <a:endParaRPr lang="en-US" sz="1300" dirty="0"/>
          </a:p>
        </p:txBody>
      </p:sp>
      <p:sp>
        <p:nvSpPr>
          <p:cNvPr id="47" name="Shape 37"/>
          <p:cNvSpPr/>
          <p:nvPr/>
        </p:nvSpPr>
        <p:spPr>
          <a:xfrm>
            <a:off x="2286000" y="4956048"/>
            <a:ext cx="4526280" cy="603504"/>
          </a:xfrm>
          <a:prstGeom prst="roundRect">
            <a:avLst>
              <a:gd name="adj" fmla="val 18182"/>
            </a:avLst>
          </a:prstGeom>
          <a:solidFill>
            <a:srgbClr val="F4F8F7"/>
          </a:solidFill>
          <a:ln w="12700">
            <a:solidFill>
              <a:srgbClr val="F4F8F7"/>
            </a:solidFill>
            <a:prstDash val="solid"/>
          </a:ln>
        </p:spPr>
      </p:sp>
      <p:sp>
        <p:nvSpPr>
          <p:cNvPr id="48" name="Shape 38"/>
          <p:cNvSpPr/>
          <p:nvPr/>
        </p:nvSpPr>
        <p:spPr>
          <a:xfrm>
            <a:off x="2423160" y="5102352"/>
            <a:ext cx="310896" cy="310896"/>
          </a:xfrm>
          <a:prstGeom prst="ellipse">
            <a:avLst/>
          </a:prstGeom>
          <a:solidFill>
            <a:srgbClr val="D9DEDD"/>
          </a:solidFill>
          <a:ln w="12700">
            <a:solidFill>
              <a:srgbClr val="D9DEDD"/>
            </a:solidFill>
            <a:prstDash val="solid"/>
          </a:ln>
        </p:spPr>
      </p:sp>
      <p:pic>
        <p:nvPicPr>
          <p:cNvPr id="49" name="Image 8" descr="preencoded.png">    </p:cNvPr>
          <p:cNvPicPr>
            <a:picLocks noChangeAspect="1"/>
          </p:cNvPicPr>
          <p:nvPr/>
        </p:nvPicPr>
        <p:blipFill>
          <a:blip r:embed="rId9"/>
          <a:stretch>
            <a:fillRect/>
          </a:stretch>
        </p:blipFill>
        <p:spPr>
          <a:xfrm>
            <a:off x="2503993" y="5183185"/>
            <a:ext cx="149230" cy="149230"/>
          </a:xfrm>
          <a:prstGeom prst="rect">
            <a:avLst/>
          </a:prstGeom>
        </p:spPr>
      </p:pic>
      <p:sp>
        <p:nvSpPr>
          <p:cNvPr id="50" name="Text 39"/>
          <p:cNvSpPr txBox="1"/>
          <p:nvPr/>
        </p:nvSpPr>
        <p:spPr>
          <a:xfrm>
            <a:off x="2852928" y="4956048"/>
            <a:ext cx="3840480" cy="603504"/>
          </a:xfrm>
          <a:prstGeom prst="rect">
            <a:avLst/>
          </a:prstGeom>
          <a:noFill/>
          <a:ln/>
        </p:spPr>
        <p:txBody>
          <a:bodyPr wrap="square" lIns="0" tIns="0" rIns="0" bIns="0" rtlCol="0" anchor="ctr"/>
          <a:lstStyle/>
          <a:p>
            <a:pPr indent="0" marL="0">
              <a:buNone/>
            </a:pPr>
            <a:r>
              <a:rPr lang="en-US" sz="1200" b="1" dirty="0">
                <a:solidFill>
                  <a:srgbClr val="2A3332"/>
                </a:solidFill>
                <a:latin typeface="Meiryo UI" pitchFamily="34" charset="0"/>
                <a:ea typeface="Meiryo UI" pitchFamily="34" charset="-122"/>
                <a:cs typeface="Meiryo UI" pitchFamily="34" charset="-120"/>
              </a:rPr>
              <a:t>「動画は効果がなかった」という誤った判断に至る</a:t>
            </a:r>
            <a:endParaRPr lang="en-US" sz="1200" dirty="0"/>
          </a:p>
        </p:txBody>
      </p:sp>
      <p:sp>
        <p:nvSpPr>
          <p:cNvPr id="51" name="Shape 40"/>
          <p:cNvSpPr/>
          <p:nvPr/>
        </p:nvSpPr>
        <p:spPr>
          <a:xfrm>
            <a:off x="7086600" y="4956048"/>
            <a:ext cx="4526280" cy="603504"/>
          </a:xfrm>
          <a:prstGeom prst="roundRect">
            <a:avLst>
              <a:gd name="adj" fmla="val 18182"/>
            </a:avLst>
          </a:prstGeom>
          <a:solidFill>
            <a:srgbClr val="FCEBDD"/>
          </a:solidFill>
          <a:ln w="12700">
            <a:solidFill>
              <a:srgbClr val="FCEBDD"/>
            </a:solidFill>
            <a:prstDash val="solid"/>
          </a:ln>
        </p:spPr>
      </p:sp>
      <p:sp>
        <p:nvSpPr>
          <p:cNvPr id="52" name="Shape 41"/>
          <p:cNvSpPr/>
          <p:nvPr/>
        </p:nvSpPr>
        <p:spPr>
          <a:xfrm>
            <a:off x="7223760" y="5102352"/>
            <a:ext cx="310896" cy="310896"/>
          </a:xfrm>
          <a:prstGeom prst="ellipse">
            <a:avLst/>
          </a:prstGeom>
          <a:solidFill>
            <a:srgbClr val="E07B39"/>
          </a:solidFill>
          <a:ln w="12700">
            <a:solidFill>
              <a:srgbClr val="E07B39"/>
            </a:solidFill>
            <a:prstDash val="solid"/>
          </a:ln>
        </p:spPr>
      </p:sp>
      <p:pic>
        <p:nvPicPr>
          <p:cNvPr id="53" name="Image 9" descr="preencoded.png">    </p:cNvPr>
          <p:cNvPicPr>
            <a:picLocks noChangeAspect="1"/>
          </p:cNvPicPr>
          <p:nvPr/>
        </p:nvPicPr>
        <p:blipFill>
          <a:blip r:embed="rId10"/>
          <a:stretch>
            <a:fillRect/>
          </a:stretch>
        </p:blipFill>
        <p:spPr>
          <a:xfrm>
            <a:off x="7304593" y="5183185"/>
            <a:ext cx="149230" cy="149230"/>
          </a:xfrm>
          <a:prstGeom prst="rect">
            <a:avLst/>
          </a:prstGeom>
        </p:spPr>
      </p:pic>
      <p:sp>
        <p:nvSpPr>
          <p:cNvPr id="54" name="Text 42"/>
          <p:cNvSpPr txBox="1"/>
          <p:nvPr/>
        </p:nvSpPr>
        <p:spPr>
          <a:xfrm>
            <a:off x="7653528" y="4956048"/>
            <a:ext cx="3840480" cy="603504"/>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紹介・問い合わせが増える“仕組み”が残る</a:t>
            </a:r>
            <a:endParaRPr lang="en-US" sz="1200" dirty="0"/>
          </a:p>
        </p:txBody>
      </p:sp>
      <p:sp>
        <p:nvSpPr>
          <p:cNvPr id="55" name="Text 43"/>
          <p:cNvSpPr txBox="1"/>
          <p:nvPr/>
        </p:nvSpPr>
        <p:spPr>
          <a:xfrm>
            <a:off x="548640" y="5715000"/>
            <a:ext cx="11094415" cy="640080"/>
          </a:xfrm>
          <a:prstGeom prst="rect">
            <a:avLst/>
          </a:prstGeom>
          <a:noFill/>
          <a:ln/>
        </p:spPr>
        <p:txBody>
          <a:bodyPr wrap="square" lIns="0" tIns="0" rIns="0" bIns="0" rtlCol="0" anchor="ctr"/>
          <a:lstStyle/>
          <a:p>
            <a:pPr algn="ctr" indent="0" marL="0">
              <a:buNone/>
            </a:pPr>
            <a:r>
              <a:rPr lang="en-US" sz="1400" b="1" dirty="0">
                <a:solidFill>
                  <a:srgbClr val="E07B39"/>
                </a:solidFill>
                <a:latin typeface="Meiryo UI" pitchFamily="34" charset="0"/>
                <a:ea typeface="Meiryo UI" pitchFamily="34" charset="-122"/>
                <a:cs typeface="Meiryo UI" pitchFamily="34" charset="-120"/>
              </a:rPr>
              <a:t>動画は“置く”ものではなく“使う”もの。</a:t>
            </a:r>
            <a:endParaRPr lang="en-US" sz="1400" dirty="0"/>
          </a:p>
          <a:p>
            <a:pPr algn="ctr" indent="0" marL="0">
              <a:buNone/>
            </a:pPr>
            <a:r>
              <a:rPr lang="en-US" sz="1400" dirty="0">
                <a:solidFill>
                  <a:srgbClr val="2A3332"/>
                </a:solidFill>
                <a:latin typeface="Meiryo UI" pitchFamily="34" charset="0"/>
                <a:ea typeface="Meiryo UI" pitchFamily="34" charset="-122"/>
                <a:cs typeface="Meiryo UI" pitchFamily="34" charset="-120"/>
              </a:rPr>
              <a:t>成果を分けるのは出来栄えではなく、「誰に・いつ・どう届け・どう改善するか」という運用設計です。</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02｜WHY MiTok / WHY US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なぜ「動画 × 生成AI（MiTok）」で、なぜアイドマなのか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600" b="1" dirty="0">
                <a:solidFill>
                  <a:srgbClr val="E07B39"/>
                </a:solidFill>
                <a:latin typeface="Meiryo UI" pitchFamily="34" charset="0"/>
                <a:ea typeface="Meiryo UI" pitchFamily="34" charset="-122"/>
                <a:cs typeface="Meiryo UI" pitchFamily="34" charset="-120"/>
              </a:rPr>
              <a:t>Why MiTok</a:t>
            </a:r>
            <a:endParaRPr lang="en-US" sz="1600" dirty="0"/>
          </a:p>
        </p:txBody>
      </p:sp>
      <p:sp>
        <p:nvSpPr>
          <p:cNvPr id="7" name="Shape 5"/>
          <p:cNvSpPr/>
          <p:nvPr/>
        </p:nvSpPr>
        <p:spPr>
          <a:xfrm>
            <a:off x="548640" y="1874520"/>
            <a:ext cx="548640" cy="548640"/>
          </a:xfrm>
          <a:prstGeom prst="ellipse">
            <a:avLst/>
          </a:prstGeom>
          <a:solidFill>
            <a:srgbClr val="E7F2EF"/>
          </a:solidFill>
          <a:ln w="12700">
            <a:solidFill>
              <a:srgbClr val="E7F2EF"/>
            </a:solidFill>
            <a:prstDash val="solid"/>
          </a:ln>
        </p:spPr>
      </p:sp>
      <p:pic>
        <p:nvPicPr>
          <p:cNvPr id="8" name="Image 0" descr="preencoded.png">    </p:cNvPr>
          <p:cNvPicPr>
            <a:picLocks noChangeAspect="1"/>
          </p:cNvPicPr>
          <p:nvPr/>
        </p:nvPicPr>
        <p:blipFill>
          <a:blip r:embed="rId1"/>
          <a:stretch>
            <a:fillRect/>
          </a:stretch>
        </p:blipFill>
        <p:spPr>
          <a:xfrm>
            <a:off x="691286" y="2017166"/>
            <a:ext cx="263347" cy="263347"/>
          </a:xfrm>
          <a:prstGeom prst="rect">
            <a:avLst/>
          </a:prstGeom>
        </p:spPr>
      </p:pic>
      <p:sp>
        <p:nvSpPr>
          <p:cNvPr id="9" name="Text 6"/>
          <p:cNvSpPr txBox="1"/>
          <p:nvPr/>
        </p:nvSpPr>
        <p:spPr>
          <a:xfrm>
            <a:off x="1280160" y="182880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AI掛け合い（対話型）の動画</a:t>
            </a:r>
            <a:endParaRPr lang="en-US" sz="1400" dirty="0"/>
          </a:p>
        </p:txBody>
      </p:sp>
      <p:sp>
        <p:nvSpPr>
          <p:cNvPr id="10" name="Text 7"/>
          <p:cNvSpPr txBox="1"/>
          <p:nvPr/>
        </p:nvSpPr>
        <p:spPr>
          <a:xfrm>
            <a:off x="1280160" y="215798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「ご家族の疑問」×「専門スタッフの回答」形式で、医療保険・同意書など難しい制度も自然に理解できる</a:t>
            </a:r>
            <a:endParaRPr lang="en-US" sz="1150" dirty="0"/>
          </a:p>
        </p:txBody>
      </p:sp>
      <p:sp>
        <p:nvSpPr>
          <p:cNvPr id="11" name="Shape 8"/>
          <p:cNvSpPr/>
          <p:nvPr/>
        </p:nvSpPr>
        <p:spPr>
          <a:xfrm>
            <a:off x="548640" y="2743200"/>
            <a:ext cx="548640" cy="548640"/>
          </a:xfrm>
          <a:prstGeom prst="ellipse">
            <a:avLst/>
          </a:prstGeom>
          <a:solidFill>
            <a:srgbClr val="E7F2EF"/>
          </a:solidFill>
          <a:ln w="12700">
            <a:solidFill>
              <a:srgbClr val="E7F2EF"/>
            </a:solidFill>
            <a:prstDash val="solid"/>
          </a:ln>
        </p:spPr>
      </p:sp>
      <p:pic>
        <p:nvPicPr>
          <p:cNvPr id="12" name="Image 1" descr="preencoded.png">    </p:cNvPr>
          <p:cNvPicPr>
            <a:picLocks noChangeAspect="1"/>
          </p:cNvPicPr>
          <p:nvPr/>
        </p:nvPicPr>
        <p:blipFill>
          <a:blip r:embed="rId2"/>
          <a:stretch>
            <a:fillRect/>
          </a:stretch>
        </p:blipFill>
        <p:spPr>
          <a:xfrm>
            <a:off x="691286" y="2885846"/>
            <a:ext cx="263347" cy="263347"/>
          </a:xfrm>
          <a:prstGeom prst="rect">
            <a:avLst/>
          </a:prstGeom>
        </p:spPr>
      </p:pic>
      <p:sp>
        <p:nvSpPr>
          <p:cNvPr id="13" name="Text 9"/>
          <p:cNvSpPr txBox="1"/>
          <p:nvPr/>
        </p:nvSpPr>
        <p:spPr>
          <a:xfrm>
            <a:off x="1280160" y="269748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短期間・低コストで量産</a:t>
            </a:r>
            <a:endParaRPr lang="en-US" sz="1400" dirty="0"/>
          </a:p>
        </p:txBody>
      </p:sp>
      <p:sp>
        <p:nvSpPr>
          <p:cNvPr id="14" name="Text 10"/>
          <p:cNvSpPr txBox="1"/>
          <p:nvPr/>
        </p:nvSpPr>
        <p:spPr>
          <a:xfrm>
            <a:off x="1280160" y="302666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ケアマネ向け／施設向け／ご家族向け／求人向けなど、ターゲット別に作り分けられる</a:t>
            </a:r>
            <a:endParaRPr lang="en-US" sz="1150" dirty="0"/>
          </a:p>
        </p:txBody>
      </p:sp>
      <p:sp>
        <p:nvSpPr>
          <p:cNvPr id="15" name="Shape 11"/>
          <p:cNvSpPr/>
          <p:nvPr/>
        </p:nvSpPr>
        <p:spPr>
          <a:xfrm>
            <a:off x="548640" y="3611880"/>
            <a:ext cx="548640" cy="548640"/>
          </a:xfrm>
          <a:prstGeom prst="ellipse">
            <a:avLst/>
          </a:prstGeom>
          <a:solidFill>
            <a:srgbClr val="E7F2EF"/>
          </a:solidFill>
          <a:ln w="12700">
            <a:solidFill>
              <a:srgbClr val="E7F2EF"/>
            </a:solidFill>
            <a:prstDash val="solid"/>
          </a:ln>
        </p:spPr>
      </p:sp>
      <p:pic>
        <p:nvPicPr>
          <p:cNvPr id="16" name="Image 2" descr="preencoded.png">    </p:cNvPr>
          <p:cNvPicPr>
            <a:picLocks noChangeAspect="1"/>
          </p:cNvPicPr>
          <p:nvPr/>
        </p:nvPicPr>
        <p:blipFill>
          <a:blip r:embed="rId3"/>
          <a:stretch>
            <a:fillRect/>
          </a:stretch>
        </p:blipFill>
        <p:spPr>
          <a:xfrm>
            <a:off x="691286" y="3754526"/>
            <a:ext cx="263347" cy="263347"/>
          </a:xfrm>
          <a:prstGeom prst="rect">
            <a:avLst/>
          </a:prstGeom>
        </p:spPr>
      </p:pic>
      <p:sp>
        <p:nvSpPr>
          <p:cNvPr id="17" name="Text 12"/>
          <p:cNvSpPr txBox="1"/>
          <p:nvPr/>
        </p:nvSpPr>
        <p:spPr>
          <a:xfrm>
            <a:off x="1280160" y="356616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修正・差し替えが容易</a:t>
            </a:r>
            <a:endParaRPr lang="en-US" sz="1400" dirty="0"/>
          </a:p>
        </p:txBody>
      </p:sp>
      <p:sp>
        <p:nvSpPr>
          <p:cNvPr id="18" name="Text 13"/>
          <p:cNvSpPr txBox="1"/>
          <p:nvPr/>
        </p:nvSpPr>
        <p:spPr>
          <a:xfrm>
            <a:off x="1280160" y="389534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制度改定・料金変更・キャンペーン内容の変更にもすぐ対応できる</a:t>
            </a:r>
            <a:endParaRPr lang="en-US" sz="1150" dirty="0"/>
          </a:p>
        </p:txBody>
      </p:sp>
      <p:sp>
        <p:nvSpPr>
          <p:cNvPr id="19" name="Shape 14"/>
          <p:cNvSpPr/>
          <p:nvPr/>
        </p:nvSpPr>
        <p:spPr>
          <a:xfrm>
            <a:off x="548640" y="4480560"/>
            <a:ext cx="548640" cy="548640"/>
          </a:xfrm>
          <a:prstGeom prst="ellipse">
            <a:avLst/>
          </a:prstGeom>
          <a:solidFill>
            <a:srgbClr val="E7F2EF"/>
          </a:solidFill>
          <a:ln w="12700">
            <a:solidFill>
              <a:srgbClr val="E7F2EF"/>
            </a:solidFill>
            <a:prstDash val="solid"/>
          </a:ln>
        </p:spPr>
      </p:sp>
      <p:pic>
        <p:nvPicPr>
          <p:cNvPr id="20" name="Image 3" descr="preencoded.png">    </p:cNvPr>
          <p:cNvPicPr>
            <a:picLocks noChangeAspect="1"/>
          </p:cNvPicPr>
          <p:nvPr/>
        </p:nvPicPr>
        <p:blipFill>
          <a:blip r:embed="rId4"/>
          <a:stretch>
            <a:fillRect/>
          </a:stretch>
        </p:blipFill>
        <p:spPr>
          <a:xfrm>
            <a:off x="691286" y="4623206"/>
            <a:ext cx="263347" cy="263347"/>
          </a:xfrm>
          <a:prstGeom prst="rect">
            <a:avLst/>
          </a:prstGeom>
        </p:spPr>
      </p:pic>
      <p:sp>
        <p:nvSpPr>
          <p:cNvPr id="21" name="Text 15"/>
          <p:cNvSpPr txBox="1"/>
          <p:nvPr/>
        </p:nvSpPr>
        <p:spPr>
          <a:xfrm>
            <a:off x="1280160" y="443484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二次利用しやすい</a:t>
            </a:r>
            <a:endParaRPr lang="en-US" sz="1400" dirty="0"/>
          </a:p>
        </p:txBody>
      </p:sp>
      <p:sp>
        <p:nvSpPr>
          <p:cNvPr id="22" name="Text 16"/>
          <p:cNvSpPr txBox="1"/>
          <p:nvPr/>
        </p:nvSpPr>
        <p:spPr>
          <a:xfrm>
            <a:off x="1280160" y="476402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HP・SNS・メール・LINE・QR付きチラシ・施設での上映など、あらゆる接点で使い回せる</a:t>
            </a:r>
            <a:endParaRPr lang="en-US" sz="1150" dirty="0"/>
          </a:p>
        </p:txBody>
      </p:sp>
      <p:sp>
        <p:nvSpPr>
          <p:cNvPr id="23" name="Shape 17"/>
          <p:cNvSpPr/>
          <p:nvPr/>
        </p:nvSpPr>
        <p:spPr>
          <a:xfrm>
            <a:off x="548640" y="5349240"/>
            <a:ext cx="548640" cy="548640"/>
          </a:xfrm>
          <a:prstGeom prst="ellipse">
            <a:avLst/>
          </a:prstGeom>
          <a:solidFill>
            <a:srgbClr val="E7F2EF"/>
          </a:solidFill>
          <a:ln w="12700">
            <a:solidFill>
              <a:srgbClr val="E7F2EF"/>
            </a:solidFill>
            <a:prstDash val="solid"/>
          </a:ln>
        </p:spPr>
      </p:sp>
      <p:pic>
        <p:nvPicPr>
          <p:cNvPr id="24" name="Image 4" descr="preencoded.png">    </p:cNvPr>
          <p:cNvPicPr>
            <a:picLocks noChangeAspect="1"/>
          </p:cNvPicPr>
          <p:nvPr/>
        </p:nvPicPr>
        <p:blipFill>
          <a:blip r:embed="rId5"/>
          <a:stretch>
            <a:fillRect/>
          </a:stretch>
        </p:blipFill>
        <p:spPr>
          <a:xfrm>
            <a:off x="691286" y="5491886"/>
            <a:ext cx="263347" cy="263347"/>
          </a:xfrm>
          <a:prstGeom prst="rect">
            <a:avLst/>
          </a:prstGeom>
        </p:spPr>
      </p:pic>
      <p:sp>
        <p:nvSpPr>
          <p:cNvPr id="25" name="Text 18"/>
          <p:cNvSpPr txBox="1"/>
          <p:nvPr/>
        </p:nvSpPr>
        <p:spPr>
          <a:xfrm>
            <a:off x="1280160" y="5303520"/>
            <a:ext cx="603504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撮影不要</a:t>
            </a:r>
            <a:endParaRPr lang="en-US" sz="1400" dirty="0"/>
          </a:p>
        </p:txBody>
      </p:sp>
      <p:sp>
        <p:nvSpPr>
          <p:cNvPr id="26" name="Text 19"/>
          <p:cNvSpPr txBox="1"/>
          <p:nvPr/>
        </p:nvSpPr>
        <p:spPr>
          <a:xfrm>
            <a:off x="1280160" y="5632704"/>
            <a:ext cx="6035040" cy="475488"/>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施術中の利用者様を撮影せずに済み、プライバシー配慮と現場負担の軽減を両立</a:t>
            </a:r>
            <a:endParaRPr lang="en-US" sz="1150" dirty="0"/>
          </a:p>
        </p:txBody>
      </p:sp>
      <p:sp>
        <p:nvSpPr>
          <p:cNvPr id="27" name="Shape 20"/>
          <p:cNvSpPr/>
          <p:nvPr/>
        </p:nvSpPr>
        <p:spPr>
          <a:xfrm>
            <a:off x="7680960" y="1371600"/>
            <a:ext cx="3962095" cy="4892040"/>
          </a:xfrm>
          <a:prstGeom prst="roundRect">
            <a:avLst>
              <a:gd name="adj" fmla="val 2769"/>
            </a:avLst>
          </a:prstGeom>
          <a:solidFill>
            <a:srgbClr val="163F3D"/>
          </a:solidFill>
          <a:ln w="12700">
            <a:solidFill>
              <a:srgbClr val="163F3D"/>
            </a:solidFill>
            <a:prstDash val="solid"/>
          </a:ln>
        </p:spPr>
      </p:sp>
      <p:sp>
        <p:nvSpPr>
          <p:cNvPr id="28" name="Text 21"/>
          <p:cNvSpPr txBox="1"/>
          <p:nvPr/>
        </p:nvSpPr>
        <p:spPr>
          <a:xfrm>
            <a:off x="8001000" y="1600200"/>
            <a:ext cx="3322015" cy="365760"/>
          </a:xfrm>
          <a:prstGeom prst="rect">
            <a:avLst/>
          </a:prstGeom>
          <a:noFill/>
          <a:ln/>
        </p:spPr>
        <p:txBody>
          <a:bodyPr wrap="square" lIns="0" tIns="0" rIns="0" bIns="0" rtlCol="0" anchor="t"/>
          <a:lstStyle/>
          <a:p>
            <a:pPr indent="0" marL="0">
              <a:buNone/>
            </a:pPr>
            <a:r>
              <a:rPr lang="en-US" sz="1600" b="1" dirty="0">
                <a:solidFill>
                  <a:srgbClr val="F2A673"/>
                </a:solidFill>
                <a:latin typeface="Meiryo UI" pitchFamily="34" charset="0"/>
                <a:ea typeface="Meiryo UI" pitchFamily="34" charset="-122"/>
                <a:cs typeface="Meiryo UI" pitchFamily="34" charset="-120"/>
              </a:rPr>
              <a:t>Why アイドマ</a:t>
            </a:r>
            <a:endParaRPr lang="en-US" sz="1600" dirty="0"/>
          </a:p>
        </p:txBody>
      </p:sp>
      <p:sp>
        <p:nvSpPr>
          <p:cNvPr id="29" name="Shape 22"/>
          <p:cNvSpPr/>
          <p:nvPr/>
        </p:nvSpPr>
        <p:spPr>
          <a:xfrm>
            <a:off x="8001000" y="2148840"/>
            <a:ext cx="411480" cy="411480"/>
          </a:xfrm>
          <a:prstGeom prst="ellipse">
            <a:avLst/>
          </a:prstGeom>
          <a:solidFill>
            <a:srgbClr val="E07B39"/>
          </a:solidFill>
          <a:ln w="12700">
            <a:solidFill>
              <a:srgbClr val="E07B39"/>
            </a:solidFill>
            <a:prstDash val="solid"/>
          </a:ln>
        </p:spPr>
      </p:sp>
      <p:sp>
        <p:nvSpPr>
          <p:cNvPr id="30" name="Text 23"/>
          <p:cNvSpPr txBox="1"/>
          <p:nvPr/>
        </p:nvSpPr>
        <p:spPr>
          <a:xfrm>
            <a:off x="8001000" y="21488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1</a:t>
            </a:r>
            <a:endParaRPr lang="en-US" sz="1300" dirty="0"/>
          </a:p>
        </p:txBody>
      </p:sp>
      <p:sp>
        <p:nvSpPr>
          <p:cNvPr id="31" name="Text 24"/>
          <p:cNvSpPr txBox="1"/>
          <p:nvPr/>
        </p:nvSpPr>
        <p:spPr>
          <a:xfrm>
            <a:off x="8549640" y="214884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“売れる導線”の設計力</a:t>
            </a:r>
            <a:endParaRPr lang="en-US" sz="1400" dirty="0"/>
          </a:p>
        </p:txBody>
      </p:sp>
      <p:sp>
        <p:nvSpPr>
          <p:cNvPr id="32" name="Text 25"/>
          <p:cNvSpPr txBox="1"/>
          <p:nvPr/>
        </p:nvSpPr>
        <p:spPr>
          <a:xfrm>
            <a:off x="8549640" y="2606040"/>
            <a:ext cx="2819095" cy="777240"/>
          </a:xfrm>
          <a:prstGeom prst="rect">
            <a:avLst/>
          </a:prstGeom>
          <a:noFill/>
          <a:ln/>
        </p:spPr>
        <p:txBody>
          <a:bodyPr wrap="square" lIns="0" tIns="0" rIns="0" bIns="0" rtlCol="0" anchor="t"/>
          <a:lstStyle/>
          <a:p>
            <a:pPr indent="0" marL="0">
              <a:buNone/>
            </a:pPr>
            <a:r>
              <a:rPr lang="en-US" sz="1150" dirty="0">
                <a:solidFill>
                  <a:srgbClr val="D6E6E3"/>
                </a:solidFill>
                <a:latin typeface="Meiryo UI" pitchFamily="34" charset="0"/>
                <a:ea typeface="Meiryo UI" pitchFamily="34" charset="-122"/>
                <a:cs typeface="Meiryo UI" pitchFamily="34" charset="-120"/>
              </a:rPr>
              <a:t>営業・マーケティング支援を本業とする会社として、動画を「商談・紹介」につなげる設計からご支援</a:t>
            </a:r>
            <a:endParaRPr lang="en-US" sz="1150" dirty="0"/>
          </a:p>
        </p:txBody>
      </p:sp>
      <p:sp>
        <p:nvSpPr>
          <p:cNvPr id="33" name="Shape 26"/>
          <p:cNvSpPr/>
          <p:nvPr/>
        </p:nvSpPr>
        <p:spPr>
          <a:xfrm>
            <a:off x="8001000" y="3474720"/>
            <a:ext cx="411480" cy="411480"/>
          </a:xfrm>
          <a:prstGeom prst="ellipse">
            <a:avLst/>
          </a:prstGeom>
          <a:solidFill>
            <a:srgbClr val="E07B39"/>
          </a:solidFill>
          <a:ln w="12700">
            <a:solidFill>
              <a:srgbClr val="E07B39"/>
            </a:solidFill>
            <a:prstDash val="solid"/>
          </a:ln>
        </p:spPr>
      </p:sp>
      <p:sp>
        <p:nvSpPr>
          <p:cNvPr id="34" name="Text 27"/>
          <p:cNvSpPr txBox="1"/>
          <p:nvPr/>
        </p:nvSpPr>
        <p:spPr>
          <a:xfrm>
            <a:off x="8001000" y="34747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2</a:t>
            </a:r>
            <a:endParaRPr lang="en-US" sz="1300" dirty="0"/>
          </a:p>
        </p:txBody>
      </p:sp>
      <p:sp>
        <p:nvSpPr>
          <p:cNvPr id="35" name="Text 28"/>
          <p:cNvSpPr txBox="1"/>
          <p:nvPr/>
        </p:nvSpPr>
        <p:spPr>
          <a:xfrm>
            <a:off x="8549640" y="347472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プッシュ×プルをワンストップ</a:t>
            </a:r>
            <a:endParaRPr lang="en-US" sz="1400" dirty="0"/>
          </a:p>
        </p:txBody>
      </p:sp>
      <p:sp>
        <p:nvSpPr>
          <p:cNvPr id="36" name="Text 29"/>
          <p:cNvSpPr txBox="1"/>
          <p:nvPr/>
        </p:nvSpPr>
        <p:spPr>
          <a:xfrm>
            <a:off x="8549640" y="3931920"/>
            <a:ext cx="2819095" cy="777240"/>
          </a:xfrm>
          <a:prstGeom prst="rect">
            <a:avLst/>
          </a:prstGeom>
          <a:noFill/>
          <a:ln/>
        </p:spPr>
        <p:txBody>
          <a:bodyPr wrap="square" lIns="0" tIns="0" rIns="0" bIns="0" rtlCol="0" anchor="t"/>
          <a:lstStyle/>
          <a:p>
            <a:pPr indent="0" marL="0">
              <a:buNone/>
            </a:pPr>
            <a:r>
              <a:rPr lang="en-US" sz="1150" dirty="0">
                <a:solidFill>
                  <a:srgbClr val="D6E6E3"/>
                </a:solidFill>
                <a:latin typeface="Meiryo UI" pitchFamily="34" charset="0"/>
                <a:ea typeface="Meiryo UI" pitchFamily="34" charset="-122"/>
                <a:cs typeface="Meiryo UI" pitchFamily="34" charset="-120"/>
              </a:rPr>
              <a:t>営業アプローチとWebマーケティングを分断せず、一体で設計・運用</a:t>
            </a:r>
            <a:endParaRPr lang="en-US" sz="1150" dirty="0"/>
          </a:p>
        </p:txBody>
      </p:sp>
      <p:sp>
        <p:nvSpPr>
          <p:cNvPr id="37" name="Shape 30"/>
          <p:cNvSpPr/>
          <p:nvPr/>
        </p:nvSpPr>
        <p:spPr>
          <a:xfrm>
            <a:off x="8001000" y="4800600"/>
            <a:ext cx="411480" cy="411480"/>
          </a:xfrm>
          <a:prstGeom prst="ellipse">
            <a:avLst/>
          </a:prstGeom>
          <a:solidFill>
            <a:srgbClr val="E07B39"/>
          </a:solidFill>
          <a:ln w="12700">
            <a:solidFill>
              <a:srgbClr val="E07B39"/>
            </a:solidFill>
            <a:prstDash val="solid"/>
          </a:ln>
        </p:spPr>
      </p:sp>
      <p:sp>
        <p:nvSpPr>
          <p:cNvPr id="38" name="Text 31"/>
          <p:cNvSpPr txBox="1"/>
          <p:nvPr/>
        </p:nvSpPr>
        <p:spPr>
          <a:xfrm>
            <a:off x="8001000" y="48006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3</a:t>
            </a:r>
            <a:endParaRPr lang="en-US" sz="1300" dirty="0"/>
          </a:p>
        </p:txBody>
      </p:sp>
      <p:sp>
        <p:nvSpPr>
          <p:cNvPr id="39" name="Text 32"/>
          <p:cNvSpPr txBox="1"/>
          <p:nvPr/>
        </p:nvSpPr>
        <p:spPr>
          <a:xfrm>
            <a:off x="8549640" y="480060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貴社の強みをスケール</a:t>
            </a:r>
            <a:endParaRPr lang="en-US" sz="1400" dirty="0"/>
          </a:p>
        </p:txBody>
      </p:sp>
      <p:sp>
        <p:nvSpPr>
          <p:cNvPr id="40" name="Text 33"/>
          <p:cNvSpPr txBox="1"/>
          <p:nvPr/>
        </p:nvSpPr>
        <p:spPr>
          <a:xfrm>
            <a:off x="8549640" y="5257800"/>
            <a:ext cx="2819095" cy="777240"/>
          </a:xfrm>
          <a:prstGeom prst="rect">
            <a:avLst/>
          </a:prstGeom>
          <a:noFill/>
          <a:ln/>
        </p:spPr>
        <p:txBody>
          <a:bodyPr wrap="square" lIns="0" tIns="0" rIns="0" bIns="0" rtlCol="0" anchor="t"/>
          <a:lstStyle/>
          <a:p>
            <a:pPr indent="0" marL="0">
              <a:buNone/>
            </a:pPr>
            <a:r>
              <a:rPr lang="en-US" sz="1150" dirty="0">
                <a:solidFill>
                  <a:srgbClr val="D6E6E3"/>
                </a:solidFill>
                <a:latin typeface="Meiryo UI" pitchFamily="34" charset="0"/>
                <a:ea typeface="Meiryo UI" pitchFamily="34" charset="-122"/>
                <a:cs typeface="Meiryo UI" pitchFamily="34" charset="-120"/>
              </a:rPr>
              <a:t>「地域密着」「深い顧客関係」という貴社の資産を、動画で広げることに主眼を置く</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プッシュ型営業：紹介元と決定者の両方へ“先回り”して届ける</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訪問マッサージの利用者獲得は「紹介元（ケアマネ・施設・医師）」と「決定者（ご家族）」の2層構造です。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8</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286000"/>
                <a:gridCol w="2926080"/>
                <a:gridCol w="3291840"/>
                <a:gridCol w="2587752"/>
              </a:tblGrid>
              <a:tr h="411480">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ターゲット</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相手の本音・関心</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届ける動画テーマ（例）</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主なチャネル</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居宅介護支援事業所</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（ケアマネジャー）</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紹介してトラブルにならないか／手続きが面倒ではないか</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ケアマネさんのための3分でわかる訪問マッサージ｜紹介から開始までの流れ</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訪問前メール／FAX（QR付）／フォーム営業／訪問後フォロー</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介護施設</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（有料老人ホーム・サ高住等）</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施設の業務負担が増えないか／入居者満足につながるか</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施設様向け｜導入で入居者様に起きる変化と施設側の手間</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施設長宛DM（QR付）／フォーム営業／説明会での上映</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医療機関</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（医師・地域連携室）</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制度的に問題ないか／患者の状態を共有してくれるか</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訪問マッサージの同意書と報告体制について</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地域連携室への郵送・メール／訪問時の案内</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既存の保険顧客</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（契約者様・ご家族）</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CEBDD"/>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親の足腰が弱ってきた／どこに相談すればいいか分からない</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CEBDD"/>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保険のみらい設計が、ご自宅でのケアもお手伝いしています</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CEBDD"/>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保険更新・点検時の案内／メルマガ・LINE／郵送物同封</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CEBDD"/>
                    </a:solidFill>
                  </a:tcPr>
                </a:tc>
              </a:tr>
              <a:tr h="658368">
                <a:tc>
                  <a:txBody>
                    <a:bodyPr/>
                    <a:lstStyle/>
                    <a:p>
                      <a:pPr indent="0" marL="0">
                        <a:buNone/>
                      </a:pPr>
                      <a:r>
                        <a:rPr lang="en-US" sz="1100" b="1" dirty="0">
                          <a:solidFill>
                            <a:srgbClr val="1F5E5B"/>
                          </a:solidFill>
                          <a:latin typeface="Meiryo UI" pitchFamily="34" charset="0"/>
                          <a:ea typeface="Meiryo UI" pitchFamily="34" charset="-122"/>
                          <a:cs typeface="Meiryo UI" pitchFamily="34" charset="-120"/>
                        </a:rPr>
                        <a:t>ご家族</a:t>
                      </a:r>
                      <a:endParaRPr lang="en-US" sz="1100" dirty="0">
                        <a:latin typeface="Meiryo UI" charset="0"/>
                        <a:ea typeface="Meiryo UI" charset="0"/>
                        <a:cs typeface="Meiryo UI" charset="0"/>
                      </a:endParaRPr>
                    </a:p>
                    <a:p>
                      <a:pPr indent="0" marL="0">
                        <a:buNone/>
                      </a:pPr>
                      <a:r>
                        <a:rPr lang="en-US" sz="1100" b="1" dirty="0">
                          <a:solidFill>
                            <a:srgbClr val="1F5E5B"/>
                          </a:solidFill>
                          <a:latin typeface="Meiryo UI" pitchFamily="34" charset="0"/>
                          <a:ea typeface="Meiryo UI" pitchFamily="34" charset="-122"/>
                          <a:cs typeface="Meiryo UI" pitchFamily="34" charset="-120"/>
                        </a:rPr>
                        <a:t>（直接の問い合わせ者）</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費用はいくら？／本当に保険が使える？／どんな人が来る？</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よくあるご質問にスタッフがお答えします</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00" dirty="0">
                          <a:solidFill>
                            <a:srgbClr val="2A3332"/>
                          </a:solidFill>
                          <a:latin typeface="Meiryo UI" pitchFamily="34" charset="0"/>
                          <a:ea typeface="Meiryo UI" pitchFamily="34" charset="-122"/>
                          <a:cs typeface="Meiryo UI" pitchFamily="34" charset="-120"/>
                        </a:rPr>
                        <a:t>問い合わせ後の自動返信／初回面談前の事前送付</a:t>
                      </a:r>
                      <a:endParaRPr lang="en-US" sz="11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788152"/>
            <a:ext cx="457200" cy="457200"/>
          </a:xfrm>
          <a:prstGeom prst="ellipse">
            <a:avLst/>
          </a:prstGeom>
          <a:solidFill>
            <a:srgbClr val="E07B39"/>
          </a:solidFill>
          <a:ln w="12700">
            <a:solidFill>
              <a:srgbClr val="E07B39"/>
            </a:solidFill>
            <a:prstDash val="solid"/>
          </a:ln>
        </p:spPr>
      </p:sp>
      <p:pic>
        <p:nvPicPr>
          <p:cNvPr id="9" name="Image 0" descr="preencoded.png">    </p:cNvPr>
          <p:cNvPicPr>
            <a:picLocks noChangeAspect="1"/>
          </p:cNvPicPr>
          <p:nvPr/>
        </p:nvPicPr>
        <p:blipFill>
          <a:blip r:embed="rId1"/>
          <a:stretch>
            <a:fillRect/>
          </a:stretch>
        </p:blipFill>
        <p:spPr>
          <a:xfrm>
            <a:off x="667512" y="5907024"/>
            <a:ext cx="219456" cy="219456"/>
          </a:xfrm>
          <a:prstGeom prst="rect">
            <a:avLst/>
          </a:prstGeom>
        </p:spPr>
      </p:pic>
      <p:sp>
        <p:nvSpPr>
          <p:cNvPr id="10" name="Text 6"/>
          <p:cNvSpPr txBox="1"/>
          <p:nvPr/>
        </p:nvSpPr>
        <p:spPr>
          <a:xfrm>
            <a:off x="1143000" y="5715000"/>
            <a:ext cx="10500055" cy="603504"/>
          </a:xfrm>
          <a:prstGeom prst="rect">
            <a:avLst/>
          </a:prstGeom>
          <a:noFill/>
          <a:ln/>
        </p:spPr>
        <p:txBody>
          <a:bodyPr wrap="square" lIns="0" tIns="0" rIns="0" bIns="0" rtlCol="0" anchor="ctr"/>
          <a:lstStyle/>
          <a:p>
            <a:pPr indent="0" marL="0">
              <a:buNone/>
            </a:pPr>
            <a:r>
              <a:rPr lang="en-US" sz="1150" b="1" dirty="0">
                <a:solidFill>
                  <a:srgbClr val="E07B39"/>
                </a:solidFill>
                <a:latin typeface="Meiryo UI" pitchFamily="34" charset="0"/>
                <a:ea typeface="Meiryo UI" pitchFamily="34" charset="-122"/>
                <a:cs typeface="Meiryo UI" pitchFamily="34" charset="-120"/>
              </a:rPr>
              <a:t>最大の差別化ポイント：</a:t>
            </a:r>
            <a:pPr indent="0" marL="0">
              <a:buNone/>
            </a:pPr>
            <a:r>
              <a:rPr lang="en-US" sz="1150" dirty="0">
                <a:solidFill>
                  <a:srgbClr val="2A3332"/>
                </a:solidFill>
                <a:latin typeface="Meiryo UI" pitchFamily="34" charset="0"/>
                <a:ea typeface="Meiryo UI" pitchFamily="34" charset="-122"/>
                <a:cs typeface="Meiryo UI" pitchFamily="34" charset="-120"/>
              </a:rPr>
              <a:t>保険代理店として築いた既存顧客との信頼関係を、介護事業の案内に活かせるのは貴社だけです。（個人情報の利用目的の範囲内で実施するよう事前に設計します）</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営業プロセスへの組み込み：6つの接点すべてに動画を置く</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2331720"/>
            <a:ext cx="914400" cy="274320"/>
          </a:xfrm>
          <a:prstGeom prst="rect">
            <a:avLst/>
          </a:prstGeom>
          <a:noFill/>
          <a:ln/>
        </p:spPr>
        <p:txBody>
          <a:bodyPr wrap="square" lIns="0" tIns="0" rIns="0" bIns="0" rtlCol="0" anchor="t"/>
          <a:lstStyle/>
          <a:p>
            <a:pPr indent="0" marL="0">
              <a:buNone/>
            </a:pPr>
            <a:r>
              <a:rPr lang="en-US" sz="1050" b="1" dirty="0">
                <a:solidFill>
                  <a:srgbClr val="7A8584"/>
                </a:solidFill>
                <a:latin typeface="Meiryo UI" pitchFamily="34" charset="0"/>
                <a:ea typeface="Meiryo UI" pitchFamily="34" charset="-122"/>
                <a:cs typeface="Meiryo UI" pitchFamily="34" charset="-120"/>
              </a:rPr>
              <a:t>従来</a:t>
            </a:r>
            <a:endParaRPr lang="en-US" sz="1050" dirty="0"/>
          </a:p>
        </p:txBody>
      </p:sp>
      <p:sp>
        <p:nvSpPr>
          <p:cNvPr id="7" name="Shape 5"/>
          <p:cNvSpPr/>
          <p:nvPr/>
        </p:nvSpPr>
        <p:spPr>
          <a:xfrm>
            <a:off x="548640" y="1463040"/>
            <a:ext cx="1727149" cy="731520"/>
          </a:xfrm>
          <a:prstGeom prst="roundRect">
            <a:avLst>
              <a:gd name="adj" fmla="val 15000"/>
            </a:avLst>
          </a:prstGeom>
          <a:solidFill>
            <a:srgbClr val="1F5E5B"/>
          </a:solidFill>
          <a:ln w="12700">
            <a:solidFill>
              <a:srgbClr val="1F5E5B"/>
            </a:solidFill>
            <a:prstDash val="solid"/>
          </a:ln>
        </p:spPr>
      </p:sp>
      <p:sp>
        <p:nvSpPr>
          <p:cNvPr id="8" name="Text 6"/>
          <p:cNvSpPr txBox="1"/>
          <p:nvPr/>
        </p:nvSpPr>
        <p:spPr>
          <a:xfrm>
            <a:off x="548640"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1</a:t>
            </a:r>
            <a:endParaRPr lang="en-US" sz="1000" dirty="0"/>
          </a:p>
        </p:txBody>
      </p:sp>
      <p:sp>
        <p:nvSpPr>
          <p:cNvPr id="9" name="Text 7"/>
          <p:cNvSpPr txBox="1"/>
          <p:nvPr/>
        </p:nvSpPr>
        <p:spPr>
          <a:xfrm>
            <a:off x="548640"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初回接触</a:t>
            </a:r>
            <a:endParaRPr lang="en-US" sz="1400" dirty="0"/>
          </a:p>
        </p:txBody>
      </p:sp>
      <p:sp>
        <p:nvSpPr>
          <p:cNvPr id="10" name="Shape 8"/>
          <p:cNvSpPr/>
          <p:nvPr/>
        </p:nvSpPr>
        <p:spPr>
          <a:xfrm>
            <a:off x="548640" y="2606040"/>
            <a:ext cx="1727149" cy="731520"/>
          </a:xfrm>
          <a:prstGeom prst="roundRect">
            <a:avLst>
              <a:gd name="adj" fmla="val 15000"/>
            </a:avLst>
          </a:prstGeom>
          <a:solidFill>
            <a:srgbClr val="EEF0F0"/>
          </a:solidFill>
          <a:ln w="12700">
            <a:solidFill>
              <a:srgbClr val="EEF0F0"/>
            </a:solidFill>
            <a:prstDash val="solid"/>
          </a:ln>
        </p:spPr>
      </p:sp>
      <p:sp>
        <p:nvSpPr>
          <p:cNvPr id="11" name="Text 9"/>
          <p:cNvSpPr txBox="1"/>
          <p:nvPr/>
        </p:nvSpPr>
        <p:spPr>
          <a:xfrm>
            <a:off x="658368"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飛び込み・電話・FAX</a:t>
            </a:r>
            <a:endParaRPr lang="en-US" sz="1150" dirty="0"/>
          </a:p>
        </p:txBody>
      </p:sp>
      <p:pic>
        <p:nvPicPr>
          <p:cNvPr id="12" name="Image 0" descr="preencoded.png">    </p:cNvPr>
          <p:cNvPicPr>
            <a:picLocks noChangeAspect="1"/>
          </p:cNvPicPr>
          <p:nvPr/>
        </p:nvPicPr>
        <p:blipFill>
          <a:blip r:embed="rId1"/>
          <a:stretch>
            <a:fillRect/>
          </a:stretch>
        </p:blipFill>
        <p:spPr>
          <a:xfrm>
            <a:off x="1864309" y="3456432"/>
            <a:ext cx="256032" cy="256032"/>
          </a:xfrm>
          <a:prstGeom prst="rect">
            <a:avLst/>
          </a:prstGeom>
        </p:spPr>
      </p:pic>
      <p:sp>
        <p:nvSpPr>
          <p:cNvPr id="13" name="Shape 10"/>
          <p:cNvSpPr/>
          <p:nvPr/>
        </p:nvSpPr>
        <p:spPr>
          <a:xfrm>
            <a:off x="548640" y="3794760"/>
            <a:ext cx="1727149" cy="1417320"/>
          </a:xfrm>
          <a:prstGeom prst="roundRect">
            <a:avLst>
              <a:gd name="adj" fmla="val 7742"/>
            </a:avLst>
          </a:prstGeom>
          <a:solidFill>
            <a:srgbClr val="E7F2EF"/>
          </a:solidFill>
          <a:ln w="12700">
            <a:solidFill>
              <a:srgbClr val="E7F2EF"/>
            </a:solidFill>
            <a:prstDash val="solid"/>
          </a:ln>
        </p:spPr>
      </p:sp>
      <p:sp>
        <p:nvSpPr>
          <p:cNvPr id="14" name="Text 11"/>
          <p:cNvSpPr txBox="1"/>
          <p:nvPr/>
        </p:nvSpPr>
        <p:spPr>
          <a:xfrm>
            <a:off x="676656"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動画QR付きのFAX・DM・フォーム営業で「まず3分」</a:t>
            </a:r>
            <a:endParaRPr lang="en-US" sz="1200" dirty="0"/>
          </a:p>
        </p:txBody>
      </p:sp>
      <p:sp>
        <p:nvSpPr>
          <p:cNvPr id="15" name="Shape 12"/>
          <p:cNvSpPr/>
          <p:nvPr/>
        </p:nvSpPr>
        <p:spPr>
          <a:xfrm>
            <a:off x="548640" y="5349240"/>
            <a:ext cx="1727149" cy="566928"/>
          </a:xfrm>
          <a:prstGeom prst="roundRect">
            <a:avLst>
              <a:gd name="adj" fmla="val 19355"/>
            </a:avLst>
          </a:prstGeom>
          <a:solidFill>
            <a:srgbClr val="FCEBDD"/>
          </a:solidFill>
          <a:ln w="12700">
            <a:solidFill>
              <a:srgbClr val="FCEBDD"/>
            </a:solidFill>
            <a:prstDash val="solid"/>
          </a:ln>
        </p:spPr>
      </p:sp>
      <p:sp>
        <p:nvSpPr>
          <p:cNvPr id="16" name="Text 13"/>
          <p:cNvSpPr txBox="1"/>
          <p:nvPr/>
        </p:nvSpPr>
        <p:spPr>
          <a:xfrm>
            <a:off x="621792"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アポ獲得率UP</a:t>
            </a:r>
            <a:endParaRPr lang="en-US" sz="1200" dirty="0"/>
          </a:p>
        </p:txBody>
      </p:sp>
      <p:sp>
        <p:nvSpPr>
          <p:cNvPr id="17" name="Shape 14"/>
          <p:cNvSpPr/>
          <p:nvPr/>
        </p:nvSpPr>
        <p:spPr>
          <a:xfrm>
            <a:off x="2422093" y="1463040"/>
            <a:ext cx="1727149" cy="731520"/>
          </a:xfrm>
          <a:prstGeom prst="roundRect">
            <a:avLst>
              <a:gd name="adj" fmla="val 15000"/>
            </a:avLst>
          </a:prstGeom>
          <a:solidFill>
            <a:srgbClr val="1F5E5B"/>
          </a:solidFill>
          <a:ln w="12700">
            <a:solidFill>
              <a:srgbClr val="1F5E5B"/>
            </a:solidFill>
            <a:prstDash val="solid"/>
          </a:ln>
        </p:spPr>
      </p:sp>
      <p:sp>
        <p:nvSpPr>
          <p:cNvPr id="18" name="Text 15"/>
          <p:cNvSpPr txBox="1"/>
          <p:nvPr/>
        </p:nvSpPr>
        <p:spPr>
          <a:xfrm>
            <a:off x="2422093"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2</a:t>
            </a:r>
            <a:endParaRPr lang="en-US" sz="1000" dirty="0"/>
          </a:p>
        </p:txBody>
      </p:sp>
      <p:sp>
        <p:nvSpPr>
          <p:cNvPr id="19" name="Text 16"/>
          <p:cNvSpPr txBox="1"/>
          <p:nvPr/>
        </p:nvSpPr>
        <p:spPr>
          <a:xfrm>
            <a:off x="2422093"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訪問前</a:t>
            </a:r>
            <a:endParaRPr lang="en-US" sz="1400" dirty="0"/>
          </a:p>
        </p:txBody>
      </p:sp>
      <p:sp>
        <p:nvSpPr>
          <p:cNvPr id="20" name="Shape 17"/>
          <p:cNvSpPr/>
          <p:nvPr/>
        </p:nvSpPr>
        <p:spPr>
          <a:xfrm>
            <a:off x="2422093" y="2606040"/>
            <a:ext cx="1727149" cy="731520"/>
          </a:xfrm>
          <a:prstGeom prst="roundRect">
            <a:avLst>
              <a:gd name="adj" fmla="val 15000"/>
            </a:avLst>
          </a:prstGeom>
          <a:solidFill>
            <a:srgbClr val="EEF0F0"/>
          </a:solidFill>
          <a:ln w="12700">
            <a:solidFill>
              <a:srgbClr val="EEF0F0"/>
            </a:solidFill>
            <a:prstDash val="solid"/>
          </a:ln>
        </p:spPr>
      </p:sp>
      <p:sp>
        <p:nvSpPr>
          <p:cNvPr id="21" name="Text 18"/>
          <p:cNvSpPr txBox="1"/>
          <p:nvPr/>
        </p:nvSpPr>
        <p:spPr>
          <a:xfrm>
            <a:off x="2531821"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当日に一から説明</a:t>
            </a:r>
            <a:endParaRPr lang="en-US" sz="1150" dirty="0"/>
          </a:p>
        </p:txBody>
      </p:sp>
      <p:pic>
        <p:nvPicPr>
          <p:cNvPr id="22" name="Image 1" descr="preencoded.png">    </p:cNvPr>
          <p:cNvPicPr>
            <a:picLocks noChangeAspect="1"/>
          </p:cNvPicPr>
          <p:nvPr/>
        </p:nvPicPr>
        <p:blipFill>
          <a:blip r:embed="rId2"/>
          <a:stretch>
            <a:fillRect/>
          </a:stretch>
        </p:blipFill>
        <p:spPr>
          <a:xfrm>
            <a:off x="3737762" y="3456432"/>
            <a:ext cx="256032" cy="256032"/>
          </a:xfrm>
          <a:prstGeom prst="rect">
            <a:avLst/>
          </a:prstGeom>
        </p:spPr>
      </p:pic>
      <p:sp>
        <p:nvSpPr>
          <p:cNvPr id="23" name="Shape 19"/>
          <p:cNvSpPr/>
          <p:nvPr/>
        </p:nvSpPr>
        <p:spPr>
          <a:xfrm>
            <a:off x="2422093" y="3794760"/>
            <a:ext cx="1727149" cy="1417320"/>
          </a:xfrm>
          <a:prstGeom prst="roundRect">
            <a:avLst>
              <a:gd name="adj" fmla="val 7742"/>
            </a:avLst>
          </a:prstGeom>
          <a:solidFill>
            <a:srgbClr val="E7F2EF"/>
          </a:solidFill>
          <a:ln w="12700">
            <a:solidFill>
              <a:srgbClr val="E7F2EF"/>
            </a:solidFill>
            <a:prstDash val="solid"/>
          </a:ln>
        </p:spPr>
      </p:sp>
      <p:sp>
        <p:nvSpPr>
          <p:cNvPr id="24" name="Text 20"/>
          <p:cNvSpPr txBox="1"/>
          <p:nvPr/>
        </p:nvSpPr>
        <p:spPr>
          <a:xfrm>
            <a:off x="2550109"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訪問前に動画を送り、基本説明を事前に済ませる</a:t>
            </a:r>
            <a:endParaRPr lang="en-US" sz="1200" dirty="0"/>
          </a:p>
        </p:txBody>
      </p:sp>
      <p:sp>
        <p:nvSpPr>
          <p:cNvPr id="25" name="Shape 21"/>
          <p:cNvSpPr/>
          <p:nvPr/>
        </p:nvSpPr>
        <p:spPr>
          <a:xfrm>
            <a:off x="2422093" y="5349240"/>
            <a:ext cx="1727149" cy="566928"/>
          </a:xfrm>
          <a:prstGeom prst="roundRect">
            <a:avLst>
              <a:gd name="adj" fmla="val 19355"/>
            </a:avLst>
          </a:prstGeom>
          <a:solidFill>
            <a:srgbClr val="FCEBDD"/>
          </a:solidFill>
          <a:ln w="12700">
            <a:solidFill>
              <a:srgbClr val="FCEBDD"/>
            </a:solidFill>
            <a:prstDash val="solid"/>
          </a:ln>
        </p:spPr>
      </p:sp>
      <p:sp>
        <p:nvSpPr>
          <p:cNvPr id="26" name="Text 22"/>
          <p:cNvSpPr txBox="1"/>
          <p:nvPr/>
        </p:nvSpPr>
        <p:spPr>
          <a:xfrm>
            <a:off x="2495245"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面談化率UP</a:t>
            </a:r>
            <a:endParaRPr lang="en-US" sz="1200" dirty="0"/>
          </a:p>
        </p:txBody>
      </p:sp>
      <p:sp>
        <p:nvSpPr>
          <p:cNvPr id="27" name="Shape 23"/>
          <p:cNvSpPr/>
          <p:nvPr/>
        </p:nvSpPr>
        <p:spPr>
          <a:xfrm>
            <a:off x="4295546" y="1463040"/>
            <a:ext cx="1727149" cy="731520"/>
          </a:xfrm>
          <a:prstGeom prst="roundRect">
            <a:avLst>
              <a:gd name="adj" fmla="val 15000"/>
            </a:avLst>
          </a:prstGeom>
          <a:solidFill>
            <a:srgbClr val="1F5E5B"/>
          </a:solidFill>
          <a:ln w="12700">
            <a:solidFill>
              <a:srgbClr val="1F5E5B"/>
            </a:solidFill>
            <a:prstDash val="solid"/>
          </a:ln>
        </p:spPr>
      </p:sp>
      <p:sp>
        <p:nvSpPr>
          <p:cNvPr id="28" name="Text 24"/>
          <p:cNvSpPr txBox="1"/>
          <p:nvPr/>
        </p:nvSpPr>
        <p:spPr>
          <a:xfrm>
            <a:off x="4295546"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3</a:t>
            </a:r>
            <a:endParaRPr lang="en-US" sz="1000" dirty="0"/>
          </a:p>
        </p:txBody>
      </p:sp>
      <p:sp>
        <p:nvSpPr>
          <p:cNvPr id="29" name="Text 25"/>
          <p:cNvSpPr txBox="1"/>
          <p:nvPr/>
        </p:nvSpPr>
        <p:spPr>
          <a:xfrm>
            <a:off x="4295546"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面談・訪問</a:t>
            </a:r>
            <a:endParaRPr lang="en-US" sz="1400" dirty="0"/>
          </a:p>
        </p:txBody>
      </p:sp>
      <p:sp>
        <p:nvSpPr>
          <p:cNvPr id="30" name="Shape 26"/>
          <p:cNvSpPr/>
          <p:nvPr/>
        </p:nvSpPr>
        <p:spPr>
          <a:xfrm>
            <a:off x="4295546" y="2606040"/>
            <a:ext cx="1727149" cy="731520"/>
          </a:xfrm>
          <a:prstGeom prst="roundRect">
            <a:avLst>
              <a:gd name="adj" fmla="val 15000"/>
            </a:avLst>
          </a:prstGeom>
          <a:solidFill>
            <a:srgbClr val="EEF0F0"/>
          </a:solidFill>
          <a:ln w="12700">
            <a:solidFill>
              <a:srgbClr val="EEF0F0"/>
            </a:solidFill>
            <a:prstDash val="solid"/>
          </a:ln>
        </p:spPr>
      </p:sp>
      <p:sp>
        <p:nvSpPr>
          <p:cNvPr id="31" name="Text 27"/>
          <p:cNvSpPr txBox="1"/>
          <p:nvPr/>
        </p:nvSpPr>
        <p:spPr>
          <a:xfrm>
            <a:off x="4405274"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パンフレットで口頭説明</a:t>
            </a:r>
            <a:endParaRPr lang="en-US" sz="1150" dirty="0"/>
          </a:p>
        </p:txBody>
      </p:sp>
      <p:pic>
        <p:nvPicPr>
          <p:cNvPr id="32" name="Image 2" descr="preencoded.png">    </p:cNvPr>
          <p:cNvPicPr>
            <a:picLocks noChangeAspect="1"/>
          </p:cNvPicPr>
          <p:nvPr/>
        </p:nvPicPr>
        <p:blipFill>
          <a:blip r:embed="rId3"/>
          <a:stretch>
            <a:fillRect/>
          </a:stretch>
        </p:blipFill>
        <p:spPr>
          <a:xfrm>
            <a:off x="5611216" y="3456432"/>
            <a:ext cx="256032" cy="256032"/>
          </a:xfrm>
          <a:prstGeom prst="rect">
            <a:avLst/>
          </a:prstGeom>
        </p:spPr>
      </p:pic>
      <p:sp>
        <p:nvSpPr>
          <p:cNvPr id="33" name="Shape 28"/>
          <p:cNvSpPr/>
          <p:nvPr/>
        </p:nvSpPr>
        <p:spPr>
          <a:xfrm>
            <a:off x="4295546" y="3794760"/>
            <a:ext cx="1727149" cy="1417320"/>
          </a:xfrm>
          <a:prstGeom prst="roundRect">
            <a:avLst>
              <a:gd name="adj" fmla="val 7742"/>
            </a:avLst>
          </a:prstGeom>
          <a:solidFill>
            <a:srgbClr val="E7F2EF"/>
          </a:solidFill>
          <a:ln w="12700">
            <a:solidFill>
              <a:srgbClr val="E7F2EF"/>
            </a:solidFill>
            <a:prstDash val="solid"/>
          </a:ln>
        </p:spPr>
      </p:sp>
      <p:sp>
        <p:nvSpPr>
          <p:cNvPr id="34" name="Text 29"/>
          <p:cNvSpPr txBox="1"/>
          <p:nvPr/>
        </p:nvSpPr>
        <p:spPr>
          <a:xfrm>
            <a:off x="4423562"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タブレットで一緒に視聴し、説明品質を統一</a:t>
            </a:r>
            <a:endParaRPr lang="en-US" sz="1200" dirty="0"/>
          </a:p>
        </p:txBody>
      </p:sp>
      <p:sp>
        <p:nvSpPr>
          <p:cNvPr id="35" name="Shape 30"/>
          <p:cNvSpPr/>
          <p:nvPr/>
        </p:nvSpPr>
        <p:spPr>
          <a:xfrm>
            <a:off x="4295546" y="5349240"/>
            <a:ext cx="1727149" cy="566928"/>
          </a:xfrm>
          <a:prstGeom prst="roundRect">
            <a:avLst>
              <a:gd name="adj" fmla="val 19355"/>
            </a:avLst>
          </a:prstGeom>
          <a:solidFill>
            <a:srgbClr val="FCEBDD"/>
          </a:solidFill>
          <a:ln w="12700">
            <a:solidFill>
              <a:srgbClr val="FCEBDD"/>
            </a:solidFill>
            <a:prstDash val="solid"/>
          </a:ln>
        </p:spPr>
      </p:sp>
      <p:sp>
        <p:nvSpPr>
          <p:cNvPr id="36" name="Text 31"/>
          <p:cNvSpPr txBox="1"/>
          <p:nvPr/>
        </p:nvSpPr>
        <p:spPr>
          <a:xfrm>
            <a:off x="4368698"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属人化の解消</a:t>
            </a:r>
            <a:endParaRPr lang="en-US" sz="1200" dirty="0"/>
          </a:p>
        </p:txBody>
      </p:sp>
      <p:sp>
        <p:nvSpPr>
          <p:cNvPr id="37" name="Shape 32"/>
          <p:cNvSpPr/>
          <p:nvPr/>
        </p:nvSpPr>
        <p:spPr>
          <a:xfrm>
            <a:off x="6169000" y="1463040"/>
            <a:ext cx="1727149" cy="731520"/>
          </a:xfrm>
          <a:prstGeom prst="roundRect">
            <a:avLst>
              <a:gd name="adj" fmla="val 15000"/>
            </a:avLst>
          </a:prstGeom>
          <a:solidFill>
            <a:srgbClr val="1F5E5B"/>
          </a:solidFill>
          <a:ln w="12700">
            <a:solidFill>
              <a:srgbClr val="1F5E5B"/>
            </a:solidFill>
            <a:prstDash val="solid"/>
          </a:ln>
        </p:spPr>
      </p:sp>
      <p:sp>
        <p:nvSpPr>
          <p:cNvPr id="38" name="Text 33"/>
          <p:cNvSpPr txBox="1"/>
          <p:nvPr/>
        </p:nvSpPr>
        <p:spPr>
          <a:xfrm>
            <a:off x="6169000"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4</a:t>
            </a:r>
            <a:endParaRPr lang="en-US" sz="1000" dirty="0"/>
          </a:p>
        </p:txBody>
      </p:sp>
      <p:sp>
        <p:nvSpPr>
          <p:cNvPr id="39" name="Text 34"/>
          <p:cNvSpPr txBox="1"/>
          <p:nvPr/>
        </p:nvSpPr>
        <p:spPr>
          <a:xfrm>
            <a:off x="6169000"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訪問後</a:t>
            </a:r>
            <a:endParaRPr lang="en-US" sz="1400" dirty="0"/>
          </a:p>
        </p:txBody>
      </p:sp>
      <p:sp>
        <p:nvSpPr>
          <p:cNvPr id="40" name="Shape 35"/>
          <p:cNvSpPr/>
          <p:nvPr/>
        </p:nvSpPr>
        <p:spPr>
          <a:xfrm>
            <a:off x="6169000" y="2606040"/>
            <a:ext cx="1727149" cy="731520"/>
          </a:xfrm>
          <a:prstGeom prst="roundRect">
            <a:avLst>
              <a:gd name="adj" fmla="val 15000"/>
            </a:avLst>
          </a:prstGeom>
          <a:solidFill>
            <a:srgbClr val="EEF0F0"/>
          </a:solidFill>
          <a:ln w="12700">
            <a:solidFill>
              <a:srgbClr val="EEF0F0"/>
            </a:solidFill>
            <a:prstDash val="solid"/>
          </a:ln>
        </p:spPr>
      </p:sp>
      <p:sp>
        <p:nvSpPr>
          <p:cNvPr id="41" name="Text 36"/>
          <p:cNvSpPr txBox="1"/>
          <p:nvPr/>
        </p:nvSpPr>
        <p:spPr>
          <a:xfrm>
            <a:off x="6278728"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お礼の電話のみ</a:t>
            </a:r>
            <a:endParaRPr lang="en-US" sz="1150" dirty="0"/>
          </a:p>
        </p:txBody>
      </p:sp>
      <p:pic>
        <p:nvPicPr>
          <p:cNvPr id="42" name="Image 3" descr="preencoded.png">    </p:cNvPr>
          <p:cNvPicPr>
            <a:picLocks noChangeAspect="1"/>
          </p:cNvPicPr>
          <p:nvPr/>
        </p:nvPicPr>
        <p:blipFill>
          <a:blip r:embed="rId4"/>
          <a:stretch>
            <a:fillRect/>
          </a:stretch>
        </p:blipFill>
        <p:spPr>
          <a:xfrm>
            <a:off x="7484669" y="3456432"/>
            <a:ext cx="256032" cy="256032"/>
          </a:xfrm>
          <a:prstGeom prst="rect">
            <a:avLst/>
          </a:prstGeom>
        </p:spPr>
      </p:pic>
      <p:sp>
        <p:nvSpPr>
          <p:cNvPr id="43" name="Shape 37"/>
          <p:cNvSpPr/>
          <p:nvPr/>
        </p:nvSpPr>
        <p:spPr>
          <a:xfrm>
            <a:off x="6169000" y="3794760"/>
            <a:ext cx="1727149" cy="1417320"/>
          </a:xfrm>
          <a:prstGeom prst="roundRect">
            <a:avLst>
              <a:gd name="adj" fmla="val 7742"/>
            </a:avLst>
          </a:prstGeom>
          <a:solidFill>
            <a:srgbClr val="E7F2EF"/>
          </a:solidFill>
          <a:ln w="12700">
            <a:solidFill>
              <a:srgbClr val="E7F2EF"/>
            </a:solidFill>
            <a:prstDash val="solid"/>
          </a:ln>
        </p:spPr>
      </p:sp>
      <p:sp>
        <p:nvSpPr>
          <p:cNvPr id="44" name="Text 38"/>
          <p:cNvSpPr txBox="1"/>
          <p:nvPr/>
        </p:nvSpPr>
        <p:spPr>
          <a:xfrm>
            <a:off x="6297016"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「本日のおさらい動画」をメール・LINEで送付</a:t>
            </a:r>
            <a:endParaRPr lang="en-US" sz="1200" dirty="0"/>
          </a:p>
        </p:txBody>
      </p:sp>
      <p:sp>
        <p:nvSpPr>
          <p:cNvPr id="45" name="Shape 39"/>
          <p:cNvSpPr/>
          <p:nvPr/>
        </p:nvSpPr>
        <p:spPr>
          <a:xfrm>
            <a:off x="6169000" y="5349240"/>
            <a:ext cx="1727149" cy="566928"/>
          </a:xfrm>
          <a:prstGeom prst="roundRect">
            <a:avLst>
              <a:gd name="adj" fmla="val 19355"/>
            </a:avLst>
          </a:prstGeom>
          <a:solidFill>
            <a:srgbClr val="FCEBDD"/>
          </a:solidFill>
          <a:ln w="12700">
            <a:solidFill>
              <a:srgbClr val="FCEBDD"/>
            </a:solidFill>
            <a:prstDash val="solid"/>
          </a:ln>
        </p:spPr>
      </p:sp>
      <p:sp>
        <p:nvSpPr>
          <p:cNvPr id="46" name="Text 40"/>
          <p:cNvSpPr txBox="1"/>
          <p:nvPr/>
        </p:nvSpPr>
        <p:spPr>
          <a:xfrm>
            <a:off x="6242152"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ケアマネが転送できる</a:t>
            </a:r>
            <a:endParaRPr lang="en-US" sz="1200" dirty="0"/>
          </a:p>
        </p:txBody>
      </p:sp>
      <p:sp>
        <p:nvSpPr>
          <p:cNvPr id="47" name="Shape 41"/>
          <p:cNvSpPr/>
          <p:nvPr/>
        </p:nvSpPr>
        <p:spPr>
          <a:xfrm>
            <a:off x="8042453" y="1463040"/>
            <a:ext cx="1727149" cy="731520"/>
          </a:xfrm>
          <a:prstGeom prst="roundRect">
            <a:avLst>
              <a:gd name="adj" fmla="val 15000"/>
            </a:avLst>
          </a:prstGeom>
          <a:solidFill>
            <a:srgbClr val="1F5E5B"/>
          </a:solidFill>
          <a:ln w="12700">
            <a:solidFill>
              <a:srgbClr val="1F5E5B"/>
            </a:solidFill>
            <a:prstDash val="solid"/>
          </a:ln>
        </p:spPr>
      </p:sp>
      <p:sp>
        <p:nvSpPr>
          <p:cNvPr id="48" name="Text 42"/>
          <p:cNvSpPr txBox="1"/>
          <p:nvPr/>
        </p:nvSpPr>
        <p:spPr>
          <a:xfrm>
            <a:off x="8042453"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5</a:t>
            </a:r>
            <a:endParaRPr lang="en-US" sz="1000" dirty="0"/>
          </a:p>
        </p:txBody>
      </p:sp>
      <p:sp>
        <p:nvSpPr>
          <p:cNvPr id="49" name="Text 43"/>
          <p:cNvSpPr txBox="1"/>
          <p:nvPr/>
        </p:nvSpPr>
        <p:spPr>
          <a:xfrm>
            <a:off x="8042453"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ご家族への説明</a:t>
            </a:r>
            <a:endParaRPr lang="en-US" sz="1400" dirty="0"/>
          </a:p>
        </p:txBody>
      </p:sp>
      <p:sp>
        <p:nvSpPr>
          <p:cNvPr id="50" name="Shape 44"/>
          <p:cNvSpPr/>
          <p:nvPr/>
        </p:nvSpPr>
        <p:spPr>
          <a:xfrm>
            <a:off x="8042453" y="2606040"/>
            <a:ext cx="1727149" cy="731520"/>
          </a:xfrm>
          <a:prstGeom prst="roundRect">
            <a:avLst>
              <a:gd name="adj" fmla="val 15000"/>
            </a:avLst>
          </a:prstGeom>
          <a:solidFill>
            <a:srgbClr val="EEF0F0"/>
          </a:solidFill>
          <a:ln w="12700">
            <a:solidFill>
              <a:srgbClr val="EEF0F0"/>
            </a:solidFill>
            <a:prstDash val="solid"/>
          </a:ln>
        </p:spPr>
      </p:sp>
      <p:sp>
        <p:nvSpPr>
          <p:cNvPr id="51" name="Text 45"/>
          <p:cNvSpPr txBox="1"/>
          <p:nvPr/>
        </p:nvSpPr>
        <p:spPr>
          <a:xfrm>
            <a:off x="8152181"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ケアマネが口頭で伝える</a:t>
            </a:r>
            <a:endParaRPr lang="en-US" sz="1150" dirty="0"/>
          </a:p>
        </p:txBody>
      </p:sp>
      <p:pic>
        <p:nvPicPr>
          <p:cNvPr id="52" name="Image 4" descr="preencoded.png">    </p:cNvPr>
          <p:cNvPicPr>
            <a:picLocks noChangeAspect="1"/>
          </p:cNvPicPr>
          <p:nvPr/>
        </p:nvPicPr>
        <p:blipFill>
          <a:blip r:embed="rId5"/>
          <a:stretch>
            <a:fillRect/>
          </a:stretch>
        </p:blipFill>
        <p:spPr>
          <a:xfrm>
            <a:off x="9358122" y="3456432"/>
            <a:ext cx="256032" cy="256032"/>
          </a:xfrm>
          <a:prstGeom prst="rect">
            <a:avLst/>
          </a:prstGeom>
        </p:spPr>
      </p:pic>
      <p:sp>
        <p:nvSpPr>
          <p:cNvPr id="53" name="Shape 46"/>
          <p:cNvSpPr/>
          <p:nvPr/>
        </p:nvSpPr>
        <p:spPr>
          <a:xfrm>
            <a:off x="8042453" y="3794760"/>
            <a:ext cx="1727149" cy="1417320"/>
          </a:xfrm>
          <a:prstGeom prst="roundRect">
            <a:avLst>
              <a:gd name="adj" fmla="val 7742"/>
            </a:avLst>
          </a:prstGeom>
          <a:solidFill>
            <a:srgbClr val="E7F2EF"/>
          </a:solidFill>
          <a:ln w="12700">
            <a:solidFill>
              <a:srgbClr val="E7F2EF"/>
            </a:solidFill>
            <a:prstDash val="solid"/>
          </a:ln>
        </p:spPr>
      </p:sp>
      <p:sp>
        <p:nvSpPr>
          <p:cNvPr id="54" name="Text 47"/>
          <p:cNvSpPr txBox="1"/>
          <p:nvPr/>
        </p:nvSpPr>
        <p:spPr>
          <a:xfrm>
            <a:off x="8170469"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ケアマネ経由でご家族向け動画が届く</a:t>
            </a:r>
            <a:endParaRPr lang="en-US" sz="1200" dirty="0"/>
          </a:p>
        </p:txBody>
      </p:sp>
      <p:sp>
        <p:nvSpPr>
          <p:cNvPr id="55" name="Shape 48"/>
          <p:cNvSpPr/>
          <p:nvPr/>
        </p:nvSpPr>
        <p:spPr>
          <a:xfrm>
            <a:off x="8042453" y="5349240"/>
            <a:ext cx="1727149" cy="566928"/>
          </a:xfrm>
          <a:prstGeom prst="roundRect">
            <a:avLst>
              <a:gd name="adj" fmla="val 19355"/>
            </a:avLst>
          </a:prstGeom>
          <a:solidFill>
            <a:srgbClr val="FCEBDD"/>
          </a:solidFill>
          <a:ln w="12700">
            <a:solidFill>
              <a:srgbClr val="FCEBDD"/>
            </a:solidFill>
            <a:prstDash val="solid"/>
          </a:ln>
        </p:spPr>
      </p:sp>
      <p:sp>
        <p:nvSpPr>
          <p:cNvPr id="56" name="Text 49"/>
          <p:cNvSpPr txBox="1"/>
          <p:nvPr/>
        </p:nvSpPr>
        <p:spPr>
          <a:xfrm>
            <a:off x="8115605"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決定者に正確に届く</a:t>
            </a:r>
            <a:endParaRPr lang="en-US" sz="1200" dirty="0"/>
          </a:p>
        </p:txBody>
      </p:sp>
      <p:sp>
        <p:nvSpPr>
          <p:cNvPr id="57" name="Shape 50"/>
          <p:cNvSpPr/>
          <p:nvPr/>
        </p:nvSpPr>
        <p:spPr>
          <a:xfrm>
            <a:off x="9915906" y="1463040"/>
            <a:ext cx="1727149" cy="731520"/>
          </a:xfrm>
          <a:prstGeom prst="roundRect">
            <a:avLst>
              <a:gd name="adj" fmla="val 15000"/>
            </a:avLst>
          </a:prstGeom>
          <a:solidFill>
            <a:srgbClr val="1F5E5B"/>
          </a:solidFill>
          <a:ln w="12700">
            <a:solidFill>
              <a:srgbClr val="1F5E5B"/>
            </a:solidFill>
            <a:prstDash val="solid"/>
          </a:ln>
        </p:spPr>
      </p:sp>
      <p:sp>
        <p:nvSpPr>
          <p:cNvPr id="58" name="Text 51"/>
          <p:cNvSpPr txBox="1"/>
          <p:nvPr/>
        </p:nvSpPr>
        <p:spPr>
          <a:xfrm>
            <a:off x="9915906" y="1508760"/>
            <a:ext cx="1727149" cy="274320"/>
          </a:xfrm>
          <a:prstGeom prst="rect">
            <a:avLst/>
          </a:prstGeom>
          <a:noFill/>
          <a:ln/>
        </p:spPr>
        <p:txBody>
          <a:bodyPr wrap="square" lIns="0" tIns="0" rIns="0" bIns="0" rtlCol="0" anchor="t"/>
          <a:lstStyle/>
          <a:p>
            <a:pPr algn="ctr" indent="0" marL="0">
              <a:buNone/>
            </a:pPr>
            <a:r>
              <a:rPr lang="en-US" sz="1000" b="1" dirty="0">
                <a:solidFill>
                  <a:srgbClr val="F2A673"/>
                </a:solidFill>
                <a:latin typeface="Meiryo UI" pitchFamily="34" charset="0"/>
                <a:ea typeface="Meiryo UI" pitchFamily="34" charset="-122"/>
                <a:cs typeface="Meiryo UI" pitchFamily="34" charset="-120"/>
              </a:rPr>
              <a:t>STEP 6</a:t>
            </a:r>
            <a:endParaRPr lang="en-US" sz="1000" dirty="0"/>
          </a:p>
        </p:txBody>
      </p:sp>
      <p:sp>
        <p:nvSpPr>
          <p:cNvPr id="59" name="Text 52"/>
          <p:cNvSpPr txBox="1"/>
          <p:nvPr/>
        </p:nvSpPr>
        <p:spPr>
          <a:xfrm>
            <a:off x="9915906" y="1764792"/>
            <a:ext cx="1727149"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定期接点</a:t>
            </a:r>
            <a:endParaRPr lang="en-US" sz="1400" dirty="0"/>
          </a:p>
        </p:txBody>
      </p:sp>
      <p:sp>
        <p:nvSpPr>
          <p:cNvPr id="60" name="Shape 53"/>
          <p:cNvSpPr/>
          <p:nvPr/>
        </p:nvSpPr>
        <p:spPr>
          <a:xfrm>
            <a:off x="9915906" y="2606040"/>
            <a:ext cx="1727149" cy="731520"/>
          </a:xfrm>
          <a:prstGeom prst="roundRect">
            <a:avLst>
              <a:gd name="adj" fmla="val 15000"/>
            </a:avLst>
          </a:prstGeom>
          <a:solidFill>
            <a:srgbClr val="EEF0F0"/>
          </a:solidFill>
          <a:ln w="12700">
            <a:solidFill>
              <a:srgbClr val="EEF0F0"/>
            </a:solidFill>
            <a:prstDash val="solid"/>
          </a:ln>
        </p:spPr>
      </p:sp>
      <p:sp>
        <p:nvSpPr>
          <p:cNvPr id="61" name="Text 54"/>
          <p:cNvSpPr txBox="1"/>
          <p:nvPr/>
        </p:nvSpPr>
        <p:spPr>
          <a:xfrm>
            <a:off x="10025634" y="2606040"/>
            <a:ext cx="1507693" cy="731520"/>
          </a:xfrm>
          <a:prstGeom prst="rect">
            <a:avLst/>
          </a:prstGeom>
          <a:noFill/>
          <a:ln/>
        </p:spPr>
        <p:txBody>
          <a:bodyPr wrap="square" lIns="0" tIns="0" rIns="0" bIns="0" rtlCol="0" anchor="ctr"/>
          <a:lstStyle/>
          <a:p>
            <a:pPr algn="ctr" indent="0" marL="0">
              <a:buNone/>
            </a:pPr>
            <a:r>
              <a:rPr lang="en-US" sz="1150" dirty="0">
                <a:solidFill>
                  <a:srgbClr val="7A8584"/>
                </a:solidFill>
                <a:latin typeface="Meiryo UI" pitchFamily="34" charset="0"/>
                <a:ea typeface="Meiryo UI" pitchFamily="34" charset="-122"/>
                <a:cs typeface="Meiryo UI" pitchFamily="34" charset="-120"/>
              </a:rPr>
              <a:t>年末年始の挨拶程度</a:t>
            </a:r>
            <a:endParaRPr lang="en-US" sz="1150" dirty="0"/>
          </a:p>
        </p:txBody>
      </p:sp>
      <p:pic>
        <p:nvPicPr>
          <p:cNvPr id="62" name="Image 5" descr="preencoded.png">    </p:cNvPr>
          <p:cNvPicPr>
            <a:picLocks noChangeAspect="1"/>
          </p:cNvPicPr>
          <p:nvPr/>
        </p:nvPicPr>
        <p:blipFill>
          <a:blip r:embed="rId6"/>
          <a:stretch>
            <a:fillRect/>
          </a:stretch>
        </p:blipFill>
        <p:spPr>
          <a:xfrm>
            <a:off x="11231575" y="3456432"/>
            <a:ext cx="256032" cy="256032"/>
          </a:xfrm>
          <a:prstGeom prst="rect">
            <a:avLst/>
          </a:prstGeom>
        </p:spPr>
      </p:pic>
      <p:sp>
        <p:nvSpPr>
          <p:cNvPr id="63" name="Shape 55"/>
          <p:cNvSpPr/>
          <p:nvPr/>
        </p:nvSpPr>
        <p:spPr>
          <a:xfrm>
            <a:off x="9915906" y="3794760"/>
            <a:ext cx="1727149" cy="1417320"/>
          </a:xfrm>
          <a:prstGeom prst="roundRect">
            <a:avLst>
              <a:gd name="adj" fmla="val 7742"/>
            </a:avLst>
          </a:prstGeom>
          <a:solidFill>
            <a:srgbClr val="E7F2EF"/>
          </a:solidFill>
          <a:ln w="12700">
            <a:solidFill>
              <a:srgbClr val="E7F2EF"/>
            </a:solidFill>
            <a:prstDash val="solid"/>
          </a:ln>
        </p:spPr>
      </p:sp>
      <p:sp>
        <p:nvSpPr>
          <p:cNvPr id="64" name="Text 56"/>
          <p:cNvSpPr txBox="1"/>
          <p:nvPr/>
        </p:nvSpPr>
        <p:spPr>
          <a:xfrm>
            <a:off x="10043922" y="3858768"/>
            <a:ext cx="1471117" cy="1298448"/>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月1回の動画メルマガ（制度・事例・季節のケア）</a:t>
            </a:r>
            <a:endParaRPr lang="en-US" sz="1200" dirty="0"/>
          </a:p>
        </p:txBody>
      </p:sp>
      <p:sp>
        <p:nvSpPr>
          <p:cNvPr id="65" name="Shape 57"/>
          <p:cNvSpPr/>
          <p:nvPr/>
        </p:nvSpPr>
        <p:spPr>
          <a:xfrm>
            <a:off x="9915906" y="5349240"/>
            <a:ext cx="1727149" cy="566928"/>
          </a:xfrm>
          <a:prstGeom prst="roundRect">
            <a:avLst>
              <a:gd name="adj" fmla="val 19355"/>
            </a:avLst>
          </a:prstGeom>
          <a:solidFill>
            <a:srgbClr val="FCEBDD"/>
          </a:solidFill>
          <a:ln w="12700">
            <a:solidFill>
              <a:srgbClr val="FCEBDD"/>
            </a:solidFill>
            <a:prstDash val="solid"/>
          </a:ln>
        </p:spPr>
      </p:sp>
      <p:sp>
        <p:nvSpPr>
          <p:cNvPr id="66" name="Text 58"/>
          <p:cNvSpPr txBox="1"/>
          <p:nvPr/>
        </p:nvSpPr>
        <p:spPr>
          <a:xfrm>
            <a:off x="9989058" y="5349240"/>
            <a:ext cx="1580845" cy="566928"/>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紹介が継続する</a:t>
            </a:r>
            <a:endParaRPr lang="en-US" sz="1200" dirty="0"/>
          </a:p>
        </p:txBody>
      </p:sp>
      <p:sp>
        <p:nvSpPr>
          <p:cNvPr id="67" name="Text 59"/>
          <p:cNvSpPr txBox="1"/>
          <p:nvPr/>
        </p:nvSpPr>
        <p:spPr>
          <a:xfrm>
            <a:off x="548640" y="3474720"/>
            <a:ext cx="1828800" cy="27432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MiTok導入後</a:t>
            </a:r>
            <a:endParaRPr lang="en-US" sz="1050" dirty="0"/>
          </a:p>
        </p:txBody>
      </p:sp>
      <p:sp>
        <p:nvSpPr>
          <p:cNvPr id="68" name="Text 60"/>
          <p:cNvSpPr txBox="1"/>
          <p:nvPr/>
        </p:nvSpPr>
        <p:spPr>
          <a:xfrm>
            <a:off x="548640" y="5961888"/>
            <a:ext cx="1828800"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期待効果</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営業の負担を減らしながら、成果を上げる仕組み</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49808" y="1664208"/>
            <a:ext cx="621792" cy="621792"/>
          </a:xfrm>
          <a:prstGeom prst="ellipse">
            <a:avLst/>
          </a:prstGeom>
          <a:solidFill>
            <a:srgbClr val="1F5E5B"/>
          </a:solidFill>
          <a:ln w="12700">
            <a:solidFill>
              <a:srgbClr val="1F5E5B"/>
            </a:solidFill>
            <a:prstDash val="solid"/>
          </a:ln>
        </p:spPr>
      </p:sp>
      <p:pic>
        <p:nvPicPr>
          <p:cNvPr id="8" name="Image 0" descr="preencoded.png">    </p:cNvPr>
          <p:cNvPicPr>
            <a:picLocks noChangeAspect="1"/>
          </p:cNvPicPr>
          <p:nvPr/>
        </p:nvPicPr>
        <p:blipFill>
          <a:blip r:embed="rId1"/>
          <a:stretch>
            <a:fillRect/>
          </a:stretch>
        </p:blipFill>
        <p:spPr>
          <a:xfrm>
            <a:off x="911474" y="1825874"/>
            <a:ext cx="298460" cy="298460"/>
          </a:xfrm>
          <a:prstGeom prst="rect">
            <a:avLst/>
          </a:prstGeom>
        </p:spPr>
      </p:pic>
      <p:sp>
        <p:nvSpPr>
          <p:cNvPr id="9" name="Text 6"/>
          <p:cNvSpPr txBox="1"/>
          <p:nvPr/>
        </p:nvSpPr>
        <p:spPr>
          <a:xfrm>
            <a:off x="1554480" y="1591056"/>
            <a:ext cx="402336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説明の自動化</a:t>
            </a:r>
            <a:endParaRPr lang="en-US" sz="1400" dirty="0"/>
          </a:p>
        </p:txBody>
      </p:sp>
      <p:sp>
        <p:nvSpPr>
          <p:cNvPr id="10" name="Text 7"/>
          <p:cNvSpPr txBox="1"/>
          <p:nvPr/>
        </p:nvSpPr>
        <p:spPr>
          <a:xfrm>
            <a:off x="1554480" y="1920240"/>
            <a:ext cx="4069080" cy="50292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繰り返す「制度説明」「開始までの流れ」は動画に任せ、担当者は関係構築に集中</a:t>
            </a:r>
            <a:endParaRPr lang="en-US" sz="1150" dirty="0"/>
          </a:p>
        </p:txBody>
      </p:sp>
      <p:sp>
        <p:nvSpPr>
          <p:cNvPr id="11" name="Shape 8"/>
          <p:cNvSpPr/>
          <p:nvPr/>
        </p:nvSpPr>
        <p:spPr>
          <a:xfrm>
            <a:off x="548640" y="2633472"/>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749808" y="2834640"/>
            <a:ext cx="621792" cy="621792"/>
          </a:xfrm>
          <a:prstGeom prst="ellipse">
            <a:avLst/>
          </a:prstGeom>
          <a:solidFill>
            <a:srgbClr val="1F5E5B"/>
          </a:solidFill>
          <a:ln w="12700">
            <a:solidFill>
              <a:srgbClr val="1F5E5B"/>
            </a:solidFill>
            <a:prstDash val="solid"/>
          </a:ln>
        </p:spPr>
      </p:sp>
      <p:pic>
        <p:nvPicPr>
          <p:cNvPr id="13" name="Image 1" descr="preencoded.png">    </p:cNvPr>
          <p:cNvPicPr>
            <a:picLocks noChangeAspect="1"/>
          </p:cNvPicPr>
          <p:nvPr/>
        </p:nvPicPr>
        <p:blipFill>
          <a:blip r:embed="rId2"/>
          <a:stretch>
            <a:fillRect/>
          </a:stretch>
        </p:blipFill>
        <p:spPr>
          <a:xfrm>
            <a:off x="911474" y="2996306"/>
            <a:ext cx="298460" cy="298460"/>
          </a:xfrm>
          <a:prstGeom prst="rect">
            <a:avLst/>
          </a:prstGeom>
        </p:spPr>
      </p:pic>
      <p:sp>
        <p:nvSpPr>
          <p:cNvPr id="14" name="Text 10"/>
          <p:cNvSpPr txBox="1"/>
          <p:nvPr/>
        </p:nvSpPr>
        <p:spPr>
          <a:xfrm>
            <a:off x="1554480" y="2761488"/>
            <a:ext cx="402336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営業の型化</a:t>
            </a:r>
            <a:endParaRPr lang="en-US" sz="1400" dirty="0"/>
          </a:p>
        </p:txBody>
      </p:sp>
      <p:sp>
        <p:nvSpPr>
          <p:cNvPr id="15" name="Text 11"/>
          <p:cNvSpPr txBox="1"/>
          <p:nvPr/>
        </p:nvSpPr>
        <p:spPr>
          <a:xfrm>
            <a:off x="1554480" y="3090672"/>
            <a:ext cx="4069080" cy="50292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送る動画・タイミング・文面をテンプレート化し、誰がやっても同じ成果に</a:t>
            </a:r>
            <a:endParaRPr lang="en-US" sz="1150" dirty="0"/>
          </a:p>
        </p:txBody>
      </p:sp>
      <p:sp>
        <p:nvSpPr>
          <p:cNvPr id="16" name="Shape 12"/>
          <p:cNvSpPr/>
          <p:nvPr/>
        </p:nvSpPr>
        <p:spPr>
          <a:xfrm>
            <a:off x="548640" y="3803904"/>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749808" y="4005072"/>
            <a:ext cx="621792" cy="621792"/>
          </a:xfrm>
          <a:prstGeom prst="ellipse">
            <a:avLst/>
          </a:prstGeom>
          <a:solidFill>
            <a:srgbClr val="1F5E5B"/>
          </a:solidFill>
          <a:ln w="12700">
            <a:solidFill>
              <a:srgbClr val="1F5E5B"/>
            </a:solidFill>
            <a:prstDash val="solid"/>
          </a:ln>
        </p:spPr>
      </p:sp>
      <p:pic>
        <p:nvPicPr>
          <p:cNvPr id="18" name="Image 2" descr="preencoded.png">    </p:cNvPr>
          <p:cNvPicPr>
            <a:picLocks noChangeAspect="1"/>
          </p:cNvPicPr>
          <p:nvPr/>
        </p:nvPicPr>
        <p:blipFill>
          <a:blip r:embed="rId3"/>
          <a:stretch>
            <a:fillRect/>
          </a:stretch>
        </p:blipFill>
        <p:spPr>
          <a:xfrm>
            <a:off x="911474" y="4166738"/>
            <a:ext cx="298460" cy="298460"/>
          </a:xfrm>
          <a:prstGeom prst="rect">
            <a:avLst/>
          </a:prstGeom>
        </p:spPr>
      </p:pic>
      <p:sp>
        <p:nvSpPr>
          <p:cNvPr id="19" name="Text 14"/>
          <p:cNvSpPr txBox="1"/>
          <p:nvPr/>
        </p:nvSpPr>
        <p:spPr>
          <a:xfrm>
            <a:off x="1554480" y="3931920"/>
            <a:ext cx="402336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反応の可視化</a:t>
            </a:r>
            <a:endParaRPr lang="en-US" sz="1400" dirty="0"/>
          </a:p>
        </p:txBody>
      </p:sp>
      <p:sp>
        <p:nvSpPr>
          <p:cNvPr id="20" name="Text 15"/>
          <p:cNvSpPr txBox="1"/>
          <p:nvPr/>
        </p:nvSpPr>
        <p:spPr>
          <a:xfrm>
            <a:off x="1554480" y="4261104"/>
            <a:ext cx="4069080" cy="50292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視聴状況・問い合わせ経路を把握し、反応の良い事業所から優先訪問</a:t>
            </a:r>
            <a:endParaRPr lang="en-US" sz="1150" dirty="0"/>
          </a:p>
        </p:txBody>
      </p:sp>
      <p:sp>
        <p:nvSpPr>
          <p:cNvPr id="21" name="Shape 16"/>
          <p:cNvSpPr/>
          <p:nvPr/>
        </p:nvSpPr>
        <p:spPr>
          <a:xfrm>
            <a:off x="548640" y="4974336"/>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749808" y="5175504"/>
            <a:ext cx="621792" cy="621792"/>
          </a:xfrm>
          <a:prstGeom prst="ellipse">
            <a:avLst/>
          </a:prstGeom>
          <a:solidFill>
            <a:srgbClr val="1F5E5B"/>
          </a:solidFill>
          <a:ln w="12700">
            <a:solidFill>
              <a:srgbClr val="1F5E5B"/>
            </a:solidFill>
            <a:prstDash val="solid"/>
          </a:ln>
        </p:spPr>
      </p:sp>
      <p:pic>
        <p:nvPicPr>
          <p:cNvPr id="23" name="Image 3" descr="preencoded.png">    </p:cNvPr>
          <p:cNvPicPr>
            <a:picLocks noChangeAspect="1"/>
          </p:cNvPicPr>
          <p:nvPr/>
        </p:nvPicPr>
        <p:blipFill>
          <a:blip r:embed="rId4"/>
          <a:stretch>
            <a:fillRect/>
          </a:stretch>
        </p:blipFill>
        <p:spPr>
          <a:xfrm>
            <a:off x="911474" y="5337170"/>
            <a:ext cx="298460" cy="298460"/>
          </a:xfrm>
          <a:prstGeom prst="rect">
            <a:avLst/>
          </a:prstGeom>
        </p:spPr>
      </p:pic>
      <p:sp>
        <p:nvSpPr>
          <p:cNvPr id="24" name="Text 18"/>
          <p:cNvSpPr txBox="1"/>
          <p:nvPr/>
        </p:nvSpPr>
        <p:spPr>
          <a:xfrm>
            <a:off x="1554480" y="5102352"/>
            <a:ext cx="4023360" cy="320040"/>
          </a:xfrm>
          <a:prstGeom prst="rect">
            <a:avLst/>
          </a:prstGeom>
          <a:noFill/>
          <a:ln/>
        </p:spPr>
        <p:txBody>
          <a:bodyPr wrap="square" lIns="0" tIns="0" rIns="0" bIns="0" rtlCol="0" anchor="t"/>
          <a:lstStyle/>
          <a:p>
            <a:pPr indent="0" marL="0">
              <a:buNone/>
            </a:pPr>
            <a:r>
              <a:rPr lang="en-US" sz="1400" b="1" dirty="0">
                <a:solidFill>
                  <a:srgbClr val="1F5E5B"/>
                </a:solidFill>
                <a:latin typeface="Meiryo UI" pitchFamily="34" charset="0"/>
                <a:ea typeface="Meiryo UI" pitchFamily="34" charset="-122"/>
                <a:cs typeface="Meiryo UI" pitchFamily="34" charset="-120"/>
              </a:rPr>
              <a:t>紹介の“バトン”化</a:t>
            </a:r>
            <a:endParaRPr lang="en-US" sz="1400" dirty="0"/>
          </a:p>
        </p:txBody>
      </p:sp>
      <p:sp>
        <p:nvSpPr>
          <p:cNvPr id="25" name="Text 19"/>
          <p:cNvSpPr txBox="1"/>
          <p:nvPr/>
        </p:nvSpPr>
        <p:spPr>
          <a:xfrm>
            <a:off x="1554480" y="5431536"/>
            <a:ext cx="4069080" cy="50292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ケアマネがご家族へ転送しやすい動画で、紹介時の説明負担を肩代わり</a:t>
            </a:r>
            <a:endParaRPr lang="en-US" sz="1150" dirty="0"/>
          </a:p>
        </p:txBody>
      </p:sp>
      <p:sp>
        <p:nvSpPr>
          <p:cNvPr id="26" name="Text 20"/>
          <p:cNvSpPr txBox="1"/>
          <p:nvPr/>
        </p:nvSpPr>
        <p:spPr>
          <a:xfrm>
            <a:off x="6172200" y="1463040"/>
            <a:ext cx="4572000" cy="365760"/>
          </a:xfrm>
          <a:prstGeom prst="rect">
            <a:avLst/>
          </a:prstGeom>
          <a:noFill/>
          <a:ln/>
        </p:spPr>
        <p:txBody>
          <a:bodyPr wrap="square" lIns="0" tIns="0" rIns="0" bIns="0" rtlCol="0" anchor="t"/>
          <a:lstStyle/>
          <a:p>
            <a:pPr indent="0" marL="0">
              <a:buNone/>
            </a:pPr>
            <a:r>
              <a:rPr lang="en-US" sz="1500" b="1" dirty="0">
                <a:solidFill>
                  <a:srgbClr val="E07B39"/>
                </a:solidFill>
                <a:latin typeface="Meiryo UI" pitchFamily="34" charset="0"/>
                <a:ea typeface="Meiryo UI" pitchFamily="34" charset="-122"/>
                <a:cs typeface="Meiryo UI" pitchFamily="34" charset="-120"/>
              </a:rPr>
              <a:t>プッシュ施策のKPI（例）</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1920240"/>
          <a:ext cx="5468112" cy="914400"/>
        </p:xfrm>
        <a:graphic>
          <a:graphicData uri="http://schemas.openxmlformats.org/drawingml/2006/table">
            <a:tbl>
              <a:tblPr/>
              <a:tblGrid>
                <a:gridCol w="1234440"/>
                <a:gridCol w="2606040"/>
                <a:gridCol w="1627632"/>
              </a:tblGrid>
              <a:tr h="566928">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指標</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定義</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測定方法</a:t>
                      </a:r>
                      <a:endParaRPr lang="en-US" sz="120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1F5E5B"/>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送付数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動画を届けた事業所・顧客数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送付リスト管理</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視聴率</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送付数に対する視聴数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URL別アクセス数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アポ獲得率</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送付先のうち面談・訪問に至った割合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営業管理表</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紹介件数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ケアマネ・施設・医療機関からの紹介数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問い合わせ経路の記録</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4F8F7"/>
                    </a:solidFill>
                  </a:tcPr>
                </a:tc>
              </a:tr>
              <a:tr h="566928">
                <a:tc>
                  <a:txBody>
                    <a:bodyPr/>
                    <a:lstStyle/>
                    <a:p>
                      <a:pPr indent="0" marL="0">
                        <a:buNone/>
                      </a:pPr>
                      <a:r>
                        <a:rPr lang="en-US" sz="1150" b="1" dirty="0">
                          <a:solidFill>
                            <a:srgbClr val="1F5E5B"/>
                          </a:solidFill>
                          <a:latin typeface="Meiryo UI" pitchFamily="34" charset="0"/>
                          <a:ea typeface="Meiryo UI" pitchFamily="34" charset="-122"/>
                          <a:cs typeface="Meiryo UI" pitchFamily="34" charset="-120"/>
                        </a:rPr>
                        <a:t>利用開始数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紹介・問い合わせから施術開始に至った数</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c>
                  <a:txBody>
                    <a:bodyPr/>
                    <a:lstStyle/>
                    <a:p>
                      <a:pPr indent="0" marL="0">
                        <a:buNone/>
                      </a:pPr>
                      <a:r>
                        <a:rPr lang="en-US" sz="1150" dirty="0">
                          <a:solidFill>
                            <a:srgbClr val="2A3332"/>
                          </a:solidFill>
                          <a:latin typeface="Meiryo UI" pitchFamily="34" charset="0"/>
                          <a:ea typeface="Meiryo UI" pitchFamily="34" charset="-122"/>
                          <a:cs typeface="Meiryo UI" pitchFamily="34" charset="-120"/>
                        </a:rPr>
                        <a:t>利用者台帳</a:t>
                      </a:r>
                      <a:endParaRPr lang="en-US" sz="1150" dirty="0">
                        <a:latin typeface="Meiryo UI" charset="0"/>
                        <a:ea typeface="Meiryo UI" charset="0"/>
                        <a:cs typeface="Meiryo UI" charset="0"/>
                      </a:endParaRPr>
                    </a:p>
                  </a:txBody>
                  <a:tcPr marL="91440" marR="91440" marT="45720" marB="45720" anchor="ctr">
                    <a:lnL w="9525" cap="flat" cmpd="sng" algn="ctr">
                      <a:solidFill>
                        <a:srgbClr val="D5E3E0"/>
                      </a:solidFill>
                      <a:prstDash val="solid"/>
                      <a:round/>
                      <a:headEnd type="none" w="med" len="med"/>
                      <a:tailEnd type="none" w="med" len="med"/>
                    </a:lnL>
                    <a:lnR w="9525" cap="flat" cmpd="sng" algn="ctr">
                      <a:solidFill>
                        <a:srgbClr val="D5E3E0"/>
                      </a:solidFill>
                      <a:prstDash val="solid"/>
                      <a:round/>
                      <a:headEnd type="none" w="med" len="med"/>
                      <a:tailEnd type="none" w="med" len="med"/>
                    </a:lnR>
                    <a:lnT w="9525" cap="flat" cmpd="sng" algn="ctr">
                      <a:solidFill>
                        <a:srgbClr val="D5E3E0"/>
                      </a:solidFill>
                      <a:prstDash val="solid"/>
                      <a:round/>
                      <a:headEnd type="none" w="med" len="med"/>
                      <a:tailEnd type="none" w="med" len="med"/>
                    </a:lnT>
                    <a:lnB w="9525" cap="flat" cmpd="sng" algn="ctr">
                      <a:solidFill>
                        <a:srgbClr val="D5E3E0"/>
                      </a:solidFill>
                      <a:prstDash val="solid"/>
                      <a:round/>
                      <a:headEnd type="none" w="med" len="med"/>
                      <a:tailEnd type="none" w="med" len="med"/>
                    </a:lnB>
                    <a:solidFill>
                      <a:srgbClr val="FFFFFF"/>
                    </a:solidFill>
                  </a:tcPr>
                </a:tc>
              </a:tr>
            </a:tbl>
          </a:graphicData>
        </a:graphic>
      </p:graphicFrame>
      <p:sp>
        <p:nvSpPr>
          <p:cNvPr id="28" name="Text 21"/>
          <p:cNvSpPr txBox="1"/>
          <p:nvPr/>
        </p:nvSpPr>
        <p:spPr>
          <a:xfrm>
            <a:off x="6172200" y="5486400"/>
            <a:ext cx="5468112" cy="548640"/>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※具体的な目標値は、本日伺う現状数値（紹介件数・訪問件数・利用者数など）をもとにフェーズ1開始時に設定します。</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プル型Webマーケティング：媒体ごとに役割を分ける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691640"/>
            <a:ext cx="685800" cy="685800"/>
          </a:xfrm>
          <a:prstGeom prst="ellipse">
            <a:avLst/>
          </a:prstGeom>
          <a:solidFill>
            <a:srgbClr val="1F5E5B"/>
          </a:solidFill>
          <a:ln w="12700">
            <a:solidFill>
              <a:srgbClr val="1F5E5B"/>
            </a:solidFill>
            <a:prstDash val="solid"/>
          </a:ln>
        </p:spPr>
      </p:sp>
      <p:pic>
        <p:nvPicPr>
          <p:cNvPr id="8" name="Image 0" descr="preencoded.png">    </p:cNvPr>
          <p:cNvPicPr>
            <a:picLocks noChangeAspect="1"/>
          </p:cNvPicPr>
          <p:nvPr/>
        </p:nvPicPr>
        <p:blipFill>
          <a:blip r:embed="rId1"/>
          <a:stretch>
            <a:fillRect/>
          </a:stretch>
        </p:blipFill>
        <p:spPr>
          <a:xfrm>
            <a:off x="1001268" y="1869948"/>
            <a:ext cx="329184" cy="329184"/>
          </a:xfrm>
          <a:prstGeom prst="rect">
            <a:avLst/>
          </a:prstGeom>
        </p:spPr>
      </p:pic>
      <p:sp>
        <p:nvSpPr>
          <p:cNvPr id="9" name="Text 6"/>
          <p:cNvSpPr txBox="1"/>
          <p:nvPr/>
        </p:nvSpPr>
        <p:spPr>
          <a:xfrm>
            <a:off x="1645920" y="1673352"/>
            <a:ext cx="2235098" cy="411480"/>
          </a:xfrm>
          <a:prstGeom prst="rect">
            <a:avLst/>
          </a:prstGeom>
          <a:noFill/>
          <a:ln/>
        </p:spPr>
        <p:txBody>
          <a:bodyPr wrap="square" lIns="0" tIns="0" rIns="0" bIns="0" rtlCol="0" anchor="t"/>
          <a:lstStyle/>
          <a:p>
            <a:pPr indent="0" marL="0">
              <a:buNone/>
            </a:pPr>
            <a:r>
              <a:rPr lang="en-US" sz="1800" b="1" dirty="0">
                <a:solidFill>
                  <a:srgbClr val="1F5E5B"/>
                </a:solidFill>
                <a:latin typeface="Meiryo UI" pitchFamily="34" charset="0"/>
                <a:ea typeface="Meiryo UI" pitchFamily="34" charset="-122"/>
                <a:cs typeface="Meiryo UI" pitchFamily="34" charset="-120"/>
              </a:rPr>
              <a:t>YouTube</a:t>
            </a:r>
            <a:endParaRPr lang="en-US" sz="1800" dirty="0"/>
          </a:p>
        </p:txBody>
      </p:sp>
      <p:sp>
        <p:nvSpPr>
          <p:cNvPr id="10" name="Text 7"/>
          <p:cNvSpPr txBox="1"/>
          <p:nvPr/>
        </p:nvSpPr>
        <p:spPr>
          <a:xfrm>
            <a:off x="1645920" y="2075688"/>
            <a:ext cx="2235098" cy="320040"/>
          </a:xfrm>
          <a:prstGeom prst="rect">
            <a:avLst/>
          </a:prstGeom>
          <a:noFill/>
          <a:ln/>
        </p:spPr>
        <p:txBody>
          <a:bodyPr wrap="square" lIns="0" tIns="0" rIns="0" bIns="0" rtlCol="0" anchor="t"/>
          <a:lstStyle/>
          <a:p>
            <a:pPr indent="0" marL="0">
              <a:buNone/>
            </a:pPr>
            <a:r>
              <a:rPr lang="en-US" sz="1250" b="1" dirty="0">
                <a:solidFill>
                  <a:srgbClr val="E07B39"/>
                </a:solidFill>
                <a:latin typeface="Meiryo UI" pitchFamily="34" charset="0"/>
                <a:ea typeface="Meiryo UI" pitchFamily="34" charset="-122"/>
                <a:cs typeface="Meiryo UI" pitchFamily="34" charset="-120"/>
              </a:rPr>
              <a:t>役割：理解・比較検討</a:t>
            </a:r>
            <a:endParaRPr lang="en-US" sz="1250" dirty="0"/>
          </a:p>
        </p:txBody>
      </p:sp>
      <p:sp>
        <p:nvSpPr>
          <p:cNvPr id="11" name="Text 8"/>
          <p:cNvSpPr txBox="1"/>
          <p:nvPr/>
        </p:nvSpPr>
        <p:spPr>
          <a:xfrm>
            <a:off x="822960" y="26060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動画の型</a:t>
            </a:r>
            <a:endParaRPr lang="en-US" sz="1050" dirty="0"/>
          </a:p>
        </p:txBody>
      </p:sp>
      <p:sp>
        <p:nvSpPr>
          <p:cNvPr id="12" name="Text 9"/>
          <p:cNvSpPr txBox="1"/>
          <p:nvPr/>
        </p:nvSpPr>
        <p:spPr>
          <a:xfrm>
            <a:off x="822960" y="2862072"/>
            <a:ext cx="2966618" cy="320040"/>
          </a:xfrm>
          <a:prstGeom prst="rect">
            <a:avLst/>
          </a:prstGeom>
          <a:noFill/>
          <a:ln/>
        </p:spPr>
        <p:txBody>
          <a:bodyPr wrap="square" lIns="0" tIns="0" rIns="0" bIns="0" rtlCol="0" anchor="t"/>
          <a:lstStyle/>
          <a:p>
            <a:pPr indent="0" marL="0">
              <a:buNone/>
            </a:pPr>
            <a:r>
              <a:rPr lang="en-US" sz="1300" b="1" dirty="0">
                <a:solidFill>
                  <a:srgbClr val="2A3332"/>
                </a:solidFill>
                <a:latin typeface="Meiryo UI" pitchFamily="34" charset="0"/>
                <a:ea typeface="Meiryo UI" pitchFamily="34" charset="-122"/>
                <a:cs typeface="Meiryo UI" pitchFamily="34" charset="-120"/>
              </a:rPr>
              <a:t>長尺解説（5〜10分）</a:t>
            </a:r>
            <a:endParaRPr lang="en-US" sz="1300" dirty="0"/>
          </a:p>
        </p:txBody>
      </p:sp>
      <p:sp>
        <p:nvSpPr>
          <p:cNvPr id="13" name="Text 10"/>
          <p:cNvSpPr txBox="1"/>
          <p:nvPr/>
        </p:nvSpPr>
        <p:spPr>
          <a:xfrm>
            <a:off x="822960" y="32918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主な視聴者</a:t>
            </a:r>
            <a:endParaRPr lang="en-US" sz="1050" dirty="0"/>
          </a:p>
        </p:txBody>
      </p:sp>
      <p:sp>
        <p:nvSpPr>
          <p:cNvPr id="14" name="Text 11"/>
          <p:cNvSpPr txBox="1"/>
          <p:nvPr/>
        </p:nvSpPr>
        <p:spPr>
          <a:xfrm>
            <a:off x="822960" y="3547872"/>
            <a:ext cx="2966618" cy="54864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情報を詳しく調べたいご家族、ケアマネジャー</a:t>
            </a:r>
            <a:endParaRPr lang="en-US" sz="1200" dirty="0"/>
          </a:p>
        </p:txBody>
      </p:sp>
      <p:sp>
        <p:nvSpPr>
          <p:cNvPr id="15" name="Shape 12"/>
          <p:cNvSpPr/>
          <p:nvPr/>
        </p:nvSpPr>
        <p:spPr>
          <a:xfrm>
            <a:off x="731520" y="4206240"/>
            <a:ext cx="3149498" cy="1874520"/>
          </a:xfrm>
          <a:prstGeom prst="roundRect">
            <a:avLst>
              <a:gd name="adj" fmla="val 5854"/>
            </a:avLst>
          </a:prstGeom>
          <a:solidFill>
            <a:srgbClr val="E7F2EF"/>
          </a:solidFill>
          <a:ln w="12700">
            <a:solidFill>
              <a:srgbClr val="E7F2EF"/>
            </a:solidFill>
            <a:prstDash val="solid"/>
          </a:ln>
        </p:spPr>
      </p:sp>
      <p:sp>
        <p:nvSpPr>
          <p:cNvPr id="16" name="Text 13"/>
          <p:cNvSpPr txBox="1"/>
          <p:nvPr/>
        </p:nvSpPr>
        <p:spPr>
          <a:xfrm>
            <a:off x="914400" y="4297680"/>
            <a:ext cx="2783738" cy="27432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コンテンツ例</a:t>
            </a:r>
            <a:endParaRPr lang="en-US" sz="1050" dirty="0"/>
          </a:p>
        </p:txBody>
      </p:sp>
      <p:sp>
        <p:nvSpPr>
          <p:cNvPr id="17" name="Text 14"/>
          <p:cNvSpPr txBox="1"/>
          <p:nvPr/>
        </p:nvSpPr>
        <p:spPr>
          <a:xfrm>
            <a:off x="914400"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訪問マッサージとは？医療保険で受けられる条件を解説</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訪問マッサージと訪問リハビリの違い</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利用開始までの5ステップ</a:t>
            </a:r>
            <a:endParaRPr lang="en-US" sz="1150" dirty="0"/>
          </a:p>
        </p:txBody>
      </p:sp>
      <p:sp>
        <p:nvSpPr>
          <p:cNvPr id="18" name="Shape 15"/>
          <p:cNvSpPr/>
          <p:nvPr/>
        </p:nvSpPr>
        <p:spPr>
          <a:xfrm>
            <a:off x="4338218"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4612538" y="1691640"/>
            <a:ext cx="685800" cy="685800"/>
          </a:xfrm>
          <a:prstGeom prst="ellipse">
            <a:avLst/>
          </a:prstGeom>
          <a:solidFill>
            <a:srgbClr val="1F5E5B"/>
          </a:solidFill>
          <a:ln w="12700">
            <a:solidFill>
              <a:srgbClr val="1F5E5B"/>
            </a:solidFill>
            <a:prstDash val="solid"/>
          </a:ln>
        </p:spPr>
      </p:sp>
      <p:pic>
        <p:nvPicPr>
          <p:cNvPr id="20" name="Image 1" descr="preencoded.png">    </p:cNvPr>
          <p:cNvPicPr>
            <a:picLocks noChangeAspect="1"/>
          </p:cNvPicPr>
          <p:nvPr/>
        </p:nvPicPr>
        <p:blipFill>
          <a:blip r:embed="rId2"/>
          <a:stretch>
            <a:fillRect/>
          </a:stretch>
        </p:blipFill>
        <p:spPr>
          <a:xfrm>
            <a:off x="4790846" y="1869948"/>
            <a:ext cx="329184" cy="329184"/>
          </a:xfrm>
          <a:prstGeom prst="rect">
            <a:avLst/>
          </a:prstGeom>
        </p:spPr>
      </p:pic>
      <p:sp>
        <p:nvSpPr>
          <p:cNvPr id="21" name="Text 17"/>
          <p:cNvSpPr txBox="1"/>
          <p:nvPr/>
        </p:nvSpPr>
        <p:spPr>
          <a:xfrm>
            <a:off x="5435498" y="1673352"/>
            <a:ext cx="2235098" cy="411480"/>
          </a:xfrm>
          <a:prstGeom prst="rect">
            <a:avLst/>
          </a:prstGeom>
          <a:noFill/>
          <a:ln/>
        </p:spPr>
        <p:txBody>
          <a:bodyPr wrap="square" lIns="0" tIns="0" rIns="0" bIns="0" rtlCol="0" anchor="t"/>
          <a:lstStyle/>
          <a:p>
            <a:pPr indent="0" marL="0">
              <a:buNone/>
            </a:pPr>
            <a:r>
              <a:rPr lang="en-US" sz="1800" b="1" dirty="0">
                <a:solidFill>
                  <a:srgbClr val="1F5E5B"/>
                </a:solidFill>
                <a:latin typeface="Meiryo UI" pitchFamily="34" charset="0"/>
                <a:ea typeface="Meiryo UI" pitchFamily="34" charset="-122"/>
                <a:cs typeface="Meiryo UI" pitchFamily="34" charset="-120"/>
              </a:rPr>
              <a:t>Instagram</a:t>
            </a:r>
            <a:endParaRPr lang="en-US" sz="1800" dirty="0"/>
          </a:p>
        </p:txBody>
      </p:sp>
      <p:sp>
        <p:nvSpPr>
          <p:cNvPr id="22" name="Text 18"/>
          <p:cNvSpPr txBox="1"/>
          <p:nvPr/>
        </p:nvSpPr>
        <p:spPr>
          <a:xfrm>
            <a:off x="5435498" y="2075688"/>
            <a:ext cx="2235098" cy="320040"/>
          </a:xfrm>
          <a:prstGeom prst="rect">
            <a:avLst/>
          </a:prstGeom>
          <a:noFill/>
          <a:ln/>
        </p:spPr>
        <p:txBody>
          <a:bodyPr wrap="square" lIns="0" tIns="0" rIns="0" bIns="0" rtlCol="0" anchor="t"/>
          <a:lstStyle/>
          <a:p>
            <a:pPr indent="0" marL="0">
              <a:buNone/>
            </a:pPr>
            <a:r>
              <a:rPr lang="en-US" sz="1250" b="1" dirty="0">
                <a:solidFill>
                  <a:srgbClr val="E07B39"/>
                </a:solidFill>
                <a:latin typeface="Meiryo UI" pitchFamily="34" charset="0"/>
                <a:ea typeface="Meiryo UI" pitchFamily="34" charset="-122"/>
                <a:cs typeface="Meiryo UI" pitchFamily="34" charset="-120"/>
              </a:rPr>
              <a:t>役割：信頼・親近感</a:t>
            </a:r>
            <a:endParaRPr lang="en-US" sz="1250" dirty="0"/>
          </a:p>
        </p:txBody>
      </p:sp>
      <p:sp>
        <p:nvSpPr>
          <p:cNvPr id="23" name="Text 19"/>
          <p:cNvSpPr txBox="1"/>
          <p:nvPr/>
        </p:nvSpPr>
        <p:spPr>
          <a:xfrm>
            <a:off x="4612538" y="26060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動画の型</a:t>
            </a:r>
            <a:endParaRPr lang="en-US" sz="1050" dirty="0"/>
          </a:p>
        </p:txBody>
      </p:sp>
      <p:sp>
        <p:nvSpPr>
          <p:cNvPr id="24" name="Text 20"/>
          <p:cNvSpPr txBox="1"/>
          <p:nvPr/>
        </p:nvSpPr>
        <p:spPr>
          <a:xfrm>
            <a:off x="4612538" y="2862072"/>
            <a:ext cx="2966618" cy="320040"/>
          </a:xfrm>
          <a:prstGeom prst="rect">
            <a:avLst/>
          </a:prstGeom>
          <a:noFill/>
          <a:ln/>
        </p:spPr>
        <p:txBody>
          <a:bodyPr wrap="square" lIns="0" tIns="0" rIns="0" bIns="0" rtlCol="0" anchor="t"/>
          <a:lstStyle/>
          <a:p>
            <a:pPr indent="0" marL="0">
              <a:buNone/>
            </a:pPr>
            <a:r>
              <a:rPr lang="en-US" sz="1300" b="1" dirty="0">
                <a:solidFill>
                  <a:srgbClr val="2A3332"/>
                </a:solidFill>
                <a:latin typeface="Meiryo UI" pitchFamily="34" charset="0"/>
                <a:ea typeface="Meiryo UI" pitchFamily="34" charset="-122"/>
                <a:cs typeface="Meiryo UI" pitchFamily="34" charset="-120"/>
              </a:rPr>
              <a:t>デザイン重視（フィード・リール）</a:t>
            </a:r>
            <a:endParaRPr lang="en-US" sz="1300" dirty="0"/>
          </a:p>
        </p:txBody>
      </p:sp>
      <p:sp>
        <p:nvSpPr>
          <p:cNvPr id="25" name="Text 21"/>
          <p:cNvSpPr txBox="1"/>
          <p:nvPr/>
        </p:nvSpPr>
        <p:spPr>
          <a:xfrm>
            <a:off x="4612538" y="32918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主な視聴者</a:t>
            </a:r>
            <a:endParaRPr lang="en-US" sz="1050" dirty="0"/>
          </a:p>
        </p:txBody>
      </p:sp>
      <p:sp>
        <p:nvSpPr>
          <p:cNvPr id="26" name="Text 22"/>
          <p:cNvSpPr txBox="1"/>
          <p:nvPr/>
        </p:nvSpPr>
        <p:spPr>
          <a:xfrm>
            <a:off x="4612538" y="3547872"/>
            <a:ext cx="2966618" cy="54864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30〜50代の子世代、地域の方、求職者</a:t>
            </a:r>
            <a:endParaRPr lang="en-US" sz="1200" dirty="0"/>
          </a:p>
        </p:txBody>
      </p:sp>
      <p:sp>
        <p:nvSpPr>
          <p:cNvPr id="27" name="Shape 23"/>
          <p:cNvSpPr/>
          <p:nvPr/>
        </p:nvSpPr>
        <p:spPr>
          <a:xfrm>
            <a:off x="4521098" y="4206240"/>
            <a:ext cx="3149498" cy="1874520"/>
          </a:xfrm>
          <a:prstGeom prst="roundRect">
            <a:avLst>
              <a:gd name="adj" fmla="val 5854"/>
            </a:avLst>
          </a:prstGeom>
          <a:solidFill>
            <a:srgbClr val="E7F2EF"/>
          </a:solidFill>
          <a:ln w="12700">
            <a:solidFill>
              <a:srgbClr val="E7F2EF"/>
            </a:solidFill>
            <a:prstDash val="solid"/>
          </a:ln>
        </p:spPr>
      </p:sp>
      <p:sp>
        <p:nvSpPr>
          <p:cNvPr id="28" name="Text 24"/>
          <p:cNvSpPr txBox="1"/>
          <p:nvPr/>
        </p:nvSpPr>
        <p:spPr>
          <a:xfrm>
            <a:off x="4703978" y="4297680"/>
            <a:ext cx="2783738" cy="27432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コンテンツ例</a:t>
            </a:r>
            <a:endParaRPr lang="en-US" sz="1050" dirty="0"/>
          </a:p>
        </p:txBody>
      </p:sp>
      <p:sp>
        <p:nvSpPr>
          <p:cNvPr id="29" name="Text 25"/>
          <p:cNvSpPr txBox="1"/>
          <p:nvPr/>
        </p:nvSpPr>
        <p:spPr>
          <a:xfrm>
            <a:off x="4703978"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スタッフ紹介／1日の訪問の流れ</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ご家族の声（許諾済み）</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季節の在宅ケアのポイント</a:t>
            </a:r>
            <a:endParaRPr lang="en-US" sz="1150" dirty="0"/>
          </a:p>
        </p:txBody>
      </p:sp>
      <p:sp>
        <p:nvSpPr>
          <p:cNvPr id="30" name="Shape 26"/>
          <p:cNvSpPr/>
          <p:nvPr/>
        </p:nvSpPr>
        <p:spPr>
          <a:xfrm>
            <a:off x="8127797"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1" name="Shape 27"/>
          <p:cNvSpPr/>
          <p:nvPr/>
        </p:nvSpPr>
        <p:spPr>
          <a:xfrm>
            <a:off x="8402117" y="1691640"/>
            <a:ext cx="685800" cy="685800"/>
          </a:xfrm>
          <a:prstGeom prst="ellipse">
            <a:avLst/>
          </a:prstGeom>
          <a:solidFill>
            <a:srgbClr val="1F5E5B"/>
          </a:solidFill>
          <a:ln w="12700">
            <a:solidFill>
              <a:srgbClr val="1F5E5B"/>
            </a:solidFill>
            <a:prstDash val="solid"/>
          </a:ln>
        </p:spPr>
      </p:sp>
      <p:pic>
        <p:nvPicPr>
          <p:cNvPr id="32" name="Image 2" descr="preencoded.png">    </p:cNvPr>
          <p:cNvPicPr>
            <a:picLocks noChangeAspect="1"/>
          </p:cNvPicPr>
          <p:nvPr/>
        </p:nvPicPr>
        <p:blipFill>
          <a:blip r:embed="rId3"/>
          <a:stretch>
            <a:fillRect/>
          </a:stretch>
        </p:blipFill>
        <p:spPr>
          <a:xfrm>
            <a:off x="8580425" y="1869948"/>
            <a:ext cx="329184" cy="329184"/>
          </a:xfrm>
          <a:prstGeom prst="rect">
            <a:avLst/>
          </a:prstGeom>
        </p:spPr>
      </p:pic>
      <p:sp>
        <p:nvSpPr>
          <p:cNvPr id="33" name="Text 28"/>
          <p:cNvSpPr txBox="1"/>
          <p:nvPr/>
        </p:nvSpPr>
        <p:spPr>
          <a:xfrm>
            <a:off x="9225077" y="1673352"/>
            <a:ext cx="2235098" cy="411480"/>
          </a:xfrm>
          <a:prstGeom prst="rect">
            <a:avLst/>
          </a:prstGeom>
          <a:noFill/>
          <a:ln/>
        </p:spPr>
        <p:txBody>
          <a:bodyPr wrap="square" lIns="0" tIns="0" rIns="0" bIns="0" rtlCol="0" anchor="t"/>
          <a:lstStyle/>
          <a:p>
            <a:pPr indent="0" marL="0">
              <a:buNone/>
            </a:pPr>
            <a:r>
              <a:rPr lang="en-US" sz="1800" b="1" dirty="0">
                <a:solidFill>
                  <a:srgbClr val="1F5E5B"/>
                </a:solidFill>
                <a:latin typeface="Meiryo UI" pitchFamily="34" charset="0"/>
                <a:ea typeface="Meiryo UI" pitchFamily="34" charset="-122"/>
                <a:cs typeface="Meiryo UI" pitchFamily="34" charset="-120"/>
              </a:rPr>
              <a:t>TikTok／ショート</a:t>
            </a:r>
            <a:endParaRPr lang="en-US" sz="1800" dirty="0"/>
          </a:p>
        </p:txBody>
      </p:sp>
      <p:sp>
        <p:nvSpPr>
          <p:cNvPr id="34" name="Text 29"/>
          <p:cNvSpPr txBox="1"/>
          <p:nvPr/>
        </p:nvSpPr>
        <p:spPr>
          <a:xfrm>
            <a:off x="9225077" y="2075688"/>
            <a:ext cx="2235098" cy="320040"/>
          </a:xfrm>
          <a:prstGeom prst="rect">
            <a:avLst/>
          </a:prstGeom>
          <a:noFill/>
          <a:ln/>
        </p:spPr>
        <p:txBody>
          <a:bodyPr wrap="square" lIns="0" tIns="0" rIns="0" bIns="0" rtlCol="0" anchor="t"/>
          <a:lstStyle/>
          <a:p>
            <a:pPr indent="0" marL="0">
              <a:buNone/>
            </a:pPr>
            <a:r>
              <a:rPr lang="en-US" sz="1250" b="1" dirty="0">
                <a:solidFill>
                  <a:srgbClr val="E07B39"/>
                </a:solidFill>
                <a:latin typeface="Meiryo UI" pitchFamily="34" charset="0"/>
                <a:ea typeface="Meiryo UI" pitchFamily="34" charset="-122"/>
                <a:cs typeface="Meiryo UI" pitchFamily="34" charset="-120"/>
              </a:rPr>
              <a:t>役割：認知拡大</a:t>
            </a:r>
            <a:endParaRPr lang="en-US" sz="1250" dirty="0"/>
          </a:p>
        </p:txBody>
      </p:sp>
      <p:sp>
        <p:nvSpPr>
          <p:cNvPr id="35" name="Text 30"/>
          <p:cNvSpPr txBox="1"/>
          <p:nvPr/>
        </p:nvSpPr>
        <p:spPr>
          <a:xfrm>
            <a:off x="8402117" y="26060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動画の型</a:t>
            </a:r>
            <a:endParaRPr lang="en-US" sz="1050" dirty="0"/>
          </a:p>
        </p:txBody>
      </p:sp>
      <p:sp>
        <p:nvSpPr>
          <p:cNvPr id="36" name="Text 31"/>
          <p:cNvSpPr txBox="1"/>
          <p:nvPr/>
        </p:nvSpPr>
        <p:spPr>
          <a:xfrm>
            <a:off x="8402117" y="2862072"/>
            <a:ext cx="2966618" cy="320040"/>
          </a:xfrm>
          <a:prstGeom prst="rect">
            <a:avLst/>
          </a:prstGeom>
          <a:noFill/>
          <a:ln/>
        </p:spPr>
        <p:txBody>
          <a:bodyPr wrap="square" lIns="0" tIns="0" rIns="0" bIns="0" rtlCol="0" anchor="t"/>
          <a:lstStyle/>
          <a:p>
            <a:pPr indent="0" marL="0">
              <a:buNone/>
            </a:pPr>
            <a:r>
              <a:rPr lang="en-US" sz="1300" b="1" dirty="0">
                <a:solidFill>
                  <a:srgbClr val="2A3332"/>
                </a:solidFill>
                <a:latin typeface="Meiryo UI" pitchFamily="34" charset="0"/>
                <a:ea typeface="Meiryo UI" pitchFamily="34" charset="-122"/>
                <a:cs typeface="Meiryo UI" pitchFamily="34" charset="-120"/>
              </a:rPr>
              <a:t>縦型ショート（15〜60秒）</a:t>
            </a:r>
            <a:endParaRPr lang="en-US" sz="1300" dirty="0"/>
          </a:p>
        </p:txBody>
      </p:sp>
      <p:sp>
        <p:nvSpPr>
          <p:cNvPr id="37" name="Text 32"/>
          <p:cNvSpPr txBox="1"/>
          <p:nvPr/>
        </p:nvSpPr>
        <p:spPr>
          <a:xfrm>
            <a:off x="8402117" y="3291840"/>
            <a:ext cx="2966618" cy="256032"/>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主な視聴者</a:t>
            </a:r>
            <a:endParaRPr lang="en-US" sz="1050" dirty="0"/>
          </a:p>
        </p:txBody>
      </p:sp>
      <p:sp>
        <p:nvSpPr>
          <p:cNvPr id="38" name="Text 33"/>
          <p:cNvSpPr txBox="1"/>
          <p:nvPr/>
        </p:nvSpPr>
        <p:spPr>
          <a:xfrm>
            <a:off x="8402117" y="3547872"/>
            <a:ext cx="2966618" cy="548640"/>
          </a:xfrm>
          <a:prstGeom prst="rect">
            <a:avLst/>
          </a:prstGeom>
          <a:noFill/>
          <a:ln/>
        </p:spPr>
        <p:txBody>
          <a:bodyPr wrap="square" lIns="0" tIns="0" rIns="0" bIns="0" rtlCol="0" anchor="t"/>
          <a:lstStyle/>
          <a:p>
            <a:pPr indent="0" marL="0">
              <a:buNone/>
            </a:pPr>
            <a:r>
              <a:rPr lang="en-US" sz="1200" dirty="0">
                <a:solidFill>
                  <a:srgbClr val="2A3332"/>
                </a:solidFill>
                <a:latin typeface="Meiryo UI" pitchFamily="34" charset="0"/>
                <a:ea typeface="Meiryo UI" pitchFamily="34" charset="-122"/>
                <a:cs typeface="Meiryo UI" pitchFamily="34" charset="-120"/>
              </a:rPr>
              <a:t>幅広い層（特に子世代・孫世代）、求職者</a:t>
            </a:r>
            <a:endParaRPr lang="en-US" sz="1200" dirty="0"/>
          </a:p>
        </p:txBody>
      </p:sp>
      <p:sp>
        <p:nvSpPr>
          <p:cNvPr id="39" name="Shape 34"/>
          <p:cNvSpPr/>
          <p:nvPr/>
        </p:nvSpPr>
        <p:spPr>
          <a:xfrm>
            <a:off x="8310677" y="4206240"/>
            <a:ext cx="3149498" cy="1874520"/>
          </a:xfrm>
          <a:prstGeom prst="roundRect">
            <a:avLst>
              <a:gd name="adj" fmla="val 5854"/>
            </a:avLst>
          </a:prstGeom>
          <a:solidFill>
            <a:srgbClr val="E7F2EF"/>
          </a:solidFill>
          <a:ln w="12700">
            <a:solidFill>
              <a:srgbClr val="E7F2EF"/>
            </a:solidFill>
            <a:prstDash val="solid"/>
          </a:ln>
        </p:spPr>
      </p:sp>
      <p:sp>
        <p:nvSpPr>
          <p:cNvPr id="40" name="Text 35"/>
          <p:cNvSpPr txBox="1"/>
          <p:nvPr/>
        </p:nvSpPr>
        <p:spPr>
          <a:xfrm>
            <a:off x="8493557" y="4297680"/>
            <a:ext cx="2783738" cy="274320"/>
          </a:xfrm>
          <a:prstGeom prst="rect">
            <a:avLst/>
          </a:prstGeom>
          <a:noFill/>
          <a:ln/>
        </p:spPr>
        <p:txBody>
          <a:bodyPr wrap="square" lIns="0" tIns="0" rIns="0" bIns="0" rtlCol="0" anchor="t"/>
          <a:lstStyle/>
          <a:p>
            <a:pPr indent="0" marL="0">
              <a:buNone/>
            </a:pPr>
            <a:r>
              <a:rPr lang="en-US" sz="1050" b="1" dirty="0">
                <a:solidFill>
                  <a:srgbClr val="1F5E5B"/>
                </a:solidFill>
                <a:latin typeface="Meiryo UI" pitchFamily="34" charset="0"/>
                <a:ea typeface="Meiryo UI" pitchFamily="34" charset="-122"/>
                <a:cs typeface="Meiryo UI" pitchFamily="34" charset="-120"/>
              </a:rPr>
              <a:t>コンテンツ例</a:t>
            </a:r>
            <a:endParaRPr lang="en-US" sz="1050" dirty="0"/>
          </a:p>
        </p:txBody>
      </p:sp>
      <p:sp>
        <p:nvSpPr>
          <p:cNvPr id="41" name="Text 36"/>
          <p:cNvSpPr txBox="1"/>
          <p:nvPr/>
        </p:nvSpPr>
        <p:spPr>
          <a:xfrm>
            <a:off x="8493557"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知らないと損！親のマッサージ、保険が使えるかも</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寝たきりの親に家族ができること3選</a:t>
            </a:r>
            <a:endParaRPr lang="en-US" sz="1150" dirty="0"/>
          </a:p>
          <a:p>
            <a:pPr marL="342900" indent="-342900">
              <a:spcAft>
                <a:spcPts val="400"/>
              </a:spcAft>
              <a:buSzPct val="100000"/>
              <a:buChar char="•"/>
            </a:pPr>
            <a:r>
              <a:rPr lang="en-US" sz="1150" dirty="0">
                <a:solidFill>
                  <a:srgbClr val="2A3332"/>
                </a:solidFill>
                <a:latin typeface="Meiryo UI" pitchFamily="34" charset="0"/>
                <a:ea typeface="Meiryo UI" pitchFamily="34" charset="-122"/>
                <a:cs typeface="Meiryo UI" pitchFamily="34" charset="-120"/>
              </a:rPr>
              <a:t>施術者の本音Q&amp;A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動画ラフイメージの提示方針（3つの型）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3515258" cy="1920240"/>
          </a:xfrm>
          <a:prstGeom prst="roundRect">
            <a:avLst>
              <a:gd name="adj" fmla="val 5714"/>
            </a:avLst>
          </a:prstGeom>
          <a:solidFill>
            <a:srgbClr val="E7F2EF"/>
          </a:solidFill>
          <a:ln w="12700">
            <a:solidFill>
              <a:srgbClr val="E7F2EF"/>
            </a:solidFill>
            <a:prstDash val="solid"/>
          </a:ln>
        </p:spPr>
      </p:sp>
      <p:sp>
        <p:nvSpPr>
          <p:cNvPr id="7" name="Shape 5"/>
          <p:cNvSpPr/>
          <p:nvPr/>
        </p:nvSpPr>
        <p:spPr>
          <a:xfrm>
            <a:off x="1117549" y="1664208"/>
            <a:ext cx="2377440" cy="1335024"/>
          </a:xfrm>
          <a:prstGeom prst="roundRect">
            <a:avLst>
              <a:gd name="adj" fmla="val 5479"/>
            </a:avLst>
          </a:prstGeom>
          <a:solidFill>
            <a:srgbClr val="163F3D"/>
          </a:solidFill>
          <a:ln w="12700">
            <a:solidFill>
              <a:srgbClr val="163F3D"/>
            </a:solidFill>
            <a:prstDash val="solid"/>
          </a:ln>
        </p:spPr>
      </p:sp>
      <p:sp>
        <p:nvSpPr>
          <p:cNvPr id="8" name="Shape 6"/>
          <p:cNvSpPr/>
          <p:nvPr/>
        </p:nvSpPr>
        <p:spPr>
          <a:xfrm>
            <a:off x="1208989" y="1931213"/>
            <a:ext cx="1474013" cy="240304"/>
          </a:xfrm>
          <a:prstGeom prst="roundRect">
            <a:avLst>
              <a:gd name="adj" fmla="val 19026"/>
            </a:avLst>
          </a:prstGeom>
          <a:solidFill>
            <a:srgbClr val="FFFFFF"/>
          </a:solidFill>
          <a:ln w="12700">
            <a:solidFill>
              <a:srgbClr val="FFFFFF"/>
            </a:solidFill>
            <a:prstDash val="solid"/>
          </a:ln>
        </p:spPr>
      </p:sp>
      <p:sp>
        <p:nvSpPr>
          <p:cNvPr id="9" name="Shape 7"/>
          <p:cNvSpPr/>
          <p:nvPr/>
        </p:nvSpPr>
        <p:spPr>
          <a:xfrm>
            <a:off x="1929536" y="2331720"/>
            <a:ext cx="1474013" cy="240304"/>
          </a:xfrm>
          <a:prstGeom prst="roundRect">
            <a:avLst>
              <a:gd name="adj" fmla="val 19026"/>
            </a:avLst>
          </a:prstGeom>
          <a:solidFill>
            <a:srgbClr val="F2A673"/>
          </a:solidFill>
          <a:ln w="12700">
            <a:solidFill>
              <a:srgbClr val="F2A673"/>
            </a:solidFill>
            <a:prstDash val="solid"/>
          </a:ln>
        </p:spPr>
      </p:sp>
      <p:sp>
        <p:nvSpPr>
          <p:cNvPr id="10" name="Text 8"/>
          <p:cNvSpPr txBox="1"/>
          <p:nvPr/>
        </p:nvSpPr>
        <p:spPr>
          <a:xfrm>
            <a:off x="1117549" y="2724912"/>
            <a:ext cx="2304288" cy="228600"/>
          </a:xfrm>
          <a:prstGeom prst="rect">
            <a:avLst/>
          </a:prstGeom>
          <a:noFill/>
          <a:ln/>
        </p:spPr>
        <p:txBody>
          <a:bodyPr wrap="square" lIns="0" tIns="0" rIns="0" bIns="0" rtlCol="0" anchor="t"/>
          <a:lstStyle/>
          <a:p>
            <a:pPr algn="r" indent="0" marL="0">
              <a:buNone/>
            </a:pPr>
            <a:r>
              <a:rPr lang="en-US" sz="900" b="1" dirty="0">
                <a:solidFill>
                  <a:srgbClr val="FFFFFF"/>
                </a:solidFill>
                <a:latin typeface="Meiryo UI" pitchFamily="34" charset="0"/>
                <a:ea typeface="Meiryo UI" pitchFamily="34" charset="-122"/>
                <a:cs typeface="Meiryo UI" pitchFamily="34" charset="-120"/>
              </a:rPr>
              <a:t>3〜8分</a:t>
            </a:r>
            <a:endParaRPr lang="en-US" sz="900" dirty="0"/>
          </a:p>
        </p:txBody>
      </p:sp>
      <p:sp>
        <p:nvSpPr>
          <p:cNvPr id="11" name="Text 9"/>
          <p:cNvSpPr txBox="1"/>
          <p:nvPr/>
        </p:nvSpPr>
        <p:spPr>
          <a:xfrm>
            <a:off x="548640" y="3429000"/>
            <a:ext cx="3515258" cy="36576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① 長尺解説型</a:t>
            </a:r>
            <a:endParaRPr lang="en-US" sz="1600" dirty="0"/>
          </a:p>
        </p:txBody>
      </p:sp>
      <p:sp>
        <p:nvSpPr>
          <p:cNvPr id="12" name="Text 10"/>
          <p:cNvSpPr txBox="1"/>
          <p:nvPr/>
        </p:nvSpPr>
        <p:spPr>
          <a:xfrm>
            <a:off x="548640" y="3776472"/>
            <a:ext cx="351525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YouTube／HP掲載／ケアマネ送付用</a:t>
            </a:r>
            <a:endParaRPr lang="en-US" sz="1100" dirty="0"/>
          </a:p>
        </p:txBody>
      </p:sp>
      <p:sp>
        <p:nvSpPr>
          <p:cNvPr id="13" name="Text 11"/>
          <p:cNvSpPr txBox="1"/>
          <p:nvPr/>
        </p:nvSpPr>
        <p:spPr>
          <a:xfrm>
            <a:off x="548640"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よくある悩みの提示</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訪問マッサージとは</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保険適用の条件・同意書</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費用の目安・流れ</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選ばれる理由</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お問い合わせ案内</a:t>
            </a:r>
            <a:endParaRPr lang="en-US" sz="1100" dirty="0"/>
          </a:p>
        </p:txBody>
      </p:sp>
      <p:sp>
        <p:nvSpPr>
          <p:cNvPr id="14" name="Text 12"/>
          <p:cNvSpPr txBox="1"/>
          <p:nvPr/>
        </p:nvSpPr>
        <p:spPr>
          <a:xfrm>
            <a:off x="548640" y="5486400"/>
            <a:ext cx="3515258" cy="777240"/>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トーン：</a:t>
            </a:r>
            <a:pPr indent="0" marL="0">
              <a:buNone/>
            </a:pPr>
            <a:r>
              <a:rPr lang="en-US" sz="1100" dirty="0">
                <a:solidFill>
                  <a:srgbClr val="2A3332"/>
                </a:solidFill>
                <a:latin typeface="Meiryo UI" pitchFamily="34" charset="0"/>
                <a:ea typeface="Meiryo UI" pitchFamily="34" charset="-122"/>
                <a:cs typeface="Meiryo UI" pitchFamily="34" charset="-120"/>
              </a:rPr>
              <a:t>落ち着き・安心感。専門用語は必ず言い換え</a:t>
            </a:r>
            <a:endParaRPr lang="en-US" sz="1100" dirty="0"/>
          </a:p>
          <a:p>
            <a:pPr indent="0" marL="0">
              <a:buNone/>
            </a:pPr>
            <a:r>
              <a:rPr lang="en-US" sz="1100" b="1" dirty="0">
                <a:solidFill>
                  <a:srgbClr val="E07B39"/>
                </a:solidFill>
                <a:latin typeface="Meiryo UI" pitchFamily="34" charset="0"/>
                <a:ea typeface="Meiryo UI" pitchFamily="34" charset="-122"/>
                <a:cs typeface="Meiryo UI" pitchFamily="34" charset="-120"/>
              </a:rPr>
              <a:t>ゴール：</a:t>
            </a:r>
            <a:pPr indent="0" marL="0">
              <a:buNone/>
            </a:pPr>
            <a:r>
              <a:rPr lang="en-US" sz="1100" dirty="0">
                <a:solidFill>
                  <a:srgbClr val="2A3332"/>
                </a:solidFill>
                <a:latin typeface="Meiryo UI" pitchFamily="34" charset="0"/>
                <a:ea typeface="Meiryo UI" pitchFamily="34" charset="-122"/>
                <a:cs typeface="Meiryo UI" pitchFamily="34" charset="-120"/>
              </a:rPr>
              <a:t>「自分の家族も対象かも」と理解し問い合わせる</a:t>
            </a:r>
            <a:endParaRPr lang="en-US" sz="1100" dirty="0"/>
          </a:p>
        </p:txBody>
      </p:sp>
      <p:sp>
        <p:nvSpPr>
          <p:cNvPr id="15" name="Shape 13"/>
          <p:cNvSpPr/>
          <p:nvPr/>
        </p:nvSpPr>
        <p:spPr>
          <a:xfrm>
            <a:off x="4338218" y="1371600"/>
            <a:ext cx="3515258" cy="1920240"/>
          </a:xfrm>
          <a:prstGeom prst="roundRect">
            <a:avLst>
              <a:gd name="adj" fmla="val 5714"/>
            </a:avLst>
          </a:prstGeom>
          <a:solidFill>
            <a:srgbClr val="E7F2EF"/>
          </a:solidFill>
          <a:ln w="12700">
            <a:solidFill>
              <a:srgbClr val="E7F2EF"/>
            </a:solidFill>
            <a:prstDash val="solid"/>
          </a:ln>
        </p:spPr>
      </p:sp>
      <p:sp>
        <p:nvSpPr>
          <p:cNvPr id="16" name="Shape 14"/>
          <p:cNvSpPr/>
          <p:nvPr/>
        </p:nvSpPr>
        <p:spPr>
          <a:xfrm>
            <a:off x="5410048" y="1645920"/>
            <a:ext cx="1371600" cy="1371600"/>
          </a:xfrm>
          <a:prstGeom prst="roundRect">
            <a:avLst>
              <a:gd name="adj" fmla="val 5333"/>
            </a:avLst>
          </a:prstGeom>
          <a:solidFill>
            <a:srgbClr val="163F3D"/>
          </a:solidFill>
          <a:ln w="12700">
            <a:solidFill>
              <a:srgbClr val="163F3D"/>
            </a:solidFill>
            <a:prstDash val="solid"/>
          </a:ln>
        </p:spPr>
      </p:sp>
      <p:sp>
        <p:nvSpPr>
          <p:cNvPr id="17" name="Shape 15"/>
          <p:cNvSpPr/>
          <p:nvPr/>
        </p:nvSpPr>
        <p:spPr>
          <a:xfrm>
            <a:off x="5501488" y="1920240"/>
            <a:ext cx="850392" cy="246888"/>
          </a:xfrm>
          <a:prstGeom prst="roundRect">
            <a:avLst>
              <a:gd name="adj" fmla="val 18519"/>
            </a:avLst>
          </a:prstGeom>
          <a:solidFill>
            <a:srgbClr val="FFFFFF"/>
          </a:solidFill>
          <a:ln w="12700">
            <a:solidFill>
              <a:srgbClr val="FFFFFF"/>
            </a:solidFill>
            <a:prstDash val="solid"/>
          </a:ln>
        </p:spPr>
      </p:sp>
      <p:sp>
        <p:nvSpPr>
          <p:cNvPr id="18" name="Shape 16"/>
          <p:cNvSpPr/>
          <p:nvPr/>
        </p:nvSpPr>
        <p:spPr>
          <a:xfrm>
            <a:off x="5839816" y="2331720"/>
            <a:ext cx="850392" cy="246888"/>
          </a:xfrm>
          <a:prstGeom prst="roundRect">
            <a:avLst>
              <a:gd name="adj" fmla="val 18519"/>
            </a:avLst>
          </a:prstGeom>
          <a:solidFill>
            <a:srgbClr val="F2A673"/>
          </a:solidFill>
          <a:ln w="12700">
            <a:solidFill>
              <a:srgbClr val="F2A673"/>
            </a:solidFill>
            <a:prstDash val="solid"/>
          </a:ln>
        </p:spPr>
      </p:sp>
      <p:sp>
        <p:nvSpPr>
          <p:cNvPr id="19" name="Text 17"/>
          <p:cNvSpPr txBox="1"/>
          <p:nvPr/>
        </p:nvSpPr>
        <p:spPr>
          <a:xfrm>
            <a:off x="5410048" y="2743200"/>
            <a:ext cx="1298448" cy="228600"/>
          </a:xfrm>
          <a:prstGeom prst="rect">
            <a:avLst/>
          </a:prstGeom>
          <a:noFill/>
          <a:ln/>
        </p:spPr>
        <p:txBody>
          <a:bodyPr wrap="square" lIns="0" tIns="0" rIns="0" bIns="0" rtlCol="0" anchor="t"/>
          <a:lstStyle/>
          <a:p>
            <a:pPr algn="r" indent="0" marL="0">
              <a:buNone/>
            </a:pPr>
            <a:r>
              <a:rPr lang="en-US" sz="900" b="1" dirty="0">
                <a:solidFill>
                  <a:srgbClr val="FFFFFF"/>
                </a:solidFill>
                <a:latin typeface="Meiryo UI" pitchFamily="34" charset="0"/>
                <a:ea typeface="Meiryo UI" pitchFamily="34" charset="-122"/>
                <a:cs typeface="Meiryo UI" pitchFamily="34" charset="-120"/>
              </a:rPr>
              <a:t>30〜90秒</a:t>
            </a:r>
            <a:endParaRPr lang="en-US" sz="900" dirty="0"/>
          </a:p>
        </p:txBody>
      </p:sp>
      <p:sp>
        <p:nvSpPr>
          <p:cNvPr id="20" name="Text 18"/>
          <p:cNvSpPr txBox="1"/>
          <p:nvPr/>
        </p:nvSpPr>
        <p:spPr>
          <a:xfrm>
            <a:off x="4338218" y="3429000"/>
            <a:ext cx="3515258" cy="36576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② デザイン重視型</a:t>
            </a:r>
            <a:endParaRPr lang="en-US" sz="1600" dirty="0"/>
          </a:p>
        </p:txBody>
      </p:sp>
      <p:sp>
        <p:nvSpPr>
          <p:cNvPr id="21" name="Text 19"/>
          <p:cNvSpPr txBox="1"/>
          <p:nvPr/>
        </p:nvSpPr>
        <p:spPr>
          <a:xfrm>
            <a:off x="4338218" y="3776472"/>
            <a:ext cx="351525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Instagram／HP／パンフレット連動</a:t>
            </a:r>
            <a:endParaRPr lang="en-US" sz="1100" dirty="0"/>
          </a:p>
        </p:txBody>
      </p:sp>
      <p:sp>
        <p:nvSpPr>
          <p:cNvPr id="22" name="Text 20"/>
          <p:cNvSpPr txBox="1"/>
          <p:nvPr/>
        </p:nvSpPr>
        <p:spPr>
          <a:xfrm>
            <a:off x="4338218"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印象的な一文「ご自宅が、ケアの場所になる。」</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サービスの特長3つ</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スタッフの想い</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対応エリア</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プロフィールへ誘導</a:t>
            </a:r>
            <a:endParaRPr lang="en-US" sz="1100" dirty="0"/>
          </a:p>
        </p:txBody>
      </p:sp>
      <p:sp>
        <p:nvSpPr>
          <p:cNvPr id="23" name="Text 21"/>
          <p:cNvSpPr txBox="1"/>
          <p:nvPr/>
        </p:nvSpPr>
        <p:spPr>
          <a:xfrm>
            <a:off x="4338218" y="5486400"/>
            <a:ext cx="3515258" cy="777240"/>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トーン：</a:t>
            </a:r>
            <a:pPr indent="0" marL="0">
              <a:buNone/>
            </a:pPr>
            <a:r>
              <a:rPr lang="en-US" sz="1100" dirty="0">
                <a:solidFill>
                  <a:srgbClr val="2A3332"/>
                </a:solidFill>
                <a:latin typeface="Meiryo UI" pitchFamily="34" charset="0"/>
                <a:ea typeface="Meiryo UI" pitchFamily="34" charset="-122"/>
                <a:cs typeface="Meiryo UI" pitchFamily="34" charset="-120"/>
              </a:rPr>
              <a:t>温かさ・清潔感。「安心・安全・安堵」を視覚で表現</a:t>
            </a:r>
            <a:endParaRPr lang="en-US" sz="1100" dirty="0"/>
          </a:p>
          <a:p>
            <a:pPr indent="0" marL="0">
              <a:buNone/>
            </a:pPr>
            <a:r>
              <a:rPr lang="en-US" sz="1100" b="1" dirty="0">
                <a:solidFill>
                  <a:srgbClr val="E07B39"/>
                </a:solidFill>
                <a:latin typeface="Meiryo UI" pitchFamily="34" charset="0"/>
                <a:ea typeface="Meiryo UI" pitchFamily="34" charset="-122"/>
                <a:cs typeface="Meiryo UI" pitchFamily="34" charset="-120"/>
              </a:rPr>
              <a:t>ゴール：</a:t>
            </a:r>
            <a:pPr indent="0" marL="0">
              <a:buNone/>
            </a:pPr>
            <a:r>
              <a:rPr lang="en-US" sz="1100" dirty="0">
                <a:solidFill>
                  <a:srgbClr val="2A3332"/>
                </a:solidFill>
                <a:latin typeface="Meiryo UI" pitchFamily="34" charset="0"/>
                <a:ea typeface="Meiryo UI" pitchFamily="34" charset="-122"/>
                <a:cs typeface="Meiryo UI" pitchFamily="34" charset="-120"/>
              </a:rPr>
              <a:t>フォロー・保存され、必要なときに思い出される</a:t>
            </a:r>
            <a:endParaRPr lang="en-US" sz="1100" dirty="0"/>
          </a:p>
        </p:txBody>
      </p:sp>
      <p:sp>
        <p:nvSpPr>
          <p:cNvPr id="24" name="Shape 22"/>
          <p:cNvSpPr/>
          <p:nvPr/>
        </p:nvSpPr>
        <p:spPr>
          <a:xfrm>
            <a:off x="8127797" y="1371600"/>
            <a:ext cx="3515258" cy="1920240"/>
          </a:xfrm>
          <a:prstGeom prst="roundRect">
            <a:avLst>
              <a:gd name="adj" fmla="val 5714"/>
            </a:avLst>
          </a:prstGeom>
          <a:solidFill>
            <a:srgbClr val="E7F2EF"/>
          </a:solidFill>
          <a:ln w="12700">
            <a:solidFill>
              <a:srgbClr val="E7F2EF"/>
            </a:solidFill>
            <a:prstDash val="solid"/>
          </a:ln>
        </p:spPr>
      </p:sp>
      <p:sp>
        <p:nvSpPr>
          <p:cNvPr id="25" name="Shape 23"/>
          <p:cNvSpPr/>
          <p:nvPr/>
        </p:nvSpPr>
        <p:spPr>
          <a:xfrm>
            <a:off x="9492234" y="1636776"/>
            <a:ext cx="786384" cy="1389888"/>
          </a:xfrm>
          <a:prstGeom prst="roundRect">
            <a:avLst>
              <a:gd name="adj" fmla="val 9302"/>
            </a:avLst>
          </a:prstGeom>
          <a:solidFill>
            <a:srgbClr val="163F3D"/>
          </a:solidFill>
          <a:ln w="12700">
            <a:solidFill>
              <a:srgbClr val="163F3D"/>
            </a:solidFill>
            <a:prstDash val="solid"/>
          </a:ln>
        </p:spPr>
      </p:sp>
      <p:sp>
        <p:nvSpPr>
          <p:cNvPr id="26" name="Shape 24"/>
          <p:cNvSpPr/>
          <p:nvPr/>
        </p:nvSpPr>
        <p:spPr>
          <a:xfrm>
            <a:off x="9583674" y="1914754"/>
            <a:ext cx="487558" cy="250180"/>
          </a:xfrm>
          <a:prstGeom prst="roundRect">
            <a:avLst>
              <a:gd name="adj" fmla="val 18275"/>
            </a:avLst>
          </a:prstGeom>
          <a:solidFill>
            <a:srgbClr val="FFFFFF"/>
          </a:solidFill>
          <a:ln w="12700">
            <a:solidFill>
              <a:srgbClr val="FFFFFF"/>
            </a:solidFill>
            <a:prstDash val="solid"/>
          </a:ln>
        </p:spPr>
      </p:sp>
      <p:sp>
        <p:nvSpPr>
          <p:cNvPr id="27" name="Shape 25"/>
          <p:cNvSpPr/>
          <p:nvPr/>
        </p:nvSpPr>
        <p:spPr>
          <a:xfrm>
            <a:off x="9699620" y="2331720"/>
            <a:ext cx="487558" cy="250180"/>
          </a:xfrm>
          <a:prstGeom prst="roundRect">
            <a:avLst>
              <a:gd name="adj" fmla="val 18275"/>
            </a:avLst>
          </a:prstGeom>
          <a:solidFill>
            <a:srgbClr val="F2A673"/>
          </a:solidFill>
          <a:ln w="12700">
            <a:solidFill>
              <a:srgbClr val="F2A673"/>
            </a:solidFill>
            <a:prstDash val="solid"/>
          </a:ln>
        </p:spPr>
      </p:sp>
      <p:sp>
        <p:nvSpPr>
          <p:cNvPr id="28" name="Text 26"/>
          <p:cNvSpPr txBox="1"/>
          <p:nvPr/>
        </p:nvSpPr>
        <p:spPr>
          <a:xfrm>
            <a:off x="9492234" y="2752344"/>
            <a:ext cx="713232" cy="228600"/>
          </a:xfrm>
          <a:prstGeom prst="rect">
            <a:avLst/>
          </a:prstGeom>
          <a:noFill/>
          <a:ln/>
        </p:spPr>
        <p:txBody>
          <a:bodyPr wrap="square" lIns="0" tIns="0" rIns="0" bIns="0" rtlCol="0" anchor="t"/>
          <a:lstStyle/>
          <a:p>
            <a:pPr algn="r" indent="0" marL="0">
              <a:buNone/>
            </a:pPr>
            <a:r>
              <a:rPr lang="en-US" sz="900" b="1" dirty="0">
                <a:solidFill>
                  <a:srgbClr val="FFFFFF"/>
                </a:solidFill>
                <a:latin typeface="Meiryo UI" pitchFamily="34" charset="0"/>
                <a:ea typeface="Meiryo UI" pitchFamily="34" charset="-122"/>
                <a:cs typeface="Meiryo UI" pitchFamily="34" charset="-120"/>
              </a:rPr>
              <a:t>15〜60秒</a:t>
            </a:r>
            <a:endParaRPr lang="en-US" sz="900" dirty="0"/>
          </a:p>
        </p:txBody>
      </p:sp>
      <p:sp>
        <p:nvSpPr>
          <p:cNvPr id="29" name="Text 27"/>
          <p:cNvSpPr txBox="1"/>
          <p:nvPr/>
        </p:nvSpPr>
        <p:spPr>
          <a:xfrm>
            <a:off x="8127797" y="3429000"/>
            <a:ext cx="3515258" cy="36576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③ 縦型ショート型</a:t>
            </a:r>
            <a:endParaRPr lang="en-US" sz="1600" dirty="0"/>
          </a:p>
        </p:txBody>
      </p:sp>
      <p:sp>
        <p:nvSpPr>
          <p:cNvPr id="30" name="Text 28"/>
          <p:cNvSpPr txBox="1"/>
          <p:nvPr/>
        </p:nvSpPr>
        <p:spPr>
          <a:xfrm>
            <a:off x="8127797" y="3776472"/>
            <a:ext cx="351525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TikTok／YouTubeショート／リール</a:t>
            </a:r>
            <a:endParaRPr lang="en-US" sz="1100" dirty="0"/>
          </a:p>
        </p:txBody>
      </p:sp>
      <p:sp>
        <p:nvSpPr>
          <p:cNvPr id="31" name="Text 29"/>
          <p:cNvSpPr txBox="1"/>
          <p:nvPr/>
        </p:nvSpPr>
        <p:spPr>
          <a:xfrm>
            <a:off x="8127797"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フック「親のマッサージ、保険が使えるって知ってた？」</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答え（条件を一言で）</a:t>
            </a:r>
            <a:endParaRPr lang="en-US" sz="1100" dirty="0"/>
          </a:p>
          <a:p>
            <a:pPr marL="342900" indent="-342900">
              <a:spcAft>
                <a:spcPts val="100"/>
              </a:spcAft>
              <a:buSzPct val="100000"/>
              <a:buFont typeface="+mj-lt"/>
              <a:buAutoNum type="arabicPeriod" startAt="1"/>
            </a:pPr>
            <a:r>
              <a:rPr lang="en-US" sz="1100" dirty="0">
                <a:solidFill>
                  <a:srgbClr val="2A3332"/>
                </a:solidFill>
                <a:latin typeface="Meiryo UI" pitchFamily="34" charset="0"/>
                <a:ea typeface="Meiryo UI" pitchFamily="34" charset="-122"/>
                <a:cs typeface="Meiryo UI" pitchFamily="34" charset="-120"/>
              </a:rPr>
              <a:t>詳しくはプロフィールへ</a:t>
            </a:r>
            <a:endParaRPr lang="en-US" sz="1100" dirty="0"/>
          </a:p>
        </p:txBody>
      </p:sp>
      <p:sp>
        <p:nvSpPr>
          <p:cNvPr id="32" name="Text 30"/>
          <p:cNvSpPr txBox="1"/>
          <p:nvPr/>
        </p:nvSpPr>
        <p:spPr>
          <a:xfrm>
            <a:off x="8127797" y="5486400"/>
            <a:ext cx="3515258" cy="777240"/>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トーン：</a:t>
            </a:r>
            <a:pPr indent="0" marL="0">
              <a:buNone/>
            </a:pPr>
            <a:r>
              <a:rPr lang="en-US" sz="1100" dirty="0">
                <a:solidFill>
                  <a:srgbClr val="2A3332"/>
                </a:solidFill>
                <a:latin typeface="Meiryo UI" pitchFamily="34" charset="0"/>
                <a:ea typeface="Meiryo UI" pitchFamily="34" charset="-122"/>
                <a:cs typeface="Meiryo UI" pitchFamily="34" charset="-120"/>
              </a:rPr>
              <a:t>親しみやすさ・意外性。ただし誇張は避ける</a:t>
            </a:r>
            <a:endParaRPr lang="en-US" sz="1100" dirty="0"/>
          </a:p>
          <a:p>
            <a:pPr indent="0" marL="0">
              <a:buNone/>
            </a:pPr>
            <a:r>
              <a:rPr lang="en-US" sz="1100" b="1" dirty="0">
                <a:solidFill>
                  <a:srgbClr val="E07B39"/>
                </a:solidFill>
                <a:latin typeface="Meiryo UI" pitchFamily="34" charset="0"/>
                <a:ea typeface="Meiryo UI" pitchFamily="34" charset="-122"/>
                <a:cs typeface="Meiryo UI" pitchFamily="34" charset="-120"/>
              </a:rPr>
              <a:t>ゴール：</a:t>
            </a:r>
            <a:pPr indent="0" marL="0">
              <a:buNone/>
            </a:pPr>
            <a:r>
              <a:rPr lang="en-US" sz="1100" dirty="0">
                <a:solidFill>
                  <a:srgbClr val="2A3332"/>
                </a:solidFill>
                <a:latin typeface="Meiryo UI" pitchFamily="34" charset="0"/>
                <a:ea typeface="Meiryo UI" pitchFamily="34" charset="-122"/>
                <a:cs typeface="Meiryo UI" pitchFamily="34" charset="-120"/>
              </a:rPr>
              <a:t>認知拡大と、長尺動画・HPへの送客</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認知から問い合わせ・紹介までのファネル設計</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3703320" y="1371600"/>
            <a:ext cx="201168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主な接点</a:t>
            </a:r>
            <a:endParaRPr lang="en-US" sz="1100" dirty="0"/>
          </a:p>
        </p:txBody>
      </p:sp>
      <p:sp>
        <p:nvSpPr>
          <p:cNvPr id="7" name="Text 5"/>
          <p:cNvSpPr txBox="1"/>
          <p:nvPr/>
        </p:nvSpPr>
        <p:spPr>
          <a:xfrm>
            <a:off x="5806440" y="1371600"/>
            <a:ext cx="192024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動画の型</a:t>
            </a:r>
            <a:endParaRPr lang="en-US" sz="1100" dirty="0"/>
          </a:p>
        </p:txBody>
      </p:sp>
      <p:sp>
        <p:nvSpPr>
          <p:cNvPr id="8" name="Text 6"/>
          <p:cNvSpPr txBox="1"/>
          <p:nvPr/>
        </p:nvSpPr>
        <p:spPr>
          <a:xfrm>
            <a:off x="7818120" y="1371600"/>
            <a:ext cx="2011680"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次の行動への導線</a:t>
            </a:r>
            <a:endParaRPr lang="en-US" sz="1100" dirty="0"/>
          </a:p>
        </p:txBody>
      </p:sp>
      <p:sp>
        <p:nvSpPr>
          <p:cNvPr id="9" name="Text 7"/>
          <p:cNvSpPr txBox="1"/>
          <p:nvPr/>
        </p:nvSpPr>
        <p:spPr>
          <a:xfrm>
            <a:off x="9921240" y="1371600"/>
            <a:ext cx="1719072" cy="274320"/>
          </a:xfrm>
          <a:prstGeom prst="rect">
            <a:avLst/>
          </a:prstGeom>
          <a:noFill/>
          <a:ln/>
        </p:spPr>
        <p:txBody>
          <a:bodyPr wrap="square" lIns="0" tIns="0" rIns="0" bIns="0" rtlCol="0" anchor="t"/>
          <a:lstStyle/>
          <a:p>
            <a:pPr indent="0" marL="0">
              <a:buNone/>
            </a:pPr>
            <a:r>
              <a:rPr lang="en-US" sz="1100" b="1" dirty="0">
                <a:solidFill>
                  <a:srgbClr val="66807D"/>
                </a:solidFill>
                <a:latin typeface="Meiryo UI" pitchFamily="34" charset="0"/>
                <a:ea typeface="Meiryo UI" pitchFamily="34" charset="-122"/>
                <a:cs typeface="Meiryo UI" pitchFamily="34" charset="-120"/>
              </a:rPr>
              <a:t>測定指標</a:t>
            </a:r>
            <a:endParaRPr lang="en-US" sz="1100" dirty="0"/>
          </a:p>
        </p:txBody>
      </p:sp>
      <p:sp>
        <p:nvSpPr>
          <p:cNvPr id="10" name="Shape 8"/>
          <p:cNvSpPr/>
          <p:nvPr/>
        </p:nvSpPr>
        <p:spPr>
          <a:xfrm>
            <a:off x="594360" y="1719072"/>
            <a:ext cx="2926080" cy="640080"/>
          </a:xfrm>
          <a:prstGeom prst="roundRect">
            <a:avLst>
              <a:gd name="adj" fmla="val 14286"/>
            </a:avLst>
          </a:prstGeom>
          <a:solidFill>
            <a:srgbClr val="1F5E5B"/>
          </a:solidFill>
          <a:ln w="12700">
            <a:solidFill>
              <a:srgbClr val="1F5E5B"/>
            </a:solidFill>
            <a:prstDash val="solid"/>
          </a:ln>
        </p:spPr>
      </p:sp>
      <p:sp>
        <p:nvSpPr>
          <p:cNvPr id="11" name="Text 9"/>
          <p:cNvSpPr txBox="1"/>
          <p:nvPr/>
        </p:nvSpPr>
        <p:spPr>
          <a:xfrm>
            <a:off x="594360" y="1719072"/>
            <a:ext cx="2926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認知</a:t>
            </a:r>
            <a:endParaRPr lang="en-US" sz="1400" dirty="0"/>
          </a:p>
        </p:txBody>
      </p:sp>
      <p:sp>
        <p:nvSpPr>
          <p:cNvPr id="12" name="Shape 10"/>
          <p:cNvSpPr/>
          <p:nvPr/>
        </p:nvSpPr>
        <p:spPr>
          <a:xfrm>
            <a:off x="3566160" y="1719072"/>
            <a:ext cx="8076895" cy="640080"/>
          </a:xfrm>
          <a:prstGeom prst="roundRect">
            <a:avLst>
              <a:gd name="adj" fmla="val 11429"/>
            </a:avLst>
          </a:prstGeom>
          <a:solidFill>
            <a:srgbClr val="F4F8F7"/>
          </a:solidFill>
          <a:ln w="9525">
            <a:solidFill>
              <a:srgbClr val="DCE7E5"/>
            </a:solidFill>
            <a:prstDash val="solid"/>
          </a:ln>
        </p:spPr>
      </p:sp>
      <p:sp>
        <p:nvSpPr>
          <p:cNvPr id="13" name="Text 11"/>
          <p:cNvSpPr txBox="1"/>
          <p:nvPr/>
        </p:nvSpPr>
        <p:spPr>
          <a:xfrm>
            <a:off x="3703320" y="1719072"/>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TikTok／ショート／リール</a:t>
            </a:r>
            <a:endParaRPr lang="en-US" sz="1150" dirty="0"/>
          </a:p>
        </p:txBody>
      </p:sp>
      <p:sp>
        <p:nvSpPr>
          <p:cNvPr id="14" name="Text 12"/>
          <p:cNvSpPr txBox="1"/>
          <p:nvPr/>
        </p:nvSpPr>
        <p:spPr>
          <a:xfrm>
            <a:off x="5806440" y="1719072"/>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縦型ショート</a:t>
            </a:r>
            <a:endParaRPr lang="en-US" sz="1150" dirty="0"/>
          </a:p>
        </p:txBody>
      </p:sp>
      <p:sp>
        <p:nvSpPr>
          <p:cNvPr id="15" name="Text 13"/>
          <p:cNvSpPr txBox="1"/>
          <p:nvPr/>
        </p:nvSpPr>
        <p:spPr>
          <a:xfrm>
            <a:off x="7818120" y="1719072"/>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プロフィール→YouTube・HP</a:t>
            </a:r>
            <a:endParaRPr lang="en-US" sz="1150" dirty="0"/>
          </a:p>
        </p:txBody>
      </p:sp>
      <p:sp>
        <p:nvSpPr>
          <p:cNvPr id="16" name="Text 14"/>
          <p:cNvSpPr txBox="1"/>
          <p:nvPr/>
        </p:nvSpPr>
        <p:spPr>
          <a:xfrm>
            <a:off x="9921240" y="1719072"/>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再生数・リーチ数</a:t>
            </a:r>
            <a:endParaRPr lang="en-US" sz="1150" dirty="0"/>
          </a:p>
        </p:txBody>
      </p:sp>
      <p:sp>
        <p:nvSpPr>
          <p:cNvPr id="17" name="Shape 15"/>
          <p:cNvSpPr/>
          <p:nvPr/>
        </p:nvSpPr>
        <p:spPr>
          <a:xfrm>
            <a:off x="758952" y="2478024"/>
            <a:ext cx="2596896" cy="640080"/>
          </a:xfrm>
          <a:prstGeom prst="roundRect">
            <a:avLst>
              <a:gd name="adj" fmla="val 14286"/>
            </a:avLst>
          </a:prstGeom>
          <a:solidFill>
            <a:srgbClr val="1F5E5B">
              <a:alpha val="88000"/>
            </a:srgbClr>
          </a:solidFill>
          <a:ln w="12700">
            <a:solidFill>
              <a:srgbClr val="1F5E5B"/>
            </a:solidFill>
            <a:prstDash val="solid"/>
          </a:ln>
        </p:spPr>
      </p:sp>
      <p:sp>
        <p:nvSpPr>
          <p:cNvPr id="18" name="Text 16"/>
          <p:cNvSpPr txBox="1"/>
          <p:nvPr/>
        </p:nvSpPr>
        <p:spPr>
          <a:xfrm>
            <a:off x="758952" y="2478024"/>
            <a:ext cx="259689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興味・関心</a:t>
            </a:r>
            <a:endParaRPr lang="en-US" sz="1400" dirty="0"/>
          </a:p>
        </p:txBody>
      </p:sp>
      <p:sp>
        <p:nvSpPr>
          <p:cNvPr id="19" name="Shape 17"/>
          <p:cNvSpPr/>
          <p:nvPr/>
        </p:nvSpPr>
        <p:spPr>
          <a:xfrm>
            <a:off x="3566160" y="2478024"/>
            <a:ext cx="8076895" cy="640080"/>
          </a:xfrm>
          <a:prstGeom prst="roundRect">
            <a:avLst>
              <a:gd name="adj" fmla="val 11429"/>
            </a:avLst>
          </a:prstGeom>
          <a:solidFill>
            <a:srgbClr val="FFFFFF"/>
          </a:solidFill>
          <a:ln w="9525">
            <a:solidFill>
              <a:srgbClr val="DCE7E5"/>
            </a:solidFill>
            <a:prstDash val="solid"/>
          </a:ln>
        </p:spPr>
      </p:sp>
      <p:sp>
        <p:nvSpPr>
          <p:cNvPr id="20" name="Text 18"/>
          <p:cNvSpPr txBox="1"/>
          <p:nvPr/>
        </p:nvSpPr>
        <p:spPr>
          <a:xfrm>
            <a:off x="3703320" y="2478024"/>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Instagram／YouTube</a:t>
            </a:r>
            <a:endParaRPr lang="en-US" sz="1150" dirty="0"/>
          </a:p>
        </p:txBody>
      </p:sp>
      <p:sp>
        <p:nvSpPr>
          <p:cNvPr id="21" name="Text 19"/>
          <p:cNvSpPr txBox="1"/>
          <p:nvPr/>
        </p:nvSpPr>
        <p:spPr>
          <a:xfrm>
            <a:off x="5806440" y="2478024"/>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デザイン重視／長尺解説</a:t>
            </a:r>
            <a:endParaRPr lang="en-US" sz="1150" dirty="0"/>
          </a:p>
        </p:txBody>
      </p:sp>
      <p:sp>
        <p:nvSpPr>
          <p:cNvPr id="22" name="Text 20"/>
          <p:cNvSpPr txBox="1"/>
          <p:nvPr/>
        </p:nvSpPr>
        <p:spPr>
          <a:xfrm>
            <a:off x="7818120" y="2478024"/>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フォロー・保存・登録</a:t>
            </a:r>
            <a:endParaRPr lang="en-US" sz="1150" dirty="0"/>
          </a:p>
        </p:txBody>
      </p:sp>
      <p:sp>
        <p:nvSpPr>
          <p:cNvPr id="23" name="Text 21"/>
          <p:cNvSpPr txBox="1"/>
          <p:nvPr/>
        </p:nvSpPr>
        <p:spPr>
          <a:xfrm>
            <a:off x="9921240" y="2478024"/>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保存数・視聴維持率</a:t>
            </a:r>
            <a:endParaRPr lang="en-US" sz="1150" dirty="0"/>
          </a:p>
        </p:txBody>
      </p:sp>
      <p:sp>
        <p:nvSpPr>
          <p:cNvPr id="24" name="Shape 22"/>
          <p:cNvSpPr/>
          <p:nvPr/>
        </p:nvSpPr>
        <p:spPr>
          <a:xfrm>
            <a:off x="923544" y="3236976"/>
            <a:ext cx="2267712" cy="640080"/>
          </a:xfrm>
          <a:prstGeom prst="roundRect">
            <a:avLst>
              <a:gd name="adj" fmla="val 14286"/>
            </a:avLst>
          </a:prstGeom>
          <a:solidFill>
            <a:srgbClr val="1F5E5B">
              <a:alpha val="76000"/>
            </a:srgbClr>
          </a:solidFill>
          <a:ln w="12700">
            <a:solidFill>
              <a:srgbClr val="1F5E5B"/>
            </a:solidFill>
            <a:prstDash val="solid"/>
          </a:ln>
        </p:spPr>
      </p:sp>
      <p:sp>
        <p:nvSpPr>
          <p:cNvPr id="25" name="Text 23"/>
          <p:cNvSpPr txBox="1"/>
          <p:nvPr/>
        </p:nvSpPr>
        <p:spPr>
          <a:xfrm>
            <a:off x="923544" y="3236976"/>
            <a:ext cx="226771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比較・検討</a:t>
            </a:r>
            <a:endParaRPr lang="en-US" sz="1400" dirty="0"/>
          </a:p>
        </p:txBody>
      </p:sp>
      <p:sp>
        <p:nvSpPr>
          <p:cNvPr id="26" name="Shape 24"/>
          <p:cNvSpPr/>
          <p:nvPr/>
        </p:nvSpPr>
        <p:spPr>
          <a:xfrm>
            <a:off x="3566160" y="3236976"/>
            <a:ext cx="8076895" cy="640080"/>
          </a:xfrm>
          <a:prstGeom prst="roundRect">
            <a:avLst>
              <a:gd name="adj" fmla="val 11429"/>
            </a:avLst>
          </a:prstGeom>
          <a:solidFill>
            <a:srgbClr val="F4F8F7"/>
          </a:solidFill>
          <a:ln w="9525">
            <a:solidFill>
              <a:srgbClr val="DCE7E5"/>
            </a:solidFill>
            <a:prstDash val="solid"/>
          </a:ln>
        </p:spPr>
      </p:sp>
      <p:sp>
        <p:nvSpPr>
          <p:cNvPr id="27" name="Text 25"/>
          <p:cNvSpPr txBox="1"/>
          <p:nvPr/>
        </p:nvSpPr>
        <p:spPr>
          <a:xfrm>
            <a:off x="3703320" y="3236976"/>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YouTube／HP／Googleマップ</a:t>
            </a:r>
            <a:endParaRPr lang="en-US" sz="1150" dirty="0"/>
          </a:p>
        </p:txBody>
      </p:sp>
      <p:sp>
        <p:nvSpPr>
          <p:cNvPr id="28" name="Text 26"/>
          <p:cNvSpPr txBox="1"/>
          <p:nvPr/>
        </p:nvSpPr>
        <p:spPr>
          <a:xfrm>
            <a:off x="5806440" y="3236976"/>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長尺解説・FAQ</a:t>
            </a:r>
            <a:endParaRPr lang="en-US" sz="1150" dirty="0"/>
          </a:p>
        </p:txBody>
      </p:sp>
      <p:sp>
        <p:nvSpPr>
          <p:cNvPr id="29" name="Text 27"/>
          <p:cNvSpPr txBox="1"/>
          <p:nvPr/>
        </p:nvSpPr>
        <p:spPr>
          <a:xfrm>
            <a:off x="7818120" y="3236976"/>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問い合わせフォーム・電話・LINE</a:t>
            </a:r>
            <a:endParaRPr lang="en-US" sz="1150" dirty="0"/>
          </a:p>
        </p:txBody>
      </p:sp>
      <p:sp>
        <p:nvSpPr>
          <p:cNvPr id="30" name="Text 28"/>
          <p:cNvSpPr txBox="1"/>
          <p:nvPr/>
        </p:nvSpPr>
        <p:spPr>
          <a:xfrm>
            <a:off x="9921240" y="3236976"/>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HP遷移数</a:t>
            </a:r>
            <a:endParaRPr lang="en-US" sz="1150" dirty="0"/>
          </a:p>
        </p:txBody>
      </p:sp>
      <p:sp>
        <p:nvSpPr>
          <p:cNvPr id="31" name="Shape 29"/>
          <p:cNvSpPr/>
          <p:nvPr/>
        </p:nvSpPr>
        <p:spPr>
          <a:xfrm>
            <a:off x="1088136" y="3995928"/>
            <a:ext cx="1938528" cy="640080"/>
          </a:xfrm>
          <a:prstGeom prst="roundRect">
            <a:avLst>
              <a:gd name="adj" fmla="val 14286"/>
            </a:avLst>
          </a:prstGeom>
          <a:solidFill>
            <a:srgbClr val="E07B39"/>
          </a:solidFill>
          <a:ln w="12700">
            <a:solidFill>
              <a:srgbClr val="E07B39"/>
            </a:solidFill>
            <a:prstDash val="solid"/>
          </a:ln>
        </p:spPr>
      </p:sp>
      <p:sp>
        <p:nvSpPr>
          <p:cNvPr id="32" name="Text 30"/>
          <p:cNvSpPr txBox="1"/>
          <p:nvPr/>
        </p:nvSpPr>
        <p:spPr>
          <a:xfrm>
            <a:off x="1088136" y="3995928"/>
            <a:ext cx="1938528"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問い合わせ</a:t>
            </a:r>
            <a:endParaRPr lang="en-US" sz="1400" dirty="0"/>
          </a:p>
        </p:txBody>
      </p:sp>
      <p:sp>
        <p:nvSpPr>
          <p:cNvPr id="33" name="Shape 31"/>
          <p:cNvSpPr/>
          <p:nvPr/>
        </p:nvSpPr>
        <p:spPr>
          <a:xfrm>
            <a:off x="3566160" y="3995928"/>
            <a:ext cx="8076895" cy="640080"/>
          </a:xfrm>
          <a:prstGeom prst="roundRect">
            <a:avLst>
              <a:gd name="adj" fmla="val 11429"/>
            </a:avLst>
          </a:prstGeom>
          <a:solidFill>
            <a:srgbClr val="FFFFFF"/>
          </a:solidFill>
          <a:ln w="9525">
            <a:solidFill>
              <a:srgbClr val="DCE7E5"/>
            </a:solidFill>
            <a:prstDash val="solid"/>
          </a:ln>
        </p:spPr>
      </p:sp>
      <p:sp>
        <p:nvSpPr>
          <p:cNvPr id="34" name="Text 32"/>
          <p:cNvSpPr txBox="1"/>
          <p:nvPr/>
        </p:nvSpPr>
        <p:spPr>
          <a:xfrm>
            <a:off x="3703320" y="3995928"/>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HP／LINE／電話</a:t>
            </a:r>
            <a:endParaRPr lang="en-US" sz="1150" dirty="0"/>
          </a:p>
        </p:txBody>
      </p:sp>
      <p:sp>
        <p:nvSpPr>
          <p:cNvPr id="35" name="Text 33"/>
          <p:cNvSpPr txBox="1"/>
          <p:nvPr/>
        </p:nvSpPr>
        <p:spPr>
          <a:xfrm>
            <a:off x="5806440" y="3995928"/>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FAQ動画（自動返信内）</a:t>
            </a:r>
            <a:endParaRPr lang="en-US" sz="1150" dirty="0"/>
          </a:p>
        </p:txBody>
      </p:sp>
      <p:sp>
        <p:nvSpPr>
          <p:cNvPr id="36" name="Text 34"/>
          <p:cNvSpPr txBox="1"/>
          <p:nvPr/>
        </p:nvSpPr>
        <p:spPr>
          <a:xfrm>
            <a:off x="7818120" y="3995928"/>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無料相談・体験の予約</a:t>
            </a:r>
            <a:endParaRPr lang="en-US" sz="1150" dirty="0"/>
          </a:p>
        </p:txBody>
      </p:sp>
      <p:sp>
        <p:nvSpPr>
          <p:cNvPr id="37" name="Text 35"/>
          <p:cNvSpPr txBox="1"/>
          <p:nvPr/>
        </p:nvSpPr>
        <p:spPr>
          <a:xfrm>
            <a:off x="9921240" y="3995928"/>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問い合わせ数</a:t>
            </a:r>
            <a:endParaRPr lang="en-US" sz="1150" dirty="0"/>
          </a:p>
        </p:txBody>
      </p:sp>
      <p:sp>
        <p:nvSpPr>
          <p:cNvPr id="38" name="Shape 36"/>
          <p:cNvSpPr/>
          <p:nvPr/>
        </p:nvSpPr>
        <p:spPr>
          <a:xfrm>
            <a:off x="1252728" y="4754880"/>
            <a:ext cx="1609344" cy="640080"/>
          </a:xfrm>
          <a:prstGeom prst="roundRect">
            <a:avLst>
              <a:gd name="adj" fmla="val 14286"/>
            </a:avLst>
          </a:prstGeom>
          <a:solidFill>
            <a:srgbClr val="E07B39"/>
          </a:solidFill>
          <a:ln w="12700">
            <a:solidFill>
              <a:srgbClr val="E07B39"/>
            </a:solidFill>
            <a:prstDash val="solid"/>
          </a:ln>
        </p:spPr>
      </p:sp>
      <p:sp>
        <p:nvSpPr>
          <p:cNvPr id="39" name="Text 37"/>
          <p:cNvSpPr txBox="1"/>
          <p:nvPr/>
        </p:nvSpPr>
        <p:spPr>
          <a:xfrm>
            <a:off x="1252728" y="4754880"/>
            <a:ext cx="160934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利用開始</a:t>
            </a:r>
            <a:endParaRPr lang="en-US" sz="1400" dirty="0"/>
          </a:p>
        </p:txBody>
      </p:sp>
      <p:sp>
        <p:nvSpPr>
          <p:cNvPr id="40" name="Shape 38"/>
          <p:cNvSpPr/>
          <p:nvPr/>
        </p:nvSpPr>
        <p:spPr>
          <a:xfrm>
            <a:off x="3566160" y="4754880"/>
            <a:ext cx="8076895" cy="640080"/>
          </a:xfrm>
          <a:prstGeom prst="roundRect">
            <a:avLst>
              <a:gd name="adj" fmla="val 11429"/>
            </a:avLst>
          </a:prstGeom>
          <a:solidFill>
            <a:srgbClr val="F4F8F7"/>
          </a:solidFill>
          <a:ln w="9525">
            <a:solidFill>
              <a:srgbClr val="DCE7E5"/>
            </a:solidFill>
            <a:prstDash val="solid"/>
          </a:ln>
        </p:spPr>
      </p:sp>
      <p:sp>
        <p:nvSpPr>
          <p:cNvPr id="41" name="Text 39"/>
          <p:cNvSpPr txBox="1"/>
          <p:nvPr/>
        </p:nvSpPr>
        <p:spPr>
          <a:xfrm>
            <a:off x="3703320" y="4754880"/>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初回面談・同意書取得</a:t>
            </a:r>
            <a:endParaRPr lang="en-US" sz="1150" dirty="0"/>
          </a:p>
        </p:txBody>
      </p:sp>
      <p:sp>
        <p:nvSpPr>
          <p:cNvPr id="42" name="Text 40"/>
          <p:cNvSpPr txBox="1"/>
          <p:nvPr/>
        </p:nvSpPr>
        <p:spPr>
          <a:xfrm>
            <a:off x="5806440" y="4754880"/>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事前送付動画</a:t>
            </a:r>
            <a:endParaRPr lang="en-US" sz="1150" dirty="0"/>
          </a:p>
        </p:txBody>
      </p:sp>
      <p:sp>
        <p:nvSpPr>
          <p:cNvPr id="43" name="Text 41"/>
          <p:cNvSpPr txBox="1"/>
          <p:nvPr/>
        </p:nvSpPr>
        <p:spPr>
          <a:xfrm>
            <a:off x="7818120" y="4754880"/>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施術開始</a:t>
            </a:r>
            <a:endParaRPr lang="en-US" sz="1150" dirty="0"/>
          </a:p>
        </p:txBody>
      </p:sp>
      <p:sp>
        <p:nvSpPr>
          <p:cNvPr id="44" name="Text 42"/>
          <p:cNvSpPr txBox="1"/>
          <p:nvPr/>
        </p:nvSpPr>
        <p:spPr>
          <a:xfrm>
            <a:off x="9921240" y="4754880"/>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利用開始数</a:t>
            </a:r>
            <a:endParaRPr lang="en-US" sz="1150" dirty="0"/>
          </a:p>
        </p:txBody>
      </p:sp>
      <p:sp>
        <p:nvSpPr>
          <p:cNvPr id="45" name="Shape 43"/>
          <p:cNvSpPr/>
          <p:nvPr/>
        </p:nvSpPr>
        <p:spPr>
          <a:xfrm>
            <a:off x="1417320" y="5513832"/>
            <a:ext cx="1280160" cy="640080"/>
          </a:xfrm>
          <a:prstGeom prst="roundRect">
            <a:avLst>
              <a:gd name="adj" fmla="val 14286"/>
            </a:avLst>
          </a:prstGeom>
          <a:solidFill>
            <a:srgbClr val="E07B39"/>
          </a:solidFill>
          <a:ln w="12700">
            <a:solidFill>
              <a:srgbClr val="E07B39"/>
            </a:solidFill>
            <a:prstDash val="solid"/>
          </a:ln>
        </p:spPr>
      </p:sp>
      <p:sp>
        <p:nvSpPr>
          <p:cNvPr id="46" name="Text 44"/>
          <p:cNvSpPr txBox="1"/>
          <p:nvPr/>
        </p:nvSpPr>
        <p:spPr>
          <a:xfrm>
            <a:off x="1417320" y="5513832"/>
            <a:ext cx="12801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継続・紹介</a:t>
            </a:r>
            <a:endParaRPr lang="en-US" sz="1400" dirty="0"/>
          </a:p>
        </p:txBody>
      </p:sp>
      <p:sp>
        <p:nvSpPr>
          <p:cNvPr id="47" name="Shape 45"/>
          <p:cNvSpPr/>
          <p:nvPr/>
        </p:nvSpPr>
        <p:spPr>
          <a:xfrm>
            <a:off x="3566160" y="5513832"/>
            <a:ext cx="8076895" cy="640080"/>
          </a:xfrm>
          <a:prstGeom prst="roundRect">
            <a:avLst>
              <a:gd name="adj" fmla="val 11429"/>
            </a:avLst>
          </a:prstGeom>
          <a:solidFill>
            <a:srgbClr val="FFFFFF"/>
          </a:solidFill>
          <a:ln w="9525">
            <a:solidFill>
              <a:srgbClr val="DCE7E5"/>
            </a:solidFill>
            <a:prstDash val="solid"/>
          </a:ln>
        </p:spPr>
      </p:sp>
      <p:sp>
        <p:nvSpPr>
          <p:cNvPr id="48" name="Text 46"/>
          <p:cNvSpPr txBox="1"/>
          <p:nvPr/>
        </p:nvSpPr>
        <p:spPr>
          <a:xfrm>
            <a:off x="3703320" y="5513832"/>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定期便り・LINE</a:t>
            </a:r>
            <a:endParaRPr lang="en-US" sz="1150" dirty="0"/>
          </a:p>
        </p:txBody>
      </p:sp>
      <p:sp>
        <p:nvSpPr>
          <p:cNvPr id="49" name="Text 47"/>
          <p:cNvSpPr txBox="1"/>
          <p:nvPr/>
        </p:nvSpPr>
        <p:spPr>
          <a:xfrm>
            <a:off x="5806440" y="5513832"/>
            <a:ext cx="192024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季節のケア動画</a:t>
            </a:r>
            <a:endParaRPr lang="en-US" sz="1150" dirty="0"/>
          </a:p>
        </p:txBody>
      </p:sp>
      <p:sp>
        <p:nvSpPr>
          <p:cNvPr id="50" name="Text 48"/>
          <p:cNvSpPr txBox="1"/>
          <p:nvPr/>
        </p:nvSpPr>
        <p:spPr>
          <a:xfrm>
            <a:off x="7818120" y="5513832"/>
            <a:ext cx="2011680" cy="640080"/>
          </a:xfrm>
          <a:prstGeom prst="rect">
            <a:avLst/>
          </a:prstGeom>
          <a:noFill/>
          <a:ln/>
        </p:spPr>
        <p:txBody>
          <a:bodyPr wrap="square" lIns="0" tIns="0" rIns="0" bIns="0" rtlCol="0" anchor="ctr"/>
          <a:lstStyle/>
          <a:p>
            <a:pPr indent="0" marL="0">
              <a:buNone/>
            </a:pPr>
            <a:r>
              <a:rPr lang="en-US" sz="1150" dirty="0">
                <a:solidFill>
                  <a:srgbClr val="2A3332"/>
                </a:solidFill>
                <a:latin typeface="Meiryo UI" pitchFamily="34" charset="0"/>
                <a:ea typeface="Meiryo UI" pitchFamily="34" charset="-122"/>
                <a:cs typeface="Meiryo UI" pitchFamily="34" charset="-120"/>
              </a:rPr>
              <a:t>ご近所・知人への紹介</a:t>
            </a:r>
            <a:endParaRPr lang="en-US" sz="1150" dirty="0"/>
          </a:p>
        </p:txBody>
      </p:sp>
      <p:sp>
        <p:nvSpPr>
          <p:cNvPr id="51" name="Text 49"/>
          <p:cNvSpPr txBox="1"/>
          <p:nvPr/>
        </p:nvSpPr>
        <p:spPr>
          <a:xfrm>
            <a:off x="9921240" y="5513832"/>
            <a:ext cx="1719072" cy="640080"/>
          </a:xfrm>
          <a:prstGeom prst="rect">
            <a:avLst/>
          </a:prstGeom>
          <a:noFill/>
          <a:ln/>
        </p:spPr>
        <p:txBody>
          <a:bodyPr wrap="square" lIns="0" tIns="0" rIns="0" bIns="0" rtlCol="0" anchor="ctr"/>
          <a:lstStyle/>
          <a:p>
            <a:pPr indent="0" marL="0">
              <a:buNone/>
            </a:pPr>
            <a:r>
              <a:rPr lang="en-US" sz="1150" b="1" dirty="0">
                <a:solidFill>
                  <a:srgbClr val="1F5E5B"/>
                </a:solidFill>
                <a:latin typeface="Meiryo UI" pitchFamily="34" charset="0"/>
                <a:ea typeface="Meiryo UI" pitchFamily="34" charset="-122"/>
                <a:cs typeface="Meiryo UI" pitchFamily="34" charset="-120"/>
              </a:rPr>
              <a:t>継続率・紹介数</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広告規制への配慮：安心して使い続けられる動画にする</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訪問マッサージ（あん摩マッサージ指圧・はり・きゅう）の広告は、法令により表示できる内容が制限されています。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14</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868680" y="2194560"/>
            <a:ext cx="777240" cy="777240"/>
          </a:xfrm>
          <a:prstGeom prst="ellipse">
            <a:avLst/>
          </a:prstGeom>
          <a:solidFill>
            <a:srgbClr val="E7F2EF"/>
          </a:solidFill>
          <a:ln w="12700">
            <a:solidFill>
              <a:srgbClr val="E7F2EF"/>
            </a:solidFill>
            <a:prstDash val="solid"/>
          </a:ln>
        </p:spPr>
      </p:sp>
      <p:pic>
        <p:nvPicPr>
          <p:cNvPr id="9" name="Image 0" descr="preencoded.png">    </p:cNvPr>
          <p:cNvPicPr>
            <a:picLocks noChangeAspect="1"/>
          </p:cNvPicPr>
          <p:nvPr/>
        </p:nvPicPr>
        <p:blipFill>
          <a:blip r:embed="rId1"/>
          <a:stretch>
            <a:fillRect/>
          </a:stretch>
        </p:blipFill>
        <p:spPr>
          <a:xfrm>
            <a:off x="1070762" y="2396642"/>
            <a:ext cx="373075" cy="373075"/>
          </a:xfrm>
          <a:prstGeom prst="rect">
            <a:avLst/>
          </a:prstGeom>
        </p:spPr>
      </p:pic>
      <p:sp>
        <p:nvSpPr>
          <p:cNvPr id="10" name="Text 7"/>
          <p:cNvSpPr txBox="1"/>
          <p:nvPr/>
        </p:nvSpPr>
        <p:spPr>
          <a:xfrm>
            <a:off x="1920240" y="2194560"/>
            <a:ext cx="3764128" cy="41148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効果・効能を断定しない</a:t>
            </a:r>
            <a:endParaRPr lang="en-US" sz="1600" dirty="0"/>
          </a:p>
        </p:txBody>
      </p:sp>
      <p:sp>
        <p:nvSpPr>
          <p:cNvPr id="11" name="Text 8"/>
          <p:cNvSpPr txBox="1"/>
          <p:nvPr/>
        </p:nvSpPr>
        <p:spPr>
          <a:xfrm>
            <a:off x="1920240" y="2651760"/>
            <a:ext cx="3764128" cy="777240"/>
          </a:xfrm>
          <a:prstGeom prst="rect">
            <a:avLst/>
          </a:prstGeom>
          <a:noFill/>
          <a:ln/>
        </p:spPr>
        <p:txBody>
          <a:bodyPr wrap="square" lIns="0" tIns="0" rIns="0" bIns="0" rtlCol="0" anchor="t"/>
          <a:lstStyle/>
          <a:p>
            <a:pPr indent="0" marL="0">
              <a:buNone/>
            </a:pPr>
            <a:r>
              <a:rPr lang="en-US" sz="1250" dirty="0">
                <a:solidFill>
                  <a:srgbClr val="2A3332"/>
                </a:solidFill>
                <a:latin typeface="Meiryo UI" pitchFamily="34" charset="0"/>
                <a:ea typeface="Meiryo UI" pitchFamily="34" charset="-122"/>
                <a:cs typeface="Meiryo UI" pitchFamily="34" charset="-120"/>
              </a:rPr>
              <a:t>「治る」「必ず良くなる」など、効果・効能を断定・保証する表現を用いません。</a:t>
            </a:r>
            <a:endParaRPr lang="en-US" sz="1250" dirty="0"/>
          </a:p>
        </p:txBody>
      </p:sp>
      <p:sp>
        <p:nvSpPr>
          <p:cNvPr id="12" name="Shape 9"/>
          <p:cNvSpPr/>
          <p:nvPr/>
        </p:nvSpPr>
        <p:spPr>
          <a:xfrm>
            <a:off x="6233008"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6553048" y="2194560"/>
            <a:ext cx="777240" cy="777240"/>
          </a:xfrm>
          <a:prstGeom prst="ellipse">
            <a:avLst/>
          </a:prstGeom>
          <a:solidFill>
            <a:srgbClr val="E7F2EF"/>
          </a:solidFill>
          <a:ln w="12700">
            <a:solidFill>
              <a:srgbClr val="E7F2EF"/>
            </a:solidFill>
            <a:prstDash val="solid"/>
          </a:ln>
        </p:spPr>
      </p:sp>
      <p:pic>
        <p:nvPicPr>
          <p:cNvPr id="14" name="Image 1" descr="preencoded.png">    </p:cNvPr>
          <p:cNvPicPr>
            <a:picLocks noChangeAspect="1"/>
          </p:cNvPicPr>
          <p:nvPr/>
        </p:nvPicPr>
        <p:blipFill>
          <a:blip r:embed="rId2"/>
          <a:stretch>
            <a:fillRect/>
          </a:stretch>
        </p:blipFill>
        <p:spPr>
          <a:xfrm>
            <a:off x="6755130" y="2396642"/>
            <a:ext cx="373075" cy="373075"/>
          </a:xfrm>
          <a:prstGeom prst="rect">
            <a:avLst/>
          </a:prstGeom>
        </p:spPr>
      </p:pic>
      <p:sp>
        <p:nvSpPr>
          <p:cNvPr id="15" name="Text 11"/>
          <p:cNvSpPr txBox="1"/>
          <p:nvPr/>
        </p:nvSpPr>
        <p:spPr>
          <a:xfrm>
            <a:off x="7604608" y="2194560"/>
            <a:ext cx="3764128" cy="41148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資格・技能は法令の範囲で表記</a:t>
            </a:r>
            <a:endParaRPr lang="en-US" sz="1600" dirty="0"/>
          </a:p>
        </p:txBody>
      </p:sp>
      <p:sp>
        <p:nvSpPr>
          <p:cNvPr id="16" name="Text 12"/>
          <p:cNvSpPr txBox="1"/>
          <p:nvPr/>
        </p:nvSpPr>
        <p:spPr>
          <a:xfrm>
            <a:off x="7604608" y="2651760"/>
            <a:ext cx="3764128" cy="777240"/>
          </a:xfrm>
          <a:prstGeom prst="rect">
            <a:avLst/>
          </a:prstGeom>
          <a:noFill/>
          <a:ln/>
        </p:spPr>
        <p:txBody>
          <a:bodyPr wrap="square" lIns="0" tIns="0" rIns="0" bIns="0" rtlCol="0" anchor="t"/>
          <a:lstStyle/>
          <a:p>
            <a:pPr indent="0" marL="0">
              <a:buNone/>
            </a:pPr>
            <a:r>
              <a:rPr lang="en-US" sz="1250" dirty="0">
                <a:solidFill>
                  <a:srgbClr val="2A3332"/>
                </a:solidFill>
                <a:latin typeface="Meiryo UI" pitchFamily="34" charset="0"/>
                <a:ea typeface="Meiryo UI" pitchFamily="34" charset="-122"/>
                <a:cs typeface="Meiryo UI" pitchFamily="34" charset="-120"/>
              </a:rPr>
              <a:t>施術者の資格・技能の表記は、法令で認められた範囲で行います。</a:t>
            </a:r>
            <a:endParaRPr lang="en-US" sz="1250" dirty="0"/>
          </a:p>
        </p:txBody>
      </p:sp>
      <p:sp>
        <p:nvSpPr>
          <p:cNvPr id="17" name="Shape 13"/>
          <p:cNvSpPr/>
          <p:nvPr/>
        </p:nvSpPr>
        <p:spPr>
          <a:xfrm>
            <a:off x="548640"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68680" y="4206240"/>
            <a:ext cx="777240" cy="777240"/>
          </a:xfrm>
          <a:prstGeom prst="ellipse">
            <a:avLst/>
          </a:prstGeom>
          <a:solidFill>
            <a:srgbClr val="E7F2EF"/>
          </a:solidFill>
          <a:ln w="12700">
            <a:solidFill>
              <a:srgbClr val="E7F2EF"/>
            </a:solidFill>
            <a:prstDash val="solid"/>
          </a:ln>
        </p:spPr>
      </p:sp>
      <p:pic>
        <p:nvPicPr>
          <p:cNvPr id="19" name="Image 2" descr="preencoded.png">    </p:cNvPr>
          <p:cNvPicPr>
            <a:picLocks noChangeAspect="1"/>
          </p:cNvPicPr>
          <p:nvPr/>
        </p:nvPicPr>
        <p:blipFill>
          <a:blip r:embed="rId3"/>
          <a:stretch>
            <a:fillRect/>
          </a:stretch>
        </p:blipFill>
        <p:spPr>
          <a:xfrm>
            <a:off x="1070762" y="4408322"/>
            <a:ext cx="373075" cy="373075"/>
          </a:xfrm>
          <a:prstGeom prst="rect">
            <a:avLst/>
          </a:prstGeom>
        </p:spPr>
      </p:pic>
      <p:sp>
        <p:nvSpPr>
          <p:cNvPr id="20" name="Text 15"/>
          <p:cNvSpPr txBox="1"/>
          <p:nvPr/>
        </p:nvSpPr>
        <p:spPr>
          <a:xfrm>
            <a:off x="1920240" y="4206240"/>
            <a:ext cx="3764128" cy="41148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利用者様の声は許諾と匿名化</a:t>
            </a:r>
            <a:endParaRPr lang="en-US" sz="1600" dirty="0"/>
          </a:p>
        </p:txBody>
      </p:sp>
      <p:sp>
        <p:nvSpPr>
          <p:cNvPr id="21" name="Text 16"/>
          <p:cNvSpPr txBox="1"/>
          <p:nvPr/>
        </p:nvSpPr>
        <p:spPr>
          <a:xfrm>
            <a:off x="1920240" y="4663440"/>
            <a:ext cx="3764128" cy="777240"/>
          </a:xfrm>
          <a:prstGeom prst="rect">
            <a:avLst/>
          </a:prstGeom>
          <a:noFill/>
          <a:ln/>
        </p:spPr>
        <p:txBody>
          <a:bodyPr wrap="square" lIns="0" tIns="0" rIns="0" bIns="0" rtlCol="0" anchor="t"/>
          <a:lstStyle/>
          <a:p>
            <a:pPr indent="0" marL="0">
              <a:buNone/>
            </a:pPr>
            <a:r>
              <a:rPr lang="en-US" sz="1250" dirty="0">
                <a:solidFill>
                  <a:srgbClr val="2A3332"/>
                </a:solidFill>
                <a:latin typeface="Meiryo UI" pitchFamily="34" charset="0"/>
                <a:ea typeface="Meiryo UI" pitchFamily="34" charset="-122"/>
                <a:cs typeface="Meiryo UI" pitchFamily="34" charset="-120"/>
              </a:rPr>
              <a:t>ご利用者様の声・写真は必ず書面で許諾を取得し、個人が特定されない形で使用します。</a:t>
            </a:r>
            <a:endParaRPr lang="en-US" sz="1250" dirty="0"/>
          </a:p>
        </p:txBody>
      </p:sp>
      <p:sp>
        <p:nvSpPr>
          <p:cNvPr id="22" name="Shape 17"/>
          <p:cNvSpPr/>
          <p:nvPr/>
        </p:nvSpPr>
        <p:spPr>
          <a:xfrm>
            <a:off x="6233008"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6553048" y="4206240"/>
            <a:ext cx="777240" cy="777240"/>
          </a:xfrm>
          <a:prstGeom prst="ellipse">
            <a:avLst/>
          </a:prstGeom>
          <a:solidFill>
            <a:srgbClr val="E7F2EF"/>
          </a:solidFill>
          <a:ln w="12700">
            <a:solidFill>
              <a:srgbClr val="E7F2EF"/>
            </a:solidFill>
            <a:prstDash val="solid"/>
          </a:ln>
        </p:spPr>
      </p:sp>
      <p:pic>
        <p:nvPicPr>
          <p:cNvPr id="24" name="Image 3" descr="preencoded.png">    </p:cNvPr>
          <p:cNvPicPr>
            <a:picLocks noChangeAspect="1"/>
          </p:cNvPicPr>
          <p:nvPr/>
        </p:nvPicPr>
        <p:blipFill>
          <a:blip r:embed="rId4"/>
          <a:stretch>
            <a:fillRect/>
          </a:stretch>
        </p:blipFill>
        <p:spPr>
          <a:xfrm>
            <a:off x="6755130" y="4408322"/>
            <a:ext cx="373075" cy="373075"/>
          </a:xfrm>
          <a:prstGeom prst="rect">
            <a:avLst/>
          </a:prstGeom>
        </p:spPr>
      </p:pic>
      <p:sp>
        <p:nvSpPr>
          <p:cNvPr id="25" name="Text 19"/>
          <p:cNvSpPr txBox="1"/>
          <p:nvPr/>
        </p:nvSpPr>
        <p:spPr>
          <a:xfrm>
            <a:off x="7604608" y="4206240"/>
            <a:ext cx="3764128" cy="411480"/>
          </a:xfrm>
          <a:prstGeom prst="rect">
            <a:avLst/>
          </a:prstGeom>
          <a:noFill/>
          <a:ln/>
        </p:spPr>
        <p:txBody>
          <a:bodyPr wrap="square" lIns="0" tIns="0" rIns="0" bIns="0" rtlCol="0" anchor="t"/>
          <a:lstStyle/>
          <a:p>
            <a:pPr indent="0" marL="0">
              <a:buNone/>
            </a:pPr>
            <a:r>
              <a:rPr lang="en-US" sz="1600" b="1" dirty="0">
                <a:solidFill>
                  <a:srgbClr val="1F5E5B"/>
                </a:solidFill>
                <a:latin typeface="Meiryo UI" pitchFamily="34" charset="0"/>
                <a:ea typeface="Meiryo UI" pitchFamily="34" charset="-122"/>
                <a:cs typeface="Meiryo UI" pitchFamily="34" charset="-120"/>
              </a:rPr>
              <a:t>公開前のダブルチェック</a:t>
            </a:r>
            <a:endParaRPr lang="en-US" sz="1600" dirty="0"/>
          </a:p>
        </p:txBody>
      </p:sp>
      <p:sp>
        <p:nvSpPr>
          <p:cNvPr id="26" name="Text 20"/>
          <p:cNvSpPr txBox="1"/>
          <p:nvPr/>
        </p:nvSpPr>
        <p:spPr>
          <a:xfrm>
            <a:off x="7604608" y="4663440"/>
            <a:ext cx="3764128" cy="777240"/>
          </a:xfrm>
          <a:prstGeom prst="rect">
            <a:avLst/>
          </a:prstGeom>
          <a:noFill/>
          <a:ln/>
        </p:spPr>
        <p:txBody>
          <a:bodyPr wrap="square" lIns="0" tIns="0" rIns="0" bIns="0" rtlCol="0" anchor="t"/>
          <a:lstStyle/>
          <a:p>
            <a:pPr indent="0" marL="0">
              <a:buNone/>
            </a:pPr>
            <a:r>
              <a:rPr lang="en-US" sz="1250" dirty="0">
                <a:solidFill>
                  <a:srgbClr val="2A3332"/>
                </a:solidFill>
                <a:latin typeface="Meiryo UI" pitchFamily="34" charset="0"/>
                <a:ea typeface="Meiryo UI" pitchFamily="34" charset="-122"/>
                <a:cs typeface="Meiryo UI" pitchFamily="34" charset="-120"/>
              </a:rPr>
              <a:t>最終的な表現は、必要に応じて貴社および関係機関のご確認を経て公開します。</a:t>
            </a:r>
            <a:endParaRPr lang="en-US" sz="1250" dirty="0"/>
          </a:p>
        </p:txBody>
      </p:sp>
      <p:sp>
        <p:nvSpPr>
          <p:cNvPr id="27" name="Text 21"/>
          <p:cNvSpPr txBox="1"/>
          <p:nvPr/>
        </p:nvSpPr>
        <p:spPr>
          <a:xfrm>
            <a:off x="548640" y="5943600"/>
            <a:ext cx="11094415" cy="365760"/>
          </a:xfrm>
          <a:prstGeom prst="rect">
            <a:avLst/>
          </a:prstGeom>
          <a:noFill/>
          <a:ln/>
        </p:spPr>
        <p:txBody>
          <a:bodyPr wrap="square" lIns="0" tIns="0" rIns="0" bIns="0" rtlCol="0" anchor="t"/>
          <a:lstStyle/>
          <a:p>
            <a:pPr algn="ctr" indent="0" marL="0">
              <a:buNone/>
            </a:pPr>
            <a:r>
              <a:rPr lang="en-US" sz="1250" b="1" dirty="0">
                <a:solidFill>
                  <a:srgbClr val="E07B39"/>
                </a:solidFill>
                <a:latin typeface="Meiryo UI" pitchFamily="34" charset="0"/>
                <a:ea typeface="Meiryo UI" pitchFamily="34" charset="-122"/>
                <a:cs typeface="Meiryo UI" pitchFamily="34" charset="-120"/>
              </a:rPr>
              <a:t>台本作成の段階から配慮することで、「攻めた表現で公開して後から差し替え」とならない設計にします。</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無料3本は「サービス紹介」ではなく「効果検証のプロトタイプ」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822960"/>
          </a:xfrm>
          <a:prstGeom prst="roundRect">
            <a:avLst>
              <a:gd name="adj" fmla="val 13333"/>
            </a:avLst>
          </a:prstGeom>
          <a:solidFill>
            <a:srgbClr val="163F3D"/>
          </a:solidFill>
          <a:ln w="12700">
            <a:solidFill>
              <a:srgbClr val="163F3D"/>
            </a:solidFill>
            <a:prstDash val="solid"/>
          </a:ln>
        </p:spPr>
      </p:sp>
      <p:sp>
        <p:nvSpPr>
          <p:cNvPr id="7" name="Text 5"/>
          <p:cNvSpPr txBox="1"/>
          <p:nvPr/>
        </p:nvSpPr>
        <p:spPr>
          <a:xfrm>
            <a:off x="914400" y="1371600"/>
            <a:ext cx="10362895" cy="822960"/>
          </a:xfrm>
          <a:prstGeom prst="rect">
            <a:avLst/>
          </a:prstGeom>
          <a:noFill/>
          <a:ln/>
        </p:spPr>
        <p:txBody>
          <a:bodyPr wrap="square" lIns="0" tIns="0" rIns="0" bIns="0" rtlCol="0" anchor="ctr"/>
          <a:lstStyle/>
          <a:p>
            <a:pPr indent="0" marL="0">
              <a:buNone/>
            </a:pPr>
            <a:r>
              <a:rPr lang="en-US" sz="1500" b="1" dirty="0">
                <a:solidFill>
                  <a:srgbClr val="FFFFFF"/>
                </a:solidFill>
                <a:latin typeface="Meiryo UI" pitchFamily="34" charset="0"/>
                <a:ea typeface="Meiryo UI" pitchFamily="34" charset="-122"/>
                <a:cs typeface="Meiryo UI" pitchFamily="34" charset="-120"/>
              </a:rPr>
              <a:t>プッシュとプル、どの型・どのターゲット・どのチャネルが最も成果につながるかを、</a:t>
            </a:r>
            <a:endParaRPr lang="en-US" sz="1500" dirty="0"/>
          </a:p>
          <a:p>
            <a:pPr indent="0" marL="0">
              <a:buNone/>
            </a:pPr>
            <a:r>
              <a:rPr lang="en-US" sz="1500" b="1" dirty="0">
                <a:solidFill>
                  <a:srgbClr val="FFFFFF"/>
                </a:solidFill>
                <a:latin typeface="Meiryo UI" pitchFamily="34" charset="0"/>
                <a:ea typeface="Meiryo UI" pitchFamily="34" charset="-122"/>
                <a:cs typeface="Meiryo UI" pitchFamily="34" charset="-120"/>
              </a:rPr>
              <a:t>あえて条件を変えた3本で同時に比較検証します。</a:t>
            </a:r>
            <a:endParaRPr lang="en-US" sz="1500" dirty="0"/>
          </a:p>
        </p:txBody>
      </p:sp>
      <p:sp>
        <p:nvSpPr>
          <p:cNvPr id="8" name="Shape 6"/>
          <p:cNvSpPr/>
          <p:nvPr/>
        </p:nvSpPr>
        <p:spPr>
          <a:xfrm>
            <a:off x="548640"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777240" y="2606040"/>
            <a:ext cx="502920" cy="502920"/>
          </a:xfrm>
          <a:prstGeom prst="ellipse">
            <a:avLst/>
          </a:prstGeom>
          <a:solidFill>
            <a:srgbClr val="E07B39"/>
          </a:solidFill>
          <a:ln w="12700">
            <a:solidFill>
              <a:srgbClr val="E07B39"/>
            </a:solidFill>
            <a:prstDash val="solid"/>
          </a:ln>
        </p:spPr>
      </p:sp>
      <p:sp>
        <p:nvSpPr>
          <p:cNvPr id="10" name="Text 8"/>
          <p:cNvSpPr txBox="1"/>
          <p:nvPr/>
        </p:nvSpPr>
        <p:spPr>
          <a:xfrm>
            <a:off x="777240"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1</a:t>
            </a:r>
            <a:endParaRPr lang="en-US" sz="1600" dirty="0"/>
          </a:p>
        </p:txBody>
      </p:sp>
      <p:sp>
        <p:nvSpPr>
          <p:cNvPr id="11" name="Text 9"/>
          <p:cNvSpPr txBox="1"/>
          <p:nvPr/>
        </p:nvSpPr>
        <p:spPr>
          <a:xfrm>
            <a:off x="1417320" y="2560320"/>
            <a:ext cx="2509418" cy="347472"/>
          </a:xfrm>
          <a:prstGeom prst="rect">
            <a:avLst/>
          </a:prstGeom>
          <a:noFill/>
          <a:ln/>
        </p:spPr>
        <p:txBody>
          <a:bodyPr wrap="square" lIns="0" tIns="0" rIns="0" bIns="0" rtlCol="0" anchor="t"/>
          <a:lstStyle/>
          <a:p>
            <a:pPr indent="0" marL="0">
              <a:buNone/>
            </a:pPr>
            <a:r>
              <a:rPr lang="en-US" sz="1500" b="1" dirty="0">
                <a:solidFill>
                  <a:srgbClr val="1F5E5B"/>
                </a:solidFill>
                <a:latin typeface="Meiryo UI" pitchFamily="34" charset="0"/>
                <a:ea typeface="Meiryo UI" pitchFamily="34" charset="-122"/>
                <a:cs typeface="Meiryo UI" pitchFamily="34" charset="-120"/>
              </a:rPr>
              <a:t>プッシュ検証</a:t>
            </a:r>
            <a:endParaRPr lang="en-US" sz="1500" dirty="0"/>
          </a:p>
        </p:txBody>
      </p:sp>
      <p:sp>
        <p:nvSpPr>
          <p:cNvPr id="12" name="Text 10"/>
          <p:cNvSpPr txBox="1"/>
          <p:nvPr/>
        </p:nvSpPr>
        <p:spPr>
          <a:xfrm>
            <a:off x="1417320" y="2880360"/>
            <a:ext cx="2509418" cy="274320"/>
          </a:xfrm>
          <a:prstGeom prst="rect">
            <a:avLst/>
          </a:prstGeom>
          <a:noFill/>
          <a:ln/>
        </p:spPr>
        <p:txBody>
          <a:bodyPr wrap="square" lIns="0" tIns="0" rIns="0" bIns="0" rtlCol="0" anchor="t"/>
          <a:lstStyle/>
          <a:p>
            <a:pPr indent="0" marL="0">
              <a:buNone/>
            </a:pPr>
            <a:r>
              <a:rPr lang="en-US" sz="1150" b="1" dirty="0">
                <a:solidFill>
                  <a:srgbClr val="E07B39"/>
                </a:solidFill>
                <a:latin typeface="Meiryo UI" pitchFamily="34" charset="0"/>
                <a:ea typeface="Meiryo UI" pitchFamily="34" charset="-122"/>
                <a:cs typeface="Meiryo UI" pitchFamily="34" charset="-120"/>
              </a:rPr>
              <a:t>長尺解説型</a:t>
            </a:r>
            <a:endParaRPr lang="en-US" sz="1150" dirty="0"/>
          </a:p>
        </p:txBody>
      </p:sp>
      <p:sp>
        <p:nvSpPr>
          <p:cNvPr id="13" name="Text 11"/>
          <p:cNvSpPr txBox="1"/>
          <p:nvPr/>
        </p:nvSpPr>
        <p:spPr>
          <a:xfrm>
            <a:off x="777240" y="3319272"/>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ターゲット</a:t>
            </a:r>
            <a:endParaRPr lang="en-US" sz="1050" dirty="0"/>
          </a:p>
        </p:txBody>
      </p:sp>
      <p:sp>
        <p:nvSpPr>
          <p:cNvPr id="14" name="Text 12"/>
          <p:cNvSpPr txBox="1"/>
          <p:nvPr/>
        </p:nvSpPr>
        <p:spPr>
          <a:xfrm>
            <a:off x="1828800" y="3319272"/>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ケアマネジャー・介護施設</a:t>
            </a:r>
            <a:endParaRPr lang="en-US" sz="1100" dirty="0"/>
          </a:p>
        </p:txBody>
      </p:sp>
      <p:sp>
        <p:nvSpPr>
          <p:cNvPr id="15" name="Text 13"/>
          <p:cNvSpPr txBox="1"/>
          <p:nvPr/>
        </p:nvSpPr>
        <p:spPr>
          <a:xfrm>
            <a:off x="777240" y="3895344"/>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テーマ案</a:t>
            </a:r>
            <a:endParaRPr lang="en-US" sz="1050" dirty="0"/>
          </a:p>
        </p:txBody>
      </p:sp>
      <p:sp>
        <p:nvSpPr>
          <p:cNvPr id="16" name="Text 14"/>
          <p:cNvSpPr txBox="1"/>
          <p:nvPr/>
        </p:nvSpPr>
        <p:spPr>
          <a:xfrm>
            <a:off x="1828800" y="3895344"/>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3分でわかる訪問マッサージ｜紹介から施術開始までの流れ</a:t>
            </a:r>
            <a:endParaRPr lang="en-US" sz="1100" dirty="0"/>
          </a:p>
        </p:txBody>
      </p:sp>
      <p:sp>
        <p:nvSpPr>
          <p:cNvPr id="17" name="Text 15"/>
          <p:cNvSpPr txBox="1"/>
          <p:nvPr/>
        </p:nvSpPr>
        <p:spPr>
          <a:xfrm>
            <a:off x="777240" y="4471416"/>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配信先</a:t>
            </a:r>
            <a:endParaRPr lang="en-US" sz="1050" dirty="0"/>
          </a:p>
        </p:txBody>
      </p:sp>
      <p:sp>
        <p:nvSpPr>
          <p:cNvPr id="18" name="Text 16"/>
          <p:cNvSpPr txBox="1"/>
          <p:nvPr/>
        </p:nvSpPr>
        <p:spPr>
          <a:xfrm>
            <a:off x="1828800" y="4471416"/>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FAX・DM（QR）、訪問前後のメール、フォーム営業</a:t>
            </a:r>
            <a:endParaRPr lang="en-US" sz="1100" dirty="0"/>
          </a:p>
        </p:txBody>
      </p:sp>
      <p:sp>
        <p:nvSpPr>
          <p:cNvPr id="19" name="Text 17"/>
          <p:cNvSpPr txBox="1"/>
          <p:nvPr/>
        </p:nvSpPr>
        <p:spPr>
          <a:xfrm>
            <a:off x="777240" y="5047488"/>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検証する仮説</a:t>
            </a:r>
            <a:endParaRPr lang="en-US" sz="1050" dirty="0"/>
          </a:p>
        </p:txBody>
      </p:sp>
      <p:sp>
        <p:nvSpPr>
          <p:cNvPr id="20" name="Text 18"/>
          <p:cNvSpPr txBox="1"/>
          <p:nvPr/>
        </p:nvSpPr>
        <p:spPr>
          <a:xfrm>
            <a:off x="1828800" y="5047488"/>
            <a:ext cx="2052218" cy="530352"/>
          </a:xfrm>
          <a:prstGeom prst="rect">
            <a:avLst/>
          </a:prstGeom>
          <a:noFill/>
          <a:ln/>
        </p:spPr>
        <p:txBody>
          <a:bodyPr wrap="square" lIns="0" tIns="0" rIns="0" bIns="0" rtlCol="0" anchor="t"/>
          <a:lstStyle/>
          <a:p>
            <a:pPr indent="0" marL="0">
              <a:buNone/>
            </a:pPr>
            <a:r>
              <a:rPr lang="en-US" sz="1100" b="1" dirty="0">
                <a:solidFill>
                  <a:srgbClr val="2A3332"/>
                </a:solidFill>
                <a:latin typeface="Meiryo UI" pitchFamily="34" charset="0"/>
                <a:ea typeface="Meiryo UI" pitchFamily="34" charset="-122"/>
                <a:cs typeface="Meiryo UI" pitchFamily="34" charset="-120"/>
              </a:rPr>
              <a:t>事前送付で面談化率・紹介件数は上がるか</a:t>
            </a:r>
            <a:endParaRPr lang="en-US" sz="1100" dirty="0"/>
          </a:p>
        </p:txBody>
      </p:sp>
      <p:sp>
        <p:nvSpPr>
          <p:cNvPr id="21" name="Text 19"/>
          <p:cNvSpPr txBox="1"/>
          <p:nvPr/>
        </p:nvSpPr>
        <p:spPr>
          <a:xfrm>
            <a:off x="777240" y="5623560"/>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主なKPI</a:t>
            </a:r>
            <a:endParaRPr lang="en-US" sz="1050" dirty="0"/>
          </a:p>
        </p:txBody>
      </p:sp>
      <p:sp>
        <p:nvSpPr>
          <p:cNvPr id="22" name="Text 20"/>
          <p:cNvSpPr txBox="1"/>
          <p:nvPr/>
        </p:nvSpPr>
        <p:spPr>
          <a:xfrm>
            <a:off x="1828800" y="5623560"/>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視聴率／アポ獲得率／紹介件数</a:t>
            </a:r>
            <a:endParaRPr lang="en-US" sz="1100" dirty="0"/>
          </a:p>
        </p:txBody>
      </p:sp>
      <p:sp>
        <p:nvSpPr>
          <p:cNvPr id="23" name="Shape 21"/>
          <p:cNvSpPr/>
          <p:nvPr/>
        </p:nvSpPr>
        <p:spPr>
          <a:xfrm>
            <a:off x="4338218"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2606040"/>
            <a:ext cx="502920" cy="502920"/>
          </a:xfrm>
          <a:prstGeom prst="ellipse">
            <a:avLst/>
          </a:prstGeom>
          <a:solidFill>
            <a:srgbClr val="E07B39"/>
          </a:solidFill>
          <a:ln w="12700">
            <a:solidFill>
              <a:srgbClr val="E07B39"/>
            </a:solidFill>
            <a:prstDash val="solid"/>
          </a:ln>
        </p:spPr>
      </p:sp>
      <p:sp>
        <p:nvSpPr>
          <p:cNvPr id="25" name="Text 23"/>
          <p:cNvSpPr txBox="1"/>
          <p:nvPr/>
        </p:nvSpPr>
        <p:spPr>
          <a:xfrm>
            <a:off x="4566818"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2</a:t>
            </a:r>
            <a:endParaRPr lang="en-US" sz="1600" dirty="0"/>
          </a:p>
        </p:txBody>
      </p:sp>
      <p:sp>
        <p:nvSpPr>
          <p:cNvPr id="26" name="Text 24"/>
          <p:cNvSpPr txBox="1"/>
          <p:nvPr/>
        </p:nvSpPr>
        <p:spPr>
          <a:xfrm>
            <a:off x="5206898" y="2560320"/>
            <a:ext cx="2509418" cy="347472"/>
          </a:xfrm>
          <a:prstGeom prst="rect">
            <a:avLst/>
          </a:prstGeom>
          <a:noFill/>
          <a:ln/>
        </p:spPr>
        <p:txBody>
          <a:bodyPr wrap="square" lIns="0" tIns="0" rIns="0" bIns="0" rtlCol="0" anchor="t"/>
          <a:lstStyle/>
          <a:p>
            <a:pPr indent="0" marL="0">
              <a:buNone/>
            </a:pPr>
            <a:r>
              <a:rPr lang="en-US" sz="1500" b="1" dirty="0">
                <a:solidFill>
                  <a:srgbClr val="1F5E5B"/>
                </a:solidFill>
                <a:latin typeface="Meiryo UI" pitchFamily="34" charset="0"/>
                <a:ea typeface="Meiryo UI" pitchFamily="34" charset="-122"/>
                <a:cs typeface="Meiryo UI" pitchFamily="34" charset="-120"/>
              </a:rPr>
              <a:t>プル検証（信頼形成）</a:t>
            </a:r>
            <a:endParaRPr lang="en-US" sz="1500" dirty="0"/>
          </a:p>
        </p:txBody>
      </p:sp>
      <p:sp>
        <p:nvSpPr>
          <p:cNvPr id="27" name="Text 25"/>
          <p:cNvSpPr txBox="1"/>
          <p:nvPr/>
        </p:nvSpPr>
        <p:spPr>
          <a:xfrm>
            <a:off x="5206898" y="2880360"/>
            <a:ext cx="2509418" cy="274320"/>
          </a:xfrm>
          <a:prstGeom prst="rect">
            <a:avLst/>
          </a:prstGeom>
          <a:noFill/>
          <a:ln/>
        </p:spPr>
        <p:txBody>
          <a:bodyPr wrap="square" lIns="0" tIns="0" rIns="0" bIns="0" rtlCol="0" anchor="t"/>
          <a:lstStyle/>
          <a:p>
            <a:pPr indent="0" marL="0">
              <a:buNone/>
            </a:pPr>
            <a:r>
              <a:rPr lang="en-US" sz="1150" b="1" dirty="0">
                <a:solidFill>
                  <a:srgbClr val="E07B39"/>
                </a:solidFill>
                <a:latin typeface="Meiryo UI" pitchFamily="34" charset="0"/>
                <a:ea typeface="Meiryo UI" pitchFamily="34" charset="-122"/>
                <a:cs typeface="Meiryo UI" pitchFamily="34" charset="-120"/>
              </a:rPr>
              <a:t>デザイン重視型</a:t>
            </a:r>
            <a:endParaRPr lang="en-US" sz="1150" dirty="0"/>
          </a:p>
        </p:txBody>
      </p:sp>
      <p:sp>
        <p:nvSpPr>
          <p:cNvPr id="28" name="Text 26"/>
          <p:cNvSpPr txBox="1"/>
          <p:nvPr/>
        </p:nvSpPr>
        <p:spPr>
          <a:xfrm>
            <a:off x="4566818" y="3319272"/>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ターゲット</a:t>
            </a:r>
            <a:endParaRPr lang="en-US" sz="1050" dirty="0"/>
          </a:p>
        </p:txBody>
      </p:sp>
      <p:sp>
        <p:nvSpPr>
          <p:cNvPr id="29" name="Text 27"/>
          <p:cNvSpPr txBox="1"/>
          <p:nvPr/>
        </p:nvSpPr>
        <p:spPr>
          <a:xfrm>
            <a:off x="5618378" y="3319272"/>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ご家族（子世代）</a:t>
            </a:r>
            <a:endParaRPr lang="en-US" sz="1100" dirty="0"/>
          </a:p>
        </p:txBody>
      </p:sp>
      <p:sp>
        <p:nvSpPr>
          <p:cNvPr id="30" name="Text 28"/>
          <p:cNvSpPr txBox="1"/>
          <p:nvPr/>
        </p:nvSpPr>
        <p:spPr>
          <a:xfrm>
            <a:off x="4566818" y="3895344"/>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テーマ案</a:t>
            </a:r>
            <a:endParaRPr lang="en-US" sz="1050" dirty="0"/>
          </a:p>
        </p:txBody>
      </p:sp>
      <p:sp>
        <p:nvSpPr>
          <p:cNvPr id="31" name="Text 29"/>
          <p:cNvSpPr txBox="1"/>
          <p:nvPr/>
        </p:nvSpPr>
        <p:spPr>
          <a:xfrm>
            <a:off x="5618378" y="3895344"/>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みらい設計の訪問マッサージ｜ご自宅が、安心のケアの場所に</a:t>
            </a:r>
            <a:endParaRPr lang="en-US" sz="1100" dirty="0"/>
          </a:p>
        </p:txBody>
      </p:sp>
      <p:sp>
        <p:nvSpPr>
          <p:cNvPr id="32" name="Text 30"/>
          <p:cNvSpPr txBox="1"/>
          <p:nvPr/>
        </p:nvSpPr>
        <p:spPr>
          <a:xfrm>
            <a:off x="4566818" y="4471416"/>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配信先</a:t>
            </a:r>
            <a:endParaRPr lang="en-US" sz="1050" dirty="0"/>
          </a:p>
        </p:txBody>
      </p:sp>
      <p:sp>
        <p:nvSpPr>
          <p:cNvPr id="33" name="Text 31"/>
          <p:cNvSpPr txBox="1"/>
          <p:nvPr/>
        </p:nvSpPr>
        <p:spPr>
          <a:xfrm>
            <a:off x="5618378" y="4471416"/>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Instagram、HP、保険顧客への案内</a:t>
            </a:r>
            <a:endParaRPr lang="en-US" sz="1100" dirty="0"/>
          </a:p>
        </p:txBody>
      </p:sp>
      <p:sp>
        <p:nvSpPr>
          <p:cNvPr id="34" name="Text 32"/>
          <p:cNvSpPr txBox="1"/>
          <p:nvPr/>
        </p:nvSpPr>
        <p:spPr>
          <a:xfrm>
            <a:off x="4566818" y="5047488"/>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検証する仮説</a:t>
            </a:r>
            <a:endParaRPr lang="en-US" sz="1050" dirty="0"/>
          </a:p>
        </p:txBody>
      </p:sp>
      <p:sp>
        <p:nvSpPr>
          <p:cNvPr id="35" name="Text 33"/>
          <p:cNvSpPr txBox="1"/>
          <p:nvPr/>
        </p:nvSpPr>
        <p:spPr>
          <a:xfrm>
            <a:off x="5618378" y="5047488"/>
            <a:ext cx="2052218" cy="530352"/>
          </a:xfrm>
          <a:prstGeom prst="rect">
            <a:avLst/>
          </a:prstGeom>
          <a:noFill/>
          <a:ln/>
        </p:spPr>
        <p:txBody>
          <a:bodyPr wrap="square" lIns="0" tIns="0" rIns="0" bIns="0" rtlCol="0" anchor="t"/>
          <a:lstStyle/>
          <a:p>
            <a:pPr indent="0" marL="0">
              <a:buNone/>
            </a:pPr>
            <a:r>
              <a:rPr lang="en-US" sz="1100" b="1" dirty="0">
                <a:solidFill>
                  <a:srgbClr val="2A3332"/>
                </a:solidFill>
                <a:latin typeface="Meiryo UI" pitchFamily="34" charset="0"/>
                <a:ea typeface="Meiryo UI" pitchFamily="34" charset="-122"/>
                <a:cs typeface="Meiryo UI" pitchFamily="34" charset="-120"/>
              </a:rPr>
              <a:t>保険顧客・ご家族に届けると問い合わせは発生するか</a:t>
            </a:r>
            <a:endParaRPr lang="en-US" sz="1100" dirty="0"/>
          </a:p>
        </p:txBody>
      </p:sp>
      <p:sp>
        <p:nvSpPr>
          <p:cNvPr id="36" name="Text 34"/>
          <p:cNvSpPr txBox="1"/>
          <p:nvPr/>
        </p:nvSpPr>
        <p:spPr>
          <a:xfrm>
            <a:off x="4566818" y="5623560"/>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主なKPI</a:t>
            </a:r>
            <a:endParaRPr lang="en-US" sz="1050" dirty="0"/>
          </a:p>
        </p:txBody>
      </p:sp>
      <p:sp>
        <p:nvSpPr>
          <p:cNvPr id="37" name="Text 35"/>
          <p:cNvSpPr txBox="1"/>
          <p:nvPr/>
        </p:nvSpPr>
        <p:spPr>
          <a:xfrm>
            <a:off x="5618378" y="5623560"/>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保存数／HP遷移数／問い合わせ数</a:t>
            </a:r>
            <a:endParaRPr lang="en-US" sz="1100" dirty="0"/>
          </a:p>
        </p:txBody>
      </p:sp>
      <p:sp>
        <p:nvSpPr>
          <p:cNvPr id="38" name="Shape 36"/>
          <p:cNvSpPr/>
          <p:nvPr/>
        </p:nvSpPr>
        <p:spPr>
          <a:xfrm>
            <a:off x="8127797"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9" name="Shape 37"/>
          <p:cNvSpPr/>
          <p:nvPr/>
        </p:nvSpPr>
        <p:spPr>
          <a:xfrm>
            <a:off x="8356397" y="2606040"/>
            <a:ext cx="502920" cy="502920"/>
          </a:xfrm>
          <a:prstGeom prst="ellipse">
            <a:avLst/>
          </a:prstGeom>
          <a:solidFill>
            <a:srgbClr val="E07B39"/>
          </a:solidFill>
          <a:ln w="12700">
            <a:solidFill>
              <a:srgbClr val="E07B39"/>
            </a:solidFill>
            <a:prstDash val="solid"/>
          </a:ln>
        </p:spPr>
      </p:sp>
      <p:sp>
        <p:nvSpPr>
          <p:cNvPr id="40" name="Text 38"/>
          <p:cNvSpPr txBox="1"/>
          <p:nvPr/>
        </p:nvSpPr>
        <p:spPr>
          <a:xfrm>
            <a:off x="8356397"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3</a:t>
            </a:r>
            <a:endParaRPr lang="en-US" sz="1600" dirty="0"/>
          </a:p>
        </p:txBody>
      </p:sp>
      <p:sp>
        <p:nvSpPr>
          <p:cNvPr id="41" name="Text 39"/>
          <p:cNvSpPr txBox="1"/>
          <p:nvPr/>
        </p:nvSpPr>
        <p:spPr>
          <a:xfrm>
            <a:off x="8996477" y="2560320"/>
            <a:ext cx="2509418" cy="347472"/>
          </a:xfrm>
          <a:prstGeom prst="rect">
            <a:avLst/>
          </a:prstGeom>
          <a:noFill/>
          <a:ln/>
        </p:spPr>
        <p:txBody>
          <a:bodyPr wrap="square" lIns="0" tIns="0" rIns="0" bIns="0" rtlCol="0" anchor="t"/>
          <a:lstStyle/>
          <a:p>
            <a:pPr indent="0" marL="0">
              <a:buNone/>
            </a:pPr>
            <a:r>
              <a:rPr lang="en-US" sz="1500" b="1" dirty="0">
                <a:solidFill>
                  <a:srgbClr val="1F5E5B"/>
                </a:solidFill>
                <a:latin typeface="Meiryo UI" pitchFamily="34" charset="0"/>
                <a:ea typeface="Meiryo UI" pitchFamily="34" charset="-122"/>
                <a:cs typeface="Meiryo UI" pitchFamily="34" charset="-120"/>
              </a:rPr>
              <a:t>プル検証（認知拡大）</a:t>
            </a:r>
            <a:endParaRPr lang="en-US" sz="1500" dirty="0"/>
          </a:p>
        </p:txBody>
      </p:sp>
      <p:sp>
        <p:nvSpPr>
          <p:cNvPr id="42" name="Text 40"/>
          <p:cNvSpPr txBox="1"/>
          <p:nvPr/>
        </p:nvSpPr>
        <p:spPr>
          <a:xfrm>
            <a:off x="8996477" y="2880360"/>
            <a:ext cx="2509418" cy="274320"/>
          </a:xfrm>
          <a:prstGeom prst="rect">
            <a:avLst/>
          </a:prstGeom>
          <a:noFill/>
          <a:ln/>
        </p:spPr>
        <p:txBody>
          <a:bodyPr wrap="square" lIns="0" tIns="0" rIns="0" bIns="0" rtlCol="0" anchor="t"/>
          <a:lstStyle/>
          <a:p>
            <a:pPr indent="0" marL="0">
              <a:buNone/>
            </a:pPr>
            <a:r>
              <a:rPr lang="en-US" sz="1150" b="1" dirty="0">
                <a:solidFill>
                  <a:srgbClr val="E07B39"/>
                </a:solidFill>
                <a:latin typeface="Meiryo UI" pitchFamily="34" charset="0"/>
                <a:ea typeface="Meiryo UI" pitchFamily="34" charset="-122"/>
                <a:cs typeface="Meiryo UI" pitchFamily="34" charset="-120"/>
              </a:rPr>
              <a:t>縦型ショート型</a:t>
            </a:r>
            <a:endParaRPr lang="en-US" sz="1150" dirty="0"/>
          </a:p>
        </p:txBody>
      </p:sp>
      <p:sp>
        <p:nvSpPr>
          <p:cNvPr id="43" name="Text 41"/>
          <p:cNvSpPr txBox="1"/>
          <p:nvPr/>
        </p:nvSpPr>
        <p:spPr>
          <a:xfrm>
            <a:off x="8356397" y="3319272"/>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ターゲット</a:t>
            </a:r>
            <a:endParaRPr lang="en-US" sz="1050" dirty="0"/>
          </a:p>
        </p:txBody>
      </p:sp>
      <p:sp>
        <p:nvSpPr>
          <p:cNvPr id="44" name="Text 42"/>
          <p:cNvSpPr txBox="1"/>
          <p:nvPr/>
        </p:nvSpPr>
        <p:spPr>
          <a:xfrm>
            <a:off x="9407957" y="3319272"/>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幅広い地域の方</a:t>
            </a:r>
            <a:endParaRPr lang="en-US" sz="1100" dirty="0"/>
          </a:p>
        </p:txBody>
      </p:sp>
      <p:sp>
        <p:nvSpPr>
          <p:cNvPr id="45" name="Text 43"/>
          <p:cNvSpPr txBox="1"/>
          <p:nvPr/>
        </p:nvSpPr>
        <p:spPr>
          <a:xfrm>
            <a:off x="8356397" y="3895344"/>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テーマ案</a:t>
            </a:r>
            <a:endParaRPr lang="en-US" sz="1050" dirty="0"/>
          </a:p>
        </p:txBody>
      </p:sp>
      <p:sp>
        <p:nvSpPr>
          <p:cNvPr id="46" name="Text 44"/>
          <p:cNvSpPr txBox="1"/>
          <p:nvPr/>
        </p:nvSpPr>
        <p:spPr>
          <a:xfrm>
            <a:off x="9407957" y="3895344"/>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親のマッサージ、保険が使えるかも？</a:t>
            </a:r>
            <a:endParaRPr lang="en-US" sz="1100" dirty="0"/>
          </a:p>
        </p:txBody>
      </p:sp>
      <p:sp>
        <p:nvSpPr>
          <p:cNvPr id="47" name="Text 45"/>
          <p:cNvSpPr txBox="1"/>
          <p:nvPr/>
        </p:nvSpPr>
        <p:spPr>
          <a:xfrm>
            <a:off x="8356397" y="4471416"/>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配信先</a:t>
            </a:r>
            <a:endParaRPr lang="en-US" sz="1050" dirty="0"/>
          </a:p>
        </p:txBody>
      </p:sp>
      <p:sp>
        <p:nvSpPr>
          <p:cNvPr id="48" name="Text 46"/>
          <p:cNvSpPr txBox="1"/>
          <p:nvPr/>
        </p:nvSpPr>
        <p:spPr>
          <a:xfrm>
            <a:off x="9407957" y="4471416"/>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TikTok、YouTubeショート、リール</a:t>
            </a:r>
            <a:endParaRPr lang="en-US" sz="1100" dirty="0"/>
          </a:p>
        </p:txBody>
      </p:sp>
      <p:sp>
        <p:nvSpPr>
          <p:cNvPr id="49" name="Text 47"/>
          <p:cNvSpPr txBox="1"/>
          <p:nvPr/>
        </p:nvSpPr>
        <p:spPr>
          <a:xfrm>
            <a:off x="8356397" y="5047488"/>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検証する仮説</a:t>
            </a:r>
            <a:endParaRPr lang="en-US" sz="1050" dirty="0"/>
          </a:p>
        </p:txBody>
      </p:sp>
      <p:sp>
        <p:nvSpPr>
          <p:cNvPr id="50" name="Text 48"/>
          <p:cNvSpPr txBox="1"/>
          <p:nvPr/>
        </p:nvSpPr>
        <p:spPr>
          <a:xfrm>
            <a:off x="9407957" y="5047488"/>
            <a:ext cx="2052218" cy="530352"/>
          </a:xfrm>
          <a:prstGeom prst="rect">
            <a:avLst/>
          </a:prstGeom>
          <a:noFill/>
          <a:ln/>
        </p:spPr>
        <p:txBody>
          <a:bodyPr wrap="square" lIns="0" tIns="0" rIns="0" bIns="0" rtlCol="0" anchor="t"/>
          <a:lstStyle/>
          <a:p>
            <a:pPr indent="0" marL="0">
              <a:buNone/>
            </a:pPr>
            <a:r>
              <a:rPr lang="en-US" sz="1100" b="1" dirty="0">
                <a:solidFill>
                  <a:srgbClr val="2A3332"/>
                </a:solidFill>
                <a:latin typeface="Meiryo UI" pitchFamily="34" charset="0"/>
                <a:ea typeface="Meiryo UI" pitchFamily="34" charset="-122"/>
                <a:cs typeface="Meiryo UI" pitchFamily="34" charset="-120"/>
              </a:rPr>
              <a:t>地域でどの程度の認知が取れ、どの訴求が響くか</a:t>
            </a:r>
            <a:endParaRPr lang="en-US" sz="1100" dirty="0"/>
          </a:p>
        </p:txBody>
      </p:sp>
      <p:sp>
        <p:nvSpPr>
          <p:cNvPr id="51" name="Text 49"/>
          <p:cNvSpPr txBox="1"/>
          <p:nvPr/>
        </p:nvSpPr>
        <p:spPr>
          <a:xfrm>
            <a:off x="8356397" y="5623560"/>
            <a:ext cx="1051560" cy="5029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主なKPI</a:t>
            </a:r>
            <a:endParaRPr lang="en-US" sz="1050" dirty="0"/>
          </a:p>
        </p:txBody>
      </p:sp>
      <p:sp>
        <p:nvSpPr>
          <p:cNvPr id="52" name="Text 50"/>
          <p:cNvSpPr txBox="1"/>
          <p:nvPr/>
        </p:nvSpPr>
        <p:spPr>
          <a:xfrm>
            <a:off x="9407957" y="5623560"/>
            <a:ext cx="2052218" cy="530352"/>
          </a:xfrm>
          <a:prstGeom prst="rect">
            <a:avLst/>
          </a:prstGeom>
          <a:noFill/>
          <a:ln/>
        </p:spPr>
        <p:txBody>
          <a:bodyPr wrap="square" lIns="0" tIns="0" rIns="0" bIns="0" rtlCol="0" anchor="t"/>
          <a:lstStyle/>
          <a:p>
            <a:pPr indent="0" marL="0">
              <a:buNone/>
            </a:pPr>
            <a:r>
              <a:rPr lang="en-US" sz="1100" dirty="0">
                <a:solidFill>
                  <a:srgbClr val="2A3332"/>
                </a:solidFill>
                <a:latin typeface="Meiryo UI" pitchFamily="34" charset="0"/>
                <a:ea typeface="Meiryo UI" pitchFamily="34" charset="-122"/>
                <a:cs typeface="Meiryo UI" pitchFamily="34" charset="-120"/>
              </a:rPr>
              <a:t>再生数／視聴維持率／プロフィール遷移数</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フェーズ1の進め方（約6週間）と、3本だけで終える限界</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16</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2743200" cy="320040"/>
          </a:xfrm>
          <a:prstGeom prst="rect">
            <a:avLst/>
          </a:prstGeom>
          <a:noFill/>
          <a:ln/>
        </p:spPr>
        <p:txBody>
          <a:bodyPr wrap="square" lIns="0" tIns="0" rIns="0" bIns="0" rtlCol="0" anchor="t"/>
          <a:lstStyle/>
          <a:p>
            <a:pPr indent="0" marL="0">
              <a:buNone/>
            </a:pPr>
            <a:r>
              <a:rPr lang="en-US" sz="1400" b="1" dirty="0">
                <a:solidFill>
                  <a:srgbClr val="E07B39"/>
                </a:solidFill>
                <a:latin typeface="Meiryo UI" pitchFamily="34" charset="0"/>
                <a:ea typeface="Meiryo UI" pitchFamily="34" charset="-122"/>
                <a:cs typeface="Meiryo UI" pitchFamily="34" charset="-120"/>
              </a:rPr>
              <a:t>スケジュール</a:t>
            </a:r>
            <a:endParaRPr lang="en-US" sz="1400" dirty="0"/>
          </a:p>
        </p:txBody>
      </p:sp>
      <p:sp>
        <p:nvSpPr>
          <p:cNvPr id="7" name="Shape 5"/>
          <p:cNvSpPr/>
          <p:nvPr/>
        </p:nvSpPr>
        <p:spPr>
          <a:xfrm>
            <a:off x="548640" y="1783080"/>
            <a:ext cx="1280160" cy="932688"/>
          </a:xfrm>
          <a:prstGeom prst="roundRect">
            <a:avLst>
              <a:gd name="adj" fmla="val 11765"/>
            </a:avLst>
          </a:prstGeom>
          <a:solidFill>
            <a:srgbClr val="1F5E5B"/>
          </a:solidFill>
          <a:ln w="12700">
            <a:solidFill>
              <a:srgbClr val="1F5E5B"/>
            </a:solidFill>
            <a:prstDash val="solid"/>
          </a:ln>
        </p:spPr>
      </p:sp>
      <p:sp>
        <p:nvSpPr>
          <p:cNvPr id="8" name="Text 6"/>
          <p:cNvSpPr txBox="1"/>
          <p:nvPr/>
        </p:nvSpPr>
        <p:spPr>
          <a:xfrm>
            <a:off x="548640" y="1874520"/>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1週目</a:t>
            </a:r>
            <a:endParaRPr lang="en-US" sz="1400" dirty="0"/>
          </a:p>
        </p:txBody>
      </p:sp>
      <p:sp>
        <p:nvSpPr>
          <p:cNvPr id="9" name="Text 7"/>
          <p:cNvSpPr txBox="1"/>
          <p:nvPr/>
        </p:nvSpPr>
        <p:spPr>
          <a:xfrm>
            <a:off x="548640" y="2240280"/>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キックオフ</a:t>
            </a:r>
            <a:endParaRPr lang="en-US" sz="1100" dirty="0"/>
          </a:p>
        </p:txBody>
      </p:sp>
      <p:sp>
        <p:nvSpPr>
          <p:cNvPr id="10" name="Shape 8"/>
          <p:cNvSpPr/>
          <p:nvPr/>
        </p:nvSpPr>
        <p:spPr>
          <a:xfrm>
            <a:off x="1965960" y="1783080"/>
            <a:ext cx="5257800" cy="932688"/>
          </a:xfrm>
          <a:prstGeom prst="roundRect">
            <a:avLst>
              <a:gd name="adj" fmla="val 11765"/>
            </a:avLst>
          </a:prstGeom>
          <a:solidFill>
            <a:srgbClr val="F4F8F7"/>
          </a:solidFill>
          <a:ln w="12700">
            <a:solidFill>
              <a:srgbClr val="F4F8F7"/>
            </a:solidFill>
            <a:prstDash val="solid"/>
          </a:ln>
        </p:spPr>
      </p:sp>
      <p:sp>
        <p:nvSpPr>
          <p:cNvPr id="11" name="Text 9"/>
          <p:cNvSpPr txBox="1"/>
          <p:nvPr/>
        </p:nvSpPr>
        <p:spPr>
          <a:xfrm>
            <a:off x="2148840" y="1874520"/>
            <a:ext cx="4892040" cy="411480"/>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現状数値の確認／KPI設定／台本作成</a:t>
            </a:r>
            <a:endParaRPr lang="en-US" sz="1300" dirty="0"/>
          </a:p>
        </p:txBody>
      </p:sp>
      <p:sp>
        <p:nvSpPr>
          <p:cNvPr id="12" name="Text 10"/>
          <p:cNvSpPr txBox="1"/>
          <p:nvPr/>
        </p:nvSpPr>
        <p:spPr>
          <a:xfrm>
            <a:off x="2148840" y="2286000"/>
            <a:ext cx="4892040" cy="347472"/>
          </a:xfrm>
          <a:prstGeom prst="rect">
            <a:avLst/>
          </a:prstGeom>
          <a:noFill/>
          <a:ln/>
        </p:spPr>
        <p:txBody>
          <a:bodyPr wrap="square" lIns="0" tIns="0" rIns="0" bIns="0" rtlCol="0" anchor="ctr"/>
          <a:lstStyle/>
          <a:p>
            <a:pPr indent="0" marL="0">
              <a:buNone/>
            </a:pPr>
            <a:r>
              <a:rPr lang="en-US" sz="1100" dirty="0">
                <a:solidFill>
                  <a:srgbClr val="66807D"/>
                </a:solidFill>
                <a:latin typeface="Meiryo UI" pitchFamily="34" charset="0"/>
                <a:ea typeface="Meiryo UI" pitchFamily="34" charset="-122"/>
                <a:cs typeface="Meiryo UI" pitchFamily="34" charset="-120"/>
              </a:rPr>
              <a:t>貴社：資料・素材のご提供、現状数値の共有</a:t>
            </a:r>
            <a:endParaRPr lang="en-US" sz="1100" dirty="0"/>
          </a:p>
        </p:txBody>
      </p:sp>
      <p:sp>
        <p:nvSpPr>
          <p:cNvPr id="13" name="Shape 11"/>
          <p:cNvSpPr/>
          <p:nvPr/>
        </p:nvSpPr>
        <p:spPr>
          <a:xfrm>
            <a:off x="548640" y="2898648"/>
            <a:ext cx="1280160" cy="932688"/>
          </a:xfrm>
          <a:prstGeom prst="roundRect">
            <a:avLst>
              <a:gd name="adj" fmla="val 11765"/>
            </a:avLst>
          </a:prstGeom>
          <a:solidFill>
            <a:srgbClr val="1F5E5B"/>
          </a:solidFill>
          <a:ln w="12700">
            <a:solidFill>
              <a:srgbClr val="1F5E5B"/>
            </a:solidFill>
            <a:prstDash val="solid"/>
          </a:ln>
        </p:spPr>
      </p:sp>
      <p:sp>
        <p:nvSpPr>
          <p:cNvPr id="14" name="Text 12"/>
          <p:cNvSpPr txBox="1"/>
          <p:nvPr/>
        </p:nvSpPr>
        <p:spPr>
          <a:xfrm>
            <a:off x="548640" y="2990088"/>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2週目</a:t>
            </a:r>
            <a:endParaRPr lang="en-US" sz="1400" dirty="0"/>
          </a:p>
        </p:txBody>
      </p:sp>
      <p:sp>
        <p:nvSpPr>
          <p:cNvPr id="15" name="Text 13"/>
          <p:cNvSpPr txBox="1"/>
          <p:nvPr/>
        </p:nvSpPr>
        <p:spPr>
          <a:xfrm>
            <a:off x="548640" y="3355848"/>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制作</a:t>
            </a:r>
            <a:endParaRPr lang="en-US" sz="1100" dirty="0"/>
          </a:p>
        </p:txBody>
      </p:sp>
      <p:sp>
        <p:nvSpPr>
          <p:cNvPr id="16" name="Shape 14"/>
          <p:cNvSpPr/>
          <p:nvPr/>
        </p:nvSpPr>
        <p:spPr>
          <a:xfrm>
            <a:off x="1965960" y="2898648"/>
            <a:ext cx="5257800" cy="932688"/>
          </a:xfrm>
          <a:prstGeom prst="roundRect">
            <a:avLst>
              <a:gd name="adj" fmla="val 11765"/>
            </a:avLst>
          </a:prstGeom>
          <a:solidFill>
            <a:srgbClr val="F4F8F7"/>
          </a:solidFill>
          <a:ln w="12700">
            <a:solidFill>
              <a:srgbClr val="F4F8F7"/>
            </a:solidFill>
            <a:prstDash val="solid"/>
          </a:ln>
        </p:spPr>
      </p:sp>
      <p:sp>
        <p:nvSpPr>
          <p:cNvPr id="17" name="Text 15"/>
          <p:cNvSpPr txBox="1"/>
          <p:nvPr/>
        </p:nvSpPr>
        <p:spPr>
          <a:xfrm>
            <a:off x="2148840" y="2990088"/>
            <a:ext cx="4892040" cy="411480"/>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3本の制作・初稿確認・修正</a:t>
            </a:r>
            <a:endParaRPr lang="en-US" sz="1300" dirty="0"/>
          </a:p>
        </p:txBody>
      </p:sp>
      <p:sp>
        <p:nvSpPr>
          <p:cNvPr id="18" name="Text 16"/>
          <p:cNvSpPr txBox="1"/>
          <p:nvPr/>
        </p:nvSpPr>
        <p:spPr>
          <a:xfrm>
            <a:off x="2148840" y="3401568"/>
            <a:ext cx="4892040" cy="347472"/>
          </a:xfrm>
          <a:prstGeom prst="rect">
            <a:avLst/>
          </a:prstGeom>
          <a:noFill/>
          <a:ln/>
        </p:spPr>
        <p:txBody>
          <a:bodyPr wrap="square" lIns="0" tIns="0" rIns="0" bIns="0" rtlCol="0" anchor="ctr"/>
          <a:lstStyle/>
          <a:p>
            <a:pPr indent="0" marL="0">
              <a:buNone/>
            </a:pPr>
            <a:r>
              <a:rPr lang="en-US" sz="1100" dirty="0">
                <a:solidFill>
                  <a:srgbClr val="66807D"/>
                </a:solidFill>
                <a:latin typeface="Meiryo UI" pitchFamily="34" charset="0"/>
                <a:ea typeface="Meiryo UI" pitchFamily="34" charset="-122"/>
                <a:cs typeface="Meiryo UI" pitchFamily="34" charset="-120"/>
              </a:rPr>
              <a:t>貴社：初稿のご確認（30分程度）</a:t>
            </a:r>
            <a:endParaRPr lang="en-US" sz="1100" dirty="0"/>
          </a:p>
        </p:txBody>
      </p:sp>
      <p:sp>
        <p:nvSpPr>
          <p:cNvPr id="19" name="Shape 17"/>
          <p:cNvSpPr/>
          <p:nvPr/>
        </p:nvSpPr>
        <p:spPr>
          <a:xfrm>
            <a:off x="548640" y="4014216"/>
            <a:ext cx="1280160" cy="932688"/>
          </a:xfrm>
          <a:prstGeom prst="roundRect">
            <a:avLst>
              <a:gd name="adj" fmla="val 11765"/>
            </a:avLst>
          </a:prstGeom>
          <a:solidFill>
            <a:srgbClr val="1F5E5B"/>
          </a:solidFill>
          <a:ln w="12700">
            <a:solidFill>
              <a:srgbClr val="1F5E5B"/>
            </a:solidFill>
            <a:prstDash val="solid"/>
          </a:ln>
        </p:spPr>
      </p:sp>
      <p:sp>
        <p:nvSpPr>
          <p:cNvPr id="20" name="Text 18"/>
          <p:cNvSpPr txBox="1"/>
          <p:nvPr/>
        </p:nvSpPr>
        <p:spPr>
          <a:xfrm>
            <a:off x="548640" y="4105656"/>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3〜5週目</a:t>
            </a:r>
            <a:endParaRPr lang="en-US" sz="1400" dirty="0"/>
          </a:p>
        </p:txBody>
      </p:sp>
      <p:sp>
        <p:nvSpPr>
          <p:cNvPr id="21" name="Text 19"/>
          <p:cNvSpPr txBox="1"/>
          <p:nvPr/>
        </p:nvSpPr>
        <p:spPr>
          <a:xfrm>
            <a:off x="548640" y="4471416"/>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配信・送付</a:t>
            </a:r>
            <a:endParaRPr lang="en-US" sz="1100" dirty="0"/>
          </a:p>
        </p:txBody>
      </p:sp>
      <p:sp>
        <p:nvSpPr>
          <p:cNvPr id="22" name="Shape 20"/>
          <p:cNvSpPr/>
          <p:nvPr/>
        </p:nvSpPr>
        <p:spPr>
          <a:xfrm>
            <a:off x="1965960" y="4014216"/>
            <a:ext cx="5257800" cy="932688"/>
          </a:xfrm>
          <a:prstGeom prst="roundRect">
            <a:avLst>
              <a:gd name="adj" fmla="val 11765"/>
            </a:avLst>
          </a:prstGeom>
          <a:solidFill>
            <a:srgbClr val="F4F8F7"/>
          </a:solidFill>
          <a:ln w="12700">
            <a:solidFill>
              <a:srgbClr val="F4F8F7"/>
            </a:solidFill>
            <a:prstDash val="solid"/>
          </a:ln>
        </p:spPr>
      </p:sp>
      <p:sp>
        <p:nvSpPr>
          <p:cNvPr id="23" name="Text 21"/>
          <p:cNvSpPr txBox="1"/>
          <p:nvPr/>
        </p:nvSpPr>
        <p:spPr>
          <a:xfrm>
            <a:off x="2148840" y="4105656"/>
            <a:ext cx="4892040" cy="411480"/>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プッシュ：送付リスト作成・送付／プル：SNS投稿</a:t>
            </a:r>
            <a:endParaRPr lang="en-US" sz="1300" dirty="0"/>
          </a:p>
        </p:txBody>
      </p:sp>
      <p:sp>
        <p:nvSpPr>
          <p:cNvPr id="24" name="Text 22"/>
          <p:cNvSpPr txBox="1"/>
          <p:nvPr/>
        </p:nvSpPr>
        <p:spPr>
          <a:xfrm>
            <a:off x="2148840" y="4517136"/>
            <a:ext cx="4892040" cy="347472"/>
          </a:xfrm>
          <a:prstGeom prst="rect">
            <a:avLst/>
          </a:prstGeom>
          <a:noFill/>
          <a:ln/>
        </p:spPr>
        <p:txBody>
          <a:bodyPr wrap="square" lIns="0" tIns="0" rIns="0" bIns="0" rtlCol="0" anchor="ctr"/>
          <a:lstStyle/>
          <a:p>
            <a:pPr indent="0" marL="0">
              <a:buNone/>
            </a:pPr>
            <a:r>
              <a:rPr lang="en-US" sz="1100" dirty="0">
                <a:solidFill>
                  <a:srgbClr val="66807D"/>
                </a:solidFill>
                <a:latin typeface="Meiryo UI" pitchFamily="34" charset="0"/>
                <a:ea typeface="Meiryo UI" pitchFamily="34" charset="-122"/>
                <a:cs typeface="Meiryo UI" pitchFamily="34" charset="-120"/>
              </a:rPr>
              <a:t>貴社：営業訪問時の動画活用</a:t>
            </a:r>
            <a:endParaRPr lang="en-US" sz="1100" dirty="0"/>
          </a:p>
        </p:txBody>
      </p:sp>
      <p:sp>
        <p:nvSpPr>
          <p:cNvPr id="25" name="Shape 23"/>
          <p:cNvSpPr/>
          <p:nvPr/>
        </p:nvSpPr>
        <p:spPr>
          <a:xfrm>
            <a:off x="548640" y="5129784"/>
            <a:ext cx="1280160" cy="932688"/>
          </a:xfrm>
          <a:prstGeom prst="roundRect">
            <a:avLst>
              <a:gd name="adj" fmla="val 11765"/>
            </a:avLst>
          </a:prstGeom>
          <a:solidFill>
            <a:srgbClr val="E07B39"/>
          </a:solidFill>
          <a:ln w="12700">
            <a:solidFill>
              <a:srgbClr val="E07B39"/>
            </a:solidFill>
            <a:prstDash val="solid"/>
          </a:ln>
        </p:spPr>
      </p:sp>
      <p:sp>
        <p:nvSpPr>
          <p:cNvPr id="26" name="Text 24"/>
          <p:cNvSpPr txBox="1"/>
          <p:nvPr/>
        </p:nvSpPr>
        <p:spPr>
          <a:xfrm>
            <a:off x="548640" y="5221224"/>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6週目</a:t>
            </a:r>
            <a:endParaRPr lang="en-US" sz="1400" dirty="0"/>
          </a:p>
        </p:txBody>
      </p:sp>
      <p:sp>
        <p:nvSpPr>
          <p:cNvPr id="27" name="Text 25"/>
          <p:cNvSpPr txBox="1"/>
          <p:nvPr/>
        </p:nvSpPr>
        <p:spPr>
          <a:xfrm>
            <a:off x="548640" y="5586984"/>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検証レポート会</a:t>
            </a:r>
            <a:endParaRPr lang="en-US" sz="1100" dirty="0"/>
          </a:p>
        </p:txBody>
      </p:sp>
      <p:sp>
        <p:nvSpPr>
          <p:cNvPr id="28" name="Shape 26"/>
          <p:cNvSpPr/>
          <p:nvPr/>
        </p:nvSpPr>
        <p:spPr>
          <a:xfrm>
            <a:off x="1965960" y="5129784"/>
            <a:ext cx="5257800" cy="932688"/>
          </a:xfrm>
          <a:prstGeom prst="roundRect">
            <a:avLst>
              <a:gd name="adj" fmla="val 11765"/>
            </a:avLst>
          </a:prstGeom>
          <a:solidFill>
            <a:srgbClr val="F4F8F7"/>
          </a:solidFill>
          <a:ln w="12700">
            <a:solidFill>
              <a:srgbClr val="F4F8F7"/>
            </a:solidFill>
            <a:prstDash val="solid"/>
          </a:ln>
        </p:spPr>
      </p:sp>
      <p:sp>
        <p:nvSpPr>
          <p:cNvPr id="29" name="Text 27"/>
          <p:cNvSpPr txBox="1"/>
          <p:nvPr/>
        </p:nvSpPr>
        <p:spPr>
          <a:xfrm>
            <a:off x="2148840" y="5221224"/>
            <a:ext cx="4892040" cy="411480"/>
          </a:xfrm>
          <a:prstGeom prst="rect">
            <a:avLst/>
          </a:prstGeom>
          <a:noFill/>
          <a:ln/>
        </p:spPr>
        <p:txBody>
          <a:bodyPr wrap="square" lIns="0" tIns="0" rIns="0" bIns="0" rtlCol="0" anchor="ctr"/>
          <a:lstStyle/>
          <a:p>
            <a:pPr indent="0" marL="0">
              <a:buNone/>
            </a:pPr>
            <a:r>
              <a:rPr lang="en-US" sz="1300" b="1" dirty="0">
                <a:solidFill>
                  <a:srgbClr val="163F3D"/>
                </a:solidFill>
                <a:latin typeface="Meiryo UI" pitchFamily="34" charset="0"/>
                <a:ea typeface="Meiryo UI" pitchFamily="34" charset="-122"/>
                <a:cs typeface="Meiryo UI" pitchFamily="34" charset="-120"/>
              </a:rPr>
              <a:t>効果検証レポート＆フェーズ2設計会</a:t>
            </a:r>
            <a:endParaRPr lang="en-US" sz="1300" dirty="0"/>
          </a:p>
        </p:txBody>
      </p:sp>
      <p:sp>
        <p:nvSpPr>
          <p:cNvPr id="30" name="Text 28"/>
          <p:cNvSpPr txBox="1"/>
          <p:nvPr/>
        </p:nvSpPr>
        <p:spPr>
          <a:xfrm>
            <a:off x="2148840" y="5632704"/>
            <a:ext cx="4892040" cy="347472"/>
          </a:xfrm>
          <a:prstGeom prst="rect">
            <a:avLst/>
          </a:prstGeom>
          <a:noFill/>
          <a:ln/>
        </p:spPr>
        <p:txBody>
          <a:bodyPr wrap="square" lIns="0" tIns="0" rIns="0" bIns="0" rtlCol="0" anchor="ctr"/>
          <a:lstStyle/>
          <a:p>
            <a:pPr indent="0" marL="0">
              <a:buNone/>
            </a:pPr>
            <a:r>
              <a:rPr lang="en-US" sz="1100" dirty="0">
                <a:solidFill>
                  <a:srgbClr val="66807D"/>
                </a:solidFill>
                <a:latin typeface="Meiryo UI" pitchFamily="34" charset="0"/>
                <a:ea typeface="Meiryo UI" pitchFamily="34" charset="-122"/>
                <a:cs typeface="Meiryo UI" pitchFamily="34" charset="-120"/>
              </a:rPr>
              <a:t>貴社：結果のご確認・次の打ち手の合意</a:t>
            </a:r>
            <a:endParaRPr lang="en-US" sz="1100" dirty="0"/>
          </a:p>
        </p:txBody>
      </p:sp>
      <p:sp>
        <p:nvSpPr>
          <p:cNvPr id="31" name="Shape 29"/>
          <p:cNvSpPr/>
          <p:nvPr/>
        </p:nvSpPr>
        <p:spPr>
          <a:xfrm>
            <a:off x="7589520" y="1371600"/>
            <a:ext cx="4053535" cy="4892040"/>
          </a:xfrm>
          <a:prstGeom prst="roundRect">
            <a:avLst>
              <a:gd name="adj" fmla="val 2707"/>
            </a:avLst>
          </a:prstGeom>
          <a:solidFill>
            <a:srgbClr val="FCEBDD"/>
          </a:solidFill>
          <a:ln w="12700">
            <a:solidFill>
              <a:srgbClr val="FCEBDD"/>
            </a:solidFill>
            <a:prstDash val="solid"/>
          </a:ln>
        </p:spPr>
      </p:sp>
      <p:sp>
        <p:nvSpPr>
          <p:cNvPr id="32" name="Shape 30"/>
          <p:cNvSpPr/>
          <p:nvPr/>
        </p:nvSpPr>
        <p:spPr>
          <a:xfrm>
            <a:off x="7863840" y="1600200"/>
            <a:ext cx="548640" cy="548640"/>
          </a:xfrm>
          <a:prstGeom prst="ellipse">
            <a:avLst/>
          </a:prstGeom>
          <a:solidFill>
            <a:srgbClr val="E07B39"/>
          </a:solidFill>
          <a:ln w="12700">
            <a:solidFill>
              <a:srgbClr val="E07B39"/>
            </a:solidFill>
            <a:prstDash val="solid"/>
          </a:ln>
        </p:spPr>
      </p:sp>
      <p:pic>
        <p:nvPicPr>
          <p:cNvPr id="33" name="Image 0" descr="preencoded.png">    </p:cNvPr>
          <p:cNvPicPr>
            <a:picLocks noChangeAspect="1"/>
          </p:cNvPicPr>
          <p:nvPr/>
        </p:nvPicPr>
        <p:blipFill>
          <a:blip r:embed="rId1"/>
          <a:stretch>
            <a:fillRect/>
          </a:stretch>
        </p:blipFill>
        <p:spPr>
          <a:xfrm>
            <a:off x="8006486" y="1742846"/>
            <a:ext cx="263347" cy="263347"/>
          </a:xfrm>
          <a:prstGeom prst="rect">
            <a:avLst/>
          </a:prstGeom>
        </p:spPr>
      </p:pic>
      <p:sp>
        <p:nvSpPr>
          <p:cNvPr id="34" name="Text 31"/>
          <p:cNvSpPr txBox="1"/>
          <p:nvPr/>
        </p:nvSpPr>
        <p:spPr>
          <a:xfrm>
            <a:off x="8549640" y="1600200"/>
            <a:ext cx="2910535" cy="548640"/>
          </a:xfrm>
          <a:prstGeom prst="rect">
            <a:avLst/>
          </a:prstGeom>
          <a:noFill/>
          <a:ln/>
        </p:spPr>
        <p:txBody>
          <a:bodyPr wrap="square" lIns="0" tIns="0" rIns="0" bIns="0" rtlCol="0" anchor="ctr"/>
          <a:lstStyle/>
          <a:p>
            <a:pPr indent="0" marL="0">
              <a:buNone/>
            </a:pPr>
            <a:r>
              <a:rPr lang="en-US" sz="1500" b="1" dirty="0">
                <a:solidFill>
                  <a:srgbClr val="E07B39"/>
                </a:solidFill>
                <a:latin typeface="Meiryo UI" pitchFamily="34" charset="0"/>
                <a:ea typeface="Meiryo UI" pitchFamily="34" charset="-122"/>
                <a:cs typeface="Meiryo UI" pitchFamily="34" charset="-120"/>
              </a:rPr>
              <a:t>3本だけで終えた場合の限界</a:t>
            </a:r>
            <a:endParaRPr lang="en-US" sz="1500" dirty="0"/>
          </a:p>
        </p:txBody>
      </p:sp>
      <p:sp>
        <p:nvSpPr>
          <p:cNvPr id="35" name="Text 32"/>
          <p:cNvSpPr txBox="1"/>
          <p:nvPr/>
        </p:nvSpPr>
        <p:spPr>
          <a:xfrm>
            <a:off x="7863840" y="2377440"/>
            <a:ext cx="3504895" cy="320040"/>
          </a:xfrm>
          <a:prstGeom prst="rect">
            <a:avLst/>
          </a:prstGeom>
          <a:noFill/>
          <a:ln/>
        </p:spPr>
        <p:txBody>
          <a:bodyPr wrap="square" lIns="0" tIns="0" rIns="0" bIns="0" rtlCol="0" anchor="t"/>
          <a:lstStyle/>
          <a:p>
            <a:pPr indent="0" marL="0">
              <a:buNone/>
            </a:pPr>
            <a:r>
              <a:rPr lang="en-US" sz="1300" b="1" dirty="0">
                <a:solidFill>
                  <a:srgbClr val="163F3D"/>
                </a:solidFill>
                <a:latin typeface="Meiryo UI" pitchFamily="34" charset="0"/>
                <a:ea typeface="Meiryo UI" pitchFamily="34" charset="-122"/>
                <a:cs typeface="Meiryo UI" pitchFamily="34" charset="-120"/>
              </a:rPr>
              <a:t>成果まで届かない</a:t>
            </a:r>
            <a:endParaRPr lang="en-US" sz="1300" dirty="0"/>
          </a:p>
        </p:txBody>
      </p:sp>
      <p:sp>
        <p:nvSpPr>
          <p:cNvPr id="36" name="Text 33"/>
          <p:cNvSpPr txBox="1"/>
          <p:nvPr/>
        </p:nvSpPr>
        <p:spPr>
          <a:xfrm>
            <a:off x="7863840" y="2715768"/>
            <a:ext cx="3504895" cy="59436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約1ヶ月・3本では「兆し」は掴めても、利用者増まで至らないのが一般的</a:t>
            </a:r>
            <a:endParaRPr lang="en-US" sz="1150" dirty="0"/>
          </a:p>
        </p:txBody>
      </p:sp>
      <p:sp>
        <p:nvSpPr>
          <p:cNvPr id="37" name="Text 34"/>
          <p:cNvSpPr txBox="1"/>
          <p:nvPr/>
        </p:nvSpPr>
        <p:spPr>
          <a:xfrm>
            <a:off x="7863840" y="3401568"/>
            <a:ext cx="3504895" cy="320040"/>
          </a:xfrm>
          <a:prstGeom prst="rect">
            <a:avLst/>
          </a:prstGeom>
          <a:noFill/>
          <a:ln/>
        </p:spPr>
        <p:txBody>
          <a:bodyPr wrap="square" lIns="0" tIns="0" rIns="0" bIns="0" rtlCol="0" anchor="t"/>
          <a:lstStyle/>
          <a:p>
            <a:pPr indent="0" marL="0">
              <a:buNone/>
            </a:pPr>
            <a:r>
              <a:rPr lang="en-US" sz="1300" b="1" dirty="0">
                <a:solidFill>
                  <a:srgbClr val="163F3D"/>
                </a:solidFill>
                <a:latin typeface="Meiryo UI" pitchFamily="34" charset="0"/>
                <a:ea typeface="Meiryo UI" pitchFamily="34" charset="-122"/>
                <a:cs typeface="Meiryo UI" pitchFamily="34" charset="-120"/>
              </a:rPr>
              <a:t>SNSの成長がリセット</a:t>
            </a:r>
            <a:endParaRPr lang="en-US" sz="1300" dirty="0"/>
          </a:p>
        </p:txBody>
      </p:sp>
      <p:sp>
        <p:nvSpPr>
          <p:cNvPr id="38" name="Text 35"/>
          <p:cNvSpPr txBox="1"/>
          <p:nvPr/>
        </p:nvSpPr>
        <p:spPr>
          <a:xfrm>
            <a:off x="7863840" y="3739896"/>
            <a:ext cx="3504895" cy="59436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SNSは投稿の継続性が評価されるため、止めると積み上げが消える</a:t>
            </a:r>
            <a:endParaRPr lang="en-US" sz="1150" dirty="0"/>
          </a:p>
        </p:txBody>
      </p:sp>
      <p:sp>
        <p:nvSpPr>
          <p:cNvPr id="39" name="Text 36"/>
          <p:cNvSpPr txBox="1"/>
          <p:nvPr/>
        </p:nvSpPr>
        <p:spPr>
          <a:xfrm>
            <a:off x="7863840" y="4425696"/>
            <a:ext cx="3504895" cy="320040"/>
          </a:xfrm>
          <a:prstGeom prst="rect">
            <a:avLst/>
          </a:prstGeom>
          <a:noFill/>
          <a:ln/>
        </p:spPr>
        <p:txBody>
          <a:bodyPr wrap="square" lIns="0" tIns="0" rIns="0" bIns="0" rtlCol="0" anchor="t"/>
          <a:lstStyle/>
          <a:p>
            <a:pPr indent="0" marL="0">
              <a:buNone/>
            </a:pPr>
            <a:r>
              <a:rPr lang="en-US" sz="1300" b="1" dirty="0">
                <a:solidFill>
                  <a:srgbClr val="163F3D"/>
                </a:solidFill>
                <a:latin typeface="Meiryo UI" pitchFamily="34" charset="0"/>
                <a:ea typeface="Meiryo UI" pitchFamily="34" charset="-122"/>
                <a:cs typeface="Meiryo UI" pitchFamily="34" charset="-120"/>
              </a:rPr>
              <a:t>思い出してもらえない</a:t>
            </a:r>
            <a:endParaRPr lang="en-US" sz="1300" dirty="0"/>
          </a:p>
        </p:txBody>
      </p:sp>
      <p:sp>
        <p:nvSpPr>
          <p:cNvPr id="40" name="Text 37"/>
          <p:cNvSpPr txBox="1"/>
          <p:nvPr/>
        </p:nvSpPr>
        <p:spPr>
          <a:xfrm>
            <a:off x="7863840" y="4764024"/>
            <a:ext cx="3504895" cy="59436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紹介は繰り返しの接点で生まれる。単発の送付では記憶に残らない</a:t>
            </a:r>
            <a:endParaRPr lang="en-US" sz="1150" dirty="0"/>
          </a:p>
        </p:txBody>
      </p:sp>
      <p:sp>
        <p:nvSpPr>
          <p:cNvPr id="41" name="Text 38"/>
          <p:cNvSpPr txBox="1"/>
          <p:nvPr/>
        </p:nvSpPr>
        <p:spPr>
          <a:xfrm>
            <a:off x="7863840" y="5486400"/>
            <a:ext cx="3504895" cy="64008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だからこそ、フェーズ1は伴走プランの“初月”として設計します。</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有料伴走プランで実施すること：制作から営業組み込みまで一気通貫</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737360"/>
            <a:ext cx="685800" cy="685800"/>
          </a:xfrm>
          <a:prstGeom prst="ellipse">
            <a:avLst/>
          </a:prstGeom>
          <a:solidFill>
            <a:srgbClr val="1F5E5B"/>
          </a:solidFill>
          <a:ln w="12700">
            <a:solidFill>
              <a:srgbClr val="1F5E5B"/>
            </a:solidFill>
            <a:prstDash val="solid"/>
          </a:ln>
        </p:spPr>
      </p:sp>
      <p:pic>
        <p:nvPicPr>
          <p:cNvPr id="8" name="Image 0"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9" name="Text 6"/>
          <p:cNvSpPr txBox="1"/>
          <p:nvPr/>
        </p:nvSpPr>
        <p:spPr>
          <a:xfrm>
            <a:off x="1645920" y="173736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動画の追加生成</a:t>
            </a:r>
            <a:endParaRPr lang="en-US" sz="1600" dirty="0"/>
          </a:p>
        </p:txBody>
      </p:sp>
      <p:sp>
        <p:nvSpPr>
          <p:cNvPr id="10" name="Text 7"/>
          <p:cNvSpPr txBox="1"/>
          <p:nvPr/>
        </p:nvSpPr>
        <p:spPr>
          <a:xfrm>
            <a:off x="822960"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検証で成果の出た型を中心に、ターゲット別・テーマ別に継続制作</a:t>
            </a:r>
            <a:endParaRPr lang="en-US" sz="1250" dirty="0"/>
          </a:p>
        </p:txBody>
      </p:sp>
      <p:sp>
        <p:nvSpPr>
          <p:cNvPr id="11" name="Shape 8"/>
          <p:cNvSpPr/>
          <p:nvPr/>
        </p:nvSpPr>
        <p:spPr>
          <a:xfrm>
            <a:off x="4338218"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612538" y="1737360"/>
            <a:ext cx="685800" cy="685800"/>
          </a:xfrm>
          <a:prstGeom prst="ellipse">
            <a:avLst/>
          </a:prstGeom>
          <a:solidFill>
            <a:srgbClr val="1F5E5B"/>
          </a:solidFill>
          <a:ln w="12700">
            <a:solidFill>
              <a:srgbClr val="1F5E5B"/>
            </a:solidFill>
            <a:prstDash val="solid"/>
          </a:ln>
        </p:spPr>
      </p:sp>
      <p:pic>
        <p:nvPicPr>
          <p:cNvPr id="13" name="Image 1" descr="preencoded.png">    </p:cNvPr>
          <p:cNvPicPr>
            <a:picLocks noChangeAspect="1"/>
          </p:cNvPicPr>
          <p:nvPr/>
        </p:nvPicPr>
        <p:blipFill>
          <a:blip r:embed="rId2"/>
          <a:stretch>
            <a:fillRect/>
          </a:stretch>
        </p:blipFill>
        <p:spPr>
          <a:xfrm>
            <a:off x="4790846" y="1915668"/>
            <a:ext cx="329184" cy="329184"/>
          </a:xfrm>
          <a:prstGeom prst="rect">
            <a:avLst/>
          </a:prstGeom>
        </p:spPr>
      </p:pic>
      <p:sp>
        <p:nvSpPr>
          <p:cNvPr id="14" name="Text 10"/>
          <p:cNvSpPr txBox="1"/>
          <p:nvPr/>
        </p:nvSpPr>
        <p:spPr>
          <a:xfrm>
            <a:off x="5435498" y="173736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配信運用</a:t>
            </a:r>
            <a:endParaRPr lang="en-US" sz="1600" dirty="0"/>
          </a:p>
        </p:txBody>
      </p:sp>
      <p:sp>
        <p:nvSpPr>
          <p:cNvPr id="15" name="Text 11"/>
          <p:cNvSpPr txBox="1"/>
          <p:nvPr/>
        </p:nvSpPr>
        <p:spPr>
          <a:xfrm>
            <a:off x="4612538"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SNS投稿カレンダー作成、投稿支援、YouTube最適化（タイトル・概要欄・サムネイル）</a:t>
            </a:r>
            <a:endParaRPr lang="en-US" sz="1250" dirty="0"/>
          </a:p>
        </p:txBody>
      </p:sp>
      <p:sp>
        <p:nvSpPr>
          <p:cNvPr id="16" name="Shape 12"/>
          <p:cNvSpPr/>
          <p:nvPr/>
        </p:nvSpPr>
        <p:spPr>
          <a:xfrm>
            <a:off x="8127797"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8402117" y="1737360"/>
            <a:ext cx="685800" cy="685800"/>
          </a:xfrm>
          <a:prstGeom prst="ellipse">
            <a:avLst/>
          </a:prstGeom>
          <a:solidFill>
            <a:srgbClr val="1F5E5B"/>
          </a:solidFill>
          <a:ln w="12700">
            <a:solidFill>
              <a:srgbClr val="1F5E5B"/>
            </a:solidFill>
            <a:prstDash val="solid"/>
          </a:ln>
        </p:spPr>
      </p:sp>
      <p:pic>
        <p:nvPicPr>
          <p:cNvPr id="18" name="Image 2" descr="preencoded.png">    </p:cNvPr>
          <p:cNvPicPr>
            <a:picLocks noChangeAspect="1"/>
          </p:cNvPicPr>
          <p:nvPr/>
        </p:nvPicPr>
        <p:blipFill>
          <a:blip r:embed="rId3"/>
          <a:stretch>
            <a:fillRect/>
          </a:stretch>
        </p:blipFill>
        <p:spPr>
          <a:xfrm>
            <a:off x="8580425" y="1915668"/>
            <a:ext cx="329184" cy="329184"/>
          </a:xfrm>
          <a:prstGeom prst="rect">
            <a:avLst/>
          </a:prstGeom>
        </p:spPr>
      </p:pic>
      <p:sp>
        <p:nvSpPr>
          <p:cNvPr id="19" name="Text 14"/>
          <p:cNvSpPr txBox="1"/>
          <p:nvPr/>
        </p:nvSpPr>
        <p:spPr>
          <a:xfrm>
            <a:off x="9225077" y="173736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営業プロセス組み込み</a:t>
            </a:r>
            <a:endParaRPr lang="en-US" sz="1600" dirty="0"/>
          </a:p>
        </p:txBody>
      </p:sp>
      <p:sp>
        <p:nvSpPr>
          <p:cNvPr id="20" name="Text 15"/>
          <p:cNvSpPr txBox="1"/>
          <p:nvPr/>
        </p:nvSpPr>
        <p:spPr>
          <a:xfrm>
            <a:off x="8402117"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送付リスト設計、FAX・DM・メール・フォーム営業の文面作成、送付フローの型化</a:t>
            </a:r>
            <a:endParaRPr lang="en-US" sz="1250" dirty="0"/>
          </a:p>
        </p:txBody>
      </p:sp>
      <p:sp>
        <p:nvSpPr>
          <p:cNvPr id="21" name="Shape 16"/>
          <p:cNvSpPr/>
          <p:nvPr/>
        </p:nvSpPr>
        <p:spPr>
          <a:xfrm>
            <a:off x="548640"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822960" y="4160520"/>
            <a:ext cx="685800" cy="685800"/>
          </a:xfrm>
          <a:prstGeom prst="ellipse">
            <a:avLst/>
          </a:prstGeom>
          <a:solidFill>
            <a:srgbClr val="1F5E5B"/>
          </a:solidFill>
          <a:ln w="12700">
            <a:solidFill>
              <a:srgbClr val="1F5E5B"/>
            </a:solidFill>
            <a:prstDash val="solid"/>
          </a:ln>
        </p:spPr>
      </p:sp>
      <p:pic>
        <p:nvPicPr>
          <p:cNvPr id="23" name="Image 3" descr="preencoded.png">    </p:cNvPr>
          <p:cNvPicPr>
            <a:picLocks noChangeAspect="1"/>
          </p:cNvPicPr>
          <p:nvPr/>
        </p:nvPicPr>
        <p:blipFill>
          <a:blip r:embed="rId4"/>
          <a:stretch>
            <a:fillRect/>
          </a:stretch>
        </p:blipFill>
        <p:spPr>
          <a:xfrm>
            <a:off x="1001268" y="4338828"/>
            <a:ext cx="329184" cy="329184"/>
          </a:xfrm>
          <a:prstGeom prst="rect">
            <a:avLst/>
          </a:prstGeom>
        </p:spPr>
      </p:pic>
      <p:sp>
        <p:nvSpPr>
          <p:cNvPr id="24" name="Text 18"/>
          <p:cNvSpPr txBox="1"/>
          <p:nvPr/>
        </p:nvSpPr>
        <p:spPr>
          <a:xfrm>
            <a:off x="1645920" y="416052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分析・改善</a:t>
            </a:r>
            <a:endParaRPr lang="en-US" sz="1600" dirty="0"/>
          </a:p>
        </p:txBody>
      </p:sp>
      <p:sp>
        <p:nvSpPr>
          <p:cNvPr id="25" name="Text 19"/>
          <p:cNvSpPr txBox="1"/>
          <p:nvPr/>
        </p:nvSpPr>
        <p:spPr>
          <a:xfrm>
            <a:off x="822960"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月次レポート（視聴・問い合わせ・紹介の経路分析）、台本・訴求のA/Bテスト</a:t>
            </a:r>
            <a:endParaRPr lang="en-US" sz="1250" dirty="0"/>
          </a:p>
        </p:txBody>
      </p:sp>
      <p:sp>
        <p:nvSpPr>
          <p:cNvPr id="26" name="Shape 20"/>
          <p:cNvSpPr/>
          <p:nvPr/>
        </p:nvSpPr>
        <p:spPr>
          <a:xfrm>
            <a:off x="4338218"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4612538" y="4160520"/>
            <a:ext cx="685800" cy="685800"/>
          </a:xfrm>
          <a:prstGeom prst="ellipse">
            <a:avLst/>
          </a:prstGeom>
          <a:solidFill>
            <a:srgbClr val="1F5E5B"/>
          </a:solidFill>
          <a:ln w="12700">
            <a:solidFill>
              <a:srgbClr val="1F5E5B"/>
            </a:solidFill>
            <a:prstDash val="solid"/>
          </a:ln>
        </p:spPr>
      </p:sp>
      <p:pic>
        <p:nvPicPr>
          <p:cNvPr id="28" name="Image 4" descr="preencoded.png">    </p:cNvPr>
          <p:cNvPicPr>
            <a:picLocks noChangeAspect="1"/>
          </p:cNvPicPr>
          <p:nvPr/>
        </p:nvPicPr>
        <p:blipFill>
          <a:blip r:embed="rId5"/>
          <a:stretch>
            <a:fillRect/>
          </a:stretch>
        </p:blipFill>
        <p:spPr>
          <a:xfrm>
            <a:off x="4790846" y="4338828"/>
            <a:ext cx="329184" cy="329184"/>
          </a:xfrm>
          <a:prstGeom prst="rect">
            <a:avLst/>
          </a:prstGeom>
        </p:spPr>
      </p:pic>
      <p:sp>
        <p:nvSpPr>
          <p:cNvPr id="29" name="Text 22"/>
          <p:cNvSpPr txBox="1"/>
          <p:nvPr/>
        </p:nvSpPr>
        <p:spPr>
          <a:xfrm>
            <a:off x="5435498" y="416052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二次利用展開</a:t>
            </a:r>
            <a:endParaRPr lang="en-US" sz="1600" dirty="0"/>
          </a:p>
        </p:txBody>
      </p:sp>
      <p:sp>
        <p:nvSpPr>
          <p:cNvPr id="30" name="Text 23"/>
          <p:cNvSpPr txBox="1"/>
          <p:nvPr/>
        </p:nvSpPr>
        <p:spPr>
          <a:xfrm>
            <a:off x="4612538"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HP掲載、QR付きチラシ・パンフレット、施設説明会用動画、採用動画への展開</a:t>
            </a:r>
            <a:endParaRPr lang="en-US" sz="1250" dirty="0"/>
          </a:p>
        </p:txBody>
      </p:sp>
      <p:sp>
        <p:nvSpPr>
          <p:cNvPr id="31" name="Shape 24"/>
          <p:cNvSpPr/>
          <p:nvPr/>
        </p:nvSpPr>
        <p:spPr>
          <a:xfrm>
            <a:off x="8127797"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25"/>
          <p:cNvSpPr/>
          <p:nvPr/>
        </p:nvSpPr>
        <p:spPr>
          <a:xfrm>
            <a:off x="8402117" y="4160520"/>
            <a:ext cx="685800" cy="685800"/>
          </a:xfrm>
          <a:prstGeom prst="ellipse">
            <a:avLst/>
          </a:prstGeom>
          <a:solidFill>
            <a:srgbClr val="1F5E5B"/>
          </a:solidFill>
          <a:ln w="12700">
            <a:solidFill>
              <a:srgbClr val="1F5E5B"/>
            </a:solidFill>
            <a:prstDash val="solid"/>
          </a:ln>
        </p:spPr>
      </p:sp>
      <p:pic>
        <p:nvPicPr>
          <p:cNvPr id="33" name="Image 5" descr="preencoded.png">    </p:cNvPr>
          <p:cNvPicPr>
            <a:picLocks noChangeAspect="1"/>
          </p:cNvPicPr>
          <p:nvPr/>
        </p:nvPicPr>
        <p:blipFill>
          <a:blip r:embed="rId6"/>
          <a:stretch>
            <a:fillRect/>
          </a:stretch>
        </p:blipFill>
        <p:spPr>
          <a:xfrm>
            <a:off x="8580425" y="4338828"/>
            <a:ext cx="329184" cy="329184"/>
          </a:xfrm>
          <a:prstGeom prst="rect">
            <a:avLst/>
          </a:prstGeom>
        </p:spPr>
      </p:pic>
      <p:sp>
        <p:nvSpPr>
          <p:cNvPr id="34" name="Text 26"/>
          <p:cNvSpPr txBox="1"/>
          <p:nvPr/>
        </p:nvSpPr>
        <p:spPr>
          <a:xfrm>
            <a:off x="9225077" y="4160520"/>
            <a:ext cx="2235098" cy="685800"/>
          </a:xfrm>
          <a:prstGeom prst="rect">
            <a:avLst/>
          </a:prstGeom>
          <a:noFill/>
          <a:ln/>
        </p:spPr>
        <p:txBody>
          <a:bodyPr wrap="square" lIns="0" tIns="0" rIns="0" bIns="0" rtlCol="0" anchor="ctr"/>
          <a:lstStyle/>
          <a:p>
            <a:pPr indent="0" marL="0">
              <a:buNone/>
            </a:pPr>
            <a:r>
              <a:rPr lang="en-US" sz="1600" b="1" dirty="0">
                <a:solidFill>
                  <a:srgbClr val="1F5E5B"/>
                </a:solidFill>
                <a:latin typeface="Meiryo UI" pitchFamily="34" charset="0"/>
                <a:ea typeface="Meiryo UI" pitchFamily="34" charset="-122"/>
                <a:cs typeface="Meiryo UI" pitchFamily="34" charset="-120"/>
              </a:rPr>
              <a:t>定例ミーティング</a:t>
            </a:r>
            <a:endParaRPr lang="en-US" sz="1600" dirty="0"/>
          </a:p>
        </p:txBody>
      </p:sp>
      <p:sp>
        <p:nvSpPr>
          <p:cNvPr id="35" name="Text 27"/>
          <p:cNvSpPr txBox="1"/>
          <p:nvPr/>
        </p:nvSpPr>
        <p:spPr>
          <a:xfrm>
            <a:off x="8402117"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332"/>
                </a:solidFill>
                <a:latin typeface="Meiryo UI" pitchFamily="34" charset="0"/>
                <a:ea typeface="Meiryo UI" pitchFamily="34" charset="-122"/>
                <a:cs typeface="Meiryo UI" pitchFamily="34" charset="-120"/>
              </a:rPr>
              <a:t>月1回の定例で成果を確認し、翌月の施策を決定</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12ヶ月の伴走ロードマップ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18</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2919908" cy="914400"/>
          </a:xfrm>
          <a:prstGeom prst="homePlate">
            <a:avLst/>
          </a:prstGeom>
          <a:solidFill>
            <a:srgbClr val="E07B39"/>
          </a:solidFill>
          <a:ln w="12700">
            <a:solidFill>
              <a:srgbClr val="E07B39"/>
            </a:solidFill>
            <a:prstDash val="solid"/>
          </a:ln>
        </p:spPr>
      </p:sp>
      <p:sp>
        <p:nvSpPr>
          <p:cNvPr id="7" name="Text 5"/>
          <p:cNvSpPr txBox="1"/>
          <p:nvPr/>
        </p:nvSpPr>
        <p:spPr>
          <a:xfrm>
            <a:off x="868680"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1〜1.5ヶ月目</a:t>
            </a:r>
            <a:endParaRPr lang="en-US" sz="1200" dirty="0"/>
          </a:p>
        </p:txBody>
      </p:sp>
      <p:sp>
        <p:nvSpPr>
          <p:cNvPr id="8" name="Text 6"/>
          <p:cNvSpPr txBox="1"/>
          <p:nvPr/>
        </p:nvSpPr>
        <p:spPr>
          <a:xfrm>
            <a:off x="868680"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助走期（フェーズ1）</a:t>
            </a:r>
            <a:endParaRPr lang="en-US" sz="1500" dirty="0"/>
          </a:p>
        </p:txBody>
      </p:sp>
      <p:sp>
        <p:nvSpPr>
          <p:cNvPr id="9" name="Shape 7"/>
          <p:cNvSpPr/>
          <p:nvPr/>
        </p:nvSpPr>
        <p:spPr>
          <a:xfrm>
            <a:off x="548640" y="2651760"/>
            <a:ext cx="2691308" cy="2148840"/>
          </a:xfrm>
          <a:prstGeom prst="roundRect">
            <a:avLst>
              <a:gd name="adj" fmla="val 5106"/>
            </a:avLst>
          </a:prstGeom>
          <a:solidFill>
            <a:srgbClr val="F4F8F7"/>
          </a:solidFill>
          <a:ln w="12700">
            <a:solidFill>
              <a:srgbClr val="F4F8F7"/>
            </a:solidFill>
            <a:prstDash val="solid"/>
          </a:ln>
        </p:spPr>
      </p:sp>
      <p:sp>
        <p:nvSpPr>
          <p:cNvPr id="10" name="Text 8"/>
          <p:cNvSpPr txBox="1"/>
          <p:nvPr/>
        </p:nvSpPr>
        <p:spPr>
          <a:xfrm>
            <a:off x="777240" y="2761488"/>
            <a:ext cx="2234108"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主な実施内容</a:t>
            </a:r>
            <a:endParaRPr lang="en-US" sz="1050" dirty="0"/>
          </a:p>
        </p:txBody>
      </p:sp>
      <p:sp>
        <p:nvSpPr>
          <p:cNvPr id="11" name="Text 9"/>
          <p:cNvSpPr txBox="1"/>
          <p:nvPr/>
        </p:nvSpPr>
        <p:spPr>
          <a:xfrm>
            <a:off x="777240"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無料3本の制作・配信</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効果検証</a:t>
            </a:r>
            <a:endParaRPr lang="en-US" sz="1200" dirty="0"/>
          </a:p>
        </p:txBody>
      </p:sp>
      <p:sp>
        <p:nvSpPr>
          <p:cNvPr id="12" name="Shape 10"/>
          <p:cNvSpPr/>
          <p:nvPr/>
        </p:nvSpPr>
        <p:spPr>
          <a:xfrm>
            <a:off x="548640" y="4983480"/>
            <a:ext cx="2691308" cy="1234440"/>
          </a:xfrm>
          <a:prstGeom prst="roundRect">
            <a:avLst>
              <a:gd name="adj" fmla="val 8889"/>
            </a:avLst>
          </a:prstGeom>
          <a:solidFill>
            <a:srgbClr val="E7F2EF"/>
          </a:solidFill>
          <a:ln w="12700">
            <a:solidFill>
              <a:srgbClr val="E7F2EF"/>
            </a:solidFill>
            <a:prstDash val="solid"/>
          </a:ln>
        </p:spPr>
      </p:sp>
      <p:sp>
        <p:nvSpPr>
          <p:cNvPr id="13" name="Text 11"/>
          <p:cNvSpPr txBox="1"/>
          <p:nvPr/>
        </p:nvSpPr>
        <p:spPr>
          <a:xfrm>
            <a:off x="777240" y="5074920"/>
            <a:ext cx="2234108"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到達目標</a:t>
            </a:r>
            <a:endParaRPr lang="en-US" sz="1050" dirty="0"/>
          </a:p>
        </p:txBody>
      </p:sp>
      <p:sp>
        <p:nvSpPr>
          <p:cNvPr id="14" name="Text 12"/>
          <p:cNvSpPr txBox="1"/>
          <p:nvPr/>
        </p:nvSpPr>
        <p:spPr>
          <a:xfrm>
            <a:off x="777240" y="5349240"/>
            <a:ext cx="2234108" cy="777240"/>
          </a:xfrm>
          <a:prstGeom prst="rect">
            <a:avLst/>
          </a:prstGeom>
          <a:noFill/>
          <a:ln/>
        </p:spPr>
        <p:txBody>
          <a:bodyPr wrap="square" lIns="0" tIns="0" rIns="0" bIns="0" rtlCol="0" anchor="t"/>
          <a:lstStyle/>
          <a:p>
            <a:pPr indent="0" marL="0">
              <a:buNone/>
            </a:pPr>
            <a:r>
              <a:rPr lang="en-US" sz="1250" b="1" dirty="0">
                <a:solidFill>
                  <a:srgbClr val="163F3D"/>
                </a:solidFill>
                <a:latin typeface="Meiryo UI" pitchFamily="34" charset="0"/>
                <a:ea typeface="Meiryo UI" pitchFamily="34" charset="-122"/>
                <a:cs typeface="Meiryo UI" pitchFamily="34" charset="-120"/>
              </a:rPr>
              <a:t>「勝ちパターン」の仮説特定</a:t>
            </a:r>
            <a:endParaRPr lang="en-US" sz="1250" dirty="0"/>
          </a:p>
        </p:txBody>
      </p:sp>
      <p:sp>
        <p:nvSpPr>
          <p:cNvPr id="15" name="Shape 13"/>
          <p:cNvSpPr/>
          <p:nvPr/>
        </p:nvSpPr>
        <p:spPr>
          <a:xfrm>
            <a:off x="3349676" y="1463040"/>
            <a:ext cx="2919908" cy="914400"/>
          </a:xfrm>
          <a:prstGeom prst="chevron">
            <a:avLst/>
          </a:prstGeom>
          <a:solidFill>
            <a:srgbClr val="1F5E5B">
              <a:alpha val="80000"/>
            </a:srgbClr>
          </a:solidFill>
          <a:ln w="12700">
            <a:solidFill>
              <a:srgbClr val="1F5E5B"/>
            </a:solidFill>
            <a:prstDash val="solid"/>
          </a:ln>
        </p:spPr>
      </p:sp>
      <p:sp>
        <p:nvSpPr>
          <p:cNvPr id="16" name="Text 14"/>
          <p:cNvSpPr txBox="1"/>
          <p:nvPr/>
        </p:nvSpPr>
        <p:spPr>
          <a:xfrm>
            <a:off x="3669716"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2〜3ヶ月目</a:t>
            </a:r>
            <a:endParaRPr lang="en-US" sz="1200" dirty="0"/>
          </a:p>
        </p:txBody>
      </p:sp>
      <p:sp>
        <p:nvSpPr>
          <p:cNvPr id="17" name="Text 15"/>
          <p:cNvSpPr txBox="1"/>
          <p:nvPr/>
        </p:nvSpPr>
        <p:spPr>
          <a:xfrm>
            <a:off x="3669716"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立ち上げ期</a:t>
            </a:r>
            <a:endParaRPr lang="en-US" sz="1500" dirty="0"/>
          </a:p>
        </p:txBody>
      </p:sp>
      <p:sp>
        <p:nvSpPr>
          <p:cNvPr id="18" name="Shape 16"/>
          <p:cNvSpPr/>
          <p:nvPr/>
        </p:nvSpPr>
        <p:spPr>
          <a:xfrm>
            <a:off x="3349676" y="2651760"/>
            <a:ext cx="2691308" cy="2148840"/>
          </a:xfrm>
          <a:prstGeom prst="roundRect">
            <a:avLst>
              <a:gd name="adj" fmla="val 5106"/>
            </a:avLst>
          </a:prstGeom>
          <a:solidFill>
            <a:srgbClr val="F4F8F7"/>
          </a:solidFill>
          <a:ln w="12700">
            <a:solidFill>
              <a:srgbClr val="F4F8F7"/>
            </a:solidFill>
            <a:prstDash val="solid"/>
          </a:ln>
        </p:spPr>
      </p:sp>
      <p:sp>
        <p:nvSpPr>
          <p:cNvPr id="19" name="Text 17"/>
          <p:cNvSpPr txBox="1"/>
          <p:nvPr/>
        </p:nvSpPr>
        <p:spPr>
          <a:xfrm>
            <a:off x="3578276" y="2761488"/>
            <a:ext cx="2234108"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主な実施内容</a:t>
            </a:r>
            <a:endParaRPr lang="en-US" sz="1050" dirty="0"/>
          </a:p>
        </p:txBody>
      </p:sp>
      <p:sp>
        <p:nvSpPr>
          <p:cNvPr id="20" name="Text 18"/>
          <p:cNvSpPr txBox="1"/>
          <p:nvPr/>
        </p:nvSpPr>
        <p:spPr>
          <a:xfrm>
            <a:off x="3578276"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勝ちパターンの横展開</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送付フローの型化</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SNS投稿の定常化</a:t>
            </a:r>
            <a:endParaRPr lang="en-US" sz="1200" dirty="0"/>
          </a:p>
        </p:txBody>
      </p:sp>
      <p:sp>
        <p:nvSpPr>
          <p:cNvPr id="21" name="Shape 19"/>
          <p:cNvSpPr/>
          <p:nvPr/>
        </p:nvSpPr>
        <p:spPr>
          <a:xfrm>
            <a:off x="3349676" y="4983480"/>
            <a:ext cx="2691308" cy="1234440"/>
          </a:xfrm>
          <a:prstGeom prst="roundRect">
            <a:avLst>
              <a:gd name="adj" fmla="val 8889"/>
            </a:avLst>
          </a:prstGeom>
          <a:solidFill>
            <a:srgbClr val="E7F2EF"/>
          </a:solidFill>
          <a:ln w="12700">
            <a:solidFill>
              <a:srgbClr val="E7F2EF"/>
            </a:solidFill>
            <a:prstDash val="solid"/>
          </a:ln>
        </p:spPr>
      </p:sp>
      <p:sp>
        <p:nvSpPr>
          <p:cNvPr id="22" name="Text 20"/>
          <p:cNvSpPr txBox="1"/>
          <p:nvPr/>
        </p:nvSpPr>
        <p:spPr>
          <a:xfrm>
            <a:off x="3578276" y="5074920"/>
            <a:ext cx="2234108"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到達目標</a:t>
            </a:r>
            <a:endParaRPr lang="en-US" sz="1050" dirty="0"/>
          </a:p>
        </p:txBody>
      </p:sp>
      <p:sp>
        <p:nvSpPr>
          <p:cNvPr id="23" name="Text 21"/>
          <p:cNvSpPr txBox="1"/>
          <p:nvPr/>
        </p:nvSpPr>
        <p:spPr>
          <a:xfrm>
            <a:off x="3578276" y="5349240"/>
            <a:ext cx="2234108" cy="777240"/>
          </a:xfrm>
          <a:prstGeom prst="rect">
            <a:avLst/>
          </a:prstGeom>
          <a:noFill/>
          <a:ln/>
        </p:spPr>
        <p:txBody>
          <a:bodyPr wrap="square" lIns="0" tIns="0" rIns="0" bIns="0" rtlCol="0" anchor="t"/>
          <a:lstStyle/>
          <a:p>
            <a:pPr indent="0" marL="0">
              <a:buNone/>
            </a:pPr>
            <a:r>
              <a:rPr lang="en-US" sz="1250" b="1" dirty="0">
                <a:solidFill>
                  <a:srgbClr val="163F3D"/>
                </a:solidFill>
                <a:latin typeface="Meiryo UI" pitchFamily="34" charset="0"/>
                <a:ea typeface="Meiryo UI" pitchFamily="34" charset="-122"/>
                <a:cs typeface="Meiryo UI" pitchFamily="34" charset="-120"/>
              </a:rPr>
              <a:t>営業現場で動画を使うことが当たり前に</a:t>
            </a:r>
            <a:endParaRPr lang="en-US" sz="1250" dirty="0"/>
          </a:p>
        </p:txBody>
      </p:sp>
      <p:sp>
        <p:nvSpPr>
          <p:cNvPr id="24" name="Shape 22"/>
          <p:cNvSpPr/>
          <p:nvPr/>
        </p:nvSpPr>
        <p:spPr>
          <a:xfrm>
            <a:off x="6150712" y="1463040"/>
            <a:ext cx="2919908" cy="914400"/>
          </a:xfrm>
          <a:prstGeom prst="chevron">
            <a:avLst/>
          </a:prstGeom>
          <a:solidFill>
            <a:srgbClr val="1F5E5B">
              <a:alpha val="90000"/>
            </a:srgbClr>
          </a:solidFill>
          <a:ln w="12700">
            <a:solidFill>
              <a:srgbClr val="1F5E5B"/>
            </a:solidFill>
            <a:prstDash val="solid"/>
          </a:ln>
        </p:spPr>
      </p:sp>
      <p:sp>
        <p:nvSpPr>
          <p:cNvPr id="25" name="Text 23"/>
          <p:cNvSpPr txBox="1"/>
          <p:nvPr/>
        </p:nvSpPr>
        <p:spPr>
          <a:xfrm>
            <a:off x="6470752"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4〜6ヶ月目</a:t>
            </a:r>
            <a:endParaRPr lang="en-US" sz="1200" dirty="0"/>
          </a:p>
        </p:txBody>
      </p:sp>
      <p:sp>
        <p:nvSpPr>
          <p:cNvPr id="26" name="Text 24"/>
          <p:cNvSpPr txBox="1"/>
          <p:nvPr/>
        </p:nvSpPr>
        <p:spPr>
          <a:xfrm>
            <a:off x="6470752"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拡大期</a:t>
            </a:r>
            <a:endParaRPr lang="en-US" sz="1500" dirty="0"/>
          </a:p>
        </p:txBody>
      </p:sp>
      <p:sp>
        <p:nvSpPr>
          <p:cNvPr id="27" name="Shape 25"/>
          <p:cNvSpPr/>
          <p:nvPr/>
        </p:nvSpPr>
        <p:spPr>
          <a:xfrm>
            <a:off x="6150712" y="2651760"/>
            <a:ext cx="2691308" cy="2148840"/>
          </a:xfrm>
          <a:prstGeom prst="roundRect">
            <a:avLst>
              <a:gd name="adj" fmla="val 5106"/>
            </a:avLst>
          </a:prstGeom>
          <a:solidFill>
            <a:srgbClr val="F4F8F7"/>
          </a:solidFill>
          <a:ln w="12700">
            <a:solidFill>
              <a:srgbClr val="F4F8F7"/>
            </a:solidFill>
            <a:prstDash val="solid"/>
          </a:ln>
        </p:spPr>
      </p:sp>
      <p:sp>
        <p:nvSpPr>
          <p:cNvPr id="28" name="Text 26"/>
          <p:cNvSpPr txBox="1"/>
          <p:nvPr/>
        </p:nvSpPr>
        <p:spPr>
          <a:xfrm>
            <a:off x="6379312" y="2761488"/>
            <a:ext cx="2234108"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主な実施内容</a:t>
            </a:r>
            <a:endParaRPr lang="en-US" sz="1050" dirty="0"/>
          </a:p>
        </p:txBody>
      </p:sp>
      <p:sp>
        <p:nvSpPr>
          <p:cNvPr id="29" name="Text 27"/>
          <p:cNvSpPr txBox="1"/>
          <p:nvPr/>
        </p:nvSpPr>
        <p:spPr>
          <a:xfrm>
            <a:off x="6379312"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送付先エリアの拡大</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YouTube検索流入の強化</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保険顧客への定期案内・FAQ整備</a:t>
            </a:r>
            <a:endParaRPr lang="en-US" sz="1200" dirty="0"/>
          </a:p>
        </p:txBody>
      </p:sp>
      <p:sp>
        <p:nvSpPr>
          <p:cNvPr id="30" name="Shape 28"/>
          <p:cNvSpPr/>
          <p:nvPr/>
        </p:nvSpPr>
        <p:spPr>
          <a:xfrm>
            <a:off x="6150712" y="4983480"/>
            <a:ext cx="2691308" cy="1234440"/>
          </a:xfrm>
          <a:prstGeom prst="roundRect">
            <a:avLst>
              <a:gd name="adj" fmla="val 8889"/>
            </a:avLst>
          </a:prstGeom>
          <a:solidFill>
            <a:srgbClr val="E7F2EF"/>
          </a:solidFill>
          <a:ln w="12700">
            <a:solidFill>
              <a:srgbClr val="E7F2EF"/>
            </a:solidFill>
            <a:prstDash val="solid"/>
          </a:ln>
        </p:spPr>
      </p:sp>
      <p:sp>
        <p:nvSpPr>
          <p:cNvPr id="31" name="Text 29"/>
          <p:cNvSpPr txBox="1"/>
          <p:nvPr/>
        </p:nvSpPr>
        <p:spPr>
          <a:xfrm>
            <a:off x="6379312" y="5074920"/>
            <a:ext cx="2234108" cy="274320"/>
          </a:xfrm>
          <a:prstGeom prst="rect">
            <a:avLst/>
          </a:prstGeom>
          <a:noFill/>
          <a:ln/>
        </p:spPr>
        <p:txBody>
          <a:bodyPr wrap="square" lIns="0" tIns="0" rIns="0" bIns="0" rtlCol="0" anchor="t"/>
          <a:lstStyle/>
          <a:p>
            <a:pPr indent="0" marL="0">
              <a:buNone/>
            </a:pPr>
            <a:r>
              <a:rPr lang="en-US" sz="1050" b="1" dirty="0">
                <a:solidFill>
                  <a:srgbClr val="E07B39"/>
                </a:solidFill>
                <a:latin typeface="Meiryo UI" pitchFamily="34" charset="0"/>
                <a:ea typeface="Meiryo UI" pitchFamily="34" charset="-122"/>
                <a:cs typeface="Meiryo UI" pitchFamily="34" charset="-120"/>
              </a:rPr>
              <a:t>到達目標</a:t>
            </a:r>
            <a:endParaRPr lang="en-US" sz="1050" dirty="0"/>
          </a:p>
        </p:txBody>
      </p:sp>
      <p:sp>
        <p:nvSpPr>
          <p:cNvPr id="32" name="Text 30"/>
          <p:cNvSpPr txBox="1"/>
          <p:nvPr/>
        </p:nvSpPr>
        <p:spPr>
          <a:xfrm>
            <a:off x="6379312" y="5349240"/>
            <a:ext cx="2234108" cy="777240"/>
          </a:xfrm>
          <a:prstGeom prst="rect">
            <a:avLst/>
          </a:prstGeom>
          <a:noFill/>
          <a:ln/>
        </p:spPr>
        <p:txBody>
          <a:bodyPr wrap="square" lIns="0" tIns="0" rIns="0" bIns="0" rtlCol="0" anchor="t"/>
          <a:lstStyle/>
          <a:p>
            <a:pPr indent="0" marL="0">
              <a:buNone/>
            </a:pPr>
            <a:r>
              <a:rPr lang="en-US" sz="1250" b="1" dirty="0">
                <a:solidFill>
                  <a:srgbClr val="163F3D"/>
                </a:solidFill>
                <a:latin typeface="Meiryo UI" pitchFamily="34" charset="0"/>
                <a:ea typeface="Meiryo UI" pitchFamily="34" charset="-122"/>
                <a:cs typeface="Meiryo UI" pitchFamily="34" charset="-120"/>
              </a:rPr>
              <a:t>紹介・問い合わせ件数の継続的な増加</a:t>
            </a:r>
            <a:endParaRPr lang="en-US" sz="1250" dirty="0"/>
          </a:p>
        </p:txBody>
      </p:sp>
      <p:sp>
        <p:nvSpPr>
          <p:cNvPr id="33" name="Shape 31"/>
          <p:cNvSpPr/>
          <p:nvPr/>
        </p:nvSpPr>
        <p:spPr>
          <a:xfrm>
            <a:off x="8951747" y="1463040"/>
            <a:ext cx="2691308" cy="914400"/>
          </a:xfrm>
          <a:prstGeom prst="chevron">
            <a:avLst/>
          </a:prstGeom>
          <a:solidFill>
            <a:srgbClr val="1F5E5B"/>
          </a:solidFill>
          <a:ln w="12700">
            <a:solidFill>
              <a:srgbClr val="1F5E5B"/>
            </a:solidFill>
            <a:prstDash val="solid"/>
          </a:ln>
        </p:spPr>
      </p:sp>
      <p:sp>
        <p:nvSpPr>
          <p:cNvPr id="34" name="Text 32"/>
          <p:cNvSpPr txBox="1"/>
          <p:nvPr/>
        </p:nvSpPr>
        <p:spPr>
          <a:xfrm>
            <a:off x="9271787"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7〜12ヶ月目</a:t>
            </a:r>
            <a:endParaRPr lang="en-US" sz="1200" dirty="0"/>
          </a:p>
        </p:txBody>
      </p:sp>
      <p:sp>
        <p:nvSpPr>
          <p:cNvPr id="35" name="Text 33"/>
          <p:cNvSpPr txBox="1"/>
          <p:nvPr/>
        </p:nvSpPr>
        <p:spPr>
          <a:xfrm>
            <a:off x="9271787"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定着・自走期</a:t>
            </a:r>
            <a:endParaRPr lang="en-US" sz="1500" dirty="0"/>
          </a:p>
        </p:txBody>
      </p:sp>
      <p:sp>
        <p:nvSpPr>
          <p:cNvPr id="36" name="Shape 34"/>
          <p:cNvSpPr/>
          <p:nvPr/>
        </p:nvSpPr>
        <p:spPr>
          <a:xfrm>
            <a:off x="8951747" y="2651760"/>
            <a:ext cx="2691308" cy="2148840"/>
          </a:xfrm>
          <a:prstGeom prst="roundRect">
            <a:avLst>
              <a:gd name="adj" fmla="val 5106"/>
            </a:avLst>
          </a:prstGeom>
          <a:solidFill>
            <a:srgbClr val="F4F8F7"/>
          </a:solidFill>
          <a:ln w="12700">
            <a:solidFill>
              <a:srgbClr val="F4F8F7"/>
            </a:solidFill>
            <a:prstDash val="solid"/>
          </a:ln>
        </p:spPr>
      </p:sp>
      <p:sp>
        <p:nvSpPr>
          <p:cNvPr id="37" name="Text 35"/>
          <p:cNvSpPr txBox="1"/>
          <p:nvPr/>
        </p:nvSpPr>
        <p:spPr>
          <a:xfrm>
            <a:off x="9180347" y="2761488"/>
            <a:ext cx="2234108" cy="274320"/>
          </a:xfrm>
          <a:prstGeom prst="rect">
            <a:avLst/>
          </a:prstGeom>
          <a:noFill/>
          <a:ln/>
        </p:spPr>
        <p:txBody>
          <a:bodyPr wrap="square" lIns="0" tIns="0" rIns="0" bIns="0" rtlCol="0" anchor="t"/>
          <a:lstStyle/>
          <a:p>
            <a:pPr indent="0" marL="0">
              <a:buNone/>
            </a:pPr>
            <a:r>
              <a:rPr lang="en-US" sz="1050" b="1" dirty="0">
                <a:solidFill>
                  <a:srgbClr val="66807D"/>
                </a:solidFill>
                <a:latin typeface="Meiryo UI" pitchFamily="34" charset="0"/>
                <a:ea typeface="Meiryo UI" pitchFamily="34" charset="-122"/>
                <a:cs typeface="Meiryo UI" pitchFamily="34" charset="-120"/>
              </a:rPr>
              <a:t>主な実施内容</a:t>
            </a:r>
            <a:endParaRPr lang="en-US" sz="1050" dirty="0"/>
          </a:p>
        </p:txBody>
      </p:sp>
      <p:sp>
        <p:nvSpPr>
          <p:cNvPr id="38" name="Text 36"/>
          <p:cNvSpPr txBox="1"/>
          <p:nvPr/>
        </p:nvSpPr>
        <p:spPr>
          <a:xfrm>
            <a:off x="9180347"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動画ライブラリの完成</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社内運用への移管支援</a:t>
            </a:r>
            <a:endParaRPr lang="en-US" sz="1200" dirty="0"/>
          </a:p>
          <a:p>
            <a:pPr marL="342900" indent="-342900">
              <a:spcAft>
                <a:spcPts val="500"/>
              </a:spcAft>
              <a:buSzPct val="100000"/>
              <a:buChar char="•"/>
            </a:pPr>
            <a:r>
              <a:rPr lang="en-US" sz="1200" dirty="0">
                <a:solidFill>
                  <a:srgbClr val="2A3332"/>
                </a:solidFill>
                <a:latin typeface="Meiryo UI" pitchFamily="34" charset="0"/>
                <a:ea typeface="Meiryo UI" pitchFamily="34" charset="-122"/>
                <a:cs typeface="Meiryo UI" pitchFamily="34" charset="-120"/>
              </a:rPr>
              <a:t>採用動画への展開</a:t>
            </a:r>
            <a:endParaRPr lang="en-US" sz="1200" dirty="0"/>
          </a:p>
        </p:txBody>
      </p:sp>
      <p:sp>
        <p:nvSpPr>
          <p:cNvPr id="39" name="Shape 37"/>
          <p:cNvSpPr/>
          <p:nvPr/>
        </p:nvSpPr>
        <p:spPr>
          <a:xfrm>
            <a:off x="8951747" y="4983480"/>
            <a:ext cx="2691308" cy="1234440"/>
          </a:xfrm>
          <a:prstGeom prst="roundRect">
            <a:avLst>
              <a:gd name="adj" fmla="val 8889"/>
            </a:avLst>
          </a:prstGeom>
          <a:solidFill>
            <a:srgbClr val="163F3D"/>
          </a:solidFill>
          <a:ln w="12700">
            <a:solidFill>
              <a:srgbClr val="163F3D"/>
            </a:solidFill>
            <a:prstDash val="solid"/>
          </a:ln>
        </p:spPr>
      </p:sp>
      <p:sp>
        <p:nvSpPr>
          <p:cNvPr id="40" name="Text 38"/>
          <p:cNvSpPr txBox="1"/>
          <p:nvPr/>
        </p:nvSpPr>
        <p:spPr>
          <a:xfrm>
            <a:off x="9180347" y="5074920"/>
            <a:ext cx="2234108" cy="274320"/>
          </a:xfrm>
          <a:prstGeom prst="rect">
            <a:avLst/>
          </a:prstGeom>
          <a:noFill/>
          <a:ln/>
        </p:spPr>
        <p:txBody>
          <a:bodyPr wrap="square" lIns="0" tIns="0" rIns="0" bIns="0" rtlCol="0" anchor="t"/>
          <a:lstStyle/>
          <a:p>
            <a:pPr indent="0" marL="0">
              <a:buNone/>
            </a:pPr>
            <a:r>
              <a:rPr lang="en-US" sz="1050" b="1" dirty="0">
                <a:solidFill>
                  <a:srgbClr val="F2A673"/>
                </a:solidFill>
                <a:latin typeface="Meiryo UI" pitchFamily="34" charset="0"/>
                <a:ea typeface="Meiryo UI" pitchFamily="34" charset="-122"/>
                <a:cs typeface="Meiryo UI" pitchFamily="34" charset="-120"/>
              </a:rPr>
              <a:t>到達目標</a:t>
            </a:r>
            <a:endParaRPr lang="en-US" sz="1050" dirty="0"/>
          </a:p>
        </p:txBody>
      </p:sp>
      <p:sp>
        <p:nvSpPr>
          <p:cNvPr id="41" name="Text 39"/>
          <p:cNvSpPr txBox="1"/>
          <p:nvPr/>
        </p:nvSpPr>
        <p:spPr>
          <a:xfrm>
            <a:off x="9180347" y="5349240"/>
            <a:ext cx="2234108" cy="777240"/>
          </a:xfrm>
          <a:prstGeom prst="rect">
            <a:avLst/>
          </a:prstGeom>
          <a:noFill/>
          <a:ln/>
        </p:spPr>
        <p:txBody>
          <a:bodyPr wrap="square" lIns="0" tIns="0" rIns="0" bIns="0" rtlCol="0" anchor="t"/>
          <a:lstStyle/>
          <a:p>
            <a:pPr indent="0" marL="0">
              <a:buNone/>
            </a:pPr>
            <a:r>
              <a:rPr lang="en-US" sz="1250" b="1" dirty="0">
                <a:solidFill>
                  <a:srgbClr val="FFFFFF"/>
                </a:solidFill>
                <a:latin typeface="Meiryo UI" pitchFamily="34" charset="0"/>
                <a:ea typeface="Meiryo UI" pitchFamily="34" charset="-122"/>
                <a:cs typeface="Meiryo UI" pitchFamily="34" charset="-120"/>
              </a:rPr>
              <a:t>地域での第一想起と、仕組みで回る集客体制</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06｜SEAMLESS TRANSITION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「テスト（無料3本）」から「本格展開」へ、止めずにつなぐ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19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011680" y="1371600"/>
            <a:ext cx="4663440" cy="502920"/>
          </a:xfrm>
          <a:prstGeom prst="roundRect">
            <a:avLst>
              <a:gd name="adj" fmla="val 21818"/>
            </a:avLst>
          </a:prstGeom>
          <a:solidFill>
            <a:srgbClr val="EEF0F0"/>
          </a:solidFill>
          <a:ln w="12700">
            <a:solidFill>
              <a:srgbClr val="EEF0F0"/>
            </a:solidFill>
            <a:prstDash val="solid"/>
          </a:ln>
        </p:spPr>
      </p:sp>
      <p:sp>
        <p:nvSpPr>
          <p:cNvPr id="7" name="Text 5"/>
          <p:cNvSpPr txBox="1"/>
          <p:nvPr/>
        </p:nvSpPr>
        <p:spPr>
          <a:xfrm>
            <a:off x="2011680" y="1371600"/>
            <a:ext cx="4663440" cy="502920"/>
          </a:xfrm>
          <a:prstGeom prst="rect">
            <a:avLst/>
          </a:prstGeom>
          <a:noFill/>
          <a:ln/>
        </p:spPr>
        <p:txBody>
          <a:bodyPr wrap="square" lIns="0" tIns="0" rIns="0" bIns="0" rtlCol="0" anchor="ctr"/>
          <a:lstStyle/>
          <a:p>
            <a:pPr algn="ctr" indent="0" marL="0">
              <a:buNone/>
            </a:pPr>
            <a:r>
              <a:rPr lang="en-US" sz="1300" b="1" dirty="0">
                <a:solidFill>
                  <a:srgbClr val="7A8584"/>
                </a:solidFill>
                <a:latin typeface="Meiryo UI" pitchFamily="34" charset="0"/>
                <a:ea typeface="Meiryo UI" pitchFamily="34" charset="-122"/>
                <a:cs typeface="Meiryo UI" pitchFamily="34" charset="-120"/>
              </a:rPr>
              <a:t>様子見（無料3本 → 結果を見て検討）</a:t>
            </a:r>
            <a:endParaRPr lang="en-US" sz="1300" dirty="0"/>
          </a:p>
        </p:txBody>
      </p:sp>
      <p:sp>
        <p:nvSpPr>
          <p:cNvPr id="8" name="Shape 6"/>
          <p:cNvSpPr/>
          <p:nvPr/>
        </p:nvSpPr>
        <p:spPr>
          <a:xfrm>
            <a:off x="6858000" y="1371600"/>
            <a:ext cx="4663440" cy="502920"/>
          </a:xfrm>
          <a:prstGeom prst="roundRect">
            <a:avLst>
              <a:gd name="adj" fmla="val 21818"/>
            </a:avLst>
          </a:prstGeom>
          <a:solidFill>
            <a:srgbClr val="E07B39"/>
          </a:solidFill>
          <a:ln w="12700">
            <a:solidFill>
              <a:srgbClr val="E07B39"/>
            </a:solidFill>
            <a:prstDash val="solid"/>
          </a:ln>
        </p:spPr>
      </p:sp>
      <p:sp>
        <p:nvSpPr>
          <p:cNvPr id="9" name="Text 7"/>
          <p:cNvSpPr txBox="1"/>
          <p:nvPr/>
        </p:nvSpPr>
        <p:spPr>
          <a:xfrm>
            <a:off x="6858000" y="1371600"/>
            <a:ext cx="4663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早期ご決定（無料3本を伴走の初月に組み込み）</a:t>
            </a:r>
            <a:endParaRPr lang="en-US" sz="1300" dirty="0"/>
          </a:p>
        </p:txBody>
      </p:sp>
      <p:sp>
        <p:nvSpPr>
          <p:cNvPr id="10" name="Text 8"/>
          <p:cNvSpPr txBox="1"/>
          <p:nvPr/>
        </p:nvSpPr>
        <p:spPr>
          <a:xfrm>
            <a:off x="548640" y="1965960"/>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検証設計</a:t>
            </a:r>
            <a:endParaRPr lang="en-US" sz="1250" dirty="0"/>
          </a:p>
        </p:txBody>
      </p:sp>
      <p:sp>
        <p:nvSpPr>
          <p:cNvPr id="11" name="Shape 9"/>
          <p:cNvSpPr/>
          <p:nvPr/>
        </p:nvSpPr>
        <p:spPr>
          <a:xfrm>
            <a:off x="2011680" y="1965960"/>
            <a:ext cx="4663440" cy="457200"/>
          </a:xfrm>
          <a:prstGeom prst="roundRect">
            <a:avLst>
              <a:gd name="adj" fmla="val 24000"/>
            </a:avLst>
          </a:prstGeom>
          <a:solidFill>
            <a:srgbClr val="F4F8F7"/>
          </a:solidFill>
          <a:ln w="12700">
            <a:solidFill>
              <a:srgbClr val="F4F8F7"/>
            </a:solidFill>
            <a:prstDash val="solid"/>
          </a:ln>
        </p:spPr>
      </p:sp>
      <p:sp>
        <p:nvSpPr>
          <p:cNvPr id="12" name="Text 10"/>
          <p:cNvSpPr txBox="1"/>
          <p:nvPr/>
        </p:nvSpPr>
        <p:spPr>
          <a:xfrm>
            <a:off x="2194560" y="1965960"/>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3本を「作ること」がゴールになりがち</a:t>
            </a:r>
            <a:endParaRPr lang="en-US" sz="1200" dirty="0"/>
          </a:p>
        </p:txBody>
      </p:sp>
      <p:sp>
        <p:nvSpPr>
          <p:cNvPr id="13" name="Shape 11"/>
          <p:cNvSpPr/>
          <p:nvPr/>
        </p:nvSpPr>
        <p:spPr>
          <a:xfrm>
            <a:off x="6858000" y="1965960"/>
            <a:ext cx="4663440" cy="457200"/>
          </a:xfrm>
          <a:prstGeom prst="roundRect">
            <a:avLst>
              <a:gd name="adj" fmla="val 24000"/>
            </a:avLst>
          </a:prstGeom>
          <a:solidFill>
            <a:srgbClr val="FCEBDD"/>
          </a:solidFill>
          <a:ln w="12700">
            <a:solidFill>
              <a:srgbClr val="FCEBDD"/>
            </a:solidFill>
            <a:prstDash val="solid"/>
          </a:ln>
        </p:spPr>
      </p:sp>
      <p:sp>
        <p:nvSpPr>
          <p:cNvPr id="14" name="Text 12"/>
          <p:cNvSpPr txBox="1"/>
          <p:nvPr/>
        </p:nvSpPr>
        <p:spPr>
          <a:xfrm>
            <a:off x="7040880" y="1965960"/>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最初からKPI・比較軸を設計し、検証として実施</a:t>
            </a:r>
            <a:endParaRPr lang="en-US" sz="1200" dirty="0"/>
          </a:p>
        </p:txBody>
      </p:sp>
      <p:sp>
        <p:nvSpPr>
          <p:cNvPr id="15" name="Text 13"/>
          <p:cNvSpPr txBox="1"/>
          <p:nvPr/>
        </p:nvSpPr>
        <p:spPr>
          <a:xfrm>
            <a:off x="548640" y="2496312"/>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検証後</a:t>
            </a:r>
            <a:endParaRPr lang="en-US" sz="1250" dirty="0"/>
          </a:p>
        </p:txBody>
      </p:sp>
      <p:sp>
        <p:nvSpPr>
          <p:cNvPr id="16" name="Shape 14"/>
          <p:cNvSpPr/>
          <p:nvPr/>
        </p:nvSpPr>
        <p:spPr>
          <a:xfrm>
            <a:off x="2011680" y="2496312"/>
            <a:ext cx="4663440" cy="457200"/>
          </a:xfrm>
          <a:prstGeom prst="roundRect">
            <a:avLst>
              <a:gd name="adj" fmla="val 24000"/>
            </a:avLst>
          </a:prstGeom>
          <a:solidFill>
            <a:srgbClr val="F4F8F7"/>
          </a:solidFill>
          <a:ln w="12700">
            <a:solidFill>
              <a:srgbClr val="F4F8F7"/>
            </a:solidFill>
            <a:prstDash val="solid"/>
          </a:ln>
        </p:spPr>
      </p:sp>
      <p:sp>
        <p:nvSpPr>
          <p:cNvPr id="17" name="Text 15"/>
          <p:cNvSpPr txBox="1"/>
          <p:nvPr/>
        </p:nvSpPr>
        <p:spPr>
          <a:xfrm>
            <a:off x="2194560" y="2496312"/>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社内検討・見積り・契約で1〜2ヶ月の空白</a:t>
            </a:r>
            <a:endParaRPr lang="en-US" sz="1200" dirty="0"/>
          </a:p>
        </p:txBody>
      </p:sp>
      <p:sp>
        <p:nvSpPr>
          <p:cNvPr id="18" name="Shape 16"/>
          <p:cNvSpPr/>
          <p:nvPr/>
        </p:nvSpPr>
        <p:spPr>
          <a:xfrm>
            <a:off x="6858000" y="2496312"/>
            <a:ext cx="4663440" cy="457200"/>
          </a:xfrm>
          <a:prstGeom prst="roundRect">
            <a:avLst>
              <a:gd name="adj" fmla="val 24000"/>
            </a:avLst>
          </a:prstGeom>
          <a:solidFill>
            <a:srgbClr val="FCEBDD"/>
          </a:solidFill>
          <a:ln w="12700">
            <a:solidFill>
              <a:srgbClr val="FCEBDD"/>
            </a:solidFill>
            <a:prstDash val="solid"/>
          </a:ln>
        </p:spPr>
      </p:sp>
      <p:sp>
        <p:nvSpPr>
          <p:cNvPr id="19" name="Text 17"/>
          <p:cNvSpPr txBox="1"/>
          <p:nvPr/>
        </p:nvSpPr>
        <p:spPr>
          <a:xfrm>
            <a:off x="7040880" y="2496312"/>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検証レポート当日に次の制作へ即着手</a:t>
            </a:r>
            <a:endParaRPr lang="en-US" sz="1200" dirty="0"/>
          </a:p>
        </p:txBody>
      </p:sp>
      <p:sp>
        <p:nvSpPr>
          <p:cNvPr id="20" name="Text 18"/>
          <p:cNvSpPr txBox="1"/>
          <p:nvPr/>
        </p:nvSpPr>
        <p:spPr>
          <a:xfrm>
            <a:off x="548640" y="3026664"/>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SNS</a:t>
            </a:r>
            <a:endParaRPr lang="en-US" sz="1250" dirty="0"/>
          </a:p>
        </p:txBody>
      </p:sp>
      <p:sp>
        <p:nvSpPr>
          <p:cNvPr id="21" name="Shape 19"/>
          <p:cNvSpPr/>
          <p:nvPr/>
        </p:nvSpPr>
        <p:spPr>
          <a:xfrm>
            <a:off x="2011680" y="3026664"/>
            <a:ext cx="4663440" cy="457200"/>
          </a:xfrm>
          <a:prstGeom prst="roundRect">
            <a:avLst>
              <a:gd name="adj" fmla="val 24000"/>
            </a:avLst>
          </a:prstGeom>
          <a:solidFill>
            <a:srgbClr val="F4F8F7"/>
          </a:solidFill>
          <a:ln w="12700">
            <a:solidFill>
              <a:srgbClr val="F4F8F7"/>
            </a:solidFill>
            <a:prstDash val="solid"/>
          </a:ln>
        </p:spPr>
      </p:sp>
      <p:sp>
        <p:nvSpPr>
          <p:cNvPr id="22" name="Text 20"/>
          <p:cNvSpPr txBox="1"/>
          <p:nvPr/>
        </p:nvSpPr>
        <p:spPr>
          <a:xfrm>
            <a:off x="2194560" y="3026664"/>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投稿が止まり、アカウント評価がリセット</a:t>
            </a:r>
            <a:endParaRPr lang="en-US" sz="1200" dirty="0"/>
          </a:p>
        </p:txBody>
      </p:sp>
      <p:sp>
        <p:nvSpPr>
          <p:cNvPr id="23" name="Shape 21"/>
          <p:cNvSpPr/>
          <p:nvPr/>
        </p:nvSpPr>
        <p:spPr>
          <a:xfrm>
            <a:off x="6858000" y="3026664"/>
            <a:ext cx="4663440" cy="457200"/>
          </a:xfrm>
          <a:prstGeom prst="roundRect">
            <a:avLst>
              <a:gd name="adj" fmla="val 24000"/>
            </a:avLst>
          </a:prstGeom>
          <a:solidFill>
            <a:srgbClr val="FCEBDD"/>
          </a:solidFill>
          <a:ln w="12700">
            <a:solidFill>
              <a:srgbClr val="FCEBDD"/>
            </a:solidFill>
            <a:prstDash val="solid"/>
          </a:ln>
        </p:spPr>
      </p:sp>
      <p:sp>
        <p:nvSpPr>
          <p:cNvPr id="24" name="Text 22"/>
          <p:cNvSpPr txBox="1"/>
          <p:nvPr/>
        </p:nvSpPr>
        <p:spPr>
          <a:xfrm>
            <a:off x="7040880" y="3026664"/>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投稿が途切れず、成長が積み上がる</a:t>
            </a:r>
            <a:endParaRPr lang="en-US" sz="1200" dirty="0"/>
          </a:p>
        </p:txBody>
      </p:sp>
      <p:sp>
        <p:nvSpPr>
          <p:cNvPr id="25" name="Text 23"/>
          <p:cNvSpPr txBox="1"/>
          <p:nvPr/>
        </p:nvSpPr>
        <p:spPr>
          <a:xfrm>
            <a:off x="548640" y="3557016"/>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営業現場</a:t>
            </a:r>
            <a:endParaRPr lang="en-US" sz="1250" dirty="0"/>
          </a:p>
        </p:txBody>
      </p:sp>
      <p:sp>
        <p:nvSpPr>
          <p:cNvPr id="26" name="Shape 24"/>
          <p:cNvSpPr/>
          <p:nvPr/>
        </p:nvSpPr>
        <p:spPr>
          <a:xfrm>
            <a:off x="2011680" y="3557016"/>
            <a:ext cx="4663440" cy="457200"/>
          </a:xfrm>
          <a:prstGeom prst="roundRect">
            <a:avLst>
              <a:gd name="adj" fmla="val 24000"/>
            </a:avLst>
          </a:prstGeom>
          <a:solidFill>
            <a:srgbClr val="F4F8F7"/>
          </a:solidFill>
          <a:ln w="12700">
            <a:solidFill>
              <a:srgbClr val="F4F8F7"/>
            </a:solidFill>
            <a:prstDash val="solid"/>
          </a:ln>
        </p:spPr>
      </p:sp>
      <p:sp>
        <p:nvSpPr>
          <p:cNvPr id="27" name="Text 25"/>
          <p:cNvSpPr txBox="1"/>
          <p:nvPr/>
        </p:nvSpPr>
        <p:spPr>
          <a:xfrm>
            <a:off x="2194560" y="3557016"/>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「一時的な取り組み」として定着しない</a:t>
            </a:r>
            <a:endParaRPr lang="en-US" sz="1200" dirty="0"/>
          </a:p>
        </p:txBody>
      </p:sp>
      <p:sp>
        <p:nvSpPr>
          <p:cNvPr id="28" name="Shape 26"/>
          <p:cNvSpPr/>
          <p:nvPr/>
        </p:nvSpPr>
        <p:spPr>
          <a:xfrm>
            <a:off x="6858000" y="3557016"/>
            <a:ext cx="4663440" cy="457200"/>
          </a:xfrm>
          <a:prstGeom prst="roundRect">
            <a:avLst>
              <a:gd name="adj" fmla="val 24000"/>
            </a:avLst>
          </a:prstGeom>
          <a:solidFill>
            <a:srgbClr val="FCEBDD"/>
          </a:solidFill>
          <a:ln w="12700">
            <a:solidFill>
              <a:srgbClr val="FCEBDD"/>
            </a:solidFill>
            <a:prstDash val="solid"/>
          </a:ln>
        </p:spPr>
      </p:sp>
      <p:sp>
        <p:nvSpPr>
          <p:cNvPr id="29" name="Text 27"/>
          <p:cNvSpPr txBox="1"/>
          <p:nvPr/>
        </p:nvSpPr>
        <p:spPr>
          <a:xfrm>
            <a:off x="7040880" y="3557016"/>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動画活用が営業の型として定着</a:t>
            </a:r>
            <a:endParaRPr lang="en-US" sz="1200" dirty="0"/>
          </a:p>
        </p:txBody>
      </p:sp>
      <p:sp>
        <p:nvSpPr>
          <p:cNvPr id="30" name="Text 28"/>
          <p:cNvSpPr txBox="1"/>
          <p:nvPr/>
        </p:nvSpPr>
        <p:spPr>
          <a:xfrm>
            <a:off x="548640" y="4087368"/>
            <a:ext cx="1371600" cy="4572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成果まで</a:t>
            </a:r>
            <a:endParaRPr lang="en-US" sz="1250" dirty="0"/>
          </a:p>
        </p:txBody>
      </p:sp>
      <p:sp>
        <p:nvSpPr>
          <p:cNvPr id="31" name="Shape 29"/>
          <p:cNvSpPr/>
          <p:nvPr/>
        </p:nvSpPr>
        <p:spPr>
          <a:xfrm>
            <a:off x="2011680" y="4087368"/>
            <a:ext cx="4663440" cy="457200"/>
          </a:xfrm>
          <a:prstGeom prst="roundRect">
            <a:avLst>
              <a:gd name="adj" fmla="val 24000"/>
            </a:avLst>
          </a:prstGeom>
          <a:solidFill>
            <a:srgbClr val="F4F8F7"/>
          </a:solidFill>
          <a:ln w="12700">
            <a:solidFill>
              <a:srgbClr val="F4F8F7"/>
            </a:solidFill>
            <a:prstDash val="solid"/>
          </a:ln>
        </p:spPr>
      </p:sp>
      <p:sp>
        <p:nvSpPr>
          <p:cNvPr id="32" name="Text 30"/>
          <p:cNvSpPr txBox="1"/>
          <p:nvPr/>
        </p:nvSpPr>
        <p:spPr>
          <a:xfrm>
            <a:off x="2194560" y="4087368"/>
            <a:ext cx="4297680" cy="457200"/>
          </a:xfrm>
          <a:prstGeom prst="rect">
            <a:avLst/>
          </a:prstGeom>
          <a:noFill/>
          <a:ln/>
        </p:spPr>
        <p:txBody>
          <a:bodyPr wrap="square" lIns="0" tIns="0" rIns="0" bIns="0" rtlCol="0" anchor="ctr"/>
          <a:lstStyle/>
          <a:p>
            <a:pPr indent="0" marL="0">
              <a:buNone/>
            </a:pPr>
            <a:r>
              <a:rPr lang="en-US" sz="1200" dirty="0">
                <a:solidFill>
                  <a:srgbClr val="7A8584"/>
                </a:solidFill>
                <a:latin typeface="Meiryo UI" pitchFamily="34" charset="0"/>
                <a:ea typeface="Meiryo UI" pitchFamily="34" charset="-122"/>
                <a:cs typeface="Meiryo UI" pitchFamily="34" charset="-120"/>
              </a:rPr>
              <a:t>実質的に3〜4ヶ月後ろ倒し</a:t>
            </a:r>
            <a:endParaRPr lang="en-US" sz="1200" dirty="0"/>
          </a:p>
        </p:txBody>
      </p:sp>
      <p:sp>
        <p:nvSpPr>
          <p:cNvPr id="33" name="Shape 31"/>
          <p:cNvSpPr/>
          <p:nvPr/>
        </p:nvSpPr>
        <p:spPr>
          <a:xfrm>
            <a:off x="6858000" y="4087368"/>
            <a:ext cx="4663440" cy="457200"/>
          </a:xfrm>
          <a:prstGeom prst="roundRect">
            <a:avLst>
              <a:gd name="adj" fmla="val 24000"/>
            </a:avLst>
          </a:prstGeom>
          <a:solidFill>
            <a:srgbClr val="FCEBDD"/>
          </a:solidFill>
          <a:ln w="12700">
            <a:solidFill>
              <a:srgbClr val="FCEBDD"/>
            </a:solidFill>
            <a:prstDash val="solid"/>
          </a:ln>
        </p:spPr>
      </p:sp>
      <p:sp>
        <p:nvSpPr>
          <p:cNvPr id="34" name="Text 32"/>
          <p:cNvSpPr txBox="1"/>
          <p:nvPr/>
        </p:nvSpPr>
        <p:spPr>
          <a:xfrm>
            <a:off x="7040880" y="4087368"/>
            <a:ext cx="4297680" cy="457200"/>
          </a:xfrm>
          <a:prstGeom prst="rect">
            <a:avLst/>
          </a:prstGeom>
          <a:noFill/>
          <a:ln/>
        </p:spPr>
        <p:txBody>
          <a:bodyPr wrap="square" lIns="0" tIns="0" rIns="0" bIns="0" rtlCol="0" anchor="ctr"/>
          <a:lstStyle/>
          <a:p>
            <a:pPr indent="0" marL="0">
              <a:buNone/>
            </a:pPr>
            <a:r>
              <a:rPr lang="en-US" sz="1200" b="1" dirty="0">
                <a:solidFill>
                  <a:srgbClr val="163F3D"/>
                </a:solidFill>
                <a:latin typeface="Meiryo UI" pitchFamily="34" charset="0"/>
                <a:ea typeface="Meiryo UI" pitchFamily="34" charset="-122"/>
                <a:cs typeface="Meiryo UI" pitchFamily="34" charset="-120"/>
              </a:rPr>
              <a:t>最短ルートで成果創出へ</a:t>
            </a:r>
            <a:endParaRPr lang="en-US" sz="1200" dirty="0"/>
          </a:p>
        </p:txBody>
      </p:sp>
      <p:sp>
        <p:nvSpPr>
          <p:cNvPr id="35" name="Text 33"/>
          <p:cNvSpPr txBox="1"/>
          <p:nvPr/>
        </p:nvSpPr>
        <p:spPr>
          <a:xfrm>
            <a:off x="548640" y="4754880"/>
            <a:ext cx="2743200" cy="320040"/>
          </a:xfrm>
          <a:prstGeom prst="rect">
            <a:avLst/>
          </a:prstGeom>
          <a:noFill/>
          <a:ln/>
        </p:spPr>
        <p:txBody>
          <a:bodyPr wrap="square" lIns="0" tIns="0" rIns="0" bIns="0" rtlCol="0" anchor="t"/>
          <a:lstStyle/>
          <a:p>
            <a:pPr indent="0" marL="0">
              <a:buNone/>
            </a:pPr>
            <a:r>
              <a:rPr lang="en-US" sz="1400" b="1" dirty="0">
                <a:solidFill>
                  <a:srgbClr val="E07B39"/>
                </a:solidFill>
                <a:latin typeface="Meiryo UI" pitchFamily="34" charset="0"/>
                <a:ea typeface="Meiryo UI" pitchFamily="34" charset="-122"/>
                <a:cs typeface="Meiryo UI" pitchFamily="34" charset="-120"/>
              </a:rPr>
              <a:t>移行の流れ</a:t>
            </a:r>
            <a:endParaRPr lang="en-US" sz="1400" dirty="0"/>
          </a:p>
        </p:txBody>
      </p:sp>
      <p:sp>
        <p:nvSpPr>
          <p:cNvPr id="36" name="Shape 34"/>
          <p:cNvSpPr/>
          <p:nvPr/>
        </p:nvSpPr>
        <p:spPr>
          <a:xfrm>
            <a:off x="548640" y="5120640"/>
            <a:ext cx="2533574" cy="1143000"/>
          </a:xfrm>
          <a:prstGeom prst="roundRect">
            <a:avLst>
              <a:gd name="adj" fmla="val 9600"/>
            </a:avLst>
          </a:prstGeom>
          <a:solidFill>
            <a:srgbClr val="163F3D"/>
          </a:solidFill>
          <a:ln w="12700">
            <a:solidFill>
              <a:srgbClr val="163F3D"/>
            </a:solidFill>
            <a:prstDash val="solid"/>
          </a:ln>
        </p:spPr>
      </p:sp>
      <p:sp>
        <p:nvSpPr>
          <p:cNvPr id="37" name="Text 35"/>
          <p:cNvSpPr txBox="1"/>
          <p:nvPr/>
        </p:nvSpPr>
        <p:spPr>
          <a:xfrm>
            <a:off x="731520" y="5193792"/>
            <a:ext cx="2167814" cy="320040"/>
          </a:xfrm>
          <a:prstGeom prst="rect">
            <a:avLst/>
          </a:prstGeom>
          <a:noFill/>
          <a:ln/>
        </p:spPr>
        <p:txBody>
          <a:bodyPr wrap="square" lIns="0" tIns="0" rIns="0" bIns="0" rtlCol="0" anchor="t"/>
          <a:lstStyle/>
          <a:p>
            <a:pPr indent="0" marL="0">
              <a:buNone/>
            </a:pPr>
            <a:r>
              <a:rPr lang="en-US" sz="1300" b="1" dirty="0">
                <a:solidFill>
                  <a:srgbClr val="F2A673"/>
                </a:solidFill>
                <a:latin typeface="Meiryo UI" pitchFamily="34" charset="0"/>
                <a:ea typeface="Meiryo UI" pitchFamily="34" charset="-122"/>
                <a:cs typeface="Meiryo UI" pitchFamily="34" charset="-120"/>
              </a:rPr>
              <a:t>ご契約時</a:t>
            </a:r>
            <a:endParaRPr lang="en-US" sz="1300" dirty="0"/>
          </a:p>
        </p:txBody>
      </p:sp>
      <p:sp>
        <p:nvSpPr>
          <p:cNvPr id="38" name="Text 36"/>
          <p:cNvSpPr txBox="1"/>
          <p:nvPr/>
        </p:nvSpPr>
        <p:spPr>
          <a:xfrm>
            <a:off x="731520" y="5513832"/>
            <a:ext cx="2167814" cy="685800"/>
          </a:xfrm>
          <a:prstGeom prst="rect">
            <a:avLst/>
          </a:prstGeom>
          <a:noFill/>
          <a:ln/>
        </p:spPr>
        <p:txBody>
          <a:bodyPr wrap="square" lIns="0" tIns="0" rIns="0" bIns="0" rtlCol="0" anchor="t"/>
          <a:lstStyle/>
          <a:p>
            <a:pPr indent="0" marL="0">
              <a:buNone/>
            </a:pPr>
            <a:r>
              <a:rPr lang="en-US" sz="1150" dirty="0">
                <a:solidFill>
                  <a:srgbClr val="FFFFFF"/>
                </a:solidFill>
                <a:latin typeface="Meiryo UI" pitchFamily="34" charset="0"/>
                <a:ea typeface="Meiryo UI" pitchFamily="34" charset="-122"/>
                <a:cs typeface="Meiryo UI" pitchFamily="34" charset="-120"/>
              </a:rPr>
              <a:t>伴走プランのご契約</a:t>
            </a:r>
            <a:endParaRPr lang="en-US" sz="1150" dirty="0"/>
          </a:p>
          <a:p>
            <a:pPr indent="0" marL="0">
              <a:buNone/>
            </a:pPr>
            <a:r>
              <a:rPr lang="en-US" sz="1150" dirty="0">
                <a:solidFill>
                  <a:srgbClr val="FFFFFF"/>
                </a:solidFill>
                <a:latin typeface="Meiryo UI" pitchFamily="34" charset="0"/>
                <a:ea typeface="Meiryo UI" pitchFamily="34" charset="-122"/>
                <a:cs typeface="Meiryo UI" pitchFamily="34" charset="-120"/>
              </a:rPr>
              <a:t>（フェーズ1を初月に組み込み）</a:t>
            </a:r>
            <a:endParaRPr lang="en-US" sz="1150" dirty="0"/>
          </a:p>
        </p:txBody>
      </p:sp>
      <p:pic>
        <p:nvPicPr>
          <p:cNvPr id="39" name="Image 0" descr="preencoded.png">    </p:cNvPr>
          <p:cNvPicPr>
            <a:picLocks noChangeAspect="1"/>
          </p:cNvPicPr>
          <p:nvPr/>
        </p:nvPicPr>
        <p:blipFill>
          <a:blip r:embed="rId1"/>
          <a:stretch>
            <a:fillRect/>
          </a:stretch>
        </p:blipFill>
        <p:spPr>
          <a:xfrm>
            <a:off x="3146222" y="5550408"/>
            <a:ext cx="201168" cy="274320"/>
          </a:xfrm>
          <a:prstGeom prst="rect">
            <a:avLst/>
          </a:prstGeom>
        </p:spPr>
      </p:pic>
      <p:sp>
        <p:nvSpPr>
          <p:cNvPr id="40" name="Shape 37"/>
          <p:cNvSpPr/>
          <p:nvPr/>
        </p:nvSpPr>
        <p:spPr>
          <a:xfrm>
            <a:off x="3402254" y="5120640"/>
            <a:ext cx="2533574" cy="1143000"/>
          </a:xfrm>
          <a:prstGeom prst="roundRect">
            <a:avLst>
              <a:gd name="adj" fmla="val 9600"/>
            </a:avLst>
          </a:prstGeom>
          <a:solidFill>
            <a:srgbClr val="E7F2EF"/>
          </a:solidFill>
          <a:ln w="12700">
            <a:solidFill>
              <a:srgbClr val="E7F2EF"/>
            </a:solidFill>
            <a:prstDash val="solid"/>
          </a:ln>
        </p:spPr>
      </p:sp>
      <p:sp>
        <p:nvSpPr>
          <p:cNvPr id="41" name="Text 38"/>
          <p:cNvSpPr txBox="1"/>
          <p:nvPr/>
        </p:nvSpPr>
        <p:spPr>
          <a:xfrm>
            <a:off x="3585134" y="5193792"/>
            <a:ext cx="2167814" cy="320040"/>
          </a:xfrm>
          <a:prstGeom prst="rect">
            <a:avLst/>
          </a:prstGeom>
          <a:noFill/>
          <a:ln/>
        </p:spPr>
        <p:txBody>
          <a:bodyPr wrap="square" lIns="0" tIns="0" rIns="0" bIns="0" rtlCol="0" anchor="t"/>
          <a:lstStyle/>
          <a:p>
            <a:pPr indent="0" marL="0">
              <a:buNone/>
            </a:pPr>
            <a:r>
              <a:rPr lang="en-US" sz="1300" b="1" dirty="0">
                <a:solidFill>
                  <a:srgbClr val="1F5E5B"/>
                </a:solidFill>
                <a:latin typeface="Meiryo UI" pitchFamily="34" charset="0"/>
                <a:ea typeface="Meiryo UI" pitchFamily="34" charset="-122"/>
                <a:cs typeface="Meiryo UI" pitchFamily="34" charset="-120"/>
              </a:rPr>
              <a:t>約6週間</a:t>
            </a:r>
            <a:endParaRPr lang="en-US" sz="1300" dirty="0"/>
          </a:p>
        </p:txBody>
      </p:sp>
      <p:sp>
        <p:nvSpPr>
          <p:cNvPr id="42" name="Text 39"/>
          <p:cNvSpPr txBox="1"/>
          <p:nvPr/>
        </p:nvSpPr>
        <p:spPr>
          <a:xfrm>
            <a:off x="3585134" y="5513832"/>
            <a:ext cx="2167814" cy="68580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無料3本の制作・配信・検証</a:t>
            </a:r>
            <a:endParaRPr lang="en-US" sz="1150" dirty="0"/>
          </a:p>
        </p:txBody>
      </p:sp>
      <p:pic>
        <p:nvPicPr>
          <p:cNvPr id="43" name="Image 1" descr="preencoded.png">    </p:cNvPr>
          <p:cNvPicPr>
            <a:picLocks noChangeAspect="1"/>
          </p:cNvPicPr>
          <p:nvPr/>
        </p:nvPicPr>
        <p:blipFill>
          <a:blip r:embed="rId2"/>
          <a:stretch>
            <a:fillRect/>
          </a:stretch>
        </p:blipFill>
        <p:spPr>
          <a:xfrm>
            <a:off x="5999836" y="5550408"/>
            <a:ext cx="201168" cy="274320"/>
          </a:xfrm>
          <a:prstGeom prst="rect">
            <a:avLst/>
          </a:prstGeom>
        </p:spPr>
      </p:pic>
      <p:sp>
        <p:nvSpPr>
          <p:cNvPr id="44" name="Shape 40"/>
          <p:cNvSpPr/>
          <p:nvPr/>
        </p:nvSpPr>
        <p:spPr>
          <a:xfrm>
            <a:off x="6255868" y="5120640"/>
            <a:ext cx="2533574" cy="1143000"/>
          </a:xfrm>
          <a:prstGeom prst="roundRect">
            <a:avLst>
              <a:gd name="adj" fmla="val 9600"/>
            </a:avLst>
          </a:prstGeom>
          <a:solidFill>
            <a:srgbClr val="E7F2EF"/>
          </a:solidFill>
          <a:ln w="12700">
            <a:solidFill>
              <a:srgbClr val="E7F2EF"/>
            </a:solidFill>
            <a:prstDash val="solid"/>
          </a:ln>
        </p:spPr>
      </p:sp>
      <p:sp>
        <p:nvSpPr>
          <p:cNvPr id="45" name="Text 41"/>
          <p:cNvSpPr txBox="1"/>
          <p:nvPr/>
        </p:nvSpPr>
        <p:spPr>
          <a:xfrm>
            <a:off x="6438748" y="5193792"/>
            <a:ext cx="2167814" cy="320040"/>
          </a:xfrm>
          <a:prstGeom prst="rect">
            <a:avLst/>
          </a:prstGeom>
          <a:noFill/>
          <a:ln/>
        </p:spPr>
        <p:txBody>
          <a:bodyPr wrap="square" lIns="0" tIns="0" rIns="0" bIns="0" rtlCol="0" anchor="t"/>
          <a:lstStyle/>
          <a:p>
            <a:pPr indent="0" marL="0">
              <a:buNone/>
            </a:pPr>
            <a:r>
              <a:rPr lang="en-US" sz="1300" b="1" dirty="0">
                <a:solidFill>
                  <a:srgbClr val="1F5E5B"/>
                </a:solidFill>
                <a:latin typeface="Meiryo UI" pitchFamily="34" charset="0"/>
                <a:ea typeface="Meiryo UI" pitchFamily="34" charset="-122"/>
                <a:cs typeface="Meiryo UI" pitchFamily="34" charset="-120"/>
              </a:rPr>
              <a:t>検証レポート会</a:t>
            </a:r>
            <a:endParaRPr lang="en-US" sz="1300" dirty="0"/>
          </a:p>
        </p:txBody>
      </p:sp>
      <p:sp>
        <p:nvSpPr>
          <p:cNvPr id="46" name="Text 42"/>
          <p:cNvSpPr txBox="1"/>
          <p:nvPr/>
        </p:nvSpPr>
        <p:spPr>
          <a:xfrm>
            <a:off x="6438748" y="5513832"/>
            <a:ext cx="2167814" cy="68580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勝ちパターンの特定と</a:t>
            </a:r>
            <a:endParaRPr lang="en-US" sz="1150" dirty="0"/>
          </a:p>
          <a:p>
            <a:pPr indent="0" marL="0">
              <a:buNone/>
            </a:pPr>
            <a:r>
              <a:rPr lang="en-US" sz="1150" dirty="0">
                <a:solidFill>
                  <a:srgbClr val="2A3332"/>
                </a:solidFill>
                <a:latin typeface="Meiryo UI" pitchFamily="34" charset="0"/>
                <a:ea typeface="Meiryo UI" pitchFamily="34" charset="-122"/>
                <a:cs typeface="Meiryo UI" pitchFamily="34" charset="-120"/>
              </a:rPr>
              <a:t>フェーズ2計画の確定</a:t>
            </a:r>
            <a:endParaRPr lang="en-US" sz="1150" dirty="0"/>
          </a:p>
        </p:txBody>
      </p:sp>
      <p:pic>
        <p:nvPicPr>
          <p:cNvPr id="47" name="Image 2" descr="preencoded.png">    </p:cNvPr>
          <p:cNvPicPr>
            <a:picLocks noChangeAspect="1"/>
          </p:cNvPicPr>
          <p:nvPr/>
        </p:nvPicPr>
        <p:blipFill>
          <a:blip r:embed="rId3"/>
          <a:stretch>
            <a:fillRect/>
          </a:stretch>
        </p:blipFill>
        <p:spPr>
          <a:xfrm>
            <a:off x="8853449" y="5550408"/>
            <a:ext cx="201168" cy="274320"/>
          </a:xfrm>
          <a:prstGeom prst="rect">
            <a:avLst/>
          </a:prstGeom>
        </p:spPr>
      </p:pic>
      <p:sp>
        <p:nvSpPr>
          <p:cNvPr id="48" name="Shape 43"/>
          <p:cNvSpPr/>
          <p:nvPr/>
        </p:nvSpPr>
        <p:spPr>
          <a:xfrm>
            <a:off x="9109481" y="5120640"/>
            <a:ext cx="2533574" cy="1143000"/>
          </a:xfrm>
          <a:prstGeom prst="roundRect">
            <a:avLst>
              <a:gd name="adj" fmla="val 9600"/>
            </a:avLst>
          </a:prstGeom>
          <a:solidFill>
            <a:srgbClr val="E7F2EF"/>
          </a:solidFill>
          <a:ln w="12700">
            <a:solidFill>
              <a:srgbClr val="E7F2EF"/>
            </a:solidFill>
            <a:prstDash val="solid"/>
          </a:ln>
        </p:spPr>
      </p:sp>
      <p:sp>
        <p:nvSpPr>
          <p:cNvPr id="49" name="Text 44"/>
          <p:cNvSpPr txBox="1"/>
          <p:nvPr/>
        </p:nvSpPr>
        <p:spPr>
          <a:xfrm>
            <a:off x="9292361" y="5193792"/>
            <a:ext cx="2167814" cy="320040"/>
          </a:xfrm>
          <a:prstGeom prst="rect">
            <a:avLst/>
          </a:prstGeom>
          <a:noFill/>
          <a:ln/>
        </p:spPr>
        <p:txBody>
          <a:bodyPr wrap="square" lIns="0" tIns="0" rIns="0" bIns="0" rtlCol="0" anchor="t"/>
          <a:lstStyle/>
          <a:p>
            <a:pPr indent="0" marL="0">
              <a:buNone/>
            </a:pPr>
            <a:r>
              <a:rPr lang="en-US" sz="1300" b="1" dirty="0">
                <a:solidFill>
                  <a:srgbClr val="1F5E5B"/>
                </a:solidFill>
                <a:latin typeface="Meiryo UI" pitchFamily="34" charset="0"/>
                <a:ea typeface="Meiryo UI" pitchFamily="34" charset="-122"/>
                <a:cs typeface="Meiryo UI" pitchFamily="34" charset="-120"/>
              </a:rPr>
              <a:t>フェーズ2開始</a:t>
            </a:r>
            <a:endParaRPr lang="en-US" sz="1300" dirty="0"/>
          </a:p>
        </p:txBody>
      </p:sp>
      <p:sp>
        <p:nvSpPr>
          <p:cNvPr id="50" name="Text 45"/>
          <p:cNvSpPr txBox="1"/>
          <p:nvPr/>
        </p:nvSpPr>
        <p:spPr>
          <a:xfrm>
            <a:off x="9292361" y="5513832"/>
            <a:ext cx="2167814" cy="685800"/>
          </a:xfrm>
          <a:prstGeom prst="rect">
            <a:avLst/>
          </a:prstGeom>
          <a:noFill/>
          <a:ln/>
        </p:spPr>
        <p:txBody>
          <a:bodyPr wrap="square" lIns="0" tIns="0" rIns="0" bIns="0" rtlCol="0" anchor="t"/>
          <a:lstStyle/>
          <a:p>
            <a:pPr indent="0" marL="0">
              <a:buNone/>
            </a:pPr>
            <a:r>
              <a:rPr lang="en-US" sz="1150" dirty="0">
                <a:solidFill>
                  <a:srgbClr val="2A3332"/>
                </a:solidFill>
                <a:latin typeface="Meiryo UI" pitchFamily="34" charset="0"/>
                <a:ea typeface="Meiryo UI" pitchFamily="34" charset="-122"/>
                <a:cs typeface="Meiryo UI" pitchFamily="34" charset="-120"/>
              </a:rPr>
              <a:t>追加制作・運用・営業組み込み</a:t>
            </a:r>
            <a:endParaRPr lang="en-US" sz="1150" dirty="0"/>
          </a:p>
          <a:p>
            <a:pPr indent="0" marL="0">
              <a:buNone/>
            </a:pPr>
            <a:r>
              <a:rPr lang="en-US" sz="1150" dirty="0">
                <a:solidFill>
                  <a:srgbClr val="2A3332"/>
                </a:solidFill>
                <a:latin typeface="Meiryo UI" pitchFamily="34" charset="0"/>
                <a:ea typeface="Meiryo UI" pitchFamily="34" charset="-122"/>
                <a:cs typeface="Meiryo UI" pitchFamily="34" charset="-120"/>
              </a:rPr>
              <a:t>による本格展開</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06｜COST OF WAITING</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「様子見」による機会損失の考え方</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訪問マッサージは継続利用が見込めるストック型事業。1ヶ月の遅れは「1ヶ月分の売上」では終わりません。</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20</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2331720" cy="1737360"/>
          </a:xfrm>
          <a:prstGeom prst="roundRect">
            <a:avLst>
              <a:gd name="adj" fmla="val 6316"/>
            </a:avLst>
          </a:prstGeom>
          <a:solidFill>
            <a:srgbClr val="F4F8F7"/>
          </a:solidFill>
          <a:ln w="12700">
            <a:solidFill>
              <a:srgbClr val="F4F8F7"/>
            </a:solidFill>
            <a:prstDash val="solid"/>
          </a:ln>
        </p:spPr>
      </p:sp>
      <p:sp>
        <p:nvSpPr>
          <p:cNvPr id="8" name="Text 6"/>
          <p:cNvSpPr txBox="1"/>
          <p:nvPr/>
        </p:nvSpPr>
        <p:spPr>
          <a:xfrm>
            <a:off x="548640" y="1965960"/>
            <a:ext cx="2331720" cy="868680"/>
          </a:xfrm>
          <a:prstGeom prst="rect">
            <a:avLst/>
          </a:prstGeom>
          <a:noFill/>
          <a:ln/>
        </p:spPr>
        <p:txBody>
          <a:bodyPr wrap="square" lIns="0" tIns="0" rIns="0" bIns="0" rtlCol="0" anchor="ctr"/>
          <a:lstStyle/>
          <a:p>
            <a:pPr algn="ctr" indent="0" marL="0">
              <a:buNone/>
            </a:pPr>
            <a:r>
              <a:rPr lang="en-US" sz="3600" b="1" dirty="0">
                <a:solidFill>
                  <a:srgbClr val="163F3D"/>
                </a:solidFill>
                <a:latin typeface="Meiryo UI" pitchFamily="34" charset="0"/>
                <a:ea typeface="Meiryo UI" pitchFamily="34" charset="-122"/>
                <a:cs typeface="Meiryo UI" pitchFamily="34" charset="-120"/>
              </a:rPr>
              <a:t>約3万円</a:t>
            </a:r>
            <a:endParaRPr lang="en-US" sz="3600" dirty="0"/>
          </a:p>
        </p:txBody>
      </p:sp>
      <p:sp>
        <p:nvSpPr>
          <p:cNvPr id="9" name="Text 7"/>
          <p:cNvSpPr txBox="1"/>
          <p:nvPr/>
        </p:nvSpPr>
        <p:spPr>
          <a:xfrm>
            <a:off x="548640" y="2834640"/>
            <a:ext cx="2331720" cy="685800"/>
          </a:xfrm>
          <a:prstGeom prst="rect">
            <a:avLst/>
          </a:prstGeom>
          <a:noFill/>
          <a:ln/>
        </p:spPr>
        <p:txBody>
          <a:bodyPr wrap="square" lIns="0" tIns="0" rIns="0" bIns="0" rtlCol="0" anchor="t"/>
          <a:lstStyle/>
          <a:p>
            <a:pPr algn="ctr" indent="0" marL="0">
              <a:buNone/>
            </a:pPr>
            <a:r>
              <a:rPr lang="en-US" sz="1200" dirty="0">
                <a:solidFill>
                  <a:srgbClr val="66807D"/>
                </a:solidFill>
                <a:latin typeface="Meiryo UI" pitchFamily="34" charset="0"/>
                <a:ea typeface="Meiryo UI" pitchFamily="34" charset="-122"/>
                <a:cs typeface="Meiryo UI" pitchFamily="34" charset="-120"/>
              </a:rPr>
              <a:t>利用者1名あたりの</a:t>
            </a:r>
            <a:endParaRPr lang="en-US" sz="1200" dirty="0"/>
          </a:p>
          <a:p>
            <a:pPr algn="ctr" indent="0" marL="0">
              <a:buNone/>
            </a:pPr>
            <a:r>
              <a:rPr lang="en-US" sz="1200" dirty="0">
                <a:solidFill>
                  <a:srgbClr val="66807D"/>
                </a:solidFill>
                <a:latin typeface="Meiryo UI" pitchFamily="34" charset="0"/>
                <a:ea typeface="Meiryo UI" pitchFamily="34" charset="-122"/>
                <a:cs typeface="Meiryo UI" pitchFamily="34" charset="-120"/>
              </a:rPr>
              <a:t>月間売上（仮）</a:t>
            </a:r>
            <a:endParaRPr lang="en-US" sz="1200" dirty="0"/>
          </a:p>
        </p:txBody>
      </p:sp>
      <p:sp>
        <p:nvSpPr>
          <p:cNvPr id="10" name="Text 8"/>
          <p:cNvSpPr txBox="1"/>
          <p:nvPr/>
        </p:nvSpPr>
        <p:spPr>
          <a:xfrm>
            <a:off x="2880360" y="2331720"/>
            <a:ext cx="502920" cy="731520"/>
          </a:xfrm>
          <a:prstGeom prst="rect">
            <a:avLst/>
          </a:prstGeom>
          <a:noFill/>
          <a:ln/>
        </p:spPr>
        <p:txBody>
          <a:bodyPr wrap="square" lIns="0" tIns="0" rIns="0" bIns="0" rtlCol="0" anchor="ctr"/>
          <a:lstStyle/>
          <a:p>
            <a:pPr algn="ctr" indent="0" marL="0">
              <a:buNone/>
            </a:pPr>
            <a:r>
              <a:rPr lang="en-US" sz="3000" b="1" dirty="0">
                <a:solidFill>
                  <a:srgbClr val="E07B39"/>
                </a:solidFill>
                <a:latin typeface="Meiryo UI" pitchFamily="34" charset="0"/>
                <a:ea typeface="Meiryo UI" pitchFamily="34" charset="-122"/>
                <a:cs typeface="Meiryo UI" pitchFamily="34" charset="-120"/>
              </a:rPr>
              <a:t>×</a:t>
            </a:r>
            <a:endParaRPr lang="en-US" sz="3000" dirty="0"/>
          </a:p>
        </p:txBody>
      </p:sp>
      <p:sp>
        <p:nvSpPr>
          <p:cNvPr id="11" name="Shape 9"/>
          <p:cNvSpPr/>
          <p:nvPr/>
        </p:nvSpPr>
        <p:spPr>
          <a:xfrm>
            <a:off x="3383280" y="1874520"/>
            <a:ext cx="2331720" cy="1737360"/>
          </a:xfrm>
          <a:prstGeom prst="roundRect">
            <a:avLst>
              <a:gd name="adj" fmla="val 6316"/>
            </a:avLst>
          </a:prstGeom>
          <a:solidFill>
            <a:srgbClr val="F4F8F7"/>
          </a:solidFill>
          <a:ln w="12700">
            <a:solidFill>
              <a:srgbClr val="F4F8F7"/>
            </a:solidFill>
            <a:prstDash val="solid"/>
          </a:ln>
        </p:spPr>
      </p:sp>
      <p:sp>
        <p:nvSpPr>
          <p:cNvPr id="12" name="Text 10"/>
          <p:cNvSpPr txBox="1"/>
          <p:nvPr/>
        </p:nvSpPr>
        <p:spPr>
          <a:xfrm>
            <a:off x="3383280" y="1965960"/>
            <a:ext cx="2331720" cy="868680"/>
          </a:xfrm>
          <a:prstGeom prst="rect">
            <a:avLst/>
          </a:prstGeom>
          <a:noFill/>
          <a:ln/>
        </p:spPr>
        <p:txBody>
          <a:bodyPr wrap="square" lIns="0" tIns="0" rIns="0" bIns="0" rtlCol="0" anchor="ctr"/>
          <a:lstStyle/>
          <a:p>
            <a:pPr algn="ctr" indent="0" marL="0">
              <a:buNone/>
            </a:pPr>
            <a:r>
              <a:rPr lang="en-US" sz="3600" b="1" dirty="0">
                <a:solidFill>
                  <a:srgbClr val="163F3D"/>
                </a:solidFill>
                <a:latin typeface="Meiryo UI" pitchFamily="34" charset="0"/>
                <a:ea typeface="Meiryo UI" pitchFamily="34" charset="-122"/>
                <a:cs typeface="Meiryo UI" pitchFamily="34" charset="-120"/>
              </a:rPr>
              <a:t>12ヶ月</a:t>
            </a:r>
            <a:endParaRPr lang="en-US" sz="3600" dirty="0"/>
          </a:p>
        </p:txBody>
      </p:sp>
      <p:sp>
        <p:nvSpPr>
          <p:cNvPr id="13" name="Text 11"/>
          <p:cNvSpPr txBox="1"/>
          <p:nvPr/>
        </p:nvSpPr>
        <p:spPr>
          <a:xfrm>
            <a:off x="3383280" y="2834640"/>
            <a:ext cx="2331720" cy="685800"/>
          </a:xfrm>
          <a:prstGeom prst="rect">
            <a:avLst/>
          </a:prstGeom>
          <a:noFill/>
          <a:ln/>
        </p:spPr>
        <p:txBody>
          <a:bodyPr wrap="square" lIns="0" tIns="0" rIns="0" bIns="0" rtlCol="0" anchor="t"/>
          <a:lstStyle/>
          <a:p>
            <a:pPr algn="ctr" indent="0" marL="0">
              <a:buNone/>
            </a:pPr>
            <a:r>
              <a:rPr lang="en-US" sz="1200" dirty="0">
                <a:solidFill>
                  <a:srgbClr val="66807D"/>
                </a:solidFill>
                <a:latin typeface="Meiryo UI" pitchFamily="34" charset="0"/>
                <a:ea typeface="Meiryo UI" pitchFamily="34" charset="-122"/>
                <a:cs typeface="Meiryo UI" pitchFamily="34" charset="-120"/>
              </a:rPr>
              <a:t>平均継続期間（仮）</a:t>
            </a:r>
            <a:endParaRPr lang="en-US" sz="1200" dirty="0"/>
          </a:p>
        </p:txBody>
      </p:sp>
      <p:sp>
        <p:nvSpPr>
          <p:cNvPr id="14" name="Text 12"/>
          <p:cNvSpPr txBox="1"/>
          <p:nvPr/>
        </p:nvSpPr>
        <p:spPr>
          <a:xfrm>
            <a:off x="5715000" y="2331720"/>
            <a:ext cx="502920" cy="731520"/>
          </a:xfrm>
          <a:prstGeom prst="rect">
            <a:avLst/>
          </a:prstGeom>
          <a:noFill/>
          <a:ln/>
        </p:spPr>
        <p:txBody>
          <a:bodyPr wrap="square" lIns="0" tIns="0" rIns="0" bIns="0" rtlCol="0" anchor="ctr"/>
          <a:lstStyle/>
          <a:p>
            <a:pPr algn="ctr" indent="0" marL="0">
              <a:buNone/>
            </a:pPr>
            <a:r>
              <a:rPr lang="en-US" sz="3000" b="1" dirty="0">
                <a:solidFill>
                  <a:srgbClr val="E07B39"/>
                </a:solidFill>
                <a:latin typeface="Meiryo UI" pitchFamily="34" charset="0"/>
                <a:ea typeface="Meiryo UI" pitchFamily="34" charset="-122"/>
                <a:cs typeface="Meiryo UI" pitchFamily="34" charset="-120"/>
              </a:rPr>
              <a:t>=</a:t>
            </a:r>
            <a:endParaRPr lang="en-US" sz="3000" dirty="0"/>
          </a:p>
        </p:txBody>
      </p:sp>
      <p:sp>
        <p:nvSpPr>
          <p:cNvPr id="15" name="Shape 13"/>
          <p:cNvSpPr/>
          <p:nvPr/>
        </p:nvSpPr>
        <p:spPr>
          <a:xfrm>
            <a:off x="6217920" y="1874520"/>
            <a:ext cx="2331720" cy="1737360"/>
          </a:xfrm>
          <a:prstGeom prst="roundRect">
            <a:avLst>
              <a:gd name="adj" fmla="val 6316"/>
            </a:avLst>
          </a:prstGeom>
          <a:solidFill>
            <a:srgbClr val="E7F2EF"/>
          </a:solidFill>
          <a:ln w="12700">
            <a:solidFill>
              <a:srgbClr val="E7F2EF"/>
            </a:solidFill>
            <a:prstDash val="solid"/>
          </a:ln>
        </p:spPr>
      </p:sp>
      <p:sp>
        <p:nvSpPr>
          <p:cNvPr id="16" name="Text 14"/>
          <p:cNvSpPr txBox="1"/>
          <p:nvPr/>
        </p:nvSpPr>
        <p:spPr>
          <a:xfrm>
            <a:off x="6217920" y="1965960"/>
            <a:ext cx="2331720" cy="868680"/>
          </a:xfrm>
          <a:prstGeom prst="rect">
            <a:avLst/>
          </a:prstGeom>
          <a:noFill/>
          <a:ln/>
        </p:spPr>
        <p:txBody>
          <a:bodyPr wrap="square" lIns="0" tIns="0" rIns="0" bIns="0" rtlCol="0" anchor="ctr"/>
          <a:lstStyle/>
          <a:p>
            <a:pPr algn="ctr" indent="0" marL="0">
              <a:buNone/>
            </a:pPr>
            <a:r>
              <a:rPr lang="en-US" sz="3600" b="1" dirty="0">
                <a:solidFill>
                  <a:srgbClr val="1F5E5B"/>
                </a:solidFill>
                <a:latin typeface="Meiryo UI" pitchFamily="34" charset="0"/>
                <a:ea typeface="Meiryo UI" pitchFamily="34" charset="-122"/>
                <a:cs typeface="Meiryo UI" pitchFamily="34" charset="-120"/>
              </a:rPr>
              <a:t>約36万円</a:t>
            </a:r>
            <a:endParaRPr lang="en-US" sz="3600" dirty="0"/>
          </a:p>
        </p:txBody>
      </p:sp>
      <p:sp>
        <p:nvSpPr>
          <p:cNvPr id="17" name="Text 15"/>
          <p:cNvSpPr txBox="1"/>
          <p:nvPr/>
        </p:nvSpPr>
        <p:spPr>
          <a:xfrm>
            <a:off x="6217920" y="2834640"/>
            <a:ext cx="2331720" cy="685800"/>
          </a:xfrm>
          <a:prstGeom prst="rect">
            <a:avLst/>
          </a:prstGeom>
          <a:noFill/>
          <a:ln/>
        </p:spPr>
        <p:txBody>
          <a:bodyPr wrap="square" lIns="0" tIns="0" rIns="0" bIns="0" rtlCol="0" anchor="t"/>
          <a:lstStyle/>
          <a:p>
            <a:pPr algn="ctr" indent="0" marL="0">
              <a:buNone/>
            </a:pPr>
            <a:r>
              <a:rPr lang="en-US" sz="1200" dirty="0">
                <a:solidFill>
                  <a:srgbClr val="66807D"/>
                </a:solidFill>
                <a:latin typeface="Meiryo UI" pitchFamily="34" charset="0"/>
                <a:ea typeface="Meiryo UI" pitchFamily="34" charset="-122"/>
                <a:cs typeface="Meiryo UI" pitchFamily="34" charset="-120"/>
              </a:rPr>
              <a:t>利用者1名あたりの</a:t>
            </a:r>
            <a:endParaRPr lang="en-US" sz="1200" dirty="0"/>
          </a:p>
          <a:p>
            <a:pPr algn="ctr" indent="0" marL="0">
              <a:buNone/>
            </a:pPr>
            <a:r>
              <a:rPr lang="en-US" sz="1200" dirty="0">
                <a:solidFill>
                  <a:srgbClr val="66807D"/>
                </a:solidFill>
                <a:latin typeface="Meiryo UI" pitchFamily="34" charset="0"/>
                <a:ea typeface="Meiryo UI" pitchFamily="34" charset="-122"/>
                <a:cs typeface="Meiryo UI" pitchFamily="34" charset="-120"/>
              </a:rPr>
              <a:t>生涯売上</a:t>
            </a:r>
            <a:endParaRPr lang="en-US" sz="1200" dirty="0"/>
          </a:p>
        </p:txBody>
      </p:sp>
      <p:sp>
        <p:nvSpPr>
          <p:cNvPr id="18" name="Shape 16"/>
          <p:cNvSpPr/>
          <p:nvPr/>
        </p:nvSpPr>
        <p:spPr>
          <a:xfrm>
            <a:off x="8869680" y="1874520"/>
            <a:ext cx="2773375" cy="1737360"/>
          </a:xfrm>
          <a:prstGeom prst="roundRect">
            <a:avLst>
              <a:gd name="adj" fmla="val 6316"/>
            </a:avLst>
          </a:prstGeom>
          <a:solidFill>
            <a:srgbClr val="163F3D"/>
          </a:solidFill>
          <a:ln w="12700">
            <a:solidFill>
              <a:srgbClr val="163F3D"/>
            </a:solidFill>
            <a:prstDash val="solid"/>
          </a:ln>
        </p:spPr>
      </p:sp>
      <p:sp>
        <p:nvSpPr>
          <p:cNvPr id="19" name="Text 17"/>
          <p:cNvSpPr txBox="1"/>
          <p:nvPr/>
        </p:nvSpPr>
        <p:spPr>
          <a:xfrm>
            <a:off x="9052560" y="2011680"/>
            <a:ext cx="2407615" cy="274320"/>
          </a:xfrm>
          <a:prstGeom prst="rect">
            <a:avLst/>
          </a:prstGeom>
          <a:noFill/>
          <a:ln/>
        </p:spPr>
        <p:txBody>
          <a:bodyPr wrap="square" lIns="0" tIns="0" rIns="0" bIns="0" rtlCol="0" anchor="t"/>
          <a:lstStyle/>
          <a:p>
            <a:pPr algn="ctr" indent="0" marL="0">
              <a:buNone/>
            </a:pPr>
            <a:r>
              <a:rPr lang="en-US" sz="1100" dirty="0">
                <a:solidFill>
                  <a:srgbClr val="CFE6E1"/>
                </a:solidFill>
                <a:latin typeface="Meiryo UI" pitchFamily="34" charset="0"/>
                <a:ea typeface="Meiryo UI" pitchFamily="34" charset="-122"/>
                <a:cs typeface="Meiryo UI" pitchFamily="34" charset="-120"/>
              </a:rPr>
              <a:t>後ろ倒し期間（仮）</a:t>
            </a:r>
            <a:endParaRPr lang="en-US" sz="1100" dirty="0"/>
          </a:p>
        </p:txBody>
      </p:sp>
      <p:sp>
        <p:nvSpPr>
          <p:cNvPr id="20" name="Text 18"/>
          <p:cNvSpPr txBox="1"/>
          <p:nvPr/>
        </p:nvSpPr>
        <p:spPr>
          <a:xfrm>
            <a:off x="9052560" y="2286000"/>
            <a:ext cx="2407615"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UI" pitchFamily="34" charset="0"/>
                <a:ea typeface="Meiryo UI" pitchFamily="34" charset="-122"/>
                <a:cs typeface="Meiryo UI" pitchFamily="34" charset="-120"/>
              </a:rPr>
              <a:t>3ヶ月</a:t>
            </a:r>
            <a:endParaRPr lang="en-US" sz="3000" dirty="0"/>
          </a:p>
        </p:txBody>
      </p:sp>
      <p:sp>
        <p:nvSpPr>
          <p:cNvPr id="21" name="Text 19"/>
          <p:cNvSpPr txBox="1"/>
          <p:nvPr/>
        </p:nvSpPr>
        <p:spPr>
          <a:xfrm>
            <a:off x="9052560" y="3063240"/>
            <a:ext cx="2407615" cy="365760"/>
          </a:xfrm>
          <a:prstGeom prst="rect">
            <a:avLst/>
          </a:prstGeom>
          <a:noFill/>
          <a:ln/>
        </p:spPr>
        <p:txBody>
          <a:bodyPr wrap="square" lIns="0" tIns="0" rIns="0" bIns="0" rtlCol="0" anchor="t"/>
          <a:lstStyle/>
          <a:p>
            <a:pPr algn="ctr" indent="0" marL="0">
              <a:buNone/>
            </a:pPr>
            <a:r>
              <a:rPr lang="en-US" sz="1100" dirty="0">
                <a:solidFill>
                  <a:srgbClr val="CFE6E1"/>
                </a:solidFill>
                <a:latin typeface="Meiryo UI" pitchFamily="34" charset="0"/>
                <a:ea typeface="Meiryo UI" pitchFamily="34" charset="-122"/>
                <a:cs typeface="Meiryo UI" pitchFamily="34" charset="-120"/>
              </a:rPr>
              <a:t>検討・再見積り・再立ち上げ</a:t>
            </a:r>
            <a:endParaRPr lang="en-US" sz="1100" dirty="0"/>
          </a:p>
        </p:txBody>
      </p:sp>
      <p:sp>
        <p:nvSpPr>
          <p:cNvPr id="22" name="Shape 20"/>
          <p:cNvSpPr/>
          <p:nvPr/>
        </p:nvSpPr>
        <p:spPr>
          <a:xfrm>
            <a:off x="548640" y="3931920"/>
            <a:ext cx="11094415" cy="1600200"/>
          </a:xfrm>
          <a:prstGeom prst="roundRect">
            <a:avLst>
              <a:gd name="adj" fmla="val 6857"/>
            </a:avLst>
          </a:prstGeom>
          <a:solidFill>
            <a:srgbClr val="FCEBDD"/>
          </a:solidFill>
          <a:ln w="12700">
            <a:solidFill>
              <a:srgbClr val="FCEBDD"/>
            </a:solidFill>
            <a:prstDash val="solid"/>
          </a:ln>
        </p:spPr>
      </p:sp>
      <p:sp>
        <p:nvSpPr>
          <p:cNvPr id="23" name="Text 21"/>
          <p:cNvSpPr txBox="1"/>
          <p:nvPr/>
        </p:nvSpPr>
        <p:spPr>
          <a:xfrm>
            <a:off x="914400" y="4069080"/>
            <a:ext cx="5943600" cy="365760"/>
          </a:xfrm>
          <a:prstGeom prst="rect">
            <a:avLst/>
          </a:prstGeom>
          <a:noFill/>
          <a:ln/>
        </p:spPr>
        <p:txBody>
          <a:bodyPr wrap="square" lIns="0" tIns="0" rIns="0" bIns="0" rtlCol="0" anchor="t"/>
          <a:lstStyle/>
          <a:p>
            <a:pPr indent="0" marL="0">
              <a:buNone/>
            </a:pPr>
            <a:r>
              <a:rPr lang="en-US" sz="1400" b="1" dirty="0">
                <a:solidFill>
                  <a:srgbClr val="163F3D"/>
                </a:solidFill>
                <a:latin typeface="Meiryo UI" pitchFamily="34" charset="0"/>
                <a:ea typeface="Meiryo UI" pitchFamily="34" charset="-122"/>
                <a:cs typeface="Meiryo UI" pitchFamily="34" charset="-120"/>
              </a:rPr>
              <a:t>仮に月2名の新規獲得が3ヶ月遅れると……</a:t>
            </a:r>
            <a:endParaRPr lang="en-US" sz="1400" dirty="0"/>
          </a:p>
        </p:txBody>
      </p:sp>
      <p:sp>
        <p:nvSpPr>
          <p:cNvPr id="24" name="Text 22"/>
          <p:cNvSpPr txBox="1"/>
          <p:nvPr/>
        </p:nvSpPr>
        <p:spPr>
          <a:xfrm>
            <a:off x="914400" y="4526280"/>
            <a:ext cx="4572000" cy="822960"/>
          </a:xfrm>
          <a:prstGeom prst="rect">
            <a:avLst/>
          </a:prstGeom>
          <a:noFill/>
          <a:ln/>
        </p:spPr>
        <p:txBody>
          <a:bodyPr wrap="square" lIns="0" tIns="0" rIns="0" bIns="0" rtlCol="0" anchor="ctr"/>
          <a:lstStyle/>
          <a:p>
            <a:pPr indent="0" marL="0">
              <a:buNone/>
            </a:pPr>
            <a:r>
              <a:rPr lang="en-US" sz="2600" b="1" dirty="0">
                <a:solidFill>
                  <a:srgbClr val="163F3D"/>
                </a:solidFill>
                <a:latin typeface="Meiryo UI" pitchFamily="34" charset="0"/>
                <a:ea typeface="Meiryo UI" pitchFamily="34" charset="-122"/>
                <a:cs typeface="Meiryo UI" pitchFamily="34" charset="-120"/>
              </a:rPr>
              <a:t>36万円 × 6名 ＝</a:t>
            </a:r>
            <a:endParaRPr lang="en-US" sz="2600" dirty="0"/>
          </a:p>
        </p:txBody>
      </p:sp>
      <p:sp>
        <p:nvSpPr>
          <p:cNvPr id="25" name="Text 23"/>
          <p:cNvSpPr txBox="1"/>
          <p:nvPr/>
        </p:nvSpPr>
        <p:spPr>
          <a:xfrm>
            <a:off x="5303520" y="4389120"/>
            <a:ext cx="4114800" cy="1005840"/>
          </a:xfrm>
          <a:prstGeom prst="rect">
            <a:avLst/>
          </a:prstGeom>
          <a:noFill/>
          <a:ln/>
        </p:spPr>
        <p:txBody>
          <a:bodyPr wrap="square" lIns="0" tIns="0" rIns="0" bIns="0" rtlCol="0" anchor="ctr"/>
          <a:lstStyle/>
          <a:p>
            <a:pPr indent="0" marL="0">
              <a:buNone/>
            </a:pPr>
            <a:r>
              <a:rPr lang="en-US" sz="4800" b="1" dirty="0">
                <a:solidFill>
                  <a:srgbClr val="E07B39"/>
                </a:solidFill>
                <a:latin typeface="Meiryo UI" pitchFamily="34" charset="0"/>
                <a:ea typeface="Meiryo UI" pitchFamily="34" charset="-122"/>
                <a:cs typeface="Meiryo UI" pitchFamily="34" charset="-120"/>
              </a:rPr>
              <a:t>約216万円</a:t>
            </a:r>
            <a:endParaRPr lang="en-US" sz="4800" dirty="0"/>
          </a:p>
        </p:txBody>
      </p:sp>
      <p:sp>
        <p:nvSpPr>
          <p:cNvPr id="26" name="Text 24"/>
          <p:cNvSpPr txBox="1"/>
          <p:nvPr/>
        </p:nvSpPr>
        <p:spPr>
          <a:xfrm>
            <a:off x="9281160" y="4526280"/>
            <a:ext cx="2194560" cy="822960"/>
          </a:xfrm>
          <a:prstGeom prst="rect">
            <a:avLst/>
          </a:prstGeom>
          <a:noFill/>
          <a:ln/>
        </p:spPr>
        <p:txBody>
          <a:bodyPr wrap="square" lIns="0" tIns="0" rIns="0" bIns="0" rtlCol="0" anchor="ctr"/>
          <a:lstStyle/>
          <a:p>
            <a:pPr indent="0" marL="0">
              <a:buNone/>
            </a:pPr>
            <a:r>
              <a:rPr lang="en-US" sz="2000" b="1" dirty="0">
                <a:solidFill>
                  <a:srgbClr val="163F3D"/>
                </a:solidFill>
                <a:latin typeface="Meiryo UI" pitchFamily="34" charset="0"/>
                <a:ea typeface="Meiryo UI" pitchFamily="34" charset="-122"/>
                <a:cs typeface="Meiryo UI" pitchFamily="34" charset="-120"/>
              </a:rPr>
              <a:t>の機会損失</a:t>
            </a:r>
            <a:endParaRPr lang="en-US" sz="2000" dirty="0"/>
          </a:p>
        </p:txBody>
      </p:sp>
      <p:sp>
        <p:nvSpPr>
          <p:cNvPr id="27" name="Text 25"/>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※上記は考え方を示すための仮置きの数値です。本日、貴社の実数値（単価・継続期間・現在の新規獲得数）で再計算させてください。</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07｜TODAY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本日ご確認させていただきたいこと</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77240" y="1719072"/>
            <a:ext cx="512064" cy="512064"/>
          </a:xfrm>
          <a:prstGeom prst="ellipse">
            <a:avLst/>
          </a:prstGeom>
          <a:solidFill>
            <a:srgbClr val="1F5E5B"/>
          </a:solidFill>
          <a:ln w="12700">
            <a:solidFill>
              <a:srgbClr val="1F5E5B"/>
            </a:solidFill>
            <a:prstDash val="solid"/>
          </a:ln>
        </p:spPr>
      </p:sp>
      <p:sp>
        <p:nvSpPr>
          <p:cNvPr id="8" name="Text 6"/>
          <p:cNvSpPr txBox="1"/>
          <p:nvPr/>
        </p:nvSpPr>
        <p:spPr>
          <a:xfrm>
            <a:off x="777240"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9" name="Text 7"/>
          <p:cNvSpPr txBox="1"/>
          <p:nvPr/>
        </p:nvSpPr>
        <p:spPr>
          <a:xfrm>
            <a:off x="1463040" y="157276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現在の利用者数と、月あたりの新規利用開始数</a:t>
            </a:r>
            <a:endParaRPr lang="en-US" sz="1350" dirty="0"/>
          </a:p>
        </p:txBody>
      </p:sp>
      <p:sp>
        <p:nvSpPr>
          <p:cNvPr id="10" name="Text 8"/>
          <p:cNvSpPr txBox="1"/>
          <p:nvPr/>
        </p:nvSpPr>
        <p:spPr>
          <a:xfrm>
            <a:off x="1463040" y="212140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目的：KPI・目標値の設定</a:t>
            </a:r>
            <a:endParaRPr lang="en-US" sz="1100" dirty="0"/>
          </a:p>
        </p:txBody>
      </p:sp>
      <p:sp>
        <p:nvSpPr>
          <p:cNvPr id="11" name="Shape 9"/>
          <p:cNvSpPr/>
          <p:nvPr/>
        </p:nvSpPr>
        <p:spPr>
          <a:xfrm>
            <a:off x="548640"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77240" y="2907792"/>
            <a:ext cx="512064" cy="512064"/>
          </a:xfrm>
          <a:prstGeom prst="ellipse">
            <a:avLst/>
          </a:prstGeom>
          <a:solidFill>
            <a:srgbClr val="1F5E5B"/>
          </a:solidFill>
          <a:ln w="12700">
            <a:solidFill>
              <a:srgbClr val="1F5E5B"/>
            </a:solidFill>
            <a:prstDash val="solid"/>
          </a:ln>
        </p:spPr>
      </p:sp>
      <p:sp>
        <p:nvSpPr>
          <p:cNvPr id="13" name="Text 11"/>
          <p:cNvSpPr txBox="1"/>
          <p:nvPr/>
        </p:nvSpPr>
        <p:spPr>
          <a:xfrm>
            <a:off x="777240"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4" name="Text 12"/>
          <p:cNvSpPr txBox="1"/>
          <p:nvPr/>
        </p:nvSpPr>
        <p:spPr>
          <a:xfrm>
            <a:off x="1463040" y="276148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新規利用者の主な獲得経路（ケアマネ／施設／医師／ご家族／保険顧客）</a:t>
            </a:r>
            <a:endParaRPr lang="en-US" sz="1350" dirty="0"/>
          </a:p>
        </p:txBody>
      </p:sp>
      <p:sp>
        <p:nvSpPr>
          <p:cNvPr id="15" name="Text 13"/>
          <p:cNvSpPr txBox="1"/>
          <p:nvPr/>
        </p:nvSpPr>
        <p:spPr>
          <a:xfrm>
            <a:off x="1463040" y="331012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目的：注力するプッシュ先の決定</a:t>
            </a:r>
            <a:endParaRPr lang="en-US" sz="1100" dirty="0"/>
          </a:p>
        </p:txBody>
      </p:sp>
      <p:sp>
        <p:nvSpPr>
          <p:cNvPr id="16" name="Shape 14"/>
          <p:cNvSpPr/>
          <p:nvPr/>
        </p:nvSpPr>
        <p:spPr>
          <a:xfrm>
            <a:off x="548640"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77240" y="4096512"/>
            <a:ext cx="512064" cy="512064"/>
          </a:xfrm>
          <a:prstGeom prst="ellipse">
            <a:avLst/>
          </a:prstGeom>
          <a:solidFill>
            <a:srgbClr val="1F5E5B"/>
          </a:solidFill>
          <a:ln w="12700">
            <a:solidFill>
              <a:srgbClr val="1F5E5B"/>
            </a:solidFill>
            <a:prstDash val="solid"/>
          </a:ln>
        </p:spPr>
      </p:sp>
      <p:sp>
        <p:nvSpPr>
          <p:cNvPr id="18" name="Text 16"/>
          <p:cNvSpPr txBox="1"/>
          <p:nvPr/>
        </p:nvSpPr>
        <p:spPr>
          <a:xfrm>
            <a:off x="777240"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19" name="Text 17"/>
          <p:cNvSpPr txBox="1"/>
          <p:nvPr/>
        </p:nvSpPr>
        <p:spPr>
          <a:xfrm>
            <a:off x="1463040" y="395020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紹介元との関係は誰が担っているか</a:t>
            </a:r>
            <a:endParaRPr lang="en-US" sz="1350" dirty="0"/>
          </a:p>
        </p:txBody>
      </p:sp>
      <p:sp>
        <p:nvSpPr>
          <p:cNvPr id="20" name="Text 18"/>
          <p:cNvSpPr txBox="1"/>
          <p:nvPr/>
        </p:nvSpPr>
        <p:spPr>
          <a:xfrm>
            <a:off x="1463040" y="449884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目的：属人化リスクの把握</a:t>
            </a:r>
            <a:endParaRPr lang="en-US" sz="1100" dirty="0"/>
          </a:p>
        </p:txBody>
      </p:sp>
      <p:sp>
        <p:nvSpPr>
          <p:cNvPr id="21" name="Shape 19"/>
          <p:cNvSpPr/>
          <p:nvPr/>
        </p:nvSpPr>
        <p:spPr>
          <a:xfrm>
            <a:off x="548640"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777240" y="5285232"/>
            <a:ext cx="512064" cy="512064"/>
          </a:xfrm>
          <a:prstGeom prst="ellipse">
            <a:avLst/>
          </a:prstGeom>
          <a:solidFill>
            <a:srgbClr val="1F5E5B"/>
          </a:solidFill>
          <a:ln w="12700">
            <a:solidFill>
              <a:srgbClr val="1F5E5B"/>
            </a:solidFill>
            <a:prstDash val="solid"/>
          </a:ln>
        </p:spPr>
      </p:sp>
      <p:sp>
        <p:nvSpPr>
          <p:cNvPr id="23" name="Text 21"/>
          <p:cNvSpPr txBox="1"/>
          <p:nvPr/>
        </p:nvSpPr>
        <p:spPr>
          <a:xfrm>
            <a:off x="777240"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24" name="Text 22"/>
          <p:cNvSpPr txBox="1"/>
          <p:nvPr/>
        </p:nvSpPr>
        <p:spPr>
          <a:xfrm>
            <a:off x="1463040" y="513892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利用者1名あたりの月間売上・平均継続期間</a:t>
            </a:r>
            <a:endParaRPr lang="en-US" sz="1350" dirty="0"/>
          </a:p>
        </p:txBody>
      </p:sp>
      <p:sp>
        <p:nvSpPr>
          <p:cNvPr id="25" name="Text 23"/>
          <p:cNvSpPr txBox="1"/>
          <p:nvPr/>
        </p:nvSpPr>
        <p:spPr>
          <a:xfrm>
            <a:off x="1463040" y="568756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目的：投資対効果の算出</a:t>
            </a:r>
            <a:endParaRPr lang="en-US" sz="1100" dirty="0"/>
          </a:p>
        </p:txBody>
      </p:sp>
      <p:sp>
        <p:nvSpPr>
          <p:cNvPr id="26" name="Shape 24"/>
          <p:cNvSpPr/>
          <p:nvPr/>
        </p:nvSpPr>
        <p:spPr>
          <a:xfrm>
            <a:off x="6233008"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6461608" y="1719072"/>
            <a:ext cx="512064" cy="512064"/>
          </a:xfrm>
          <a:prstGeom prst="ellipse">
            <a:avLst/>
          </a:prstGeom>
          <a:solidFill>
            <a:srgbClr val="1F5E5B"/>
          </a:solidFill>
          <a:ln w="12700">
            <a:solidFill>
              <a:srgbClr val="1F5E5B"/>
            </a:solidFill>
            <a:prstDash val="solid"/>
          </a:ln>
        </p:spPr>
      </p:sp>
      <p:sp>
        <p:nvSpPr>
          <p:cNvPr id="28" name="Text 26"/>
          <p:cNvSpPr txBox="1"/>
          <p:nvPr/>
        </p:nvSpPr>
        <p:spPr>
          <a:xfrm>
            <a:off x="6461608"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29" name="Text 27"/>
          <p:cNvSpPr txBox="1"/>
          <p:nvPr/>
        </p:nvSpPr>
        <p:spPr>
          <a:xfrm>
            <a:off x="7147408" y="157276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受け入れ可能な利用者数の上限（施術者数）</a:t>
            </a:r>
            <a:endParaRPr lang="en-US" sz="1350" dirty="0"/>
          </a:p>
        </p:txBody>
      </p:sp>
      <p:sp>
        <p:nvSpPr>
          <p:cNvPr id="30" name="Text 28"/>
          <p:cNvSpPr txBox="1"/>
          <p:nvPr/>
        </p:nvSpPr>
        <p:spPr>
          <a:xfrm>
            <a:off x="7147408" y="212140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目的：集客と採用のバランス設計</a:t>
            </a:r>
            <a:endParaRPr lang="en-US" sz="1100" dirty="0"/>
          </a:p>
        </p:txBody>
      </p:sp>
      <p:sp>
        <p:nvSpPr>
          <p:cNvPr id="31" name="Shape 29"/>
          <p:cNvSpPr/>
          <p:nvPr/>
        </p:nvSpPr>
        <p:spPr>
          <a:xfrm>
            <a:off x="6233008"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6461608" y="2907792"/>
            <a:ext cx="512064" cy="512064"/>
          </a:xfrm>
          <a:prstGeom prst="ellipse">
            <a:avLst/>
          </a:prstGeom>
          <a:solidFill>
            <a:srgbClr val="1F5E5B"/>
          </a:solidFill>
          <a:ln w="12700">
            <a:solidFill>
              <a:srgbClr val="1F5E5B"/>
            </a:solidFill>
            <a:prstDash val="solid"/>
          </a:ln>
        </p:spPr>
      </p:sp>
      <p:sp>
        <p:nvSpPr>
          <p:cNvPr id="33" name="Text 31"/>
          <p:cNvSpPr txBox="1"/>
          <p:nvPr/>
        </p:nvSpPr>
        <p:spPr>
          <a:xfrm>
            <a:off x="6461608"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34" name="Text 32"/>
          <p:cNvSpPr txBox="1"/>
          <p:nvPr/>
        </p:nvSpPr>
        <p:spPr>
          <a:xfrm>
            <a:off x="7147408" y="276148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現在のHP・SNSアカウントの有無と運用状況</a:t>
            </a:r>
            <a:endParaRPr lang="en-US" sz="1350" dirty="0"/>
          </a:p>
        </p:txBody>
      </p:sp>
      <p:sp>
        <p:nvSpPr>
          <p:cNvPr id="35" name="Text 33"/>
          <p:cNvSpPr txBox="1"/>
          <p:nvPr/>
        </p:nvSpPr>
        <p:spPr>
          <a:xfrm>
            <a:off x="7147408" y="331012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目的：プル施策の起点設計</a:t>
            </a:r>
            <a:endParaRPr lang="en-US" sz="1100" dirty="0"/>
          </a:p>
        </p:txBody>
      </p:sp>
      <p:sp>
        <p:nvSpPr>
          <p:cNvPr id="36" name="Shape 34"/>
          <p:cNvSpPr/>
          <p:nvPr/>
        </p:nvSpPr>
        <p:spPr>
          <a:xfrm>
            <a:off x="6233008"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7" name="Shape 35"/>
          <p:cNvSpPr/>
          <p:nvPr/>
        </p:nvSpPr>
        <p:spPr>
          <a:xfrm>
            <a:off x="6461608" y="4096512"/>
            <a:ext cx="512064" cy="512064"/>
          </a:xfrm>
          <a:prstGeom prst="ellipse">
            <a:avLst/>
          </a:prstGeom>
          <a:solidFill>
            <a:srgbClr val="1F5E5B"/>
          </a:solidFill>
          <a:ln w="12700">
            <a:solidFill>
              <a:srgbClr val="1F5E5B"/>
            </a:solidFill>
            <a:prstDash val="solid"/>
          </a:ln>
        </p:spPr>
      </p:sp>
      <p:sp>
        <p:nvSpPr>
          <p:cNvPr id="38" name="Text 36"/>
          <p:cNvSpPr txBox="1"/>
          <p:nvPr/>
        </p:nvSpPr>
        <p:spPr>
          <a:xfrm>
            <a:off x="6461608"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7</a:t>
            </a:r>
            <a:endParaRPr lang="en-US" sz="1500" dirty="0"/>
          </a:p>
        </p:txBody>
      </p:sp>
      <p:sp>
        <p:nvSpPr>
          <p:cNvPr id="39" name="Text 37"/>
          <p:cNvSpPr txBox="1"/>
          <p:nvPr/>
        </p:nvSpPr>
        <p:spPr>
          <a:xfrm>
            <a:off x="7147408" y="395020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保険顧客への介護事業のご案内実績・可否</a:t>
            </a:r>
            <a:endParaRPr lang="en-US" sz="1350" dirty="0"/>
          </a:p>
        </p:txBody>
      </p:sp>
      <p:sp>
        <p:nvSpPr>
          <p:cNvPr id="40" name="Text 38"/>
          <p:cNvSpPr txBox="1"/>
          <p:nvPr/>
        </p:nvSpPr>
        <p:spPr>
          <a:xfrm>
            <a:off x="7147408" y="449884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目的：クロスセル施策の設計</a:t>
            </a:r>
            <a:endParaRPr lang="en-US" sz="1100" dirty="0"/>
          </a:p>
        </p:txBody>
      </p:sp>
      <p:sp>
        <p:nvSpPr>
          <p:cNvPr id="41" name="Shape 39"/>
          <p:cNvSpPr/>
          <p:nvPr/>
        </p:nvSpPr>
        <p:spPr>
          <a:xfrm>
            <a:off x="6233008"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2" name="Shape 40"/>
          <p:cNvSpPr/>
          <p:nvPr/>
        </p:nvSpPr>
        <p:spPr>
          <a:xfrm>
            <a:off x="6461608" y="5285232"/>
            <a:ext cx="512064" cy="512064"/>
          </a:xfrm>
          <a:prstGeom prst="ellipse">
            <a:avLst/>
          </a:prstGeom>
          <a:solidFill>
            <a:srgbClr val="E07B39"/>
          </a:solidFill>
          <a:ln w="12700">
            <a:solidFill>
              <a:srgbClr val="E07B39"/>
            </a:solidFill>
            <a:prstDash val="solid"/>
          </a:ln>
        </p:spPr>
      </p:sp>
      <p:sp>
        <p:nvSpPr>
          <p:cNvPr id="43" name="Text 41"/>
          <p:cNvSpPr txBox="1"/>
          <p:nvPr/>
        </p:nvSpPr>
        <p:spPr>
          <a:xfrm>
            <a:off x="6461608"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8</a:t>
            </a:r>
            <a:endParaRPr lang="en-US" sz="1500" dirty="0"/>
          </a:p>
        </p:txBody>
      </p:sp>
      <p:sp>
        <p:nvSpPr>
          <p:cNvPr id="44" name="Text 42"/>
          <p:cNvSpPr txBox="1"/>
          <p:nvPr/>
        </p:nvSpPr>
        <p:spPr>
          <a:xfrm>
            <a:off x="7147408" y="5138928"/>
            <a:ext cx="4312768" cy="548640"/>
          </a:xfrm>
          <a:prstGeom prst="rect">
            <a:avLst/>
          </a:prstGeom>
          <a:noFill/>
          <a:ln/>
        </p:spPr>
        <p:txBody>
          <a:bodyPr wrap="square" lIns="0" tIns="0" rIns="0" bIns="0" rtlCol="0" anchor="ctr"/>
          <a:lstStyle/>
          <a:p>
            <a:pPr indent="0" marL="0">
              <a:buNone/>
            </a:pPr>
            <a:r>
              <a:rPr lang="en-US" sz="1350" b="1" dirty="0">
                <a:solidFill>
                  <a:srgbClr val="163F3D"/>
                </a:solidFill>
                <a:latin typeface="Meiryo UI" pitchFamily="34" charset="0"/>
                <a:ea typeface="Meiryo UI" pitchFamily="34" charset="-122"/>
                <a:cs typeface="Meiryo UI" pitchFamily="34" charset="-120"/>
              </a:rPr>
              <a:t>本施策のご決裁フロー（ご決裁者・時期）</a:t>
            </a:r>
            <a:endParaRPr lang="en-US" sz="1350" dirty="0"/>
          </a:p>
        </p:txBody>
      </p:sp>
      <p:sp>
        <p:nvSpPr>
          <p:cNvPr id="45" name="Text 43"/>
          <p:cNvSpPr txBox="1"/>
          <p:nvPr/>
        </p:nvSpPr>
        <p:spPr>
          <a:xfrm>
            <a:off x="7147408" y="5687568"/>
            <a:ext cx="4312768" cy="274320"/>
          </a:xfrm>
          <a:prstGeom prst="rect">
            <a:avLst/>
          </a:prstGeom>
          <a:noFill/>
          <a:ln/>
        </p:spPr>
        <p:txBody>
          <a:bodyPr wrap="square" lIns="0" tIns="0" rIns="0" bIns="0" rtlCol="0" anchor="t"/>
          <a:lstStyle/>
          <a:p>
            <a:pPr indent="0" marL="0">
              <a:buNone/>
            </a:pPr>
            <a:r>
              <a:rPr lang="en-US" sz="1100" dirty="0">
                <a:solidFill>
                  <a:srgbClr val="66807D"/>
                </a:solidFill>
                <a:latin typeface="Meiryo UI" pitchFamily="34" charset="0"/>
                <a:ea typeface="Meiryo UI" pitchFamily="34" charset="-122"/>
                <a:cs typeface="Meiryo UI" pitchFamily="34" charset="-120"/>
              </a:rPr>
              <a:t>目的：導入スケジュールの確定</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07｜SIMULATION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目標値シミュレーション（ご提案）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807D"/>
                </a:solidFill>
                <a:latin typeface="Meiryo UI" pitchFamily="34" charset="0"/>
                <a:ea typeface="Meiryo UI" pitchFamily="34" charset="-122"/>
                <a:cs typeface="Meiryo UI" pitchFamily="34" charset="-120"/>
              </a:rPr>
              <a:t>本日伺った数値を反映し、次回お打ち合わせで目標として合意するための試算です。※下記は現時点の仮置き値です。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22</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691640"/>
            <a:ext cx="11094415" cy="685800"/>
          </a:xfrm>
          <a:prstGeom prst="roundRect">
            <a:avLst>
              <a:gd name="adj" fmla="val 16000"/>
            </a:avLst>
          </a:prstGeom>
          <a:solidFill>
            <a:srgbClr val="E7F2EF"/>
          </a:solidFill>
          <a:ln w="12700">
            <a:solidFill>
              <a:srgbClr val="E7F2EF"/>
            </a:solidFill>
            <a:prstDash val="solid"/>
          </a:ln>
        </p:spPr>
      </p:sp>
      <p:sp>
        <p:nvSpPr>
          <p:cNvPr id="8" name="Text 6"/>
          <p:cNvSpPr txBox="1"/>
          <p:nvPr/>
        </p:nvSpPr>
        <p:spPr>
          <a:xfrm>
            <a:off x="777240" y="1691640"/>
            <a:ext cx="2468880" cy="685800"/>
          </a:xfrm>
          <a:prstGeom prst="rect">
            <a:avLst/>
          </a:prstGeom>
          <a:noFill/>
          <a:ln/>
        </p:spPr>
        <p:txBody>
          <a:bodyPr wrap="square" lIns="0" tIns="0" rIns="0" bIns="0" rtlCol="0" anchor="ctr"/>
          <a:lstStyle/>
          <a:p>
            <a:pPr indent="0" marL="0">
              <a:buNone/>
            </a:pPr>
            <a:r>
              <a:rPr lang="en-US" sz="1250" b="1" dirty="0">
                <a:solidFill>
                  <a:srgbClr val="1F5E5B"/>
                </a:solidFill>
                <a:latin typeface="Meiryo UI" pitchFamily="34" charset="0"/>
                <a:ea typeface="Meiryo UI" pitchFamily="34" charset="-122"/>
                <a:cs typeface="Meiryo UI" pitchFamily="34" charset="-120"/>
              </a:rPr>
              <a:t>現状（本日のヒアリング値）</a:t>
            </a:r>
            <a:endParaRPr lang="en-US" sz="1250" dirty="0"/>
          </a:p>
        </p:txBody>
      </p:sp>
      <p:sp>
        <p:nvSpPr>
          <p:cNvPr id="9" name="Text 7"/>
          <p:cNvSpPr txBox="1"/>
          <p:nvPr/>
        </p:nvSpPr>
        <p:spPr>
          <a:xfrm>
            <a:off x="3291840"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利用者数</a:t>
            </a:r>
            <a:endParaRPr lang="en-US" sz="1050" dirty="0"/>
          </a:p>
        </p:txBody>
      </p:sp>
      <p:sp>
        <p:nvSpPr>
          <p:cNvPr id="10" name="Text 8"/>
          <p:cNvSpPr txBox="1"/>
          <p:nvPr/>
        </p:nvSpPr>
        <p:spPr>
          <a:xfrm>
            <a:off x="3291840"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〇名</a:t>
            </a:r>
            <a:endParaRPr lang="en-US" sz="1500" dirty="0"/>
          </a:p>
        </p:txBody>
      </p:sp>
      <p:sp>
        <p:nvSpPr>
          <p:cNvPr id="11" name="Text 9"/>
          <p:cNvSpPr txBox="1"/>
          <p:nvPr/>
        </p:nvSpPr>
        <p:spPr>
          <a:xfrm>
            <a:off x="4962083"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月間新規</a:t>
            </a:r>
            <a:endParaRPr lang="en-US" sz="1050" dirty="0"/>
          </a:p>
        </p:txBody>
      </p:sp>
      <p:sp>
        <p:nvSpPr>
          <p:cNvPr id="12" name="Text 10"/>
          <p:cNvSpPr txBox="1"/>
          <p:nvPr/>
        </p:nvSpPr>
        <p:spPr>
          <a:xfrm>
            <a:off x="4962083"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〇名</a:t>
            </a:r>
            <a:endParaRPr lang="en-US" sz="1500" dirty="0"/>
          </a:p>
        </p:txBody>
      </p:sp>
      <p:sp>
        <p:nvSpPr>
          <p:cNvPr id="13" name="Text 11"/>
          <p:cNvSpPr txBox="1"/>
          <p:nvPr/>
        </p:nvSpPr>
        <p:spPr>
          <a:xfrm>
            <a:off x="6632326"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1名の月間売上</a:t>
            </a:r>
            <a:endParaRPr lang="en-US" sz="1050" dirty="0"/>
          </a:p>
        </p:txBody>
      </p:sp>
      <p:sp>
        <p:nvSpPr>
          <p:cNvPr id="14" name="Text 12"/>
          <p:cNvSpPr txBox="1"/>
          <p:nvPr/>
        </p:nvSpPr>
        <p:spPr>
          <a:xfrm>
            <a:off x="6632326"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約3万円</a:t>
            </a:r>
            <a:endParaRPr lang="en-US" sz="1500" dirty="0"/>
          </a:p>
        </p:txBody>
      </p:sp>
      <p:sp>
        <p:nvSpPr>
          <p:cNvPr id="15" name="Text 13"/>
          <p:cNvSpPr txBox="1"/>
          <p:nvPr/>
        </p:nvSpPr>
        <p:spPr>
          <a:xfrm>
            <a:off x="8302569"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平均継続</a:t>
            </a:r>
            <a:endParaRPr lang="en-US" sz="1050" dirty="0"/>
          </a:p>
        </p:txBody>
      </p:sp>
      <p:sp>
        <p:nvSpPr>
          <p:cNvPr id="16" name="Text 14"/>
          <p:cNvSpPr txBox="1"/>
          <p:nvPr/>
        </p:nvSpPr>
        <p:spPr>
          <a:xfrm>
            <a:off x="8302569"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12ヶ月</a:t>
            </a:r>
            <a:endParaRPr lang="en-US" sz="1500" dirty="0"/>
          </a:p>
        </p:txBody>
      </p:sp>
      <p:sp>
        <p:nvSpPr>
          <p:cNvPr id="17" name="Text 15"/>
          <p:cNvSpPr txBox="1"/>
          <p:nvPr/>
        </p:nvSpPr>
        <p:spPr>
          <a:xfrm>
            <a:off x="9972812" y="1764792"/>
            <a:ext cx="1578803" cy="256032"/>
          </a:xfrm>
          <a:prstGeom prst="rect">
            <a:avLst/>
          </a:prstGeom>
          <a:noFill/>
          <a:ln/>
        </p:spPr>
        <p:txBody>
          <a:bodyPr wrap="square" lIns="0" tIns="0" rIns="0" bIns="0" rtlCol="0" anchor="t"/>
          <a:lstStyle/>
          <a:p>
            <a:pPr indent="0" marL="0">
              <a:buNone/>
            </a:pPr>
            <a:r>
              <a:rPr lang="en-US" sz="1050" dirty="0">
                <a:solidFill>
                  <a:srgbClr val="66807D"/>
                </a:solidFill>
                <a:latin typeface="Meiryo UI" pitchFamily="34" charset="0"/>
                <a:ea typeface="Meiryo UI" pitchFamily="34" charset="-122"/>
                <a:cs typeface="Meiryo UI" pitchFamily="34" charset="-120"/>
              </a:rPr>
              <a:t>受け入れ上限</a:t>
            </a:r>
            <a:endParaRPr lang="en-US" sz="1050" dirty="0"/>
          </a:p>
        </p:txBody>
      </p:sp>
      <p:sp>
        <p:nvSpPr>
          <p:cNvPr id="18" name="Text 16"/>
          <p:cNvSpPr txBox="1"/>
          <p:nvPr/>
        </p:nvSpPr>
        <p:spPr>
          <a:xfrm>
            <a:off x="9972812" y="2011680"/>
            <a:ext cx="1578803" cy="310896"/>
          </a:xfrm>
          <a:prstGeom prst="rect">
            <a:avLst/>
          </a:prstGeom>
          <a:noFill/>
          <a:ln/>
        </p:spPr>
        <p:txBody>
          <a:bodyPr wrap="square" lIns="0" tIns="0" rIns="0" bIns="0" rtlCol="0" anchor="t"/>
          <a:lstStyle/>
          <a:p>
            <a:pPr indent="0" marL="0">
              <a:buNone/>
            </a:pPr>
            <a:r>
              <a:rPr lang="en-US" sz="1500" b="1" dirty="0">
                <a:solidFill>
                  <a:srgbClr val="163F3D"/>
                </a:solidFill>
                <a:latin typeface="Meiryo UI" pitchFamily="34" charset="0"/>
                <a:ea typeface="Meiryo UI" pitchFamily="34" charset="-122"/>
                <a:cs typeface="Meiryo UI" pitchFamily="34" charset="-120"/>
              </a:rPr>
              <a:t>〇名</a:t>
            </a:r>
            <a:endParaRPr lang="en-US" sz="1500" dirty="0"/>
          </a:p>
        </p:txBody>
      </p:sp>
      <p:sp>
        <p:nvSpPr>
          <p:cNvPr id="19" name="Text 17"/>
          <p:cNvSpPr txBox="1"/>
          <p:nvPr/>
        </p:nvSpPr>
        <p:spPr>
          <a:xfrm>
            <a:off x="548640" y="2606040"/>
            <a:ext cx="4937760" cy="320040"/>
          </a:xfrm>
          <a:prstGeom prst="rect">
            <a:avLst/>
          </a:prstGeom>
          <a:noFill/>
          <a:ln/>
        </p:spPr>
        <p:txBody>
          <a:bodyPr wrap="square" lIns="0" tIns="0" rIns="0" bIns="0" rtlCol="0" anchor="t"/>
          <a:lstStyle/>
          <a:p>
            <a:pPr indent="0" marL="0">
              <a:buNone/>
            </a:pPr>
            <a:r>
              <a:rPr lang="en-US" sz="1350" b="1" dirty="0">
                <a:solidFill>
                  <a:srgbClr val="E07B39"/>
                </a:solidFill>
                <a:latin typeface="Meiryo UI" pitchFamily="34" charset="0"/>
                <a:ea typeface="Meiryo UI" pitchFamily="34" charset="-122"/>
                <a:cs typeface="Meiryo UI" pitchFamily="34" charset="-120"/>
              </a:rPr>
              <a:t>拡大期（4ヶ月目以降）の月間KPI試算</a:t>
            </a:r>
            <a:endParaRPr lang="en-US" sz="1350" dirty="0"/>
          </a:p>
        </p:txBody>
      </p:sp>
      <p:sp>
        <p:nvSpPr>
          <p:cNvPr id="20" name="Text 18"/>
          <p:cNvSpPr txBox="1"/>
          <p:nvPr/>
        </p:nvSpPr>
        <p:spPr>
          <a:xfrm>
            <a:off x="548640" y="2971800"/>
            <a:ext cx="1371600" cy="256032"/>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プッシュ</a:t>
            </a:r>
            <a:endParaRPr lang="en-US" sz="1100" dirty="0"/>
          </a:p>
        </p:txBody>
      </p:sp>
      <p:sp>
        <p:nvSpPr>
          <p:cNvPr id="21" name="Shape 19"/>
          <p:cNvSpPr/>
          <p:nvPr/>
        </p:nvSpPr>
        <p:spPr>
          <a:xfrm>
            <a:off x="548640" y="3246120"/>
            <a:ext cx="4937760" cy="347472"/>
          </a:xfrm>
          <a:prstGeom prst="roundRect">
            <a:avLst>
              <a:gd name="adj" fmla="val 15789"/>
            </a:avLst>
          </a:prstGeom>
          <a:solidFill>
            <a:srgbClr val="F4F8F7"/>
          </a:solidFill>
          <a:ln w="9525">
            <a:solidFill>
              <a:srgbClr val="DCE7E5"/>
            </a:solidFill>
            <a:prstDash val="solid"/>
          </a:ln>
        </p:spPr>
      </p:sp>
      <p:sp>
        <p:nvSpPr>
          <p:cNvPr id="22" name="Text 20"/>
          <p:cNvSpPr txBox="1"/>
          <p:nvPr/>
        </p:nvSpPr>
        <p:spPr>
          <a:xfrm>
            <a:off x="685800" y="3246120"/>
            <a:ext cx="3840480" cy="347472"/>
          </a:xfrm>
          <a:prstGeom prst="rect">
            <a:avLst/>
          </a:prstGeom>
          <a:noFill/>
          <a:ln/>
        </p:spPr>
        <p:txBody>
          <a:bodyPr wrap="square" lIns="0" tIns="0" rIns="0" bIns="0" rtlCol="0" anchor="ctr"/>
          <a:lstStyle/>
          <a:p>
            <a:pPr indent="0" marL="0">
              <a:buNone/>
            </a:pPr>
            <a:r>
              <a:rPr lang="en-US" sz="1100" dirty="0">
                <a:solidFill>
                  <a:srgbClr val="2A3332"/>
                </a:solidFill>
                <a:latin typeface="Meiryo UI" pitchFamily="34" charset="0"/>
                <a:ea typeface="Meiryo UI" pitchFamily="34" charset="-122"/>
                <a:cs typeface="Meiryo UI" pitchFamily="34" charset="-120"/>
              </a:rPr>
              <a:t>動画送付先（ケアマネ・施設・医療機関）</a:t>
            </a:r>
            <a:endParaRPr lang="en-US" sz="1100" dirty="0"/>
          </a:p>
        </p:txBody>
      </p:sp>
      <p:sp>
        <p:nvSpPr>
          <p:cNvPr id="23" name="Text 21"/>
          <p:cNvSpPr txBox="1"/>
          <p:nvPr/>
        </p:nvSpPr>
        <p:spPr>
          <a:xfrm>
            <a:off x="4526280" y="3246120"/>
            <a:ext cx="868680" cy="347472"/>
          </a:xfrm>
          <a:prstGeom prst="rect">
            <a:avLst/>
          </a:prstGeom>
          <a:noFill/>
          <a:ln/>
        </p:spPr>
        <p:txBody>
          <a:bodyPr wrap="square" lIns="0" tIns="0" rIns="0" bIns="0" rtlCol="0" anchor="ctr"/>
          <a:lstStyle/>
          <a:p>
            <a:pPr algn="r" indent="0" marL="0">
              <a:buNone/>
            </a:pPr>
            <a:r>
              <a:rPr lang="en-US" sz="1200" b="1" dirty="0">
                <a:solidFill>
                  <a:srgbClr val="163F3D"/>
                </a:solidFill>
                <a:latin typeface="Meiryo UI" pitchFamily="34" charset="0"/>
                <a:ea typeface="Meiryo UI" pitchFamily="34" charset="-122"/>
                <a:cs typeface="Meiryo UI" pitchFamily="34" charset="-120"/>
              </a:rPr>
              <a:t>60件</a:t>
            </a:r>
            <a:endParaRPr lang="en-US" sz="1200" dirty="0"/>
          </a:p>
        </p:txBody>
      </p:sp>
      <p:sp>
        <p:nvSpPr>
          <p:cNvPr id="24" name="Shape 22"/>
          <p:cNvSpPr/>
          <p:nvPr/>
        </p:nvSpPr>
        <p:spPr>
          <a:xfrm>
            <a:off x="548640" y="3648456"/>
            <a:ext cx="4617720" cy="347472"/>
          </a:xfrm>
          <a:prstGeom prst="roundRect">
            <a:avLst>
              <a:gd name="adj" fmla="val 15789"/>
            </a:avLst>
          </a:prstGeom>
          <a:solidFill>
            <a:srgbClr val="F4F8F7"/>
          </a:solidFill>
          <a:ln w="9525">
            <a:solidFill>
              <a:srgbClr val="DCE7E5"/>
            </a:solidFill>
            <a:prstDash val="solid"/>
          </a:ln>
        </p:spPr>
      </p:sp>
      <p:sp>
        <p:nvSpPr>
          <p:cNvPr id="25" name="Text 23"/>
          <p:cNvSpPr txBox="1"/>
          <p:nvPr/>
        </p:nvSpPr>
        <p:spPr>
          <a:xfrm>
            <a:off x="685800" y="3648456"/>
            <a:ext cx="3520440" cy="347472"/>
          </a:xfrm>
          <a:prstGeom prst="rect">
            <a:avLst/>
          </a:prstGeom>
          <a:noFill/>
          <a:ln/>
        </p:spPr>
        <p:txBody>
          <a:bodyPr wrap="square" lIns="0" tIns="0" rIns="0" bIns="0" rtlCol="0" anchor="ctr"/>
          <a:lstStyle/>
          <a:p>
            <a:pPr indent="0" marL="0">
              <a:buNone/>
            </a:pPr>
            <a:r>
              <a:rPr lang="en-US" sz="1100" dirty="0">
                <a:solidFill>
                  <a:srgbClr val="2A3332"/>
                </a:solidFill>
                <a:latin typeface="Meiryo UI" pitchFamily="34" charset="0"/>
                <a:ea typeface="Meiryo UI" pitchFamily="34" charset="-122"/>
                <a:cs typeface="Meiryo UI" pitchFamily="34" charset="-120"/>
              </a:rPr>
              <a:t>視聴（視聴率50%）</a:t>
            </a:r>
            <a:endParaRPr lang="en-US" sz="1100" dirty="0"/>
          </a:p>
        </p:txBody>
      </p:sp>
      <p:sp>
        <p:nvSpPr>
          <p:cNvPr id="26" name="Text 24"/>
          <p:cNvSpPr txBox="1"/>
          <p:nvPr/>
        </p:nvSpPr>
        <p:spPr>
          <a:xfrm>
            <a:off x="4206240" y="3648456"/>
            <a:ext cx="868680" cy="347472"/>
          </a:xfrm>
          <a:prstGeom prst="rect">
            <a:avLst/>
          </a:prstGeom>
          <a:noFill/>
          <a:ln/>
        </p:spPr>
        <p:txBody>
          <a:bodyPr wrap="square" lIns="0" tIns="0" rIns="0" bIns="0" rtlCol="0" anchor="ctr"/>
          <a:lstStyle/>
          <a:p>
            <a:pPr algn="r" indent="0" marL="0">
              <a:buNone/>
            </a:pPr>
            <a:r>
              <a:rPr lang="en-US" sz="1200" b="1" dirty="0">
                <a:solidFill>
                  <a:srgbClr val="163F3D"/>
                </a:solidFill>
                <a:latin typeface="Meiryo UI" pitchFamily="34" charset="0"/>
                <a:ea typeface="Meiryo UI" pitchFamily="34" charset="-122"/>
                <a:cs typeface="Meiryo UI" pitchFamily="34" charset="-120"/>
              </a:rPr>
              <a:t>30件</a:t>
            </a:r>
            <a:endParaRPr lang="en-US" sz="1200" dirty="0"/>
          </a:p>
        </p:txBody>
      </p:sp>
      <p:sp>
        <p:nvSpPr>
          <p:cNvPr id="27" name="Shape 25"/>
          <p:cNvSpPr/>
          <p:nvPr/>
        </p:nvSpPr>
        <p:spPr>
          <a:xfrm>
            <a:off x="548640" y="4050792"/>
            <a:ext cx="4297680" cy="347472"/>
          </a:xfrm>
          <a:prstGeom prst="roundRect">
            <a:avLst>
              <a:gd name="adj" fmla="val 15789"/>
            </a:avLst>
          </a:prstGeom>
          <a:solidFill>
            <a:srgbClr val="F4F8F7"/>
          </a:solidFill>
          <a:ln w="9525">
            <a:solidFill>
              <a:srgbClr val="DCE7E5"/>
            </a:solidFill>
            <a:prstDash val="solid"/>
          </a:ln>
        </p:spPr>
      </p:sp>
      <p:sp>
        <p:nvSpPr>
          <p:cNvPr id="28" name="Text 26"/>
          <p:cNvSpPr txBox="1"/>
          <p:nvPr/>
        </p:nvSpPr>
        <p:spPr>
          <a:xfrm>
            <a:off x="685800" y="4050792"/>
            <a:ext cx="3200400" cy="347472"/>
          </a:xfrm>
          <a:prstGeom prst="rect">
            <a:avLst/>
          </a:prstGeom>
          <a:noFill/>
          <a:ln/>
        </p:spPr>
        <p:txBody>
          <a:bodyPr wrap="square" lIns="0" tIns="0" rIns="0" bIns="0" rtlCol="0" anchor="ctr"/>
          <a:lstStyle/>
          <a:p>
            <a:pPr indent="0" marL="0">
              <a:buNone/>
            </a:pPr>
            <a:r>
              <a:rPr lang="en-US" sz="1100" dirty="0">
                <a:solidFill>
                  <a:srgbClr val="2A3332"/>
                </a:solidFill>
                <a:latin typeface="Meiryo UI" pitchFamily="34" charset="0"/>
                <a:ea typeface="Meiryo UI" pitchFamily="34" charset="-122"/>
                <a:cs typeface="Meiryo UI" pitchFamily="34" charset="-120"/>
              </a:rPr>
              <a:t>面談（面談化率30%）</a:t>
            </a:r>
            <a:endParaRPr lang="en-US" sz="1100" dirty="0"/>
          </a:p>
        </p:txBody>
      </p:sp>
      <p:sp>
        <p:nvSpPr>
          <p:cNvPr id="29" name="Text 27"/>
          <p:cNvSpPr txBox="1"/>
          <p:nvPr/>
        </p:nvSpPr>
        <p:spPr>
          <a:xfrm>
            <a:off x="3886200" y="4050792"/>
            <a:ext cx="868680" cy="347472"/>
          </a:xfrm>
          <a:prstGeom prst="rect">
            <a:avLst/>
          </a:prstGeom>
          <a:noFill/>
          <a:ln/>
        </p:spPr>
        <p:txBody>
          <a:bodyPr wrap="square" lIns="0" tIns="0" rIns="0" bIns="0" rtlCol="0" anchor="ctr"/>
          <a:lstStyle/>
          <a:p>
            <a:pPr algn="r" indent="0" marL="0">
              <a:buNone/>
            </a:pPr>
            <a:r>
              <a:rPr lang="en-US" sz="1200" b="1" dirty="0">
                <a:solidFill>
                  <a:srgbClr val="163F3D"/>
                </a:solidFill>
                <a:latin typeface="Meiryo UI" pitchFamily="34" charset="0"/>
                <a:ea typeface="Meiryo UI" pitchFamily="34" charset="-122"/>
                <a:cs typeface="Meiryo UI" pitchFamily="34" charset="-120"/>
              </a:rPr>
              <a:t>9件</a:t>
            </a:r>
            <a:endParaRPr lang="en-US" sz="1200" dirty="0"/>
          </a:p>
        </p:txBody>
      </p:sp>
      <p:sp>
        <p:nvSpPr>
          <p:cNvPr id="30" name="Shape 28"/>
          <p:cNvSpPr/>
          <p:nvPr/>
        </p:nvSpPr>
        <p:spPr>
          <a:xfrm>
            <a:off x="548640" y="4453128"/>
            <a:ext cx="3977640" cy="347472"/>
          </a:xfrm>
          <a:prstGeom prst="roundRect">
            <a:avLst>
              <a:gd name="adj" fmla="val 15789"/>
            </a:avLst>
          </a:prstGeom>
          <a:solidFill>
            <a:srgbClr val="F4F8F7"/>
          </a:solidFill>
          <a:ln w="9525">
            <a:solidFill>
              <a:srgbClr val="DCE7E5"/>
            </a:solidFill>
            <a:prstDash val="solid"/>
          </a:ln>
        </p:spPr>
      </p:sp>
      <p:sp>
        <p:nvSpPr>
          <p:cNvPr id="31" name="Text 29"/>
          <p:cNvSpPr txBox="1"/>
          <p:nvPr/>
        </p:nvSpPr>
        <p:spPr>
          <a:xfrm>
            <a:off x="685800" y="4453128"/>
            <a:ext cx="2880360" cy="347472"/>
          </a:xfrm>
          <a:prstGeom prst="rect">
            <a:avLst/>
          </a:prstGeom>
          <a:noFill/>
          <a:ln/>
        </p:spPr>
        <p:txBody>
          <a:bodyPr wrap="square" lIns="0" tIns="0" rIns="0" bIns="0" rtlCol="0" anchor="ctr"/>
          <a:lstStyle/>
          <a:p>
            <a:pPr indent="0" marL="0">
              <a:buNone/>
            </a:pPr>
            <a:r>
              <a:rPr lang="en-US" sz="1100" dirty="0">
                <a:solidFill>
                  <a:srgbClr val="2A3332"/>
                </a:solidFill>
                <a:latin typeface="Meiryo UI" pitchFamily="34" charset="0"/>
                <a:ea typeface="Meiryo UI" pitchFamily="34" charset="-122"/>
                <a:cs typeface="Meiryo UI" pitchFamily="34" charset="-120"/>
              </a:rPr>
              <a:t>紹介発生（紹介率30%）</a:t>
            </a:r>
            <a:endParaRPr lang="en-US" sz="1100" dirty="0"/>
          </a:p>
        </p:txBody>
      </p:sp>
      <p:sp>
        <p:nvSpPr>
          <p:cNvPr id="32" name="Text 30"/>
          <p:cNvSpPr txBox="1"/>
          <p:nvPr/>
        </p:nvSpPr>
        <p:spPr>
          <a:xfrm>
            <a:off x="3566160" y="4453128"/>
            <a:ext cx="868680" cy="347472"/>
          </a:xfrm>
          <a:prstGeom prst="rect">
            <a:avLst/>
          </a:prstGeom>
          <a:noFill/>
          <a:ln/>
        </p:spPr>
        <p:txBody>
          <a:bodyPr wrap="square" lIns="0" tIns="0" rIns="0" bIns="0" rtlCol="0" anchor="ctr"/>
          <a:lstStyle/>
          <a:p>
            <a:pPr algn="r" indent="0" marL="0">
              <a:buNone/>
            </a:pPr>
            <a:r>
              <a:rPr lang="en-US" sz="1200" b="1" dirty="0">
                <a:solidFill>
                  <a:srgbClr val="163F3D"/>
                </a:solidFill>
                <a:latin typeface="Meiryo UI" pitchFamily="34" charset="0"/>
                <a:ea typeface="Meiryo UI" pitchFamily="34" charset="-122"/>
                <a:cs typeface="Meiryo UI" pitchFamily="34" charset="-120"/>
              </a:rPr>
              <a:t>約3件</a:t>
            </a:r>
            <a:endParaRPr lang="en-US" sz="1200" dirty="0"/>
          </a:p>
        </p:txBody>
      </p:sp>
      <p:sp>
        <p:nvSpPr>
          <p:cNvPr id="33" name="Shape 31"/>
          <p:cNvSpPr/>
          <p:nvPr/>
        </p:nvSpPr>
        <p:spPr>
          <a:xfrm>
            <a:off x="548640" y="4855464"/>
            <a:ext cx="3657600" cy="347472"/>
          </a:xfrm>
          <a:prstGeom prst="roundRect">
            <a:avLst>
              <a:gd name="adj" fmla="val 15789"/>
            </a:avLst>
          </a:prstGeom>
          <a:solidFill>
            <a:srgbClr val="1F5E5B"/>
          </a:solidFill>
          <a:ln w="9525">
            <a:solidFill>
              <a:srgbClr val="1F5E5B"/>
            </a:solidFill>
            <a:prstDash val="solid"/>
          </a:ln>
        </p:spPr>
      </p:sp>
      <p:sp>
        <p:nvSpPr>
          <p:cNvPr id="34" name="Text 32"/>
          <p:cNvSpPr txBox="1"/>
          <p:nvPr/>
        </p:nvSpPr>
        <p:spPr>
          <a:xfrm>
            <a:off x="685800" y="4855464"/>
            <a:ext cx="2560320" cy="347472"/>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利用開始（開始率60%）</a:t>
            </a:r>
            <a:endParaRPr lang="en-US" sz="1100" dirty="0"/>
          </a:p>
        </p:txBody>
      </p:sp>
      <p:sp>
        <p:nvSpPr>
          <p:cNvPr id="35" name="Text 33"/>
          <p:cNvSpPr txBox="1"/>
          <p:nvPr/>
        </p:nvSpPr>
        <p:spPr>
          <a:xfrm>
            <a:off x="3246120" y="4855464"/>
            <a:ext cx="868680" cy="347472"/>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約2名</a:t>
            </a:r>
            <a:endParaRPr lang="en-US" sz="1200" dirty="0"/>
          </a:p>
        </p:txBody>
      </p:sp>
      <p:sp>
        <p:nvSpPr>
          <p:cNvPr id="36" name="Text 34"/>
          <p:cNvSpPr txBox="1"/>
          <p:nvPr/>
        </p:nvSpPr>
        <p:spPr>
          <a:xfrm>
            <a:off x="548640" y="5303520"/>
            <a:ext cx="1371600" cy="256032"/>
          </a:xfrm>
          <a:prstGeom prst="rect">
            <a:avLst/>
          </a:prstGeom>
          <a:noFill/>
          <a:ln/>
        </p:spPr>
        <p:txBody>
          <a:bodyPr wrap="square" lIns="0" tIns="0" rIns="0" bIns="0" rtlCol="0" anchor="t"/>
          <a:lstStyle/>
          <a:p>
            <a:pPr indent="0" marL="0">
              <a:buNone/>
            </a:pPr>
            <a:r>
              <a:rPr lang="en-US" sz="1100" b="1" dirty="0">
                <a:solidFill>
                  <a:srgbClr val="1F5E5B"/>
                </a:solidFill>
                <a:latin typeface="Meiryo UI" pitchFamily="34" charset="0"/>
                <a:ea typeface="Meiryo UI" pitchFamily="34" charset="-122"/>
                <a:cs typeface="Meiryo UI" pitchFamily="34" charset="-120"/>
              </a:rPr>
              <a:t>プル</a:t>
            </a:r>
            <a:endParaRPr lang="en-US" sz="1100" dirty="0"/>
          </a:p>
        </p:txBody>
      </p:sp>
      <p:sp>
        <p:nvSpPr>
          <p:cNvPr id="37" name="Shape 35"/>
          <p:cNvSpPr/>
          <p:nvPr/>
        </p:nvSpPr>
        <p:spPr>
          <a:xfrm>
            <a:off x="548640" y="5577840"/>
            <a:ext cx="4937760" cy="384048"/>
          </a:xfrm>
          <a:prstGeom prst="roundRect">
            <a:avLst>
              <a:gd name="adj" fmla="val 14286"/>
            </a:avLst>
          </a:prstGeom>
          <a:solidFill>
            <a:srgbClr val="1F5E5B"/>
          </a:solidFill>
          <a:ln w="12700">
            <a:solidFill>
              <a:srgbClr val="1F5E5B"/>
            </a:solidFill>
            <a:prstDash val="solid"/>
          </a:ln>
        </p:spPr>
      </p:sp>
      <p:sp>
        <p:nvSpPr>
          <p:cNvPr id="38" name="Text 36"/>
          <p:cNvSpPr txBox="1"/>
          <p:nvPr/>
        </p:nvSpPr>
        <p:spPr>
          <a:xfrm>
            <a:off x="685800" y="5577840"/>
            <a:ext cx="3840480" cy="384048"/>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SNS・HP経由の問い合わせ 月2件（開始率50%）</a:t>
            </a:r>
            <a:endParaRPr lang="en-US" sz="1100" dirty="0"/>
          </a:p>
        </p:txBody>
      </p:sp>
      <p:sp>
        <p:nvSpPr>
          <p:cNvPr id="39" name="Text 37"/>
          <p:cNvSpPr txBox="1"/>
          <p:nvPr/>
        </p:nvSpPr>
        <p:spPr>
          <a:xfrm>
            <a:off x="4526280" y="5577840"/>
            <a:ext cx="86868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約1名</a:t>
            </a:r>
            <a:endParaRPr lang="en-US" sz="1200" dirty="0"/>
          </a:p>
        </p:txBody>
      </p:sp>
      <p:sp>
        <p:nvSpPr>
          <p:cNvPr id="40" name="Shape 38"/>
          <p:cNvSpPr/>
          <p:nvPr/>
        </p:nvSpPr>
        <p:spPr>
          <a:xfrm>
            <a:off x="5852160" y="2606040"/>
            <a:ext cx="1808378" cy="1097280"/>
          </a:xfrm>
          <a:prstGeom prst="roundRect">
            <a:avLst>
              <a:gd name="adj" fmla="val 10000"/>
            </a:avLst>
          </a:prstGeom>
          <a:solidFill>
            <a:srgbClr val="F4F8F7"/>
          </a:solidFill>
          <a:ln w="12700">
            <a:solidFill>
              <a:srgbClr val="F4F8F7"/>
            </a:solidFill>
            <a:prstDash val="solid"/>
          </a:ln>
        </p:spPr>
      </p:sp>
      <p:sp>
        <p:nvSpPr>
          <p:cNvPr id="41" name="Text 39"/>
          <p:cNvSpPr txBox="1"/>
          <p:nvPr/>
        </p:nvSpPr>
        <p:spPr>
          <a:xfrm>
            <a:off x="5852160" y="2651760"/>
            <a:ext cx="1808378" cy="502920"/>
          </a:xfrm>
          <a:prstGeom prst="rect">
            <a:avLst/>
          </a:prstGeom>
          <a:noFill/>
          <a:ln/>
        </p:spPr>
        <p:txBody>
          <a:bodyPr wrap="square" lIns="0" tIns="0" rIns="0" bIns="0" rtlCol="0" anchor="ctr"/>
          <a:lstStyle/>
          <a:p>
            <a:pPr algn="ctr" indent="0" marL="0">
              <a:buNone/>
            </a:pPr>
            <a:r>
              <a:rPr lang="en-US" sz="2100" b="1" dirty="0">
                <a:solidFill>
                  <a:srgbClr val="1F5E5B"/>
                </a:solidFill>
                <a:latin typeface="Meiryo UI" pitchFamily="34" charset="0"/>
                <a:ea typeface="Meiryo UI" pitchFamily="34" charset="-122"/>
                <a:cs typeface="Meiryo UI" pitchFamily="34" charset="-120"/>
              </a:rPr>
              <a:t>+3名/月</a:t>
            </a:r>
            <a:endParaRPr lang="en-US" sz="2100" dirty="0"/>
          </a:p>
        </p:txBody>
      </p:sp>
      <p:sp>
        <p:nvSpPr>
          <p:cNvPr id="42" name="Text 40"/>
          <p:cNvSpPr txBox="1"/>
          <p:nvPr/>
        </p:nvSpPr>
        <p:spPr>
          <a:xfrm>
            <a:off x="5852160" y="3154680"/>
            <a:ext cx="1808378" cy="502920"/>
          </a:xfrm>
          <a:prstGeom prst="rect">
            <a:avLst/>
          </a:prstGeom>
          <a:noFill/>
          <a:ln/>
        </p:spPr>
        <p:txBody>
          <a:bodyPr wrap="square" lIns="0" tIns="0" rIns="0" bIns="0" rtlCol="0" anchor="t"/>
          <a:lstStyle/>
          <a:p>
            <a:pPr algn="ctr" indent="0" marL="0">
              <a:buNone/>
            </a:pPr>
            <a:r>
              <a:rPr lang="en-US" sz="1000" dirty="0">
                <a:solidFill>
                  <a:srgbClr val="66807D"/>
                </a:solidFill>
                <a:latin typeface="Meiryo UI" pitchFamily="34" charset="0"/>
                <a:ea typeface="Meiryo UI" pitchFamily="34" charset="-122"/>
                <a:cs typeface="Meiryo UI" pitchFamily="34" charset="-120"/>
              </a:rPr>
              <a:t>拡大期の新規利用者</a:t>
            </a:r>
            <a:endParaRPr lang="en-US" sz="1000" dirty="0"/>
          </a:p>
          <a:p>
            <a:pPr algn="ctr" indent="0" marL="0">
              <a:buNone/>
            </a:pPr>
            <a:r>
              <a:rPr lang="en-US" sz="1000" dirty="0">
                <a:solidFill>
                  <a:srgbClr val="66807D"/>
                </a:solidFill>
                <a:latin typeface="Meiryo UI" pitchFamily="34" charset="0"/>
                <a:ea typeface="Meiryo UI" pitchFamily="34" charset="-122"/>
                <a:cs typeface="Meiryo UI" pitchFamily="34" charset="-120"/>
              </a:rPr>
              <a:t>（上乗せ分）</a:t>
            </a:r>
            <a:endParaRPr lang="en-US" sz="1000" dirty="0"/>
          </a:p>
        </p:txBody>
      </p:sp>
      <p:sp>
        <p:nvSpPr>
          <p:cNvPr id="43" name="Shape 41"/>
          <p:cNvSpPr/>
          <p:nvPr/>
        </p:nvSpPr>
        <p:spPr>
          <a:xfrm>
            <a:off x="7843418" y="2606040"/>
            <a:ext cx="1808378" cy="1097280"/>
          </a:xfrm>
          <a:prstGeom prst="roundRect">
            <a:avLst>
              <a:gd name="adj" fmla="val 10000"/>
            </a:avLst>
          </a:prstGeom>
          <a:solidFill>
            <a:srgbClr val="F4F8F7"/>
          </a:solidFill>
          <a:ln w="12700">
            <a:solidFill>
              <a:srgbClr val="F4F8F7"/>
            </a:solidFill>
            <a:prstDash val="solid"/>
          </a:ln>
        </p:spPr>
      </p:sp>
      <p:sp>
        <p:nvSpPr>
          <p:cNvPr id="44" name="Text 42"/>
          <p:cNvSpPr txBox="1"/>
          <p:nvPr/>
        </p:nvSpPr>
        <p:spPr>
          <a:xfrm>
            <a:off x="7843418" y="2651760"/>
            <a:ext cx="1808378" cy="502920"/>
          </a:xfrm>
          <a:prstGeom prst="rect">
            <a:avLst/>
          </a:prstGeom>
          <a:noFill/>
          <a:ln/>
        </p:spPr>
        <p:txBody>
          <a:bodyPr wrap="square" lIns="0" tIns="0" rIns="0" bIns="0" rtlCol="0" anchor="ctr"/>
          <a:lstStyle/>
          <a:p>
            <a:pPr algn="ctr" indent="0" marL="0">
              <a:buNone/>
            </a:pPr>
            <a:r>
              <a:rPr lang="en-US" sz="2100" b="1" dirty="0">
                <a:solidFill>
                  <a:srgbClr val="1F5E5B"/>
                </a:solidFill>
                <a:latin typeface="Meiryo UI" pitchFamily="34" charset="0"/>
                <a:ea typeface="Meiryo UI" pitchFamily="34" charset="-122"/>
                <a:cs typeface="Meiryo UI" pitchFamily="34" charset="-120"/>
              </a:rPr>
              <a:t>+26名</a:t>
            </a:r>
            <a:endParaRPr lang="en-US" sz="2100" dirty="0"/>
          </a:p>
        </p:txBody>
      </p:sp>
      <p:sp>
        <p:nvSpPr>
          <p:cNvPr id="45" name="Text 43"/>
          <p:cNvSpPr txBox="1"/>
          <p:nvPr/>
        </p:nvSpPr>
        <p:spPr>
          <a:xfrm>
            <a:off x="7843418" y="3154680"/>
            <a:ext cx="1808378" cy="502920"/>
          </a:xfrm>
          <a:prstGeom prst="rect">
            <a:avLst/>
          </a:prstGeom>
          <a:noFill/>
          <a:ln/>
        </p:spPr>
        <p:txBody>
          <a:bodyPr wrap="square" lIns="0" tIns="0" rIns="0" bIns="0" rtlCol="0" anchor="t"/>
          <a:lstStyle/>
          <a:p>
            <a:pPr algn="ctr" indent="0" marL="0">
              <a:buNone/>
            </a:pPr>
            <a:r>
              <a:rPr lang="en-US" sz="1000" dirty="0">
                <a:solidFill>
                  <a:srgbClr val="66807D"/>
                </a:solidFill>
                <a:latin typeface="Meiryo UI" pitchFamily="34" charset="0"/>
                <a:ea typeface="Meiryo UI" pitchFamily="34" charset="-122"/>
                <a:cs typeface="Meiryo UI" pitchFamily="34" charset="-120"/>
              </a:rPr>
              <a:t>12ヶ月後の</a:t>
            </a:r>
            <a:endParaRPr lang="en-US" sz="1000" dirty="0"/>
          </a:p>
          <a:p>
            <a:pPr algn="ctr" indent="0" marL="0">
              <a:buNone/>
            </a:pPr>
            <a:r>
              <a:rPr lang="en-US" sz="1000" dirty="0">
                <a:solidFill>
                  <a:srgbClr val="66807D"/>
                </a:solidFill>
                <a:latin typeface="Meiryo UI" pitchFamily="34" charset="0"/>
                <a:ea typeface="Meiryo UI" pitchFamily="34" charset="-122"/>
                <a:cs typeface="Meiryo UI" pitchFamily="34" charset="-120"/>
              </a:rPr>
              <a:t>利用者数の上乗せ</a:t>
            </a:r>
            <a:endParaRPr lang="en-US" sz="1000" dirty="0"/>
          </a:p>
        </p:txBody>
      </p:sp>
      <p:sp>
        <p:nvSpPr>
          <p:cNvPr id="46" name="Shape 44"/>
          <p:cNvSpPr/>
          <p:nvPr/>
        </p:nvSpPr>
        <p:spPr>
          <a:xfrm>
            <a:off x="9834677" y="2606040"/>
            <a:ext cx="1808378" cy="1097280"/>
          </a:xfrm>
          <a:prstGeom prst="roundRect">
            <a:avLst>
              <a:gd name="adj" fmla="val 10000"/>
            </a:avLst>
          </a:prstGeom>
          <a:solidFill>
            <a:srgbClr val="FCEBDD"/>
          </a:solidFill>
          <a:ln w="12700">
            <a:solidFill>
              <a:srgbClr val="FCEBDD"/>
            </a:solidFill>
            <a:prstDash val="solid"/>
          </a:ln>
        </p:spPr>
      </p:sp>
      <p:sp>
        <p:nvSpPr>
          <p:cNvPr id="47" name="Text 45"/>
          <p:cNvSpPr txBox="1"/>
          <p:nvPr/>
        </p:nvSpPr>
        <p:spPr>
          <a:xfrm>
            <a:off x="9834677" y="2651760"/>
            <a:ext cx="1808378" cy="502920"/>
          </a:xfrm>
          <a:prstGeom prst="rect">
            <a:avLst/>
          </a:prstGeom>
          <a:noFill/>
          <a:ln/>
        </p:spPr>
        <p:txBody>
          <a:bodyPr wrap="square" lIns="0" tIns="0" rIns="0" bIns="0" rtlCol="0" anchor="ctr"/>
          <a:lstStyle/>
          <a:p>
            <a:pPr algn="ctr" indent="0" marL="0">
              <a:buNone/>
            </a:pPr>
            <a:r>
              <a:rPr lang="en-US" sz="2100" b="1" dirty="0">
                <a:solidFill>
                  <a:srgbClr val="E07B39"/>
                </a:solidFill>
                <a:latin typeface="Meiryo UI" pitchFamily="34" charset="0"/>
                <a:ea typeface="Meiryo UI" pitchFamily="34" charset="-122"/>
                <a:cs typeface="Meiryo UI" pitchFamily="34" charset="-120"/>
              </a:rPr>
              <a:t>+78万円/月</a:t>
            </a:r>
            <a:endParaRPr lang="en-US" sz="2100" dirty="0"/>
          </a:p>
        </p:txBody>
      </p:sp>
      <p:sp>
        <p:nvSpPr>
          <p:cNvPr id="48" name="Text 46"/>
          <p:cNvSpPr txBox="1"/>
          <p:nvPr/>
        </p:nvSpPr>
        <p:spPr>
          <a:xfrm>
            <a:off x="9834677" y="3154680"/>
            <a:ext cx="1808378" cy="502920"/>
          </a:xfrm>
          <a:prstGeom prst="rect">
            <a:avLst/>
          </a:prstGeom>
          <a:noFill/>
          <a:ln/>
        </p:spPr>
        <p:txBody>
          <a:bodyPr wrap="square" lIns="0" tIns="0" rIns="0" bIns="0" rtlCol="0" anchor="t"/>
          <a:lstStyle/>
          <a:p>
            <a:pPr algn="ctr" indent="0" marL="0">
              <a:buNone/>
            </a:pPr>
            <a:r>
              <a:rPr lang="en-US" sz="1000" dirty="0">
                <a:solidFill>
                  <a:srgbClr val="66807D"/>
                </a:solidFill>
                <a:latin typeface="Meiryo UI" pitchFamily="34" charset="0"/>
                <a:ea typeface="Meiryo UI" pitchFamily="34" charset="-122"/>
                <a:cs typeface="Meiryo UI" pitchFamily="34" charset="-120"/>
              </a:rPr>
              <a:t>12ヶ月目の</a:t>
            </a:r>
            <a:endParaRPr lang="en-US" sz="1000" dirty="0"/>
          </a:p>
          <a:p>
            <a:pPr algn="ctr" indent="0" marL="0">
              <a:buNone/>
            </a:pPr>
            <a:r>
              <a:rPr lang="en-US" sz="1000" dirty="0">
                <a:solidFill>
                  <a:srgbClr val="66807D"/>
                </a:solidFill>
                <a:latin typeface="Meiryo UI" pitchFamily="34" charset="0"/>
                <a:ea typeface="Meiryo UI" pitchFamily="34" charset="-122"/>
                <a:cs typeface="Meiryo UI" pitchFamily="34" charset="-120"/>
              </a:rPr>
              <a:t>月間売上の上乗せ</a:t>
            </a:r>
            <a:endParaRPr lang="en-US" sz="1000" dirty="0"/>
          </a:p>
        </p:txBody>
      </p:sp>
      <p:graphicFrame>
        <p:nvGraphicFramePr>
          <p:cNvPr id="49" name="Chart 0" descr=""/>
          <p:cNvGraphicFramePr/>
          <p:nvPr/>
        </p:nvGraphicFramePr>
        <p:xfrm>
          <a:off x="5852160" y="3840480"/>
          <a:ext cx="5790895" cy="2240280"/>
        </p:xfrm>
        <a:graphic xmlns:a="http://schemas.openxmlformats.org/drawingml/2006/main">
          <a:graphicData uri="http://schemas.openxmlformats.org/drawingml/2006/chart">
            <c:chart xmlns:c="http://schemas.openxmlformats.org/drawingml/2006/chart" r:id="rId1"/>
          </a:graphicData>
        </a:graphic>
      </p:graphicFrame>
      <p:sp>
        <p:nvSpPr>
          <p:cNvPr id="50" name="Text 47"/>
          <p:cNvSpPr txBox="1"/>
          <p:nvPr/>
        </p:nvSpPr>
        <p:spPr>
          <a:xfrm>
            <a:off x="5852160" y="6080760"/>
            <a:ext cx="5790895" cy="320040"/>
          </a:xfrm>
          <a:prstGeom prst="rect">
            <a:avLst/>
          </a:prstGeom>
          <a:noFill/>
          <a:ln/>
        </p:spPr>
        <p:txBody>
          <a:bodyPr wrap="square" lIns="0" tIns="0" rIns="0" bIns="0" rtlCol="0" anchor="t"/>
          <a:lstStyle/>
          <a:p>
            <a:pPr indent="0" marL="0">
              <a:buNone/>
            </a:pPr>
            <a:r>
              <a:rPr lang="en-US" sz="950" dirty="0">
                <a:solidFill>
                  <a:srgbClr val="66807D"/>
                </a:solidFill>
                <a:latin typeface="Meiryo UI" pitchFamily="34" charset="0"/>
                <a:ea typeface="Meiryo UI" pitchFamily="34" charset="-122"/>
                <a:cs typeface="Meiryo UI" pitchFamily="34" charset="-120"/>
              </a:rPr>
              <a:t>※立ち上げ期+1名/月、拡大期+2名/月、定着期+3名/月で段階的に増加と仮定。途中解約・受け入れ上限は考慮していない単純試算です。</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E07B39"/>
                </a:solidFill>
                <a:latin typeface="Meiryo UI" pitchFamily="34" charset="0"/>
                <a:ea typeface="Meiryo UI" pitchFamily="34" charset="-122"/>
                <a:cs typeface="Meiryo UI" pitchFamily="34" charset="-120"/>
              </a:rPr>
              <a:t>07｜NEXT STEP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1F5E5B"/>
                </a:solidFill>
                <a:latin typeface="Meiryo UI" pitchFamily="34" charset="0"/>
                <a:ea typeface="Meiryo UI" pitchFamily="34" charset="-122"/>
                <a:cs typeface="Meiryo UI" pitchFamily="34" charset="-120"/>
              </a:rPr>
              <a:t>今後のスケジュール：次回お打ち合わせからご契約・本格始動へ</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A8584"/>
                </a:solidFill>
                <a:latin typeface="Meiryo UI" pitchFamily="34" charset="0"/>
                <a:ea typeface="Meiryo UI" pitchFamily="34" charset="-122"/>
                <a:cs typeface="Meiryo UI" pitchFamily="34" charset="-120"/>
              </a:rPr>
              <a:t>23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A8584"/>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1242041" y="1874520"/>
            <a:ext cx="9707613" cy="0"/>
          </a:xfrm>
          <a:prstGeom prst="line">
            <a:avLst/>
          </a:prstGeom>
          <a:noFill/>
          <a:ln w="25400">
            <a:solidFill>
              <a:srgbClr val="B9D3CE"/>
            </a:solidFill>
            <a:prstDash val="solid"/>
          </a:ln>
        </p:spPr>
      </p:sp>
      <p:sp>
        <p:nvSpPr>
          <p:cNvPr id="7" name="Shape 5"/>
          <p:cNvSpPr/>
          <p:nvPr/>
        </p:nvSpPr>
        <p:spPr>
          <a:xfrm>
            <a:off x="1086593" y="1719072"/>
            <a:ext cx="310896" cy="310896"/>
          </a:xfrm>
          <a:prstGeom prst="ellipse">
            <a:avLst/>
          </a:prstGeom>
          <a:solidFill>
            <a:srgbClr val="E07B39"/>
          </a:solidFill>
          <a:ln w="25400">
            <a:solidFill>
              <a:srgbClr val="FFFFFF"/>
            </a:solidFill>
            <a:prstDash val="solid"/>
          </a:ln>
        </p:spPr>
      </p:sp>
      <p:sp>
        <p:nvSpPr>
          <p:cNvPr id="8" name="Text 6"/>
          <p:cNvSpPr txBox="1"/>
          <p:nvPr/>
        </p:nvSpPr>
        <p:spPr>
          <a:xfrm>
            <a:off x="585216" y="2194560"/>
            <a:ext cx="1313650" cy="502920"/>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本日</a:t>
            </a:r>
            <a:endParaRPr lang="en-US" sz="1200" dirty="0"/>
          </a:p>
        </p:txBody>
      </p:sp>
      <p:sp>
        <p:nvSpPr>
          <p:cNvPr id="9" name="Text 7"/>
          <p:cNvSpPr txBox="1"/>
          <p:nvPr/>
        </p:nvSpPr>
        <p:spPr>
          <a:xfrm>
            <a:off x="585216"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課題・現状数値の</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ヒアリング</a:t>
            </a:r>
            <a:endParaRPr lang="en-US" sz="1050" dirty="0"/>
          </a:p>
        </p:txBody>
      </p:sp>
      <p:sp>
        <p:nvSpPr>
          <p:cNvPr id="10" name="Shape 8"/>
          <p:cNvSpPr/>
          <p:nvPr/>
        </p:nvSpPr>
        <p:spPr>
          <a:xfrm>
            <a:off x="2473395" y="1719072"/>
            <a:ext cx="310896" cy="310896"/>
          </a:xfrm>
          <a:prstGeom prst="ellipse">
            <a:avLst/>
          </a:prstGeom>
          <a:solidFill>
            <a:srgbClr val="E07B39"/>
          </a:solidFill>
          <a:ln w="25400">
            <a:solidFill>
              <a:srgbClr val="FFFFFF"/>
            </a:solidFill>
            <a:prstDash val="solid"/>
          </a:ln>
        </p:spPr>
      </p:sp>
      <p:sp>
        <p:nvSpPr>
          <p:cNvPr id="11" name="Text 9"/>
          <p:cNvSpPr txBox="1"/>
          <p:nvPr/>
        </p:nvSpPr>
        <p:spPr>
          <a:xfrm>
            <a:off x="1972018" y="2194560"/>
            <a:ext cx="1313650" cy="502920"/>
          </a:xfrm>
          <a:prstGeom prst="rect">
            <a:avLst/>
          </a:prstGeom>
          <a:noFill/>
          <a:ln/>
        </p:spPr>
        <p:txBody>
          <a:bodyPr wrap="square" lIns="0" tIns="0" rIns="0" bIns="0" rtlCol="0" anchor="ctr"/>
          <a:lstStyle/>
          <a:p>
            <a:pPr algn="ctr" indent="0" marL="0">
              <a:buNone/>
            </a:pPr>
            <a:r>
              <a:rPr lang="en-US" sz="1200" b="1" dirty="0">
                <a:solidFill>
                  <a:srgbClr val="E07B39"/>
                </a:solidFill>
                <a:latin typeface="Meiryo UI" pitchFamily="34" charset="0"/>
                <a:ea typeface="Meiryo UI" pitchFamily="34" charset="-122"/>
                <a:cs typeface="Meiryo UI" pitchFamily="34" charset="-120"/>
              </a:rPr>
              <a:t>次回打ち合わせ</a:t>
            </a:r>
            <a:endParaRPr lang="en-US" sz="1200" dirty="0"/>
          </a:p>
        </p:txBody>
      </p:sp>
      <p:sp>
        <p:nvSpPr>
          <p:cNvPr id="12" name="Text 10"/>
          <p:cNvSpPr txBox="1"/>
          <p:nvPr/>
        </p:nvSpPr>
        <p:spPr>
          <a:xfrm>
            <a:off x="1972018"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試算の確定</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目標合意・正式提案</a:t>
            </a:r>
            <a:endParaRPr lang="en-US" sz="1050" dirty="0"/>
          </a:p>
        </p:txBody>
      </p:sp>
      <p:sp>
        <p:nvSpPr>
          <p:cNvPr id="13" name="Shape 11"/>
          <p:cNvSpPr/>
          <p:nvPr/>
        </p:nvSpPr>
        <p:spPr>
          <a:xfrm>
            <a:off x="3860197" y="1719072"/>
            <a:ext cx="310896" cy="310896"/>
          </a:xfrm>
          <a:prstGeom prst="ellipse">
            <a:avLst/>
          </a:prstGeom>
          <a:solidFill>
            <a:srgbClr val="1F5E5B"/>
          </a:solidFill>
          <a:ln w="25400">
            <a:solidFill>
              <a:srgbClr val="FFFFFF"/>
            </a:solidFill>
            <a:prstDash val="solid"/>
          </a:ln>
        </p:spPr>
      </p:sp>
      <p:sp>
        <p:nvSpPr>
          <p:cNvPr id="14" name="Text 12"/>
          <p:cNvSpPr txBox="1"/>
          <p:nvPr/>
        </p:nvSpPr>
        <p:spPr>
          <a:xfrm>
            <a:off x="3358820" y="2194560"/>
            <a:ext cx="1313650" cy="502920"/>
          </a:xfrm>
          <a:prstGeom prst="rect">
            <a:avLst/>
          </a:prstGeom>
          <a:noFill/>
          <a:ln/>
        </p:spPr>
        <p:txBody>
          <a:bodyPr wrap="square" lIns="0" tIns="0" rIns="0" bIns="0" rtlCol="0" anchor="ctr"/>
          <a:lstStyle/>
          <a:p>
            <a:pPr algn="ctr" indent="0" marL="0">
              <a:buNone/>
            </a:pPr>
            <a:r>
              <a:rPr lang="en-US" sz="1200" b="1" dirty="0">
                <a:solidFill>
                  <a:srgbClr val="1F5E5B"/>
                </a:solidFill>
                <a:latin typeface="Meiryo UI" pitchFamily="34" charset="0"/>
                <a:ea typeface="Meiryo UI" pitchFamily="34" charset="-122"/>
                <a:cs typeface="Meiryo UI" pitchFamily="34" charset="-120"/>
              </a:rPr>
              <a:t>ご契約〜1週間</a:t>
            </a:r>
            <a:endParaRPr lang="en-US" sz="1200" dirty="0"/>
          </a:p>
        </p:txBody>
      </p:sp>
      <p:sp>
        <p:nvSpPr>
          <p:cNvPr id="15" name="Text 13"/>
          <p:cNvSpPr txBox="1"/>
          <p:nvPr/>
        </p:nvSpPr>
        <p:spPr>
          <a:xfrm>
            <a:off x="3358820"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キックオフ</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KPI設定・素材確認</a:t>
            </a:r>
            <a:endParaRPr lang="en-US" sz="1050" dirty="0"/>
          </a:p>
        </p:txBody>
      </p:sp>
      <p:sp>
        <p:nvSpPr>
          <p:cNvPr id="16" name="Shape 14"/>
          <p:cNvSpPr/>
          <p:nvPr/>
        </p:nvSpPr>
        <p:spPr>
          <a:xfrm>
            <a:off x="5246999" y="1719072"/>
            <a:ext cx="310896" cy="310896"/>
          </a:xfrm>
          <a:prstGeom prst="ellipse">
            <a:avLst/>
          </a:prstGeom>
          <a:solidFill>
            <a:srgbClr val="1F5E5B"/>
          </a:solidFill>
          <a:ln w="25400">
            <a:solidFill>
              <a:srgbClr val="FFFFFF"/>
            </a:solidFill>
            <a:prstDash val="solid"/>
          </a:ln>
        </p:spPr>
      </p:sp>
      <p:sp>
        <p:nvSpPr>
          <p:cNvPr id="17" name="Text 15"/>
          <p:cNvSpPr txBox="1"/>
          <p:nvPr/>
        </p:nvSpPr>
        <p:spPr>
          <a:xfrm>
            <a:off x="4745622" y="2194560"/>
            <a:ext cx="1313650" cy="502920"/>
          </a:xfrm>
          <a:prstGeom prst="rect">
            <a:avLst/>
          </a:prstGeom>
          <a:noFill/>
          <a:ln/>
        </p:spPr>
        <p:txBody>
          <a:bodyPr wrap="square" lIns="0" tIns="0" rIns="0" bIns="0" rtlCol="0" anchor="ctr"/>
          <a:lstStyle/>
          <a:p>
            <a:pPr algn="ctr" indent="0" marL="0">
              <a:buNone/>
            </a:pPr>
            <a:r>
              <a:rPr lang="en-US" sz="1200" b="1" dirty="0">
                <a:solidFill>
                  <a:srgbClr val="1F5E5B"/>
                </a:solidFill>
                <a:latin typeface="Meiryo UI" pitchFamily="34" charset="0"/>
                <a:ea typeface="Meiryo UI" pitchFamily="34" charset="-122"/>
                <a:cs typeface="Meiryo UI" pitchFamily="34" charset="-120"/>
              </a:rPr>
              <a:t>〜2週間</a:t>
            </a:r>
            <a:endParaRPr lang="en-US" sz="1200" dirty="0"/>
          </a:p>
        </p:txBody>
      </p:sp>
      <p:sp>
        <p:nvSpPr>
          <p:cNvPr id="18" name="Text 16"/>
          <p:cNvSpPr txBox="1"/>
          <p:nvPr/>
        </p:nvSpPr>
        <p:spPr>
          <a:xfrm>
            <a:off x="4745622"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無料3本の</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初稿提出・修正</a:t>
            </a:r>
            <a:endParaRPr lang="en-US" sz="1050" dirty="0"/>
          </a:p>
        </p:txBody>
      </p:sp>
      <p:sp>
        <p:nvSpPr>
          <p:cNvPr id="19" name="Shape 17"/>
          <p:cNvSpPr/>
          <p:nvPr/>
        </p:nvSpPr>
        <p:spPr>
          <a:xfrm>
            <a:off x="6633801" y="1719072"/>
            <a:ext cx="310896" cy="310896"/>
          </a:xfrm>
          <a:prstGeom prst="ellipse">
            <a:avLst/>
          </a:prstGeom>
          <a:solidFill>
            <a:srgbClr val="1F5E5B"/>
          </a:solidFill>
          <a:ln w="25400">
            <a:solidFill>
              <a:srgbClr val="FFFFFF"/>
            </a:solidFill>
            <a:prstDash val="solid"/>
          </a:ln>
        </p:spPr>
      </p:sp>
      <p:sp>
        <p:nvSpPr>
          <p:cNvPr id="20" name="Text 18"/>
          <p:cNvSpPr txBox="1"/>
          <p:nvPr/>
        </p:nvSpPr>
        <p:spPr>
          <a:xfrm>
            <a:off x="6132424" y="2194560"/>
            <a:ext cx="1313650" cy="502920"/>
          </a:xfrm>
          <a:prstGeom prst="rect">
            <a:avLst/>
          </a:prstGeom>
          <a:noFill/>
          <a:ln/>
        </p:spPr>
        <p:txBody>
          <a:bodyPr wrap="square" lIns="0" tIns="0" rIns="0" bIns="0" rtlCol="0" anchor="ctr"/>
          <a:lstStyle/>
          <a:p>
            <a:pPr algn="ctr" indent="0" marL="0">
              <a:buNone/>
            </a:pPr>
            <a:r>
              <a:rPr lang="en-US" sz="1200" b="1" dirty="0">
                <a:solidFill>
                  <a:srgbClr val="1F5E5B"/>
                </a:solidFill>
                <a:latin typeface="Meiryo UI" pitchFamily="34" charset="0"/>
                <a:ea typeface="Meiryo UI" pitchFamily="34" charset="-122"/>
                <a:cs typeface="Meiryo UI" pitchFamily="34" charset="-120"/>
              </a:rPr>
              <a:t>3〜5週目</a:t>
            </a:r>
            <a:endParaRPr lang="en-US" sz="1200" dirty="0"/>
          </a:p>
        </p:txBody>
      </p:sp>
      <p:sp>
        <p:nvSpPr>
          <p:cNvPr id="21" name="Text 19"/>
          <p:cNvSpPr txBox="1"/>
          <p:nvPr/>
        </p:nvSpPr>
        <p:spPr>
          <a:xfrm>
            <a:off x="6132424"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配信・送付の実行</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（KPI計測開始）</a:t>
            </a:r>
            <a:endParaRPr lang="en-US" sz="1050" dirty="0"/>
          </a:p>
        </p:txBody>
      </p:sp>
      <p:sp>
        <p:nvSpPr>
          <p:cNvPr id="22" name="Shape 20"/>
          <p:cNvSpPr/>
          <p:nvPr/>
        </p:nvSpPr>
        <p:spPr>
          <a:xfrm>
            <a:off x="8020602" y="1719072"/>
            <a:ext cx="310896" cy="310896"/>
          </a:xfrm>
          <a:prstGeom prst="ellipse">
            <a:avLst/>
          </a:prstGeom>
          <a:solidFill>
            <a:srgbClr val="1F5E5B"/>
          </a:solidFill>
          <a:ln w="25400">
            <a:solidFill>
              <a:srgbClr val="FFFFFF"/>
            </a:solidFill>
            <a:prstDash val="solid"/>
          </a:ln>
        </p:spPr>
      </p:sp>
      <p:sp>
        <p:nvSpPr>
          <p:cNvPr id="23" name="Text 21"/>
          <p:cNvSpPr txBox="1"/>
          <p:nvPr/>
        </p:nvSpPr>
        <p:spPr>
          <a:xfrm>
            <a:off x="7519226" y="2194560"/>
            <a:ext cx="1313650" cy="502920"/>
          </a:xfrm>
          <a:prstGeom prst="rect">
            <a:avLst/>
          </a:prstGeom>
          <a:noFill/>
          <a:ln/>
        </p:spPr>
        <p:txBody>
          <a:bodyPr wrap="square" lIns="0" tIns="0" rIns="0" bIns="0" rtlCol="0" anchor="ctr"/>
          <a:lstStyle/>
          <a:p>
            <a:pPr algn="ctr" indent="0" marL="0">
              <a:buNone/>
            </a:pPr>
            <a:r>
              <a:rPr lang="en-US" sz="1200" b="1" dirty="0">
                <a:solidFill>
                  <a:srgbClr val="1F5E5B"/>
                </a:solidFill>
                <a:latin typeface="Meiryo UI" pitchFamily="34" charset="0"/>
                <a:ea typeface="Meiryo UI" pitchFamily="34" charset="-122"/>
                <a:cs typeface="Meiryo UI" pitchFamily="34" charset="-120"/>
              </a:rPr>
              <a:t>6週目</a:t>
            </a:r>
            <a:endParaRPr lang="en-US" sz="1200" dirty="0"/>
          </a:p>
        </p:txBody>
      </p:sp>
      <p:sp>
        <p:nvSpPr>
          <p:cNvPr id="24" name="Text 22"/>
          <p:cNvSpPr txBox="1"/>
          <p:nvPr/>
        </p:nvSpPr>
        <p:spPr>
          <a:xfrm>
            <a:off x="7519226"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効果検証レポート会</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 フェーズ2へ</a:t>
            </a:r>
            <a:endParaRPr lang="en-US" sz="1050" dirty="0"/>
          </a:p>
        </p:txBody>
      </p:sp>
      <p:sp>
        <p:nvSpPr>
          <p:cNvPr id="25" name="Shape 23"/>
          <p:cNvSpPr/>
          <p:nvPr/>
        </p:nvSpPr>
        <p:spPr>
          <a:xfrm>
            <a:off x="9407404" y="1719072"/>
            <a:ext cx="310896" cy="310896"/>
          </a:xfrm>
          <a:prstGeom prst="ellipse">
            <a:avLst/>
          </a:prstGeom>
          <a:solidFill>
            <a:srgbClr val="163F3D"/>
          </a:solidFill>
          <a:ln w="25400">
            <a:solidFill>
              <a:srgbClr val="FFFFFF"/>
            </a:solidFill>
            <a:prstDash val="solid"/>
          </a:ln>
        </p:spPr>
      </p:sp>
      <p:sp>
        <p:nvSpPr>
          <p:cNvPr id="26" name="Text 24"/>
          <p:cNvSpPr txBox="1"/>
          <p:nvPr/>
        </p:nvSpPr>
        <p:spPr>
          <a:xfrm>
            <a:off x="8906027" y="2194560"/>
            <a:ext cx="1313650" cy="502920"/>
          </a:xfrm>
          <a:prstGeom prst="rect">
            <a:avLst/>
          </a:prstGeom>
          <a:noFill/>
          <a:ln/>
        </p:spPr>
        <p:txBody>
          <a:bodyPr wrap="square" lIns="0" tIns="0" rIns="0" bIns="0" rtlCol="0" anchor="ctr"/>
          <a:lstStyle/>
          <a:p>
            <a:pPr algn="ctr" indent="0" marL="0">
              <a:buNone/>
            </a:pPr>
            <a:r>
              <a:rPr lang="en-US" sz="1200" b="1" dirty="0">
                <a:solidFill>
                  <a:srgbClr val="163F3D"/>
                </a:solidFill>
                <a:latin typeface="Meiryo UI" pitchFamily="34" charset="0"/>
                <a:ea typeface="Meiryo UI" pitchFamily="34" charset="-122"/>
                <a:cs typeface="Meiryo UI" pitchFamily="34" charset="-120"/>
              </a:rPr>
              <a:t>3ヶ月目</a:t>
            </a:r>
            <a:endParaRPr lang="en-US" sz="1200" dirty="0"/>
          </a:p>
        </p:txBody>
      </p:sp>
      <p:sp>
        <p:nvSpPr>
          <p:cNvPr id="27" name="Text 25"/>
          <p:cNvSpPr txBox="1"/>
          <p:nvPr/>
        </p:nvSpPr>
        <p:spPr>
          <a:xfrm>
            <a:off x="8906027"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中間レビュー</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試算との対比・補正</a:t>
            </a:r>
            <a:endParaRPr lang="en-US" sz="1050" dirty="0"/>
          </a:p>
        </p:txBody>
      </p:sp>
      <p:sp>
        <p:nvSpPr>
          <p:cNvPr id="28" name="Shape 26"/>
          <p:cNvSpPr/>
          <p:nvPr/>
        </p:nvSpPr>
        <p:spPr>
          <a:xfrm>
            <a:off x="10794206" y="1719072"/>
            <a:ext cx="310896" cy="310896"/>
          </a:xfrm>
          <a:prstGeom prst="ellipse">
            <a:avLst/>
          </a:prstGeom>
          <a:solidFill>
            <a:srgbClr val="163F3D"/>
          </a:solidFill>
          <a:ln w="25400">
            <a:solidFill>
              <a:srgbClr val="FFFFFF"/>
            </a:solidFill>
            <a:prstDash val="solid"/>
          </a:ln>
        </p:spPr>
      </p:sp>
      <p:sp>
        <p:nvSpPr>
          <p:cNvPr id="29" name="Text 27"/>
          <p:cNvSpPr txBox="1"/>
          <p:nvPr/>
        </p:nvSpPr>
        <p:spPr>
          <a:xfrm>
            <a:off x="10292829" y="2194560"/>
            <a:ext cx="1313650" cy="502920"/>
          </a:xfrm>
          <a:prstGeom prst="rect">
            <a:avLst/>
          </a:prstGeom>
          <a:noFill/>
          <a:ln/>
        </p:spPr>
        <p:txBody>
          <a:bodyPr wrap="square" lIns="0" tIns="0" rIns="0" bIns="0" rtlCol="0" anchor="ctr"/>
          <a:lstStyle/>
          <a:p>
            <a:pPr algn="ctr" indent="0" marL="0">
              <a:buNone/>
            </a:pPr>
            <a:r>
              <a:rPr lang="en-US" sz="1200" b="1" dirty="0">
                <a:solidFill>
                  <a:srgbClr val="163F3D"/>
                </a:solidFill>
                <a:latin typeface="Meiryo UI" pitchFamily="34" charset="0"/>
                <a:ea typeface="Meiryo UI" pitchFamily="34" charset="-122"/>
                <a:cs typeface="Meiryo UI" pitchFamily="34" charset="-120"/>
              </a:rPr>
              <a:t>12ヶ月目</a:t>
            </a:r>
            <a:endParaRPr lang="en-US" sz="1200" dirty="0"/>
          </a:p>
        </p:txBody>
      </p:sp>
      <p:sp>
        <p:nvSpPr>
          <p:cNvPr id="30" name="Text 28"/>
          <p:cNvSpPr txBox="1"/>
          <p:nvPr/>
        </p:nvSpPr>
        <p:spPr>
          <a:xfrm>
            <a:off x="10292829" y="2697480"/>
            <a:ext cx="1313650" cy="731520"/>
          </a:xfrm>
          <a:prstGeom prst="rect">
            <a:avLst/>
          </a:prstGeom>
          <a:noFill/>
          <a:ln/>
        </p:spPr>
        <p:txBody>
          <a:bodyPr wrap="square" lIns="0" tIns="0" rIns="0" bIns="0" rtlCol="0" anchor="t"/>
          <a:lstStyle/>
          <a:p>
            <a:pPr algn="ctr" indent="0" marL="0">
              <a:buNone/>
            </a:pPr>
            <a:r>
              <a:rPr lang="en-US" sz="1050" dirty="0">
                <a:solidFill>
                  <a:srgbClr val="2A3332"/>
                </a:solidFill>
                <a:latin typeface="Meiryo UI" pitchFamily="34" charset="0"/>
                <a:ea typeface="Meiryo UI" pitchFamily="34" charset="-122"/>
                <a:cs typeface="Meiryo UI" pitchFamily="34" charset="-120"/>
              </a:rPr>
              <a:t>年間振り返り</a:t>
            </a:r>
            <a:endParaRPr lang="en-US" sz="1050" dirty="0"/>
          </a:p>
          <a:p>
            <a:pPr algn="ctr" indent="0" marL="0">
              <a:buNone/>
            </a:pPr>
            <a:r>
              <a:rPr lang="en-US" sz="1050" dirty="0">
                <a:solidFill>
                  <a:srgbClr val="2A3332"/>
                </a:solidFill>
                <a:latin typeface="Meiryo UI" pitchFamily="34" charset="0"/>
                <a:ea typeface="Meiryo UI" pitchFamily="34" charset="-122"/>
                <a:cs typeface="Meiryo UI" pitchFamily="34" charset="-120"/>
              </a:rPr>
              <a:t>次年度計画</a:t>
            </a:r>
            <a:endParaRPr lang="en-US" sz="1050" dirty="0"/>
          </a:p>
        </p:txBody>
      </p:sp>
      <p:sp>
        <p:nvSpPr>
          <p:cNvPr id="31" name="Shape 29"/>
          <p:cNvSpPr/>
          <p:nvPr/>
        </p:nvSpPr>
        <p:spPr>
          <a:xfrm>
            <a:off x="1981162" y="1463040"/>
            <a:ext cx="1295362" cy="2057400"/>
          </a:xfrm>
          <a:prstGeom prst="roundRect">
            <a:avLst>
              <a:gd name="adj" fmla="val 7059"/>
            </a:avLst>
          </a:prstGeom>
          <a:solidFill>
            <a:srgbClr val="E07B39">
              <a:alpha val="12000"/>
            </a:srgbClr>
          </a:solidFill>
          <a:ln w="15875">
            <a:solidFill>
              <a:srgbClr val="E07B39"/>
            </a:solidFill>
            <a:prstDash val="dash"/>
          </a:ln>
        </p:spPr>
      </p:sp>
      <p:sp>
        <p:nvSpPr>
          <p:cNvPr id="32" name="Shape 30"/>
          <p:cNvSpPr/>
          <p:nvPr/>
        </p:nvSpPr>
        <p:spPr>
          <a:xfrm>
            <a:off x="548640" y="3931920"/>
            <a:ext cx="5410048" cy="2011680"/>
          </a:xfrm>
          <a:prstGeom prst="roundRect">
            <a:avLst>
              <a:gd name="adj" fmla="val 5455"/>
            </a:avLst>
          </a:prstGeom>
          <a:solidFill>
            <a:srgbClr val="FCEBDD"/>
          </a:solidFill>
          <a:ln w="12700">
            <a:solidFill>
              <a:srgbClr val="FCEBDD"/>
            </a:solidFill>
            <a:prstDash val="solid"/>
          </a:ln>
        </p:spPr>
      </p:sp>
      <p:sp>
        <p:nvSpPr>
          <p:cNvPr id="33" name="Shape 31"/>
          <p:cNvSpPr/>
          <p:nvPr/>
        </p:nvSpPr>
        <p:spPr>
          <a:xfrm>
            <a:off x="822960" y="4160520"/>
            <a:ext cx="548640" cy="548640"/>
          </a:xfrm>
          <a:prstGeom prst="ellipse">
            <a:avLst/>
          </a:prstGeom>
          <a:solidFill>
            <a:srgbClr val="E07B39"/>
          </a:solidFill>
          <a:ln w="12700">
            <a:solidFill>
              <a:srgbClr val="E07B39"/>
            </a:solidFill>
            <a:prstDash val="solid"/>
          </a:ln>
        </p:spPr>
      </p:sp>
      <p:pic>
        <p:nvPicPr>
          <p:cNvPr id="34" name="Image 0" descr="preencoded.png">    </p:cNvPr>
          <p:cNvPicPr>
            <a:picLocks noChangeAspect="1"/>
          </p:cNvPicPr>
          <p:nvPr/>
        </p:nvPicPr>
        <p:blipFill>
          <a:blip r:embed="rId1"/>
          <a:stretch>
            <a:fillRect/>
          </a:stretch>
        </p:blipFill>
        <p:spPr>
          <a:xfrm>
            <a:off x="965606" y="4303166"/>
            <a:ext cx="263347" cy="263347"/>
          </a:xfrm>
          <a:prstGeom prst="rect">
            <a:avLst/>
          </a:prstGeom>
        </p:spPr>
      </p:pic>
      <p:sp>
        <p:nvSpPr>
          <p:cNvPr id="35" name="Text 32"/>
          <p:cNvSpPr txBox="1"/>
          <p:nvPr/>
        </p:nvSpPr>
        <p:spPr>
          <a:xfrm>
            <a:off x="1508760" y="4160520"/>
            <a:ext cx="4267048" cy="548640"/>
          </a:xfrm>
          <a:prstGeom prst="rect">
            <a:avLst/>
          </a:prstGeom>
          <a:noFill/>
          <a:ln/>
        </p:spPr>
        <p:txBody>
          <a:bodyPr wrap="square" lIns="0" tIns="0" rIns="0" bIns="0" rtlCol="0" anchor="ctr"/>
          <a:lstStyle/>
          <a:p>
            <a:pPr indent="0" marL="0">
              <a:buNone/>
            </a:pPr>
            <a:r>
              <a:rPr lang="en-US" sz="1400" b="1" dirty="0">
                <a:solidFill>
                  <a:srgbClr val="163F3D"/>
                </a:solidFill>
                <a:latin typeface="Meiryo UI" pitchFamily="34" charset="0"/>
                <a:ea typeface="Meiryo UI" pitchFamily="34" charset="-122"/>
                <a:cs typeface="Meiryo UI" pitchFamily="34" charset="-120"/>
              </a:rPr>
              <a:t>次回までに貴社にご準備いただきたいこと</a:t>
            </a:r>
            <a:endParaRPr lang="en-US" sz="1400" dirty="0"/>
          </a:p>
        </p:txBody>
      </p:sp>
      <p:sp>
        <p:nvSpPr>
          <p:cNvPr id="36" name="Text 33"/>
          <p:cNvSpPr txBox="1"/>
          <p:nvPr/>
        </p:nvSpPr>
        <p:spPr>
          <a:xfrm>
            <a:off x="868680" y="4892040"/>
            <a:ext cx="4769968"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現状数値の確認（利用者数・月間新規・紹介経路の内訳）</a:t>
            </a:r>
            <a:endParaRPr lang="en-US" sz="1250" dirty="0"/>
          </a:p>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主な紹介元（ケアマネ・施設・医療機関）のリスト</a:t>
            </a:r>
            <a:endParaRPr lang="en-US" sz="1250" dirty="0"/>
          </a:p>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HP・SNSアカウントの有無と、ロゴ・写真素材</a:t>
            </a:r>
            <a:endParaRPr lang="en-US" sz="1250" dirty="0"/>
          </a:p>
        </p:txBody>
      </p:sp>
      <p:sp>
        <p:nvSpPr>
          <p:cNvPr id="37" name="Shape 34"/>
          <p:cNvSpPr/>
          <p:nvPr/>
        </p:nvSpPr>
        <p:spPr>
          <a:xfrm>
            <a:off x="6233008" y="3931920"/>
            <a:ext cx="5410048" cy="2011680"/>
          </a:xfrm>
          <a:prstGeom prst="roundRect">
            <a:avLst>
              <a:gd name="adj" fmla="val 5455"/>
            </a:avLst>
          </a:prstGeom>
          <a:solidFill>
            <a:srgbClr val="E7F2EF"/>
          </a:solidFill>
          <a:ln w="12700">
            <a:solidFill>
              <a:srgbClr val="E7F2EF"/>
            </a:solidFill>
            <a:prstDash val="solid"/>
          </a:ln>
        </p:spPr>
      </p:sp>
      <p:sp>
        <p:nvSpPr>
          <p:cNvPr id="38" name="Shape 35"/>
          <p:cNvSpPr/>
          <p:nvPr/>
        </p:nvSpPr>
        <p:spPr>
          <a:xfrm>
            <a:off x="6507328" y="4160520"/>
            <a:ext cx="548640" cy="548640"/>
          </a:xfrm>
          <a:prstGeom prst="ellipse">
            <a:avLst/>
          </a:prstGeom>
          <a:solidFill>
            <a:srgbClr val="1F5E5B"/>
          </a:solidFill>
          <a:ln w="12700">
            <a:solidFill>
              <a:srgbClr val="1F5E5B"/>
            </a:solidFill>
            <a:prstDash val="solid"/>
          </a:ln>
        </p:spPr>
      </p:sp>
      <p:pic>
        <p:nvPicPr>
          <p:cNvPr id="39" name="Image 1" descr="preencoded.png">    </p:cNvPr>
          <p:cNvPicPr>
            <a:picLocks noChangeAspect="1"/>
          </p:cNvPicPr>
          <p:nvPr/>
        </p:nvPicPr>
        <p:blipFill>
          <a:blip r:embed="rId2"/>
          <a:stretch>
            <a:fillRect/>
          </a:stretch>
        </p:blipFill>
        <p:spPr>
          <a:xfrm>
            <a:off x="6649974" y="4303166"/>
            <a:ext cx="263347" cy="263347"/>
          </a:xfrm>
          <a:prstGeom prst="rect">
            <a:avLst/>
          </a:prstGeom>
        </p:spPr>
      </p:pic>
      <p:sp>
        <p:nvSpPr>
          <p:cNvPr id="40" name="Text 36"/>
          <p:cNvSpPr txBox="1"/>
          <p:nvPr/>
        </p:nvSpPr>
        <p:spPr>
          <a:xfrm>
            <a:off x="7193128" y="4160520"/>
            <a:ext cx="4267048" cy="548640"/>
          </a:xfrm>
          <a:prstGeom prst="rect">
            <a:avLst/>
          </a:prstGeom>
          <a:noFill/>
          <a:ln/>
        </p:spPr>
        <p:txBody>
          <a:bodyPr wrap="square" lIns="0" tIns="0" rIns="0" bIns="0" rtlCol="0" anchor="ctr"/>
          <a:lstStyle/>
          <a:p>
            <a:pPr indent="0" marL="0">
              <a:buNone/>
            </a:pPr>
            <a:r>
              <a:rPr lang="en-US" sz="1400" b="1" dirty="0">
                <a:solidFill>
                  <a:srgbClr val="163F3D"/>
                </a:solidFill>
                <a:latin typeface="Meiryo UI" pitchFamily="34" charset="0"/>
                <a:ea typeface="Meiryo UI" pitchFamily="34" charset="-122"/>
                <a:cs typeface="Meiryo UI" pitchFamily="34" charset="-120"/>
              </a:rPr>
              <a:t>次回お打ち合わせで弊社がご提示するもの</a:t>
            </a:r>
            <a:endParaRPr lang="en-US" sz="1400" dirty="0"/>
          </a:p>
        </p:txBody>
      </p:sp>
      <p:sp>
        <p:nvSpPr>
          <p:cNvPr id="41" name="Text 37"/>
          <p:cNvSpPr txBox="1"/>
          <p:nvPr/>
        </p:nvSpPr>
        <p:spPr>
          <a:xfrm>
            <a:off x="6553048" y="4892040"/>
            <a:ext cx="4769968"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実数値を反映した目標値シミュレーション（確定版）</a:t>
            </a:r>
            <a:endParaRPr lang="en-US" sz="1250" dirty="0"/>
          </a:p>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無料3本の台本ドラフト（ご用意資料をもとに作成）</a:t>
            </a:r>
            <a:endParaRPr lang="en-US" sz="1250" dirty="0"/>
          </a:p>
          <a:p>
            <a:pPr marL="342900" indent="-342900">
              <a:spcAft>
                <a:spcPts val="600"/>
              </a:spcAft>
              <a:buSzPct val="100000"/>
              <a:buChar char="•"/>
            </a:pPr>
            <a:r>
              <a:rPr lang="en-US" sz="1250" dirty="0">
                <a:solidFill>
                  <a:srgbClr val="2A3332"/>
                </a:solidFill>
                <a:latin typeface="Meiryo UI" pitchFamily="34" charset="0"/>
                <a:ea typeface="Meiryo UI" pitchFamily="34" charset="-122"/>
                <a:cs typeface="Meiryo UI" pitchFamily="34" charset="-120"/>
              </a:rPr>
              <a:t>プッシュ送付先リスト案と送付フロー案</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3F3D"/>
        </a:solidFill>
      </p:bgPr>
    </p:bg>
    <p:spTree>
      <p:nvGrpSpPr>
        <p:cNvPr id="1" name=""/>
        <p:cNvGrpSpPr/>
        <p:nvPr/>
      </p:nvGrpSpPr>
      <p:grpSpPr>
        <a:xfrm>
          <a:off x="0" y="0"/>
          <a:ext cx="0" cy="0"/>
          <a:chOff x="0" y="0"/>
          <a:chExt cx="0" cy="0"/>
        </a:xfrm>
      </p:grpSpPr>
      <p:sp>
        <p:nvSpPr>
          <p:cNvPr id="2" name="Shape 0"/>
          <p:cNvSpPr/>
          <p:nvPr/>
        </p:nvSpPr>
        <p:spPr>
          <a:xfrm>
            <a:off x="-1097280" y="3840480"/>
            <a:ext cx="4114800" cy="4114800"/>
          </a:xfrm>
          <a:prstGeom prst="ellipse">
            <a:avLst/>
          </a:prstGeom>
          <a:solidFill>
            <a:srgbClr val="1F5E5B"/>
          </a:solidFill>
          <a:ln w="12700">
            <a:solidFill>
              <a:srgbClr val="1F5E5B"/>
            </a:solidFill>
            <a:prstDash val="solid"/>
          </a:ln>
        </p:spPr>
      </p:sp>
      <p:sp>
        <p:nvSpPr>
          <p:cNvPr id="3" name="Shape 1"/>
          <p:cNvSpPr/>
          <p:nvPr/>
        </p:nvSpPr>
        <p:spPr>
          <a:xfrm>
            <a:off x="10332720" y="-731520"/>
            <a:ext cx="2377440" cy="2377440"/>
          </a:xfrm>
          <a:prstGeom prst="ellipse">
            <a:avLst/>
          </a:prstGeom>
          <a:solidFill>
            <a:srgbClr val="E07B39">
              <a:alpha val="80000"/>
            </a:srgbClr>
          </a:solidFill>
          <a:ln w="12700">
            <a:solidFill>
              <a:srgbClr val="E07B39"/>
            </a:solidFill>
            <a:prstDash val="solid"/>
          </a:ln>
        </p:spPr>
      </p:sp>
      <p:sp>
        <p:nvSpPr>
          <p:cNvPr id="4" name="Text 2"/>
          <p:cNvSpPr txBox="1"/>
          <p:nvPr/>
        </p:nvSpPr>
        <p:spPr>
          <a:xfrm>
            <a:off x="1097280" y="822960"/>
            <a:ext cx="5486400" cy="365760"/>
          </a:xfrm>
          <a:prstGeom prst="rect">
            <a:avLst/>
          </a:prstGeom>
          <a:noFill/>
          <a:ln/>
        </p:spPr>
        <p:txBody>
          <a:bodyPr wrap="square" lIns="0" tIns="0" rIns="0" bIns="0" rtlCol="0" anchor="t"/>
          <a:lstStyle/>
          <a:p>
            <a:pPr indent="0" marL="0">
              <a:buNone/>
            </a:pPr>
            <a:r>
              <a:rPr lang="en-US" sz="1400" b="1" spc="200" kern="0" dirty="0">
                <a:solidFill>
                  <a:srgbClr val="F2A673"/>
                </a:solidFill>
                <a:latin typeface="Meiryo UI" pitchFamily="34" charset="0"/>
                <a:ea typeface="Meiryo UI" pitchFamily="34" charset="-122"/>
                <a:cs typeface="Meiryo UI" pitchFamily="34" charset="-120"/>
              </a:rPr>
              <a:t>おわりに</a:t>
            </a:r>
            <a:endParaRPr lang="en-US" sz="1400" dirty="0"/>
          </a:p>
        </p:txBody>
      </p:sp>
      <p:sp>
        <p:nvSpPr>
          <p:cNvPr id="5" name="Text 3"/>
          <p:cNvSpPr txBox="1"/>
          <p:nvPr/>
        </p:nvSpPr>
        <p:spPr>
          <a:xfrm>
            <a:off x="1097280" y="1325880"/>
            <a:ext cx="10058400" cy="1463040"/>
          </a:xfrm>
          <a:prstGeom prst="rect">
            <a:avLst/>
          </a:prstGeom>
          <a:noFill/>
          <a:ln/>
        </p:spPr>
        <p:txBody>
          <a:bodyPr wrap="square" lIns="0" tIns="0" rIns="0" bIns="0" rtlCol="0" anchor="t"/>
          <a:lstStyle/>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「動画をつくる」のではなく、</a:t>
            </a:r>
            <a:endParaRPr lang="en-US" sz="3200" dirty="0"/>
          </a:p>
          <a:p>
            <a:pPr indent="0" marL="0">
              <a:lnSpc>
                <a:spcPct val="110000"/>
              </a:lnSpc>
              <a:buNone/>
            </a:pPr>
            <a:r>
              <a:rPr lang="en-US" sz="3200" b="1" dirty="0">
                <a:solidFill>
                  <a:srgbClr val="FFFFFF"/>
                </a:solidFill>
                <a:latin typeface="Meiryo UI" pitchFamily="34" charset="0"/>
                <a:ea typeface="Meiryo UI" pitchFamily="34" charset="-122"/>
                <a:cs typeface="Meiryo UI" pitchFamily="34" charset="-120"/>
              </a:rPr>
              <a:t>「事業を伸ばす」ことにコミットします。</a:t>
            </a:r>
            <a:endParaRPr lang="en-US" sz="3200" dirty="0"/>
          </a:p>
        </p:txBody>
      </p:sp>
      <p:sp>
        <p:nvSpPr>
          <p:cNvPr id="6" name="Text 4"/>
          <p:cNvSpPr txBox="1"/>
          <p:nvPr/>
        </p:nvSpPr>
        <p:spPr>
          <a:xfrm>
            <a:off x="3566160" y="3063240"/>
            <a:ext cx="7863840" cy="2194560"/>
          </a:xfrm>
          <a:prstGeom prst="rect">
            <a:avLst/>
          </a:prstGeom>
          <a:noFill/>
          <a:ln/>
        </p:spPr>
        <p:txBody>
          <a:bodyPr wrap="square" lIns="0" tIns="0" rIns="0" bIns="0" rtlCol="0" anchor="t"/>
          <a:lstStyle/>
          <a:p>
            <a:pPr indent="0" marL="0">
              <a:lnSpc>
                <a:spcPct val="125000"/>
              </a:lnSpc>
              <a:buNone/>
            </a:pPr>
            <a:r>
              <a:rPr lang="en-US" sz="1400" dirty="0">
                <a:solidFill>
                  <a:srgbClr val="D6E6E3"/>
                </a:solidFill>
                <a:latin typeface="Meiryo UI" pitchFamily="34" charset="0"/>
                <a:ea typeface="Meiryo UI" pitchFamily="34" charset="-122"/>
                <a:cs typeface="Meiryo UI" pitchFamily="34" charset="-120"/>
              </a:rPr>
              <a:t>貴社は、保険事業で長年培ってきた「地域の方との深い信頼関係」と、7年にわたる訪問マッサージ事業の「現場の実績」という、他社が簡単には真似できない資産をお持ちです。</a:t>
            </a:r>
            <a:endParaRPr lang="en-US" sz="1400" dirty="0"/>
          </a:p>
          <a:p>
            <a:pPr indent="0" marL="0">
              <a:lnSpc>
                <a:spcPct val="125000"/>
              </a:lnSpc>
              <a:buNone/>
            </a:pPr>
            <a:endParaRPr lang="en-US" sz="1400" dirty="0"/>
          </a:p>
          <a:p>
            <a:pPr indent="0" marL="0">
              <a:lnSpc>
                <a:spcPct val="125000"/>
              </a:lnSpc>
              <a:buNone/>
            </a:pPr>
            <a:r>
              <a:rPr lang="en-US" sz="1400" dirty="0">
                <a:solidFill>
                  <a:srgbClr val="D6E6E3"/>
                </a:solidFill>
                <a:latin typeface="Meiryo UI" pitchFamily="34" charset="0"/>
                <a:ea typeface="Meiryo UI" pitchFamily="34" charset="-122"/>
                <a:cs typeface="Meiryo UI" pitchFamily="34" charset="-120"/>
              </a:rPr>
              <a:t>合併を経て新体制となった今こそ、その資産を動画と仕組みで地域全体に届け、「安心・安全・安堵」を届ける事業者として選ばれ続ける体制をつくる絶好のタイミングです。</a:t>
            </a:r>
            <a:endParaRPr lang="en-US" sz="1400" dirty="0"/>
          </a:p>
        </p:txBody>
      </p:sp>
      <p:sp>
        <p:nvSpPr>
          <p:cNvPr id="7" name="Text 5"/>
          <p:cNvSpPr txBox="1"/>
          <p:nvPr/>
        </p:nvSpPr>
        <p:spPr>
          <a:xfrm>
            <a:off x="3566160" y="5440680"/>
            <a:ext cx="7863840" cy="457200"/>
          </a:xfrm>
          <a:prstGeom prst="rect">
            <a:avLst/>
          </a:prstGeom>
          <a:noFill/>
          <a:ln/>
        </p:spPr>
        <p:txBody>
          <a:bodyPr wrap="square" lIns="0" tIns="0" rIns="0" bIns="0" rtlCol="0" anchor="t"/>
          <a:lstStyle/>
          <a:p>
            <a:pPr indent="0" marL="0">
              <a:buNone/>
            </a:pPr>
            <a:r>
              <a:rPr lang="en-US" sz="1700" b="1" dirty="0">
                <a:solidFill>
                  <a:srgbClr val="F2A673"/>
                </a:solidFill>
                <a:latin typeface="Meiryo UI" pitchFamily="34" charset="0"/>
                <a:ea typeface="Meiryo UI" pitchFamily="34" charset="-122"/>
                <a:cs typeface="Meiryo UI" pitchFamily="34" charset="-120"/>
              </a:rPr>
              <a:t>次回お打ち合わせで、ぜひ次の一歩をご一緒に踏み出させてください。</a:t>
            </a:r>
            <a:endParaRPr lang="en-US" sz="1700" dirty="0"/>
          </a:p>
        </p:txBody>
      </p:sp>
      <p:sp>
        <p:nvSpPr>
          <p:cNvPr id="8" name="Text 6"/>
          <p:cNvSpPr txBox="1"/>
          <p:nvPr/>
        </p:nvSpPr>
        <p:spPr>
          <a:xfrm>
            <a:off x="3566160" y="6080760"/>
            <a:ext cx="7863840" cy="320040"/>
          </a:xfrm>
          <a:prstGeom prst="rect">
            <a:avLst/>
          </a:prstGeom>
          <a:noFill/>
          <a:ln/>
        </p:spPr>
        <p:txBody>
          <a:bodyPr wrap="square" lIns="0" tIns="0" rIns="0" bIns="0" rtlCol="0" anchor="t"/>
          <a:lstStyle/>
          <a:p>
            <a:pPr indent="0" marL="0">
              <a:buNone/>
            </a:pPr>
            <a:r>
              <a:rPr lang="en-US" sz="1200"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株式会社アイドマ・ホールディングス</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訪問マッサージ事業 営業・マーケティング総合改革提案書</dc:title>
  <dc:subject>PptxGenJS Presentation</dc:subject>
  <dc:creator>PptxGenJS</dc:creator>
  <cp:lastModifiedBy>PptxGenJS</cp:lastModifiedBy>
  <cp:revision>1</cp:revision>
  <dcterms:created xsi:type="dcterms:W3CDTF">2026-09-23T06:54:43Z</dcterms:created>
  <dcterms:modified xsi:type="dcterms:W3CDTF">2026-09-23T06:54:43Z</dcterms:modified>
</cp:coreProperties>
</file>