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前回お約束した「MiTok以外のサービス（Web強化・マンパワー補強など）のご案内」用の資料。2回目の提案書の19ページ（フェーズ2）の後に差し込む、または単体で説明する。
選定の考え方：営業支援・商談支援・クラプロは標準で提案。人事支援は「業務多忙・人手不足・スタッフのPR意識が低い」という課題に合わせて追加。フィールドワーク支援は現場作業のない業種のため今回は外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97280"/>
            <a:ext cx="4937760" cy="493776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65760"/>
            <a:ext cx="2011680" cy="2011680"/>
          </a:xfrm>
          <a:prstGeom prst="ellipse">
            <a:avLst/>
          </a:prstGeom>
          <a:solidFill>
            <a:srgbClr val="C8962E">
              <a:alpha val="85000"/>
            </a:srgbClr>
          </a:solidFill>
          <a:ln w="12700">
            <a:solidFill>
              <a:srgbClr val="C896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560320"/>
            <a:ext cx="192024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731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ADCE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澤田会計事務所 御中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アイドマ・ホールディングスの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ご提供サービス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11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CD8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MiTokに加えて「Web強化」と「マンパワー補強」で、事務所の手を止めずに成長する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720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ADCE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営業支援［セールスプラットフォーム］／商談支援［セールスユニット］／WEBマーケティング&amp;制作支援［クラプロ］／人事支援［HRユニット］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株式会社アイドマ・ホールディングス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AIDMA SERVICE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アイドマ・ホールディングスがご提供する体制（全体像）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澤田会計事務所の専属チームとして、MiTokと各ユニットが連携して「仕組化」から「運用」までを担います。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株式会社アイドマ・ホールディングス｜MiTok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737360"/>
            <a:ext cx="2377440" cy="960120"/>
          </a:xfrm>
          <a:prstGeom prst="triangle">
            <a:avLst/>
          </a:prstGeom>
          <a:solidFill>
            <a:srgbClr val="262A52"/>
          </a:solidFill>
          <a:ln w="12700">
            <a:solidFill>
              <a:srgbClr val="262A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澤田会計事務所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2697480"/>
            <a:ext cx="0" cy="109728"/>
          </a:xfrm>
          <a:prstGeom prst="line">
            <a:avLst/>
          </a:prstGeom>
          <a:noFill/>
          <a:ln w="25400">
            <a:solidFill>
              <a:srgbClr val="262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2807208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91640" y="2807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アイドマ・ホールディングス　外付け専属チーム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33756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各ユニットの専属マネージャー・ディレクター（戦略立案・チーム組成）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67912"/>
            <a:ext cx="5943600" cy="2395728"/>
          </a:xfrm>
          <a:prstGeom prst="roundRect">
            <a:avLst>
              <a:gd name="adj" fmla="val 3053"/>
            </a:avLst>
          </a:prstGeom>
          <a:solidFill>
            <a:srgbClr val="FBF3E1"/>
          </a:solidFill>
          <a:ln w="15875">
            <a:solidFill>
              <a:srgbClr val="A87A1C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40080" y="39136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実務チーム（スペシャリスト）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233672"/>
            <a:ext cx="1786128" cy="891540"/>
          </a:xfrm>
          <a:prstGeom prst="roundRect">
            <a:avLst>
              <a:gd name="adj" fmla="val 12308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33144" y="43068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242" y="4401922"/>
            <a:ext cx="175565" cy="17556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68680" y="4690872"/>
            <a:ext cx="169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MiTok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946904"/>
            <a:ext cx="169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ADCE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動画・発信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18816" y="4233672"/>
            <a:ext cx="1786128" cy="8915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29000" y="4306824"/>
            <a:ext cx="365760" cy="36576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98" y="4401922"/>
            <a:ext cx="175565" cy="17556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764536" y="4690872"/>
            <a:ext cx="169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WEB・制作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2764536" y="4946904"/>
            <a:ext cx="169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［クラプロ］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614672" y="4233672"/>
            <a:ext cx="1786128" cy="8915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324856" y="4306824"/>
            <a:ext cx="365760" cy="36576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954" y="4401922"/>
            <a:ext cx="175565" cy="17556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660392" y="4690872"/>
            <a:ext cx="169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商談支援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4660392" y="4946904"/>
            <a:ext cx="169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［セールスユニット］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1770888" y="5216652"/>
            <a:ext cx="1786128" cy="8915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2481072" y="5289804"/>
            <a:ext cx="365760" cy="36576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170" y="5384902"/>
            <a:ext cx="175565" cy="17556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816608" y="5673852"/>
            <a:ext cx="169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営業支援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1816608" y="5929884"/>
            <a:ext cx="169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［セールスプラットフォーム］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3666744" y="5216652"/>
            <a:ext cx="1786128" cy="8915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376928" y="5289804"/>
            <a:ext cx="365760" cy="36576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2026" y="5384902"/>
            <a:ext cx="175565" cy="17556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3712464" y="5673852"/>
            <a:ext cx="169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人事支援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3712464" y="5929884"/>
            <a:ext cx="169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［HRユニット］</a:t>
            </a:r>
            <a:endParaRPr lang="en-US" sz="850" dirty="0"/>
          </a:p>
        </p:txBody>
      </p:sp>
      <p:sp>
        <p:nvSpPr>
          <p:cNvPr id="41" name="Text 34"/>
          <p:cNvSpPr txBox="1"/>
          <p:nvPr/>
        </p:nvSpPr>
        <p:spPr>
          <a:xfrm>
            <a:off x="6903720" y="1737360"/>
            <a:ext cx="4739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各チームの役割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6903720" y="2194560"/>
            <a:ext cx="384048" cy="384048"/>
          </a:xfrm>
          <a:prstGeom prst="ellipse">
            <a:avLst/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572" y="2294412"/>
            <a:ext cx="184343" cy="184343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406640" y="2148840"/>
            <a:ext cx="4236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MiTok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7406640" y="240487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動画で事務所の考え方と個人向けサービスを発信し、紹介とWebの“入口”をつくる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903720" y="2926080"/>
            <a:ext cx="384048" cy="384048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572" y="3025932"/>
            <a:ext cx="184343" cy="184343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406640" y="2880360"/>
            <a:ext cx="4236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WEBマーケティング&amp;制作支援［クラプロ］</a:t>
            </a:r>
            <a:endParaRPr lang="en-US" sz="1100" dirty="0"/>
          </a:p>
        </p:txBody>
      </p:sp>
      <p:sp>
        <p:nvSpPr>
          <p:cNvPr id="49" name="Text 40"/>
          <p:cNvSpPr txBox="1"/>
          <p:nvPr/>
        </p:nvSpPr>
        <p:spPr>
          <a:xfrm>
            <a:off x="7406640" y="313639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HP・法人設立ページの改善、MEO、YouTube・Instagramの運用代行で問い合わせを生む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6903720" y="3657600"/>
            <a:ext cx="384048" cy="384048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3572" y="3757452"/>
            <a:ext cx="184343" cy="184343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7406640" y="3611880"/>
            <a:ext cx="4236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商談支援［セールスユニット］</a:t>
            </a:r>
            <a:endParaRPr lang="en-US" sz="1100" dirty="0"/>
          </a:p>
        </p:txBody>
      </p:sp>
      <p:sp>
        <p:nvSpPr>
          <p:cNvPr id="53" name="Text 43"/>
          <p:cNvSpPr txBox="1"/>
          <p:nvPr/>
        </p:nvSpPr>
        <p:spPr>
          <a:xfrm>
            <a:off x="7406640" y="386791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初回面談の台本づくりと失注フォローで、問い合わせを顧問契約につなげる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6903720" y="4389120"/>
            <a:ext cx="384048" cy="384048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3572" y="4488972"/>
            <a:ext cx="184343" cy="184343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406640" y="4343400"/>
            <a:ext cx="4236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営業支援［セールスプラットフォーム］</a:t>
            </a:r>
            <a:endParaRPr lang="en-US" sz="1100" dirty="0"/>
          </a:p>
        </p:txBody>
      </p:sp>
      <p:sp>
        <p:nvSpPr>
          <p:cNvPr id="57" name="Text 46"/>
          <p:cNvSpPr txBox="1"/>
          <p:nvPr/>
        </p:nvSpPr>
        <p:spPr>
          <a:xfrm>
            <a:off x="7406640" y="459943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紹介してくれる企業や法人顧問の見込み先を開拓し、紹介に頼らない新規の流れをつくる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6903720" y="5120640"/>
            <a:ext cx="384048" cy="384048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3572" y="5220492"/>
            <a:ext cx="184343" cy="184343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7406640" y="5074920"/>
            <a:ext cx="4236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人事支援［HRユニット］</a:t>
            </a:r>
            <a:endParaRPr lang="en-US" sz="1100" dirty="0"/>
          </a:p>
        </p:txBody>
      </p:sp>
      <p:sp>
        <p:nvSpPr>
          <p:cNvPr id="61" name="Text 49"/>
          <p:cNvSpPr txBox="1"/>
          <p:nvPr/>
        </p:nvSpPr>
        <p:spPr>
          <a:xfrm>
            <a:off x="7406640" y="533095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繁忙期に向けた採用と、研修・マニュアル整備で“発信する組織”をつくる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AIDMA SERVICE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課題とサービスの対応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前回伺った澤田会計事務所の課題に対して、どのチームが何を担うかを整理しました。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株式会社アイドマ・ホールディングス｜MiTok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14211"/>
                <a:gridCol w="1414211"/>
                <a:gridCol w="1414211"/>
                <a:gridCol w="1414211"/>
                <a:gridCol w="1414211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課題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MiTok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WEB・制作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商談支援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営業支援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人事支援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7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A5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紹介ほぼ100%への依存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F7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F7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7A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A5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HPが問い合わせにつながらない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F7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7A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A5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個人向けの情報発信が不足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7A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F7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A5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発信する時間・人手がない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F7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7A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7A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A5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PRの意識が組織に根付いていない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F7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7A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A5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強みが言葉になっていない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7A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3F7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7332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◎：主に解決するチーム　○：あわせて支援するチーム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AIDMA SERVICE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WEBマーケティング&amp;制作支援［クラプロ］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株式会社アイドマ・ホールディングス｜MiTok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612648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435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営業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71016" y="1243584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71016" y="124358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クリエイティブ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24912" y="1243584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243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リード獲得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86200" y="1243584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1243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受注率向上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1243584"/>
            <a:ext cx="1636776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124358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アウトソーシング型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0934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当社の「WEBディレクター」×「スペシャリスト」が、貴社の課題にあわせたWEBマーケティング戦略立案からチーム組成、制作までを実行いたします。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176272"/>
            <a:ext cx="4572000" cy="365760"/>
          </a:xfrm>
          <a:prstGeom prst="homePlat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176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176272"/>
            <a:ext cx="6613855" cy="365760"/>
          </a:xfrm>
          <a:prstGeom prst="chevron">
            <a:avLst/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176272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4297680" cy="2898648"/>
          </a:xfrm>
          <a:prstGeom prst="roundRect">
            <a:avLst>
              <a:gd name="adj" fmla="val 3785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2788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「WEBディレクター」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貴社専属のディレクターが、戦略立案からチーム組成・管理までを実行。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35124" y="3611880"/>
            <a:ext cx="1124712" cy="457200"/>
          </a:xfrm>
          <a:prstGeom prst="triangl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35124" y="3817620"/>
            <a:ext cx="11247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97480" y="4069080"/>
            <a:ext cx="0" cy="91440"/>
          </a:xfrm>
          <a:prstGeom prst="line">
            <a:avLst/>
          </a:prstGeom>
          <a:noFill/>
          <a:ln w="25400">
            <a:solidFill>
              <a:srgbClr val="3A3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22730" y="4160520"/>
            <a:ext cx="1949501" cy="329184"/>
          </a:xfrm>
          <a:prstGeom prst="roundRect">
            <a:avLst>
              <a:gd name="adj" fmla="val 16667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22730" y="4160520"/>
            <a:ext cx="1949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外付け専属チーム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272845" y="4553712"/>
            <a:ext cx="2849270" cy="347472"/>
          </a:xfrm>
          <a:prstGeom prst="roundRect">
            <a:avLst>
              <a:gd name="adj" fmla="val 15789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72845" y="4553712"/>
            <a:ext cx="28492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専属WEBディレクター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4965192"/>
            <a:ext cx="3749040" cy="402336"/>
          </a:xfrm>
          <a:prstGeom prst="roundRect">
            <a:avLst>
              <a:gd name="adj" fmla="val 13636"/>
            </a:avLst>
          </a:prstGeom>
          <a:solidFill>
            <a:srgbClr val="FBF3E1"/>
          </a:solidFill>
          <a:ln w="15875">
            <a:solidFill>
              <a:srgbClr val="A87A1C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822960" y="49651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クリエイティブスペシャリストチーム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" y="365760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365760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雇用コスト</a:t>
            </a:r>
            <a:endParaRPr lang="en-US" sz="8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1名分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74920" y="2697480"/>
            <a:ext cx="6568135" cy="2898648"/>
          </a:xfrm>
          <a:prstGeom prst="roundRect">
            <a:avLst>
              <a:gd name="adj" fmla="val 3785"/>
            </a:avLst>
          </a:prstGeom>
          <a:solidFill>
            <a:srgbClr val="FBF3E1"/>
          </a:solidFill>
          <a:ln w="12700">
            <a:solidFill>
              <a:srgbClr val="FBF3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57800" y="2788920"/>
            <a:ext cx="6202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「スペシャリスト」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3136392"/>
            <a:ext cx="6019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各マーケティング施策に精通したメンバーを、戦略に合わせてアサイン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49240" y="3502152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3575304"/>
            <a:ext cx="219456" cy="219456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5760720" y="3502152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HP・LP制作／ECサイト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427568" y="3502152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296" y="3575304"/>
            <a:ext cx="219456" cy="219456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8839048" y="3502152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広告バナー・チラシ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5349240" y="3931920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4005072"/>
            <a:ext cx="219456" cy="219456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5760720" y="3931920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Google広告／Yahoo!広告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8427568" y="3931920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296" y="4005072"/>
            <a:ext cx="219456" cy="219456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8839048" y="3931920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SEO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5349240" y="4361688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4434840"/>
            <a:ext cx="219456" cy="219456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5760720" y="4361688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YouTube運用代行・広告</a:t>
            </a:r>
            <a:endParaRPr lang="en-US" sz="1050" dirty="0"/>
          </a:p>
        </p:txBody>
      </p:sp>
      <p:sp>
        <p:nvSpPr>
          <p:cNvPr id="53" name="Shape 46"/>
          <p:cNvSpPr/>
          <p:nvPr/>
        </p:nvSpPr>
        <p:spPr>
          <a:xfrm>
            <a:off x="8427568" y="4361688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296" y="4434840"/>
            <a:ext cx="219456" cy="219456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8839048" y="4361688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TikTok運用代行・広告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5349240" y="4791456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4864608"/>
            <a:ext cx="219456" cy="219456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5760720" y="4791456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Instagram運用代行・広告</a:t>
            </a:r>
            <a:endParaRPr lang="en-US" sz="1050" dirty="0"/>
          </a:p>
        </p:txBody>
      </p:sp>
      <p:sp>
        <p:nvSpPr>
          <p:cNvPr id="59" name="Shape 50"/>
          <p:cNvSpPr/>
          <p:nvPr/>
        </p:nvSpPr>
        <p:spPr>
          <a:xfrm>
            <a:off x="8427568" y="4791456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7296" y="4864608"/>
            <a:ext cx="219456" cy="219456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8839048" y="4791456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MEO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5349240" y="5221224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8968" y="5294376"/>
            <a:ext cx="219456" cy="219456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5760720" y="5221224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アフィリエイト</a:t>
            </a:r>
            <a:endParaRPr lang="en-US" sz="1050" dirty="0"/>
          </a:p>
        </p:txBody>
      </p:sp>
      <p:sp>
        <p:nvSpPr>
          <p:cNvPr id="65" name="Shape 54"/>
          <p:cNvSpPr/>
          <p:nvPr/>
        </p:nvSpPr>
        <p:spPr>
          <a:xfrm>
            <a:off x="8427568" y="5221224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7296" y="5294376"/>
            <a:ext cx="219456" cy="219456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8839048" y="5221224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メルマガ</a:t>
            </a:r>
            <a:endParaRPr lang="en-US" sz="1050" dirty="0"/>
          </a:p>
        </p:txBody>
      </p:sp>
      <p:sp>
        <p:nvSpPr>
          <p:cNvPr id="68" name="Shape 56"/>
          <p:cNvSpPr/>
          <p:nvPr/>
        </p:nvSpPr>
        <p:spPr>
          <a:xfrm>
            <a:off x="548640" y="5715000"/>
            <a:ext cx="11094415" cy="621792"/>
          </a:xfrm>
          <a:prstGeom prst="roundRect">
            <a:avLst>
              <a:gd name="adj" fmla="val 1764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>
            <a:off x="685800" y="5815584"/>
            <a:ext cx="420624" cy="420624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162" y="5924946"/>
            <a:ext cx="201900" cy="201900"/>
          </a:xfrm>
          <a:prstGeom prst="rect">
            <a:avLst/>
          </a:prstGeom>
        </p:spPr>
      </p:pic>
      <p:sp>
        <p:nvSpPr>
          <p:cNvPr id="71" name="Text 58"/>
          <p:cNvSpPr txBox="1"/>
          <p:nvPr/>
        </p:nvSpPr>
        <p:spPr>
          <a:xfrm>
            <a:off x="1234440" y="571500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澤田会計事務所での活用イメージ：</a:t>
            </a:r>
            <a:pPr indent="0" marL="0">
              <a:buNone/>
            </a:pPr>
            <a:r>
              <a:rPr lang="en-US" sz="11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法人設立ページの改善（LP化）、Googleマップ（MEO）の整備、YouTube・Instagramの運用代行、メルマガ配信で、HPから個人のお客様の問い合わせを生み出します。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AIDMA SERVICE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商談支援［セールスユニット］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株式会社アイドマ・ホールディングス｜MiTok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612648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435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営業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71016" y="1243584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71016" y="1243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受注率向上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2304" y="1243584"/>
            <a:ext cx="1636776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32304" y="124358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アウトソーシング型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60934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当社の「商談チーム」×「スペシャリスト」が商談の成功パターンを見つけ、「再現性のある商談の仕組み」として納品します。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176272"/>
            <a:ext cx="4572000" cy="365760"/>
          </a:xfrm>
          <a:prstGeom prst="homePlat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76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176272"/>
            <a:ext cx="6613855" cy="365760"/>
          </a:xfrm>
          <a:prstGeom prst="chevron">
            <a:avLst/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176272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4297680" cy="2898648"/>
          </a:xfrm>
          <a:prstGeom prst="roundRect">
            <a:avLst>
              <a:gd name="adj" fmla="val 3785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788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「商談チーム」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外付け商談部隊を活用し、商談の仕組み化を実行。外付け商談部隊が戦略から実行までサポート。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35124" y="3611880"/>
            <a:ext cx="1124712" cy="457200"/>
          </a:xfrm>
          <a:prstGeom prst="triangl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35124" y="3817620"/>
            <a:ext cx="11247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4069080"/>
            <a:ext cx="0" cy="91440"/>
          </a:xfrm>
          <a:prstGeom prst="line">
            <a:avLst/>
          </a:prstGeom>
          <a:noFill/>
          <a:ln w="25400">
            <a:solidFill>
              <a:srgbClr val="3A3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22730" y="4160520"/>
            <a:ext cx="1949501" cy="329184"/>
          </a:xfrm>
          <a:prstGeom prst="roundRect">
            <a:avLst>
              <a:gd name="adj" fmla="val 16667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22730" y="4160520"/>
            <a:ext cx="1949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外付け専属チーム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272845" y="4553712"/>
            <a:ext cx="2849270" cy="347472"/>
          </a:xfrm>
          <a:prstGeom prst="roundRect">
            <a:avLst>
              <a:gd name="adj" fmla="val 15789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72845" y="4553712"/>
            <a:ext cx="28492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営業マネージャー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4965192"/>
            <a:ext cx="3749040" cy="402336"/>
          </a:xfrm>
          <a:prstGeom prst="roundRect">
            <a:avLst>
              <a:gd name="adj" fmla="val 13636"/>
            </a:avLst>
          </a:prstGeom>
          <a:solidFill>
            <a:srgbClr val="FBF3E1"/>
          </a:solidFill>
          <a:ln w="15875">
            <a:solidFill>
              <a:srgbClr val="A87A1C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22960" y="49651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商談チーム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365760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365760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雇用コスト</a:t>
            </a:r>
            <a:endParaRPr lang="en-US" sz="8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1名分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2697480"/>
            <a:ext cx="6568135" cy="2898648"/>
          </a:xfrm>
          <a:prstGeom prst="roundRect">
            <a:avLst>
              <a:gd name="adj" fmla="val 3785"/>
            </a:avLst>
          </a:prstGeom>
          <a:solidFill>
            <a:srgbClr val="FBF3E1"/>
          </a:solidFill>
          <a:ln w="12700">
            <a:solidFill>
              <a:srgbClr val="FBF3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57800" y="2788920"/>
            <a:ext cx="6202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「スペシャリスト」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3136392"/>
            <a:ext cx="6019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商談における各業務のスペシャリストをチームにアサインし、業務を運用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49240" y="3502152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3575304"/>
            <a:ext cx="219456" cy="219456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5760720" y="3502152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商談台本作成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427568" y="3502152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296" y="3575304"/>
            <a:ext cx="219456" cy="219456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8839048" y="3502152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オンライン商談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5349240" y="3931920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4005072"/>
            <a:ext cx="219456" cy="219456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5760720" y="3931920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ロープレ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8427568" y="3931920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296" y="4005072"/>
            <a:ext cx="219456" cy="219456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8839048" y="3931920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競合調査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5349240" y="4361688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4434840"/>
            <a:ext cx="219456" cy="219456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5760720" y="4361688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ビジネスマッチング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8427568" y="4361688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296" y="4434840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839048" y="4361688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マニュアル・カリキュラム作成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5349240" y="4791456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4864608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5760720" y="4791456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失注先へのフォローアプローチ</a:t>
            </a:r>
            <a:endParaRPr lang="en-US" sz="1050" dirty="0"/>
          </a:p>
        </p:txBody>
      </p:sp>
      <p:sp>
        <p:nvSpPr>
          <p:cNvPr id="55" name="Shape 46"/>
          <p:cNvSpPr/>
          <p:nvPr/>
        </p:nvSpPr>
        <p:spPr>
          <a:xfrm>
            <a:off x="8427568" y="4791456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7296" y="4864608"/>
            <a:ext cx="219456" cy="21945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839048" y="4791456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料金表修正</a:t>
            </a:r>
            <a:endParaRPr lang="en-US" sz="1050" dirty="0"/>
          </a:p>
        </p:txBody>
      </p:sp>
      <p:sp>
        <p:nvSpPr>
          <p:cNvPr id="58" name="Shape 48"/>
          <p:cNvSpPr/>
          <p:nvPr/>
        </p:nvSpPr>
        <p:spPr>
          <a:xfrm>
            <a:off x="5349240" y="5221224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8968" y="5294376"/>
            <a:ext cx="219456" cy="219456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5760720" y="5221224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営業研修</a:t>
            </a:r>
            <a:endParaRPr lang="en-US" sz="1050" dirty="0"/>
          </a:p>
        </p:txBody>
      </p:sp>
      <p:sp>
        <p:nvSpPr>
          <p:cNvPr id="61" name="Shape 50"/>
          <p:cNvSpPr/>
          <p:nvPr/>
        </p:nvSpPr>
        <p:spPr>
          <a:xfrm>
            <a:off x="8427568" y="5221224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7296" y="5294376"/>
            <a:ext cx="219456" cy="219456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8839048" y="5221224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商談レポート作成</a:t>
            </a:r>
            <a:endParaRPr lang="en-US" sz="1050" dirty="0"/>
          </a:p>
        </p:txBody>
      </p:sp>
      <p:sp>
        <p:nvSpPr>
          <p:cNvPr id="64" name="Shape 52"/>
          <p:cNvSpPr/>
          <p:nvPr/>
        </p:nvSpPr>
        <p:spPr>
          <a:xfrm>
            <a:off x="548640" y="5715000"/>
            <a:ext cx="11094415" cy="621792"/>
          </a:xfrm>
          <a:prstGeom prst="roundRect">
            <a:avLst>
              <a:gd name="adj" fmla="val 1764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685800" y="5815584"/>
            <a:ext cx="420624" cy="420624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162" y="5924946"/>
            <a:ext cx="201900" cy="20190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1234440" y="571500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澤田会計事務所での活用イメージ：</a:t>
            </a:r>
            <a:pPr indent="0" marL="0">
              <a:buNone/>
            </a:pPr>
            <a:r>
              <a:rPr lang="en-US" sz="11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初回面談の台本とよくある質問を整え、面談後の失注先へのフォローと商談レポートで、顧問契約率を底上げします。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AIDMA SERVICE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営業支援［セールスプラットフォーム］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株式会社アイドマ・ホールディングス｜MiTok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612648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435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営業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71016" y="1243584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71016" y="1243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リード獲得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2304" y="1243584"/>
            <a:ext cx="1636776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32304" y="124358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アウトソーシング型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60934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当社の「人のチカラ」×「テクノロジー」が営業の成功パターンを見つけ、「再現性のある営業の仕組み」として納品します。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176272"/>
            <a:ext cx="4572000" cy="365760"/>
          </a:xfrm>
          <a:prstGeom prst="homePlat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76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176272"/>
            <a:ext cx="6613855" cy="365760"/>
          </a:xfrm>
          <a:prstGeom prst="chevron">
            <a:avLst/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176272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4297680" cy="2898648"/>
          </a:xfrm>
          <a:prstGeom prst="roundRect">
            <a:avLst>
              <a:gd name="adj" fmla="val 3785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788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「人のチカラ」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8名の外付け営業部隊を活用し、営業の仕組み化を実行。外付け営業部隊が戦略から実行までサポート。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35124" y="3611880"/>
            <a:ext cx="1124712" cy="457200"/>
          </a:xfrm>
          <a:prstGeom prst="triangl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35124" y="3817620"/>
            <a:ext cx="11247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4069080"/>
            <a:ext cx="0" cy="91440"/>
          </a:xfrm>
          <a:prstGeom prst="line">
            <a:avLst/>
          </a:prstGeom>
          <a:noFill/>
          <a:ln w="25400">
            <a:solidFill>
              <a:srgbClr val="3A3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22730" y="4160520"/>
            <a:ext cx="1949501" cy="329184"/>
          </a:xfrm>
          <a:prstGeom prst="roundRect">
            <a:avLst>
              <a:gd name="adj" fmla="val 16667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22730" y="4160520"/>
            <a:ext cx="1949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外付け専属チーム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272845" y="4553712"/>
            <a:ext cx="2849270" cy="347472"/>
          </a:xfrm>
          <a:prstGeom prst="roundRect">
            <a:avLst>
              <a:gd name="adj" fmla="val 15789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72845" y="4553712"/>
            <a:ext cx="28492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コンサルティングチーム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4965192"/>
            <a:ext cx="3749040" cy="402336"/>
          </a:xfrm>
          <a:prstGeom prst="roundRect">
            <a:avLst>
              <a:gd name="adj" fmla="val 13636"/>
            </a:avLst>
          </a:prstGeom>
          <a:solidFill>
            <a:srgbClr val="FBF3E1"/>
          </a:solidFill>
          <a:ln w="15875">
            <a:solidFill>
              <a:srgbClr val="A87A1C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22960" y="49651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マーケティングチーム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365760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365760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雇用コスト</a:t>
            </a:r>
            <a:endParaRPr lang="en-US" sz="8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1名分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2697480"/>
            <a:ext cx="6568135" cy="2898648"/>
          </a:xfrm>
          <a:prstGeom prst="roundRect">
            <a:avLst>
              <a:gd name="adj" fmla="val 3785"/>
            </a:avLst>
          </a:prstGeom>
          <a:solidFill>
            <a:srgbClr val="FBF3E1"/>
          </a:solidFill>
          <a:ln w="12700">
            <a:solidFill>
              <a:srgbClr val="FBF3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57800" y="2788920"/>
            <a:ext cx="6202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「テクノロジー」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3136392"/>
            <a:ext cx="5105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テクノロジーで見込み顧客開拓を実行。運用担当は不要。営業データの蓄積・活用が可能。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500055" y="3017520"/>
            <a:ext cx="914400" cy="914400"/>
          </a:xfrm>
          <a:prstGeom prst="ellipse">
            <a:avLst/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00055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マンパワー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ゼロ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SalesCrowd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49240" y="3931920"/>
            <a:ext cx="29411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4032504"/>
            <a:ext cx="237744" cy="237744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5788152" y="3931920"/>
            <a:ext cx="2456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オンラインセールス®ツール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427568" y="3931920"/>
            <a:ext cx="29411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296" y="4032504"/>
            <a:ext cx="237744" cy="237744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8866480" y="3931920"/>
            <a:ext cx="2456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マーケティング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オートメーションツール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5349240" y="4434840"/>
            <a:ext cx="29411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4535424"/>
            <a:ext cx="237744" cy="237744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5788152" y="4434840"/>
            <a:ext cx="2456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SFA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（セールスフォースオートメーション）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8427568" y="4434840"/>
            <a:ext cx="29411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296" y="4535424"/>
            <a:ext cx="237744" cy="237744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8866480" y="4434840"/>
            <a:ext cx="2456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アプローチシステム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（電話・メール・FAX・DM・手紙）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5349240" y="4937760"/>
            <a:ext cx="6019495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5065776"/>
            <a:ext cx="246888" cy="246888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5806440" y="493776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BIZMAPS</a:t>
            </a:r>
            <a:pPr indent="0" marL="0">
              <a:buNone/>
            </a:pPr>
            <a:r>
              <a:rPr lang="en-US" sz="1050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国内最大級 法人データベース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9585655" y="5001768"/>
            <a:ext cx="1691640" cy="374904"/>
          </a:xfrm>
          <a:prstGeom prst="roundRect">
            <a:avLst>
              <a:gd name="adj" fmla="val 12195"/>
            </a:avLst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9585655" y="5001768"/>
            <a:ext cx="1691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格納営業リスト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680万件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548640" y="5715000"/>
            <a:ext cx="11094415" cy="621792"/>
          </a:xfrm>
          <a:prstGeom prst="roundRect">
            <a:avLst>
              <a:gd name="adj" fmla="val 1764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685800" y="5815584"/>
            <a:ext cx="420624" cy="420624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162" y="5924946"/>
            <a:ext cx="201900" cy="201900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1234440" y="571500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澤田会計事務所での活用イメージ：</a:t>
            </a:r>
            <a:pPr indent="0" marL="0">
              <a:buNone/>
            </a:pPr>
            <a:r>
              <a:rPr lang="en-US" sz="11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金融機関・不動産会社・保険代理店など“紹介してくれる企業”や、法人顧問の見込み先をBIZMAPSから抽出し、アプローチを代行します。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AIDMA SERVICE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人事支援［HRユニット］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株式会社アイドマ・ホールディングス｜MiTok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612648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435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人事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71016" y="1243584"/>
            <a:ext cx="1636776" cy="274320"/>
          </a:xfrm>
          <a:prstGeom prst="roundRect">
            <a:avLst>
              <a:gd name="adj" fmla="val 2666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71016" y="124358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☑ アウトソーシング型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60934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当社の「人事チーム」×「スペシャリスト」が人事業務の成功パターンを見つけ、「再現性のある人事業務の仕組み」として納品します。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4572000" cy="365760"/>
          </a:xfrm>
          <a:prstGeom prst="homePlat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76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176272"/>
            <a:ext cx="6613855" cy="365760"/>
          </a:xfrm>
          <a:prstGeom prst="chevron">
            <a:avLst/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176272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4297680" cy="2898648"/>
          </a:xfrm>
          <a:prstGeom prst="roundRect">
            <a:avLst>
              <a:gd name="adj" fmla="val 3785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788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「人事チーム」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貴社専属の人事マネージャーが、課題解決のために戦略立案、実務チームを組成。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35124" y="3611880"/>
            <a:ext cx="1124712" cy="457200"/>
          </a:xfrm>
          <a:prstGeom prst="triangl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35124" y="3817620"/>
            <a:ext cx="11247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4069080"/>
            <a:ext cx="0" cy="91440"/>
          </a:xfrm>
          <a:prstGeom prst="line">
            <a:avLst/>
          </a:prstGeom>
          <a:noFill/>
          <a:ln w="25400">
            <a:solidFill>
              <a:srgbClr val="3A3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22730" y="4160520"/>
            <a:ext cx="1949501" cy="329184"/>
          </a:xfrm>
          <a:prstGeom prst="roundRect">
            <a:avLst>
              <a:gd name="adj" fmla="val 16667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22730" y="4160520"/>
            <a:ext cx="1949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外付け専属チーム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272845" y="4553712"/>
            <a:ext cx="2849270" cy="347472"/>
          </a:xfrm>
          <a:prstGeom prst="roundRect">
            <a:avLst>
              <a:gd name="adj" fmla="val 15789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72845" y="4553712"/>
            <a:ext cx="28492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人事マネージャー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965192"/>
            <a:ext cx="3749040" cy="402336"/>
          </a:xfrm>
          <a:prstGeom prst="roundRect">
            <a:avLst>
              <a:gd name="adj" fmla="val 13636"/>
            </a:avLst>
          </a:prstGeom>
          <a:solidFill>
            <a:srgbClr val="FBF3E1"/>
          </a:solidFill>
          <a:ln w="15875">
            <a:solidFill>
              <a:srgbClr val="A87A1C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22960" y="49651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人事スペシャリストチーム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365760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65760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雇用コスト</a:t>
            </a:r>
            <a:endParaRPr lang="en-US" sz="8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1名分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2697480"/>
            <a:ext cx="6568135" cy="2898648"/>
          </a:xfrm>
          <a:prstGeom prst="roundRect">
            <a:avLst>
              <a:gd name="adj" fmla="val 3785"/>
            </a:avLst>
          </a:prstGeom>
          <a:solidFill>
            <a:srgbClr val="FBF3E1"/>
          </a:solidFill>
          <a:ln w="12700">
            <a:solidFill>
              <a:srgbClr val="FBF3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57800" y="2788920"/>
            <a:ext cx="6202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「スペシャリスト」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136392"/>
            <a:ext cx="6019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人事業務における各業務のスペシャリストをチームにアサインし、業務を運用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49240" y="3502152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3575304"/>
            <a:ext cx="219456" cy="219456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5760720" y="3502152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母集団形成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427568" y="3502152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296" y="3575304"/>
            <a:ext cx="219456" cy="219456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8839048" y="3502152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オンライン面接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349240" y="3931920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4005072"/>
            <a:ext cx="219456" cy="219456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760720" y="3931920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オリエンテーション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8427568" y="3931920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296" y="4005072"/>
            <a:ext cx="219456" cy="219456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8839048" y="3931920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求人ライティング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349240" y="4361688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4434840"/>
            <a:ext cx="219456" cy="219456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5760720" y="4361688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求人SNS作成〜運用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8427568" y="4361688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296" y="4434840"/>
            <a:ext cx="219456" cy="21945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839048" y="4361688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マニュアル・カリキュラム作成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5349240" y="4791456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4864608"/>
            <a:ext cx="219456" cy="21945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5760720" y="4791456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退職防止策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8427568" y="4791456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7296" y="4864608"/>
            <a:ext cx="219456" cy="219456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8839048" y="4791456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評価制度</a:t>
            </a:r>
            <a:endParaRPr lang="en-US" sz="1050" dirty="0"/>
          </a:p>
        </p:txBody>
      </p:sp>
      <p:sp>
        <p:nvSpPr>
          <p:cNvPr id="56" name="Shape 46"/>
          <p:cNvSpPr/>
          <p:nvPr/>
        </p:nvSpPr>
        <p:spPr>
          <a:xfrm>
            <a:off x="5349240" y="5221224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8968" y="5294376"/>
            <a:ext cx="219456" cy="219456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5760720" y="5221224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研修制度の構築・導入</a:t>
            </a:r>
            <a:endParaRPr lang="en-US" sz="1050" dirty="0"/>
          </a:p>
        </p:txBody>
      </p:sp>
      <p:sp>
        <p:nvSpPr>
          <p:cNvPr id="59" name="Shape 48"/>
          <p:cNvSpPr/>
          <p:nvPr/>
        </p:nvSpPr>
        <p:spPr>
          <a:xfrm>
            <a:off x="8427568" y="5221224"/>
            <a:ext cx="29411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7296" y="5294376"/>
            <a:ext cx="219456" cy="219456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8839048" y="5221224"/>
            <a:ext cx="248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各種人事労務書類作成</a:t>
            </a:r>
            <a:endParaRPr lang="en-US" sz="1050" dirty="0"/>
          </a:p>
        </p:txBody>
      </p:sp>
      <p:sp>
        <p:nvSpPr>
          <p:cNvPr id="62" name="Shape 50"/>
          <p:cNvSpPr/>
          <p:nvPr/>
        </p:nvSpPr>
        <p:spPr>
          <a:xfrm>
            <a:off x="548640" y="5715000"/>
            <a:ext cx="11094415" cy="621792"/>
          </a:xfrm>
          <a:prstGeom prst="roundRect">
            <a:avLst>
              <a:gd name="adj" fmla="val 17647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685800" y="5815584"/>
            <a:ext cx="420624" cy="420624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162" y="5924946"/>
            <a:ext cx="201900" cy="201900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1234440" y="5715000"/>
            <a:ext cx="10271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澤田会計事務所での活用イメージ：</a:t>
            </a:r>
            <a:pPr indent="0" marL="0">
              <a:buNone/>
            </a:pPr>
            <a:r>
              <a:rPr lang="en-US" sz="115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年末調整・確定申告の繁忙期に向けたスタッフ採用（母集団形成・求人ライティング）と、研修・マニュアル整備で、PRを“仕組み”にします。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A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AIDMA SERVICE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ご提案の組み合わせと導入の順番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C7E9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株式会社アイドマ・ホールディングス｜MiTok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036003" cy="502920"/>
          </a:xfrm>
          <a:prstGeom prst="roundRect">
            <a:avLst>
              <a:gd name="adj" fmla="val 21818"/>
            </a:avLst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036003" cy="27432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46602" y="2331720"/>
            <a:ext cx="640080" cy="640080"/>
          </a:xfrm>
          <a:prstGeom prst="ellipse">
            <a:avLst/>
          </a:prstGeom>
          <a:solidFill>
            <a:srgbClr val="A87A1C"/>
          </a:solidFill>
          <a:ln w="12700">
            <a:solidFill>
              <a:srgbClr val="A87A1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3022" y="249814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306324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MiTok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38328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（無料3本の検証）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886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無料3本で、どのテーマ・チャネルが響くかを検証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363" y="3566160"/>
            <a:ext cx="13716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813243" y="1508760"/>
            <a:ext cx="2036003" cy="502920"/>
          </a:xfrm>
          <a:prstGeom prst="roundRect">
            <a:avLst>
              <a:gd name="adj" fmla="val 21818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813243" y="15087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2ヶ月目〜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2813243" y="2148840"/>
            <a:ext cx="2036003" cy="27432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511205" y="2331720"/>
            <a:ext cx="640080" cy="64008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625" y="249814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904683" y="306324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WEB・制作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2904683" y="338328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［クラプロ］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2996123" y="3886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検証結果をもとにHP・MEO・SNS運用を強化し、問い合わせの入口をつくる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966" y="3566160"/>
            <a:ext cx="137160" cy="2743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077846" y="1508760"/>
            <a:ext cx="2036003" cy="502920"/>
          </a:xfrm>
          <a:prstGeom prst="roundRect">
            <a:avLst>
              <a:gd name="adj" fmla="val 21818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077846" y="15087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2〜3ヶ月目〜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077846" y="2148840"/>
            <a:ext cx="2036003" cy="27432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775808" y="2331720"/>
            <a:ext cx="640080" cy="64008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228" y="249814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69286" y="306324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商談支援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5169286" y="338328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［セールスユニット］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5260726" y="3886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増えた問い合わせを確実に顧問契約へつなげる面談の型をつくる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569" y="3566160"/>
            <a:ext cx="137160" cy="27432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342449" y="1508760"/>
            <a:ext cx="2036003" cy="502920"/>
          </a:xfrm>
          <a:prstGeom prst="roundRect">
            <a:avLst>
              <a:gd name="adj" fmla="val 21818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7342449" y="15087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4ヶ月目〜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7342449" y="2148840"/>
            <a:ext cx="2036003" cy="27432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040411" y="2331720"/>
            <a:ext cx="640080" cy="64008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6831" y="2498141"/>
            <a:ext cx="307238" cy="30723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433889" y="306324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営業支援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7433889" y="338328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［セールスプラットフォーム］</a:t>
            </a:r>
            <a:endParaRPr lang="en-US" sz="950" dirty="0"/>
          </a:p>
        </p:txBody>
      </p:sp>
      <p:sp>
        <p:nvSpPr>
          <p:cNvPr id="40" name="Text 31"/>
          <p:cNvSpPr txBox="1"/>
          <p:nvPr/>
        </p:nvSpPr>
        <p:spPr>
          <a:xfrm>
            <a:off x="7525329" y="3886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紹介パートナー・法人顧問の見込み先を開拓し、新規の流れを増やす</a:t>
            </a:r>
            <a:endParaRPr lang="en-US" sz="11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4172" y="3566160"/>
            <a:ext cx="137160" cy="274320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9607052" y="1508760"/>
            <a:ext cx="2036003" cy="502920"/>
          </a:xfrm>
          <a:prstGeom prst="roundRect">
            <a:avLst>
              <a:gd name="adj" fmla="val 21818"/>
            </a:avLst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9607052" y="15087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必要に応じて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9607052" y="2148840"/>
            <a:ext cx="2036003" cy="27432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10305014" y="2331720"/>
            <a:ext cx="640080" cy="640080"/>
          </a:xfrm>
          <a:prstGeom prst="ellipse">
            <a:avLst/>
          </a:prstGeom>
          <a:solidFill>
            <a:srgbClr val="3A3F73"/>
          </a:solidFill>
          <a:ln w="12700">
            <a:solidFill>
              <a:srgbClr val="3A3F73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1434" y="2498141"/>
            <a:ext cx="307238" cy="307238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698492" y="3063240"/>
            <a:ext cx="18531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7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人事支援</a:t>
            </a:r>
            <a:endParaRPr lang="en-US" sz="1400" dirty="0"/>
          </a:p>
        </p:txBody>
      </p:sp>
      <p:sp>
        <p:nvSpPr>
          <p:cNvPr id="48" name="Text 37"/>
          <p:cNvSpPr txBox="1"/>
          <p:nvPr/>
        </p:nvSpPr>
        <p:spPr>
          <a:xfrm>
            <a:off x="9698492" y="338328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6A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［HRユニット］</a:t>
            </a:r>
            <a:endParaRPr lang="en-US" sz="950" dirty="0"/>
          </a:p>
        </p:txBody>
      </p:sp>
      <p:sp>
        <p:nvSpPr>
          <p:cNvPr id="49" name="Text 38"/>
          <p:cNvSpPr txBox="1"/>
          <p:nvPr/>
        </p:nvSpPr>
        <p:spPr>
          <a:xfrm>
            <a:off x="9789932" y="3886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B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繁忙期の前に採用・研修を整え、受け入れ体制を強化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548640" y="516636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EEEFF7"/>
          </a:solidFill>
          <a:ln w="12700">
            <a:solidFill>
              <a:srgbClr val="EEEFF7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822960" y="516636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導入の順番と組み合わせは、ご予算と優先度に合わせて調整します。まずはMiTokの検証結果を見ながら、次の一手をご一緒に決めていきます。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株式会社アイドマ・ホールディングス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個人向けサービス強化 営業・マーケティング総合改革提案書</dc:title>
  <dc:subject>PptxGenJS Presentation</dc:subject>
  <dc:creator>PptxGenJS</dc:creator>
  <cp:lastModifiedBy>PptxGenJS</cp:lastModifiedBy>
  <cp:revision>1</cp:revision>
  <dcterms:created xsi:type="dcterms:W3CDTF">2026-09-23T09:17:11Z</dcterms:created>
  <dcterms:modified xsi:type="dcterms:W3CDTF">2026-09-23T09:17:11Z</dcterms:modified>
</cp:coreProperties>
</file>