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1.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A3330"/>
                </a:solidFill>
                <a:latin typeface="Meiryo UI"/>
              </a:defRPr>
            </a:pPr>
            <a:r>
              <a:rPr sz="1100" b="0" i="0" u="none" strike="noStrike">
                <a:solidFill>
                  <a:srgbClr val="2A3330"/>
                </a:solidFill>
                <a:latin typeface="Meiryo UI"/>
              </a:rPr>
              <a:t>上乗せ塾生数（累計）の推移　※月（ヶ月目）</a:t>
            </a:r>
          </a:p>
        </c:rich>
      </c:tx>
      <c:layout/>
      <c:overlay val="0"/>
    </c:title>
    <c:autoTitleDeleted val="0"/>
    <c:plotArea>
      <c:layout/>
      <c:barChart>
        <c:barDir val="col"/>
        <c:grouping val="clustered"/>
        <c:varyColors val="0"/>
        <c:ser>
          <c:idx val="0"/>
          <c:order val="0"/>
          <c:tx>
            <c:strRef>
              <c:f>Sheet1!$B$1</c:f>
              <c:strCache>
                <c:ptCount val="1"/>
                <c:pt idx="0">
                  <c:v>上乗せ塾生数（累計）</c:v>
                </c:pt>
              </c:strCache>
            </c:strRef>
          </c:tx>
          <c:spPr>
            <a:solidFill>
              <a:srgbClr val="2F7A55"/>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1</c:v>
                  </c:pt>
                  <c:pt idx="1">
                    <c:v>2</c:v>
                  </c:pt>
                  <c:pt idx="2">
                    <c:v>3</c:v>
                  </c:pt>
                  <c:pt idx="3">
                    <c:v>4</c:v>
                  </c:pt>
                  <c:pt idx="4">
                    <c:v>5</c:v>
                  </c:pt>
                  <c:pt idx="5">
                    <c:v>6</c:v>
                  </c:pt>
                  <c:pt idx="6">
                    <c:v>7</c:v>
                  </c:pt>
                  <c:pt idx="7">
                    <c:v>8</c:v>
                  </c:pt>
                  <c:pt idx="8">
                    <c:v>9</c:v>
                  </c:pt>
                  <c:pt idx="9">
                    <c:v>10</c:v>
                  </c:pt>
                  <c:pt idx="10">
                    <c:v>11</c:v>
                  </c:pt>
                  <c:pt idx="11">
                    <c:v>12</c:v>
                  </c:pt>
                </c:lvl>
              </c:multiLvlStrCache>
            </c:multiLvlStrRef>
          </c:cat>
          <c:val>
            <c:numRef>
              <c:f>Sheet1!$B$2:$B$13</c:f>
              <c:numCache>
                <c:formatCode>General</c:formatCode>
                <c:ptCount val="12"/>
                <c:pt idx="0">
                  <c:v>0</c:v>
                </c:pt>
                <c:pt idx="1">
                  <c:v>1</c:v>
                </c:pt>
                <c:pt idx="2">
                  <c:v>3</c:v>
                </c:pt>
                <c:pt idx="3">
                  <c:v>6</c:v>
                </c:pt>
                <c:pt idx="4">
                  <c:v>9</c:v>
                </c:pt>
                <c:pt idx="5">
                  <c:v>12</c:v>
                </c:pt>
                <c:pt idx="6">
                  <c:v>17</c:v>
                </c:pt>
                <c:pt idx="7">
                  <c:v>22</c:v>
                </c:pt>
                <c:pt idx="8">
                  <c:v>27</c:v>
                </c:pt>
                <c:pt idx="9">
                  <c:v>32</c:v>
                </c:pt>
                <c:pt idx="10">
                  <c:v>37</c:v>
                </c:pt>
                <c:pt idx="11">
                  <c:v>42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66786F"/>
                </a:solidFill>
                <a:latin typeface="Meiryo UI"/>
              </a:defRPr>
            </a:pPr>
            <a:endParaRPr lang="en-US"/>
          </a:p>
        </c:txPr>
        <c:crossAx val="2094734552"/>
        <c:crosses val="autoZero"/>
        <c:auto val="1"/>
        <c:lblAlgn val="ctr"/>
        <c:noMultiLvlLbl val="1"/>
      </c:catAx>
      <c:valAx>
        <c:axId val="2094734552"/>
        <c:scaling>
          <c:orientation val="minMax"/>
          <c:max val="50"/>
        </c:scaling>
        <c:delete val="0"/>
        <c:axPos val="l"/>
        <c:majorGridlines>
          <c:spPr>
            <a:ln w="9525" cap="flat">
              <a:solidFill>
                <a:srgbClr val="E3EEE7"/>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6786F"/>
                </a:solidFill>
                <a:latin typeface="Meiryo UI"/>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【営業担当者用・事前確認】
・お打ち合わせ：24日 13:00〜（前回と同じオンラインURL）。
・ご決裁者は代表（女性）ご本人と想定されるが、冒頭で決裁フロー（共同経営者・ご家族の関与など）を確認する。
・前回のお約束：MiTokの具体的な使い方、集客事例のご紹介、在宅スタッフを活用したHP/SNSのテスト運用・集客改善提案。事例はこの資料と別に1〜2件用意しておく。
・貴社からオンライン塾・子育て講座の資料が届いていれば、3ページ目・17ページ目の内容を資料に合わせて補足する。
・貴社HP（kayahara-keiko.com）は資料作成時に参照できていないため、商談前に担当者が目を通し、代表のお名前・肩書・実績を確認しておくこと。
【時間配分（60分）】0-5分 振り返り／5-20分 Why Now＋ヒアリング／20-35分 プッシュ・プル戦略（サムネイル・絵コンテ）／35-45分 フェーズ1・2／45-60分 数値ヒアリング・シミュレーション・次回日程の確定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不登校の人数は「過去最多を更新し続けている」という傾向にとどめて伝える。具体的な人数を出す場合は、最新の文部科学省調査の数値を事前に確認すること。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回伺った「教室が手狭」「テキストは読まれない」を起点に、代表ご自身の言葉で優先度を語っていただく。特に④講演会後の熱量と⑤代表への属人化は、代表が実感しているはずの論点。「講演会のあと、無料相談に来られるのは何割くらいですか？」と数字を聞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「無料の動画を作ってHPに置き、反応を見る」進め方そのものが成果の出ない進め方であることを、第三者の事例として伝える。お客様を否定しない。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前回「テキストより動画・音声（耳から入る情報）」を重視されていた点に直結させる。在宅スタッフの運用支援は前回お約束した提案事項なので、ここで具体的に触れ、25ページの次回準備につなげる。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演会の後、参加者の熱量が一番高いのは当日〜翌日。そこで「おさらい動画」と無料相談の案内をLINEで届けるだけで、相談申込率が変わる可能性があることを伝える。講演主催者（学校・PTA等）への講演紹介動画は、講演依頼を増やす副次効果もあ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MiTokのAI掛け合い形式（お母さん役が質問し、代表役が答える）を前提としたラフ。無料3本はこの3つの型を1本ずつ制作する。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「無料3本」の完成イメージを具体的に見せ、活用シーンを想像していただく。Instagramは既存のオンラインサロンと世界観を揃えられることを強調。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絵コンテは台本作成前のたたき台。ご提供いただくオンライン塾・子育て講座の資料をもとに、各シーンのセリフを具体化していく。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法令の解釈は断定せず、「配慮して設計する」旨の説明にとどめる。特定商取引法（学習塾の特定継続的役務提供など）の該当有無は、貴社で専門家にご確認いただく前提で話す。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無料3本＝お試し」ではなく「検証」であることを強調。1本目は講演会という貴社の最大の強みに直結させる。検証である以上、KPIと比較軸を最初に決める必要があり、その設計自体が伴走の価値であると伝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在宅スタッフによるHP/SNS運用は前回お約束した提案事項。「代表が投稿作業をしなくても発信が続く」状態を具体的にイメージしていただく。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年内の子育て講座リリースが4〜6ヶ月目（拡大期）に重なる想定。講座のリリース時期をヒアリングし、ロードマップの時期を調整する。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無料の3本を見てから考えたい」への切り返し：「もちろん3本の成果はしっかり検証します。ただ、検証後に検討を始めると1〜2ヶ月の空白が生まれ、年内の子育て講座のリリースに集客の準備が間に合わなくなります。検証を“伴走の初月”として設計しておけば、結果が出た当日に次の一手を打て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月謝2万円・継続12ヶ月・月3名はすべて仮置き。画面共有で代表と一緒に実数値（月謝・平均継続月数・現在の月間入会数）を入れて再計算する。子育て講座のローンチが遅れる損失も別途あることを口頭で補足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8番（決裁フロー）は冒頭で確認。5番の子育て講座は年内リリース予定のため、時期によってロードマップ（20ページ）を調整する。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スライドで伺った数値（塾生数・相談数・月謝・継続期間・講演会の参加者数）を上部の帯に記入し、その場で試算を調整する。確定値は次回お打ち合わせで「目標値」として合意する。子育て講座の受講者数は、価格・定員が決まり次第、別途試算する。
試算ロジック：講演会60名×LINE登録70%×視聴70%×相談20%×入会35%≒2名／月、プル（LINE登録100名×相談10%×入会30%）≒3名／月。累計：1ヶ月目0、2ヶ月目+1、3ヶ月目+2、4〜6ヶ月目+3/月、7〜12ヶ月目+5/月 → 12ヶ月後42名、月謝売上の上乗せ42名×2万円＝84万円。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の最後に、次回お打ち合わせの日程をその場で確定させる。次回は「シミュレーション確定＋台本ドラフト＋在宅スタッフ運用のテスト計画」という具体的な成果物を持参することを約束し、次回の場で契約判断をいただける状態をつく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4A35"/>
        </a:solidFill>
      </p:bgPr>
    </p:bg>
    <p:spTree>
      <p:nvGrpSpPr>
        <p:cNvPr id="1" name=""/>
        <p:cNvGrpSpPr/>
        <p:nvPr/>
      </p:nvGrpSpPr>
      <p:grpSpPr>
        <a:xfrm>
          <a:off x="0" y="0"/>
          <a:ext cx="0" cy="0"/>
          <a:chOff x="0" y="0"/>
          <a:chExt cx="0" cy="0"/>
        </a:xfrm>
      </p:grpSpPr>
      <p:sp>
        <p:nvSpPr>
          <p:cNvPr id="2" name="Shape 0"/>
          <p:cNvSpPr/>
          <p:nvPr/>
        </p:nvSpPr>
        <p:spPr>
          <a:xfrm>
            <a:off x="8138160" y="1097280"/>
            <a:ext cx="4937760" cy="4937760"/>
          </a:xfrm>
          <a:prstGeom prst="ellipse">
            <a:avLst/>
          </a:prstGeom>
          <a:solidFill>
            <a:srgbClr val="2F7A55"/>
          </a:solidFill>
          <a:ln w="12700">
            <a:solidFill>
              <a:srgbClr val="2F7A55"/>
            </a:solidFill>
            <a:prstDash val="solid"/>
          </a:ln>
        </p:spPr>
      </p:sp>
      <p:sp>
        <p:nvSpPr>
          <p:cNvPr id="3" name="Shape 1"/>
          <p:cNvSpPr/>
          <p:nvPr/>
        </p:nvSpPr>
        <p:spPr>
          <a:xfrm>
            <a:off x="9326880" y="365760"/>
            <a:ext cx="2011680" cy="2011680"/>
          </a:xfrm>
          <a:prstGeom prst="ellipse">
            <a:avLst/>
          </a:prstGeom>
          <a:solidFill>
            <a:srgbClr val="E9786B">
              <a:alpha val="85000"/>
            </a:srgbClr>
          </a:solidFill>
          <a:ln w="12700">
            <a:solidFill>
              <a:srgbClr val="E9786B"/>
            </a:solidFill>
            <a:prstDash val="solid"/>
          </a:ln>
        </p:spPr>
      </p:sp>
      <p:pic>
        <p:nvPicPr>
          <p:cNvPr id="4" name="Image 0" descr="preencoded.png">    </p:cNvPr>
          <p:cNvPicPr>
            <a:picLocks noChangeAspect="1"/>
          </p:cNvPicPr>
          <p:nvPr/>
        </p:nvPicPr>
        <p:blipFill>
          <a:blip r:embed="rId1"/>
          <a:stretch>
            <a:fillRect/>
          </a:stretch>
        </p:blipFill>
        <p:spPr>
          <a:xfrm>
            <a:off x="9464040" y="2514600"/>
            <a:ext cx="1920240" cy="1920240"/>
          </a:xfrm>
          <a:prstGeom prst="rect">
            <a:avLst/>
          </a:prstGeom>
        </p:spPr>
      </p:pic>
      <p:sp>
        <p:nvSpPr>
          <p:cNvPr id="5" name="Text 2"/>
          <p:cNvSpPr txBox="1"/>
          <p:nvPr/>
        </p:nvSpPr>
        <p:spPr>
          <a:xfrm>
            <a:off x="640080" y="731520"/>
            <a:ext cx="6400800" cy="365760"/>
          </a:xfrm>
          <a:prstGeom prst="rect">
            <a:avLst/>
          </a:prstGeom>
          <a:noFill/>
          <a:ln/>
        </p:spPr>
        <p:txBody>
          <a:bodyPr wrap="square" lIns="0" tIns="0" rIns="0" bIns="0" rtlCol="0" anchor="t"/>
          <a:lstStyle/>
          <a:p>
            <a:pPr indent="0" marL="0">
              <a:buNone/>
            </a:pPr>
            <a:r>
              <a:rPr lang="en-US" sz="1600" dirty="0">
                <a:solidFill>
                  <a:srgbClr val="D5E9DC"/>
                </a:solidFill>
                <a:latin typeface="Meiryo UI" pitchFamily="34" charset="0"/>
                <a:ea typeface="Meiryo UI" pitchFamily="34" charset="-122"/>
                <a:cs typeface="Meiryo UI" pitchFamily="34" charset="-120"/>
              </a:rPr>
              <a:t>株式会社クローバーハウス 御中</a:t>
            </a:r>
            <a:endParaRPr lang="en-US" sz="1600" dirty="0"/>
          </a:p>
        </p:txBody>
      </p:sp>
      <p:sp>
        <p:nvSpPr>
          <p:cNvPr id="6" name="Text 3"/>
          <p:cNvSpPr txBox="1"/>
          <p:nvPr/>
        </p:nvSpPr>
        <p:spPr>
          <a:xfrm>
            <a:off x="640080" y="1463040"/>
            <a:ext cx="7498080" cy="2468880"/>
          </a:xfrm>
          <a:prstGeom prst="rect">
            <a:avLst/>
          </a:prstGeom>
          <a:noFill/>
          <a:ln/>
        </p:spPr>
        <p:txBody>
          <a:bodyPr wrap="square" lIns="0" tIns="0" rIns="0" bIns="0" rtlCol="0" anchor="t"/>
          <a:lstStyle/>
          <a:p>
            <a:pPr indent="0" marL="0">
              <a:lnSpc>
                <a:spcPct val="105000"/>
              </a:lnSpc>
              <a:buNone/>
            </a:pPr>
            <a:r>
              <a:rPr lang="en-US" sz="4000" b="1" dirty="0">
                <a:solidFill>
                  <a:srgbClr val="FFFFFF"/>
                </a:solidFill>
                <a:latin typeface="Meiryo UI" pitchFamily="34" charset="0"/>
                <a:ea typeface="Meiryo UI" pitchFamily="34" charset="-122"/>
                <a:cs typeface="Meiryo UI" pitchFamily="34" charset="-120"/>
              </a:rPr>
              <a:t>オンライン塾・子育て講座</a:t>
            </a:r>
            <a:endParaRPr lang="en-US" sz="4000" dirty="0"/>
          </a:p>
          <a:p>
            <a:pPr indent="0" marL="0">
              <a:lnSpc>
                <a:spcPct val="105000"/>
              </a:lnSpc>
              <a:buNone/>
            </a:pPr>
            <a:r>
              <a:rPr lang="en-US" sz="4000" b="1" dirty="0">
                <a:solidFill>
                  <a:srgbClr val="FFFFFF"/>
                </a:solidFill>
                <a:latin typeface="Meiryo UI" pitchFamily="34" charset="0"/>
                <a:ea typeface="Meiryo UI" pitchFamily="34" charset="-122"/>
                <a:cs typeface="Meiryo UI" pitchFamily="34" charset="-120"/>
              </a:rPr>
              <a:t>営業・マーケティング</a:t>
            </a:r>
            <a:endParaRPr lang="en-US" sz="4000" dirty="0"/>
          </a:p>
          <a:p>
            <a:pPr indent="0" marL="0">
              <a:lnSpc>
                <a:spcPct val="105000"/>
              </a:lnSpc>
              <a:buNone/>
            </a:pPr>
            <a:r>
              <a:rPr lang="en-US" sz="4000" b="1" dirty="0">
                <a:solidFill>
                  <a:srgbClr val="FFFFFF"/>
                </a:solidFill>
                <a:latin typeface="Meiryo UI" pitchFamily="34" charset="0"/>
                <a:ea typeface="Meiryo UI" pitchFamily="34" charset="-122"/>
                <a:cs typeface="Meiryo UI" pitchFamily="34" charset="-120"/>
              </a:rPr>
              <a:t>総合改革提案書</a:t>
            </a:r>
            <a:endParaRPr lang="en-US" sz="4000" dirty="0"/>
          </a:p>
        </p:txBody>
      </p:sp>
      <p:sp>
        <p:nvSpPr>
          <p:cNvPr id="7" name="Text 4"/>
          <p:cNvSpPr txBox="1"/>
          <p:nvPr/>
        </p:nvSpPr>
        <p:spPr>
          <a:xfrm>
            <a:off x="640080" y="4069080"/>
            <a:ext cx="7680960" cy="457200"/>
          </a:xfrm>
          <a:prstGeom prst="rect">
            <a:avLst/>
          </a:prstGeom>
          <a:noFill/>
          <a:ln/>
        </p:spPr>
        <p:txBody>
          <a:bodyPr wrap="square" lIns="0" tIns="0" rIns="0" bIns="0" rtlCol="0" anchor="t"/>
          <a:lstStyle/>
          <a:p>
            <a:pPr indent="0" marL="0">
              <a:buNone/>
            </a:pPr>
            <a:r>
              <a:rPr lang="en-US" sz="1800" b="1" dirty="0">
                <a:solidFill>
                  <a:srgbClr val="F6B3AA"/>
                </a:solidFill>
                <a:latin typeface="Meiryo UI" pitchFamily="34" charset="0"/>
                <a:ea typeface="Meiryo UI" pitchFamily="34" charset="-122"/>
                <a:cs typeface="Meiryo UI" pitchFamily="34" charset="-120"/>
              </a:rPr>
              <a:t>「教室の広さ」に縛られない、全国のお母さんから選ばれる仕組みへ</a:t>
            </a:r>
            <a:endParaRPr lang="en-US" sz="1800" dirty="0"/>
          </a:p>
        </p:txBody>
      </p:sp>
      <p:sp>
        <p:nvSpPr>
          <p:cNvPr id="8" name="Text 5"/>
          <p:cNvSpPr txBox="1"/>
          <p:nvPr/>
        </p:nvSpPr>
        <p:spPr>
          <a:xfrm>
            <a:off x="640080" y="4709160"/>
            <a:ext cx="7498080" cy="365760"/>
          </a:xfrm>
          <a:prstGeom prst="rect">
            <a:avLst/>
          </a:prstGeom>
          <a:noFill/>
          <a:ln/>
        </p:spPr>
        <p:txBody>
          <a:bodyPr wrap="square" lIns="0" tIns="0" rIns="0" bIns="0" rtlCol="0" anchor="t"/>
          <a:lstStyle/>
          <a:p>
            <a:pPr indent="0" marL="0">
              <a:buNone/>
            </a:pPr>
            <a:r>
              <a:rPr lang="en-US" sz="1300" dirty="0">
                <a:solidFill>
                  <a:srgbClr val="D5E9DC"/>
                </a:solidFill>
                <a:latin typeface="Meiryo UI" pitchFamily="34" charset="0"/>
                <a:ea typeface="Meiryo UI" pitchFamily="34" charset="-122"/>
                <a:cs typeface="Meiryo UI" pitchFamily="34" charset="-120"/>
              </a:rPr>
              <a:t>AI対話・動画プラットフォーム「MiTok（ミトク）」ご活用提案／第2回お打ち合わせ資料</a:t>
            </a:r>
            <a:endParaRPr lang="en-US" sz="1300" dirty="0"/>
          </a:p>
        </p:txBody>
      </p:sp>
      <p:sp>
        <p:nvSpPr>
          <p:cNvPr id="9" name="Text 6"/>
          <p:cNvSpPr txBox="1"/>
          <p:nvPr/>
        </p:nvSpPr>
        <p:spPr>
          <a:xfrm>
            <a:off x="640080" y="5989320"/>
            <a:ext cx="7315200" cy="365760"/>
          </a:xfrm>
          <a:prstGeom prst="rect">
            <a:avLst/>
          </a:prstGeom>
          <a:noFill/>
          <a:ln/>
        </p:spPr>
        <p:txBody>
          <a:bodyPr wrap="square" lIns="0" tIns="0" rIns="0" bIns="0" rtlCol="0" anchor="t"/>
          <a:lstStyle/>
          <a:p>
            <a:pPr indent="0" marL="0">
              <a:buNone/>
            </a:pPr>
            <a:r>
              <a:rPr lang="en-US" sz="1300" b="1" dirty="0">
                <a:solidFill>
                  <a:srgbClr val="FFFFFF"/>
                </a:solidFill>
                <a:latin typeface="Meiryo UI" pitchFamily="34" charset="0"/>
                <a:ea typeface="Meiryo UI" pitchFamily="34" charset="-122"/>
                <a:cs typeface="Meiryo UI" pitchFamily="34" charset="-120"/>
              </a:rPr>
              <a:t>株式会社アイドマ・ホールディングス　MiTok事業部</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8614F"/>
                </a:solidFill>
                <a:latin typeface="Meiryo UI" pitchFamily="34" charset="0"/>
                <a:ea typeface="Meiryo UI" pitchFamily="34" charset="-122"/>
                <a:cs typeface="Meiryo UI" pitchFamily="34" charset="-120"/>
              </a:rPr>
              <a:t>EXECUTIVE SUMMARY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2F7A55"/>
                </a:solidFill>
                <a:latin typeface="Meiryo UI" pitchFamily="34" charset="0"/>
                <a:ea typeface="Meiryo UI" pitchFamily="34" charset="-122"/>
                <a:cs typeface="Meiryo UI" pitchFamily="34" charset="-120"/>
              </a:rPr>
              <a:t>結論：MiTokを「全国集客のエンジン」として導入する</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0"/>
                </a:solidFill>
                <a:latin typeface="Meiryo UI" pitchFamily="34" charset="0"/>
                <a:ea typeface="Meiryo UI" pitchFamily="34" charset="-122"/>
                <a:cs typeface="Meiryo UI" pitchFamily="34" charset="-120"/>
              </a:rPr>
              <a:t>2</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0"/>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371600"/>
            <a:ext cx="11094415" cy="960120"/>
          </a:xfrm>
          <a:prstGeom prst="roundRect">
            <a:avLst>
              <a:gd name="adj" fmla="val 11429"/>
            </a:avLst>
          </a:prstGeom>
          <a:solidFill>
            <a:srgbClr val="EAF4EE"/>
          </a:solidFill>
          <a:ln w="12700">
            <a:solidFill>
              <a:srgbClr val="EAF4EE"/>
            </a:solidFill>
            <a:prstDash val="solid"/>
          </a:ln>
        </p:spPr>
      </p:sp>
      <p:sp>
        <p:nvSpPr>
          <p:cNvPr id="7" name="Text 5"/>
          <p:cNvSpPr txBox="1"/>
          <p:nvPr/>
        </p:nvSpPr>
        <p:spPr>
          <a:xfrm>
            <a:off x="868680" y="1371600"/>
            <a:ext cx="10454335" cy="960120"/>
          </a:xfrm>
          <a:prstGeom prst="rect">
            <a:avLst/>
          </a:prstGeom>
          <a:noFill/>
          <a:ln/>
        </p:spPr>
        <p:txBody>
          <a:bodyPr wrap="square" lIns="0" tIns="0" rIns="0" bIns="0" rtlCol="0" anchor="ctr"/>
          <a:lstStyle/>
          <a:p>
            <a:pPr indent="0" marL="0">
              <a:buNone/>
            </a:pPr>
            <a:r>
              <a:rPr lang="en-US" sz="1550" b="1" dirty="0">
                <a:solidFill>
                  <a:srgbClr val="1D4A35"/>
                </a:solidFill>
                <a:latin typeface="Meiryo UI" pitchFamily="34" charset="0"/>
                <a:ea typeface="Meiryo UI" pitchFamily="34" charset="-122"/>
                <a:cs typeface="Meiryo UI" pitchFamily="34" charset="-120"/>
              </a:rPr>
              <a:t>口コミ・講演会に頼った“教室の広さが上限”の集客から、動画と仕組みで全国のお母さんから</a:t>
            </a:r>
            <a:endParaRPr lang="en-US" sz="1550" dirty="0"/>
          </a:p>
          <a:p>
            <a:pPr indent="0" marL="0">
              <a:buNone/>
            </a:pPr>
            <a:r>
              <a:rPr lang="en-US" sz="1550" b="1" dirty="0">
                <a:solidFill>
                  <a:srgbClr val="1D4A35"/>
                </a:solidFill>
                <a:latin typeface="Meiryo UI" pitchFamily="34" charset="0"/>
                <a:ea typeface="Meiryo UI" pitchFamily="34" charset="-122"/>
                <a:cs typeface="Meiryo UI" pitchFamily="34" charset="-120"/>
              </a:rPr>
              <a:t>無料相談が届く「オンライン塾・子育て講座の集客体制」へ転換することをご提案します。</a:t>
            </a:r>
            <a:endParaRPr lang="en-US" sz="1550" dirty="0"/>
          </a:p>
        </p:txBody>
      </p:sp>
      <p:sp>
        <p:nvSpPr>
          <p:cNvPr id="8" name="Shape 6"/>
          <p:cNvSpPr/>
          <p:nvPr/>
        </p:nvSpPr>
        <p:spPr>
          <a:xfrm>
            <a:off x="548640" y="2606040"/>
            <a:ext cx="3515258" cy="2331720"/>
          </a:xfrm>
          <a:prstGeom prst="roundRect">
            <a:avLst>
              <a:gd name="adj" fmla="val 47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822960" y="2834640"/>
            <a:ext cx="640080" cy="640080"/>
          </a:xfrm>
          <a:prstGeom prst="ellipse">
            <a:avLst/>
          </a:prstGeom>
          <a:solidFill>
            <a:srgbClr val="2F7A55"/>
          </a:solidFill>
          <a:ln w="12700">
            <a:solidFill>
              <a:srgbClr val="2F7A55"/>
            </a:solidFill>
            <a:prstDash val="solid"/>
          </a:ln>
        </p:spPr>
      </p:sp>
      <p:pic>
        <p:nvPicPr>
          <p:cNvPr id="10" name="Image 0" descr="preencoded.png">    </p:cNvPr>
          <p:cNvPicPr>
            <a:picLocks noChangeAspect="1"/>
          </p:cNvPicPr>
          <p:nvPr/>
        </p:nvPicPr>
        <p:blipFill>
          <a:blip r:embed="rId1"/>
          <a:stretch>
            <a:fillRect/>
          </a:stretch>
        </p:blipFill>
        <p:spPr>
          <a:xfrm>
            <a:off x="989381" y="3001061"/>
            <a:ext cx="307238" cy="307238"/>
          </a:xfrm>
          <a:prstGeom prst="rect">
            <a:avLst/>
          </a:prstGeom>
        </p:spPr>
      </p:pic>
      <p:sp>
        <p:nvSpPr>
          <p:cNvPr id="11" name="Text 8"/>
          <p:cNvSpPr txBox="1"/>
          <p:nvPr/>
        </p:nvSpPr>
        <p:spPr>
          <a:xfrm>
            <a:off x="1600200" y="2834640"/>
            <a:ext cx="2280818" cy="640080"/>
          </a:xfrm>
          <a:prstGeom prst="rect">
            <a:avLst/>
          </a:prstGeom>
          <a:noFill/>
          <a:ln/>
        </p:spPr>
        <p:txBody>
          <a:bodyPr wrap="square" lIns="0" tIns="0" rIns="0" bIns="0" rtlCol="0" anchor="ctr"/>
          <a:lstStyle/>
          <a:p>
            <a:pPr indent="0" marL="0">
              <a:buNone/>
            </a:pPr>
            <a:r>
              <a:rPr lang="en-US" sz="1500" b="1" dirty="0">
                <a:solidFill>
                  <a:srgbClr val="2F7A55"/>
                </a:solidFill>
                <a:latin typeface="Meiryo UI" pitchFamily="34" charset="0"/>
                <a:ea typeface="Meiryo UI" pitchFamily="34" charset="-122"/>
                <a:cs typeface="Meiryo UI" pitchFamily="34" charset="-120"/>
              </a:rPr>
              <a:t>プッシュ｜講演会の熱を逃さない</a:t>
            </a:r>
            <a:endParaRPr lang="en-US" sz="1500" dirty="0"/>
          </a:p>
        </p:txBody>
      </p:sp>
      <p:sp>
        <p:nvSpPr>
          <p:cNvPr id="12" name="Text 9"/>
          <p:cNvSpPr txBox="1"/>
          <p:nvPr/>
        </p:nvSpPr>
        <p:spPr>
          <a:xfrm>
            <a:off x="822960" y="3611880"/>
            <a:ext cx="2966618" cy="1188720"/>
          </a:xfrm>
          <a:prstGeom prst="rect">
            <a:avLst/>
          </a:prstGeom>
          <a:noFill/>
          <a:ln/>
        </p:spPr>
        <p:txBody>
          <a:bodyPr wrap="square" lIns="0" tIns="0" rIns="0" bIns="0" rtlCol="0" anchor="t"/>
          <a:lstStyle/>
          <a:p>
            <a:pPr indent="0" marL="0">
              <a:lnSpc>
                <a:spcPct val="115000"/>
              </a:lnSpc>
              <a:buNone/>
            </a:pPr>
            <a:r>
              <a:rPr lang="en-US" sz="1250" dirty="0">
                <a:solidFill>
                  <a:srgbClr val="2A3330"/>
                </a:solidFill>
                <a:latin typeface="Meiryo UI" pitchFamily="34" charset="0"/>
                <a:ea typeface="Meiryo UI" pitchFamily="34" charset="-122"/>
                <a:cs typeface="Meiryo UI" pitchFamily="34" charset="-120"/>
              </a:rPr>
              <a:t>講演会参加者・無料相談の申込者・リードマグネット請求者へ、前後のタイミングで動画を届け、相談申込率と入会率を引き上げる。</a:t>
            </a:r>
            <a:endParaRPr lang="en-US" sz="1250" dirty="0"/>
          </a:p>
        </p:txBody>
      </p:sp>
      <p:sp>
        <p:nvSpPr>
          <p:cNvPr id="13" name="Shape 10"/>
          <p:cNvSpPr/>
          <p:nvPr/>
        </p:nvSpPr>
        <p:spPr>
          <a:xfrm>
            <a:off x="4338218" y="2606040"/>
            <a:ext cx="3515258" cy="2331720"/>
          </a:xfrm>
          <a:prstGeom prst="roundRect">
            <a:avLst>
              <a:gd name="adj" fmla="val 47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4" name="Shape 11"/>
          <p:cNvSpPr/>
          <p:nvPr/>
        </p:nvSpPr>
        <p:spPr>
          <a:xfrm>
            <a:off x="4612538" y="2834640"/>
            <a:ext cx="640080" cy="640080"/>
          </a:xfrm>
          <a:prstGeom prst="ellipse">
            <a:avLst/>
          </a:prstGeom>
          <a:solidFill>
            <a:srgbClr val="2F7A55"/>
          </a:solidFill>
          <a:ln w="12700">
            <a:solidFill>
              <a:srgbClr val="2F7A55"/>
            </a:solidFill>
            <a:prstDash val="solid"/>
          </a:ln>
        </p:spPr>
      </p:sp>
      <p:pic>
        <p:nvPicPr>
          <p:cNvPr id="15" name="Image 1" descr="preencoded.png">    </p:cNvPr>
          <p:cNvPicPr>
            <a:picLocks noChangeAspect="1"/>
          </p:cNvPicPr>
          <p:nvPr/>
        </p:nvPicPr>
        <p:blipFill>
          <a:blip r:embed="rId2"/>
          <a:stretch>
            <a:fillRect/>
          </a:stretch>
        </p:blipFill>
        <p:spPr>
          <a:xfrm>
            <a:off x="4778959" y="3001061"/>
            <a:ext cx="307238" cy="307238"/>
          </a:xfrm>
          <a:prstGeom prst="rect">
            <a:avLst/>
          </a:prstGeom>
        </p:spPr>
      </p:pic>
      <p:sp>
        <p:nvSpPr>
          <p:cNvPr id="16" name="Text 12"/>
          <p:cNvSpPr txBox="1"/>
          <p:nvPr/>
        </p:nvSpPr>
        <p:spPr>
          <a:xfrm>
            <a:off x="5389778" y="2834640"/>
            <a:ext cx="2280818" cy="640080"/>
          </a:xfrm>
          <a:prstGeom prst="rect">
            <a:avLst/>
          </a:prstGeom>
          <a:noFill/>
          <a:ln/>
        </p:spPr>
        <p:txBody>
          <a:bodyPr wrap="square" lIns="0" tIns="0" rIns="0" bIns="0" rtlCol="0" anchor="ctr"/>
          <a:lstStyle/>
          <a:p>
            <a:pPr indent="0" marL="0">
              <a:buNone/>
            </a:pPr>
            <a:r>
              <a:rPr lang="en-US" sz="1500" b="1" dirty="0">
                <a:solidFill>
                  <a:srgbClr val="2F7A55"/>
                </a:solidFill>
                <a:latin typeface="Meiryo UI" pitchFamily="34" charset="0"/>
                <a:ea typeface="Meiryo UI" pitchFamily="34" charset="-122"/>
                <a:cs typeface="Meiryo UI" pitchFamily="34" charset="-120"/>
              </a:rPr>
              <a:t>プル｜全国のお母さんからの指名</a:t>
            </a:r>
            <a:endParaRPr lang="en-US" sz="1500" dirty="0"/>
          </a:p>
        </p:txBody>
      </p:sp>
      <p:sp>
        <p:nvSpPr>
          <p:cNvPr id="17" name="Text 13"/>
          <p:cNvSpPr txBox="1"/>
          <p:nvPr/>
        </p:nvSpPr>
        <p:spPr>
          <a:xfrm>
            <a:off x="4612538" y="3611880"/>
            <a:ext cx="2966618" cy="1188720"/>
          </a:xfrm>
          <a:prstGeom prst="rect">
            <a:avLst/>
          </a:prstGeom>
          <a:noFill/>
          <a:ln/>
        </p:spPr>
        <p:txBody>
          <a:bodyPr wrap="square" lIns="0" tIns="0" rIns="0" bIns="0" rtlCol="0" anchor="t"/>
          <a:lstStyle/>
          <a:p>
            <a:pPr indent="0" marL="0">
              <a:lnSpc>
                <a:spcPct val="115000"/>
              </a:lnSpc>
              <a:buNone/>
            </a:pPr>
            <a:r>
              <a:rPr lang="en-US" sz="1250" dirty="0">
                <a:solidFill>
                  <a:srgbClr val="2A3330"/>
                </a:solidFill>
                <a:latin typeface="Meiryo UI" pitchFamily="34" charset="0"/>
                <a:ea typeface="Meiryo UI" pitchFamily="34" charset="-122"/>
                <a:cs typeface="Meiryo UI" pitchFamily="34" charset="-120"/>
              </a:rPr>
              <a:t>YouTube／Instagram／TikTokで代表の考え方と悩み解決のヒントを発信し、LINE登録→無料相談の導線を全国に広げる。</a:t>
            </a:r>
            <a:endParaRPr lang="en-US" sz="1250" dirty="0"/>
          </a:p>
        </p:txBody>
      </p:sp>
      <p:sp>
        <p:nvSpPr>
          <p:cNvPr id="18" name="Shape 14"/>
          <p:cNvSpPr/>
          <p:nvPr/>
        </p:nvSpPr>
        <p:spPr>
          <a:xfrm>
            <a:off x="8127797" y="2606040"/>
            <a:ext cx="3515258" cy="2331720"/>
          </a:xfrm>
          <a:prstGeom prst="roundRect">
            <a:avLst>
              <a:gd name="adj" fmla="val 47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9" name="Shape 15"/>
          <p:cNvSpPr/>
          <p:nvPr/>
        </p:nvSpPr>
        <p:spPr>
          <a:xfrm>
            <a:off x="8402117" y="2834640"/>
            <a:ext cx="640080" cy="640080"/>
          </a:xfrm>
          <a:prstGeom prst="ellipse">
            <a:avLst/>
          </a:prstGeom>
          <a:solidFill>
            <a:srgbClr val="2F7A55"/>
          </a:solidFill>
          <a:ln w="12700">
            <a:solidFill>
              <a:srgbClr val="2F7A55"/>
            </a:solidFill>
            <a:prstDash val="solid"/>
          </a:ln>
        </p:spPr>
      </p:sp>
      <p:pic>
        <p:nvPicPr>
          <p:cNvPr id="20" name="Image 2" descr="preencoded.png">    </p:cNvPr>
          <p:cNvPicPr>
            <a:picLocks noChangeAspect="1"/>
          </p:cNvPicPr>
          <p:nvPr/>
        </p:nvPicPr>
        <p:blipFill>
          <a:blip r:embed="rId3"/>
          <a:stretch>
            <a:fillRect/>
          </a:stretch>
        </p:blipFill>
        <p:spPr>
          <a:xfrm>
            <a:off x="8568538" y="3001061"/>
            <a:ext cx="307238" cy="307238"/>
          </a:xfrm>
          <a:prstGeom prst="rect">
            <a:avLst/>
          </a:prstGeom>
        </p:spPr>
      </p:pic>
      <p:sp>
        <p:nvSpPr>
          <p:cNvPr id="21" name="Text 16"/>
          <p:cNvSpPr txBox="1"/>
          <p:nvPr/>
        </p:nvSpPr>
        <p:spPr>
          <a:xfrm>
            <a:off x="9179357" y="2834640"/>
            <a:ext cx="2280818" cy="640080"/>
          </a:xfrm>
          <a:prstGeom prst="rect">
            <a:avLst/>
          </a:prstGeom>
          <a:noFill/>
          <a:ln/>
        </p:spPr>
        <p:txBody>
          <a:bodyPr wrap="square" lIns="0" tIns="0" rIns="0" bIns="0" rtlCol="0" anchor="ctr"/>
          <a:lstStyle/>
          <a:p>
            <a:pPr indent="0" marL="0">
              <a:buNone/>
            </a:pPr>
            <a:r>
              <a:rPr lang="en-US" sz="1500" b="1" dirty="0">
                <a:solidFill>
                  <a:srgbClr val="2F7A55"/>
                </a:solidFill>
                <a:latin typeface="Meiryo UI" pitchFamily="34" charset="0"/>
                <a:ea typeface="Meiryo UI" pitchFamily="34" charset="-122"/>
                <a:cs typeface="Meiryo UI" pitchFamily="34" charset="-120"/>
              </a:rPr>
              <a:t>2フェーズの伴走</a:t>
            </a:r>
            <a:endParaRPr lang="en-US" sz="1500" dirty="0"/>
          </a:p>
        </p:txBody>
      </p:sp>
      <p:sp>
        <p:nvSpPr>
          <p:cNvPr id="22" name="Text 17"/>
          <p:cNvSpPr txBox="1"/>
          <p:nvPr/>
        </p:nvSpPr>
        <p:spPr>
          <a:xfrm>
            <a:off x="8402117" y="3611880"/>
            <a:ext cx="2966618" cy="1188720"/>
          </a:xfrm>
          <a:prstGeom prst="rect">
            <a:avLst/>
          </a:prstGeom>
          <a:noFill/>
          <a:ln/>
        </p:spPr>
        <p:txBody>
          <a:bodyPr wrap="square" lIns="0" tIns="0" rIns="0" bIns="0" rtlCol="0" anchor="t"/>
          <a:lstStyle/>
          <a:p>
            <a:pPr indent="0" marL="0">
              <a:lnSpc>
                <a:spcPct val="115000"/>
              </a:lnSpc>
              <a:buNone/>
            </a:pPr>
            <a:r>
              <a:rPr lang="en-US" sz="1250" dirty="0">
                <a:solidFill>
                  <a:srgbClr val="2A3330"/>
                </a:solidFill>
                <a:latin typeface="Meiryo UI" pitchFamily="34" charset="0"/>
                <a:ea typeface="Meiryo UI" pitchFamily="34" charset="-122"/>
                <a:cs typeface="Meiryo UI" pitchFamily="34" charset="-120"/>
              </a:rPr>
              <a:t>無料3本は効果検証のためのプロトタイプ。検証結果をそのまま有料伴走へ引き継ぎ、改善・量産・運用まで一気通貫で実行する。</a:t>
            </a:r>
            <a:endParaRPr lang="en-US" sz="1250" dirty="0"/>
          </a:p>
        </p:txBody>
      </p:sp>
      <p:sp>
        <p:nvSpPr>
          <p:cNvPr id="23" name="Text 18"/>
          <p:cNvSpPr txBox="1"/>
          <p:nvPr/>
        </p:nvSpPr>
        <p:spPr>
          <a:xfrm>
            <a:off x="548640" y="5193792"/>
            <a:ext cx="2743200" cy="320040"/>
          </a:xfrm>
          <a:prstGeom prst="rect">
            <a:avLst/>
          </a:prstGeom>
          <a:noFill/>
          <a:ln/>
        </p:spPr>
        <p:txBody>
          <a:bodyPr wrap="square" lIns="0" tIns="0" rIns="0" bIns="0" rtlCol="0" anchor="t"/>
          <a:lstStyle/>
          <a:p>
            <a:pPr indent="0" marL="0">
              <a:buNone/>
            </a:pPr>
            <a:r>
              <a:rPr lang="en-US" sz="1300" b="1" dirty="0">
                <a:solidFill>
                  <a:srgbClr val="D8614F"/>
                </a:solidFill>
                <a:latin typeface="Meiryo UI" pitchFamily="34" charset="0"/>
                <a:ea typeface="Meiryo UI" pitchFamily="34" charset="-122"/>
                <a:cs typeface="Meiryo UI" pitchFamily="34" charset="-120"/>
              </a:rPr>
              <a:t>12ヶ月後のゴール</a:t>
            </a:r>
            <a:endParaRPr lang="en-US" sz="1300" dirty="0"/>
          </a:p>
        </p:txBody>
      </p:sp>
      <p:sp>
        <p:nvSpPr>
          <p:cNvPr id="24" name="Shape 19"/>
          <p:cNvSpPr/>
          <p:nvPr/>
        </p:nvSpPr>
        <p:spPr>
          <a:xfrm>
            <a:off x="548640" y="5577840"/>
            <a:ext cx="365760" cy="365760"/>
          </a:xfrm>
          <a:prstGeom prst="ellipse">
            <a:avLst/>
          </a:prstGeom>
          <a:solidFill>
            <a:srgbClr val="FDECEA"/>
          </a:solidFill>
          <a:ln w="12700">
            <a:solidFill>
              <a:srgbClr val="FDECEA"/>
            </a:solidFill>
            <a:prstDash val="solid"/>
          </a:ln>
        </p:spPr>
      </p:sp>
      <p:pic>
        <p:nvPicPr>
          <p:cNvPr id="25" name="Image 3" descr="preencoded.png">    </p:cNvPr>
          <p:cNvPicPr>
            <a:picLocks noChangeAspect="1"/>
          </p:cNvPicPr>
          <p:nvPr/>
        </p:nvPicPr>
        <p:blipFill>
          <a:blip r:embed="rId4"/>
          <a:stretch>
            <a:fillRect/>
          </a:stretch>
        </p:blipFill>
        <p:spPr>
          <a:xfrm>
            <a:off x="643738" y="5672938"/>
            <a:ext cx="175565" cy="175565"/>
          </a:xfrm>
          <a:prstGeom prst="rect">
            <a:avLst/>
          </a:prstGeom>
        </p:spPr>
      </p:pic>
      <p:sp>
        <p:nvSpPr>
          <p:cNvPr id="26" name="Text 20"/>
          <p:cNvSpPr txBox="1"/>
          <p:nvPr/>
        </p:nvSpPr>
        <p:spPr>
          <a:xfrm>
            <a:off x="1024128" y="5532120"/>
            <a:ext cx="3012338" cy="548640"/>
          </a:xfrm>
          <a:prstGeom prst="rect">
            <a:avLst/>
          </a:prstGeom>
          <a:noFill/>
          <a:ln/>
        </p:spPr>
        <p:txBody>
          <a:bodyPr wrap="square" lIns="0" tIns="0" rIns="0" bIns="0" rtlCol="0" anchor="ctr"/>
          <a:lstStyle/>
          <a:p>
            <a:pPr indent="0" marL="0">
              <a:buNone/>
            </a:pPr>
            <a:r>
              <a:rPr lang="en-US" sz="1200" dirty="0">
                <a:solidFill>
                  <a:srgbClr val="2A3330"/>
                </a:solidFill>
                <a:latin typeface="Meiryo UI" pitchFamily="34" charset="0"/>
                <a:ea typeface="Meiryo UI" pitchFamily="34" charset="-122"/>
                <a:cs typeface="Meiryo UI" pitchFamily="34" charset="-120"/>
              </a:rPr>
              <a:t>教室の広さに関係なく、オンライン塾の生徒が全国から集まる</a:t>
            </a:r>
            <a:endParaRPr lang="en-US" sz="1200" dirty="0"/>
          </a:p>
        </p:txBody>
      </p:sp>
      <p:sp>
        <p:nvSpPr>
          <p:cNvPr id="27" name="Shape 21"/>
          <p:cNvSpPr/>
          <p:nvPr/>
        </p:nvSpPr>
        <p:spPr>
          <a:xfrm>
            <a:off x="4338218" y="5577840"/>
            <a:ext cx="365760" cy="365760"/>
          </a:xfrm>
          <a:prstGeom prst="ellipse">
            <a:avLst/>
          </a:prstGeom>
          <a:solidFill>
            <a:srgbClr val="FDECEA"/>
          </a:solidFill>
          <a:ln w="12700">
            <a:solidFill>
              <a:srgbClr val="FDECEA"/>
            </a:solidFill>
            <a:prstDash val="solid"/>
          </a:ln>
        </p:spPr>
      </p:sp>
      <p:pic>
        <p:nvPicPr>
          <p:cNvPr id="28" name="Image 4" descr="preencoded.png">    </p:cNvPr>
          <p:cNvPicPr>
            <a:picLocks noChangeAspect="1"/>
          </p:cNvPicPr>
          <p:nvPr/>
        </p:nvPicPr>
        <p:blipFill>
          <a:blip r:embed="rId5"/>
          <a:stretch>
            <a:fillRect/>
          </a:stretch>
        </p:blipFill>
        <p:spPr>
          <a:xfrm>
            <a:off x="4433316" y="5672938"/>
            <a:ext cx="175565" cy="175565"/>
          </a:xfrm>
          <a:prstGeom prst="rect">
            <a:avLst/>
          </a:prstGeom>
        </p:spPr>
      </p:pic>
      <p:sp>
        <p:nvSpPr>
          <p:cNvPr id="29" name="Text 22"/>
          <p:cNvSpPr txBox="1"/>
          <p:nvPr/>
        </p:nvSpPr>
        <p:spPr>
          <a:xfrm>
            <a:off x="4813706" y="5532120"/>
            <a:ext cx="3012338" cy="548640"/>
          </a:xfrm>
          <a:prstGeom prst="rect">
            <a:avLst/>
          </a:prstGeom>
          <a:noFill/>
          <a:ln/>
        </p:spPr>
        <p:txBody>
          <a:bodyPr wrap="square" lIns="0" tIns="0" rIns="0" bIns="0" rtlCol="0" anchor="ctr"/>
          <a:lstStyle/>
          <a:p>
            <a:pPr indent="0" marL="0">
              <a:buNone/>
            </a:pPr>
            <a:r>
              <a:rPr lang="en-US" sz="1200" dirty="0">
                <a:solidFill>
                  <a:srgbClr val="2A3330"/>
                </a:solidFill>
                <a:latin typeface="Meiryo UI" pitchFamily="34" charset="0"/>
                <a:ea typeface="Meiryo UI" pitchFamily="34" charset="-122"/>
                <a:cs typeface="Meiryo UI" pitchFamily="34" charset="-120"/>
              </a:rPr>
              <a:t>年内リリースの子育て講座が、ローンチ時点から受講者を集められる</a:t>
            </a:r>
            <a:endParaRPr lang="en-US" sz="1200" dirty="0"/>
          </a:p>
        </p:txBody>
      </p:sp>
      <p:sp>
        <p:nvSpPr>
          <p:cNvPr id="30" name="Shape 23"/>
          <p:cNvSpPr/>
          <p:nvPr/>
        </p:nvSpPr>
        <p:spPr>
          <a:xfrm>
            <a:off x="8127797" y="5577840"/>
            <a:ext cx="365760" cy="365760"/>
          </a:xfrm>
          <a:prstGeom prst="ellipse">
            <a:avLst/>
          </a:prstGeom>
          <a:solidFill>
            <a:srgbClr val="FDECEA"/>
          </a:solidFill>
          <a:ln w="12700">
            <a:solidFill>
              <a:srgbClr val="FDECEA"/>
            </a:solidFill>
            <a:prstDash val="solid"/>
          </a:ln>
        </p:spPr>
      </p:sp>
      <p:pic>
        <p:nvPicPr>
          <p:cNvPr id="31" name="Image 5" descr="preencoded.png">    </p:cNvPr>
          <p:cNvPicPr>
            <a:picLocks noChangeAspect="1"/>
          </p:cNvPicPr>
          <p:nvPr/>
        </p:nvPicPr>
        <p:blipFill>
          <a:blip r:embed="rId6"/>
          <a:stretch>
            <a:fillRect/>
          </a:stretch>
        </p:blipFill>
        <p:spPr>
          <a:xfrm>
            <a:off x="8222894" y="5672938"/>
            <a:ext cx="175565" cy="175565"/>
          </a:xfrm>
          <a:prstGeom prst="rect">
            <a:avLst/>
          </a:prstGeom>
        </p:spPr>
      </p:pic>
      <p:sp>
        <p:nvSpPr>
          <p:cNvPr id="32" name="Text 24"/>
          <p:cNvSpPr txBox="1"/>
          <p:nvPr/>
        </p:nvSpPr>
        <p:spPr>
          <a:xfrm>
            <a:off x="8603285" y="5532120"/>
            <a:ext cx="3012338" cy="548640"/>
          </a:xfrm>
          <a:prstGeom prst="rect">
            <a:avLst/>
          </a:prstGeom>
          <a:noFill/>
          <a:ln/>
        </p:spPr>
        <p:txBody>
          <a:bodyPr wrap="square" lIns="0" tIns="0" rIns="0" bIns="0" rtlCol="0" anchor="ctr"/>
          <a:lstStyle/>
          <a:p>
            <a:pPr indent="0" marL="0">
              <a:buNone/>
            </a:pPr>
            <a:r>
              <a:rPr lang="en-US" sz="1200" dirty="0">
                <a:solidFill>
                  <a:srgbClr val="2A3330"/>
                </a:solidFill>
                <a:latin typeface="Meiryo UI" pitchFamily="34" charset="0"/>
                <a:ea typeface="Meiryo UI" pitchFamily="34" charset="-122"/>
                <a:cs typeface="Meiryo UI" pitchFamily="34" charset="-120"/>
              </a:rPr>
              <a:t>代表が毎回話さなくても、動画が“想い”を伝え続けている</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8614F"/>
                </a:solidFill>
                <a:latin typeface="Meiryo UI" pitchFamily="34" charset="0"/>
                <a:ea typeface="Meiryo UI" pitchFamily="34" charset="-122"/>
                <a:cs typeface="Meiryo UI" pitchFamily="34" charset="-120"/>
              </a:rPr>
              <a:t>01｜RECAP</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2F7A55"/>
                </a:solidFill>
                <a:latin typeface="Meiryo UI" pitchFamily="34" charset="0"/>
                <a:ea typeface="Meiryo UI" pitchFamily="34" charset="-122"/>
                <a:cs typeface="Meiryo UI" pitchFamily="34" charset="-120"/>
              </a:rPr>
              <a:t>前回お打ち合わせの振り返り</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0"/>
                </a:solidFill>
                <a:latin typeface="Meiryo UI" pitchFamily="34" charset="0"/>
                <a:ea typeface="Meiryo UI" pitchFamily="34" charset="-122"/>
                <a:cs typeface="Meiryo UI" pitchFamily="34" charset="-120"/>
              </a:rPr>
              <a:t>3</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0"/>
                </a:solidFill>
                <a:latin typeface="Meiryo UI" pitchFamily="34" charset="0"/>
                <a:ea typeface="Meiryo UI" pitchFamily="34" charset="-122"/>
                <a:cs typeface="Meiryo UI" pitchFamily="34" charset="-120"/>
              </a:rPr>
              <a:t>株式会社アイドマ・ホールディングス｜MiTok</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498080" cy="914400"/>
        </p:xfrm>
        <a:graphic>
          <a:graphicData uri="http://schemas.openxmlformats.org/drawingml/2006/table">
            <a:tbl>
              <a:tblPr/>
              <a:tblGrid>
                <a:gridCol w="1737360"/>
                <a:gridCol w="5760720"/>
              </a:tblGrid>
              <a:tr h="585216">
                <a:tc>
                  <a:txBody>
                    <a:bodyPr/>
                    <a:lstStyle/>
                    <a:p>
                      <a:pPr indent="0" marL="0">
                        <a:buNone/>
                      </a:pPr>
                      <a:r>
                        <a:rPr lang="en-US" sz="1200" b="1" dirty="0">
                          <a:solidFill>
                            <a:srgbClr val="FFFFFF"/>
                          </a:solidFill>
                          <a:latin typeface="Meiryo UI" pitchFamily="34" charset="0"/>
                          <a:ea typeface="Meiryo UI" pitchFamily="34" charset="-122"/>
                          <a:cs typeface="Meiryo UI" pitchFamily="34" charset="-120"/>
                        </a:rPr>
                        <a:t>項目</a:t>
                      </a:r>
                      <a:endParaRPr lang="en-US" sz="120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2F7A55"/>
                    </a:solidFill>
                  </a:tcPr>
                </a:tc>
                <a:tc>
                  <a:txBody>
                    <a:bodyPr/>
                    <a:lstStyle/>
                    <a:p>
                      <a:pPr indent="0" marL="0">
                        <a:buNone/>
                      </a:pPr>
                      <a:r>
                        <a:rPr lang="en-US" sz="1200" b="1" dirty="0">
                          <a:solidFill>
                            <a:srgbClr val="FFFFFF"/>
                          </a:solidFill>
                          <a:latin typeface="Meiryo UI" pitchFamily="34" charset="0"/>
                          <a:ea typeface="Meiryo UI" pitchFamily="34" charset="-122"/>
                          <a:cs typeface="Meiryo UI" pitchFamily="34" charset="-120"/>
                        </a:rPr>
                        <a:t>確認内容</a:t>
                      </a:r>
                      <a:endParaRPr lang="en-US" sz="120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2F7A55"/>
                    </a:solidFill>
                  </a:tcPr>
                </a:tc>
              </a:tr>
              <a:tr h="585216">
                <a:tc>
                  <a:txBody>
                    <a:bodyPr/>
                    <a:lstStyle/>
                    <a:p>
                      <a:pPr indent="0" marL="0">
                        <a:buNone/>
                      </a:pPr>
                      <a:r>
                        <a:rPr lang="en-US" sz="1150" b="1" dirty="0">
                          <a:solidFill>
                            <a:srgbClr val="2F7A55"/>
                          </a:solidFill>
                          <a:latin typeface="Meiryo UI" pitchFamily="34" charset="0"/>
                          <a:ea typeface="Meiryo UI" pitchFamily="34" charset="-122"/>
                          <a:cs typeface="Meiryo UI" pitchFamily="34" charset="-120"/>
                        </a:rPr>
                        <a:t>事業</a:t>
                      </a:r>
                      <a:endParaRPr lang="en-US" sz="115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FFFFF"/>
                    </a:solidFill>
                  </a:tcPr>
                </a:tc>
                <a:tc>
                  <a:txBody>
                    <a:bodyPr/>
                    <a:lstStyle/>
                    <a:p>
                      <a:pPr indent="0" marL="0">
                        <a:buNone/>
                      </a:pPr>
                      <a:r>
                        <a:rPr lang="en-US" sz="1150" dirty="0">
                          <a:solidFill>
                            <a:srgbClr val="2A3330"/>
                          </a:solidFill>
                          <a:latin typeface="Meiryo UI" pitchFamily="34" charset="0"/>
                          <a:ea typeface="Meiryo UI" pitchFamily="34" charset="-122"/>
                          <a:cs typeface="Meiryo UI" pitchFamily="34" charset="-120"/>
                        </a:rPr>
                        <a:t>子ども向け学習塾（対面・オンライン／不登校相談を含む）と、お母さん向けの心の発達・心理ケア支援</a:t>
                      </a:r>
                      <a:endParaRPr lang="en-US" sz="115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FFFFF"/>
                    </a:solidFill>
                  </a:tcPr>
                </a:tc>
              </a:tr>
              <a:tr h="585216">
                <a:tc>
                  <a:txBody>
                    <a:bodyPr/>
                    <a:lstStyle/>
                    <a:p>
                      <a:pPr indent="0" marL="0">
                        <a:buNone/>
                      </a:pPr>
                      <a:r>
                        <a:rPr lang="en-US" sz="1150" b="1" dirty="0">
                          <a:solidFill>
                            <a:srgbClr val="2F7A55"/>
                          </a:solidFill>
                          <a:latin typeface="Meiryo UI" pitchFamily="34" charset="0"/>
                          <a:ea typeface="Meiryo UI" pitchFamily="34" charset="-122"/>
                          <a:cs typeface="Meiryo UI" pitchFamily="34" charset="-120"/>
                        </a:rPr>
                        <a:t>強み</a:t>
                      </a:r>
                      <a:endParaRPr lang="en-US" sz="115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5F9F6"/>
                    </a:solidFill>
                  </a:tcPr>
                </a:tc>
                <a:tc>
                  <a:txBody>
                    <a:bodyPr/>
                    <a:lstStyle/>
                    <a:p>
                      <a:pPr indent="0" marL="0">
                        <a:buNone/>
                      </a:pPr>
                      <a:r>
                        <a:rPr lang="en-US" sz="1150" dirty="0">
                          <a:solidFill>
                            <a:srgbClr val="2A3330"/>
                          </a:solidFill>
                          <a:latin typeface="Meiryo UI" pitchFamily="34" charset="0"/>
                          <a:ea typeface="Meiryo UI" pitchFamily="34" charset="-122"/>
                          <a:cs typeface="Meiryo UI" pitchFamily="34" charset="-120"/>
                        </a:rPr>
                        <a:t>地域での高い信頼と口コミ、学習指導×お母さんのメンタルケアのセット、月1〜3回の講演会によるファン化</a:t>
                      </a:r>
                      <a:endParaRPr lang="en-US" sz="115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5F9F6"/>
                    </a:solidFill>
                  </a:tcPr>
                </a:tc>
              </a:tr>
              <a:tr h="585216">
                <a:tc>
                  <a:txBody>
                    <a:bodyPr/>
                    <a:lstStyle/>
                    <a:p>
                      <a:pPr indent="0" marL="0">
                        <a:buNone/>
                      </a:pPr>
                      <a:r>
                        <a:rPr lang="en-US" sz="1150" b="1" dirty="0">
                          <a:solidFill>
                            <a:srgbClr val="2F7A55"/>
                          </a:solidFill>
                          <a:latin typeface="Meiryo UI" pitchFamily="34" charset="0"/>
                          <a:ea typeface="Meiryo UI" pitchFamily="34" charset="-122"/>
                          <a:cs typeface="Meiryo UI" pitchFamily="34" charset="-120"/>
                        </a:rPr>
                        <a:t>現在の集客</a:t>
                      </a:r>
                      <a:endParaRPr lang="en-US" sz="115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FFFFF"/>
                    </a:solidFill>
                  </a:tcPr>
                </a:tc>
                <a:tc>
                  <a:txBody>
                    <a:bodyPr/>
                    <a:lstStyle/>
                    <a:p>
                      <a:pPr indent="0" marL="0">
                        <a:buNone/>
                      </a:pPr>
                      <a:r>
                        <a:rPr lang="en-US" sz="1150" dirty="0">
                          <a:solidFill>
                            <a:srgbClr val="2A3330"/>
                          </a:solidFill>
                          <a:latin typeface="Meiryo UI" pitchFamily="34" charset="0"/>
                          <a:ea typeface="Meiryo UI" pitchFamily="34" charset="-122"/>
                          <a:cs typeface="Meiryo UI" pitchFamily="34" charset="-120"/>
                        </a:rPr>
                        <a:t>口コミ・講演会 → 無料相談 → 入会／Instagramのオンラインサロン／リードマグネットを制作中</a:t>
                      </a:r>
                      <a:endParaRPr lang="en-US" sz="115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FFFFF"/>
                    </a:solidFill>
                  </a:tcPr>
                </a:tc>
              </a:tr>
              <a:tr h="585216">
                <a:tc>
                  <a:txBody>
                    <a:bodyPr/>
                    <a:lstStyle/>
                    <a:p>
                      <a:pPr indent="0" marL="0">
                        <a:buNone/>
                      </a:pPr>
                      <a:r>
                        <a:rPr lang="en-US" sz="1150" b="1" dirty="0">
                          <a:solidFill>
                            <a:srgbClr val="2F7A55"/>
                          </a:solidFill>
                          <a:latin typeface="Meiryo UI" pitchFamily="34" charset="0"/>
                          <a:ea typeface="Meiryo UI" pitchFamily="34" charset="-122"/>
                          <a:cs typeface="Meiryo UI" pitchFamily="34" charset="-120"/>
                        </a:rPr>
                        <a:t>課題</a:t>
                      </a:r>
                      <a:endParaRPr lang="en-US" sz="115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5F9F6"/>
                    </a:solidFill>
                  </a:tcPr>
                </a:tc>
                <a:tc>
                  <a:txBody>
                    <a:bodyPr/>
                    <a:lstStyle/>
                    <a:p>
                      <a:pPr indent="0" marL="0">
                        <a:buNone/>
                      </a:pPr>
                      <a:r>
                        <a:rPr lang="en-US" sz="1150" dirty="0">
                          <a:solidFill>
                            <a:srgbClr val="2A3330"/>
                          </a:solidFill>
                          <a:latin typeface="Meiryo UI" pitchFamily="34" charset="0"/>
                          <a:ea typeface="Meiryo UI" pitchFamily="34" charset="-122"/>
                          <a:cs typeface="Meiryo UI" pitchFamily="34" charset="-120"/>
                        </a:rPr>
                        <a:t>教室が手狭で対面の生徒数が上限／テキスト中心のHP・SNSは読まれにくく成果につながりにくい</a:t>
                      </a:r>
                      <a:endParaRPr lang="en-US" sz="115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5F9F6"/>
                    </a:solidFill>
                  </a:tcPr>
                </a:tc>
              </a:tr>
              <a:tr h="585216">
                <a:tc>
                  <a:txBody>
                    <a:bodyPr/>
                    <a:lstStyle/>
                    <a:p>
                      <a:pPr indent="0" marL="0">
                        <a:buNone/>
                      </a:pPr>
                      <a:r>
                        <a:rPr lang="en-US" sz="1150" b="1" dirty="0">
                          <a:solidFill>
                            <a:srgbClr val="2F7A55"/>
                          </a:solidFill>
                          <a:latin typeface="Meiryo UI" pitchFamily="34" charset="0"/>
                          <a:ea typeface="Meiryo UI" pitchFamily="34" charset="-122"/>
                          <a:cs typeface="Meiryo UI" pitchFamily="34" charset="-120"/>
                        </a:rPr>
                        <a:t>目標</a:t>
                      </a:r>
                      <a:endParaRPr lang="en-US" sz="115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FFFFF"/>
                    </a:solidFill>
                  </a:tcPr>
                </a:tc>
                <a:tc>
                  <a:txBody>
                    <a:bodyPr/>
                    <a:lstStyle/>
                    <a:p>
                      <a:pPr indent="0" marL="0">
                        <a:buNone/>
                      </a:pPr>
                      <a:r>
                        <a:rPr lang="en-US" sz="1150" b="1" dirty="0">
                          <a:solidFill>
                            <a:srgbClr val="D8614F"/>
                          </a:solidFill>
                          <a:latin typeface="Meiryo UI" pitchFamily="34" charset="0"/>
                          <a:ea typeface="Meiryo UI" pitchFamily="34" charset="-122"/>
                          <a:cs typeface="Meiryo UI" pitchFamily="34" charset="-120"/>
                        </a:rPr>
                        <a:t>オンライン塾の生徒獲得と、年内リリース予定の子育て講座の全国展開</a:t>
                      </a:r>
                      <a:endParaRPr lang="en-US" sz="115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FFFFF"/>
                    </a:solidFill>
                  </a:tcPr>
                </a:tc>
              </a:tr>
              <a:tr h="585216">
                <a:tc>
                  <a:txBody>
                    <a:bodyPr/>
                    <a:lstStyle/>
                    <a:p>
                      <a:pPr indent="0" marL="0">
                        <a:buNone/>
                      </a:pPr>
                      <a:r>
                        <a:rPr lang="en-US" sz="1150" b="1" dirty="0">
                          <a:solidFill>
                            <a:srgbClr val="2F7A55"/>
                          </a:solidFill>
                          <a:latin typeface="Meiryo UI" pitchFamily="34" charset="0"/>
                          <a:ea typeface="Meiryo UI" pitchFamily="34" charset="-122"/>
                          <a:cs typeface="Meiryo UI" pitchFamily="34" charset="-120"/>
                        </a:rPr>
                        <a:t>MiTokの活用</a:t>
                      </a:r>
                      <a:endParaRPr lang="en-US" sz="115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5F9F6"/>
                    </a:solidFill>
                  </a:tcPr>
                </a:tc>
                <a:tc>
                  <a:txBody>
                    <a:bodyPr/>
                    <a:lstStyle/>
                    <a:p>
                      <a:pPr indent="0" marL="0">
                        <a:buNone/>
                      </a:pPr>
                      <a:r>
                        <a:rPr lang="en-US" sz="1150" dirty="0">
                          <a:solidFill>
                            <a:srgbClr val="2A3330"/>
                          </a:solidFill>
                          <a:latin typeface="Meiryo UI" pitchFamily="34" charset="0"/>
                          <a:ea typeface="Meiryo UI" pitchFamily="34" charset="-122"/>
                          <a:cs typeface="Meiryo UI" pitchFamily="34" charset="-120"/>
                        </a:rPr>
                        <a:t>PR動画を無償で制作し、HP・SNSへ二次利用</a:t>
                      </a:r>
                      <a:endParaRPr lang="en-US" sz="115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5F9F6"/>
                    </a:solidFill>
                  </a:tcPr>
                </a:tc>
              </a:tr>
              <a:tr h="585216">
                <a:tc>
                  <a:txBody>
                    <a:bodyPr/>
                    <a:lstStyle/>
                    <a:p>
                      <a:pPr indent="0" marL="0">
                        <a:buNone/>
                      </a:pPr>
                      <a:r>
                        <a:rPr lang="en-US" sz="1150" b="1" dirty="0">
                          <a:solidFill>
                            <a:srgbClr val="2F7A55"/>
                          </a:solidFill>
                          <a:latin typeface="Meiryo UI" pitchFamily="34" charset="0"/>
                          <a:ea typeface="Meiryo UI" pitchFamily="34" charset="-122"/>
                          <a:cs typeface="Meiryo UI" pitchFamily="34" charset="-120"/>
                        </a:rPr>
                        <a:t>本日のお約束</a:t>
                      </a:r>
                      <a:endParaRPr lang="en-US" sz="115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FFFFF"/>
                    </a:solidFill>
                  </a:tcPr>
                </a:tc>
                <a:tc>
                  <a:txBody>
                    <a:bodyPr/>
                    <a:lstStyle/>
                    <a:p>
                      <a:pPr indent="0" marL="0">
                        <a:buNone/>
                      </a:pPr>
                      <a:r>
                        <a:rPr lang="en-US" sz="1150" dirty="0">
                          <a:solidFill>
                            <a:srgbClr val="2A3330"/>
                          </a:solidFill>
                          <a:latin typeface="Meiryo UI" pitchFamily="34" charset="0"/>
                          <a:ea typeface="Meiryo UI" pitchFamily="34" charset="-122"/>
                          <a:cs typeface="Meiryo UI" pitchFamily="34" charset="-120"/>
                        </a:rPr>
                        <a:t>MiTokの使い方・集客事例のご紹介、在宅スタッフを活用したHP/SNSのテスト運用のご提案（＝本資料）</a:t>
                      </a:r>
                      <a:endParaRPr lang="en-US" sz="115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FFFFF"/>
                    </a:solidFill>
                  </a:tcPr>
                </a:tc>
              </a:tr>
            </a:tbl>
          </a:graphicData>
        </a:graphic>
      </p:graphicFrame>
      <p:sp>
        <p:nvSpPr>
          <p:cNvPr id="7" name="Shape 4"/>
          <p:cNvSpPr/>
          <p:nvPr/>
        </p:nvSpPr>
        <p:spPr>
          <a:xfrm>
            <a:off x="8412480" y="1463040"/>
            <a:ext cx="3227832" cy="4572000"/>
          </a:xfrm>
          <a:prstGeom prst="roundRect">
            <a:avLst>
              <a:gd name="adj" fmla="val 3399"/>
            </a:avLst>
          </a:prstGeom>
          <a:solidFill>
            <a:srgbClr val="EAF4EE"/>
          </a:solidFill>
          <a:ln w="12700">
            <a:solidFill>
              <a:srgbClr val="EAF4EE"/>
            </a:solidFill>
            <a:prstDash val="solid"/>
          </a:ln>
        </p:spPr>
      </p:sp>
      <p:sp>
        <p:nvSpPr>
          <p:cNvPr id="8" name="Shape 5"/>
          <p:cNvSpPr/>
          <p:nvPr/>
        </p:nvSpPr>
        <p:spPr>
          <a:xfrm>
            <a:off x="8732520" y="1783080"/>
            <a:ext cx="731520" cy="731520"/>
          </a:xfrm>
          <a:prstGeom prst="ellipse">
            <a:avLst/>
          </a:prstGeom>
          <a:solidFill>
            <a:srgbClr val="2F7A55"/>
          </a:solidFill>
          <a:ln w="12700">
            <a:solidFill>
              <a:srgbClr val="2F7A55"/>
            </a:solidFill>
            <a:prstDash val="solid"/>
          </a:ln>
        </p:spPr>
      </p:sp>
      <p:pic>
        <p:nvPicPr>
          <p:cNvPr id="9" name="Image 0" descr="preencoded.png">    </p:cNvPr>
          <p:cNvPicPr>
            <a:picLocks noChangeAspect="1"/>
          </p:cNvPicPr>
          <p:nvPr/>
        </p:nvPicPr>
        <p:blipFill>
          <a:blip r:embed="rId1"/>
          <a:stretch>
            <a:fillRect/>
          </a:stretch>
        </p:blipFill>
        <p:spPr>
          <a:xfrm>
            <a:off x="8922715" y="1973275"/>
            <a:ext cx="351130" cy="351130"/>
          </a:xfrm>
          <a:prstGeom prst="rect">
            <a:avLst/>
          </a:prstGeom>
        </p:spPr>
      </p:pic>
      <p:sp>
        <p:nvSpPr>
          <p:cNvPr id="10" name="Text 6"/>
          <p:cNvSpPr txBox="1"/>
          <p:nvPr/>
        </p:nvSpPr>
        <p:spPr>
          <a:xfrm>
            <a:off x="8732520" y="2697480"/>
            <a:ext cx="2651760" cy="457200"/>
          </a:xfrm>
          <a:prstGeom prst="rect">
            <a:avLst/>
          </a:prstGeom>
          <a:noFill/>
          <a:ln/>
        </p:spPr>
        <p:txBody>
          <a:bodyPr wrap="square" lIns="0" tIns="0" rIns="0" bIns="0" rtlCol="0" anchor="t"/>
          <a:lstStyle/>
          <a:p>
            <a:pPr indent="0" marL="0">
              <a:buNone/>
            </a:pPr>
            <a:r>
              <a:rPr lang="en-US" sz="1500" b="1" dirty="0">
                <a:solidFill>
                  <a:srgbClr val="2F7A55"/>
                </a:solidFill>
                <a:latin typeface="Meiryo UI" pitchFamily="34" charset="0"/>
                <a:ea typeface="Meiryo UI" pitchFamily="34" charset="-122"/>
                <a:cs typeface="Meiryo UI" pitchFamily="34" charset="-120"/>
              </a:rPr>
              <a:t>ご用意いただく資料の活用</a:t>
            </a:r>
            <a:endParaRPr lang="en-US" sz="1500" dirty="0"/>
          </a:p>
        </p:txBody>
      </p:sp>
      <p:sp>
        <p:nvSpPr>
          <p:cNvPr id="11" name="Text 7"/>
          <p:cNvSpPr txBox="1"/>
          <p:nvPr/>
        </p:nvSpPr>
        <p:spPr>
          <a:xfrm>
            <a:off x="8732520" y="3200400"/>
            <a:ext cx="2651760" cy="2651760"/>
          </a:xfrm>
          <a:prstGeom prst="rect">
            <a:avLst/>
          </a:prstGeom>
          <a:noFill/>
          <a:ln/>
        </p:spPr>
        <p:txBody>
          <a:bodyPr wrap="square" lIns="0" tIns="0" rIns="0" bIns="0" rtlCol="0" anchor="t"/>
          <a:lstStyle/>
          <a:p>
            <a:pPr indent="0" marL="0">
              <a:lnSpc>
                <a:spcPct val="120000"/>
              </a:lnSpc>
              <a:buNone/>
            </a:pPr>
            <a:r>
              <a:rPr lang="en-US" sz="1250" dirty="0">
                <a:solidFill>
                  <a:srgbClr val="2A3330"/>
                </a:solidFill>
                <a:latin typeface="Meiryo UI" pitchFamily="34" charset="0"/>
                <a:ea typeface="Meiryo UI" pitchFamily="34" charset="-122"/>
                <a:cs typeface="Meiryo UI" pitchFamily="34" charset="-120"/>
              </a:rPr>
              <a:t>オンライン塾・子育て講座の資料は、そのまま無料3本の台本・構成の一次素材として活用します。</a:t>
            </a:r>
            <a:endParaRPr lang="en-US" sz="1250" dirty="0"/>
          </a:p>
          <a:p>
            <a:pPr indent="0" marL="0">
              <a:lnSpc>
                <a:spcPct val="120000"/>
              </a:lnSpc>
              <a:buNone/>
            </a:pPr>
            <a:endParaRPr lang="en-US" sz="1250" dirty="0"/>
          </a:p>
          <a:p>
            <a:pPr indent="0" marL="0">
              <a:lnSpc>
                <a:spcPct val="120000"/>
              </a:lnSpc>
              <a:buNone/>
            </a:pPr>
            <a:r>
              <a:rPr lang="en-US" sz="1250" dirty="0">
                <a:solidFill>
                  <a:srgbClr val="2A3330"/>
                </a:solidFill>
                <a:latin typeface="Meiryo UI" pitchFamily="34" charset="0"/>
                <a:ea typeface="Meiryo UI" pitchFamily="34" charset="-122"/>
                <a:cs typeface="Meiryo UI" pitchFamily="34" charset="-120"/>
              </a:rPr>
              <a:t>代表の言葉と想いを起点に動画をつくるため、「クローバーハウスらしさ」が伝わる内容に仕上がります。</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8614F"/>
                </a:solidFill>
                <a:latin typeface="Meiryo UI" pitchFamily="34" charset="0"/>
                <a:ea typeface="Meiryo UI" pitchFamily="34" charset="-122"/>
                <a:cs typeface="Meiryo UI" pitchFamily="34" charset="-120"/>
              </a:rPr>
              <a:t>02｜WHY NOW</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2F7A55"/>
                </a:solidFill>
                <a:latin typeface="Meiryo UI" pitchFamily="34" charset="0"/>
                <a:ea typeface="Meiryo UI" pitchFamily="34" charset="-122"/>
                <a:cs typeface="Meiryo UI" pitchFamily="34" charset="-120"/>
              </a:rPr>
              <a:t>市場環境の変化：「来てもらう集客」だけでは広がらない</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0"/>
                </a:solidFill>
                <a:latin typeface="Meiryo UI" pitchFamily="34" charset="0"/>
                <a:ea typeface="Meiryo UI" pitchFamily="34" charset="-122"/>
                <a:cs typeface="Meiryo UI" pitchFamily="34" charset="-120"/>
              </a:rPr>
              <a:t>4</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0"/>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Text 4"/>
          <p:cNvSpPr txBox="1"/>
          <p:nvPr/>
        </p:nvSpPr>
        <p:spPr>
          <a:xfrm>
            <a:off x="1417320" y="1417320"/>
            <a:ext cx="2743200" cy="274320"/>
          </a:xfrm>
          <a:prstGeom prst="rect">
            <a:avLst/>
          </a:prstGeom>
          <a:noFill/>
          <a:ln/>
        </p:spPr>
        <p:txBody>
          <a:bodyPr wrap="square" lIns="0" tIns="0" rIns="0" bIns="0" rtlCol="0" anchor="t"/>
          <a:lstStyle/>
          <a:p>
            <a:pPr indent="0" marL="0">
              <a:buNone/>
            </a:pPr>
            <a:r>
              <a:rPr lang="en-US" sz="1100" b="1" dirty="0">
                <a:solidFill>
                  <a:srgbClr val="66786F"/>
                </a:solidFill>
                <a:latin typeface="Meiryo UI" pitchFamily="34" charset="0"/>
                <a:ea typeface="Meiryo UI" pitchFamily="34" charset="-122"/>
                <a:cs typeface="Meiryo UI" pitchFamily="34" charset="-120"/>
              </a:rPr>
              <a:t>変化</a:t>
            </a:r>
            <a:endParaRPr lang="en-US" sz="1100" dirty="0"/>
          </a:p>
        </p:txBody>
      </p:sp>
      <p:sp>
        <p:nvSpPr>
          <p:cNvPr id="7" name="Text 5"/>
          <p:cNvSpPr txBox="1"/>
          <p:nvPr/>
        </p:nvSpPr>
        <p:spPr>
          <a:xfrm>
            <a:off x="3977640" y="1417320"/>
            <a:ext cx="2743200" cy="274320"/>
          </a:xfrm>
          <a:prstGeom prst="rect">
            <a:avLst/>
          </a:prstGeom>
          <a:noFill/>
          <a:ln/>
        </p:spPr>
        <p:txBody>
          <a:bodyPr wrap="square" lIns="0" tIns="0" rIns="0" bIns="0" rtlCol="0" anchor="t"/>
          <a:lstStyle/>
          <a:p>
            <a:pPr indent="0" marL="0">
              <a:buNone/>
            </a:pPr>
            <a:r>
              <a:rPr lang="en-US" sz="1100" b="1" dirty="0">
                <a:solidFill>
                  <a:srgbClr val="66786F"/>
                </a:solidFill>
                <a:latin typeface="Meiryo UI" pitchFamily="34" charset="0"/>
                <a:ea typeface="Meiryo UI" pitchFamily="34" charset="-122"/>
                <a:cs typeface="Meiryo UI" pitchFamily="34" charset="-120"/>
              </a:rPr>
              <a:t>起きていること</a:t>
            </a:r>
            <a:endParaRPr lang="en-US" sz="1100" dirty="0"/>
          </a:p>
        </p:txBody>
      </p:sp>
      <p:sp>
        <p:nvSpPr>
          <p:cNvPr id="8" name="Text 6"/>
          <p:cNvSpPr txBox="1"/>
          <p:nvPr/>
        </p:nvSpPr>
        <p:spPr>
          <a:xfrm>
            <a:off x="7818120" y="1417320"/>
            <a:ext cx="2743200" cy="274320"/>
          </a:xfrm>
          <a:prstGeom prst="rect">
            <a:avLst/>
          </a:prstGeom>
          <a:noFill/>
          <a:ln/>
        </p:spPr>
        <p:txBody>
          <a:bodyPr wrap="square" lIns="0" tIns="0" rIns="0" bIns="0" rtlCol="0" anchor="t"/>
          <a:lstStyle/>
          <a:p>
            <a:pPr indent="0" marL="0">
              <a:buNone/>
            </a:pPr>
            <a:r>
              <a:rPr lang="en-US" sz="1100" b="1" dirty="0">
                <a:solidFill>
                  <a:srgbClr val="D8614F"/>
                </a:solidFill>
                <a:latin typeface="Meiryo UI" pitchFamily="34" charset="0"/>
                <a:ea typeface="Meiryo UI" pitchFamily="34" charset="-122"/>
                <a:cs typeface="Meiryo UI" pitchFamily="34" charset="-120"/>
              </a:rPr>
              <a:t>貴社への影響</a:t>
            </a:r>
            <a:endParaRPr lang="en-US" sz="1100" dirty="0"/>
          </a:p>
        </p:txBody>
      </p:sp>
      <p:sp>
        <p:nvSpPr>
          <p:cNvPr id="9" name="Shape 7"/>
          <p:cNvSpPr/>
          <p:nvPr/>
        </p:nvSpPr>
        <p:spPr>
          <a:xfrm>
            <a:off x="548640" y="1737360"/>
            <a:ext cx="11094415" cy="777240"/>
          </a:xfrm>
          <a:prstGeom prst="roundRect">
            <a:avLst>
              <a:gd name="adj" fmla="val 14118"/>
            </a:avLst>
          </a:prstGeom>
          <a:solidFill>
            <a:srgbClr val="F5F9F6"/>
          </a:solidFill>
          <a:ln w="12700">
            <a:solidFill>
              <a:srgbClr val="F5F9F6"/>
            </a:solidFill>
            <a:prstDash val="solid"/>
          </a:ln>
        </p:spPr>
      </p:sp>
      <p:sp>
        <p:nvSpPr>
          <p:cNvPr id="10" name="Shape 8"/>
          <p:cNvSpPr/>
          <p:nvPr/>
        </p:nvSpPr>
        <p:spPr>
          <a:xfrm>
            <a:off x="713232" y="1847088"/>
            <a:ext cx="548640" cy="548640"/>
          </a:xfrm>
          <a:prstGeom prst="ellipse">
            <a:avLst/>
          </a:prstGeom>
          <a:solidFill>
            <a:srgbClr val="2F7A55"/>
          </a:solidFill>
          <a:ln w="12700">
            <a:solidFill>
              <a:srgbClr val="2F7A55"/>
            </a:solidFill>
            <a:prstDash val="solid"/>
          </a:ln>
        </p:spPr>
      </p:sp>
      <p:pic>
        <p:nvPicPr>
          <p:cNvPr id="11" name="Image 0" descr="preencoded.png">    </p:cNvPr>
          <p:cNvPicPr>
            <a:picLocks noChangeAspect="1"/>
          </p:cNvPicPr>
          <p:nvPr/>
        </p:nvPicPr>
        <p:blipFill>
          <a:blip r:embed="rId1"/>
          <a:stretch>
            <a:fillRect/>
          </a:stretch>
        </p:blipFill>
        <p:spPr>
          <a:xfrm>
            <a:off x="855878" y="1989734"/>
            <a:ext cx="263347" cy="263347"/>
          </a:xfrm>
          <a:prstGeom prst="rect">
            <a:avLst/>
          </a:prstGeom>
        </p:spPr>
      </p:pic>
      <p:sp>
        <p:nvSpPr>
          <p:cNvPr id="12" name="Text 9"/>
          <p:cNvSpPr txBox="1"/>
          <p:nvPr/>
        </p:nvSpPr>
        <p:spPr>
          <a:xfrm>
            <a:off x="1417320" y="1737360"/>
            <a:ext cx="2514600" cy="777240"/>
          </a:xfrm>
          <a:prstGeom prst="rect">
            <a:avLst/>
          </a:prstGeom>
          <a:noFill/>
          <a:ln/>
        </p:spPr>
        <p:txBody>
          <a:bodyPr wrap="square" lIns="0" tIns="0" rIns="0" bIns="0" rtlCol="0" anchor="ctr"/>
          <a:lstStyle/>
          <a:p>
            <a:pPr indent="0" marL="0">
              <a:buNone/>
            </a:pPr>
            <a:r>
              <a:rPr lang="en-US" sz="1400" b="1" dirty="0">
                <a:solidFill>
                  <a:srgbClr val="2F7A55"/>
                </a:solidFill>
                <a:latin typeface="Meiryo UI" pitchFamily="34" charset="0"/>
                <a:ea typeface="Meiryo UI" pitchFamily="34" charset="-122"/>
                <a:cs typeface="Meiryo UI" pitchFamily="34" charset="-120"/>
              </a:rPr>
              <a:t>不登校・学びの悩みの増加</a:t>
            </a:r>
            <a:endParaRPr lang="en-US" sz="1400" dirty="0"/>
          </a:p>
        </p:txBody>
      </p:sp>
      <p:sp>
        <p:nvSpPr>
          <p:cNvPr id="13" name="Text 10"/>
          <p:cNvSpPr txBox="1"/>
          <p:nvPr/>
        </p:nvSpPr>
        <p:spPr>
          <a:xfrm>
            <a:off x="3977640" y="1737360"/>
            <a:ext cx="3474720" cy="777240"/>
          </a:xfrm>
          <a:prstGeom prst="rect">
            <a:avLst/>
          </a:prstGeom>
          <a:noFill/>
          <a:ln/>
        </p:spPr>
        <p:txBody>
          <a:bodyPr wrap="square" lIns="0" tIns="0" rIns="0" bIns="0" rtlCol="0" anchor="ctr"/>
          <a:lstStyle/>
          <a:p>
            <a:pPr indent="0" marL="0">
              <a:buNone/>
            </a:pPr>
            <a:r>
              <a:rPr lang="en-US" sz="1200" dirty="0">
                <a:solidFill>
                  <a:srgbClr val="2A3330"/>
                </a:solidFill>
                <a:latin typeface="Meiryo UI" pitchFamily="34" charset="0"/>
                <a:ea typeface="Meiryo UI" pitchFamily="34" charset="-122"/>
                <a:cs typeface="Meiryo UI" pitchFamily="34" charset="-120"/>
              </a:rPr>
              <a:t>不登校の小中学生は過去最多を更新し続け、学びの選択肢を探す家庭が増加</a:t>
            </a:r>
            <a:endParaRPr lang="en-US" sz="1200" dirty="0"/>
          </a:p>
        </p:txBody>
      </p:sp>
      <p:pic>
        <p:nvPicPr>
          <p:cNvPr id="14" name="Image 1" descr="preencoded.png">    </p:cNvPr>
          <p:cNvPicPr>
            <a:picLocks noChangeAspect="1"/>
          </p:cNvPicPr>
          <p:nvPr/>
        </p:nvPicPr>
        <p:blipFill>
          <a:blip r:embed="rId2"/>
          <a:stretch>
            <a:fillRect/>
          </a:stretch>
        </p:blipFill>
        <p:spPr>
          <a:xfrm>
            <a:off x="7479792" y="2011680"/>
            <a:ext cx="228600" cy="228600"/>
          </a:xfrm>
          <a:prstGeom prst="rect">
            <a:avLst/>
          </a:prstGeom>
        </p:spPr>
      </p:pic>
      <p:sp>
        <p:nvSpPr>
          <p:cNvPr id="15" name="Text 11"/>
          <p:cNvSpPr txBox="1"/>
          <p:nvPr/>
        </p:nvSpPr>
        <p:spPr>
          <a:xfrm>
            <a:off x="7818120" y="1737360"/>
            <a:ext cx="3657600" cy="777240"/>
          </a:xfrm>
          <a:prstGeom prst="rect">
            <a:avLst/>
          </a:prstGeom>
          <a:noFill/>
          <a:ln/>
        </p:spPr>
        <p:txBody>
          <a:bodyPr wrap="square" lIns="0" tIns="0" rIns="0" bIns="0" rtlCol="0" anchor="ctr"/>
          <a:lstStyle/>
          <a:p>
            <a:pPr indent="0" marL="0">
              <a:buNone/>
            </a:pPr>
            <a:r>
              <a:rPr lang="en-US" sz="1200" b="1" dirty="0">
                <a:solidFill>
                  <a:srgbClr val="2A3330"/>
                </a:solidFill>
                <a:latin typeface="Meiryo UI" pitchFamily="34" charset="0"/>
                <a:ea typeface="Meiryo UI" pitchFamily="34" charset="-122"/>
                <a:cs typeface="Meiryo UI" pitchFamily="34" charset="-120"/>
              </a:rPr>
              <a:t>オンラインで学べる受け皿へのニーズが全国で拡大</a:t>
            </a:r>
            <a:endParaRPr lang="en-US" sz="1200" dirty="0"/>
          </a:p>
        </p:txBody>
      </p:sp>
      <p:sp>
        <p:nvSpPr>
          <p:cNvPr id="16" name="Shape 12"/>
          <p:cNvSpPr/>
          <p:nvPr/>
        </p:nvSpPr>
        <p:spPr>
          <a:xfrm>
            <a:off x="548640" y="2651760"/>
            <a:ext cx="11094415" cy="777240"/>
          </a:xfrm>
          <a:prstGeom prst="roundRect">
            <a:avLst>
              <a:gd name="adj" fmla="val 14118"/>
            </a:avLst>
          </a:prstGeom>
          <a:solidFill>
            <a:srgbClr val="F5F9F6"/>
          </a:solidFill>
          <a:ln w="12700">
            <a:solidFill>
              <a:srgbClr val="F5F9F6"/>
            </a:solidFill>
            <a:prstDash val="solid"/>
          </a:ln>
        </p:spPr>
      </p:sp>
      <p:sp>
        <p:nvSpPr>
          <p:cNvPr id="17" name="Shape 13"/>
          <p:cNvSpPr/>
          <p:nvPr/>
        </p:nvSpPr>
        <p:spPr>
          <a:xfrm>
            <a:off x="713232" y="2761488"/>
            <a:ext cx="548640" cy="548640"/>
          </a:xfrm>
          <a:prstGeom prst="ellipse">
            <a:avLst/>
          </a:prstGeom>
          <a:solidFill>
            <a:srgbClr val="2F7A55"/>
          </a:solidFill>
          <a:ln w="12700">
            <a:solidFill>
              <a:srgbClr val="2F7A55"/>
            </a:solidFill>
            <a:prstDash val="solid"/>
          </a:ln>
        </p:spPr>
      </p:sp>
      <p:pic>
        <p:nvPicPr>
          <p:cNvPr id="18" name="Image 2" descr="preencoded.png">    </p:cNvPr>
          <p:cNvPicPr>
            <a:picLocks noChangeAspect="1"/>
          </p:cNvPicPr>
          <p:nvPr/>
        </p:nvPicPr>
        <p:blipFill>
          <a:blip r:embed="rId3"/>
          <a:stretch>
            <a:fillRect/>
          </a:stretch>
        </p:blipFill>
        <p:spPr>
          <a:xfrm>
            <a:off x="855878" y="2904134"/>
            <a:ext cx="263347" cy="263347"/>
          </a:xfrm>
          <a:prstGeom prst="rect">
            <a:avLst/>
          </a:prstGeom>
        </p:spPr>
      </p:pic>
      <p:sp>
        <p:nvSpPr>
          <p:cNvPr id="19" name="Text 14"/>
          <p:cNvSpPr txBox="1"/>
          <p:nvPr/>
        </p:nvSpPr>
        <p:spPr>
          <a:xfrm>
            <a:off x="1417320" y="2651760"/>
            <a:ext cx="2514600" cy="777240"/>
          </a:xfrm>
          <a:prstGeom prst="rect">
            <a:avLst/>
          </a:prstGeom>
          <a:noFill/>
          <a:ln/>
        </p:spPr>
        <p:txBody>
          <a:bodyPr wrap="square" lIns="0" tIns="0" rIns="0" bIns="0" rtlCol="0" anchor="ctr"/>
          <a:lstStyle/>
          <a:p>
            <a:pPr indent="0" marL="0">
              <a:buNone/>
            </a:pPr>
            <a:r>
              <a:rPr lang="en-US" sz="1400" b="1" dirty="0">
                <a:solidFill>
                  <a:srgbClr val="2F7A55"/>
                </a:solidFill>
                <a:latin typeface="Meiryo UI" pitchFamily="34" charset="0"/>
                <a:ea typeface="Meiryo UI" pitchFamily="34" charset="-122"/>
                <a:cs typeface="Meiryo UI" pitchFamily="34" charset="-120"/>
              </a:rPr>
              <a:t>オンライン学習の一般化</a:t>
            </a:r>
            <a:endParaRPr lang="en-US" sz="1400" dirty="0"/>
          </a:p>
        </p:txBody>
      </p:sp>
      <p:sp>
        <p:nvSpPr>
          <p:cNvPr id="20" name="Text 15"/>
          <p:cNvSpPr txBox="1"/>
          <p:nvPr/>
        </p:nvSpPr>
        <p:spPr>
          <a:xfrm>
            <a:off x="3977640" y="2651760"/>
            <a:ext cx="3474720" cy="777240"/>
          </a:xfrm>
          <a:prstGeom prst="rect">
            <a:avLst/>
          </a:prstGeom>
          <a:noFill/>
          <a:ln/>
        </p:spPr>
        <p:txBody>
          <a:bodyPr wrap="square" lIns="0" tIns="0" rIns="0" bIns="0" rtlCol="0" anchor="ctr"/>
          <a:lstStyle/>
          <a:p>
            <a:pPr indent="0" marL="0">
              <a:buNone/>
            </a:pPr>
            <a:r>
              <a:rPr lang="en-US" sz="1200" dirty="0">
                <a:solidFill>
                  <a:srgbClr val="2A3330"/>
                </a:solidFill>
                <a:latin typeface="Meiryo UI" pitchFamily="34" charset="0"/>
                <a:ea typeface="Meiryo UI" pitchFamily="34" charset="-122"/>
                <a:cs typeface="Meiryo UI" pitchFamily="34" charset="-120"/>
              </a:rPr>
              <a:t>地域や時間に縛られず、自宅で学ぶことが当たり前に</a:t>
            </a:r>
            <a:endParaRPr lang="en-US" sz="1200" dirty="0"/>
          </a:p>
        </p:txBody>
      </p:sp>
      <p:pic>
        <p:nvPicPr>
          <p:cNvPr id="21" name="Image 3" descr="preencoded.png">    </p:cNvPr>
          <p:cNvPicPr>
            <a:picLocks noChangeAspect="1"/>
          </p:cNvPicPr>
          <p:nvPr/>
        </p:nvPicPr>
        <p:blipFill>
          <a:blip r:embed="rId4"/>
          <a:stretch>
            <a:fillRect/>
          </a:stretch>
        </p:blipFill>
        <p:spPr>
          <a:xfrm>
            <a:off x="7479792" y="2926080"/>
            <a:ext cx="228600" cy="228600"/>
          </a:xfrm>
          <a:prstGeom prst="rect">
            <a:avLst/>
          </a:prstGeom>
        </p:spPr>
      </p:pic>
      <p:sp>
        <p:nvSpPr>
          <p:cNvPr id="22" name="Text 16"/>
          <p:cNvSpPr txBox="1"/>
          <p:nvPr/>
        </p:nvSpPr>
        <p:spPr>
          <a:xfrm>
            <a:off x="7818120" y="2651760"/>
            <a:ext cx="3657600" cy="777240"/>
          </a:xfrm>
          <a:prstGeom prst="rect">
            <a:avLst/>
          </a:prstGeom>
          <a:noFill/>
          <a:ln/>
        </p:spPr>
        <p:txBody>
          <a:bodyPr wrap="square" lIns="0" tIns="0" rIns="0" bIns="0" rtlCol="0" anchor="ctr"/>
          <a:lstStyle/>
          <a:p>
            <a:pPr indent="0" marL="0">
              <a:buNone/>
            </a:pPr>
            <a:r>
              <a:rPr lang="en-US" sz="1200" b="1" dirty="0">
                <a:solidFill>
                  <a:srgbClr val="2A3330"/>
                </a:solidFill>
                <a:latin typeface="Meiryo UI" pitchFamily="34" charset="0"/>
                <a:ea typeface="Meiryo UI" pitchFamily="34" charset="-122"/>
                <a:cs typeface="Meiryo UI" pitchFamily="34" charset="-120"/>
              </a:rPr>
              <a:t>教室の広さに関係なく、全国が商圏になる</a:t>
            </a:r>
            <a:endParaRPr lang="en-US" sz="1200" dirty="0"/>
          </a:p>
        </p:txBody>
      </p:sp>
      <p:sp>
        <p:nvSpPr>
          <p:cNvPr id="23" name="Shape 17"/>
          <p:cNvSpPr/>
          <p:nvPr/>
        </p:nvSpPr>
        <p:spPr>
          <a:xfrm>
            <a:off x="548640" y="3566160"/>
            <a:ext cx="11094415" cy="777240"/>
          </a:xfrm>
          <a:prstGeom prst="roundRect">
            <a:avLst>
              <a:gd name="adj" fmla="val 14118"/>
            </a:avLst>
          </a:prstGeom>
          <a:solidFill>
            <a:srgbClr val="F5F9F6"/>
          </a:solidFill>
          <a:ln w="12700">
            <a:solidFill>
              <a:srgbClr val="F5F9F6"/>
            </a:solidFill>
            <a:prstDash val="solid"/>
          </a:ln>
        </p:spPr>
      </p:sp>
      <p:sp>
        <p:nvSpPr>
          <p:cNvPr id="24" name="Shape 18"/>
          <p:cNvSpPr/>
          <p:nvPr/>
        </p:nvSpPr>
        <p:spPr>
          <a:xfrm>
            <a:off x="713232" y="3675888"/>
            <a:ext cx="548640" cy="548640"/>
          </a:xfrm>
          <a:prstGeom prst="ellipse">
            <a:avLst/>
          </a:prstGeom>
          <a:solidFill>
            <a:srgbClr val="2F7A55"/>
          </a:solidFill>
          <a:ln w="12700">
            <a:solidFill>
              <a:srgbClr val="2F7A55"/>
            </a:solidFill>
            <a:prstDash val="solid"/>
          </a:ln>
        </p:spPr>
      </p:sp>
      <p:pic>
        <p:nvPicPr>
          <p:cNvPr id="25" name="Image 4" descr="preencoded.png">    </p:cNvPr>
          <p:cNvPicPr>
            <a:picLocks noChangeAspect="1"/>
          </p:cNvPicPr>
          <p:nvPr/>
        </p:nvPicPr>
        <p:blipFill>
          <a:blip r:embed="rId5"/>
          <a:stretch>
            <a:fillRect/>
          </a:stretch>
        </p:blipFill>
        <p:spPr>
          <a:xfrm>
            <a:off x="855878" y="3818534"/>
            <a:ext cx="263347" cy="263347"/>
          </a:xfrm>
          <a:prstGeom prst="rect">
            <a:avLst/>
          </a:prstGeom>
        </p:spPr>
      </p:pic>
      <p:sp>
        <p:nvSpPr>
          <p:cNvPr id="26" name="Text 19"/>
          <p:cNvSpPr txBox="1"/>
          <p:nvPr/>
        </p:nvSpPr>
        <p:spPr>
          <a:xfrm>
            <a:off x="1417320" y="3566160"/>
            <a:ext cx="2514600" cy="777240"/>
          </a:xfrm>
          <a:prstGeom prst="rect">
            <a:avLst/>
          </a:prstGeom>
          <a:noFill/>
          <a:ln/>
        </p:spPr>
        <p:txBody>
          <a:bodyPr wrap="square" lIns="0" tIns="0" rIns="0" bIns="0" rtlCol="0" anchor="ctr"/>
          <a:lstStyle/>
          <a:p>
            <a:pPr indent="0" marL="0">
              <a:buNone/>
            </a:pPr>
            <a:r>
              <a:rPr lang="en-US" sz="1400" b="1" dirty="0">
                <a:solidFill>
                  <a:srgbClr val="2F7A55"/>
                </a:solidFill>
                <a:latin typeface="Meiryo UI" pitchFamily="34" charset="0"/>
                <a:ea typeface="Meiryo UI" pitchFamily="34" charset="-122"/>
                <a:cs typeface="Meiryo UI" pitchFamily="34" charset="-120"/>
              </a:rPr>
              <a:t>お母さんの情報収集はSNS</a:t>
            </a:r>
            <a:endParaRPr lang="en-US" sz="1400" dirty="0"/>
          </a:p>
        </p:txBody>
      </p:sp>
      <p:sp>
        <p:nvSpPr>
          <p:cNvPr id="27" name="Text 20"/>
          <p:cNvSpPr txBox="1"/>
          <p:nvPr/>
        </p:nvSpPr>
        <p:spPr>
          <a:xfrm>
            <a:off x="3977640" y="3566160"/>
            <a:ext cx="3474720" cy="777240"/>
          </a:xfrm>
          <a:prstGeom prst="rect">
            <a:avLst/>
          </a:prstGeom>
          <a:noFill/>
          <a:ln/>
        </p:spPr>
        <p:txBody>
          <a:bodyPr wrap="square" lIns="0" tIns="0" rIns="0" bIns="0" rtlCol="0" anchor="ctr"/>
          <a:lstStyle/>
          <a:p>
            <a:pPr indent="0" marL="0">
              <a:buNone/>
            </a:pPr>
            <a:r>
              <a:rPr lang="en-US" sz="1200" dirty="0">
                <a:solidFill>
                  <a:srgbClr val="2A3330"/>
                </a:solidFill>
                <a:latin typeface="Meiryo UI" pitchFamily="34" charset="0"/>
                <a:ea typeface="Meiryo UI" pitchFamily="34" charset="-122"/>
                <a:cs typeface="Meiryo UI" pitchFamily="34" charset="-120"/>
              </a:rPr>
              <a:t>スキマ時間にInstagram・YouTubeで情報収集。長文は読まれない</a:t>
            </a:r>
            <a:endParaRPr lang="en-US" sz="1200" dirty="0"/>
          </a:p>
        </p:txBody>
      </p:sp>
      <p:pic>
        <p:nvPicPr>
          <p:cNvPr id="28" name="Image 5" descr="preencoded.png">    </p:cNvPr>
          <p:cNvPicPr>
            <a:picLocks noChangeAspect="1"/>
          </p:cNvPicPr>
          <p:nvPr/>
        </p:nvPicPr>
        <p:blipFill>
          <a:blip r:embed="rId6"/>
          <a:stretch>
            <a:fillRect/>
          </a:stretch>
        </p:blipFill>
        <p:spPr>
          <a:xfrm>
            <a:off x="7479792" y="3840480"/>
            <a:ext cx="228600" cy="228600"/>
          </a:xfrm>
          <a:prstGeom prst="rect">
            <a:avLst/>
          </a:prstGeom>
        </p:spPr>
      </p:pic>
      <p:sp>
        <p:nvSpPr>
          <p:cNvPr id="29" name="Text 21"/>
          <p:cNvSpPr txBox="1"/>
          <p:nvPr/>
        </p:nvSpPr>
        <p:spPr>
          <a:xfrm>
            <a:off x="7818120" y="3566160"/>
            <a:ext cx="3657600" cy="777240"/>
          </a:xfrm>
          <a:prstGeom prst="rect">
            <a:avLst/>
          </a:prstGeom>
          <a:noFill/>
          <a:ln/>
        </p:spPr>
        <p:txBody>
          <a:bodyPr wrap="square" lIns="0" tIns="0" rIns="0" bIns="0" rtlCol="0" anchor="ctr"/>
          <a:lstStyle/>
          <a:p>
            <a:pPr indent="0" marL="0">
              <a:buNone/>
            </a:pPr>
            <a:r>
              <a:rPr lang="en-US" sz="1200" b="1" dirty="0">
                <a:solidFill>
                  <a:srgbClr val="2A3330"/>
                </a:solidFill>
                <a:latin typeface="Meiryo UI" pitchFamily="34" charset="0"/>
                <a:ea typeface="Meiryo UI" pitchFamily="34" charset="-122"/>
                <a:cs typeface="Meiryo UI" pitchFamily="34" charset="-120"/>
              </a:rPr>
              <a:t>テキスト中心の発信では、比較の土俵に乗れない</a:t>
            </a:r>
            <a:endParaRPr lang="en-US" sz="1200" dirty="0"/>
          </a:p>
        </p:txBody>
      </p:sp>
      <p:sp>
        <p:nvSpPr>
          <p:cNvPr id="30" name="Shape 22"/>
          <p:cNvSpPr/>
          <p:nvPr/>
        </p:nvSpPr>
        <p:spPr>
          <a:xfrm>
            <a:off x="548640" y="4480560"/>
            <a:ext cx="11094415" cy="777240"/>
          </a:xfrm>
          <a:prstGeom prst="roundRect">
            <a:avLst>
              <a:gd name="adj" fmla="val 14118"/>
            </a:avLst>
          </a:prstGeom>
          <a:solidFill>
            <a:srgbClr val="F5F9F6"/>
          </a:solidFill>
          <a:ln w="12700">
            <a:solidFill>
              <a:srgbClr val="F5F9F6"/>
            </a:solidFill>
            <a:prstDash val="solid"/>
          </a:ln>
        </p:spPr>
      </p:sp>
      <p:sp>
        <p:nvSpPr>
          <p:cNvPr id="31" name="Shape 23"/>
          <p:cNvSpPr/>
          <p:nvPr/>
        </p:nvSpPr>
        <p:spPr>
          <a:xfrm>
            <a:off x="713232" y="4590288"/>
            <a:ext cx="548640" cy="548640"/>
          </a:xfrm>
          <a:prstGeom prst="ellipse">
            <a:avLst/>
          </a:prstGeom>
          <a:solidFill>
            <a:srgbClr val="2F7A55"/>
          </a:solidFill>
          <a:ln w="12700">
            <a:solidFill>
              <a:srgbClr val="2F7A55"/>
            </a:solidFill>
            <a:prstDash val="solid"/>
          </a:ln>
        </p:spPr>
      </p:sp>
      <p:pic>
        <p:nvPicPr>
          <p:cNvPr id="32" name="Image 6" descr="preencoded.png">    </p:cNvPr>
          <p:cNvPicPr>
            <a:picLocks noChangeAspect="1"/>
          </p:cNvPicPr>
          <p:nvPr/>
        </p:nvPicPr>
        <p:blipFill>
          <a:blip r:embed="rId7"/>
          <a:stretch>
            <a:fillRect/>
          </a:stretch>
        </p:blipFill>
        <p:spPr>
          <a:xfrm>
            <a:off x="855878" y="4732934"/>
            <a:ext cx="263347" cy="263347"/>
          </a:xfrm>
          <a:prstGeom prst="rect">
            <a:avLst/>
          </a:prstGeom>
        </p:spPr>
      </p:pic>
      <p:sp>
        <p:nvSpPr>
          <p:cNvPr id="33" name="Text 24"/>
          <p:cNvSpPr txBox="1"/>
          <p:nvPr/>
        </p:nvSpPr>
        <p:spPr>
          <a:xfrm>
            <a:off x="1417320" y="4480560"/>
            <a:ext cx="2514600" cy="777240"/>
          </a:xfrm>
          <a:prstGeom prst="rect">
            <a:avLst/>
          </a:prstGeom>
          <a:noFill/>
          <a:ln/>
        </p:spPr>
        <p:txBody>
          <a:bodyPr wrap="square" lIns="0" tIns="0" rIns="0" bIns="0" rtlCol="0" anchor="ctr"/>
          <a:lstStyle/>
          <a:p>
            <a:pPr indent="0" marL="0">
              <a:buNone/>
            </a:pPr>
            <a:r>
              <a:rPr lang="en-US" sz="1400" b="1" dirty="0">
                <a:solidFill>
                  <a:srgbClr val="2F7A55"/>
                </a:solidFill>
                <a:latin typeface="Meiryo UI" pitchFamily="34" charset="0"/>
                <a:ea typeface="Meiryo UI" pitchFamily="34" charset="-122"/>
                <a:cs typeface="Meiryo UI" pitchFamily="34" charset="-120"/>
              </a:rPr>
              <a:t>“耳で聞く”情報への移行</a:t>
            </a:r>
            <a:endParaRPr lang="en-US" sz="1400" dirty="0"/>
          </a:p>
        </p:txBody>
      </p:sp>
      <p:sp>
        <p:nvSpPr>
          <p:cNvPr id="34" name="Text 25"/>
          <p:cNvSpPr txBox="1"/>
          <p:nvPr/>
        </p:nvSpPr>
        <p:spPr>
          <a:xfrm>
            <a:off x="3977640" y="4480560"/>
            <a:ext cx="3474720" cy="777240"/>
          </a:xfrm>
          <a:prstGeom prst="rect">
            <a:avLst/>
          </a:prstGeom>
          <a:noFill/>
          <a:ln/>
        </p:spPr>
        <p:txBody>
          <a:bodyPr wrap="square" lIns="0" tIns="0" rIns="0" bIns="0" rtlCol="0" anchor="ctr"/>
          <a:lstStyle/>
          <a:p>
            <a:pPr indent="0" marL="0">
              <a:buNone/>
            </a:pPr>
            <a:r>
              <a:rPr lang="en-US" sz="1200" dirty="0">
                <a:solidFill>
                  <a:srgbClr val="2A3330"/>
                </a:solidFill>
                <a:latin typeface="Meiryo UI" pitchFamily="34" charset="0"/>
                <a:ea typeface="Meiryo UI" pitchFamily="34" charset="-122"/>
                <a:cs typeface="Meiryo UI" pitchFamily="34" charset="-120"/>
              </a:rPr>
              <a:t>家事や移動中に、動画・音声で“ながら視聴”する習慣が定着</a:t>
            </a:r>
            <a:endParaRPr lang="en-US" sz="1200" dirty="0"/>
          </a:p>
        </p:txBody>
      </p:sp>
      <p:pic>
        <p:nvPicPr>
          <p:cNvPr id="35" name="Image 7" descr="preencoded.png">    </p:cNvPr>
          <p:cNvPicPr>
            <a:picLocks noChangeAspect="1"/>
          </p:cNvPicPr>
          <p:nvPr/>
        </p:nvPicPr>
        <p:blipFill>
          <a:blip r:embed="rId8"/>
          <a:stretch>
            <a:fillRect/>
          </a:stretch>
        </p:blipFill>
        <p:spPr>
          <a:xfrm>
            <a:off x="7479792" y="4754880"/>
            <a:ext cx="228600" cy="228600"/>
          </a:xfrm>
          <a:prstGeom prst="rect">
            <a:avLst/>
          </a:prstGeom>
        </p:spPr>
      </p:pic>
      <p:sp>
        <p:nvSpPr>
          <p:cNvPr id="36" name="Text 26"/>
          <p:cNvSpPr txBox="1"/>
          <p:nvPr/>
        </p:nvSpPr>
        <p:spPr>
          <a:xfrm>
            <a:off x="7818120" y="4480560"/>
            <a:ext cx="3657600" cy="777240"/>
          </a:xfrm>
          <a:prstGeom prst="rect">
            <a:avLst/>
          </a:prstGeom>
          <a:noFill/>
          <a:ln/>
        </p:spPr>
        <p:txBody>
          <a:bodyPr wrap="square" lIns="0" tIns="0" rIns="0" bIns="0" rtlCol="0" anchor="ctr"/>
          <a:lstStyle/>
          <a:p>
            <a:pPr indent="0" marL="0">
              <a:buNone/>
            </a:pPr>
            <a:r>
              <a:rPr lang="en-US" sz="1200" b="1" dirty="0">
                <a:solidFill>
                  <a:srgbClr val="2A3330"/>
                </a:solidFill>
                <a:latin typeface="Meiryo UI" pitchFamily="34" charset="0"/>
                <a:ea typeface="Meiryo UI" pitchFamily="34" charset="-122"/>
                <a:cs typeface="Meiryo UI" pitchFamily="34" charset="-120"/>
              </a:rPr>
              <a:t>代表の“語り”を動画にすることが最大の差別化に</a:t>
            </a:r>
            <a:endParaRPr lang="en-US" sz="1200" dirty="0"/>
          </a:p>
        </p:txBody>
      </p:sp>
      <p:sp>
        <p:nvSpPr>
          <p:cNvPr id="37" name="Shape 27"/>
          <p:cNvSpPr/>
          <p:nvPr/>
        </p:nvSpPr>
        <p:spPr>
          <a:xfrm>
            <a:off x="548640" y="5394960"/>
            <a:ext cx="11094415" cy="777240"/>
          </a:xfrm>
          <a:prstGeom prst="roundRect">
            <a:avLst>
              <a:gd name="adj" fmla="val 14118"/>
            </a:avLst>
          </a:prstGeom>
          <a:solidFill>
            <a:srgbClr val="FDECEA"/>
          </a:solidFill>
          <a:ln w="12700">
            <a:solidFill>
              <a:srgbClr val="FDECEA"/>
            </a:solidFill>
            <a:prstDash val="solid"/>
          </a:ln>
        </p:spPr>
      </p:sp>
      <p:sp>
        <p:nvSpPr>
          <p:cNvPr id="38" name="Shape 28"/>
          <p:cNvSpPr/>
          <p:nvPr/>
        </p:nvSpPr>
        <p:spPr>
          <a:xfrm>
            <a:off x="713232" y="5504688"/>
            <a:ext cx="548640" cy="548640"/>
          </a:xfrm>
          <a:prstGeom prst="ellipse">
            <a:avLst/>
          </a:prstGeom>
          <a:solidFill>
            <a:srgbClr val="D8614F"/>
          </a:solidFill>
          <a:ln w="12700">
            <a:solidFill>
              <a:srgbClr val="D8614F"/>
            </a:solidFill>
            <a:prstDash val="solid"/>
          </a:ln>
        </p:spPr>
      </p:sp>
      <p:pic>
        <p:nvPicPr>
          <p:cNvPr id="39" name="Image 8" descr="preencoded.png">    </p:cNvPr>
          <p:cNvPicPr>
            <a:picLocks noChangeAspect="1"/>
          </p:cNvPicPr>
          <p:nvPr/>
        </p:nvPicPr>
        <p:blipFill>
          <a:blip r:embed="rId9"/>
          <a:stretch>
            <a:fillRect/>
          </a:stretch>
        </p:blipFill>
        <p:spPr>
          <a:xfrm>
            <a:off x="855878" y="5647334"/>
            <a:ext cx="263347" cy="263347"/>
          </a:xfrm>
          <a:prstGeom prst="rect">
            <a:avLst/>
          </a:prstGeom>
        </p:spPr>
      </p:pic>
      <p:sp>
        <p:nvSpPr>
          <p:cNvPr id="40" name="Text 29"/>
          <p:cNvSpPr txBox="1"/>
          <p:nvPr/>
        </p:nvSpPr>
        <p:spPr>
          <a:xfrm>
            <a:off x="1417320" y="5394960"/>
            <a:ext cx="2514600" cy="777240"/>
          </a:xfrm>
          <a:prstGeom prst="rect">
            <a:avLst/>
          </a:prstGeom>
          <a:noFill/>
          <a:ln/>
        </p:spPr>
        <p:txBody>
          <a:bodyPr wrap="square" lIns="0" tIns="0" rIns="0" bIns="0" rtlCol="0" anchor="ctr"/>
          <a:lstStyle/>
          <a:p>
            <a:pPr indent="0" marL="0">
              <a:buNone/>
            </a:pPr>
            <a:r>
              <a:rPr lang="en-US" sz="1400" b="1" dirty="0">
                <a:solidFill>
                  <a:srgbClr val="D8614F"/>
                </a:solidFill>
                <a:latin typeface="Meiryo UI" pitchFamily="34" charset="0"/>
                <a:ea typeface="Meiryo UI" pitchFamily="34" charset="-122"/>
                <a:cs typeface="Meiryo UI" pitchFamily="34" charset="-120"/>
              </a:rPr>
              <a:t>貴社の転換点</a:t>
            </a:r>
            <a:endParaRPr lang="en-US" sz="1400" dirty="0"/>
          </a:p>
        </p:txBody>
      </p:sp>
      <p:sp>
        <p:nvSpPr>
          <p:cNvPr id="41" name="Text 30"/>
          <p:cNvSpPr txBox="1"/>
          <p:nvPr/>
        </p:nvSpPr>
        <p:spPr>
          <a:xfrm>
            <a:off x="3977640" y="5394960"/>
            <a:ext cx="3474720" cy="777240"/>
          </a:xfrm>
          <a:prstGeom prst="rect">
            <a:avLst/>
          </a:prstGeom>
          <a:noFill/>
          <a:ln/>
        </p:spPr>
        <p:txBody>
          <a:bodyPr wrap="square" lIns="0" tIns="0" rIns="0" bIns="0" rtlCol="0" anchor="ctr"/>
          <a:lstStyle/>
          <a:p>
            <a:pPr indent="0" marL="0">
              <a:buNone/>
            </a:pPr>
            <a:r>
              <a:rPr lang="en-US" sz="1200" dirty="0">
                <a:solidFill>
                  <a:srgbClr val="2A3330"/>
                </a:solidFill>
                <a:latin typeface="Meiryo UI" pitchFamily="34" charset="0"/>
                <a:ea typeface="Meiryo UI" pitchFamily="34" charset="-122"/>
                <a:cs typeface="Meiryo UI" pitchFamily="34" charset="-120"/>
              </a:rPr>
              <a:t>教室はキャパシティの上限。年内に子育て講座のリリースを控える</a:t>
            </a:r>
            <a:endParaRPr lang="en-US" sz="1200" dirty="0"/>
          </a:p>
        </p:txBody>
      </p:sp>
      <p:pic>
        <p:nvPicPr>
          <p:cNvPr id="42" name="Image 9" descr="preencoded.png">    </p:cNvPr>
          <p:cNvPicPr>
            <a:picLocks noChangeAspect="1"/>
          </p:cNvPicPr>
          <p:nvPr/>
        </p:nvPicPr>
        <p:blipFill>
          <a:blip r:embed="rId10"/>
          <a:stretch>
            <a:fillRect/>
          </a:stretch>
        </p:blipFill>
        <p:spPr>
          <a:xfrm>
            <a:off x="7479792" y="5669280"/>
            <a:ext cx="228600" cy="228600"/>
          </a:xfrm>
          <a:prstGeom prst="rect">
            <a:avLst/>
          </a:prstGeom>
        </p:spPr>
      </p:pic>
      <p:sp>
        <p:nvSpPr>
          <p:cNvPr id="43" name="Text 31"/>
          <p:cNvSpPr txBox="1"/>
          <p:nvPr/>
        </p:nvSpPr>
        <p:spPr>
          <a:xfrm>
            <a:off x="7818120" y="5394960"/>
            <a:ext cx="3657600" cy="777240"/>
          </a:xfrm>
          <a:prstGeom prst="rect">
            <a:avLst/>
          </a:prstGeom>
          <a:noFill/>
          <a:ln/>
        </p:spPr>
        <p:txBody>
          <a:bodyPr wrap="square" lIns="0" tIns="0" rIns="0" bIns="0" rtlCol="0" anchor="ctr"/>
          <a:lstStyle/>
          <a:p>
            <a:pPr indent="0" marL="0">
              <a:buNone/>
            </a:pPr>
            <a:r>
              <a:rPr lang="en-US" sz="1200" b="1" dirty="0">
                <a:solidFill>
                  <a:srgbClr val="2A3330"/>
                </a:solidFill>
                <a:latin typeface="Meiryo UI" pitchFamily="34" charset="0"/>
                <a:ea typeface="Meiryo UI" pitchFamily="34" charset="-122"/>
                <a:cs typeface="Meiryo UI" pitchFamily="34" charset="-120"/>
              </a:rPr>
              <a:t>集客導線を“今”つくれば、講座ローンチに間に合う</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8614F"/>
                </a:solidFill>
                <a:latin typeface="Meiryo UI" pitchFamily="34" charset="0"/>
                <a:ea typeface="Meiryo UI" pitchFamily="34" charset="-122"/>
                <a:cs typeface="Meiryo UI" pitchFamily="34" charset="-120"/>
              </a:rPr>
              <a:t>02｜WHY NOW</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2F7A55"/>
                </a:solidFill>
                <a:latin typeface="Meiryo UI" pitchFamily="34" charset="0"/>
                <a:ea typeface="Meiryo UI" pitchFamily="34" charset="-122"/>
                <a:cs typeface="Meiryo UI" pitchFamily="34" charset="-120"/>
              </a:rPr>
              <a:t>貴社が直面している本質的課題</a:t>
            </a:r>
            <a:endParaRPr lang="en-US" sz="2600" dirty="0"/>
          </a:p>
        </p:txBody>
      </p:sp>
      <p:sp>
        <p:nvSpPr>
          <p:cNvPr id="4" name="Text 2"/>
          <p:cNvSpPr txBox="1"/>
          <p:nvPr/>
        </p:nvSpPr>
        <p:spPr>
          <a:xfrm>
            <a:off x="548640" y="1207008"/>
            <a:ext cx="11094415" cy="365760"/>
          </a:xfrm>
          <a:prstGeom prst="rect">
            <a:avLst/>
          </a:prstGeom>
          <a:noFill/>
          <a:ln/>
        </p:spPr>
        <p:txBody>
          <a:bodyPr wrap="square" lIns="0" tIns="0" rIns="0" bIns="0" rtlCol="0" anchor="ctr"/>
          <a:lstStyle/>
          <a:p>
            <a:pPr indent="0" marL="0">
              <a:buNone/>
            </a:pPr>
            <a:r>
              <a:rPr lang="en-US" sz="1300" dirty="0">
                <a:solidFill>
                  <a:srgbClr val="66786F"/>
                </a:solidFill>
                <a:latin typeface="Meiryo UI" pitchFamily="34" charset="0"/>
                <a:ea typeface="Meiryo UI" pitchFamily="34" charset="-122"/>
                <a:cs typeface="Meiryo UI" pitchFamily="34" charset="-120"/>
              </a:rPr>
              <a:t>前回伺った内容をもとに、構造的な課題として整理しました。本日、優先度と現状の数値をご確認ください。</a:t>
            </a:r>
            <a:endParaRPr lang="en-US" sz="1300" dirty="0"/>
          </a:p>
        </p:txBody>
      </p:sp>
      <p:sp>
        <p:nvSpPr>
          <p:cNvPr id="5" name="Text 3"/>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0"/>
                </a:solidFill>
                <a:latin typeface="Meiryo UI" pitchFamily="34" charset="0"/>
                <a:ea typeface="Meiryo UI" pitchFamily="34" charset="-122"/>
                <a:cs typeface="Meiryo UI" pitchFamily="34" charset="-120"/>
              </a:rPr>
              <a:t>5</a:t>
            </a:r>
            <a:endParaRPr lang="en-US" sz="1000" dirty="0"/>
          </a:p>
        </p:txBody>
      </p:sp>
      <p:sp>
        <p:nvSpPr>
          <p:cNvPr id="6" name="Text 4"/>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0"/>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7" name="Shape 5"/>
          <p:cNvSpPr/>
          <p:nvPr/>
        </p:nvSpPr>
        <p:spPr>
          <a:xfrm>
            <a:off x="548640" y="1737360"/>
            <a:ext cx="3515258" cy="2103120"/>
          </a:xfrm>
          <a:prstGeom prst="roundRect">
            <a:avLst>
              <a:gd name="adj" fmla="val 521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8" name="Shape 6"/>
          <p:cNvSpPr/>
          <p:nvPr/>
        </p:nvSpPr>
        <p:spPr>
          <a:xfrm>
            <a:off x="777240" y="1938528"/>
            <a:ext cx="457200" cy="457200"/>
          </a:xfrm>
          <a:prstGeom prst="ellipse">
            <a:avLst/>
          </a:prstGeom>
          <a:solidFill>
            <a:srgbClr val="2F7A55"/>
          </a:solidFill>
          <a:ln w="12700">
            <a:solidFill>
              <a:srgbClr val="2F7A55"/>
            </a:solidFill>
            <a:prstDash val="solid"/>
          </a:ln>
        </p:spPr>
      </p:sp>
      <p:sp>
        <p:nvSpPr>
          <p:cNvPr id="9" name="Text 7"/>
          <p:cNvSpPr txBox="1"/>
          <p:nvPr/>
        </p:nvSpPr>
        <p:spPr>
          <a:xfrm>
            <a:off x="777240" y="19385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1</a:t>
            </a:r>
            <a:endParaRPr lang="en-US" sz="1500" dirty="0"/>
          </a:p>
        </p:txBody>
      </p:sp>
      <p:sp>
        <p:nvSpPr>
          <p:cNvPr id="10" name="Text 8"/>
          <p:cNvSpPr txBox="1"/>
          <p:nvPr/>
        </p:nvSpPr>
        <p:spPr>
          <a:xfrm>
            <a:off x="1371600" y="1938528"/>
            <a:ext cx="2509418" cy="457200"/>
          </a:xfrm>
          <a:prstGeom prst="rect">
            <a:avLst/>
          </a:prstGeom>
          <a:noFill/>
          <a:ln/>
        </p:spPr>
        <p:txBody>
          <a:bodyPr wrap="square" lIns="0" tIns="0" rIns="0" bIns="0" rtlCol="0" anchor="ctr"/>
          <a:lstStyle/>
          <a:p>
            <a:pPr indent="0" marL="0">
              <a:buNone/>
            </a:pPr>
            <a:r>
              <a:rPr lang="en-US" sz="1450" b="1" dirty="0">
                <a:solidFill>
                  <a:srgbClr val="2F7A55"/>
                </a:solidFill>
                <a:latin typeface="Meiryo UI" pitchFamily="34" charset="0"/>
                <a:ea typeface="Meiryo UI" pitchFamily="34" charset="-122"/>
                <a:cs typeface="Meiryo UI" pitchFamily="34" charset="-120"/>
              </a:rPr>
              <a:t>教室キャパシティの天井</a:t>
            </a:r>
            <a:endParaRPr lang="en-US" sz="1450" dirty="0"/>
          </a:p>
        </p:txBody>
      </p:sp>
      <p:sp>
        <p:nvSpPr>
          <p:cNvPr id="11" name="Text 9"/>
          <p:cNvSpPr txBox="1"/>
          <p:nvPr/>
        </p:nvSpPr>
        <p:spPr>
          <a:xfrm>
            <a:off x="777240" y="2514600"/>
            <a:ext cx="548640" cy="274320"/>
          </a:xfrm>
          <a:prstGeom prst="rect">
            <a:avLst/>
          </a:prstGeom>
          <a:noFill/>
          <a:ln/>
        </p:spPr>
        <p:txBody>
          <a:bodyPr wrap="square" lIns="0" tIns="0" rIns="0" bIns="0" rtlCol="0" anchor="t"/>
          <a:lstStyle/>
          <a:p>
            <a:pPr indent="0" marL="0">
              <a:buNone/>
            </a:pPr>
            <a:r>
              <a:rPr lang="en-US" sz="1050" b="1" dirty="0">
                <a:solidFill>
                  <a:srgbClr val="66786F"/>
                </a:solidFill>
                <a:latin typeface="Meiryo UI" pitchFamily="34" charset="0"/>
                <a:ea typeface="Meiryo UI" pitchFamily="34" charset="-122"/>
                <a:cs typeface="Meiryo UI" pitchFamily="34" charset="-120"/>
              </a:rPr>
              <a:t>現象</a:t>
            </a:r>
            <a:endParaRPr lang="en-US" sz="1050" dirty="0"/>
          </a:p>
        </p:txBody>
      </p:sp>
      <p:sp>
        <p:nvSpPr>
          <p:cNvPr id="12" name="Text 10"/>
          <p:cNvSpPr txBox="1"/>
          <p:nvPr/>
        </p:nvSpPr>
        <p:spPr>
          <a:xfrm>
            <a:off x="1325880" y="2496312"/>
            <a:ext cx="2509418" cy="640080"/>
          </a:xfrm>
          <a:prstGeom prst="rect">
            <a:avLst/>
          </a:prstGeom>
          <a:noFill/>
          <a:ln/>
        </p:spPr>
        <p:txBody>
          <a:bodyPr wrap="square" lIns="0" tIns="0" rIns="0" bIns="0" rtlCol="0" anchor="t"/>
          <a:lstStyle/>
          <a:p>
            <a:pPr indent="0" marL="0">
              <a:buNone/>
            </a:pPr>
            <a:r>
              <a:rPr lang="en-US" sz="1200" dirty="0">
                <a:solidFill>
                  <a:srgbClr val="2A3330"/>
                </a:solidFill>
                <a:latin typeface="Meiryo UI" pitchFamily="34" charset="0"/>
                <a:ea typeface="Meiryo UI" pitchFamily="34" charset="-122"/>
                <a:cs typeface="Meiryo UI" pitchFamily="34" charset="-120"/>
              </a:rPr>
              <a:t>教室が手狭で、対面の生徒をこれ以上受け入れられない</a:t>
            </a:r>
            <a:endParaRPr lang="en-US" sz="1200" dirty="0"/>
          </a:p>
        </p:txBody>
      </p:sp>
      <p:sp>
        <p:nvSpPr>
          <p:cNvPr id="13" name="Text 11"/>
          <p:cNvSpPr txBox="1"/>
          <p:nvPr/>
        </p:nvSpPr>
        <p:spPr>
          <a:xfrm>
            <a:off x="777240" y="3154680"/>
            <a:ext cx="548640" cy="274320"/>
          </a:xfrm>
          <a:prstGeom prst="rect">
            <a:avLst/>
          </a:prstGeom>
          <a:noFill/>
          <a:ln/>
        </p:spPr>
        <p:txBody>
          <a:bodyPr wrap="square" lIns="0" tIns="0" rIns="0" bIns="0" rtlCol="0" anchor="t"/>
          <a:lstStyle/>
          <a:p>
            <a:pPr indent="0" marL="0">
              <a:buNone/>
            </a:pPr>
            <a:r>
              <a:rPr lang="en-US" sz="1050" b="1" dirty="0">
                <a:solidFill>
                  <a:srgbClr val="D8614F"/>
                </a:solidFill>
                <a:latin typeface="Meiryo UI" pitchFamily="34" charset="0"/>
                <a:ea typeface="Meiryo UI" pitchFamily="34" charset="-122"/>
                <a:cs typeface="Meiryo UI" pitchFamily="34" charset="-120"/>
              </a:rPr>
              <a:t>リスク</a:t>
            </a:r>
            <a:endParaRPr lang="en-US" sz="1050" dirty="0"/>
          </a:p>
        </p:txBody>
      </p:sp>
      <p:sp>
        <p:nvSpPr>
          <p:cNvPr id="14" name="Text 12"/>
          <p:cNvSpPr txBox="1"/>
          <p:nvPr/>
        </p:nvSpPr>
        <p:spPr>
          <a:xfrm>
            <a:off x="1325880" y="3136392"/>
            <a:ext cx="2509418" cy="640080"/>
          </a:xfrm>
          <a:prstGeom prst="rect">
            <a:avLst/>
          </a:prstGeom>
          <a:noFill/>
          <a:ln/>
        </p:spPr>
        <p:txBody>
          <a:bodyPr wrap="square" lIns="0" tIns="0" rIns="0" bIns="0" rtlCol="0" anchor="t"/>
          <a:lstStyle/>
          <a:p>
            <a:pPr indent="0" marL="0">
              <a:buNone/>
            </a:pPr>
            <a:r>
              <a:rPr lang="en-US" sz="1200" b="1" dirty="0">
                <a:solidFill>
                  <a:srgbClr val="2A3330"/>
                </a:solidFill>
                <a:latin typeface="Meiryo UI" pitchFamily="34" charset="0"/>
                <a:ea typeface="Meiryo UI" pitchFamily="34" charset="-122"/>
                <a:cs typeface="Meiryo UI" pitchFamily="34" charset="-120"/>
              </a:rPr>
              <a:t>需要があっても売上が頭打ちになる</a:t>
            </a:r>
            <a:endParaRPr lang="en-US" sz="1200" dirty="0"/>
          </a:p>
        </p:txBody>
      </p:sp>
      <p:sp>
        <p:nvSpPr>
          <p:cNvPr id="15" name="Shape 13"/>
          <p:cNvSpPr/>
          <p:nvPr/>
        </p:nvSpPr>
        <p:spPr>
          <a:xfrm>
            <a:off x="4338218" y="1737360"/>
            <a:ext cx="3515258" cy="2103120"/>
          </a:xfrm>
          <a:prstGeom prst="roundRect">
            <a:avLst>
              <a:gd name="adj" fmla="val 521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6" name="Shape 14"/>
          <p:cNvSpPr/>
          <p:nvPr/>
        </p:nvSpPr>
        <p:spPr>
          <a:xfrm>
            <a:off x="4566818" y="1938528"/>
            <a:ext cx="457200" cy="457200"/>
          </a:xfrm>
          <a:prstGeom prst="ellipse">
            <a:avLst/>
          </a:prstGeom>
          <a:solidFill>
            <a:srgbClr val="2F7A55"/>
          </a:solidFill>
          <a:ln w="12700">
            <a:solidFill>
              <a:srgbClr val="2F7A55"/>
            </a:solidFill>
            <a:prstDash val="solid"/>
          </a:ln>
        </p:spPr>
      </p:sp>
      <p:sp>
        <p:nvSpPr>
          <p:cNvPr id="17" name="Text 15"/>
          <p:cNvSpPr txBox="1"/>
          <p:nvPr/>
        </p:nvSpPr>
        <p:spPr>
          <a:xfrm>
            <a:off x="4566818" y="19385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2</a:t>
            </a:r>
            <a:endParaRPr lang="en-US" sz="1500" dirty="0"/>
          </a:p>
        </p:txBody>
      </p:sp>
      <p:sp>
        <p:nvSpPr>
          <p:cNvPr id="18" name="Text 16"/>
          <p:cNvSpPr txBox="1"/>
          <p:nvPr/>
        </p:nvSpPr>
        <p:spPr>
          <a:xfrm>
            <a:off x="5161178" y="1938528"/>
            <a:ext cx="2509418" cy="457200"/>
          </a:xfrm>
          <a:prstGeom prst="rect">
            <a:avLst/>
          </a:prstGeom>
          <a:noFill/>
          <a:ln/>
        </p:spPr>
        <p:txBody>
          <a:bodyPr wrap="square" lIns="0" tIns="0" rIns="0" bIns="0" rtlCol="0" anchor="ctr"/>
          <a:lstStyle/>
          <a:p>
            <a:pPr indent="0" marL="0">
              <a:buNone/>
            </a:pPr>
            <a:r>
              <a:rPr lang="en-US" sz="1450" b="1" dirty="0">
                <a:solidFill>
                  <a:srgbClr val="2F7A55"/>
                </a:solidFill>
                <a:latin typeface="Meiryo UI" pitchFamily="34" charset="0"/>
                <a:ea typeface="Meiryo UI" pitchFamily="34" charset="-122"/>
                <a:cs typeface="Meiryo UI" pitchFamily="34" charset="-120"/>
              </a:rPr>
              <a:t>口コミ・講演会への依存</a:t>
            </a:r>
            <a:endParaRPr lang="en-US" sz="1450" dirty="0"/>
          </a:p>
        </p:txBody>
      </p:sp>
      <p:sp>
        <p:nvSpPr>
          <p:cNvPr id="19" name="Text 17"/>
          <p:cNvSpPr txBox="1"/>
          <p:nvPr/>
        </p:nvSpPr>
        <p:spPr>
          <a:xfrm>
            <a:off x="4566818" y="2514600"/>
            <a:ext cx="548640" cy="274320"/>
          </a:xfrm>
          <a:prstGeom prst="rect">
            <a:avLst/>
          </a:prstGeom>
          <a:noFill/>
          <a:ln/>
        </p:spPr>
        <p:txBody>
          <a:bodyPr wrap="square" lIns="0" tIns="0" rIns="0" bIns="0" rtlCol="0" anchor="t"/>
          <a:lstStyle/>
          <a:p>
            <a:pPr indent="0" marL="0">
              <a:buNone/>
            </a:pPr>
            <a:r>
              <a:rPr lang="en-US" sz="1050" b="1" dirty="0">
                <a:solidFill>
                  <a:srgbClr val="66786F"/>
                </a:solidFill>
                <a:latin typeface="Meiryo UI" pitchFamily="34" charset="0"/>
                <a:ea typeface="Meiryo UI" pitchFamily="34" charset="-122"/>
                <a:cs typeface="Meiryo UI" pitchFamily="34" charset="-120"/>
              </a:rPr>
              <a:t>現象</a:t>
            </a:r>
            <a:endParaRPr lang="en-US" sz="1050" dirty="0"/>
          </a:p>
        </p:txBody>
      </p:sp>
      <p:sp>
        <p:nvSpPr>
          <p:cNvPr id="20" name="Text 18"/>
          <p:cNvSpPr txBox="1"/>
          <p:nvPr/>
        </p:nvSpPr>
        <p:spPr>
          <a:xfrm>
            <a:off x="5115458" y="2496312"/>
            <a:ext cx="2509418" cy="640080"/>
          </a:xfrm>
          <a:prstGeom prst="rect">
            <a:avLst/>
          </a:prstGeom>
          <a:noFill/>
          <a:ln/>
        </p:spPr>
        <p:txBody>
          <a:bodyPr wrap="square" lIns="0" tIns="0" rIns="0" bIns="0" rtlCol="0" anchor="t"/>
          <a:lstStyle/>
          <a:p>
            <a:pPr indent="0" marL="0">
              <a:buNone/>
            </a:pPr>
            <a:r>
              <a:rPr lang="en-US" sz="1200" dirty="0">
                <a:solidFill>
                  <a:srgbClr val="2A3330"/>
                </a:solidFill>
                <a:latin typeface="Meiryo UI" pitchFamily="34" charset="0"/>
                <a:ea typeface="Meiryo UI" pitchFamily="34" charset="-122"/>
                <a:cs typeface="Meiryo UI" pitchFamily="34" charset="-120"/>
              </a:rPr>
              <a:t>集客が地域の口コミと月1〜3回の講演会に集中している</a:t>
            </a:r>
            <a:endParaRPr lang="en-US" sz="1200" dirty="0"/>
          </a:p>
        </p:txBody>
      </p:sp>
      <p:sp>
        <p:nvSpPr>
          <p:cNvPr id="21" name="Text 19"/>
          <p:cNvSpPr txBox="1"/>
          <p:nvPr/>
        </p:nvSpPr>
        <p:spPr>
          <a:xfrm>
            <a:off x="4566818" y="3154680"/>
            <a:ext cx="548640" cy="274320"/>
          </a:xfrm>
          <a:prstGeom prst="rect">
            <a:avLst/>
          </a:prstGeom>
          <a:noFill/>
          <a:ln/>
        </p:spPr>
        <p:txBody>
          <a:bodyPr wrap="square" lIns="0" tIns="0" rIns="0" bIns="0" rtlCol="0" anchor="t"/>
          <a:lstStyle/>
          <a:p>
            <a:pPr indent="0" marL="0">
              <a:buNone/>
            </a:pPr>
            <a:r>
              <a:rPr lang="en-US" sz="1050" b="1" dirty="0">
                <a:solidFill>
                  <a:srgbClr val="D8614F"/>
                </a:solidFill>
                <a:latin typeface="Meiryo UI" pitchFamily="34" charset="0"/>
                <a:ea typeface="Meiryo UI" pitchFamily="34" charset="-122"/>
                <a:cs typeface="Meiryo UI" pitchFamily="34" charset="-120"/>
              </a:rPr>
              <a:t>リスク</a:t>
            </a:r>
            <a:endParaRPr lang="en-US" sz="1050" dirty="0"/>
          </a:p>
        </p:txBody>
      </p:sp>
      <p:sp>
        <p:nvSpPr>
          <p:cNvPr id="22" name="Text 20"/>
          <p:cNvSpPr txBox="1"/>
          <p:nvPr/>
        </p:nvSpPr>
        <p:spPr>
          <a:xfrm>
            <a:off x="5115458" y="3136392"/>
            <a:ext cx="2509418" cy="640080"/>
          </a:xfrm>
          <a:prstGeom prst="rect">
            <a:avLst/>
          </a:prstGeom>
          <a:noFill/>
          <a:ln/>
        </p:spPr>
        <p:txBody>
          <a:bodyPr wrap="square" lIns="0" tIns="0" rIns="0" bIns="0" rtlCol="0" anchor="t"/>
          <a:lstStyle/>
          <a:p>
            <a:pPr indent="0" marL="0">
              <a:buNone/>
            </a:pPr>
            <a:r>
              <a:rPr lang="en-US" sz="1200" b="1" dirty="0">
                <a:solidFill>
                  <a:srgbClr val="2A3330"/>
                </a:solidFill>
                <a:latin typeface="Meiryo UI" pitchFamily="34" charset="0"/>
                <a:ea typeface="Meiryo UI" pitchFamily="34" charset="-122"/>
                <a:cs typeface="Meiryo UI" pitchFamily="34" charset="-120"/>
              </a:rPr>
              <a:t>地域外や講演会に来られない層に届かない</a:t>
            </a:r>
            <a:endParaRPr lang="en-US" sz="1200" dirty="0"/>
          </a:p>
        </p:txBody>
      </p:sp>
      <p:sp>
        <p:nvSpPr>
          <p:cNvPr id="23" name="Shape 21"/>
          <p:cNvSpPr/>
          <p:nvPr/>
        </p:nvSpPr>
        <p:spPr>
          <a:xfrm>
            <a:off x="8127797" y="1737360"/>
            <a:ext cx="3515258" cy="2103120"/>
          </a:xfrm>
          <a:prstGeom prst="roundRect">
            <a:avLst>
              <a:gd name="adj" fmla="val 521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4" name="Shape 22"/>
          <p:cNvSpPr/>
          <p:nvPr/>
        </p:nvSpPr>
        <p:spPr>
          <a:xfrm>
            <a:off x="8356397" y="1938528"/>
            <a:ext cx="457200" cy="457200"/>
          </a:xfrm>
          <a:prstGeom prst="ellipse">
            <a:avLst/>
          </a:prstGeom>
          <a:solidFill>
            <a:srgbClr val="2F7A55"/>
          </a:solidFill>
          <a:ln w="12700">
            <a:solidFill>
              <a:srgbClr val="2F7A55"/>
            </a:solidFill>
            <a:prstDash val="solid"/>
          </a:ln>
        </p:spPr>
      </p:sp>
      <p:sp>
        <p:nvSpPr>
          <p:cNvPr id="25" name="Text 23"/>
          <p:cNvSpPr txBox="1"/>
          <p:nvPr/>
        </p:nvSpPr>
        <p:spPr>
          <a:xfrm>
            <a:off x="8356397" y="19385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3</a:t>
            </a:r>
            <a:endParaRPr lang="en-US" sz="1500" dirty="0"/>
          </a:p>
        </p:txBody>
      </p:sp>
      <p:sp>
        <p:nvSpPr>
          <p:cNvPr id="26" name="Text 24"/>
          <p:cNvSpPr txBox="1"/>
          <p:nvPr/>
        </p:nvSpPr>
        <p:spPr>
          <a:xfrm>
            <a:off x="8950757" y="1938528"/>
            <a:ext cx="2509418" cy="457200"/>
          </a:xfrm>
          <a:prstGeom prst="rect">
            <a:avLst/>
          </a:prstGeom>
          <a:noFill/>
          <a:ln/>
        </p:spPr>
        <p:txBody>
          <a:bodyPr wrap="square" lIns="0" tIns="0" rIns="0" bIns="0" rtlCol="0" anchor="ctr"/>
          <a:lstStyle/>
          <a:p>
            <a:pPr indent="0" marL="0">
              <a:buNone/>
            </a:pPr>
            <a:r>
              <a:rPr lang="en-US" sz="1450" b="1" dirty="0">
                <a:solidFill>
                  <a:srgbClr val="2F7A55"/>
                </a:solidFill>
                <a:latin typeface="Meiryo UI" pitchFamily="34" charset="0"/>
                <a:ea typeface="Meiryo UI" pitchFamily="34" charset="-122"/>
                <a:cs typeface="Meiryo UI" pitchFamily="34" charset="-120"/>
              </a:rPr>
              <a:t>テキスト発信が読まれない</a:t>
            </a:r>
            <a:endParaRPr lang="en-US" sz="1450" dirty="0"/>
          </a:p>
        </p:txBody>
      </p:sp>
      <p:sp>
        <p:nvSpPr>
          <p:cNvPr id="27" name="Text 25"/>
          <p:cNvSpPr txBox="1"/>
          <p:nvPr/>
        </p:nvSpPr>
        <p:spPr>
          <a:xfrm>
            <a:off x="8356397" y="2514600"/>
            <a:ext cx="548640" cy="274320"/>
          </a:xfrm>
          <a:prstGeom prst="rect">
            <a:avLst/>
          </a:prstGeom>
          <a:noFill/>
          <a:ln/>
        </p:spPr>
        <p:txBody>
          <a:bodyPr wrap="square" lIns="0" tIns="0" rIns="0" bIns="0" rtlCol="0" anchor="t"/>
          <a:lstStyle/>
          <a:p>
            <a:pPr indent="0" marL="0">
              <a:buNone/>
            </a:pPr>
            <a:r>
              <a:rPr lang="en-US" sz="1050" b="1" dirty="0">
                <a:solidFill>
                  <a:srgbClr val="66786F"/>
                </a:solidFill>
                <a:latin typeface="Meiryo UI" pitchFamily="34" charset="0"/>
                <a:ea typeface="Meiryo UI" pitchFamily="34" charset="-122"/>
                <a:cs typeface="Meiryo UI" pitchFamily="34" charset="-120"/>
              </a:rPr>
              <a:t>現象</a:t>
            </a:r>
            <a:endParaRPr lang="en-US" sz="1050" dirty="0"/>
          </a:p>
        </p:txBody>
      </p:sp>
      <p:sp>
        <p:nvSpPr>
          <p:cNvPr id="28" name="Text 26"/>
          <p:cNvSpPr txBox="1"/>
          <p:nvPr/>
        </p:nvSpPr>
        <p:spPr>
          <a:xfrm>
            <a:off x="8905037" y="2496312"/>
            <a:ext cx="2509418" cy="640080"/>
          </a:xfrm>
          <a:prstGeom prst="rect">
            <a:avLst/>
          </a:prstGeom>
          <a:noFill/>
          <a:ln/>
        </p:spPr>
        <p:txBody>
          <a:bodyPr wrap="square" lIns="0" tIns="0" rIns="0" bIns="0" rtlCol="0" anchor="t"/>
          <a:lstStyle/>
          <a:p>
            <a:pPr indent="0" marL="0">
              <a:buNone/>
            </a:pPr>
            <a:r>
              <a:rPr lang="en-US" sz="1200" dirty="0">
                <a:solidFill>
                  <a:srgbClr val="2A3330"/>
                </a:solidFill>
                <a:latin typeface="Meiryo UI" pitchFamily="34" charset="0"/>
                <a:ea typeface="Meiryo UI" pitchFamily="34" charset="-122"/>
                <a:cs typeface="Meiryo UI" pitchFamily="34" charset="-120"/>
              </a:rPr>
              <a:t>HP・SNSの文章が読まれず、成果につながっていない</a:t>
            </a:r>
            <a:endParaRPr lang="en-US" sz="1200" dirty="0"/>
          </a:p>
        </p:txBody>
      </p:sp>
      <p:sp>
        <p:nvSpPr>
          <p:cNvPr id="29" name="Text 27"/>
          <p:cNvSpPr txBox="1"/>
          <p:nvPr/>
        </p:nvSpPr>
        <p:spPr>
          <a:xfrm>
            <a:off x="8356397" y="3154680"/>
            <a:ext cx="548640" cy="274320"/>
          </a:xfrm>
          <a:prstGeom prst="rect">
            <a:avLst/>
          </a:prstGeom>
          <a:noFill/>
          <a:ln/>
        </p:spPr>
        <p:txBody>
          <a:bodyPr wrap="square" lIns="0" tIns="0" rIns="0" bIns="0" rtlCol="0" anchor="t"/>
          <a:lstStyle/>
          <a:p>
            <a:pPr indent="0" marL="0">
              <a:buNone/>
            </a:pPr>
            <a:r>
              <a:rPr lang="en-US" sz="1050" b="1" dirty="0">
                <a:solidFill>
                  <a:srgbClr val="D8614F"/>
                </a:solidFill>
                <a:latin typeface="Meiryo UI" pitchFamily="34" charset="0"/>
                <a:ea typeface="Meiryo UI" pitchFamily="34" charset="-122"/>
                <a:cs typeface="Meiryo UI" pitchFamily="34" charset="-120"/>
              </a:rPr>
              <a:t>リスク</a:t>
            </a:r>
            <a:endParaRPr lang="en-US" sz="1050" dirty="0"/>
          </a:p>
        </p:txBody>
      </p:sp>
      <p:sp>
        <p:nvSpPr>
          <p:cNvPr id="30" name="Text 28"/>
          <p:cNvSpPr txBox="1"/>
          <p:nvPr/>
        </p:nvSpPr>
        <p:spPr>
          <a:xfrm>
            <a:off x="8905037" y="3136392"/>
            <a:ext cx="2509418" cy="640080"/>
          </a:xfrm>
          <a:prstGeom prst="rect">
            <a:avLst/>
          </a:prstGeom>
          <a:noFill/>
          <a:ln/>
        </p:spPr>
        <p:txBody>
          <a:bodyPr wrap="square" lIns="0" tIns="0" rIns="0" bIns="0" rtlCol="0" anchor="t"/>
          <a:lstStyle/>
          <a:p>
            <a:pPr indent="0" marL="0">
              <a:buNone/>
            </a:pPr>
            <a:r>
              <a:rPr lang="en-US" sz="1200" b="1" dirty="0">
                <a:solidFill>
                  <a:srgbClr val="2A3330"/>
                </a:solidFill>
                <a:latin typeface="Meiryo UI" pitchFamily="34" charset="0"/>
                <a:ea typeface="Meiryo UI" pitchFamily="34" charset="-122"/>
                <a:cs typeface="Meiryo UI" pitchFamily="34" charset="-120"/>
              </a:rPr>
              <a:t>強みや想いが伝わる前に離脱される</a:t>
            </a:r>
            <a:endParaRPr lang="en-US" sz="1200" dirty="0"/>
          </a:p>
        </p:txBody>
      </p:sp>
      <p:sp>
        <p:nvSpPr>
          <p:cNvPr id="31" name="Shape 29"/>
          <p:cNvSpPr/>
          <p:nvPr/>
        </p:nvSpPr>
        <p:spPr>
          <a:xfrm>
            <a:off x="548640" y="4041648"/>
            <a:ext cx="3515258" cy="2103120"/>
          </a:xfrm>
          <a:prstGeom prst="roundRect">
            <a:avLst>
              <a:gd name="adj" fmla="val 521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2" name="Shape 30"/>
          <p:cNvSpPr/>
          <p:nvPr/>
        </p:nvSpPr>
        <p:spPr>
          <a:xfrm>
            <a:off x="777240" y="4242816"/>
            <a:ext cx="457200" cy="457200"/>
          </a:xfrm>
          <a:prstGeom prst="ellipse">
            <a:avLst/>
          </a:prstGeom>
          <a:solidFill>
            <a:srgbClr val="2F7A55"/>
          </a:solidFill>
          <a:ln w="12700">
            <a:solidFill>
              <a:srgbClr val="2F7A55"/>
            </a:solidFill>
            <a:prstDash val="solid"/>
          </a:ln>
        </p:spPr>
      </p:sp>
      <p:sp>
        <p:nvSpPr>
          <p:cNvPr id="33" name="Text 31"/>
          <p:cNvSpPr txBox="1"/>
          <p:nvPr/>
        </p:nvSpPr>
        <p:spPr>
          <a:xfrm>
            <a:off x="777240" y="424281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4</a:t>
            </a:r>
            <a:endParaRPr lang="en-US" sz="1500" dirty="0"/>
          </a:p>
        </p:txBody>
      </p:sp>
      <p:sp>
        <p:nvSpPr>
          <p:cNvPr id="34" name="Text 32"/>
          <p:cNvSpPr txBox="1"/>
          <p:nvPr/>
        </p:nvSpPr>
        <p:spPr>
          <a:xfrm>
            <a:off x="1371600" y="4242816"/>
            <a:ext cx="2509418" cy="457200"/>
          </a:xfrm>
          <a:prstGeom prst="rect">
            <a:avLst/>
          </a:prstGeom>
          <a:noFill/>
          <a:ln/>
        </p:spPr>
        <p:txBody>
          <a:bodyPr wrap="square" lIns="0" tIns="0" rIns="0" bIns="0" rtlCol="0" anchor="ctr"/>
          <a:lstStyle/>
          <a:p>
            <a:pPr indent="0" marL="0">
              <a:buNone/>
            </a:pPr>
            <a:r>
              <a:rPr lang="en-US" sz="1450" b="1" dirty="0">
                <a:solidFill>
                  <a:srgbClr val="2F7A55"/>
                </a:solidFill>
                <a:latin typeface="Meiryo UI" pitchFamily="34" charset="0"/>
                <a:ea typeface="Meiryo UI" pitchFamily="34" charset="-122"/>
                <a:cs typeface="Meiryo UI" pitchFamily="34" charset="-120"/>
              </a:rPr>
              <a:t>講演会後の熱量の低下</a:t>
            </a:r>
            <a:endParaRPr lang="en-US" sz="1450" dirty="0"/>
          </a:p>
        </p:txBody>
      </p:sp>
      <p:sp>
        <p:nvSpPr>
          <p:cNvPr id="35" name="Text 33"/>
          <p:cNvSpPr txBox="1"/>
          <p:nvPr/>
        </p:nvSpPr>
        <p:spPr>
          <a:xfrm>
            <a:off x="777240" y="4818888"/>
            <a:ext cx="548640" cy="274320"/>
          </a:xfrm>
          <a:prstGeom prst="rect">
            <a:avLst/>
          </a:prstGeom>
          <a:noFill/>
          <a:ln/>
        </p:spPr>
        <p:txBody>
          <a:bodyPr wrap="square" lIns="0" tIns="0" rIns="0" bIns="0" rtlCol="0" anchor="t"/>
          <a:lstStyle/>
          <a:p>
            <a:pPr indent="0" marL="0">
              <a:buNone/>
            </a:pPr>
            <a:r>
              <a:rPr lang="en-US" sz="1050" b="1" dirty="0">
                <a:solidFill>
                  <a:srgbClr val="66786F"/>
                </a:solidFill>
                <a:latin typeface="Meiryo UI" pitchFamily="34" charset="0"/>
                <a:ea typeface="Meiryo UI" pitchFamily="34" charset="-122"/>
                <a:cs typeface="Meiryo UI" pitchFamily="34" charset="-120"/>
              </a:rPr>
              <a:t>現象</a:t>
            </a:r>
            <a:endParaRPr lang="en-US" sz="1050" dirty="0"/>
          </a:p>
        </p:txBody>
      </p:sp>
      <p:sp>
        <p:nvSpPr>
          <p:cNvPr id="36" name="Text 34"/>
          <p:cNvSpPr txBox="1"/>
          <p:nvPr/>
        </p:nvSpPr>
        <p:spPr>
          <a:xfrm>
            <a:off x="1325880" y="4800600"/>
            <a:ext cx="2509418" cy="640080"/>
          </a:xfrm>
          <a:prstGeom prst="rect">
            <a:avLst/>
          </a:prstGeom>
          <a:noFill/>
          <a:ln/>
        </p:spPr>
        <p:txBody>
          <a:bodyPr wrap="square" lIns="0" tIns="0" rIns="0" bIns="0" rtlCol="0" anchor="t"/>
          <a:lstStyle/>
          <a:p>
            <a:pPr indent="0" marL="0">
              <a:buNone/>
            </a:pPr>
            <a:r>
              <a:rPr lang="en-US" sz="1200" dirty="0">
                <a:solidFill>
                  <a:srgbClr val="2A3330"/>
                </a:solidFill>
                <a:latin typeface="Meiryo UI" pitchFamily="34" charset="0"/>
                <a:ea typeface="Meiryo UI" pitchFamily="34" charset="-122"/>
                <a:cs typeface="Meiryo UI" pitchFamily="34" charset="-120"/>
              </a:rPr>
              <a:t>講演会で共感しても、無料相談までに時間が空いてしまう</a:t>
            </a:r>
            <a:endParaRPr lang="en-US" sz="1200" dirty="0"/>
          </a:p>
        </p:txBody>
      </p:sp>
      <p:sp>
        <p:nvSpPr>
          <p:cNvPr id="37" name="Text 35"/>
          <p:cNvSpPr txBox="1"/>
          <p:nvPr/>
        </p:nvSpPr>
        <p:spPr>
          <a:xfrm>
            <a:off x="777240" y="5458968"/>
            <a:ext cx="548640" cy="274320"/>
          </a:xfrm>
          <a:prstGeom prst="rect">
            <a:avLst/>
          </a:prstGeom>
          <a:noFill/>
          <a:ln/>
        </p:spPr>
        <p:txBody>
          <a:bodyPr wrap="square" lIns="0" tIns="0" rIns="0" bIns="0" rtlCol="0" anchor="t"/>
          <a:lstStyle/>
          <a:p>
            <a:pPr indent="0" marL="0">
              <a:buNone/>
            </a:pPr>
            <a:r>
              <a:rPr lang="en-US" sz="1050" b="1" dirty="0">
                <a:solidFill>
                  <a:srgbClr val="D8614F"/>
                </a:solidFill>
                <a:latin typeface="Meiryo UI" pitchFamily="34" charset="0"/>
                <a:ea typeface="Meiryo UI" pitchFamily="34" charset="-122"/>
                <a:cs typeface="Meiryo UI" pitchFamily="34" charset="-120"/>
              </a:rPr>
              <a:t>リスク</a:t>
            </a:r>
            <a:endParaRPr lang="en-US" sz="1050" dirty="0"/>
          </a:p>
        </p:txBody>
      </p:sp>
      <p:sp>
        <p:nvSpPr>
          <p:cNvPr id="38" name="Text 36"/>
          <p:cNvSpPr txBox="1"/>
          <p:nvPr/>
        </p:nvSpPr>
        <p:spPr>
          <a:xfrm>
            <a:off x="1325880" y="5440680"/>
            <a:ext cx="2509418" cy="640080"/>
          </a:xfrm>
          <a:prstGeom prst="rect">
            <a:avLst/>
          </a:prstGeom>
          <a:noFill/>
          <a:ln/>
        </p:spPr>
        <p:txBody>
          <a:bodyPr wrap="square" lIns="0" tIns="0" rIns="0" bIns="0" rtlCol="0" anchor="t"/>
          <a:lstStyle/>
          <a:p>
            <a:pPr indent="0" marL="0">
              <a:buNone/>
            </a:pPr>
            <a:r>
              <a:rPr lang="en-US" sz="1200" b="1" dirty="0">
                <a:solidFill>
                  <a:srgbClr val="2A3330"/>
                </a:solidFill>
                <a:latin typeface="Meiryo UI" pitchFamily="34" charset="0"/>
                <a:ea typeface="Meiryo UI" pitchFamily="34" charset="-122"/>
                <a:cs typeface="Meiryo UI" pitchFamily="34" charset="-120"/>
              </a:rPr>
              <a:t>申込の機会を逃し、他の選択肢に流れる</a:t>
            </a:r>
            <a:endParaRPr lang="en-US" sz="1200" dirty="0"/>
          </a:p>
        </p:txBody>
      </p:sp>
      <p:sp>
        <p:nvSpPr>
          <p:cNvPr id="39" name="Shape 37"/>
          <p:cNvSpPr/>
          <p:nvPr/>
        </p:nvSpPr>
        <p:spPr>
          <a:xfrm>
            <a:off x="4338218" y="4041648"/>
            <a:ext cx="3515258" cy="2103120"/>
          </a:xfrm>
          <a:prstGeom prst="roundRect">
            <a:avLst>
              <a:gd name="adj" fmla="val 521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40" name="Shape 38"/>
          <p:cNvSpPr/>
          <p:nvPr/>
        </p:nvSpPr>
        <p:spPr>
          <a:xfrm>
            <a:off x="4566818" y="4242816"/>
            <a:ext cx="457200" cy="457200"/>
          </a:xfrm>
          <a:prstGeom prst="ellipse">
            <a:avLst/>
          </a:prstGeom>
          <a:solidFill>
            <a:srgbClr val="2F7A55"/>
          </a:solidFill>
          <a:ln w="12700">
            <a:solidFill>
              <a:srgbClr val="2F7A55"/>
            </a:solidFill>
            <a:prstDash val="solid"/>
          </a:ln>
        </p:spPr>
      </p:sp>
      <p:sp>
        <p:nvSpPr>
          <p:cNvPr id="41" name="Text 39"/>
          <p:cNvSpPr txBox="1"/>
          <p:nvPr/>
        </p:nvSpPr>
        <p:spPr>
          <a:xfrm>
            <a:off x="4566818" y="424281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5</a:t>
            </a:r>
            <a:endParaRPr lang="en-US" sz="1500" dirty="0"/>
          </a:p>
        </p:txBody>
      </p:sp>
      <p:sp>
        <p:nvSpPr>
          <p:cNvPr id="42" name="Text 40"/>
          <p:cNvSpPr txBox="1"/>
          <p:nvPr/>
        </p:nvSpPr>
        <p:spPr>
          <a:xfrm>
            <a:off x="5161178" y="4242816"/>
            <a:ext cx="2509418" cy="457200"/>
          </a:xfrm>
          <a:prstGeom prst="rect">
            <a:avLst/>
          </a:prstGeom>
          <a:noFill/>
          <a:ln/>
        </p:spPr>
        <p:txBody>
          <a:bodyPr wrap="square" lIns="0" tIns="0" rIns="0" bIns="0" rtlCol="0" anchor="ctr"/>
          <a:lstStyle/>
          <a:p>
            <a:pPr indent="0" marL="0">
              <a:buNone/>
            </a:pPr>
            <a:r>
              <a:rPr lang="en-US" sz="1450" b="1" dirty="0">
                <a:solidFill>
                  <a:srgbClr val="2F7A55"/>
                </a:solidFill>
                <a:latin typeface="Meiryo UI" pitchFamily="34" charset="0"/>
                <a:ea typeface="Meiryo UI" pitchFamily="34" charset="-122"/>
                <a:cs typeface="Meiryo UI" pitchFamily="34" charset="-120"/>
              </a:rPr>
              <a:t>代表への属人化</a:t>
            </a:r>
            <a:endParaRPr lang="en-US" sz="1450" dirty="0"/>
          </a:p>
        </p:txBody>
      </p:sp>
      <p:sp>
        <p:nvSpPr>
          <p:cNvPr id="43" name="Text 41"/>
          <p:cNvSpPr txBox="1"/>
          <p:nvPr/>
        </p:nvSpPr>
        <p:spPr>
          <a:xfrm>
            <a:off x="4566818" y="4818888"/>
            <a:ext cx="548640" cy="274320"/>
          </a:xfrm>
          <a:prstGeom prst="rect">
            <a:avLst/>
          </a:prstGeom>
          <a:noFill/>
          <a:ln/>
        </p:spPr>
        <p:txBody>
          <a:bodyPr wrap="square" lIns="0" tIns="0" rIns="0" bIns="0" rtlCol="0" anchor="t"/>
          <a:lstStyle/>
          <a:p>
            <a:pPr indent="0" marL="0">
              <a:buNone/>
            </a:pPr>
            <a:r>
              <a:rPr lang="en-US" sz="1050" b="1" dirty="0">
                <a:solidFill>
                  <a:srgbClr val="66786F"/>
                </a:solidFill>
                <a:latin typeface="Meiryo UI" pitchFamily="34" charset="0"/>
                <a:ea typeface="Meiryo UI" pitchFamily="34" charset="-122"/>
                <a:cs typeface="Meiryo UI" pitchFamily="34" charset="-120"/>
              </a:rPr>
              <a:t>現象</a:t>
            </a:r>
            <a:endParaRPr lang="en-US" sz="1050" dirty="0"/>
          </a:p>
        </p:txBody>
      </p:sp>
      <p:sp>
        <p:nvSpPr>
          <p:cNvPr id="44" name="Text 42"/>
          <p:cNvSpPr txBox="1"/>
          <p:nvPr/>
        </p:nvSpPr>
        <p:spPr>
          <a:xfrm>
            <a:off x="5115458" y="4800600"/>
            <a:ext cx="2509418" cy="640080"/>
          </a:xfrm>
          <a:prstGeom prst="rect">
            <a:avLst/>
          </a:prstGeom>
          <a:noFill/>
          <a:ln/>
        </p:spPr>
        <p:txBody>
          <a:bodyPr wrap="square" lIns="0" tIns="0" rIns="0" bIns="0" rtlCol="0" anchor="t"/>
          <a:lstStyle/>
          <a:p>
            <a:pPr indent="0" marL="0">
              <a:buNone/>
            </a:pPr>
            <a:r>
              <a:rPr lang="en-US" sz="1200" dirty="0">
                <a:solidFill>
                  <a:srgbClr val="2A3330"/>
                </a:solidFill>
                <a:latin typeface="Meiryo UI" pitchFamily="34" charset="0"/>
                <a:ea typeface="Meiryo UI" pitchFamily="34" charset="-122"/>
                <a:cs typeface="Meiryo UI" pitchFamily="34" charset="-120"/>
              </a:rPr>
              <a:t>想いや考え方を伝えられるのが代表ご本人に限られる</a:t>
            </a:r>
            <a:endParaRPr lang="en-US" sz="1200" dirty="0"/>
          </a:p>
        </p:txBody>
      </p:sp>
      <p:sp>
        <p:nvSpPr>
          <p:cNvPr id="45" name="Text 43"/>
          <p:cNvSpPr txBox="1"/>
          <p:nvPr/>
        </p:nvSpPr>
        <p:spPr>
          <a:xfrm>
            <a:off x="4566818" y="5458968"/>
            <a:ext cx="548640" cy="274320"/>
          </a:xfrm>
          <a:prstGeom prst="rect">
            <a:avLst/>
          </a:prstGeom>
          <a:noFill/>
          <a:ln/>
        </p:spPr>
        <p:txBody>
          <a:bodyPr wrap="square" lIns="0" tIns="0" rIns="0" bIns="0" rtlCol="0" anchor="t"/>
          <a:lstStyle/>
          <a:p>
            <a:pPr indent="0" marL="0">
              <a:buNone/>
            </a:pPr>
            <a:r>
              <a:rPr lang="en-US" sz="1050" b="1" dirty="0">
                <a:solidFill>
                  <a:srgbClr val="D8614F"/>
                </a:solidFill>
                <a:latin typeface="Meiryo UI" pitchFamily="34" charset="0"/>
                <a:ea typeface="Meiryo UI" pitchFamily="34" charset="-122"/>
                <a:cs typeface="Meiryo UI" pitchFamily="34" charset="-120"/>
              </a:rPr>
              <a:t>リスク</a:t>
            </a:r>
            <a:endParaRPr lang="en-US" sz="1050" dirty="0"/>
          </a:p>
        </p:txBody>
      </p:sp>
      <p:sp>
        <p:nvSpPr>
          <p:cNvPr id="46" name="Text 44"/>
          <p:cNvSpPr txBox="1"/>
          <p:nvPr/>
        </p:nvSpPr>
        <p:spPr>
          <a:xfrm>
            <a:off x="5115458" y="5440680"/>
            <a:ext cx="2509418" cy="640080"/>
          </a:xfrm>
          <a:prstGeom prst="rect">
            <a:avLst/>
          </a:prstGeom>
          <a:noFill/>
          <a:ln/>
        </p:spPr>
        <p:txBody>
          <a:bodyPr wrap="square" lIns="0" tIns="0" rIns="0" bIns="0" rtlCol="0" anchor="t"/>
          <a:lstStyle/>
          <a:p>
            <a:pPr indent="0" marL="0">
              <a:buNone/>
            </a:pPr>
            <a:r>
              <a:rPr lang="en-US" sz="1200" b="1" dirty="0">
                <a:solidFill>
                  <a:srgbClr val="2A3330"/>
                </a:solidFill>
                <a:latin typeface="Meiryo UI" pitchFamily="34" charset="0"/>
                <a:ea typeface="Meiryo UI" pitchFamily="34" charset="-122"/>
                <a:cs typeface="Meiryo UI" pitchFamily="34" charset="-120"/>
              </a:rPr>
              <a:t>代表の時間そのものが集客の上限になる</a:t>
            </a:r>
            <a:endParaRPr lang="en-US" sz="1200" dirty="0"/>
          </a:p>
        </p:txBody>
      </p:sp>
      <p:sp>
        <p:nvSpPr>
          <p:cNvPr id="47" name="Shape 45"/>
          <p:cNvSpPr/>
          <p:nvPr/>
        </p:nvSpPr>
        <p:spPr>
          <a:xfrm>
            <a:off x="8127797" y="4041648"/>
            <a:ext cx="3515258" cy="2103120"/>
          </a:xfrm>
          <a:prstGeom prst="roundRect">
            <a:avLst>
              <a:gd name="adj" fmla="val 521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48" name="Shape 46"/>
          <p:cNvSpPr/>
          <p:nvPr/>
        </p:nvSpPr>
        <p:spPr>
          <a:xfrm>
            <a:off x="8356397" y="4242816"/>
            <a:ext cx="457200" cy="457200"/>
          </a:xfrm>
          <a:prstGeom prst="ellipse">
            <a:avLst/>
          </a:prstGeom>
          <a:solidFill>
            <a:srgbClr val="2F7A55"/>
          </a:solidFill>
          <a:ln w="12700">
            <a:solidFill>
              <a:srgbClr val="2F7A55"/>
            </a:solidFill>
            <a:prstDash val="solid"/>
          </a:ln>
        </p:spPr>
      </p:sp>
      <p:sp>
        <p:nvSpPr>
          <p:cNvPr id="49" name="Text 47"/>
          <p:cNvSpPr txBox="1"/>
          <p:nvPr/>
        </p:nvSpPr>
        <p:spPr>
          <a:xfrm>
            <a:off x="8356397" y="424281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6</a:t>
            </a:r>
            <a:endParaRPr lang="en-US" sz="1500" dirty="0"/>
          </a:p>
        </p:txBody>
      </p:sp>
      <p:sp>
        <p:nvSpPr>
          <p:cNvPr id="50" name="Text 48"/>
          <p:cNvSpPr txBox="1"/>
          <p:nvPr/>
        </p:nvSpPr>
        <p:spPr>
          <a:xfrm>
            <a:off x="8950757" y="4242816"/>
            <a:ext cx="2509418" cy="457200"/>
          </a:xfrm>
          <a:prstGeom prst="rect">
            <a:avLst/>
          </a:prstGeom>
          <a:noFill/>
          <a:ln/>
        </p:spPr>
        <p:txBody>
          <a:bodyPr wrap="square" lIns="0" tIns="0" rIns="0" bIns="0" rtlCol="0" anchor="ctr"/>
          <a:lstStyle/>
          <a:p>
            <a:pPr indent="0" marL="0">
              <a:buNone/>
            </a:pPr>
            <a:r>
              <a:rPr lang="en-US" sz="1450" b="1" dirty="0">
                <a:solidFill>
                  <a:srgbClr val="2F7A55"/>
                </a:solidFill>
                <a:latin typeface="Meiryo UI" pitchFamily="34" charset="0"/>
                <a:ea typeface="Meiryo UI" pitchFamily="34" charset="-122"/>
                <a:cs typeface="Meiryo UI" pitchFamily="34" charset="-120"/>
              </a:rPr>
              <a:t>新講座の告知導線が未整備</a:t>
            </a:r>
            <a:endParaRPr lang="en-US" sz="1450" dirty="0"/>
          </a:p>
        </p:txBody>
      </p:sp>
      <p:sp>
        <p:nvSpPr>
          <p:cNvPr id="51" name="Text 49"/>
          <p:cNvSpPr txBox="1"/>
          <p:nvPr/>
        </p:nvSpPr>
        <p:spPr>
          <a:xfrm>
            <a:off x="8356397" y="4818888"/>
            <a:ext cx="548640" cy="274320"/>
          </a:xfrm>
          <a:prstGeom prst="rect">
            <a:avLst/>
          </a:prstGeom>
          <a:noFill/>
          <a:ln/>
        </p:spPr>
        <p:txBody>
          <a:bodyPr wrap="square" lIns="0" tIns="0" rIns="0" bIns="0" rtlCol="0" anchor="t"/>
          <a:lstStyle/>
          <a:p>
            <a:pPr indent="0" marL="0">
              <a:buNone/>
            </a:pPr>
            <a:r>
              <a:rPr lang="en-US" sz="1050" b="1" dirty="0">
                <a:solidFill>
                  <a:srgbClr val="66786F"/>
                </a:solidFill>
                <a:latin typeface="Meiryo UI" pitchFamily="34" charset="0"/>
                <a:ea typeface="Meiryo UI" pitchFamily="34" charset="-122"/>
                <a:cs typeface="Meiryo UI" pitchFamily="34" charset="-120"/>
              </a:rPr>
              <a:t>現象</a:t>
            </a:r>
            <a:endParaRPr lang="en-US" sz="1050" dirty="0"/>
          </a:p>
        </p:txBody>
      </p:sp>
      <p:sp>
        <p:nvSpPr>
          <p:cNvPr id="52" name="Text 50"/>
          <p:cNvSpPr txBox="1"/>
          <p:nvPr/>
        </p:nvSpPr>
        <p:spPr>
          <a:xfrm>
            <a:off x="8905037" y="4800600"/>
            <a:ext cx="2509418" cy="640080"/>
          </a:xfrm>
          <a:prstGeom prst="rect">
            <a:avLst/>
          </a:prstGeom>
          <a:noFill/>
          <a:ln/>
        </p:spPr>
        <p:txBody>
          <a:bodyPr wrap="square" lIns="0" tIns="0" rIns="0" bIns="0" rtlCol="0" anchor="t"/>
          <a:lstStyle/>
          <a:p>
            <a:pPr indent="0" marL="0">
              <a:buNone/>
            </a:pPr>
            <a:r>
              <a:rPr lang="en-US" sz="1200" dirty="0">
                <a:solidFill>
                  <a:srgbClr val="2A3330"/>
                </a:solidFill>
                <a:latin typeface="Meiryo UI" pitchFamily="34" charset="0"/>
                <a:ea typeface="Meiryo UI" pitchFamily="34" charset="-122"/>
                <a:cs typeface="Meiryo UI" pitchFamily="34" charset="-120"/>
              </a:rPr>
              <a:t>年内リリース予定の子育て講座を知ってもらう仕組みがない</a:t>
            </a:r>
            <a:endParaRPr lang="en-US" sz="1200" dirty="0"/>
          </a:p>
        </p:txBody>
      </p:sp>
      <p:sp>
        <p:nvSpPr>
          <p:cNvPr id="53" name="Text 51"/>
          <p:cNvSpPr txBox="1"/>
          <p:nvPr/>
        </p:nvSpPr>
        <p:spPr>
          <a:xfrm>
            <a:off x="8356397" y="5458968"/>
            <a:ext cx="548640" cy="274320"/>
          </a:xfrm>
          <a:prstGeom prst="rect">
            <a:avLst/>
          </a:prstGeom>
          <a:noFill/>
          <a:ln/>
        </p:spPr>
        <p:txBody>
          <a:bodyPr wrap="square" lIns="0" tIns="0" rIns="0" bIns="0" rtlCol="0" anchor="t"/>
          <a:lstStyle/>
          <a:p>
            <a:pPr indent="0" marL="0">
              <a:buNone/>
            </a:pPr>
            <a:r>
              <a:rPr lang="en-US" sz="1050" b="1" dirty="0">
                <a:solidFill>
                  <a:srgbClr val="D8614F"/>
                </a:solidFill>
                <a:latin typeface="Meiryo UI" pitchFamily="34" charset="0"/>
                <a:ea typeface="Meiryo UI" pitchFamily="34" charset="-122"/>
                <a:cs typeface="Meiryo UI" pitchFamily="34" charset="-120"/>
              </a:rPr>
              <a:t>リスク</a:t>
            </a:r>
            <a:endParaRPr lang="en-US" sz="1050" dirty="0"/>
          </a:p>
        </p:txBody>
      </p:sp>
      <p:sp>
        <p:nvSpPr>
          <p:cNvPr id="54" name="Text 52"/>
          <p:cNvSpPr txBox="1"/>
          <p:nvPr/>
        </p:nvSpPr>
        <p:spPr>
          <a:xfrm>
            <a:off x="8905037" y="5440680"/>
            <a:ext cx="2509418" cy="640080"/>
          </a:xfrm>
          <a:prstGeom prst="rect">
            <a:avLst/>
          </a:prstGeom>
          <a:noFill/>
          <a:ln/>
        </p:spPr>
        <p:txBody>
          <a:bodyPr wrap="square" lIns="0" tIns="0" rIns="0" bIns="0" rtlCol="0" anchor="t"/>
          <a:lstStyle/>
          <a:p>
            <a:pPr indent="0" marL="0">
              <a:buNone/>
            </a:pPr>
            <a:r>
              <a:rPr lang="en-US" sz="1200" b="1" dirty="0">
                <a:solidFill>
                  <a:srgbClr val="2A3330"/>
                </a:solidFill>
                <a:latin typeface="Meiryo UI" pitchFamily="34" charset="0"/>
                <a:ea typeface="Meiryo UI" pitchFamily="34" charset="-122"/>
                <a:cs typeface="Meiryo UI" pitchFamily="34" charset="-120"/>
              </a:rPr>
              <a:t>ローンチ時に受講者が集まらない</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8614F"/>
                </a:solidFill>
                <a:latin typeface="Meiryo UI" pitchFamily="34" charset="0"/>
                <a:ea typeface="Meiryo UI" pitchFamily="34" charset="-122"/>
                <a:cs typeface="Meiryo UI" pitchFamily="34" charset="-120"/>
              </a:rPr>
              <a:t>02｜WHY NOW</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2F7A55"/>
                </a:solidFill>
                <a:latin typeface="Meiryo UI" pitchFamily="34" charset="0"/>
                <a:ea typeface="Meiryo UI" pitchFamily="34" charset="-122"/>
                <a:cs typeface="Meiryo UI" pitchFamily="34" charset="-120"/>
              </a:rPr>
              <a:t>「動画を作って放置する（反応待ち）」では成果が出ない理由</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0"/>
                </a:solidFill>
                <a:latin typeface="Meiryo UI" pitchFamily="34" charset="0"/>
                <a:ea typeface="Meiryo UI" pitchFamily="34" charset="-122"/>
                <a:cs typeface="Meiryo UI" pitchFamily="34" charset="-120"/>
              </a:rPr>
              <a:t>6</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0"/>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2286000" y="1417320"/>
            <a:ext cx="4526280" cy="548640"/>
          </a:xfrm>
          <a:prstGeom prst="roundRect">
            <a:avLst>
              <a:gd name="adj" fmla="val 20000"/>
            </a:avLst>
          </a:prstGeom>
          <a:solidFill>
            <a:srgbClr val="EEF0EF"/>
          </a:solidFill>
          <a:ln w="12700">
            <a:solidFill>
              <a:srgbClr val="EEF0EF"/>
            </a:solidFill>
            <a:prstDash val="solid"/>
          </a:ln>
        </p:spPr>
      </p:sp>
      <p:sp>
        <p:nvSpPr>
          <p:cNvPr id="7" name="Text 5"/>
          <p:cNvSpPr txBox="1"/>
          <p:nvPr/>
        </p:nvSpPr>
        <p:spPr>
          <a:xfrm>
            <a:off x="2286000" y="1417320"/>
            <a:ext cx="4526280" cy="548640"/>
          </a:xfrm>
          <a:prstGeom prst="rect">
            <a:avLst/>
          </a:prstGeom>
          <a:noFill/>
          <a:ln/>
        </p:spPr>
        <p:txBody>
          <a:bodyPr wrap="square" lIns="0" tIns="0" rIns="0" bIns="0" rtlCol="0" anchor="ctr"/>
          <a:lstStyle/>
          <a:p>
            <a:pPr algn="ctr" indent="0" marL="0">
              <a:buNone/>
            </a:pPr>
            <a:r>
              <a:rPr lang="en-US" sz="1500" b="1" dirty="0">
                <a:solidFill>
                  <a:srgbClr val="7A8580"/>
                </a:solidFill>
                <a:latin typeface="Meiryo UI" pitchFamily="34" charset="0"/>
                <a:ea typeface="Meiryo UI" pitchFamily="34" charset="-122"/>
                <a:cs typeface="Meiryo UI" pitchFamily="34" charset="-120"/>
              </a:rPr>
              <a:t>作って放置（反応待ち）</a:t>
            </a:r>
            <a:endParaRPr lang="en-US" sz="1500" dirty="0"/>
          </a:p>
        </p:txBody>
      </p:sp>
      <p:sp>
        <p:nvSpPr>
          <p:cNvPr id="8" name="Shape 6"/>
          <p:cNvSpPr/>
          <p:nvPr/>
        </p:nvSpPr>
        <p:spPr>
          <a:xfrm>
            <a:off x="7086600" y="1417320"/>
            <a:ext cx="4526280" cy="548640"/>
          </a:xfrm>
          <a:prstGeom prst="roundRect">
            <a:avLst>
              <a:gd name="adj" fmla="val 20000"/>
            </a:avLst>
          </a:prstGeom>
          <a:solidFill>
            <a:srgbClr val="2F7A55"/>
          </a:solidFill>
          <a:ln w="12700">
            <a:solidFill>
              <a:srgbClr val="2F7A55"/>
            </a:solidFill>
            <a:prstDash val="solid"/>
          </a:ln>
        </p:spPr>
      </p:sp>
      <p:sp>
        <p:nvSpPr>
          <p:cNvPr id="9" name="Text 7"/>
          <p:cNvSpPr txBox="1"/>
          <p:nvPr/>
        </p:nvSpPr>
        <p:spPr>
          <a:xfrm>
            <a:off x="7086600" y="1417320"/>
            <a:ext cx="452628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戦略設計 ＋ 運用</a:t>
            </a:r>
            <a:endParaRPr lang="en-US" sz="1500" dirty="0"/>
          </a:p>
        </p:txBody>
      </p:sp>
      <p:sp>
        <p:nvSpPr>
          <p:cNvPr id="10" name="Text 8"/>
          <p:cNvSpPr txBox="1"/>
          <p:nvPr/>
        </p:nvSpPr>
        <p:spPr>
          <a:xfrm>
            <a:off x="548640" y="2103120"/>
            <a:ext cx="1645920" cy="603504"/>
          </a:xfrm>
          <a:prstGeom prst="rect">
            <a:avLst/>
          </a:prstGeom>
          <a:noFill/>
          <a:ln/>
        </p:spPr>
        <p:txBody>
          <a:bodyPr wrap="square" lIns="0" tIns="0" rIns="0" bIns="0" rtlCol="0" anchor="ctr"/>
          <a:lstStyle/>
          <a:p>
            <a:pPr indent="0" marL="0">
              <a:buNone/>
            </a:pPr>
            <a:r>
              <a:rPr lang="en-US" sz="1300" b="1" dirty="0">
                <a:solidFill>
                  <a:srgbClr val="2F7A55"/>
                </a:solidFill>
                <a:latin typeface="Meiryo UI" pitchFamily="34" charset="0"/>
                <a:ea typeface="Meiryo UI" pitchFamily="34" charset="-122"/>
                <a:cs typeface="Meiryo UI" pitchFamily="34" charset="-120"/>
              </a:rPr>
              <a:t>届く人数</a:t>
            </a:r>
            <a:endParaRPr lang="en-US" sz="1300" dirty="0"/>
          </a:p>
        </p:txBody>
      </p:sp>
      <p:sp>
        <p:nvSpPr>
          <p:cNvPr id="11" name="Shape 9"/>
          <p:cNvSpPr/>
          <p:nvPr/>
        </p:nvSpPr>
        <p:spPr>
          <a:xfrm>
            <a:off x="2286000" y="2103120"/>
            <a:ext cx="4526280" cy="603504"/>
          </a:xfrm>
          <a:prstGeom prst="roundRect">
            <a:avLst>
              <a:gd name="adj" fmla="val 18182"/>
            </a:avLst>
          </a:prstGeom>
          <a:solidFill>
            <a:srgbClr val="F5F9F6"/>
          </a:solidFill>
          <a:ln w="12700">
            <a:solidFill>
              <a:srgbClr val="F5F9F6"/>
            </a:solidFill>
            <a:prstDash val="solid"/>
          </a:ln>
        </p:spPr>
      </p:sp>
      <p:sp>
        <p:nvSpPr>
          <p:cNvPr id="12" name="Shape 10"/>
          <p:cNvSpPr/>
          <p:nvPr/>
        </p:nvSpPr>
        <p:spPr>
          <a:xfrm>
            <a:off x="2423160" y="2249424"/>
            <a:ext cx="310896" cy="310896"/>
          </a:xfrm>
          <a:prstGeom prst="ellipse">
            <a:avLst/>
          </a:prstGeom>
          <a:solidFill>
            <a:srgbClr val="D9DEDB"/>
          </a:solidFill>
          <a:ln w="12700">
            <a:solidFill>
              <a:srgbClr val="D9DEDB"/>
            </a:solidFill>
            <a:prstDash val="solid"/>
          </a:ln>
        </p:spPr>
      </p:sp>
      <p:pic>
        <p:nvPicPr>
          <p:cNvPr id="13" name="Image 0" descr="preencoded.png">    </p:cNvPr>
          <p:cNvPicPr>
            <a:picLocks noChangeAspect="1"/>
          </p:cNvPicPr>
          <p:nvPr/>
        </p:nvPicPr>
        <p:blipFill>
          <a:blip r:embed="rId1"/>
          <a:stretch>
            <a:fillRect/>
          </a:stretch>
        </p:blipFill>
        <p:spPr>
          <a:xfrm>
            <a:off x="2503993" y="2330257"/>
            <a:ext cx="149230" cy="149230"/>
          </a:xfrm>
          <a:prstGeom prst="rect">
            <a:avLst/>
          </a:prstGeom>
        </p:spPr>
      </p:pic>
      <p:sp>
        <p:nvSpPr>
          <p:cNvPr id="14" name="Text 11"/>
          <p:cNvSpPr txBox="1"/>
          <p:nvPr/>
        </p:nvSpPr>
        <p:spPr>
          <a:xfrm>
            <a:off x="2852928" y="2103120"/>
            <a:ext cx="3840480" cy="603504"/>
          </a:xfrm>
          <a:prstGeom prst="rect">
            <a:avLst/>
          </a:prstGeom>
          <a:noFill/>
          <a:ln/>
        </p:spPr>
        <p:txBody>
          <a:bodyPr wrap="square" lIns="0" tIns="0" rIns="0" bIns="0" rtlCol="0" anchor="ctr"/>
          <a:lstStyle/>
          <a:p>
            <a:pPr indent="0" marL="0">
              <a:buNone/>
            </a:pPr>
            <a:r>
              <a:rPr lang="en-US" sz="1200" dirty="0">
                <a:solidFill>
                  <a:srgbClr val="7A8580"/>
                </a:solidFill>
                <a:latin typeface="Meiryo UI" pitchFamily="34" charset="0"/>
                <a:ea typeface="Meiryo UI" pitchFamily="34" charset="-122"/>
                <a:cs typeface="Meiryo UI" pitchFamily="34" charset="-120"/>
              </a:rPr>
              <a:t>HPやSNSに来た人しか見ない</a:t>
            </a:r>
            <a:endParaRPr lang="en-US" sz="1200" dirty="0"/>
          </a:p>
        </p:txBody>
      </p:sp>
      <p:sp>
        <p:nvSpPr>
          <p:cNvPr id="15" name="Shape 12"/>
          <p:cNvSpPr/>
          <p:nvPr/>
        </p:nvSpPr>
        <p:spPr>
          <a:xfrm>
            <a:off x="7086600" y="2103120"/>
            <a:ext cx="4526280" cy="603504"/>
          </a:xfrm>
          <a:prstGeom prst="roundRect">
            <a:avLst>
              <a:gd name="adj" fmla="val 18182"/>
            </a:avLst>
          </a:prstGeom>
          <a:solidFill>
            <a:srgbClr val="EAF4EE"/>
          </a:solidFill>
          <a:ln w="12700">
            <a:solidFill>
              <a:srgbClr val="EAF4EE"/>
            </a:solidFill>
            <a:prstDash val="solid"/>
          </a:ln>
        </p:spPr>
      </p:sp>
      <p:sp>
        <p:nvSpPr>
          <p:cNvPr id="16" name="Shape 13"/>
          <p:cNvSpPr/>
          <p:nvPr/>
        </p:nvSpPr>
        <p:spPr>
          <a:xfrm>
            <a:off x="7223760" y="2249424"/>
            <a:ext cx="310896" cy="310896"/>
          </a:xfrm>
          <a:prstGeom prst="ellipse">
            <a:avLst/>
          </a:prstGeom>
          <a:solidFill>
            <a:srgbClr val="2F7A55"/>
          </a:solidFill>
          <a:ln w="12700">
            <a:solidFill>
              <a:srgbClr val="2F7A55"/>
            </a:solidFill>
            <a:prstDash val="solid"/>
          </a:ln>
        </p:spPr>
      </p:sp>
      <p:pic>
        <p:nvPicPr>
          <p:cNvPr id="17" name="Image 1" descr="preencoded.png">    </p:cNvPr>
          <p:cNvPicPr>
            <a:picLocks noChangeAspect="1"/>
          </p:cNvPicPr>
          <p:nvPr/>
        </p:nvPicPr>
        <p:blipFill>
          <a:blip r:embed="rId2"/>
          <a:stretch>
            <a:fillRect/>
          </a:stretch>
        </p:blipFill>
        <p:spPr>
          <a:xfrm>
            <a:off x="7304593" y="2330257"/>
            <a:ext cx="149230" cy="149230"/>
          </a:xfrm>
          <a:prstGeom prst="rect">
            <a:avLst/>
          </a:prstGeom>
        </p:spPr>
      </p:pic>
      <p:sp>
        <p:nvSpPr>
          <p:cNvPr id="18" name="Text 14"/>
          <p:cNvSpPr txBox="1"/>
          <p:nvPr/>
        </p:nvSpPr>
        <p:spPr>
          <a:xfrm>
            <a:off x="7653528" y="2103120"/>
            <a:ext cx="3840480" cy="603504"/>
          </a:xfrm>
          <a:prstGeom prst="rect">
            <a:avLst/>
          </a:prstGeom>
          <a:noFill/>
          <a:ln/>
        </p:spPr>
        <p:txBody>
          <a:bodyPr wrap="square" lIns="0" tIns="0" rIns="0" bIns="0" rtlCol="0" anchor="ctr"/>
          <a:lstStyle/>
          <a:p>
            <a:pPr indent="0" marL="0">
              <a:buNone/>
            </a:pPr>
            <a:r>
              <a:rPr lang="en-US" sz="1200" b="1" dirty="0">
                <a:solidFill>
                  <a:srgbClr val="1D4A35"/>
                </a:solidFill>
                <a:latin typeface="Meiryo UI" pitchFamily="34" charset="0"/>
                <a:ea typeface="Meiryo UI" pitchFamily="34" charset="-122"/>
                <a:cs typeface="Meiryo UI" pitchFamily="34" charset="-120"/>
              </a:rPr>
              <a:t>講演会参加者・相談者・LINE登録者・SNSへ能動的に届ける</a:t>
            </a:r>
            <a:endParaRPr lang="en-US" sz="1200" dirty="0"/>
          </a:p>
        </p:txBody>
      </p:sp>
      <p:sp>
        <p:nvSpPr>
          <p:cNvPr id="19" name="Text 15"/>
          <p:cNvSpPr txBox="1"/>
          <p:nvPr/>
        </p:nvSpPr>
        <p:spPr>
          <a:xfrm>
            <a:off x="548640" y="2816352"/>
            <a:ext cx="1645920" cy="603504"/>
          </a:xfrm>
          <a:prstGeom prst="rect">
            <a:avLst/>
          </a:prstGeom>
          <a:noFill/>
          <a:ln/>
        </p:spPr>
        <p:txBody>
          <a:bodyPr wrap="square" lIns="0" tIns="0" rIns="0" bIns="0" rtlCol="0" anchor="ctr"/>
          <a:lstStyle/>
          <a:p>
            <a:pPr indent="0" marL="0">
              <a:buNone/>
            </a:pPr>
            <a:r>
              <a:rPr lang="en-US" sz="1300" b="1" dirty="0">
                <a:solidFill>
                  <a:srgbClr val="2F7A55"/>
                </a:solidFill>
                <a:latin typeface="Meiryo UI" pitchFamily="34" charset="0"/>
                <a:ea typeface="Meiryo UI" pitchFamily="34" charset="-122"/>
                <a:cs typeface="Meiryo UI" pitchFamily="34" charset="-120"/>
              </a:rPr>
              <a:t>判断材料</a:t>
            </a:r>
            <a:endParaRPr lang="en-US" sz="1300" dirty="0"/>
          </a:p>
        </p:txBody>
      </p:sp>
      <p:sp>
        <p:nvSpPr>
          <p:cNvPr id="20" name="Shape 16"/>
          <p:cNvSpPr/>
          <p:nvPr/>
        </p:nvSpPr>
        <p:spPr>
          <a:xfrm>
            <a:off x="2286000" y="2816352"/>
            <a:ext cx="4526280" cy="603504"/>
          </a:xfrm>
          <a:prstGeom prst="roundRect">
            <a:avLst>
              <a:gd name="adj" fmla="val 18182"/>
            </a:avLst>
          </a:prstGeom>
          <a:solidFill>
            <a:srgbClr val="F5F9F6"/>
          </a:solidFill>
          <a:ln w="12700">
            <a:solidFill>
              <a:srgbClr val="F5F9F6"/>
            </a:solidFill>
            <a:prstDash val="solid"/>
          </a:ln>
        </p:spPr>
      </p:sp>
      <p:sp>
        <p:nvSpPr>
          <p:cNvPr id="21" name="Shape 17"/>
          <p:cNvSpPr/>
          <p:nvPr/>
        </p:nvSpPr>
        <p:spPr>
          <a:xfrm>
            <a:off x="2423160" y="2962656"/>
            <a:ext cx="310896" cy="310896"/>
          </a:xfrm>
          <a:prstGeom prst="ellipse">
            <a:avLst/>
          </a:prstGeom>
          <a:solidFill>
            <a:srgbClr val="D9DEDB"/>
          </a:solidFill>
          <a:ln w="12700">
            <a:solidFill>
              <a:srgbClr val="D9DEDB"/>
            </a:solidFill>
            <a:prstDash val="solid"/>
          </a:ln>
        </p:spPr>
      </p:sp>
      <p:pic>
        <p:nvPicPr>
          <p:cNvPr id="22" name="Image 2" descr="preencoded.png">    </p:cNvPr>
          <p:cNvPicPr>
            <a:picLocks noChangeAspect="1"/>
          </p:cNvPicPr>
          <p:nvPr/>
        </p:nvPicPr>
        <p:blipFill>
          <a:blip r:embed="rId3"/>
          <a:stretch>
            <a:fillRect/>
          </a:stretch>
        </p:blipFill>
        <p:spPr>
          <a:xfrm>
            <a:off x="2503993" y="3043489"/>
            <a:ext cx="149230" cy="149230"/>
          </a:xfrm>
          <a:prstGeom prst="rect">
            <a:avLst/>
          </a:prstGeom>
        </p:spPr>
      </p:pic>
      <p:sp>
        <p:nvSpPr>
          <p:cNvPr id="23" name="Text 18"/>
          <p:cNvSpPr txBox="1"/>
          <p:nvPr/>
        </p:nvSpPr>
        <p:spPr>
          <a:xfrm>
            <a:off x="2852928" y="2816352"/>
            <a:ext cx="3840480" cy="603504"/>
          </a:xfrm>
          <a:prstGeom prst="rect">
            <a:avLst/>
          </a:prstGeom>
          <a:noFill/>
          <a:ln/>
        </p:spPr>
        <p:txBody>
          <a:bodyPr wrap="square" lIns="0" tIns="0" rIns="0" bIns="0" rtlCol="0" anchor="ctr"/>
          <a:lstStyle/>
          <a:p>
            <a:pPr indent="0" marL="0">
              <a:buNone/>
            </a:pPr>
            <a:r>
              <a:rPr lang="en-US" sz="1200" dirty="0">
                <a:solidFill>
                  <a:srgbClr val="7A8580"/>
                </a:solidFill>
                <a:latin typeface="Meiryo UI" pitchFamily="34" charset="0"/>
                <a:ea typeface="Meiryo UI" pitchFamily="34" charset="-122"/>
                <a:cs typeface="Meiryo UI" pitchFamily="34" charset="-120"/>
              </a:rPr>
              <a:t>再生数が少なく「効果があるのか分からない」まま終わる</a:t>
            </a:r>
            <a:endParaRPr lang="en-US" sz="1200" dirty="0"/>
          </a:p>
        </p:txBody>
      </p:sp>
      <p:sp>
        <p:nvSpPr>
          <p:cNvPr id="24" name="Shape 19"/>
          <p:cNvSpPr/>
          <p:nvPr/>
        </p:nvSpPr>
        <p:spPr>
          <a:xfrm>
            <a:off x="7086600" y="2816352"/>
            <a:ext cx="4526280" cy="603504"/>
          </a:xfrm>
          <a:prstGeom prst="roundRect">
            <a:avLst>
              <a:gd name="adj" fmla="val 18182"/>
            </a:avLst>
          </a:prstGeom>
          <a:solidFill>
            <a:srgbClr val="EAF4EE"/>
          </a:solidFill>
          <a:ln w="12700">
            <a:solidFill>
              <a:srgbClr val="EAF4EE"/>
            </a:solidFill>
            <a:prstDash val="solid"/>
          </a:ln>
        </p:spPr>
      </p:sp>
      <p:sp>
        <p:nvSpPr>
          <p:cNvPr id="25" name="Shape 20"/>
          <p:cNvSpPr/>
          <p:nvPr/>
        </p:nvSpPr>
        <p:spPr>
          <a:xfrm>
            <a:off x="7223760" y="2962656"/>
            <a:ext cx="310896" cy="310896"/>
          </a:xfrm>
          <a:prstGeom prst="ellipse">
            <a:avLst/>
          </a:prstGeom>
          <a:solidFill>
            <a:srgbClr val="2F7A55"/>
          </a:solidFill>
          <a:ln w="12700">
            <a:solidFill>
              <a:srgbClr val="2F7A55"/>
            </a:solidFill>
            <a:prstDash val="solid"/>
          </a:ln>
        </p:spPr>
      </p:sp>
      <p:pic>
        <p:nvPicPr>
          <p:cNvPr id="26" name="Image 3" descr="preencoded.png">    </p:cNvPr>
          <p:cNvPicPr>
            <a:picLocks noChangeAspect="1"/>
          </p:cNvPicPr>
          <p:nvPr/>
        </p:nvPicPr>
        <p:blipFill>
          <a:blip r:embed="rId4"/>
          <a:stretch>
            <a:fillRect/>
          </a:stretch>
        </p:blipFill>
        <p:spPr>
          <a:xfrm>
            <a:off x="7304593" y="3043489"/>
            <a:ext cx="149230" cy="149230"/>
          </a:xfrm>
          <a:prstGeom prst="rect">
            <a:avLst/>
          </a:prstGeom>
        </p:spPr>
      </p:pic>
      <p:sp>
        <p:nvSpPr>
          <p:cNvPr id="27" name="Text 21"/>
          <p:cNvSpPr txBox="1"/>
          <p:nvPr/>
        </p:nvSpPr>
        <p:spPr>
          <a:xfrm>
            <a:off x="7653528" y="2816352"/>
            <a:ext cx="3840480" cy="603504"/>
          </a:xfrm>
          <a:prstGeom prst="rect">
            <a:avLst/>
          </a:prstGeom>
          <a:noFill/>
          <a:ln/>
        </p:spPr>
        <p:txBody>
          <a:bodyPr wrap="square" lIns="0" tIns="0" rIns="0" bIns="0" rtlCol="0" anchor="ctr"/>
          <a:lstStyle/>
          <a:p>
            <a:pPr indent="0" marL="0">
              <a:buNone/>
            </a:pPr>
            <a:r>
              <a:rPr lang="en-US" sz="1200" b="1" dirty="0">
                <a:solidFill>
                  <a:srgbClr val="1D4A35"/>
                </a:solidFill>
                <a:latin typeface="Meiryo UI" pitchFamily="34" charset="0"/>
                <a:ea typeface="Meiryo UI" pitchFamily="34" charset="-122"/>
                <a:cs typeface="Meiryo UI" pitchFamily="34" charset="-120"/>
              </a:rPr>
              <a:t>視聴数・LINE登録・相談申込を数値で比較できる</a:t>
            </a:r>
            <a:endParaRPr lang="en-US" sz="1200" dirty="0"/>
          </a:p>
        </p:txBody>
      </p:sp>
      <p:sp>
        <p:nvSpPr>
          <p:cNvPr id="28" name="Text 22"/>
          <p:cNvSpPr txBox="1"/>
          <p:nvPr/>
        </p:nvSpPr>
        <p:spPr>
          <a:xfrm>
            <a:off x="548640" y="3529584"/>
            <a:ext cx="1645920" cy="603504"/>
          </a:xfrm>
          <a:prstGeom prst="rect">
            <a:avLst/>
          </a:prstGeom>
          <a:noFill/>
          <a:ln/>
        </p:spPr>
        <p:txBody>
          <a:bodyPr wrap="square" lIns="0" tIns="0" rIns="0" bIns="0" rtlCol="0" anchor="ctr"/>
          <a:lstStyle/>
          <a:p>
            <a:pPr indent="0" marL="0">
              <a:buNone/>
            </a:pPr>
            <a:r>
              <a:rPr lang="en-US" sz="1300" b="1" dirty="0">
                <a:solidFill>
                  <a:srgbClr val="2F7A55"/>
                </a:solidFill>
                <a:latin typeface="Meiryo UI" pitchFamily="34" charset="0"/>
                <a:ea typeface="Meiryo UI" pitchFamily="34" charset="-122"/>
                <a:cs typeface="Meiryo UI" pitchFamily="34" charset="-120"/>
              </a:rPr>
              <a:t>改善</a:t>
            </a:r>
            <a:endParaRPr lang="en-US" sz="1300" dirty="0"/>
          </a:p>
        </p:txBody>
      </p:sp>
      <p:sp>
        <p:nvSpPr>
          <p:cNvPr id="29" name="Shape 23"/>
          <p:cNvSpPr/>
          <p:nvPr/>
        </p:nvSpPr>
        <p:spPr>
          <a:xfrm>
            <a:off x="2286000" y="3529584"/>
            <a:ext cx="4526280" cy="603504"/>
          </a:xfrm>
          <a:prstGeom prst="roundRect">
            <a:avLst>
              <a:gd name="adj" fmla="val 18182"/>
            </a:avLst>
          </a:prstGeom>
          <a:solidFill>
            <a:srgbClr val="F5F9F6"/>
          </a:solidFill>
          <a:ln w="12700">
            <a:solidFill>
              <a:srgbClr val="F5F9F6"/>
            </a:solidFill>
            <a:prstDash val="solid"/>
          </a:ln>
        </p:spPr>
      </p:sp>
      <p:sp>
        <p:nvSpPr>
          <p:cNvPr id="30" name="Shape 24"/>
          <p:cNvSpPr/>
          <p:nvPr/>
        </p:nvSpPr>
        <p:spPr>
          <a:xfrm>
            <a:off x="2423160" y="3675888"/>
            <a:ext cx="310896" cy="310896"/>
          </a:xfrm>
          <a:prstGeom prst="ellipse">
            <a:avLst/>
          </a:prstGeom>
          <a:solidFill>
            <a:srgbClr val="D9DEDB"/>
          </a:solidFill>
          <a:ln w="12700">
            <a:solidFill>
              <a:srgbClr val="D9DEDB"/>
            </a:solidFill>
            <a:prstDash val="solid"/>
          </a:ln>
        </p:spPr>
      </p:sp>
      <p:pic>
        <p:nvPicPr>
          <p:cNvPr id="31" name="Image 4" descr="preencoded.png">    </p:cNvPr>
          <p:cNvPicPr>
            <a:picLocks noChangeAspect="1"/>
          </p:cNvPicPr>
          <p:nvPr/>
        </p:nvPicPr>
        <p:blipFill>
          <a:blip r:embed="rId5"/>
          <a:stretch>
            <a:fillRect/>
          </a:stretch>
        </p:blipFill>
        <p:spPr>
          <a:xfrm>
            <a:off x="2503993" y="3756721"/>
            <a:ext cx="149230" cy="149230"/>
          </a:xfrm>
          <a:prstGeom prst="rect">
            <a:avLst/>
          </a:prstGeom>
        </p:spPr>
      </p:pic>
      <p:sp>
        <p:nvSpPr>
          <p:cNvPr id="32" name="Text 25"/>
          <p:cNvSpPr txBox="1"/>
          <p:nvPr/>
        </p:nvSpPr>
        <p:spPr>
          <a:xfrm>
            <a:off x="2852928" y="3529584"/>
            <a:ext cx="3840480" cy="603504"/>
          </a:xfrm>
          <a:prstGeom prst="rect">
            <a:avLst/>
          </a:prstGeom>
          <a:noFill/>
          <a:ln/>
        </p:spPr>
        <p:txBody>
          <a:bodyPr wrap="square" lIns="0" tIns="0" rIns="0" bIns="0" rtlCol="0" anchor="ctr"/>
          <a:lstStyle/>
          <a:p>
            <a:pPr indent="0" marL="0">
              <a:buNone/>
            </a:pPr>
            <a:r>
              <a:rPr lang="en-US" sz="1200" dirty="0">
                <a:solidFill>
                  <a:srgbClr val="7A8580"/>
                </a:solidFill>
                <a:latin typeface="Meiryo UI" pitchFamily="34" charset="0"/>
                <a:ea typeface="Meiryo UI" pitchFamily="34" charset="-122"/>
                <a:cs typeface="Meiryo UI" pitchFamily="34" charset="-120"/>
              </a:rPr>
              <a:t>1本で終わり、何が良く何が悪かったか学べない</a:t>
            </a:r>
            <a:endParaRPr lang="en-US" sz="1200" dirty="0"/>
          </a:p>
        </p:txBody>
      </p:sp>
      <p:sp>
        <p:nvSpPr>
          <p:cNvPr id="33" name="Shape 26"/>
          <p:cNvSpPr/>
          <p:nvPr/>
        </p:nvSpPr>
        <p:spPr>
          <a:xfrm>
            <a:off x="7086600" y="3529584"/>
            <a:ext cx="4526280" cy="603504"/>
          </a:xfrm>
          <a:prstGeom prst="roundRect">
            <a:avLst>
              <a:gd name="adj" fmla="val 18182"/>
            </a:avLst>
          </a:prstGeom>
          <a:solidFill>
            <a:srgbClr val="EAF4EE"/>
          </a:solidFill>
          <a:ln w="12700">
            <a:solidFill>
              <a:srgbClr val="EAF4EE"/>
            </a:solidFill>
            <a:prstDash val="solid"/>
          </a:ln>
        </p:spPr>
      </p:sp>
      <p:sp>
        <p:nvSpPr>
          <p:cNvPr id="34" name="Shape 27"/>
          <p:cNvSpPr/>
          <p:nvPr/>
        </p:nvSpPr>
        <p:spPr>
          <a:xfrm>
            <a:off x="7223760" y="3675888"/>
            <a:ext cx="310896" cy="310896"/>
          </a:xfrm>
          <a:prstGeom prst="ellipse">
            <a:avLst/>
          </a:prstGeom>
          <a:solidFill>
            <a:srgbClr val="2F7A55"/>
          </a:solidFill>
          <a:ln w="12700">
            <a:solidFill>
              <a:srgbClr val="2F7A55"/>
            </a:solidFill>
            <a:prstDash val="solid"/>
          </a:ln>
        </p:spPr>
      </p:sp>
      <p:pic>
        <p:nvPicPr>
          <p:cNvPr id="35" name="Image 5" descr="preencoded.png">    </p:cNvPr>
          <p:cNvPicPr>
            <a:picLocks noChangeAspect="1"/>
          </p:cNvPicPr>
          <p:nvPr/>
        </p:nvPicPr>
        <p:blipFill>
          <a:blip r:embed="rId6"/>
          <a:stretch>
            <a:fillRect/>
          </a:stretch>
        </p:blipFill>
        <p:spPr>
          <a:xfrm>
            <a:off x="7304593" y="3756721"/>
            <a:ext cx="149230" cy="149230"/>
          </a:xfrm>
          <a:prstGeom prst="rect">
            <a:avLst/>
          </a:prstGeom>
        </p:spPr>
      </p:pic>
      <p:sp>
        <p:nvSpPr>
          <p:cNvPr id="36" name="Text 28"/>
          <p:cNvSpPr txBox="1"/>
          <p:nvPr/>
        </p:nvSpPr>
        <p:spPr>
          <a:xfrm>
            <a:off x="7653528" y="3529584"/>
            <a:ext cx="3840480" cy="603504"/>
          </a:xfrm>
          <a:prstGeom prst="rect">
            <a:avLst/>
          </a:prstGeom>
          <a:noFill/>
          <a:ln/>
        </p:spPr>
        <p:txBody>
          <a:bodyPr wrap="square" lIns="0" tIns="0" rIns="0" bIns="0" rtlCol="0" anchor="ctr"/>
          <a:lstStyle/>
          <a:p>
            <a:pPr indent="0" marL="0">
              <a:buNone/>
            </a:pPr>
            <a:r>
              <a:rPr lang="en-US" sz="1200" b="1" dirty="0">
                <a:solidFill>
                  <a:srgbClr val="1D4A35"/>
                </a:solidFill>
                <a:latin typeface="Meiryo UI" pitchFamily="34" charset="0"/>
                <a:ea typeface="Meiryo UI" pitchFamily="34" charset="-122"/>
                <a:cs typeface="Meiryo UI" pitchFamily="34" charset="-120"/>
              </a:rPr>
              <a:t>検証結果から台本・尺・訴求を改善し続ける</a:t>
            </a:r>
            <a:endParaRPr lang="en-US" sz="1200" dirty="0"/>
          </a:p>
        </p:txBody>
      </p:sp>
      <p:sp>
        <p:nvSpPr>
          <p:cNvPr id="37" name="Text 29"/>
          <p:cNvSpPr txBox="1"/>
          <p:nvPr/>
        </p:nvSpPr>
        <p:spPr>
          <a:xfrm>
            <a:off x="548640" y="4242816"/>
            <a:ext cx="1645920" cy="603504"/>
          </a:xfrm>
          <a:prstGeom prst="rect">
            <a:avLst/>
          </a:prstGeom>
          <a:noFill/>
          <a:ln/>
        </p:spPr>
        <p:txBody>
          <a:bodyPr wrap="square" lIns="0" tIns="0" rIns="0" bIns="0" rtlCol="0" anchor="ctr"/>
          <a:lstStyle/>
          <a:p>
            <a:pPr indent="0" marL="0">
              <a:buNone/>
            </a:pPr>
            <a:r>
              <a:rPr lang="en-US" sz="1300" b="1" dirty="0">
                <a:solidFill>
                  <a:srgbClr val="2F7A55"/>
                </a:solidFill>
                <a:latin typeface="Meiryo UI" pitchFamily="34" charset="0"/>
                <a:ea typeface="Meiryo UI" pitchFamily="34" charset="-122"/>
                <a:cs typeface="Meiryo UI" pitchFamily="34" charset="-120"/>
              </a:rPr>
              <a:t>集客との接続</a:t>
            </a:r>
            <a:endParaRPr lang="en-US" sz="1300" dirty="0"/>
          </a:p>
        </p:txBody>
      </p:sp>
      <p:sp>
        <p:nvSpPr>
          <p:cNvPr id="38" name="Shape 30"/>
          <p:cNvSpPr/>
          <p:nvPr/>
        </p:nvSpPr>
        <p:spPr>
          <a:xfrm>
            <a:off x="2286000" y="4242816"/>
            <a:ext cx="4526280" cy="603504"/>
          </a:xfrm>
          <a:prstGeom prst="roundRect">
            <a:avLst>
              <a:gd name="adj" fmla="val 18182"/>
            </a:avLst>
          </a:prstGeom>
          <a:solidFill>
            <a:srgbClr val="F5F9F6"/>
          </a:solidFill>
          <a:ln w="12700">
            <a:solidFill>
              <a:srgbClr val="F5F9F6"/>
            </a:solidFill>
            <a:prstDash val="solid"/>
          </a:ln>
        </p:spPr>
      </p:sp>
      <p:sp>
        <p:nvSpPr>
          <p:cNvPr id="39" name="Shape 31"/>
          <p:cNvSpPr/>
          <p:nvPr/>
        </p:nvSpPr>
        <p:spPr>
          <a:xfrm>
            <a:off x="2423160" y="4389120"/>
            <a:ext cx="310896" cy="310896"/>
          </a:xfrm>
          <a:prstGeom prst="ellipse">
            <a:avLst/>
          </a:prstGeom>
          <a:solidFill>
            <a:srgbClr val="D9DEDB"/>
          </a:solidFill>
          <a:ln w="12700">
            <a:solidFill>
              <a:srgbClr val="D9DEDB"/>
            </a:solidFill>
            <a:prstDash val="solid"/>
          </a:ln>
        </p:spPr>
      </p:sp>
      <p:pic>
        <p:nvPicPr>
          <p:cNvPr id="40" name="Image 6" descr="preencoded.png">    </p:cNvPr>
          <p:cNvPicPr>
            <a:picLocks noChangeAspect="1"/>
          </p:cNvPicPr>
          <p:nvPr/>
        </p:nvPicPr>
        <p:blipFill>
          <a:blip r:embed="rId7"/>
          <a:stretch>
            <a:fillRect/>
          </a:stretch>
        </p:blipFill>
        <p:spPr>
          <a:xfrm>
            <a:off x="2503993" y="4469953"/>
            <a:ext cx="149230" cy="149230"/>
          </a:xfrm>
          <a:prstGeom prst="rect">
            <a:avLst/>
          </a:prstGeom>
        </p:spPr>
      </p:pic>
      <p:sp>
        <p:nvSpPr>
          <p:cNvPr id="41" name="Text 32"/>
          <p:cNvSpPr txBox="1"/>
          <p:nvPr/>
        </p:nvSpPr>
        <p:spPr>
          <a:xfrm>
            <a:off x="2852928" y="4242816"/>
            <a:ext cx="3840480" cy="603504"/>
          </a:xfrm>
          <a:prstGeom prst="rect">
            <a:avLst/>
          </a:prstGeom>
          <a:noFill/>
          <a:ln/>
        </p:spPr>
        <p:txBody>
          <a:bodyPr wrap="square" lIns="0" tIns="0" rIns="0" bIns="0" rtlCol="0" anchor="ctr"/>
          <a:lstStyle/>
          <a:p>
            <a:pPr indent="0" marL="0">
              <a:buNone/>
            </a:pPr>
            <a:r>
              <a:rPr lang="en-US" sz="1200" dirty="0">
                <a:solidFill>
                  <a:srgbClr val="7A8580"/>
                </a:solidFill>
                <a:latin typeface="Meiryo UI" pitchFamily="34" charset="0"/>
                <a:ea typeface="Meiryo UI" pitchFamily="34" charset="-122"/>
                <a:cs typeface="Meiryo UI" pitchFamily="34" charset="-120"/>
              </a:rPr>
              <a:t>講演会や相談で使われず、代表の負担も減らない</a:t>
            </a:r>
            <a:endParaRPr lang="en-US" sz="1200" dirty="0"/>
          </a:p>
        </p:txBody>
      </p:sp>
      <p:sp>
        <p:nvSpPr>
          <p:cNvPr id="42" name="Shape 33"/>
          <p:cNvSpPr/>
          <p:nvPr/>
        </p:nvSpPr>
        <p:spPr>
          <a:xfrm>
            <a:off x="7086600" y="4242816"/>
            <a:ext cx="4526280" cy="603504"/>
          </a:xfrm>
          <a:prstGeom prst="roundRect">
            <a:avLst>
              <a:gd name="adj" fmla="val 18182"/>
            </a:avLst>
          </a:prstGeom>
          <a:solidFill>
            <a:srgbClr val="EAF4EE"/>
          </a:solidFill>
          <a:ln w="12700">
            <a:solidFill>
              <a:srgbClr val="EAF4EE"/>
            </a:solidFill>
            <a:prstDash val="solid"/>
          </a:ln>
        </p:spPr>
      </p:sp>
      <p:sp>
        <p:nvSpPr>
          <p:cNvPr id="43" name="Shape 34"/>
          <p:cNvSpPr/>
          <p:nvPr/>
        </p:nvSpPr>
        <p:spPr>
          <a:xfrm>
            <a:off x="7223760" y="4389120"/>
            <a:ext cx="310896" cy="310896"/>
          </a:xfrm>
          <a:prstGeom prst="ellipse">
            <a:avLst/>
          </a:prstGeom>
          <a:solidFill>
            <a:srgbClr val="2F7A55"/>
          </a:solidFill>
          <a:ln w="12700">
            <a:solidFill>
              <a:srgbClr val="2F7A55"/>
            </a:solidFill>
            <a:prstDash val="solid"/>
          </a:ln>
        </p:spPr>
      </p:sp>
      <p:pic>
        <p:nvPicPr>
          <p:cNvPr id="44" name="Image 7" descr="preencoded.png">    </p:cNvPr>
          <p:cNvPicPr>
            <a:picLocks noChangeAspect="1"/>
          </p:cNvPicPr>
          <p:nvPr/>
        </p:nvPicPr>
        <p:blipFill>
          <a:blip r:embed="rId8"/>
          <a:stretch>
            <a:fillRect/>
          </a:stretch>
        </p:blipFill>
        <p:spPr>
          <a:xfrm>
            <a:off x="7304593" y="4469953"/>
            <a:ext cx="149230" cy="149230"/>
          </a:xfrm>
          <a:prstGeom prst="rect">
            <a:avLst/>
          </a:prstGeom>
        </p:spPr>
      </p:pic>
      <p:sp>
        <p:nvSpPr>
          <p:cNvPr id="45" name="Text 35"/>
          <p:cNvSpPr txBox="1"/>
          <p:nvPr/>
        </p:nvSpPr>
        <p:spPr>
          <a:xfrm>
            <a:off x="7653528" y="4242816"/>
            <a:ext cx="3840480" cy="603504"/>
          </a:xfrm>
          <a:prstGeom prst="rect">
            <a:avLst/>
          </a:prstGeom>
          <a:noFill/>
          <a:ln/>
        </p:spPr>
        <p:txBody>
          <a:bodyPr wrap="square" lIns="0" tIns="0" rIns="0" bIns="0" rtlCol="0" anchor="ctr"/>
          <a:lstStyle/>
          <a:p>
            <a:pPr indent="0" marL="0">
              <a:buNone/>
            </a:pPr>
            <a:r>
              <a:rPr lang="en-US" sz="1200" b="1" dirty="0">
                <a:solidFill>
                  <a:srgbClr val="1D4A35"/>
                </a:solidFill>
                <a:latin typeface="Meiryo UI" pitchFamily="34" charset="0"/>
                <a:ea typeface="Meiryo UI" pitchFamily="34" charset="-122"/>
                <a:cs typeface="Meiryo UI" pitchFamily="34" charset="-120"/>
              </a:rPr>
              <a:t>講演会の前後・相談前・LINE配信に組み込まれ、型になる</a:t>
            </a:r>
            <a:endParaRPr lang="en-US" sz="1200" dirty="0"/>
          </a:p>
        </p:txBody>
      </p:sp>
      <p:sp>
        <p:nvSpPr>
          <p:cNvPr id="46" name="Text 36"/>
          <p:cNvSpPr txBox="1"/>
          <p:nvPr/>
        </p:nvSpPr>
        <p:spPr>
          <a:xfrm>
            <a:off x="548640" y="4956048"/>
            <a:ext cx="1645920" cy="603504"/>
          </a:xfrm>
          <a:prstGeom prst="rect">
            <a:avLst/>
          </a:prstGeom>
          <a:noFill/>
          <a:ln/>
        </p:spPr>
        <p:txBody>
          <a:bodyPr wrap="square" lIns="0" tIns="0" rIns="0" bIns="0" rtlCol="0" anchor="ctr"/>
          <a:lstStyle/>
          <a:p>
            <a:pPr indent="0" marL="0">
              <a:buNone/>
            </a:pPr>
            <a:r>
              <a:rPr lang="en-US" sz="1300" b="1" dirty="0">
                <a:solidFill>
                  <a:srgbClr val="2F7A55"/>
                </a:solidFill>
                <a:latin typeface="Meiryo UI" pitchFamily="34" charset="0"/>
                <a:ea typeface="Meiryo UI" pitchFamily="34" charset="-122"/>
                <a:cs typeface="Meiryo UI" pitchFamily="34" charset="-120"/>
              </a:rPr>
              <a:t>結論</a:t>
            </a:r>
            <a:endParaRPr lang="en-US" sz="1300" dirty="0"/>
          </a:p>
        </p:txBody>
      </p:sp>
      <p:sp>
        <p:nvSpPr>
          <p:cNvPr id="47" name="Shape 37"/>
          <p:cNvSpPr/>
          <p:nvPr/>
        </p:nvSpPr>
        <p:spPr>
          <a:xfrm>
            <a:off x="2286000" y="4956048"/>
            <a:ext cx="4526280" cy="603504"/>
          </a:xfrm>
          <a:prstGeom prst="roundRect">
            <a:avLst>
              <a:gd name="adj" fmla="val 18182"/>
            </a:avLst>
          </a:prstGeom>
          <a:solidFill>
            <a:srgbClr val="F5F9F6"/>
          </a:solidFill>
          <a:ln w="12700">
            <a:solidFill>
              <a:srgbClr val="F5F9F6"/>
            </a:solidFill>
            <a:prstDash val="solid"/>
          </a:ln>
        </p:spPr>
      </p:sp>
      <p:sp>
        <p:nvSpPr>
          <p:cNvPr id="48" name="Shape 38"/>
          <p:cNvSpPr/>
          <p:nvPr/>
        </p:nvSpPr>
        <p:spPr>
          <a:xfrm>
            <a:off x="2423160" y="5102352"/>
            <a:ext cx="310896" cy="310896"/>
          </a:xfrm>
          <a:prstGeom prst="ellipse">
            <a:avLst/>
          </a:prstGeom>
          <a:solidFill>
            <a:srgbClr val="D9DEDB"/>
          </a:solidFill>
          <a:ln w="12700">
            <a:solidFill>
              <a:srgbClr val="D9DEDB"/>
            </a:solidFill>
            <a:prstDash val="solid"/>
          </a:ln>
        </p:spPr>
      </p:sp>
      <p:pic>
        <p:nvPicPr>
          <p:cNvPr id="49" name="Image 8" descr="preencoded.png">    </p:cNvPr>
          <p:cNvPicPr>
            <a:picLocks noChangeAspect="1"/>
          </p:cNvPicPr>
          <p:nvPr/>
        </p:nvPicPr>
        <p:blipFill>
          <a:blip r:embed="rId9"/>
          <a:stretch>
            <a:fillRect/>
          </a:stretch>
        </p:blipFill>
        <p:spPr>
          <a:xfrm>
            <a:off x="2503993" y="5183185"/>
            <a:ext cx="149230" cy="149230"/>
          </a:xfrm>
          <a:prstGeom prst="rect">
            <a:avLst/>
          </a:prstGeom>
        </p:spPr>
      </p:pic>
      <p:sp>
        <p:nvSpPr>
          <p:cNvPr id="50" name="Text 39"/>
          <p:cNvSpPr txBox="1"/>
          <p:nvPr/>
        </p:nvSpPr>
        <p:spPr>
          <a:xfrm>
            <a:off x="2852928" y="4956048"/>
            <a:ext cx="3840480" cy="603504"/>
          </a:xfrm>
          <a:prstGeom prst="rect">
            <a:avLst/>
          </a:prstGeom>
          <a:noFill/>
          <a:ln/>
        </p:spPr>
        <p:txBody>
          <a:bodyPr wrap="square" lIns="0" tIns="0" rIns="0" bIns="0" rtlCol="0" anchor="ctr"/>
          <a:lstStyle/>
          <a:p>
            <a:pPr indent="0" marL="0">
              <a:buNone/>
            </a:pPr>
            <a:r>
              <a:rPr lang="en-US" sz="1200" b="1" dirty="0">
                <a:solidFill>
                  <a:srgbClr val="2A3330"/>
                </a:solidFill>
                <a:latin typeface="Meiryo UI" pitchFamily="34" charset="0"/>
                <a:ea typeface="Meiryo UI" pitchFamily="34" charset="-122"/>
                <a:cs typeface="Meiryo UI" pitchFamily="34" charset="-120"/>
              </a:rPr>
              <a:t>「動画は効果がなかった」という誤った判断に至る</a:t>
            </a:r>
            <a:endParaRPr lang="en-US" sz="1200" dirty="0"/>
          </a:p>
        </p:txBody>
      </p:sp>
      <p:sp>
        <p:nvSpPr>
          <p:cNvPr id="51" name="Shape 40"/>
          <p:cNvSpPr/>
          <p:nvPr/>
        </p:nvSpPr>
        <p:spPr>
          <a:xfrm>
            <a:off x="7086600" y="4956048"/>
            <a:ext cx="4526280" cy="603504"/>
          </a:xfrm>
          <a:prstGeom prst="roundRect">
            <a:avLst>
              <a:gd name="adj" fmla="val 18182"/>
            </a:avLst>
          </a:prstGeom>
          <a:solidFill>
            <a:srgbClr val="FDECEA"/>
          </a:solidFill>
          <a:ln w="12700">
            <a:solidFill>
              <a:srgbClr val="FDECEA"/>
            </a:solidFill>
            <a:prstDash val="solid"/>
          </a:ln>
        </p:spPr>
      </p:sp>
      <p:sp>
        <p:nvSpPr>
          <p:cNvPr id="52" name="Shape 41"/>
          <p:cNvSpPr/>
          <p:nvPr/>
        </p:nvSpPr>
        <p:spPr>
          <a:xfrm>
            <a:off x="7223760" y="5102352"/>
            <a:ext cx="310896" cy="310896"/>
          </a:xfrm>
          <a:prstGeom prst="ellipse">
            <a:avLst/>
          </a:prstGeom>
          <a:solidFill>
            <a:srgbClr val="D8614F"/>
          </a:solidFill>
          <a:ln w="12700">
            <a:solidFill>
              <a:srgbClr val="D8614F"/>
            </a:solidFill>
            <a:prstDash val="solid"/>
          </a:ln>
        </p:spPr>
      </p:sp>
      <p:pic>
        <p:nvPicPr>
          <p:cNvPr id="53" name="Image 9" descr="preencoded.png">    </p:cNvPr>
          <p:cNvPicPr>
            <a:picLocks noChangeAspect="1"/>
          </p:cNvPicPr>
          <p:nvPr/>
        </p:nvPicPr>
        <p:blipFill>
          <a:blip r:embed="rId10"/>
          <a:stretch>
            <a:fillRect/>
          </a:stretch>
        </p:blipFill>
        <p:spPr>
          <a:xfrm>
            <a:off x="7304593" y="5183185"/>
            <a:ext cx="149230" cy="149230"/>
          </a:xfrm>
          <a:prstGeom prst="rect">
            <a:avLst/>
          </a:prstGeom>
        </p:spPr>
      </p:pic>
      <p:sp>
        <p:nvSpPr>
          <p:cNvPr id="54" name="Text 42"/>
          <p:cNvSpPr txBox="1"/>
          <p:nvPr/>
        </p:nvSpPr>
        <p:spPr>
          <a:xfrm>
            <a:off x="7653528" y="4956048"/>
            <a:ext cx="3840480" cy="603504"/>
          </a:xfrm>
          <a:prstGeom prst="rect">
            <a:avLst/>
          </a:prstGeom>
          <a:noFill/>
          <a:ln/>
        </p:spPr>
        <p:txBody>
          <a:bodyPr wrap="square" lIns="0" tIns="0" rIns="0" bIns="0" rtlCol="0" anchor="ctr"/>
          <a:lstStyle/>
          <a:p>
            <a:pPr indent="0" marL="0">
              <a:buNone/>
            </a:pPr>
            <a:r>
              <a:rPr lang="en-US" sz="1200" b="1" dirty="0">
                <a:solidFill>
                  <a:srgbClr val="1D4A35"/>
                </a:solidFill>
                <a:latin typeface="Meiryo UI" pitchFamily="34" charset="0"/>
                <a:ea typeface="Meiryo UI" pitchFamily="34" charset="-122"/>
                <a:cs typeface="Meiryo UI" pitchFamily="34" charset="-120"/>
              </a:rPr>
              <a:t>無料相談・入会が増える“仕組み”が残る</a:t>
            </a:r>
            <a:endParaRPr lang="en-US" sz="1200" dirty="0"/>
          </a:p>
        </p:txBody>
      </p:sp>
      <p:sp>
        <p:nvSpPr>
          <p:cNvPr id="55" name="Text 43"/>
          <p:cNvSpPr txBox="1"/>
          <p:nvPr/>
        </p:nvSpPr>
        <p:spPr>
          <a:xfrm>
            <a:off x="548640" y="5715000"/>
            <a:ext cx="11094415" cy="640080"/>
          </a:xfrm>
          <a:prstGeom prst="rect">
            <a:avLst/>
          </a:prstGeom>
          <a:noFill/>
          <a:ln/>
        </p:spPr>
        <p:txBody>
          <a:bodyPr wrap="square" lIns="0" tIns="0" rIns="0" bIns="0" rtlCol="0" anchor="ctr"/>
          <a:lstStyle/>
          <a:p>
            <a:pPr algn="ctr" indent="0" marL="0">
              <a:buNone/>
            </a:pPr>
            <a:r>
              <a:rPr lang="en-US" sz="1400" b="1" dirty="0">
                <a:solidFill>
                  <a:srgbClr val="D8614F"/>
                </a:solidFill>
                <a:latin typeface="Meiryo UI" pitchFamily="34" charset="0"/>
                <a:ea typeface="Meiryo UI" pitchFamily="34" charset="-122"/>
                <a:cs typeface="Meiryo UI" pitchFamily="34" charset="-120"/>
              </a:rPr>
              <a:t>動画は“置く”ものではなく“使う”もの。</a:t>
            </a:r>
            <a:endParaRPr lang="en-US" sz="1400" dirty="0"/>
          </a:p>
          <a:p>
            <a:pPr algn="ctr" indent="0" marL="0">
              <a:buNone/>
            </a:pPr>
            <a:r>
              <a:rPr lang="en-US" sz="1400" dirty="0">
                <a:solidFill>
                  <a:srgbClr val="2A3330"/>
                </a:solidFill>
                <a:latin typeface="Meiryo UI" pitchFamily="34" charset="0"/>
                <a:ea typeface="Meiryo UI" pitchFamily="34" charset="-122"/>
                <a:cs typeface="Meiryo UI" pitchFamily="34" charset="-120"/>
              </a:rPr>
              <a:t>成果を分けるのは出来栄えではなく、「誰に・いつ・どう届け・どう改善するか」という運用設計です。</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8614F"/>
                </a:solidFill>
                <a:latin typeface="Meiryo UI" pitchFamily="34" charset="0"/>
                <a:ea typeface="Meiryo UI" pitchFamily="34" charset="-122"/>
                <a:cs typeface="Meiryo UI" pitchFamily="34" charset="-120"/>
              </a:rPr>
              <a:t>02｜WHY MiTok / WHY US</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2F7A55"/>
                </a:solidFill>
                <a:latin typeface="Meiryo UI" pitchFamily="34" charset="0"/>
                <a:ea typeface="Meiryo UI" pitchFamily="34" charset="-122"/>
                <a:cs typeface="Meiryo UI" pitchFamily="34" charset="-120"/>
              </a:rPr>
              <a:t>なぜ「動画 × 生成AI（MiTok）」で、なぜアイドマなのか</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0"/>
                </a:solidFill>
                <a:latin typeface="Meiryo UI" pitchFamily="34" charset="0"/>
                <a:ea typeface="Meiryo UI" pitchFamily="34" charset="-122"/>
                <a:cs typeface="Meiryo UI" pitchFamily="34" charset="-120"/>
              </a:rPr>
              <a:t>7</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0"/>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Text 4"/>
          <p:cNvSpPr txBox="1"/>
          <p:nvPr/>
        </p:nvSpPr>
        <p:spPr>
          <a:xfrm>
            <a:off x="548640" y="1371600"/>
            <a:ext cx="3657600" cy="365760"/>
          </a:xfrm>
          <a:prstGeom prst="rect">
            <a:avLst/>
          </a:prstGeom>
          <a:noFill/>
          <a:ln/>
        </p:spPr>
        <p:txBody>
          <a:bodyPr wrap="square" lIns="0" tIns="0" rIns="0" bIns="0" rtlCol="0" anchor="t"/>
          <a:lstStyle/>
          <a:p>
            <a:pPr indent="0" marL="0">
              <a:buNone/>
            </a:pPr>
            <a:r>
              <a:rPr lang="en-US" sz="1600" b="1" dirty="0">
                <a:solidFill>
                  <a:srgbClr val="D8614F"/>
                </a:solidFill>
                <a:latin typeface="Meiryo UI" pitchFamily="34" charset="0"/>
                <a:ea typeface="Meiryo UI" pitchFamily="34" charset="-122"/>
                <a:cs typeface="Meiryo UI" pitchFamily="34" charset="-120"/>
              </a:rPr>
              <a:t>Why MiTok</a:t>
            </a:r>
            <a:endParaRPr lang="en-US" sz="1600" dirty="0"/>
          </a:p>
        </p:txBody>
      </p:sp>
      <p:sp>
        <p:nvSpPr>
          <p:cNvPr id="7" name="Shape 5"/>
          <p:cNvSpPr/>
          <p:nvPr/>
        </p:nvSpPr>
        <p:spPr>
          <a:xfrm>
            <a:off x="548640" y="1874520"/>
            <a:ext cx="548640" cy="548640"/>
          </a:xfrm>
          <a:prstGeom prst="ellipse">
            <a:avLst/>
          </a:prstGeom>
          <a:solidFill>
            <a:srgbClr val="EAF4EE"/>
          </a:solidFill>
          <a:ln w="12700">
            <a:solidFill>
              <a:srgbClr val="EAF4EE"/>
            </a:solidFill>
            <a:prstDash val="solid"/>
          </a:ln>
        </p:spPr>
      </p:sp>
      <p:pic>
        <p:nvPicPr>
          <p:cNvPr id="8" name="Image 0" descr="preencoded.png">    </p:cNvPr>
          <p:cNvPicPr>
            <a:picLocks noChangeAspect="1"/>
          </p:cNvPicPr>
          <p:nvPr/>
        </p:nvPicPr>
        <p:blipFill>
          <a:blip r:embed="rId1"/>
          <a:stretch>
            <a:fillRect/>
          </a:stretch>
        </p:blipFill>
        <p:spPr>
          <a:xfrm>
            <a:off x="691286" y="2017166"/>
            <a:ext cx="263347" cy="263347"/>
          </a:xfrm>
          <a:prstGeom prst="rect">
            <a:avLst/>
          </a:prstGeom>
        </p:spPr>
      </p:pic>
      <p:sp>
        <p:nvSpPr>
          <p:cNvPr id="9" name="Text 6"/>
          <p:cNvSpPr txBox="1"/>
          <p:nvPr/>
        </p:nvSpPr>
        <p:spPr>
          <a:xfrm>
            <a:off x="1280160" y="1828800"/>
            <a:ext cx="6035040" cy="320040"/>
          </a:xfrm>
          <a:prstGeom prst="rect">
            <a:avLst/>
          </a:prstGeom>
          <a:noFill/>
          <a:ln/>
        </p:spPr>
        <p:txBody>
          <a:bodyPr wrap="square" lIns="0" tIns="0" rIns="0" bIns="0" rtlCol="0" anchor="t"/>
          <a:lstStyle/>
          <a:p>
            <a:pPr indent="0" marL="0">
              <a:buNone/>
            </a:pPr>
            <a:r>
              <a:rPr lang="en-US" sz="1400" b="1" dirty="0">
                <a:solidFill>
                  <a:srgbClr val="2F7A55"/>
                </a:solidFill>
                <a:latin typeface="Meiryo UI" pitchFamily="34" charset="0"/>
                <a:ea typeface="Meiryo UI" pitchFamily="34" charset="-122"/>
                <a:cs typeface="Meiryo UI" pitchFamily="34" charset="-120"/>
              </a:rPr>
              <a:t>AI掛け合い（対話型）の動画</a:t>
            </a:r>
            <a:endParaRPr lang="en-US" sz="1400" dirty="0"/>
          </a:p>
        </p:txBody>
      </p:sp>
      <p:sp>
        <p:nvSpPr>
          <p:cNvPr id="10" name="Text 7"/>
          <p:cNvSpPr txBox="1"/>
          <p:nvPr/>
        </p:nvSpPr>
        <p:spPr>
          <a:xfrm>
            <a:off x="1280160" y="2157984"/>
            <a:ext cx="6035040" cy="475488"/>
          </a:xfrm>
          <a:prstGeom prst="rect">
            <a:avLst/>
          </a:prstGeom>
          <a:noFill/>
          <a:ln/>
        </p:spPr>
        <p:txBody>
          <a:bodyPr wrap="square" lIns="0" tIns="0" rIns="0" bIns="0" rtlCol="0" anchor="t"/>
          <a:lstStyle/>
          <a:p>
            <a:pPr indent="0" marL="0">
              <a:buNone/>
            </a:pPr>
            <a:r>
              <a:rPr lang="en-US" sz="1150" dirty="0">
                <a:solidFill>
                  <a:srgbClr val="2A3330"/>
                </a:solidFill>
                <a:latin typeface="Meiryo UI" pitchFamily="34" charset="0"/>
                <a:ea typeface="Meiryo UI" pitchFamily="34" charset="-122"/>
                <a:cs typeface="Meiryo UI" pitchFamily="34" charset="-120"/>
              </a:rPr>
              <a:t>「お母さんの悩み」×「代表の回答」の形式で、講演会のような共感と信頼が自然に生まれる</a:t>
            </a:r>
            <a:endParaRPr lang="en-US" sz="1150" dirty="0"/>
          </a:p>
        </p:txBody>
      </p:sp>
      <p:sp>
        <p:nvSpPr>
          <p:cNvPr id="11" name="Shape 8"/>
          <p:cNvSpPr/>
          <p:nvPr/>
        </p:nvSpPr>
        <p:spPr>
          <a:xfrm>
            <a:off x="548640" y="2743200"/>
            <a:ext cx="548640" cy="548640"/>
          </a:xfrm>
          <a:prstGeom prst="ellipse">
            <a:avLst/>
          </a:prstGeom>
          <a:solidFill>
            <a:srgbClr val="EAF4EE"/>
          </a:solidFill>
          <a:ln w="12700">
            <a:solidFill>
              <a:srgbClr val="EAF4EE"/>
            </a:solidFill>
            <a:prstDash val="solid"/>
          </a:ln>
        </p:spPr>
      </p:sp>
      <p:pic>
        <p:nvPicPr>
          <p:cNvPr id="12" name="Image 1" descr="preencoded.png">    </p:cNvPr>
          <p:cNvPicPr>
            <a:picLocks noChangeAspect="1"/>
          </p:cNvPicPr>
          <p:nvPr/>
        </p:nvPicPr>
        <p:blipFill>
          <a:blip r:embed="rId2"/>
          <a:stretch>
            <a:fillRect/>
          </a:stretch>
        </p:blipFill>
        <p:spPr>
          <a:xfrm>
            <a:off x="691286" y="2885846"/>
            <a:ext cx="263347" cy="263347"/>
          </a:xfrm>
          <a:prstGeom prst="rect">
            <a:avLst/>
          </a:prstGeom>
        </p:spPr>
      </p:pic>
      <p:sp>
        <p:nvSpPr>
          <p:cNvPr id="13" name="Text 9"/>
          <p:cNvSpPr txBox="1"/>
          <p:nvPr/>
        </p:nvSpPr>
        <p:spPr>
          <a:xfrm>
            <a:off x="1280160" y="2697480"/>
            <a:ext cx="6035040" cy="320040"/>
          </a:xfrm>
          <a:prstGeom prst="rect">
            <a:avLst/>
          </a:prstGeom>
          <a:noFill/>
          <a:ln/>
        </p:spPr>
        <p:txBody>
          <a:bodyPr wrap="square" lIns="0" tIns="0" rIns="0" bIns="0" rtlCol="0" anchor="t"/>
          <a:lstStyle/>
          <a:p>
            <a:pPr indent="0" marL="0">
              <a:buNone/>
            </a:pPr>
            <a:r>
              <a:rPr lang="en-US" sz="1400" b="1" dirty="0">
                <a:solidFill>
                  <a:srgbClr val="2F7A55"/>
                </a:solidFill>
                <a:latin typeface="Meiryo UI" pitchFamily="34" charset="0"/>
                <a:ea typeface="Meiryo UI" pitchFamily="34" charset="-122"/>
                <a:cs typeface="Meiryo UI" pitchFamily="34" charset="-120"/>
              </a:rPr>
              <a:t>“耳から”伝わる</a:t>
            </a:r>
            <a:endParaRPr lang="en-US" sz="1400" dirty="0"/>
          </a:p>
        </p:txBody>
      </p:sp>
      <p:sp>
        <p:nvSpPr>
          <p:cNvPr id="14" name="Text 10"/>
          <p:cNvSpPr txBox="1"/>
          <p:nvPr/>
        </p:nvSpPr>
        <p:spPr>
          <a:xfrm>
            <a:off x="1280160" y="3026664"/>
            <a:ext cx="6035040" cy="475488"/>
          </a:xfrm>
          <a:prstGeom prst="rect">
            <a:avLst/>
          </a:prstGeom>
          <a:noFill/>
          <a:ln/>
        </p:spPr>
        <p:txBody>
          <a:bodyPr wrap="square" lIns="0" tIns="0" rIns="0" bIns="0" rtlCol="0" anchor="t"/>
          <a:lstStyle/>
          <a:p>
            <a:pPr indent="0" marL="0">
              <a:buNone/>
            </a:pPr>
            <a:r>
              <a:rPr lang="en-US" sz="1150" dirty="0">
                <a:solidFill>
                  <a:srgbClr val="2A3330"/>
                </a:solidFill>
                <a:latin typeface="Meiryo UI" pitchFamily="34" charset="0"/>
                <a:ea typeface="Meiryo UI" pitchFamily="34" charset="-122"/>
                <a:cs typeface="Meiryo UI" pitchFamily="34" charset="-120"/>
              </a:rPr>
              <a:t>文章を読まない層にも、家事や移動中の“ながら視聴”で届く</a:t>
            </a:r>
            <a:endParaRPr lang="en-US" sz="1150" dirty="0"/>
          </a:p>
        </p:txBody>
      </p:sp>
      <p:sp>
        <p:nvSpPr>
          <p:cNvPr id="15" name="Shape 11"/>
          <p:cNvSpPr/>
          <p:nvPr/>
        </p:nvSpPr>
        <p:spPr>
          <a:xfrm>
            <a:off x="548640" y="3611880"/>
            <a:ext cx="548640" cy="548640"/>
          </a:xfrm>
          <a:prstGeom prst="ellipse">
            <a:avLst/>
          </a:prstGeom>
          <a:solidFill>
            <a:srgbClr val="EAF4EE"/>
          </a:solidFill>
          <a:ln w="12700">
            <a:solidFill>
              <a:srgbClr val="EAF4EE"/>
            </a:solidFill>
            <a:prstDash val="solid"/>
          </a:ln>
        </p:spPr>
      </p:sp>
      <p:pic>
        <p:nvPicPr>
          <p:cNvPr id="16" name="Image 2" descr="preencoded.png">    </p:cNvPr>
          <p:cNvPicPr>
            <a:picLocks noChangeAspect="1"/>
          </p:cNvPicPr>
          <p:nvPr/>
        </p:nvPicPr>
        <p:blipFill>
          <a:blip r:embed="rId3"/>
          <a:stretch>
            <a:fillRect/>
          </a:stretch>
        </p:blipFill>
        <p:spPr>
          <a:xfrm>
            <a:off x="691286" y="3754526"/>
            <a:ext cx="263347" cy="263347"/>
          </a:xfrm>
          <a:prstGeom prst="rect">
            <a:avLst/>
          </a:prstGeom>
        </p:spPr>
      </p:pic>
      <p:sp>
        <p:nvSpPr>
          <p:cNvPr id="17" name="Text 12"/>
          <p:cNvSpPr txBox="1"/>
          <p:nvPr/>
        </p:nvSpPr>
        <p:spPr>
          <a:xfrm>
            <a:off x="1280160" y="3566160"/>
            <a:ext cx="6035040" cy="320040"/>
          </a:xfrm>
          <a:prstGeom prst="rect">
            <a:avLst/>
          </a:prstGeom>
          <a:noFill/>
          <a:ln/>
        </p:spPr>
        <p:txBody>
          <a:bodyPr wrap="square" lIns="0" tIns="0" rIns="0" bIns="0" rtlCol="0" anchor="t"/>
          <a:lstStyle/>
          <a:p>
            <a:pPr indent="0" marL="0">
              <a:buNone/>
            </a:pPr>
            <a:r>
              <a:rPr lang="en-US" sz="1400" b="1" dirty="0">
                <a:solidFill>
                  <a:srgbClr val="2F7A55"/>
                </a:solidFill>
                <a:latin typeface="Meiryo UI" pitchFamily="34" charset="0"/>
                <a:ea typeface="Meiryo UI" pitchFamily="34" charset="-122"/>
                <a:cs typeface="Meiryo UI" pitchFamily="34" charset="-120"/>
              </a:rPr>
              <a:t>代表の撮影・出演が不要</a:t>
            </a:r>
            <a:endParaRPr lang="en-US" sz="1400" dirty="0"/>
          </a:p>
        </p:txBody>
      </p:sp>
      <p:sp>
        <p:nvSpPr>
          <p:cNvPr id="18" name="Text 13"/>
          <p:cNvSpPr txBox="1"/>
          <p:nvPr/>
        </p:nvSpPr>
        <p:spPr>
          <a:xfrm>
            <a:off x="1280160" y="3895344"/>
            <a:ext cx="6035040" cy="475488"/>
          </a:xfrm>
          <a:prstGeom prst="rect">
            <a:avLst/>
          </a:prstGeom>
          <a:noFill/>
          <a:ln/>
        </p:spPr>
        <p:txBody>
          <a:bodyPr wrap="square" lIns="0" tIns="0" rIns="0" bIns="0" rtlCol="0" anchor="t"/>
          <a:lstStyle/>
          <a:p>
            <a:pPr indent="0" marL="0">
              <a:buNone/>
            </a:pPr>
            <a:r>
              <a:rPr lang="en-US" sz="1150" dirty="0">
                <a:solidFill>
                  <a:srgbClr val="2A3330"/>
                </a:solidFill>
                <a:latin typeface="Meiryo UI" pitchFamily="34" charset="0"/>
                <a:ea typeface="Meiryo UI" pitchFamily="34" charset="-122"/>
                <a:cs typeface="Meiryo UI" pitchFamily="34" charset="-120"/>
              </a:rPr>
              <a:t>代表の時間を増やさずに、想いと考え方を何本でも発信できる</a:t>
            </a:r>
            <a:endParaRPr lang="en-US" sz="1150" dirty="0"/>
          </a:p>
        </p:txBody>
      </p:sp>
      <p:sp>
        <p:nvSpPr>
          <p:cNvPr id="19" name="Shape 14"/>
          <p:cNvSpPr/>
          <p:nvPr/>
        </p:nvSpPr>
        <p:spPr>
          <a:xfrm>
            <a:off x="548640" y="4480560"/>
            <a:ext cx="548640" cy="548640"/>
          </a:xfrm>
          <a:prstGeom prst="ellipse">
            <a:avLst/>
          </a:prstGeom>
          <a:solidFill>
            <a:srgbClr val="EAF4EE"/>
          </a:solidFill>
          <a:ln w="12700">
            <a:solidFill>
              <a:srgbClr val="EAF4EE"/>
            </a:solidFill>
            <a:prstDash val="solid"/>
          </a:ln>
        </p:spPr>
      </p:sp>
      <p:pic>
        <p:nvPicPr>
          <p:cNvPr id="20" name="Image 3" descr="preencoded.png">    </p:cNvPr>
          <p:cNvPicPr>
            <a:picLocks noChangeAspect="1"/>
          </p:cNvPicPr>
          <p:nvPr/>
        </p:nvPicPr>
        <p:blipFill>
          <a:blip r:embed="rId4"/>
          <a:stretch>
            <a:fillRect/>
          </a:stretch>
        </p:blipFill>
        <p:spPr>
          <a:xfrm>
            <a:off x="691286" y="4623206"/>
            <a:ext cx="263347" cy="263347"/>
          </a:xfrm>
          <a:prstGeom prst="rect">
            <a:avLst/>
          </a:prstGeom>
        </p:spPr>
      </p:pic>
      <p:sp>
        <p:nvSpPr>
          <p:cNvPr id="21" name="Text 15"/>
          <p:cNvSpPr txBox="1"/>
          <p:nvPr/>
        </p:nvSpPr>
        <p:spPr>
          <a:xfrm>
            <a:off x="1280160" y="4434840"/>
            <a:ext cx="6035040" cy="320040"/>
          </a:xfrm>
          <a:prstGeom prst="rect">
            <a:avLst/>
          </a:prstGeom>
          <a:noFill/>
          <a:ln/>
        </p:spPr>
        <p:txBody>
          <a:bodyPr wrap="square" lIns="0" tIns="0" rIns="0" bIns="0" rtlCol="0" anchor="t"/>
          <a:lstStyle/>
          <a:p>
            <a:pPr indent="0" marL="0">
              <a:buNone/>
            </a:pPr>
            <a:r>
              <a:rPr lang="en-US" sz="1400" b="1" dirty="0">
                <a:solidFill>
                  <a:srgbClr val="2F7A55"/>
                </a:solidFill>
                <a:latin typeface="Meiryo UI" pitchFamily="34" charset="0"/>
                <a:ea typeface="Meiryo UI" pitchFamily="34" charset="-122"/>
                <a:cs typeface="Meiryo UI" pitchFamily="34" charset="-120"/>
              </a:rPr>
              <a:t>テーマ別に量産できる</a:t>
            </a:r>
            <a:endParaRPr lang="en-US" sz="1400" dirty="0"/>
          </a:p>
        </p:txBody>
      </p:sp>
      <p:sp>
        <p:nvSpPr>
          <p:cNvPr id="22" name="Text 16"/>
          <p:cNvSpPr txBox="1"/>
          <p:nvPr/>
        </p:nvSpPr>
        <p:spPr>
          <a:xfrm>
            <a:off x="1280160" y="4764024"/>
            <a:ext cx="6035040" cy="475488"/>
          </a:xfrm>
          <a:prstGeom prst="rect">
            <a:avLst/>
          </a:prstGeom>
          <a:noFill/>
          <a:ln/>
        </p:spPr>
        <p:txBody>
          <a:bodyPr wrap="square" lIns="0" tIns="0" rIns="0" bIns="0" rtlCol="0" anchor="t"/>
          <a:lstStyle/>
          <a:p>
            <a:pPr indent="0" marL="0">
              <a:buNone/>
            </a:pPr>
            <a:r>
              <a:rPr lang="en-US" sz="1150" dirty="0">
                <a:solidFill>
                  <a:srgbClr val="2A3330"/>
                </a:solidFill>
                <a:latin typeface="Meiryo UI" pitchFamily="34" charset="0"/>
                <a:ea typeface="Meiryo UI" pitchFamily="34" charset="-122"/>
                <a:cs typeface="Meiryo UI" pitchFamily="34" charset="-120"/>
              </a:rPr>
              <a:t>オンライン塾・不登校相談・子育て講座など、悩みや学年別に作り分けられる</a:t>
            </a:r>
            <a:endParaRPr lang="en-US" sz="1150" dirty="0"/>
          </a:p>
        </p:txBody>
      </p:sp>
      <p:sp>
        <p:nvSpPr>
          <p:cNvPr id="23" name="Shape 17"/>
          <p:cNvSpPr/>
          <p:nvPr/>
        </p:nvSpPr>
        <p:spPr>
          <a:xfrm>
            <a:off x="548640" y="5349240"/>
            <a:ext cx="548640" cy="548640"/>
          </a:xfrm>
          <a:prstGeom prst="ellipse">
            <a:avLst/>
          </a:prstGeom>
          <a:solidFill>
            <a:srgbClr val="EAF4EE"/>
          </a:solidFill>
          <a:ln w="12700">
            <a:solidFill>
              <a:srgbClr val="EAF4EE"/>
            </a:solidFill>
            <a:prstDash val="solid"/>
          </a:ln>
        </p:spPr>
      </p:sp>
      <p:pic>
        <p:nvPicPr>
          <p:cNvPr id="24" name="Image 4" descr="preencoded.png">    </p:cNvPr>
          <p:cNvPicPr>
            <a:picLocks noChangeAspect="1"/>
          </p:cNvPicPr>
          <p:nvPr/>
        </p:nvPicPr>
        <p:blipFill>
          <a:blip r:embed="rId5"/>
          <a:stretch>
            <a:fillRect/>
          </a:stretch>
        </p:blipFill>
        <p:spPr>
          <a:xfrm>
            <a:off x="691286" y="5491886"/>
            <a:ext cx="263347" cy="263347"/>
          </a:xfrm>
          <a:prstGeom prst="rect">
            <a:avLst/>
          </a:prstGeom>
        </p:spPr>
      </p:pic>
      <p:sp>
        <p:nvSpPr>
          <p:cNvPr id="25" name="Text 18"/>
          <p:cNvSpPr txBox="1"/>
          <p:nvPr/>
        </p:nvSpPr>
        <p:spPr>
          <a:xfrm>
            <a:off x="1280160" y="5303520"/>
            <a:ext cx="6035040" cy="320040"/>
          </a:xfrm>
          <a:prstGeom prst="rect">
            <a:avLst/>
          </a:prstGeom>
          <a:noFill/>
          <a:ln/>
        </p:spPr>
        <p:txBody>
          <a:bodyPr wrap="square" lIns="0" tIns="0" rIns="0" bIns="0" rtlCol="0" anchor="t"/>
          <a:lstStyle/>
          <a:p>
            <a:pPr indent="0" marL="0">
              <a:buNone/>
            </a:pPr>
            <a:r>
              <a:rPr lang="en-US" sz="1400" b="1" dirty="0">
                <a:solidFill>
                  <a:srgbClr val="2F7A55"/>
                </a:solidFill>
                <a:latin typeface="Meiryo UI" pitchFamily="34" charset="0"/>
                <a:ea typeface="Meiryo UI" pitchFamily="34" charset="-122"/>
                <a:cs typeface="Meiryo UI" pitchFamily="34" charset="-120"/>
              </a:rPr>
              <a:t>二次利用しやすい</a:t>
            </a:r>
            <a:endParaRPr lang="en-US" sz="1400" dirty="0"/>
          </a:p>
        </p:txBody>
      </p:sp>
      <p:sp>
        <p:nvSpPr>
          <p:cNvPr id="26" name="Text 19"/>
          <p:cNvSpPr txBox="1"/>
          <p:nvPr/>
        </p:nvSpPr>
        <p:spPr>
          <a:xfrm>
            <a:off x="1280160" y="5632704"/>
            <a:ext cx="6035040" cy="475488"/>
          </a:xfrm>
          <a:prstGeom prst="rect">
            <a:avLst/>
          </a:prstGeom>
          <a:noFill/>
          <a:ln/>
        </p:spPr>
        <p:txBody>
          <a:bodyPr wrap="square" lIns="0" tIns="0" rIns="0" bIns="0" rtlCol="0" anchor="t"/>
          <a:lstStyle/>
          <a:p>
            <a:pPr indent="0" marL="0">
              <a:buNone/>
            </a:pPr>
            <a:r>
              <a:rPr lang="en-US" sz="1150" dirty="0">
                <a:solidFill>
                  <a:srgbClr val="2A3330"/>
                </a:solidFill>
                <a:latin typeface="Meiryo UI" pitchFamily="34" charset="0"/>
                <a:ea typeface="Meiryo UI" pitchFamily="34" charset="-122"/>
                <a:cs typeface="Meiryo UI" pitchFamily="34" charset="-120"/>
              </a:rPr>
              <a:t>HP・Instagram・LINE・講演会スライド・リードマグネットにそのまま使える</a:t>
            </a:r>
            <a:endParaRPr lang="en-US" sz="1150" dirty="0"/>
          </a:p>
        </p:txBody>
      </p:sp>
      <p:sp>
        <p:nvSpPr>
          <p:cNvPr id="27" name="Shape 20"/>
          <p:cNvSpPr/>
          <p:nvPr/>
        </p:nvSpPr>
        <p:spPr>
          <a:xfrm>
            <a:off x="7680960" y="1371600"/>
            <a:ext cx="3962095" cy="4892040"/>
          </a:xfrm>
          <a:prstGeom prst="roundRect">
            <a:avLst>
              <a:gd name="adj" fmla="val 2769"/>
            </a:avLst>
          </a:prstGeom>
          <a:solidFill>
            <a:srgbClr val="1D4A35"/>
          </a:solidFill>
          <a:ln w="12700">
            <a:solidFill>
              <a:srgbClr val="1D4A35"/>
            </a:solidFill>
            <a:prstDash val="solid"/>
          </a:ln>
        </p:spPr>
      </p:sp>
      <p:sp>
        <p:nvSpPr>
          <p:cNvPr id="28" name="Text 21"/>
          <p:cNvSpPr txBox="1"/>
          <p:nvPr/>
        </p:nvSpPr>
        <p:spPr>
          <a:xfrm>
            <a:off x="8001000" y="1600200"/>
            <a:ext cx="3322015" cy="365760"/>
          </a:xfrm>
          <a:prstGeom prst="rect">
            <a:avLst/>
          </a:prstGeom>
          <a:noFill/>
          <a:ln/>
        </p:spPr>
        <p:txBody>
          <a:bodyPr wrap="square" lIns="0" tIns="0" rIns="0" bIns="0" rtlCol="0" anchor="t"/>
          <a:lstStyle/>
          <a:p>
            <a:pPr indent="0" marL="0">
              <a:buNone/>
            </a:pPr>
            <a:r>
              <a:rPr lang="en-US" sz="1600" b="1" dirty="0">
                <a:solidFill>
                  <a:srgbClr val="F6B3AA"/>
                </a:solidFill>
                <a:latin typeface="Meiryo UI" pitchFamily="34" charset="0"/>
                <a:ea typeface="Meiryo UI" pitchFamily="34" charset="-122"/>
                <a:cs typeface="Meiryo UI" pitchFamily="34" charset="-120"/>
              </a:rPr>
              <a:t>Why アイドマ</a:t>
            </a:r>
            <a:endParaRPr lang="en-US" sz="1600" dirty="0"/>
          </a:p>
        </p:txBody>
      </p:sp>
      <p:sp>
        <p:nvSpPr>
          <p:cNvPr id="29" name="Shape 22"/>
          <p:cNvSpPr/>
          <p:nvPr/>
        </p:nvSpPr>
        <p:spPr>
          <a:xfrm>
            <a:off x="8001000" y="2148840"/>
            <a:ext cx="411480" cy="411480"/>
          </a:xfrm>
          <a:prstGeom prst="ellipse">
            <a:avLst/>
          </a:prstGeom>
          <a:solidFill>
            <a:srgbClr val="D8614F"/>
          </a:solidFill>
          <a:ln w="12700">
            <a:solidFill>
              <a:srgbClr val="D8614F"/>
            </a:solidFill>
            <a:prstDash val="solid"/>
          </a:ln>
        </p:spPr>
      </p:sp>
      <p:sp>
        <p:nvSpPr>
          <p:cNvPr id="30" name="Text 23"/>
          <p:cNvSpPr txBox="1"/>
          <p:nvPr/>
        </p:nvSpPr>
        <p:spPr>
          <a:xfrm>
            <a:off x="8001000" y="214884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1</a:t>
            </a:r>
            <a:endParaRPr lang="en-US" sz="1300" dirty="0"/>
          </a:p>
        </p:txBody>
      </p:sp>
      <p:sp>
        <p:nvSpPr>
          <p:cNvPr id="31" name="Text 24"/>
          <p:cNvSpPr txBox="1"/>
          <p:nvPr/>
        </p:nvSpPr>
        <p:spPr>
          <a:xfrm>
            <a:off x="8549640" y="2148840"/>
            <a:ext cx="2819095" cy="411480"/>
          </a:xfrm>
          <a:prstGeom prst="rect">
            <a:avLst/>
          </a:prstGeom>
          <a:noFill/>
          <a:ln/>
        </p:spPr>
        <p:txBody>
          <a:bodyPr wrap="square" lIns="0" tIns="0" rIns="0" bIns="0" rtlCol="0" anchor="ctr"/>
          <a:lstStyle/>
          <a:p>
            <a:pPr indent="0" marL="0">
              <a:buNone/>
            </a:pPr>
            <a:r>
              <a:rPr lang="en-US" sz="1400" b="1" dirty="0">
                <a:solidFill>
                  <a:srgbClr val="FFFFFF"/>
                </a:solidFill>
                <a:latin typeface="Meiryo UI" pitchFamily="34" charset="0"/>
                <a:ea typeface="Meiryo UI" pitchFamily="34" charset="-122"/>
                <a:cs typeface="Meiryo UI" pitchFamily="34" charset="-120"/>
              </a:rPr>
              <a:t>“選ばれる導線”の設計力</a:t>
            </a:r>
            <a:endParaRPr lang="en-US" sz="1400" dirty="0"/>
          </a:p>
        </p:txBody>
      </p:sp>
      <p:sp>
        <p:nvSpPr>
          <p:cNvPr id="32" name="Text 25"/>
          <p:cNvSpPr txBox="1"/>
          <p:nvPr/>
        </p:nvSpPr>
        <p:spPr>
          <a:xfrm>
            <a:off x="8549640" y="2606040"/>
            <a:ext cx="2819095" cy="777240"/>
          </a:xfrm>
          <a:prstGeom prst="rect">
            <a:avLst/>
          </a:prstGeom>
          <a:noFill/>
          <a:ln/>
        </p:spPr>
        <p:txBody>
          <a:bodyPr wrap="square" lIns="0" tIns="0" rIns="0" bIns="0" rtlCol="0" anchor="t"/>
          <a:lstStyle/>
          <a:p>
            <a:pPr indent="0" marL="0">
              <a:buNone/>
            </a:pPr>
            <a:r>
              <a:rPr lang="en-US" sz="1150" dirty="0">
                <a:solidFill>
                  <a:srgbClr val="D5E9DC"/>
                </a:solidFill>
                <a:latin typeface="Meiryo UI" pitchFamily="34" charset="0"/>
                <a:ea typeface="Meiryo UI" pitchFamily="34" charset="-122"/>
                <a:cs typeface="Meiryo UI" pitchFamily="34" charset="-120"/>
              </a:rPr>
              <a:t>営業・マーケティング支援を本業とする会社として、動画を「無料相談・入会」につなげる設計からご支援</a:t>
            </a:r>
            <a:endParaRPr lang="en-US" sz="1150" dirty="0"/>
          </a:p>
        </p:txBody>
      </p:sp>
      <p:sp>
        <p:nvSpPr>
          <p:cNvPr id="33" name="Shape 26"/>
          <p:cNvSpPr/>
          <p:nvPr/>
        </p:nvSpPr>
        <p:spPr>
          <a:xfrm>
            <a:off x="8001000" y="3474720"/>
            <a:ext cx="411480" cy="411480"/>
          </a:xfrm>
          <a:prstGeom prst="ellipse">
            <a:avLst/>
          </a:prstGeom>
          <a:solidFill>
            <a:srgbClr val="D8614F"/>
          </a:solidFill>
          <a:ln w="12700">
            <a:solidFill>
              <a:srgbClr val="D8614F"/>
            </a:solidFill>
            <a:prstDash val="solid"/>
          </a:ln>
        </p:spPr>
      </p:sp>
      <p:sp>
        <p:nvSpPr>
          <p:cNvPr id="34" name="Text 27"/>
          <p:cNvSpPr txBox="1"/>
          <p:nvPr/>
        </p:nvSpPr>
        <p:spPr>
          <a:xfrm>
            <a:off x="8001000" y="347472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2</a:t>
            </a:r>
            <a:endParaRPr lang="en-US" sz="1300" dirty="0"/>
          </a:p>
        </p:txBody>
      </p:sp>
      <p:sp>
        <p:nvSpPr>
          <p:cNvPr id="35" name="Text 28"/>
          <p:cNvSpPr txBox="1"/>
          <p:nvPr/>
        </p:nvSpPr>
        <p:spPr>
          <a:xfrm>
            <a:off x="8549640" y="3474720"/>
            <a:ext cx="2819095" cy="411480"/>
          </a:xfrm>
          <a:prstGeom prst="rect">
            <a:avLst/>
          </a:prstGeom>
          <a:noFill/>
          <a:ln/>
        </p:spPr>
        <p:txBody>
          <a:bodyPr wrap="square" lIns="0" tIns="0" rIns="0" bIns="0" rtlCol="0" anchor="ctr"/>
          <a:lstStyle/>
          <a:p>
            <a:pPr indent="0" marL="0">
              <a:buNone/>
            </a:pPr>
            <a:r>
              <a:rPr lang="en-US" sz="1400" b="1" dirty="0">
                <a:solidFill>
                  <a:srgbClr val="FFFFFF"/>
                </a:solidFill>
                <a:latin typeface="Meiryo UI" pitchFamily="34" charset="0"/>
                <a:ea typeface="Meiryo UI" pitchFamily="34" charset="-122"/>
                <a:cs typeface="Meiryo UI" pitchFamily="34" charset="-120"/>
              </a:rPr>
              <a:t>プッシュ×プルをワンストップ</a:t>
            </a:r>
            <a:endParaRPr lang="en-US" sz="1400" dirty="0"/>
          </a:p>
        </p:txBody>
      </p:sp>
      <p:sp>
        <p:nvSpPr>
          <p:cNvPr id="36" name="Text 29"/>
          <p:cNvSpPr txBox="1"/>
          <p:nvPr/>
        </p:nvSpPr>
        <p:spPr>
          <a:xfrm>
            <a:off x="8549640" y="3931920"/>
            <a:ext cx="2819095" cy="777240"/>
          </a:xfrm>
          <a:prstGeom prst="rect">
            <a:avLst/>
          </a:prstGeom>
          <a:noFill/>
          <a:ln/>
        </p:spPr>
        <p:txBody>
          <a:bodyPr wrap="square" lIns="0" tIns="0" rIns="0" bIns="0" rtlCol="0" anchor="t"/>
          <a:lstStyle/>
          <a:p>
            <a:pPr indent="0" marL="0">
              <a:buNone/>
            </a:pPr>
            <a:r>
              <a:rPr lang="en-US" sz="1150" dirty="0">
                <a:solidFill>
                  <a:srgbClr val="D5E9DC"/>
                </a:solidFill>
                <a:latin typeface="Meiryo UI" pitchFamily="34" charset="0"/>
                <a:ea typeface="Meiryo UI" pitchFamily="34" charset="-122"/>
                <a:cs typeface="Meiryo UI" pitchFamily="34" charset="-120"/>
              </a:rPr>
              <a:t>講演会・相談のフォローとSNS集客を分断せず、一体で設計・運用</a:t>
            </a:r>
            <a:endParaRPr lang="en-US" sz="1150" dirty="0"/>
          </a:p>
        </p:txBody>
      </p:sp>
      <p:sp>
        <p:nvSpPr>
          <p:cNvPr id="37" name="Shape 30"/>
          <p:cNvSpPr/>
          <p:nvPr/>
        </p:nvSpPr>
        <p:spPr>
          <a:xfrm>
            <a:off x="8001000" y="4800600"/>
            <a:ext cx="411480" cy="411480"/>
          </a:xfrm>
          <a:prstGeom prst="ellipse">
            <a:avLst/>
          </a:prstGeom>
          <a:solidFill>
            <a:srgbClr val="D8614F"/>
          </a:solidFill>
          <a:ln w="12700">
            <a:solidFill>
              <a:srgbClr val="D8614F"/>
            </a:solidFill>
            <a:prstDash val="solid"/>
          </a:ln>
        </p:spPr>
      </p:sp>
      <p:sp>
        <p:nvSpPr>
          <p:cNvPr id="38" name="Text 31"/>
          <p:cNvSpPr txBox="1"/>
          <p:nvPr/>
        </p:nvSpPr>
        <p:spPr>
          <a:xfrm>
            <a:off x="8001000" y="48006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3</a:t>
            </a:r>
            <a:endParaRPr lang="en-US" sz="1300" dirty="0"/>
          </a:p>
        </p:txBody>
      </p:sp>
      <p:sp>
        <p:nvSpPr>
          <p:cNvPr id="39" name="Text 32"/>
          <p:cNvSpPr txBox="1"/>
          <p:nvPr/>
        </p:nvSpPr>
        <p:spPr>
          <a:xfrm>
            <a:off x="8549640" y="4800600"/>
            <a:ext cx="2819095" cy="411480"/>
          </a:xfrm>
          <a:prstGeom prst="rect">
            <a:avLst/>
          </a:prstGeom>
          <a:noFill/>
          <a:ln/>
        </p:spPr>
        <p:txBody>
          <a:bodyPr wrap="square" lIns="0" tIns="0" rIns="0" bIns="0" rtlCol="0" anchor="ctr"/>
          <a:lstStyle/>
          <a:p>
            <a:pPr indent="0" marL="0">
              <a:buNone/>
            </a:pPr>
            <a:r>
              <a:rPr lang="en-US" sz="1400" b="1" dirty="0">
                <a:solidFill>
                  <a:srgbClr val="FFFFFF"/>
                </a:solidFill>
                <a:latin typeface="Meiryo UI" pitchFamily="34" charset="0"/>
                <a:ea typeface="Meiryo UI" pitchFamily="34" charset="-122"/>
                <a:cs typeface="Meiryo UI" pitchFamily="34" charset="-120"/>
              </a:rPr>
              <a:t>在宅スタッフによる運用支援</a:t>
            </a:r>
            <a:endParaRPr lang="en-US" sz="1400" dirty="0"/>
          </a:p>
        </p:txBody>
      </p:sp>
      <p:sp>
        <p:nvSpPr>
          <p:cNvPr id="40" name="Text 33"/>
          <p:cNvSpPr txBox="1"/>
          <p:nvPr/>
        </p:nvSpPr>
        <p:spPr>
          <a:xfrm>
            <a:off x="8549640" y="5257800"/>
            <a:ext cx="2819095" cy="777240"/>
          </a:xfrm>
          <a:prstGeom prst="rect">
            <a:avLst/>
          </a:prstGeom>
          <a:noFill/>
          <a:ln/>
        </p:spPr>
        <p:txBody>
          <a:bodyPr wrap="square" lIns="0" tIns="0" rIns="0" bIns="0" rtlCol="0" anchor="t"/>
          <a:lstStyle/>
          <a:p>
            <a:pPr indent="0" marL="0">
              <a:buNone/>
            </a:pPr>
            <a:r>
              <a:rPr lang="en-US" sz="1150" dirty="0">
                <a:solidFill>
                  <a:srgbClr val="D5E9DC"/>
                </a:solidFill>
                <a:latin typeface="Meiryo UI" pitchFamily="34" charset="0"/>
                <a:ea typeface="Meiryo UI" pitchFamily="34" charset="-122"/>
                <a:cs typeface="Meiryo UI" pitchFamily="34" charset="-120"/>
              </a:rPr>
              <a:t>HP・SNSの投稿や更新を在宅スタッフが支え、代表の手を止めずに発信を継続</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8614F"/>
                </a:solidFill>
                <a:latin typeface="Meiryo UI" pitchFamily="34" charset="0"/>
                <a:ea typeface="Meiryo UI" pitchFamily="34" charset="-122"/>
                <a:cs typeface="Meiryo UI" pitchFamily="34" charset="-120"/>
              </a:rPr>
              <a:t>03｜PUSH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2F7A55"/>
                </a:solidFill>
                <a:latin typeface="Meiryo UI" pitchFamily="34" charset="0"/>
                <a:ea typeface="Meiryo UI" pitchFamily="34" charset="-122"/>
                <a:cs typeface="Meiryo UI" pitchFamily="34" charset="-120"/>
              </a:rPr>
              <a:t>プッシュ型集客：「講演会」と「無料相談」の前後に動画を置く</a:t>
            </a:r>
            <a:endParaRPr lang="en-US" sz="2600" dirty="0"/>
          </a:p>
        </p:txBody>
      </p:sp>
      <p:sp>
        <p:nvSpPr>
          <p:cNvPr id="4" name="Text 2"/>
          <p:cNvSpPr txBox="1"/>
          <p:nvPr/>
        </p:nvSpPr>
        <p:spPr>
          <a:xfrm>
            <a:off x="548640" y="1207008"/>
            <a:ext cx="11094415" cy="365760"/>
          </a:xfrm>
          <a:prstGeom prst="rect">
            <a:avLst/>
          </a:prstGeom>
          <a:noFill/>
          <a:ln/>
        </p:spPr>
        <p:txBody>
          <a:bodyPr wrap="square" lIns="0" tIns="0" rIns="0" bIns="0" rtlCol="0" anchor="ctr"/>
          <a:lstStyle/>
          <a:p>
            <a:pPr indent="0" marL="0">
              <a:buNone/>
            </a:pPr>
            <a:r>
              <a:rPr lang="en-US" sz="1300" dirty="0">
                <a:solidFill>
                  <a:srgbClr val="66786F"/>
                </a:solidFill>
                <a:latin typeface="Meiryo UI" pitchFamily="34" charset="0"/>
                <a:ea typeface="Meiryo UI" pitchFamily="34" charset="-122"/>
                <a:cs typeface="Meiryo UI" pitchFamily="34" charset="-120"/>
              </a:rPr>
              <a:t>貴社の入会は「講演会 → 無料相談 → 入会」で生まれています。この導線の各接点に、先回りして動画を届けます。</a:t>
            </a:r>
            <a:endParaRPr lang="en-US" sz="1300" dirty="0"/>
          </a:p>
        </p:txBody>
      </p:sp>
      <p:sp>
        <p:nvSpPr>
          <p:cNvPr id="5" name="Text 3"/>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0"/>
                </a:solidFill>
                <a:latin typeface="Meiryo UI" pitchFamily="34" charset="0"/>
                <a:ea typeface="Meiryo UI" pitchFamily="34" charset="-122"/>
                <a:cs typeface="Meiryo UI" pitchFamily="34" charset="-120"/>
              </a:rPr>
              <a:t>8</a:t>
            </a:r>
            <a:endParaRPr lang="en-US" sz="1000" dirty="0"/>
          </a:p>
        </p:txBody>
      </p:sp>
      <p:sp>
        <p:nvSpPr>
          <p:cNvPr id="6" name="Text 4"/>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0"/>
                </a:solidFill>
                <a:latin typeface="Meiryo UI" pitchFamily="34" charset="0"/>
                <a:ea typeface="Meiryo UI" pitchFamily="34" charset="-122"/>
                <a:cs typeface="Meiryo UI" pitchFamily="34" charset="-120"/>
              </a:rPr>
              <a:t>株式会社アイドマ・ホールディングス｜MiTok</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2377440"/>
                <a:gridCol w="2926080"/>
                <a:gridCol w="3200400"/>
                <a:gridCol w="2587752"/>
              </a:tblGrid>
              <a:tr h="411480">
                <a:tc>
                  <a:txBody>
                    <a:bodyPr/>
                    <a:lstStyle/>
                    <a:p>
                      <a:pPr indent="0" marL="0">
                        <a:buNone/>
                      </a:pPr>
                      <a:r>
                        <a:rPr lang="en-US" sz="1150" b="1" dirty="0">
                          <a:solidFill>
                            <a:srgbClr val="FFFFFF"/>
                          </a:solidFill>
                          <a:latin typeface="Meiryo UI" pitchFamily="34" charset="0"/>
                          <a:ea typeface="Meiryo UI" pitchFamily="34" charset="-122"/>
                          <a:cs typeface="Meiryo UI" pitchFamily="34" charset="-120"/>
                        </a:rPr>
                        <a:t>ターゲット</a:t>
                      </a:r>
                      <a:endParaRPr lang="en-US" sz="115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2F7A55"/>
                    </a:solidFill>
                  </a:tcPr>
                </a:tc>
                <a:tc>
                  <a:txBody>
                    <a:bodyPr/>
                    <a:lstStyle/>
                    <a:p>
                      <a:pPr indent="0" marL="0">
                        <a:buNone/>
                      </a:pPr>
                      <a:r>
                        <a:rPr lang="en-US" sz="1150" b="1" dirty="0">
                          <a:solidFill>
                            <a:srgbClr val="FFFFFF"/>
                          </a:solidFill>
                          <a:latin typeface="Meiryo UI" pitchFamily="34" charset="0"/>
                          <a:ea typeface="Meiryo UI" pitchFamily="34" charset="-122"/>
                          <a:cs typeface="Meiryo UI" pitchFamily="34" charset="-120"/>
                        </a:rPr>
                        <a:t>相手の本音・関心</a:t>
                      </a:r>
                      <a:endParaRPr lang="en-US" sz="115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2F7A55"/>
                    </a:solidFill>
                  </a:tcPr>
                </a:tc>
                <a:tc>
                  <a:txBody>
                    <a:bodyPr/>
                    <a:lstStyle/>
                    <a:p>
                      <a:pPr indent="0" marL="0">
                        <a:buNone/>
                      </a:pPr>
                      <a:r>
                        <a:rPr lang="en-US" sz="1150" b="1" dirty="0">
                          <a:solidFill>
                            <a:srgbClr val="FFFFFF"/>
                          </a:solidFill>
                          <a:latin typeface="Meiryo UI" pitchFamily="34" charset="0"/>
                          <a:ea typeface="Meiryo UI" pitchFamily="34" charset="-122"/>
                          <a:cs typeface="Meiryo UI" pitchFamily="34" charset="-120"/>
                        </a:rPr>
                        <a:t>届ける動画テーマ（例）</a:t>
                      </a:r>
                      <a:endParaRPr lang="en-US" sz="115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2F7A55"/>
                    </a:solidFill>
                  </a:tcPr>
                </a:tc>
                <a:tc>
                  <a:txBody>
                    <a:bodyPr/>
                    <a:lstStyle/>
                    <a:p>
                      <a:pPr indent="0" marL="0">
                        <a:buNone/>
                      </a:pPr>
                      <a:r>
                        <a:rPr lang="en-US" sz="1150" b="1" dirty="0">
                          <a:solidFill>
                            <a:srgbClr val="FFFFFF"/>
                          </a:solidFill>
                          <a:latin typeface="Meiryo UI" pitchFamily="34" charset="0"/>
                          <a:ea typeface="Meiryo UI" pitchFamily="34" charset="-122"/>
                          <a:cs typeface="Meiryo UI" pitchFamily="34" charset="-120"/>
                        </a:rPr>
                        <a:t>主なチャネル</a:t>
                      </a:r>
                      <a:endParaRPr lang="en-US" sz="115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2F7A55"/>
                    </a:solidFill>
                  </a:tcPr>
                </a:tc>
              </a:tr>
              <a:tr h="658368">
                <a:tc>
                  <a:txBody>
                    <a:bodyPr/>
                    <a:lstStyle/>
                    <a:p>
                      <a:pPr indent="0" marL="0">
                        <a:buNone/>
                      </a:pPr>
                      <a:r>
                        <a:rPr lang="en-US" sz="1100" b="1" dirty="0">
                          <a:solidFill>
                            <a:srgbClr val="2F7A55"/>
                          </a:solidFill>
                          <a:latin typeface="Meiryo UI" pitchFamily="34" charset="0"/>
                          <a:ea typeface="Meiryo UI" pitchFamily="34" charset="-122"/>
                          <a:cs typeface="Meiryo UI" pitchFamily="34" charset="-120"/>
                        </a:rPr>
                        <a:t>講演会の参加者</a:t>
                      </a:r>
                      <a:endParaRPr lang="en-US" sz="110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DECEA"/>
                    </a:solidFill>
                  </a:tcPr>
                </a:tc>
                <a:tc>
                  <a:txBody>
                    <a:bodyPr/>
                    <a:lstStyle/>
                    <a:p>
                      <a:pPr indent="0" marL="0">
                        <a:buNone/>
                      </a:pPr>
                      <a:r>
                        <a:rPr lang="en-US" sz="1100" dirty="0">
                          <a:solidFill>
                            <a:srgbClr val="2A3330"/>
                          </a:solidFill>
                          <a:latin typeface="Meiryo UI" pitchFamily="34" charset="0"/>
                          <a:ea typeface="Meiryo UI" pitchFamily="34" charset="-122"/>
                          <a:cs typeface="Meiryo UI" pitchFamily="34" charset="-120"/>
                        </a:rPr>
                        <a:t>もっと詳しく聞きたい／うちの子の場合はどうなんだろう</a:t>
                      </a:r>
                      <a:endParaRPr lang="en-US" sz="110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DECEA"/>
                    </a:solidFill>
                  </a:tcPr>
                </a:tc>
                <a:tc>
                  <a:txBody>
                    <a:bodyPr/>
                    <a:lstStyle/>
                    <a:p>
                      <a:pPr indent="0" marL="0">
                        <a:buNone/>
                      </a:pPr>
                      <a:r>
                        <a:rPr lang="en-US" sz="1100" dirty="0">
                          <a:solidFill>
                            <a:srgbClr val="2A3330"/>
                          </a:solidFill>
                          <a:latin typeface="Meiryo UI" pitchFamily="34" charset="0"/>
                          <a:ea typeface="Meiryo UI" pitchFamily="34" charset="-122"/>
                          <a:cs typeface="Meiryo UI" pitchFamily="34" charset="-120"/>
                        </a:rPr>
                        <a:t>講演のおさらい＋無料相談のご案内（代表の語り）</a:t>
                      </a:r>
                      <a:endParaRPr lang="en-US" sz="110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DECEA"/>
                    </a:solidFill>
                  </a:tcPr>
                </a:tc>
                <a:tc>
                  <a:txBody>
                    <a:bodyPr/>
                    <a:lstStyle/>
                    <a:p>
                      <a:pPr indent="0" marL="0">
                        <a:buNone/>
                      </a:pPr>
                      <a:r>
                        <a:rPr lang="en-US" sz="1100" dirty="0">
                          <a:solidFill>
                            <a:srgbClr val="2A3330"/>
                          </a:solidFill>
                          <a:latin typeface="Meiryo UI" pitchFamily="34" charset="0"/>
                          <a:ea typeface="Meiryo UI" pitchFamily="34" charset="-122"/>
                          <a:cs typeface="Meiryo UI" pitchFamily="34" charset="-120"/>
                        </a:rPr>
                        <a:t>講演後のLINE・メール／当日配布のQRコード</a:t>
                      </a:r>
                      <a:endParaRPr lang="en-US" sz="110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DECEA"/>
                    </a:solidFill>
                  </a:tcPr>
                </a:tc>
              </a:tr>
              <a:tr h="658368">
                <a:tc>
                  <a:txBody>
                    <a:bodyPr/>
                    <a:lstStyle/>
                    <a:p>
                      <a:pPr indent="0" marL="0">
                        <a:buNone/>
                      </a:pPr>
                      <a:r>
                        <a:rPr lang="en-US" sz="1100" b="1" dirty="0">
                          <a:solidFill>
                            <a:srgbClr val="2F7A55"/>
                          </a:solidFill>
                          <a:latin typeface="Meiryo UI" pitchFamily="34" charset="0"/>
                          <a:ea typeface="Meiryo UI" pitchFamily="34" charset="-122"/>
                          <a:cs typeface="Meiryo UI" pitchFamily="34" charset="-120"/>
                        </a:rPr>
                        <a:t>無料相談の申込者</a:t>
                      </a:r>
                      <a:endParaRPr lang="en-US" sz="110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5F9F6"/>
                    </a:solidFill>
                  </a:tcPr>
                </a:tc>
                <a:tc>
                  <a:txBody>
                    <a:bodyPr/>
                    <a:lstStyle/>
                    <a:p>
                      <a:pPr indent="0" marL="0">
                        <a:buNone/>
                      </a:pPr>
                      <a:r>
                        <a:rPr lang="en-US" sz="1100" dirty="0">
                          <a:solidFill>
                            <a:srgbClr val="2A3330"/>
                          </a:solidFill>
                          <a:latin typeface="Meiryo UI" pitchFamily="34" charset="0"/>
                          <a:ea typeface="Meiryo UI" pitchFamily="34" charset="-122"/>
                          <a:cs typeface="Meiryo UI" pitchFamily="34" charset="-120"/>
                        </a:rPr>
                        <a:t>どんな人が対応してくれる？／何を話せばいい？</a:t>
                      </a:r>
                      <a:endParaRPr lang="en-US" sz="110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5F9F6"/>
                    </a:solidFill>
                  </a:tcPr>
                </a:tc>
                <a:tc>
                  <a:txBody>
                    <a:bodyPr/>
                    <a:lstStyle/>
                    <a:p>
                      <a:pPr indent="0" marL="0">
                        <a:buNone/>
                      </a:pPr>
                      <a:r>
                        <a:rPr lang="en-US" sz="1100" dirty="0">
                          <a:solidFill>
                            <a:srgbClr val="2A3330"/>
                          </a:solidFill>
                          <a:latin typeface="Meiryo UI" pitchFamily="34" charset="0"/>
                          <a:ea typeface="Meiryo UI" pitchFamily="34" charset="-122"/>
                          <a:cs typeface="Meiryo UI" pitchFamily="34" charset="-120"/>
                        </a:rPr>
                        <a:t>無料相談の流れと、代表からのメッセージ</a:t>
                      </a:r>
                      <a:endParaRPr lang="en-US" sz="110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5F9F6"/>
                    </a:solidFill>
                  </a:tcPr>
                </a:tc>
                <a:tc>
                  <a:txBody>
                    <a:bodyPr/>
                    <a:lstStyle/>
                    <a:p>
                      <a:pPr indent="0" marL="0">
                        <a:buNone/>
                      </a:pPr>
                      <a:r>
                        <a:rPr lang="en-US" sz="1100" dirty="0">
                          <a:solidFill>
                            <a:srgbClr val="2A3330"/>
                          </a:solidFill>
                          <a:latin typeface="Meiryo UI" pitchFamily="34" charset="0"/>
                          <a:ea typeface="Meiryo UI" pitchFamily="34" charset="-122"/>
                          <a:cs typeface="Meiryo UI" pitchFamily="34" charset="-120"/>
                        </a:rPr>
                        <a:t>申込直後の自動返信／前日のリマインド</a:t>
                      </a:r>
                      <a:endParaRPr lang="en-US" sz="110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5F9F6"/>
                    </a:solidFill>
                  </a:tcPr>
                </a:tc>
              </a:tr>
              <a:tr h="658368">
                <a:tc>
                  <a:txBody>
                    <a:bodyPr/>
                    <a:lstStyle/>
                    <a:p>
                      <a:pPr indent="0" marL="0">
                        <a:buNone/>
                      </a:pPr>
                      <a:r>
                        <a:rPr lang="en-US" sz="1100" b="1" dirty="0">
                          <a:solidFill>
                            <a:srgbClr val="2F7A55"/>
                          </a:solidFill>
                          <a:latin typeface="Meiryo UI" pitchFamily="34" charset="0"/>
                          <a:ea typeface="Meiryo UI" pitchFamily="34" charset="-122"/>
                          <a:cs typeface="Meiryo UI" pitchFamily="34" charset="-120"/>
                        </a:rPr>
                        <a:t>リードマグネット請求者</a:t>
                      </a:r>
                      <a:endParaRPr lang="en-US" sz="1100" dirty="0">
                        <a:latin typeface="Meiryo UI" charset="0"/>
                        <a:ea typeface="Meiryo UI" charset="0"/>
                        <a:cs typeface="Meiryo UI" charset="0"/>
                      </a:endParaRPr>
                    </a:p>
                    <a:p>
                      <a:pPr indent="0" marL="0">
                        <a:buNone/>
                      </a:pPr>
                      <a:r>
                        <a:rPr lang="en-US" sz="1100" b="1" dirty="0">
                          <a:solidFill>
                            <a:srgbClr val="2F7A55"/>
                          </a:solidFill>
                          <a:latin typeface="Meiryo UI" pitchFamily="34" charset="0"/>
                          <a:ea typeface="Meiryo UI" pitchFamily="34" charset="-122"/>
                          <a:cs typeface="Meiryo UI" pitchFamily="34" charset="-120"/>
                        </a:rPr>
                        <a:t>（LINE・メルマガ）</a:t>
                      </a:r>
                      <a:endParaRPr lang="en-US" sz="110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FFFFF"/>
                    </a:solidFill>
                  </a:tcPr>
                </a:tc>
                <a:tc>
                  <a:txBody>
                    <a:bodyPr/>
                    <a:lstStyle/>
                    <a:p>
                      <a:pPr indent="0" marL="0">
                        <a:buNone/>
                      </a:pPr>
                      <a:r>
                        <a:rPr lang="en-US" sz="1100" dirty="0">
                          <a:solidFill>
                            <a:srgbClr val="2A3330"/>
                          </a:solidFill>
                          <a:latin typeface="Meiryo UI" pitchFamily="34" charset="0"/>
                          <a:ea typeface="Meiryo UI" pitchFamily="34" charset="-122"/>
                          <a:cs typeface="Meiryo UI" pitchFamily="34" charset="-120"/>
                        </a:rPr>
                        <a:t>読む時間がない／自分に合うか分からない</a:t>
                      </a:r>
                      <a:endParaRPr lang="en-US" sz="110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FFFFF"/>
                    </a:solidFill>
                  </a:tcPr>
                </a:tc>
                <a:tc>
                  <a:txBody>
                    <a:bodyPr/>
                    <a:lstStyle/>
                    <a:p>
                      <a:pPr indent="0" marL="0">
                        <a:buNone/>
                      </a:pPr>
                      <a:r>
                        <a:rPr lang="en-US" sz="1100" dirty="0">
                          <a:solidFill>
                            <a:srgbClr val="2A3330"/>
                          </a:solidFill>
                          <a:latin typeface="Meiryo UI" pitchFamily="34" charset="0"/>
                          <a:ea typeface="Meiryo UI" pitchFamily="34" charset="-122"/>
                          <a:cs typeface="Meiryo UI" pitchFamily="34" charset="-120"/>
                        </a:rPr>
                        <a:t>リードマグネットの動画版・解説動画</a:t>
                      </a:r>
                      <a:endParaRPr lang="en-US" sz="110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FFFFF"/>
                    </a:solidFill>
                  </a:tcPr>
                </a:tc>
                <a:tc>
                  <a:txBody>
                    <a:bodyPr/>
                    <a:lstStyle/>
                    <a:p>
                      <a:pPr indent="0" marL="0">
                        <a:buNone/>
                      </a:pPr>
                      <a:r>
                        <a:rPr lang="en-US" sz="1100" dirty="0">
                          <a:solidFill>
                            <a:srgbClr val="2A3330"/>
                          </a:solidFill>
                          <a:latin typeface="Meiryo UI" pitchFamily="34" charset="0"/>
                          <a:ea typeface="Meiryo UI" pitchFamily="34" charset="-122"/>
                          <a:cs typeface="Meiryo UI" pitchFamily="34" charset="-120"/>
                        </a:rPr>
                        <a:t>LINEステップ配信／メルマガ</a:t>
                      </a:r>
                      <a:endParaRPr lang="en-US" sz="110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FFFFF"/>
                    </a:solidFill>
                  </a:tcPr>
                </a:tc>
              </a:tr>
              <a:tr h="658368">
                <a:tc>
                  <a:txBody>
                    <a:bodyPr/>
                    <a:lstStyle/>
                    <a:p>
                      <a:pPr indent="0" marL="0">
                        <a:buNone/>
                      </a:pPr>
                      <a:r>
                        <a:rPr lang="en-US" sz="1100" b="1" dirty="0">
                          <a:solidFill>
                            <a:srgbClr val="2F7A55"/>
                          </a:solidFill>
                          <a:latin typeface="Meiryo UI" pitchFamily="34" charset="0"/>
                          <a:ea typeface="Meiryo UI" pitchFamily="34" charset="-122"/>
                          <a:cs typeface="Meiryo UI" pitchFamily="34" charset="-120"/>
                        </a:rPr>
                        <a:t>講演の主催者</a:t>
                      </a:r>
                      <a:endParaRPr lang="en-US" sz="1100" dirty="0">
                        <a:latin typeface="Meiryo UI" charset="0"/>
                        <a:ea typeface="Meiryo UI" charset="0"/>
                        <a:cs typeface="Meiryo UI" charset="0"/>
                      </a:endParaRPr>
                    </a:p>
                    <a:p>
                      <a:pPr indent="0" marL="0">
                        <a:buNone/>
                      </a:pPr>
                      <a:r>
                        <a:rPr lang="en-US" sz="1100" b="1" dirty="0">
                          <a:solidFill>
                            <a:srgbClr val="2F7A55"/>
                          </a:solidFill>
                          <a:latin typeface="Meiryo UI" pitchFamily="34" charset="0"/>
                          <a:ea typeface="Meiryo UI" pitchFamily="34" charset="-122"/>
                          <a:cs typeface="Meiryo UI" pitchFamily="34" charset="-120"/>
                        </a:rPr>
                        <a:t>（学校・PTA・子育て支援団体）</a:t>
                      </a:r>
                      <a:endParaRPr lang="en-US" sz="110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5F9F6"/>
                    </a:solidFill>
                  </a:tcPr>
                </a:tc>
                <a:tc>
                  <a:txBody>
                    <a:bodyPr/>
                    <a:lstStyle/>
                    <a:p>
                      <a:pPr indent="0" marL="0">
                        <a:buNone/>
                      </a:pPr>
                      <a:r>
                        <a:rPr lang="en-US" sz="1100" dirty="0">
                          <a:solidFill>
                            <a:srgbClr val="2A3330"/>
                          </a:solidFill>
                          <a:latin typeface="Meiryo UI" pitchFamily="34" charset="0"/>
                          <a:ea typeface="Meiryo UI" pitchFamily="34" charset="-122"/>
                          <a:cs typeface="Meiryo UI" pitchFamily="34" charset="-120"/>
                        </a:rPr>
                        <a:t>どんな講演？／保護者に響く内容か</a:t>
                      </a:r>
                      <a:endParaRPr lang="en-US" sz="110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5F9F6"/>
                    </a:solidFill>
                  </a:tcPr>
                </a:tc>
                <a:tc>
                  <a:txBody>
                    <a:bodyPr/>
                    <a:lstStyle/>
                    <a:p>
                      <a:pPr indent="0" marL="0">
                        <a:buNone/>
                      </a:pPr>
                      <a:r>
                        <a:rPr lang="en-US" sz="1100" dirty="0">
                          <a:solidFill>
                            <a:srgbClr val="2A3330"/>
                          </a:solidFill>
                          <a:latin typeface="Meiryo UI" pitchFamily="34" charset="0"/>
                          <a:ea typeface="Meiryo UI" pitchFamily="34" charset="-122"/>
                          <a:cs typeface="Meiryo UI" pitchFamily="34" charset="-120"/>
                        </a:rPr>
                        <a:t>講演紹介動画（テーマ・対象・代表の想い）</a:t>
                      </a:r>
                      <a:endParaRPr lang="en-US" sz="110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5F9F6"/>
                    </a:solidFill>
                  </a:tcPr>
                </a:tc>
                <a:tc>
                  <a:txBody>
                    <a:bodyPr/>
                    <a:lstStyle/>
                    <a:p>
                      <a:pPr indent="0" marL="0">
                        <a:buNone/>
                      </a:pPr>
                      <a:r>
                        <a:rPr lang="en-US" sz="1100" dirty="0">
                          <a:solidFill>
                            <a:srgbClr val="2A3330"/>
                          </a:solidFill>
                          <a:latin typeface="Meiryo UI" pitchFamily="34" charset="0"/>
                          <a:ea typeface="Meiryo UI" pitchFamily="34" charset="-122"/>
                          <a:cs typeface="Meiryo UI" pitchFamily="34" charset="-120"/>
                        </a:rPr>
                        <a:t>フォーム営業／メール／紹介</a:t>
                      </a:r>
                      <a:endParaRPr lang="en-US" sz="110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5F9F6"/>
                    </a:solidFill>
                  </a:tcPr>
                </a:tc>
              </a:tr>
              <a:tr h="658368">
                <a:tc>
                  <a:txBody>
                    <a:bodyPr/>
                    <a:lstStyle/>
                    <a:p>
                      <a:pPr indent="0" marL="0">
                        <a:buNone/>
                      </a:pPr>
                      <a:r>
                        <a:rPr lang="en-US" sz="1100" b="1" dirty="0">
                          <a:solidFill>
                            <a:srgbClr val="2F7A55"/>
                          </a:solidFill>
                          <a:latin typeface="Meiryo UI" pitchFamily="34" charset="0"/>
                          <a:ea typeface="Meiryo UI" pitchFamily="34" charset="-122"/>
                          <a:cs typeface="Meiryo UI" pitchFamily="34" charset="-120"/>
                        </a:rPr>
                        <a:t>塾生・サロン会員のお母さん</a:t>
                      </a:r>
                      <a:endParaRPr lang="en-US" sz="110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FFFFF"/>
                    </a:solidFill>
                  </a:tcPr>
                </a:tc>
                <a:tc>
                  <a:txBody>
                    <a:bodyPr/>
                    <a:lstStyle/>
                    <a:p>
                      <a:pPr indent="0" marL="0">
                        <a:buNone/>
                      </a:pPr>
                      <a:r>
                        <a:rPr lang="en-US" sz="1100" dirty="0">
                          <a:solidFill>
                            <a:srgbClr val="2A3330"/>
                          </a:solidFill>
                          <a:latin typeface="Meiryo UI" pitchFamily="34" charset="0"/>
                          <a:ea typeface="Meiryo UI" pitchFamily="34" charset="-122"/>
                          <a:cs typeface="Meiryo UI" pitchFamily="34" charset="-120"/>
                        </a:rPr>
                        <a:t>知り合いにも勧めたい</a:t>
                      </a:r>
                      <a:endParaRPr lang="en-US" sz="110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FFFFF"/>
                    </a:solidFill>
                  </a:tcPr>
                </a:tc>
                <a:tc>
                  <a:txBody>
                    <a:bodyPr/>
                    <a:lstStyle/>
                    <a:p>
                      <a:pPr indent="0" marL="0">
                        <a:buNone/>
                      </a:pPr>
                      <a:r>
                        <a:rPr lang="en-US" sz="1100" dirty="0">
                          <a:solidFill>
                            <a:srgbClr val="2A3330"/>
                          </a:solidFill>
                          <a:latin typeface="Meiryo UI" pitchFamily="34" charset="0"/>
                          <a:ea typeface="Meiryo UI" pitchFamily="34" charset="-122"/>
                          <a:cs typeface="Meiryo UI" pitchFamily="34" charset="-120"/>
                        </a:rPr>
                        <a:t>紹介用のサービス紹介動画</a:t>
                      </a:r>
                      <a:endParaRPr lang="en-US" sz="110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FFFFF"/>
                    </a:solidFill>
                  </a:tcPr>
                </a:tc>
                <a:tc>
                  <a:txBody>
                    <a:bodyPr/>
                    <a:lstStyle/>
                    <a:p>
                      <a:pPr indent="0" marL="0">
                        <a:buNone/>
                      </a:pPr>
                      <a:r>
                        <a:rPr lang="en-US" sz="1100" dirty="0">
                          <a:solidFill>
                            <a:srgbClr val="2A3330"/>
                          </a:solidFill>
                          <a:latin typeface="Meiryo UI" pitchFamily="34" charset="0"/>
                          <a:ea typeface="Meiryo UI" pitchFamily="34" charset="-122"/>
                          <a:cs typeface="Meiryo UI" pitchFamily="34" charset="-120"/>
                        </a:rPr>
                        <a:t>LINE／オンラインサロン内で共有</a:t>
                      </a:r>
                      <a:endParaRPr lang="en-US" sz="110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5788152"/>
            <a:ext cx="457200" cy="457200"/>
          </a:xfrm>
          <a:prstGeom prst="ellipse">
            <a:avLst/>
          </a:prstGeom>
          <a:solidFill>
            <a:srgbClr val="D8614F"/>
          </a:solidFill>
          <a:ln w="12700">
            <a:solidFill>
              <a:srgbClr val="D8614F"/>
            </a:solidFill>
            <a:prstDash val="solid"/>
          </a:ln>
        </p:spPr>
      </p:sp>
      <p:pic>
        <p:nvPicPr>
          <p:cNvPr id="9" name="Image 0" descr="preencoded.png">    </p:cNvPr>
          <p:cNvPicPr>
            <a:picLocks noChangeAspect="1"/>
          </p:cNvPicPr>
          <p:nvPr/>
        </p:nvPicPr>
        <p:blipFill>
          <a:blip r:embed="rId1"/>
          <a:stretch>
            <a:fillRect/>
          </a:stretch>
        </p:blipFill>
        <p:spPr>
          <a:xfrm>
            <a:off x="667512" y="5907024"/>
            <a:ext cx="219456" cy="219456"/>
          </a:xfrm>
          <a:prstGeom prst="rect">
            <a:avLst/>
          </a:prstGeom>
        </p:spPr>
      </p:pic>
      <p:sp>
        <p:nvSpPr>
          <p:cNvPr id="10" name="Text 6"/>
          <p:cNvSpPr txBox="1"/>
          <p:nvPr/>
        </p:nvSpPr>
        <p:spPr>
          <a:xfrm>
            <a:off x="1143000" y="5715000"/>
            <a:ext cx="10500055" cy="603504"/>
          </a:xfrm>
          <a:prstGeom prst="rect">
            <a:avLst/>
          </a:prstGeom>
          <a:noFill/>
          <a:ln/>
        </p:spPr>
        <p:txBody>
          <a:bodyPr wrap="square" lIns="0" tIns="0" rIns="0" bIns="0" rtlCol="0" anchor="ctr"/>
          <a:lstStyle/>
          <a:p>
            <a:pPr indent="0" marL="0">
              <a:buNone/>
            </a:pPr>
            <a:r>
              <a:rPr lang="en-US" sz="1150" b="1" dirty="0">
                <a:solidFill>
                  <a:srgbClr val="D8614F"/>
                </a:solidFill>
                <a:latin typeface="Meiryo UI" pitchFamily="34" charset="0"/>
                <a:ea typeface="Meiryo UI" pitchFamily="34" charset="-122"/>
                <a:cs typeface="Meiryo UI" pitchFamily="34" charset="-120"/>
              </a:rPr>
              <a:t>最大の差別化ポイント：</a:t>
            </a:r>
            <a:pPr indent="0" marL="0">
              <a:buNone/>
            </a:pPr>
            <a:r>
              <a:rPr lang="en-US" sz="1150" dirty="0">
                <a:solidFill>
                  <a:srgbClr val="2A3330"/>
                </a:solidFill>
                <a:latin typeface="Meiryo UI" pitchFamily="34" charset="0"/>
                <a:ea typeface="Meiryo UI" pitchFamily="34" charset="-122"/>
                <a:cs typeface="Meiryo UI" pitchFamily="34" charset="-120"/>
              </a:rPr>
              <a:t>月1〜3回の講演会で生まれる“共感”を、動画でその日のうちに無料相談へつなげられるのは貴社ならではの強みです。</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8614F"/>
                </a:solidFill>
                <a:latin typeface="Meiryo UI" pitchFamily="34" charset="0"/>
                <a:ea typeface="Meiryo UI" pitchFamily="34" charset="-122"/>
                <a:cs typeface="Meiryo UI" pitchFamily="34" charset="-120"/>
              </a:rPr>
              <a:t>03｜PUSH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2F7A55"/>
                </a:solidFill>
                <a:latin typeface="Meiryo UI" pitchFamily="34" charset="0"/>
                <a:ea typeface="Meiryo UI" pitchFamily="34" charset="-122"/>
                <a:cs typeface="Meiryo UI" pitchFamily="34" charset="-120"/>
              </a:rPr>
              <a:t>集客プロセスへの組み込み：6つの接点すべてに動画を置く</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0"/>
                </a:solidFill>
                <a:latin typeface="Meiryo UI" pitchFamily="34" charset="0"/>
                <a:ea typeface="Meiryo UI" pitchFamily="34" charset="-122"/>
                <a:cs typeface="Meiryo UI" pitchFamily="34" charset="-120"/>
              </a:rPr>
              <a:t>9</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0"/>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Text 4"/>
          <p:cNvSpPr txBox="1"/>
          <p:nvPr/>
        </p:nvSpPr>
        <p:spPr>
          <a:xfrm>
            <a:off x="548640" y="2331720"/>
            <a:ext cx="914400" cy="274320"/>
          </a:xfrm>
          <a:prstGeom prst="rect">
            <a:avLst/>
          </a:prstGeom>
          <a:noFill/>
          <a:ln/>
        </p:spPr>
        <p:txBody>
          <a:bodyPr wrap="square" lIns="0" tIns="0" rIns="0" bIns="0" rtlCol="0" anchor="t"/>
          <a:lstStyle/>
          <a:p>
            <a:pPr indent="0" marL="0">
              <a:buNone/>
            </a:pPr>
            <a:r>
              <a:rPr lang="en-US" sz="1050" b="1" dirty="0">
                <a:solidFill>
                  <a:srgbClr val="7A8580"/>
                </a:solidFill>
                <a:latin typeface="Meiryo UI" pitchFamily="34" charset="0"/>
                <a:ea typeface="Meiryo UI" pitchFamily="34" charset="-122"/>
                <a:cs typeface="Meiryo UI" pitchFamily="34" charset="-120"/>
              </a:rPr>
              <a:t>従来</a:t>
            </a:r>
            <a:endParaRPr lang="en-US" sz="1050" dirty="0"/>
          </a:p>
        </p:txBody>
      </p:sp>
      <p:sp>
        <p:nvSpPr>
          <p:cNvPr id="7" name="Shape 5"/>
          <p:cNvSpPr/>
          <p:nvPr/>
        </p:nvSpPr>
        <p:spPr>
          <a:xfrm>
            <a:off x="548640" y="1463040"/>
            <a:ext cx="1727149" cy="731520"/>
          </a:xfrm>
          <a:prstGeom prst="roundRect">
            <a:avLst>
              <a:gd name="adj" fmla="val 15000"/>
            </a:avLst>
          </a:prstGeom>
          <a:solidFill>
            <a:srgbClr val="2F7A55"/>
          </a:solidFill>
          <a:ln w="12700">
            <a:solidFill>
              <a:srgbClr val="2F7A55"/>
            </a:solidFill>
            <a:prstDash val="solid"/>
          </a:ln>
        </p:spPr>
      </p:sp>
      <p:sp>
        <p:nvSpPr>
          <p:cNvPr id="8" name="Text 6"/>
          <p:cNvSpPr txBox="1"/>
          <p:nvPr/>
        </p:nvSpPr>
        <p:spPr>
          <a:xfrm>
            <a:off x="548640" y="1508760"/>
            <a:ext cx="1727149" cy="274320"/>
          </a:xfrm>
          <a:prstGeom prst="rect">
            <a:avLst/>
          </a:prstGeom>
          <a:noFill/>
          <a:ln/>
        </p:spPr>
        <p:txBody>
          <a:bodyPr wrap="square" lIns="0" tIns="0" rIns="0" bIns="0" rtlCol="0" anchor="t"/>
          <a:lstStyle/>
          <a:p>
            <a:pPr algn="ctr" indent="0" marL="0">
              <a:buNone/>
            </a:pPr>
            <a:r>
              <a:rPr lang="en-US" sz="1000" b="1" dirty="0">
                <a:solidFill>
                  <a:srgbClr val="F6B3AA"/>
                </a:solidFill>
                <a:latin typeface="Meiryo UI" pitchFamily="34" charset="0"/>
                <a:ea typeface="Meiryo UI" pitchFamily="34" charset="-122"/>
                <a:cs typeface="Meiryo UI" pitchFamily="34" charset="-120"/>
              </a:rPr>
              <a:t>STEP 1</a:t>
            </a:r>
            <a:endParaRPr lang="en-US" sz="1000" dirty="0"/>
          </a:p>
        </p:txBody>
      </p:sp>
      <p:sp>
        <p:nvSpPr>
          <p:cNvPr id="9" name="Text 7"/>
          <p:cNvSpPr txBox="1"/>
          <p:nvPr/>
        </p:nvSpPr>
        <p:spPr>
          <a:xfrm>
            <a:off x="548640" y="1764792"/>
            <a:ext cx="1727149"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講演会の告知</a:t>
            </a:r>
            <a:endParaRPr lang="en-US" sz="1400" dirty="0"/>
          </a:p>
        </p:txBody>
      </p:sp>
      <p:sp>
        <p:nvSpPr>
          <p:cNvPr id="10" name="Shape 8"/>
          <p:cNvSpPr/>
          <p:nvPr/>
        </p:nvSpPr>
        <p:spPr>
          <a:xfrm>
            <a:off x="548640" y="2606040"/>
            <a:ext cx="1727149" cy="731520"/>
          </a:xfrm>
          <a:prstGeom prst="roundRect">
            <a:avLst>
              <a:gd name="adj" fmla="val 15000"/>
            </a:avLst>
          </a:prstGeom>
          <a:solidFill>
            <a:srgbClr val="EEF0EF"/>
          </a:solidFill>
          <a:ln w="12700">
            <a:solidFill>
              <a:srgbClr val="EEF0EF"/>
            </a:solidFill>
            <a:prstDash val="solid"/>
          </a:ln>
        </p:spPr>
      </p:sp>
      <p:sp>
        <p:nvSpPr>
          <p:cNvPr id="11" name="Text 9"/>
          <p:cNvSpPr txBox="1"/>
          <p:nvPr/>
        </p:nvSpPr>
        <p:spPr>
          <a:xfrm>
            <a:off x="658368" y="2606040"/>
            <a:ext cx="1507693" cy="731520"/>
          </a:xfrm>
          <a:prstGeom prst="rect">
            <a:avLst/>
          </a:prstGeom>
          <a:noFill/>
          <a:ln/>
        </p:spPr>
        <p:txBody>
          <a:bodyPr wrap="square" lIns="0" tIns="0" rIns="0" bIns="0" rtlCol="0" anchor="ctr"/>
          <a:lstStyle/>
          <a:p>
            <a:pPr algn="ctr" indent="0" marL="0">
              <a:buNone/>
            </a:pPr>
            <a:r>
              <a:rPr lang="en-US" sz="1150" dirty="0">
                <a:solidFill>
                  <a:srgbClr val="7A8580"/>
                </a:solidFill>
                <a:latin typeface="Meiryo UI" pitchFamily="34" charset="0"/>
                <a:ea typeface="Meiryo UI" pitchFamily="34" charset="-122"/>
                <a:cs typeface="Meiryo UI" pitchFamily="34" charset="-120"/>
              </a:rPr>
              <a:t>チラシ・SNSの告知文のみ</a:t>
            </a:r>
            <a:endParaRPr lang="en-US" sz="1150" dirty="0"/>
          </a:p>
        </p:txBody>
      </p:sp>
      <p:pic>
        <p:nvPicPr>
          <p:cNvPr id="12" name="Image 0" descr="preencoded.png">    </p:cNvPr>
          <p:cNvPicPr>
            <a:picLocks noChangeAspect="1"/>
          </p:cNvPicPr>
          <p:nvPr/>
        </p:nvPicPr>
        <p:blipFill>
          <a:blip r:embed="rId1"/>
          <a:stretch>
            <a:fillRect/>
          </a:stretch>
        </p:blipFill>
        <p:spPr>
          <a:xfrm>
            <a:off x="1864309" y="3456432"/>
            <a:ext cx="256032" cy="256032"/>
          </a:xfrm>
          <a:prstGeom prst="rect">
            <a:avLst/>
          </a:prstGeom>
        </p:spPr>
      </p:pic>
      <p:sp>
        <p:nvSpPr>
          <p:cNvPr id="13" name="Shape 10"/>
          <p:cNvSpPr/>
          <p:nvPr/>
        </p:nvSpPr>
        <p:spPr>
          <a:xfrm>
            <a:off x="548640" y="3794760"/>
            <a:ext cx="1727149" cy="1417320"/>
          </a:xfrm>
          <a:prstGeom prst="roundRect">
            <a:avLst>
              <a:gd name="adj" fmla="val 7742"/>
            </a:avLst>
          </a:prstGeom>
          <a:solidFill>
            <a:srgbClr val="EAF4EE"/>
          </a:solidFill>
          <a:ln w="12700">
            <a:solidFill>
              <a:srgbClr val="EAF4EE"/>
            </a:solidFill>
            <a:prstDash val="solid"/>
          </a:ln>
        </p:spPr>
      </p:sp>
      <p:sp>
        <p:nvSpPr>
          <p:cNvPr id="14" name="Text 11"/>
          <p:cNvSpPr txBox="1"/>
          <p:nvPr/>
        </p:nvSpPr>
        <p:spPr>
          <a:xfrm>
            <a:off x="676656" y="3858768"/>
            <a:ext cx="1471117" cy="1298448"/>
          </a:xfrm>
          <a:prstGeom prst="rect">
            <a:avLst/>
          </a:prstGeom>
          <a:noFill/>
          <a:ln/>
        </p:spPr>
        <p:txBody>
          <a:bodyPr wrap="square" lIns="0" tIns="0" rIns="0" bIns="0" rtlCol="0" anchor="ctr"/>
          <a:lstStyle/>
          <a:p>
            <a:pPr indent="0" marL="0">
              <a:buNone/>
            </a:pPr>
            <a:r>
              <a:rPr lang="en-US" sz="1200" b="1" dirty="0">
                <a:solidFill>
                  <a:srgbClr val="1D4A35"/>
                </a:solidFill>
                <a:latin typeface="Meiryo UI" pitchFamily="34" charset="0"/>
                <a:ea typeface="Meiryo UI" pitchFamily="34" charset="-122"/>
                <a:cs typeface="Meiryo UI" pitchFamily="34" charset="-120"/>
              </a:rPr>
              <a:t>講演内容を30秒動画で予告し、参加を後押し</a:t>
            </a:r>
            <a:endParaRPr lang="en-US" sz="1200" dirty="0"/>
          </a:p>
        </p:txBody>
      </p:sp>
      <p:sp>
        <p:nvSpPr>
          <p:cNvPr id="15" name="Shape 12"/>
          <p:cNvSpPr/>
          <p:nvPr/>
        </p:nvSpPr>
        <p:spPr>
          <a:xfrm>
            <a:off x="548640" y="5349240"/>
            <a:ext cx="1727149" cy="566928"/>
          </a:xfrm>
          <a:prstGeom prst="roundRect">
            <a:avLst>
              <a:gd name="adj" fmla="val 19355"/>
            </a:avLst>
          </a:prstGeom>
          <a:solidFill>
            <a:srgbClr val="FDECEA"/>
          </a:solidFill>
          <a:ln w="12700">
            <a:solidFill>
              <a:srgbClr val="FDECEA"/>
            </a:solidFill>
            <a:prstDash val="solid"/>
          </a:ln>
        </p:spPr>
      </p:sp>
      <p:sp>
        <p:nvSpPr>
          <p:cNvPr id="16" name="Text 13"/>
          <p:cNvSpPr txBox="1"/>
          <p:nvPr/>
        </p:nvSpPr>
        <p:spPr>
          <a:xfrm>
            <a:off x="621792" y="5349240"/>
            <a:ext cx="1580845" cy="566928"/>
          </a:xfrm>
          <a:prstGeom prst="rect">
            <a:avLst/>
          </a:prstGeom>
          <a:noFill/>
          <a:ln/>
        </p:spPr>
        <p:txBody>
          <a:bodyPr wrap="square" lIns="0" tIns="0" rIns="0" bIns="0" rtlCol="0" anchor="ctr"/>
          <a:lstStyle/>
          <a:p>
            <a:pPr algn="ctr" indent="0" marL="0">
              <a:buNone/>
            </a:pPr>
            <a:r>
              <a:rPr lang="en-US" sz="1200" b="1" dirty="0">
                <a:solidFill>
                  <a:srgbClr val="D8614F"/>
                </a:solidFill>
                <a:latin typeface="Meiryo UI" pitchFamily="34" charset="0"/>
                <a:ea typeface="Meiryo UI" pitchFamily="34" charset="-122"/>
                <a:cs typeface="Meiryo UI" pitchFamily="34" charset="-120"/>
              </a:rPr>
              <a:t>参加者数UP</a:t>
            </a:r>
            <a:endParaRPr lang="en-US" sz="1200" dirty="0"/>
          </a:p>
        </p:txBody>
      </p:sp>
      <p:sp>
        <p:nvSpPr>
          <p:cNvPr id="17" name="Shape 14"/>
          <p:cNvSpPr/>
          <p:nvPr/>
        </p:nvSpPr>
        <p:spPr>
          <a:xfrm>
            <a:off x="2422093" y="1463040"/>
            <a:ext cx="1727149" cy="731520"/>
          </a:xfrm>
          <a:prstGeom prst="roundRect">
            <a:avLst>
              <a:gd name="adj" fmla="val 15000"/>
            </a:avLst>
          </a:prstGeom>
          <a:solidFill>
            <a:srgbClr val="2F7A55"/>
          </a:solidFill>
          <a:ln w="12700">
            <a:solidFill>
              <a:srgbClr val="2F7A55"/>
            </a:solidFill>
            <a:prstDash val="solid"/>
          </a:ln>
        </p:spPr>
      </p:sp>
      <p:sp>
        <p:nvSpPr>
          <p:cNvPr id="18" name="Text 15"/>
          <p:cNvSpPr txBox="1"/>
          <p:nvPr/>
        </p:nvSpPr>
        <p:spPr>
          <a:xfrm>
            <a:off x="2422093" y="1508760"/>
            <a:ext cx="1727149" cy="274320"/>
          </a:xfrm>
          <a:prstGeom prst="rect">
            <a:avLst/>
          </a:prstGeom>
          <a:noFill/>
          <a:ln/>
        </p:spPr>
        <p:txBody>
          <a:bodyPr wrap="square" lIns="0" tIns="0" rIns="0" bIns="0" rtlCol="0" anchor="t"/>
          <a:lstStyle/>
          <a:p>
            <a:pPr algn="ctr" indent="0" marL="0">
              <a:buNone/>
            </a:pPr>
            <a:r>
              <a:rPr lang="en-US" sz="1000" b="1" dirty="0">
                <a:solidFill>
                  <a:srgbClr val="F6B3AA"/>
                </a:solidFill>
                <a:latin typeface="Meiryo UI" pitchFamily="34" charset="0"/>
                <a:ea typeface="Meiryo UI" pitchFamily="34" charset="-122"/>
                <a:cs typeface="Meiryo UI" pitchFamily="34" charset="-120"/>
              </a:rPr>
              <a:t>STEP 2</a:t>
            </a:r>
            <a:endParaRPr lang="en-US" sz="1000" dirty="0"/>
          </a:p>
        </p:txBody>
      </p:sp>
      <p:sp>
        <p:nvSpPr>
          <p:cNvPr id="19" name="Text 16"/>
          <p:cNvSpPr txBox="1"/>
          <p:nvPr/>
        </p:nvSpPr>
        <p:spPr>
          <a:xfrm>
            <a:off x="2422093" y="1764792"/>
            <a:ext cx="1727149"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講演会の直後</a:t>
            </a:r>
            <a:endParaRPr lang="en-US" sz="1400" dirty="0"/>
          </a:p>
        </p:txBody>
      </p:sp>
      <p:sp>
        <p:nvSpPr>
          <p:cNvPr id="20" name="Shape 17"/>
          <p:cNvSpPr/>
          <p:nvPr/>
        </p:nvSpPr>
        <p:spPr>
          <a:xfrm>
            <a:off x="2422093" y="2606040"/>
            <a:ext cx="1727149" cy="731520"/>
          </a:xfrm>
          <a:prstGeom prst="roundRect">
            <a:avLst>
              <a:gd name="adj" fmla="val 15000"/>
            </a:avLst>
          </a:prstGeom>
          <a:solidFill>
            <a:srgbClr val="EEF0EF"/>
          </a:solidFill>
          <a:ln w="12700">
            <a:solidFill>
              <a:srgbClr val="EEF0EF"/>
            </a:solidFill>
            <a:prstDash val="solid"/>
          </a:ln>
        </p:spPr>
      </p:sp>
      <p:sp>
        <p:nvSpPr>
          <p:cNvPr id="21" name="Text 18"/>
          <p:cNvSpPr txBox="1"/>
          <p:nvPr/>
        </p:nvSpPr>
        <p:spPr>
          <a:xfrm>
            <a:off x="2531821" y="2606040"/>
            <a:ext cx="1507693" cy="731520"/>
          </a:xfrm>
          <a:prstGeom prst="rect">
            <a:avLst/>
          </a:prstGeom>
          <a:noFill/>
          <a:ln/>
        </p:spPr>
        <p:txBody>
          <a:bodyPr wrap="square" lIns="0" tIns="0" rIns="0" bIns="0" rtlCol="0" anchor="ctr"/>
          <a:lstStyle/>
          <a:p>
            <a:pPr algn="ctr" indent="0" marL="0">
              <a:buNone/>
            </a:pPr>
            <a:r>
              <a:rPr lang="en-US" sz="1150" dirty="0">
                <a:solidFill>
                  <a:srgbClr val="7A8580"/>
                </a:solidFill>
                <a:latin typeface="Meiryo UI" pitchFamily="34" charset="0"/>
                <a:ea typeface="Meiryo UI" pitchFamily="34" charset="-122"/>
                <a:cs typeface="Meiryo UI" pitchFamily="34" charset="-120"/>
              </a:rPr>
              <a:t>その場の熱量に頼る</a:t>
            </a:r>
            <a:endParaRPr lang="en-US" sz="1150" dirty="0"/>
          </a:p>
        </p:txBody>
      </p:sp>
      <p:pic>
        <p:nvPicPr>
          <p:cNvPr id="22" name="Image 1" descr="preencoded.png">    </p:cNvPr>
          <p:cNvPicPr>
            <a:picLocks noChangeAspect="1"/>
          </p:cNvPicPr>
          <p:nvPr/>
        </p:nvPicPr>
        <p:blipFill>
          <a:blip r:embed="rId2"/>
          <a:stretch>
            <a:fillRect/>
          </a:stretch>
        </p:blipFill>
        <p:spPr>
          <a:xfrm>
            <a:off x="3737762" y="3456432"/>
            <a:ext cx="256032" cy="256032"/>
          </a:xfrm>
          <a:prstGeom prst="rect">
            <a:avLst/>
          </a:prstGeom>
        </p:spPr>
      </p:pic>
      <p:sp>
        <p:nvSpPr>
          <p:cNvPr id="23" name="Shape 19"/>
          <p:cNvSpPr/>
          <p:nvPr/>
        </p:nvSpPr>
        <p:spPr>
          <a:xfrm>
            <a:off x="2422093" y="3794760"/>
            <a:ext cx="1727149" cy="1417320"/>
          </a:xfrm>
          <a:prstGeom prst="roundRect">
            <a:avLst>
              <a:gd name="adj" fmla="val 7742"/>
            </a:avLst>
          </a:prstGeom>
          <a:solidFill>
            <a:srgbClr val="EAF4EE"/>
          </a:solidFill>
          <a:ln w="12700">
            <a:solidFill>
              <a:srgbClr val="EAF4EE"/>
            </a:solidFill>
            <a:prstDash val="solid"/>
          </a:ln>
        </p:spPr>
      </p:sp>
      <p:sp>
        <p:nvSpPr>
          <p:cNvPr id="24" name="Text 20"/>
          <p:cNvSpPr txBox="1"/>
          <p:nvPr/>
        </p:nvSpPr>
        <p:spPr>
          <a:xfrm>
            <a:off x="2550109" y="3858768"/>
            <a:ext cx="1471117" cy="1298448"/>
          </a:xfrm>
          <a:prstGeom prst="rect">
            <a:avLst/>
          </a:prstGeom>
          <a:noFill/>
          <a:ln/>
        </p:spPr>
        <p:txBody>
          <a:bodyPr wrap="square" lIns="0" tIns="0" rIns="0" bIns="0" rtlCol="0" anchor="ctr"/>
          <a:lstStyle/>
          <a:p>
            <a:pPr indent="0" marL="0">
              <a:buNone/>
            </a:pPr>
            <a:r>
              <a:rPr lang="en-US" sz="1200" b="1" dirty="0">
                <a:solidFill>
                  <a:srgbClr val="1D4A35"/>
                </a:solidFill>
                <a:latin typeface="Meiryo UI" pitchFamily="34" charset="0"/>
                <a:ea typeface="Meiryo UI" pitchFamily="34" charset="-122"/>
                <a:cs typeface="Meiryo UI" pitchFamily="34" charset="-120"/>
              </a:rPr>
              <a:t>QRからLINE登録→当日中に「おさらい動画」</a:t>
            </a:r>
            <a:endParaRPr lang="en-US" sz="1200" dirty="0"/>
          </a:p>
        </p:txBody>
      </p:sp>
      <p:sp>
        <p:nvSpPr>
          <p:cNvPr id="25" name="Shape 21"/>
          <p:cNvSpPr/>
          <p:nvPr/>
        </p:nvSpPr>
        <p:spPr>
          <a:xfrm>
            <a:off x="2422093" y="5349240"/>
            <a:ext cx="1727149" cy="566928"/>
          </a:xfrm>
          <a:prstGeom prst="roundRect">
            <a:avLst>
              <a:gd name="adj" fmla="val 19355"/>
            </a:avLst>
          </a:prstGeom>
          <a:solidFill>
            <a:srgbClr val="FDECEA"/>
          </a:solidFill>
          <a:ln w="12700">
            <a:solidFill>
              <a:srgbClr val="FDECEA"/>
            </a:solidFill>
            <a:prstDash val="solid"/>
          </a:ln>
        </p:spPr>
      </p:sp>
      <p:sp>
        <p:nvSpPr>
          <p:cNvPr id="26" name="Text 22"/>
          <p:cNvSpPr txBox="1"/>
          <p:nvPr/>
        </p:nvSpPr>
        <p:spPr>
          <a:xfrm>
            <a:off x="2495245" y="5349240"/>
            <a:ext cx="1580845" cy="566928"/>
          </a:xfrm>
          <a:prstGeom prst="rect">
            <a:avLst/>
          </a:prstGeom>
          <a:noFill/>
          <a:ln/>
        </p:spPr>
        <p:txBody>
          <a:bodyPr wrap="square" lIns="0" tIns="0" rIns="0" bIns="0" rtlCol="0" anchor="ctr"/>
          <a:lstStyle/>
          <a:p>
            <a:pPr algn="ctr" indent="0" marL="0">
              <a:buNone/>
            </a:pPr>
            <a:r>
              <a:rPr lang="en-US" sz="1200" b="1" dirty="0">
                <a:solidFill>
                  <a:srgbClr val="D8614F"/>
                </a:solidFill>
                <a:latin typeface="Meiryo UI" pitchFamily="34" charset="0"/>
                <a:ea typeface="Meiryo UI" pitchFamily="34" charset="-122"/>
                <a:cs typeface="Meiryo UI" pitchFamily="34" charset="-120"/>
              </a:rPr>
              <a:t>LINE登録率UP</a:t>
            </a:r>
            <a:endParaRPr lang="en-US" sz="1200" dirty="0"/>
          </a:p>
        </p:txBody>
      </p:sp>
      <p:sp>
        <p:nvSpPr>
          <p:cNvPr id="27" name="Shape 23"/>
          <p:cNvSpPr/>
          <p:nvPr/>
        </p:nvSpPr>
        <p:spPr>
          <a:xfrm>
            <a:off x="4295546" y="1463040"/>
            <a:ext cx="1727149" cy="731520"/>
          </a:xfrm>
          <a:prstGeom prst="roundRect">
            <a:avLst>
              <a:gd name="adj" fmla="val 15000"/>
            </a:avLst>
          </a:prstGeom>
          <a:solidFill>
            <a:srgbClr val="2F7A55"/>
          </a:solidFill>
          <a:ln w="12700">
            <a:solidFill>
              <a:srgbClr val="2F7A55"/>
            </a:solidFill>
            <a:prstDash val="solid"/>
          </a:ln>
        </p:spPr>
      </p:sp>
      <p:sp>
        <p:nvSpPr>
          <p:cNvPr id="28" name="Text 24"/>
          <p:cNvSpPr txBox="1"/>
          <p:nvPr/>
        </p:nvSpPr>
        <p:spPr>
          <a:xfrm>
            <a:off x="4295546" y="1508760"/>
            <a:ext cx="1727149" cy="274320"/>
          </a:xfrm>
          <a:prstGeom prst="rect">
            <a:avLst/>
          </a:prstGeom>
          <a:noFill/>
          <a:ln/>
        </p:spPr>
        <p:txBody>
          <a:bodyPr wrap="square" lIns="0" tIns="0" rIns="0" bIns="0" rtlCol="0" anchor="t"/>
          <a:lstStyle/>
          <a:p>
            <a:pPr algn="ctr" indent="0" marL="0">
              <a:buNone/>
            </a:pPr>
            <a:r>
              <a:rPr lang="en-US" sz="1000" b="1" dirty="0">
                <a:solidFill>
                  <a:srgbClr val="F6B3AA"/>
                </a:solidFill>
                <a:latin typeface="Meiryo UI" pitchFamily="34" charset="0"/>
                <a:ea typeface="Meiryo UI" pitchFamily="34" charset="-122"/>
                <a:cs typeface="Meiryo UI" pitchFamily="34" charset="-120"/>
              </a:rPr>
              <a:t>STEP 3</a:t>
            </a:r>
            <a:endParaRPr lang="en-US" sz="1000" dirty="0"/>
          </a:p>
        </p:txBody>
      </p:sp>
      <p:sp>
        <p:nvSpPr>
          <p:cNvPr id="29" name="Text 25"/>
          <p:cNvSpPr txBox="1"/>
          <p:nvPr/>
        </p:nvSpPr>
        <p:spPr>
          <a:xfrm>
            <a:off x="4295546" y="1764792"/>
            <a:ext cx="1727149"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無料相談の前</a:t>
            </a:r>
            <a:endParaRPr lang="en-US" sz="1400" dirty="0"/>
          </a:p>
        </p:txBody>
      </p:sp>
      <p:sp>
        <p:nvSpPr>
          <p:cNvPr id="30" name="Shape 26"/>
          <p:cNvSpPr/>
          <p:nvPr/>
        </p:nvSpPr>
        <p:spPr>
          <a:xfrm>
            <a:off x="4295546" y="2606040"/>
            <a:ext cx="1727149" cy="731520"/>
          </a:xfrm>
          <a:prstGeom prst="roundRect">
            <a:avLst>
              <a:gd name="adj" fmla="val 15000"/>
            </a:avLst>
          </a:prstGeom>
          <a:solidFill>
            <a:srgbClr val="EEF0EF"/>
          </a:solidFill>
          <a:ln w="12700">
            <a:solidFill>
              <a:srgbClr val="EEF0EF"/>
            </a:solidFill>
            <a:prstDash val="solid"/>
          </a:ln>
        </p:spPr>
      </p:sp>
      <p:sp>
        <p:nvSpPr>
          <p:cNvPr id="31" name="Text 27"/>
          <p:cNvSpPr txBox="1"/>
          <p:nvPr/>
        </p:nvSpPr>
        <p:spPr>
          <a:xfrm>
            <a:off x="4405274" y="2606040"/>
            <a:ext cx="1507693" cy="731520"/>
          </a:xfrm>
          <a:prstGeom prst="rect">
            <a:avLst/>
          </a:prstGeom>
          <a:noFill/>
          <a:ln/>
        </p:spPr>
        <p:txBody>
          <a:bodyPr wrap="square" lIns="0" tIns="0" rIns="0" bIns="0" rtlCol="0" anchor="ctr"/>
          <a:lstStyle/>
          <a:p>
            <a:pPr algn="ctr" indent="0" marL="0">
              <a:buNone/>
            </a:pPr>
            <a:r>
              <a:rPr lang="en-US" sz="1150" dirty="0">
                <a:solidFill>
                  <a:srgbClr val="7A8580"/>
                </a:solidFill>
                <a:latin typeface="Meiryo UI" pitchFamily="34" charset="0"/>
                <a:ea typeface="Meiryo UI" pitchFamily="34" charset="-122"/>
                <a:cs typeface="Meiryo UI" pitchFamily="34" charset="-120"/>
              </a:rPr>
              <a:t>当日に一から説明</a:t>
            </a:r>
            <a:endParaRPr lang="en-US" sz="1150" dirty="0"/>
          </a:p>
        </p:txBody>
      </p:sp>
      <p:pic>
        <p:nvPicPr>
          <p:cNvPr id="32" name="Image 2" descr="preencoded.png">    </p:cNvPr>
          <p:cNvPicPr>
            <a:picLocks noChangeAspect="1"/>
          </p:cNvPicPr>
          <p:nvPr/>
        </p:nvPicPr>
        <p:blipFill>
          <a:blip r:embed="rId3"/>
          <a:stretch>
            <a:fillRect/>
          </a:stretch>
        </p:blipFill>
        <p:spPr>
          <a:xfrm>
            <a:off x="5611216" y="3456432"/>
            <a:ext cx="256032" cy="256032"/>
          </a:xfrm>
          <a:prstGeom prst="rect">
            <a:avLst/>
          </a:prstGeom>
        </p:spPr>
      </p:pic>
      <p:sp>
        <p:nvSpPr>
          <p:cNvPr id="33" name="Shape 28"/>
          <p:cNvSpPr/>
          <p:nvPr/>
        </p:nvSpPr>
        <p:spPr>
          <a:xfrm>
            <a:off x="4295546" y="3794760"/>
            <a:ext cx="1727149" cy="1417320"/>
          </a:xfrm>
          <a:prstGeom prst="roundRect">
            <a:avLst>
              <a:gd name="adj" fmla="val 7742"/>
            </a:avLst>
          </a:prstGeom>
          <a:solidFill>
            <a:srgbClr val="EAF4EE"/>
          </a:solidFill>
          <a:ln w="12700">
            <a:solidFill>
              <a:srgbClr val="EAF4EE"/>
            </a:solidFill>
            <a:prstDash val="solid"/>
          </a:ln>
        </p:spPr>
      </p:sp>
      <p:sp>
        <p:nvSpPr>
          <p:cNvPr id="34" name="Text 29"/>
          <p:cNvSpPr txBox="1"/>
          <p:nvPr/>
        </p:nvSpPr>
        <p:spPr>
          <a:xfrm>
            <a:off x="4423562" y="3858768"/>
            <a:ext cx="1471117" cy="1298448"/>
          </a:xfrm>
          <a:prstGeom prst="rect">
            <a:avLst/>
          </a:prstGeom>
          <a:noFill/>
          <a:ln/>
        </p:spPr>
        <p:txBody>
          <a:bodyPr wrap="square" lIns="0" tIns="0" rIns="0" bIns="0" rtlCol="0" anchor="ctr"/>
          <a:lstStyle/>
          <a:p>
            <a:pPr indent="0" marL="0">
              <a:buNone/>
            </a:pPr>
            <a:r>
              <a:rPr lang="en-US" sz="1200" b="1" dirty="0">
                <a:solidFill>
                  <a:srgbClr val="1D4A35"/>
                </a:solidFill>
                <a:latin typeface="Meiryo UI" pitchFamily="34" charset="0"/>
                <a:ea typeface="Meiryo UI" pitchFamily="34" charset="-122"/>
                <a:cs typeface="Meiryo UI" pitchFamily="34" charset="-120"/>
              </a:rPr>
              <a:t>相談前に代表の動画を送り、安心感をつくる</a:t>
            </a:r>
            <a:endParaRPr lang="en-US" sz="1200" dirty="0"/>
          </a:p>
        </p:txBody>
      </p:sp>
      <p:sp>
        <p:nvSpPr>
          <p:cNvPr id="35" name="Shape 30"/>
          <p:cNvSpPr/>
          <p:nvPr/>
        </p:nvSpPr>
        <p:spPr>
          <a:xfrm>
            <a:off x="4295546" y="5349240"/>
            <a:ext cx="1727149" cy="566928"/>
          </a:xfrm>
          <a:prstGeom prst="roundRect">
            <a:avLst>
              <a:gd name="adj" fmla="val 19355"/>
            </a:avLst>
          </a:prstGeom>
          <a:solidFill>
            <a:srgbClr val="FDECEA"/>
          </a:solidFill>
          <a:ln w="12700">
            <a:solidFill>
              <a:srgbClr val="FDECEA"/>
            </a:solidFill>
            <a:prstDash val="solid"/>
          </a:ln>
        </p:spPr>
      </p:sp>
      <p:sp>
        <p:nvSpPr>
          <p:cNvPr id="36" name="Text 31"/>
          <p:cNvSpPr txBox="1"/>
          <p:nvPr/>
        </p:nvSpPr>
        <p:spPr>
          <a:xfrm>
            <a:off x="4368698" y="5349240"/>
            <a:ext cx="1580845" cy="566928"/>
          </a:xfrm>
          <a:prstGeom prst="rect">
            <a:avLst/>
          </a:prstGeom>
          <a:noFill/>
          <a:ln/>
        </p:spPr>
        <p:txBody>
          <a:bodyPr wrap="square" lIns="0" tIns="0" rIns="0" bIns="0" rtlCol="0" anchor="ctr"/>
          <a:lstStyle/>
          <a:p>
            <a:pPr algn="ctr" indent="0" marL="0">
              <a:buNone/>
            </a:pPr>
            <a:r>
              <a:rPr lang="en-US" sz="1200" b="1" dirty="0">
                <a:solidFill>
                  <a:srgbClr val="D8614F"/>
                </a:solidFill>
                <a:latin typeface="Meiryo UI" pitchFamily="34" charset="0"/>
                <a:ea typeface="Meiryo UI" pitchFamily="34" charset="-122"/>
                <a:cs typeface="Meiryo UI" pitchFamily="34" charset="-120"/>
              </a:rPr>
              <a:t>相談実施率UP</a:t>
            </a:r>
            <a:endParaRPr lang="en-US" sz="1200" dirty="0"/>
          </a:p>
        </p:txBody>
      </p:sp>
      <p:sp>
        <p:nvSpPr>
          <p:cNvPr id="37" name="Shape 32"/>
          <p:cNvSpPr/>
          <p:nvPr/>
        </p:nvSpPr>
        <p:spPr>
          <a:xfrm>
            <a:off x="6169000" y="1463040"/>
            <a:ext cx="1727149" cy="731520"/>
          </a:xfrm>
          <a:prstGeom prst="roundRect">
            <a:avLst>
              <a:gd name="adj" fmla="val 15000"/>
            </a:avLst>
          </a:prstGeom>
          <a:solidFill>
            <a:srgbClr val="2F7A55"/>
          </a:solidFill>
          <a:ln w="12700">
            <a:solidFill>
              <a:srgbClr val="2F7A55"/>
            </a:solidFill>
            <a:prstDash val="solid"/>
          </a:ln>
        </p:spPr>
      </p:sp>
      <p:sp>
        <p:nvSpPr>
          <p:cNvPr id="38" name="Text 33"/>
          <p:cNvSpPr txBox="1"/>
          <p:nvPr/>
        </p:nvSpPr>
        <p:spPr>
          <a:xfrm>
            <a:off x="6169000" y="1508760"/>
            <a:ext cx="1727149" cy="274320"/>
          </a:xfrm>
          <a:prstGeom prst="rect">
            <a:avLst/>
          </a:prstGeom>
          <a:noFill/>
          <a:ln/>
        </p:spPr>
        <p:txBody>
          <a:bodyPr wrap="square" lIns="0" tIns="0" rIns="0" bIns="0" rtlCol="0" anchor="t"/>
          <a:lstStyle/>
          <a:p>
            <a:pPr algn="ctr" indent="0" marL="0">
              <a:buNone/>
            </a:pPr>
            <a:r>
              <a:rPr lang="en-US" sz="1000" b="1" dirty="0">
                <a:solidFill>
                  <a:srgbClr val="F6B3AA"/>
                </a:solidFill>
                <a:latin typeface="Meiryo UI" pitchFamily="34" charset="0"/>
                <a:ea typeface="Meiryo UI" pitchFamily="34" charset="-122"/>
                <a:cs typeface="Meiryo UI" pitchFamily="34" charset="-120"/>
              </a:rPr>
              <a:t>STEP 4</a:t>
            </a:r>
            <a:endParaRPr lang="en-US" sz="1000" dirty="0"/>
          </a:p>
        </p:txBody>
      </p:sp>
      <p:sp>
        <p:nvSpPr>
          <p:cNvPr id="39" name="Text 34"/>
          <p:cNvSpPr txBox="1"/>
          <p:nvPr/>
        </p:nvSpPr>
        <p:spPr>
          <a:xfrm>
            <a:off x="6169000" y="1764792"/>
            <a:ext cx="1727149"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無料相談</a:t>
            </a:r>
            <a:endParaRPr lang="en-US" sz="1400" dirty="0"/>
          </a:p>
        </p:txBody>
      </p:sp>
      <p:sp>
        <p:nvSpPr>
          <p:cNvPr id="40" name="Shape 35"/>
          <p:cNvSpPr/>
          <p:nvPr/>
        </p:nvSpPr>
        <p:spPr>
          <a:xfrm>
            <a:off x="6169000" y="2606040"/>
            <a:ext cx="1727149" cy="731520"/>
          </a:xfrm>
          <a:prstGeom prst="roundRect">
            <a:avLst>
              <a:gd name="adj" fmla="val 15000"/>
            </a:avLst>
          </a:prstGeom>
          <a:solidFill>
            <a:srgbClr val="EEF0EF"/>
          </a:solidFill>
          <a:ln w="12700">
            <a:solidFill>
              <a:srgbClr val="EEF0EF"/>
            </a:solidFill>
            <a:prstDash val="solid"/>
          </a:ln>
        </p:spPr>
      </p:sp>
      <p:sp>
        <p:nvSpPr>
          <p:cNvPr id="41" name="Text 36"/>
          <p:cNvSpPr txBox="1"/>
          <p:nvPr/>
        </p:nvSpPr>
        <p:spPr>
          <a:xfrm>
            <a:off x="6278728" y="2606040"/>
            <a:ext cx="1507693" cy="731520"/>
          </a:xfrm>
          <a:prstGeom prst="rect">
            <a:avLst/>
          </a:prstGeom>
          <a:noFill/>
          <a:ln/>
        </p:spPr>
        <p:txBody>
          <a:bodyPr wrap="square" lIns="0" tIns="0" rIns="0" bIns="0" rtlCol="0" anchor="ctr"/>
          <a:lstStyle/>
          <a:p>
            <a:pPr algn="ctr" indent="0" marL="0">
              <a:buNone/>
            </a:pPr>
            <a:r>
              <a:rPr lang="en-US" sz="1150" dirty="0">
                <a:solidFill>
                  <a:srgbClr val="7A8580"/>
                </a:solidFill>
                <a:latin typeface="Meiryo UI" pitchFamily="34" charset="0"/>
                <a:ea typeface="Meiryo UI" pitchFamily="34" charset="-122"/>
                <a:cs typeface="Meiryo UI" pitchFamily="34" charset="-120"/>
              </a:rPr>
              <a:t>代表が毎回同じ説明</a:t>
            </a:r>
            <a:endParaRPr lang="en-US" sz="1150" dirty="0"/>
          </a:p>
        </p:txBody>
      </p:sp>
      <p:pic>
        <p:nvPicPr>
          <p:cNvPr id="42" name="Image 3" descr="preencoded.png">    </p:cNvPr>
          <p:cNvPicPr>
            <a:picLocks noChangeAspect="1"/>
          </p:cNvPicPr>
          <p:nvPr/>
        </p:nvPicPr>
        <p:blipFill>
          <a:blip r:embed="rId4"/>
          <a:stretch>
            <a:fillRect/>
          </a:stretch>
        </p:blipFill>
        <p:spPr>
          <a:xfrm>
            <a:off x="7484669" y="3456432"/>
            <a:ext cx="256032" cy="256032"/>
          </a:xfrm>
          <a:prstGeom prst="rect">
            <a:avLst/>
          </a:prstGeom>
        </p:spPr>
      </p:pic>
      <p:sp>
        <p:nvSpPr>
          <p:cNvPr id="43" name="Shape 37"/>
          <p:cNvSpPr/>
          <p:nvPr/>
        </p:nvSpPr>
        <p:spPr>
          <a:xfrm>
            <a:off x="6169000" y="3794760"/>
            <a:ext cx="1727149" cy="1417320"/>
          </a:xfrm>
          <a:prstGeom prst="roundRect">
            <a:avLst>
              <a:gd name="adj" fmla="val 7742"/>
            </a:avLst>
          </a:prstGeom>
          <a:solidFill>
            <a:srgbClr val="EAF4EE"/>
          </a:solidFill>
          <a:ln w="12700">
            <a:solidFill>
              <a:srgbClr val="EAF4EE"/>
            </a:solidFill>
            <a:prstDash val="solid"/>
          </a:ln>
        </p:spPr>
      </p:sp>
      <p:sp>
        <p:nvSpPr>
          <p:cNvPr id="44" name="Text 38"/>
          <p:cNvSpPr txBox="1"/>
          <p:nvPr/>
        </p:nvSpPr>
        <p:spPr>
          <a:xfrm>
            <a:off x="6297016" y="3858768"/>
            <a:ext cx="1471117" cy="1298448"/>
          </a:xfrm>
          <a:prstGeom prst="rect">
            <a:avLst/>
          </a:prstGeom>
          <a:noFill/>
          <a:ln/>
        </p:spPr>
        <p:txBody>
          <a:bodyPr wrap="square" lIns="0" tIns="0" rIns="0" bIns="0" rtlCol="0" anchor="ctr"/>
          <a:lstStyle/>
          <a:p>
            <a:pPr indent="0" marL="0">
              <a:buNone/>
            </a:pPr>
            <a:r>
              <a:rPr lang="en-US" sz="1200" b="1" dirty="0">
                <a:solidFill>
                  <a:srgbClr val="1D4A35"/>
                </a:solidFill>
                <a:latin typeface="Meiryo UI" pitchFamily="34" charset="0"/>
                <a:ea typeface="Meiryo UI" pitchFamily="34" charset="-122"/>
                <a:cs typeface="Meiryo UI" pitchFamily="34" charset="-120"/>
              </a:rPr>
              <a:t>共通の説明は動画に任せ、個別の悩みに集中</a:t>
            </a:r>
            <a:endParaRPr lang="en-US" sz="1200" dirty="0"/>
          </a:p>
        </p:txBody>
      </p:sp>
      <p:sp>
        <p:nvSpPr>
          <p:cNvPr id="45" name="Shape 39"/>
          <p:cNvSpPr/>
          <p:nvPr/>
        </p:nvSpPr>
        <p:spPr>
          <a:xfrm>
            <a:off x="6169000" y="5349240"/>
            <a:ext cx="1727149" cy="566928"/>
          </a:xfrm>
          <a:prstGeom prst="roundRect">
            <a:avLst>
              <a:gd name="adj" fmla="val 19355"/>
            </a:avLst>
          </a:prstGeom>
          <a:solidFill>
            <a:srgbClr val="FDECEA"/>
          </a:solidFill>
          <a:ln w="12700">
            <a:solidFill>
              <a:srgbClr val="FDECEA"/>
            </a:solidFill>
            <a:prstDash val="solid"/>
          </a:ln>
        </p:spPr>
      </p:sp>
      <p:sp>
        <p:nvSpPr>
          <p:cNvPr id="46" name="Text 40"/>
          <p:cNvSpPr txBox="1"/>
          <p:nvPr/>
        </p:nvSpPr>
        <p:spPr>
          <a:xfrm>
            <a:off x="6242152" y="5349240"/>
            <a:ext cx="1580845" cy="566928"/>
          </a:xfrm>
          <a:prstGeom prst="rect">
            <a:avLst/>
          </a:prstGeom>
          <a:noFill/>
          <a:ln/>
        </p:spPr>
        <p:txBody>
          <a:bodyPr wrap="square" lIns="0" tIns="0" rIns="0" bIns="0" rtlCol="0" anchor="ctr"/>
          <a:lstStyle/>
          <a:p>
            <a:pPr algn="ctr" indent="0" marL="0">
              <a:buNone/>
            </a:pPr>
            <a:r>
              <a:rPr lang="en-US" sz="1200" b="1" dirty="0">
                <a:solidFill>
                  <a:srgbClr val="D8614F"/>
                </a:solidFill>
                <a:latin typeface="Meiryo UI" pitchFamily="34" charset="0"/>
                <a:ea typeface="Meiryo UI" pitchFamily="34" charset="-122"/>
                <a:cs typeface="Meiryo UI" pitchFamily="34" charset="-120"/>
              </a:rPr>
              <a:t>入会率UP</a:t>
            </a:r>
            <a:endParaRPr lang="en-US" sz="1200" dirty="0"/>
          </a:p>
        </p:txBody>
      </p:sp>
      <p:sp>
        <p:nvSpPr>
          <p:cNvPr id="47" name="Shape 41"/>
          <p:cNvSpPr/>
          <p:nvPr/>
        </p:nvSpPr>
        <p:spPr>
          <a:xfrm>
            <a:off x="8042453" y="1463040"/>
            <a:ext cx="1727149" cy="731520"/>
          </a:xfrm>
          <a:prstGeom prst="roundRect">
            <a:avLst>
              <a:gd name="adj" fmla="val 15000"/>
            </a:avLst>
          </a:prstGeom>
          <a:solidFill>
            <a:srgbClr val="2F7A55"/>
          </a:solidFill>
          <a:ln w="12700">
            <a:solidFill>
              <a:srgbClr val="2F7A55"/>
            </a:solidFill>
            <a:prstDash val="solid"/>
          </a:ln>
        </p:spPr>
      </p:sp>
      <p:sp>
        <p:nvSpPr>
          <p:cNvPr id="48" name="Text 42"/>
          <p:cNvSpPr txBox="1"/>
          <p:nvPr/>
        </p:nvSpPr>
        <p:spPr>
          <a:xfrm>
            <a:off x="8042453" y="1508760"/>
            <a:ext cx="1727149" cy="274320"/>
          </a:xfrm>
          <a:prstGeom prst="rect">
            <a:avLst/>
          </a:prstGeom>
          <a:noFill/>
          <a:ln/>
        </p:spPr>
        <p:txBody>
          <a:bodyPr wrap="square" lIns="0" tIns="0" rIns="0" bIns="0" rtlCol="0" anchor="t"/>
          <a:lstStyle/>
          <a:p>
            <a:pPr algn="ctr" indent="0" marL="0">
              <a:buNone/>
            </a:pPr>
            <a:r>
              <a:rPr lang="en-US" sz="1000" b="1" dirty="0">
                <a:solidFill>
                  <a:srgbClr val="F6B3AA"/>
                </a:solidFill>
                <a:latin typeface="Meiryo UI" pitchFamily="34" charset="0"/>
                <a:ea typeface="Meiryo UI" pitchFamily="34" charset="-122"/>
                <a:cs typeface="Meiryo UI" pitchFamily="34" charset="-120"/>
              </a:rPr>
              <a:t>STEP 5</a:t>
            </a:r>
            <a:endParaRPr lang="en-US" sz="1000" dirty="0"/>
          </a:p>
        </p:txBody>
      </p:sp>
      <p:sp>
        <p:nvSpPr>
          <p:cNvPr id="49" name="Text 43"/>
          <p:cNvSpPr txBox="1"/>
          <p:nvPr/>
        </p:nvSpPr>
        <p:spPr>
          <a:xfrm>
            <a:off x="8042453" y="1764792"/>
            <a:ext cx="1727149"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相談後フォロー</a:t>
            </a:r>
            <a:endParaRPr lang="en-US" sz="1400" dirty="0"/>
          </a:p>
        </p:txBody>
      </p:sp>
      <p:sp>
        <p:nvSpPr>
          <p:cNvPr id="50" name="Shape 44"/>
          <p:cNvSpPr/>
          <p:nvPr/>
        </p:nvSpPr>
        <p:spPr>
          <a:xfrm>
            <a:off x="8042453" y="2606040"/>
            <a:ext cx="1727149" cy="731520"/>
          </a:xfrm>
          <a:prstGeom prst="roundRect">
            <a:avLst>
              <a:gd name="adj" fmla="val 15000"/>
            </a:avLst>
          </a:prstGeom>
          <a:solidFill>
            <a:srgbClr val="EEF0EF"/>
          </a:solidFill>
          <a:ln w="12700">
            <a:solidFill>
              <a:srgbClr val="EEF0EF"/>
            </a:solidFill>
            <a:prstDash val="solid"/>
          </a:ln>
        </p:spPr>
      </p:sp>
      <p:sp>
        <p:nvSpPr>
          <p:cNvPr id="51" name="Text 45"/>
          <p:cNvSpPr txBox="1"/>
          <p:nvPr/>
        </p:nvSpPr>
        <p:spPr>
          <a:xfrm>
            <a:off x="8152181" y="2606040"/>
            <a:ext cx="1507693" cy="731520"/>
          </a:xfrm>
          <a:prstGeom prst="rect">
            <a:avLst/>
          </a:prstGeom>
          <a:noFill/>
          <a:ln/>
        </p:spPr>
        <p:txBody>
          <a:bodyPr wrap="square" lIns="0" tIns="0" rIns="0" bIns="0" rtlCol="0" anchor="ctr"/>
          <a:lstStyle/>
          <a:p>
            <a:pPr algn="ctr" indent="0" marL="0">
              <a:buNone/>
            </a:pPr>
            <a:r>
              <a:rPr lang="en-US" sz="1150" dirty="0">
                <a:solidFill>
                  <a:srgbClr val="7A8580"/>
                </a:solidFill>
                <a:latin typeface="Meiryo UI" pitchFamily="34" charset="0"/>
                <a:ea typeface="Meiryo UI" pitchFamily="34" charset="-122"/>
                <a:cs typeface="Meiryo UI" pitchFamily="34" charset="-120"/>
              </a:rPr>
              <a:t>検討中のまま連絡が途切れる</a:t>
            </a:r>
            <a:endParaRPr lang="en-US" sz="1150" dirty="0"/>
          </a:p>
        </p:txBody>
      </p:sp>
      <p:pic>
        <p:nvPicPr>
          <p:cNvPr id="52" name="Image 4" descr="preencoded.png">    </p:cNvPr>
          <p:cNvPicPr>
            <a:picLocks noChangeAspect="1"/>
          </p:cNvPicPr>
          <p:nvPr/>
        </p:nvPicPr>
        <p:blipFill>
          <a:blip r:embed="rId5"/>
          <a:stretch>
            <a:fillRect/>
          </a:stretch>
        </p:blipFill>
        <p:spPr>
          <a:xfrm>
            <a:off x="9358122" y="3456432"/>
            <a:ext cx="256032" cy="256032"/>
          </a:xfrm>
          <a:prstGeom prst="rect">
            <a:avLst/>
          </a:prstGeom>
        </p:spPr>
      </p:pic>
      <p:sp>
        <p:nvSpPr>
          <p:cNvPr id="53" name="Shape 46"/>
          <p:cNvSpPr/>
          <p:nvPr/>
        </p:nvSpPr>
        <p:spPr>
          <a:xfrm>
            <a:off x="8042453" y="3794760"/>
            <a:ext cx="1727149" cy="1417320"/>
          </a:xfrm>
          <a:prstGeom prst="roundRect">
            <a:avLst>
              <a:gd name="adj" fmla="val 7742"/>
            </a:avLst>
          </a:prstGeom>
          <a:solidFill>
            <a:srgbClr val="EAF4EE"/>
          </a:solidFill>
          <a:ln w="12700">
            <a:solidFill>
              <a:srgbClr val="EAF4EE"/>
            </a:solidFill>
            <a:prstDash val="solid"/>
          </a:ln>
        </p:spPr>
      </p:sp>
      <p:sp>
        <p:nvSpPr>
          <p:cNvPr id="54" name="Text 47"/>
          <p:cNvSpPr txBox="1"/>
          <p:nvPr/>
        </p:nvSpPr>
        <p:spPr>
          <a:xfrm>
            <a:off x="8170469" y="3858768"/>
            <a:ext cx="1471117" cy="1298448"/>
          </a:xfrm>
          <a:prstGeom prst="rect">
            <a:avLst/>
          </a:prstGeom>
          <a:noFill/>
          <a:ln/>
        </p:spPr>
        <p:txBody>
          <a:bodyPr wrap="square" lIns="0" tIns="0" rIns="0" bIns="0" rtlCol="0" anchor="ctr"/>
          <a:lstStyle/>
          <a:p>
            <a:pPr indent="0" marL="0">
              <a:buNone/>
            </a:pPr>
            <a:r>
              <a:rPr lang="en-US" sz="1200" b="1" dirty="0">
                <a:solidFill>
                  <a:srgbClr val="1D4A35"/>
                </a:solidFill>
                <a:latin typeface="Meiryo UI" pitchFamily="34" charset="0"/>
                <a:ea typeface="Meiryo UI" pitchFamily="34" charset="-122"/>
                <a:cs typeface="Meiryo UI" pitchFamily="34" charset="-120"/>
              </a:rPr>
              <a:t>「オンライン塾の1日」動画で不安を解消</a:t>
            </a:r>
            <a:endParaRPr lang="en-US" sz="1200" dirty="0"/>
          </a:p>
        </p:txBody>
      </p:sp>
      <p:sp>
        <p:nvSpPr>
          <p:cNvPr id="55" name="Shape 48"/>
          <p:cNvSpPr/>
          <p:nvPr/>
        </p:nvSpPr>
        <p:spPr>
          <a:xfrm>
            <a:off x="8042453" y="5349240"/>
            <a:ext cx="1727149" cy="566928"/>
          </a:xfrm>
          <a:prstGeom prst="roundRect">
            <a:avLst>
              <a:gd name="adj" fmla="val 19355"/>
            </a:avLst>
          </a:prstGeom>
          <a:solidFill>
            <a:srgbClr val="FDECEA"/>
          </a:solidFill>
          <a:ln w="12700">
            <a:solidFill>
              <a:srgbClr val="FDECEA"/>
            </a:solidFill>
            <a:prstDash val="solid"/>
          </a:ln>
        </p:spPr>
      </p:sp>
      <p:sp>
        <p:nvSpPr>
          <p:cNvPr id="56" name="Text 49"/>
          <p:cNvSpPr txBox="1"/>
          <p:nvPr/>
        </p:nvSpPr>
        <p:spPr>
          <a:xfrm>
            <a:off x="8115605" y="5349240"/>
            <a:ext cx="1580845" cy="566928"/>
          </a:xfrm>
          <a:prstGeom prst="rect">
            <a:avLst/>
          </a:prstGeom>
          <a:noFill/>
          <a:ln/>
        </p:spPr>
        <p:txBody>
          <a:bodyPr wrap="square" lIns="0" tIns="0" rIns="0" bIns="0" rtlCol="0" anchor="ctr"/>
          <a:lstStyle/>
          <a:p>
            <a:pPr algn="ctr" indent="0" marL="0">
              <a:buNone/>
            </a:pPr>
            <a:r>
              <a:rPr lang="en-US" sz="1200" b="1" dirty="0">
                <a:solidFill>
                  <a:srgbClr val="D8614F"/>
                </a:solidFill>
                <a:latin typeface="Meiryo UI" pitchFamily="34" charset="0"/>
                <a:ea typeface="Meiryo UI" pitchFamily="34" charset="-122"/>
                <a:cs typeface="Meiryo UI" pitchFamily="34" charset="-120"/>
              </a:rPr>
              <a:t>取りこぼし防止</a:t>
            </a:r>
            <a:endParaRPr lang="en-US" sz="1200" dirty="0"/>
          </a:p>
        </p:txBody>
      </p:sp>
      <p:sp>
        <p:nvSpPr>
          <p:cNvPr id="57" name="Shape 50"/>
          <p:cNvSpPr/>
          <p:nvPr/>
        </p:nvSpPr>
        <p:spPr>
          <a:xfrm>
            <a:off x="9915906" y="1463040"/>
            <a:ext cx="1727149" cy="731520"/>
          </a:xfrm>
          <a:prstGeom prst="roundRect">
            <a:avLst>
              <a:gd name="adj" fmla="val 15000"/>
            </a:avLst>
          </a:prstGeom>
          <a:solidFill>
            <a:srgbClr val="2F7A55"/>
          </a:solidFill>
          <a:ln w="12700">
            <a:solidFill>
              <a:srgbClr val="2F7A55"/>
            </a:solidFill>
            <a:prstDash val="solid"/>
          </a:ln>
        </p:spPr>
      </p:sp>
      <p:sp>
        <p:nvSpPr>
          <p:cNvPr id="58" name="Text 51"/>
          <p:cNvSpPr txBox="1"/>
          <p:nvPr/>
        </p:nvSpPr>
        <p:spPr>
          <a:xfrm>
            <a:off x="9915906" y="1508760"/>
            <a:ext cx="1727149" cy="274320"/>
          </a:xfrm>
          <a:prstGeom prst="rect">
            <a:avLst/>
          </a:prstGeom>
          <a:noFill/>
          <a:ln/>
        </p:spPr>
        <p:txBody>
          <a:bodyPr wrap="square" lIns="0" tIns="0" rIns="0" bIns="0" rtlCol="0" anchor="t"/>
          <a:lstStyle/>
          <a:p>
            <a:pPr algn="ctr" indent="0" marL="0">
              <a:buNone/>
            </a:pPr>
            <a:r>
              <a:rPr lang="en-US" sz="1000" b="1" dirty="0">
                <a:solidFill>
                  <a:srgbClr val="F6B3AA"/>
                </a:solidFill>
                <a:latin typeface="Meiryo UI" pitchFamily="34" charset="0"/>
                <a:ea typeface="Meiryo UI" pitchFamily="34" charset="-122"/>
                <a:cs typeface="Meiryo UI" pitchFamily="34" charset="-120"/>
              </a:rPr>
              <a:t>STEP 6</a:t>
            </a:r>
            <a:endParaRPr lang="en-US" sz="1000" dirty="0"/>
          </a:p>
        </p:txBody>
      </p:sp>
      <p:sp>
        <p:nvSpPr>
          <p:cNvPr id="59" name="Text 52"/>
          <p:cNvSpPr txBox="1"/>
          <p:nvPr/>
        </p:nvSpPr>
        <p:spPr>
          <a:xfrm>
            <a:off x="9915906" y="1764792"/>
            <a:ext cx="1727149"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定期接点</a:t>
            </a:r>
            <a:endParaRPr lang="en-US" sz="1400" dirty="0"/>
          </a:p>
        </p:txBody>
      </p:sp>
      <p:sp>
        <p:nvSpPr>
          <p:cNvPr id="60" name="Shape 53"/>
          <p:cNvSpPr/>
          <p:nvPr/>
        </p:nvSpPr>
        <p:spPr>
          <a:xfrm>
            <a:off x="9915906" y="2606040"/>
            <a:ext cx="1727149" cy="731520"/>
          </a:xfrm>
          <a:prstGeom prst="roundRect">
            <a:avLst>
              <a:gd name="adj" fmla="val 15000"/>
            </a:avLst>
          </a:prstGeom>
          <a:solidFill>
            <a:srgbClr val="EEF0EF"/>
          </a:solidFill>
          <a:ln w="12700">
            <a:solidFill>
              <a:srgbClr val="EEF0EF"/>
            </a:solidFill>
            <a:prstDash val="solid"/>
          </a:ln>
        </p:spPr>
      </p:sp>
      <p:sp>
        <p:nvSpPr>
          <p:cNvPr id="61" name="Text 54"/>
          <p:cNvSpPr txBox="1"/>
          <p:nvPr/>
        </p:nvSpPr>
        <p:spPr>
          <a:xfrm>
            <a:off x="10025634" y="2606040"/>
            <a:ext cx="1507693" cy="731520"/>
          </a:xfrm>
          <a:prstGeom prst="rect">
            <a:avLst/>
          </a:prstGeom>
          <a:noFill/>
          <a:ln/>
        </p:spPr>
        <p:txBody>
          <a:bodyPr wrap="square" lIns="0" tIns="0" rIns="0" bIns="0" rtlCol="0" anchor="ctr"/>
          <a:lstStyle/>
          <a:p>
            <a:pPr algn="ctr" indent="0" marL="0">
              <a:buNone/>
            </a:pPr>
            <a:r>
              <a:rPr lang="en-US" sz="1150" dirty="0">
                <a:solidFill>
                  <a:srgbClr val="7A8580"/>
                </a:solidFill>
                <a:latin typeface="Meiryo UI" pitchFamily="34" charset="0"/>
                <a:ea typeface="Meiryo UI" pitchFamily="34" charset="-122"/>
                <a:cs typeface="Meiryo UI" pitchFamily="34" charset="-120"/>
              </a:rPr>
              <a:t>サロン・SNSの不定期投稿</a:t>
            </a:r>
            <a:endParaRPr lang="en-US" sz="1150" dirty="0"/>
          </a:p>
        </p:txBody>
      </p:sp>
      <p:pic>
        <p:nvPicPr>
          <p:cNvPr id="62" name="Image 5" descr="preencoded.png">    </p:cNvPr>
          <p:cNvPicPr>
            <a:picLocks noChangeAspect="1"/>
          </p:cNvPicPr>
          <p:nvPr/>
        </p:nvPicPr>
        <p:blipFill>
          <a:blip r:embed="rId6"/>
          <a:stretch>
            <a:fillRect/>
          </a:stretch>
        </p:blipFill>
        <p:spPr>
          <a:xfrm>
            <a:off x="11231575" y="3456432"/>
            <a:ext cx="256032" cy="256032"/>
          </a:xfrm>
          <a:prstGeom prst="rect">
            <a:avLst/>
          </a:prstGeom>
        </p:spPr>
      </p:pic>
      <p:sp>
        <p:nvSpPr>
          <p:cNvPr id="63" name="Shape 55"/>
          <p:cNvSpPr/>
          <p:nvPr/>
        </p:nvSpPr>
        <p:spPr>
          <a:xfrm>
            <a:off x="9915906" y="3794760"/>
            <a:ext cx="1727149" cy="1417320"/>
          </a:xfrm>
          <a:prstGeom prst="roundRect">
            <a:avLst>
              <a:gd name="adj" fmla="val 7742"/>
            </a:avLst>
          </a:prstGeom>
          <a:solidFill>
            <a:srgbClr val="EAF4EE"/>
          </a:solidFill>
          <a:ln w="12700">
            <a:solidFill>
              <a:srgbClr val="EAF4EE"/>
            </a:solidFill>
            <a:prstDash val="solid"/>
          </a:ln>
        </p:spPr>
      </p:sp>
      <p:sp>
        <p:nvSpPr>
          <p:cNvPr id="64" name="Text 56"/>
          <p:cNvSpPr txBox="1"/>
          <p:nvPr/>
        </p:nvSpPr>
        <p:spPr>
          <a:xfrm>
            <a:off x="10043922" y="3858768"/>
            <a:ext cx="1471117" cy="1298448"/>
          </a:xfrm>
          <a:prstGeom prst="rect">
            <a:avLst/>
          </a:prstGeom>
          <a:noFill/>
          <a:ln/>
        </p:spPr>
        <p:txBody>
          <a:bodyPr wrap="square" lIns="0" tIns="0" rIns="0" bIns="0" rtlCol="0" anchor="ctr"/>
          <a:lstStyle/>
          <a:p>
            <a:pPr indent="0" marL="0">
              <a:buNone/>
            </a:pPr>
            <a:r>
              <a:rPr lang="en-US" sz="1200" b="1" dirty="0">
                <a:solidFill>
                  <a:srgbClr val="1D4A35"/>
                </a:solidFill>
                <a:latin typeface="Meiryo UI" pitchFamily="34" charset="0"/>
                <a:ea typeface="Meiryo UI" pitchFamily="34" charset="-122"/>
                <a:cs typeface="Meiryo UI" pitchFamily="34" charset="-120"/>
              </a:rPr>
              <a:t>月2回の動画配信（学習・子育てのヒント）</a:t>
            </a:r>
            <a:endParaRPr lang="en-US" sz="1200" dirty="0"/>
          </a:p>
        </p:txBody>
      </p:sp>
      <p:sp>
        <p:nvSpPr>
          <p:cNvPr id="65" name="Shape 57"/>
          <p:cNvSpPr/>
          <p:nvPr/>
        </p:nvSpPr>
        <p:spPr>
          <a:xfrm>
            <a:off x="9915906" y="5349240"/>
            <a:ext cx="1727149" cy="566928"/>
          </a:xfrm>
          <a:prstGeom prst="roundRect">
            <a:avLst>
              <a:gd name="adj" fmla="val 19355"/>
            </a:avLst>
          </a:prstGeom>
          <a:solidFill>
            <a:srgbClr val="FDECEA"/>
          </a:solidFill>
          <a:ln w="12700">
            <a:solidFill>
              <a:srgbClr val="FDECEA"/>
            </a:solidFill>
            <a:prstDash val="solid"/>
          </a:ln>
        </p:spPr>
      </p:sp>
      <p:sp>
        <p:nvSpPr>
          <p:cNvPr id="66" name="Text 58"/>
          <p:cNvSpPr txBox="1"/>
          <p:nvPr/>
        </p:nvSpPr>
        <p:spPr>
          <a:xfrm>
            <a:off x="9989058" y="5349240"/>
            <a:ext cx="1580845" cy="566928"/>
          </a:xfrm>
          <a:prstGeom prst="rect">
            <a:avLst/>
          </a:prstGeom>
          <a:noFill/>
          <a:ln/>
        </p:spPr>
        <p:txBody>
          <a:bodyPr wrap="square" lIns="0" tIns="0" rIns="0" bIns="0" rtlCol="0" anchor="ctr"/>
          <a:lstStyle/>
          <a:p>
            <a:pPr algn="ctr" indent="0" marL="0">
              <a:buNone/>
            </a:pPr>
            <a:r>
              <a:rPr lang="en-US" sz="1200" b="1" dirty="0">
                <a:solidFill>
                  <a:srgbClr val="D8614F"/>
                </a:solidFill>
                <a:latin typeface="Meiryo UI" pitchFamily="34" charset="0"/>
                <a:ea typeface="Meiryo UI" pitchFamily="34" charset="-122"/>
                <a:cs typeface="Meiryo UI" pitchFamily="34" charset="-120"/>
              </a:rPr>
              <a:t>紹介・講座申込が継続</a:t>
            </a:r>
            <a:endParaRPr lang="en-US" sz="1200" dirty="0"/>
          </a:p>
        </p:txBody>
      </p:sp>
      <p:sp>
        <p:nvSpPr>
          <p:cNvPr id="67" name="Text 59"/>
          <p:cNvSpPr txBox="1"/>
          <p:nvPr/>
        </p:nvSpPr>
        <p:spPr>
          <a:xfrm>
            <a:off x="548640" y="3474720"/>
            <a:ext cx="1828800" cy="274320"/>
          </a:xfrm>
          <a:prstGeom prst="rect">
            <a:avLst/>
          </a:prstGeom>
          <a:noFill/>
          <a:ln/>
        </p:spPr>
        <p:txBody>
          <a:bodyPr wrap="square" lIns="0" tIns="0" rIns="0" bIns="0" rtlCol="0" anchor="t"/>
          <a:lstStyle/>
          <a:p>
            <a:pPr indent="0" marL="0">
              <a:buNone/>
            </a:pPr>
            <a:r>
              <a:rPr lang="en-US" sz="1050" b="1" dirty="0">
                <a:solidFill>
                  <a:srgbClr val="2F7A55"/>
                </a:solidFill>
                <a:latin typeface="Meiryo UI" pitchFamily="34" charset="0"/>
                <a:ea typeface="Meiryo UI" pitchFamily="34" charset="-122"/>
                <a:cs typeface="Meiryo UI" pitchFamily="34" charset="-120"/>
              </a:rPr>
              <a:t>MiTok導入後</a:t>
            </a:r>
            <a:endParaRPr lang="en-US" sz="1050" dirty="0"/>
          </a:p>
        </p:txBody>
      </p:sp>
      <p:sp>
        <p:nvSpPr>
          <p:cNvPr id="68" name="Text 60"/>
          <p:cNvSpPr txBox="1"/>
          <p:nvPr/>
        </p:nvSpPr>
        <p:spPr>
          <a:xfrm>
            <a:off x="548640" y="5961888"/>
            <a:ext cx="1828800" cy="274320"/>
          </a:xfrm>
          <a:prstGeom prst="rect">
            <a:avLst/>
          </a:prstGeom>
          <a:noFill/>
          <a:ln/>
        </p:spPr>
        <p:txBody>
          <a:bodyPr wrap="square" lIns="0" tIns="0" rIns="0" bIns="0" rtlCol="0" anchor="t"/>
          <a:lstStyle/>
          <a:p>
            <a:pPr indent="0" marL="0">
              <a:buNone/>
            </a:pPr>
            <a:r>
              <a:rPr lang="en-US" sz="1050" b="1" dirty="0">
                <a:solidFill>
                  <a:srgbClr val="D8614F"/>
                </a:solidFill>
                <a:latin typeface="Meiryo UI" pitchFamily="34" charset="0"/>
                <a:ea typeface="Meiryo UI" pitchFamily="34" charset="-122"/>
                <a:cs typeface="Meiryo UI" pitchFamily="34" charset="-120"/>
              </a:rPr>
              <a:t>期待効果</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8614F"/>
                </a:solidFill>
                <a:latin typeface="Meiryo UI" pitchFamily="34" charset="0"/>
                <a:ea typeface="Meiryo UI" pitchFamily="34" charset="-122"/>
                <a:cs typeface="Meiryo UI" pitchFamily="34" charset="-120"/>
              </a:rPr>
              <a:t>03｜PUSH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2F7A55"/>
                </a:solidFill>
                <a:latin typeface="Meiryo UI" pitchFamily="34" charset="0"/>
                <a:ea typeface="Meiryo UI" pitchFamily="34" charset="-122"/>
                <a:cs typeface="Meiryo UI" pitchFamily="34" charset="-120"/>
              </a:rPr>
              <a:t>代表の負担を減らしながら、成果を上げる仕組み</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0"/>
                </a:solidFill>
                <a:latin typeface="Meiryo UI" pitchFamily="34" charset="0"/>
                <a:ea typeface="Meiryo UI" pitchFamily="34" charset="-122"/>
                <a:cs typeface="Meiryo UI" pitchFamily="34" charset="-120"/>
              </a:rPr>
              <a:t>10</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0"/>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463040"/>
            <a:ext cx="5212080"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749808" y="1664208"/>
            <a:ext cx="621792" cy="621792"/>
          </a:xfrm>
          <a:prstGeom prst="ellipse">
            <a:avLst/>
          </a:prstGeom>
          <a:solidFill>
            <a:srgbClr val="2F7A55"/>
          </a:solidFill>
          <a:ln w="12700">
            <a:solidFill>
              <a:srgbClr val="2F7A55"/>
            </a:solidFill>
            <a:prstDash val="solid"/>
          </a:ln>
        </p:spPr>
      </p:sp>
      <p:pic>
        <p:nvPicPr>
          <p:cNvPr id="8" name="Image 0" descr="preencoded.png">    </p:cNvPr>
          <p:cNvPicPr>
            <a:picLocks noChangeAspect="1"/>
          </p:cNvPicPr>
          <p:nvPr/>
        </p:nvPicPr>
        <p:blipFill>
          <a:blip r:embed="rId1"/>
          <a:stretch>
            <a:fillRect/>
          </a:stretch>
        </p:blipFill>
        <p:spPr>
          <a:xfrm>
            <a:off x="911474" y="1825874"/>
            <a:ext cx="298460" cy="298460"/>
          </a:xfrm>
          <a:prstGeom prst="rect">
            <a:avLst/>
          </a:prstGeom>
        </p:spPr>
      </p:pic>
      <p:sp>
        <p:nvSpPr>
          <p:cNvPr id="9" name="Text 6"/>
          <p:cNvSpPr txBox="1"/>
          <p:nvPr/>
        </p:nvSpPr>
        <p:spPr>
          <a:xfrm>
            <a:off x="1554480" y="1591056"/>
            <a:ext cx="4023360" cy="320040"/>
          </a:xfrm>
          <a:prstGeom prst="rect">
            <a:avLst/>
          </a:prstGeom>
          <a:noFill/>
          <a:ln/>
        </p:spPr>
        <p:txBody>
          <a:bodyPr wrap="square" lIns="0" tIns="0" rIns="0" bIns="0" rtlCol="0" anchor="t"/>
          <a:lstStyle/>
          <a:p>
            <a:pPr indent="0" marL="0">
              <a:buNone/>
            </a:pPr>
            <a:r>
              <a:rPr lang="en-US" sz="1400" b="1" dirty="0">
                <a:solidFill>
                  <a:srgbClr val="2F7A55"/>
                </a:solidFill>
                <a:latin typeface="Meiryo UI" pitchFamily="34" charset="0"/>
                <a:ea typeface="Meiryo UI" pitchFamily="34" charset="-122"/>
                <a:cs typeface="Meiryo UI" pitchFamily="34" charset="-120"/>
              </a:rPr>
              <a:t>説明の自動化</a:t>
            </a:r>
            <a:endParaRPr lang="en-US" sz="1400" dirty="0"/>
          </a:p>
        </p:txBody>
      </p:sp>
      <p:sp>
        <p:nvSpPr>
          <p:cNvPr id="10" name="Text 7"/>
          <p:cNvSpPr txBox="1"/>
          <p:nvPr/>
        </p:nvSpPr>
        <p:spPr>
          <a:xfrm>
            <a:off x="1554480" y="1920240"/>
            <a:ext cx="4069080" cy="502920"/>
          </a:xfrm>
          <a:prstGeom prst="rect">
            <a:avLst/>
          </a:prstGeom>
          <a:noFill/>
          <a:ln/>
        </p:spPr>
        <p:txBody>
          <a:bodyPr wrap="square" lIns="0" tIns="0" rIns="0" bIns="0" rtlCol="0" anchor="t"/>
          <a:lstStyle/>
          <a:p>
            <a:pPr indent="0" marL="0">
              <a:buNone/>
            </a:pPr>
            <a:r>
              <a:rPr lang="en-US" sz="1150" dirty="0">
                <a:solidFill>
                  <a:srgbClr val="2A3330"/>
                </a:solidFill>
                <a:latin typeface="Meiryo UI" pitchFamily="34" charset="0"/>
                <a:ea typeface="Meiryo UI" pitchFamily="34" charset="-122"/>
                <a:cs typeface="Meiryo UI" pitchFamily="34" charset="-120"/>
              </a:rPr>
              <a:t>講演会や相談で繰り返す「考え方」「サービス説明」は動画に任せ、代表は個別の対話に集中</a:t>
            </a:r>
            <a:endParaRPr lang="en-US" sz="1150" dirty="0"/>
          </a:p>
        </p:txBody>
      </p:sp>
      <p:sp>
        <p:nvSpPr>
          <p:cNvPr id="11" name="Shape 8"/>
          <p:cNvSpPr/>
          <p:nvPr/>
        </p:nvSpPr>
        <p:spPr>
          <a:xfrm>
            <a:off x="548640" y="2633472"/>
            <a:ext cx="5212080"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2" name="Shape 9"/>
          <p:cNvSpPr/>
          <p:nvPr/>
        </p:nvSpPr>
        <p:spPr>
          <a:xfrm>
            <a:off x="749808" y="2834640"/>
            <a:ext cx="621792" cy="621792"/>
          </a:xfrm>
          <a:prstGeom prst="ellipse">
            <a:avLst/>
          </a:prstGeom>
          <a:solidFill>
            <a:srgbClr val="2F7A55"/>
          </a:solidFill>
          <a:ln w="12700">
            <a:solidFill>
              <a:srgbClr val="2F7A55"/>
            </a:solidFill>
            <a:prstDash val="solid"/>
          </a:ln>
        </p:spPr>
      </p:sp>
      <p:pic>
        <p:nvPicPr>
          <p:cNvPr id="13" name="Image 1" descr="preencoded.png">    </p:cNvPr>
          <p:cNvPicPr>
            <a:picLocks noChangeAspect="1"/>
          </p:cNvPicPr>
          <p:nvPr/>
        </p:nvPicPr>
        <p:blipFill>
          <a:blip r:embed="rId2"/>
          <a:stretch>
            <a:fillRect/>
          </a:stretch>
        </p:blipFill>
        <p:spPr>
          <a:xfrm>
            <a:off x="911474" y="2996306"/>
            <a:ext cx="298460" cy="298460"/>
          </a:xfrm>
          <a:prstGeom prst="rect">
            <a:avLst/>
          </a:prstGeom>
        </p:spPr>
      </p:pic>
      <p:sp>
        <p:nvSpPr>
          <p:cNvPr id="14" name="Text 10"/>
          <p:cNvSpPr txBox="1"/>
          <p:nvPr/>
        </p:nvSpPr>
        <p:spPr>
          <a:xfrm>
            <a:off x="1554480" y="2761488"/>
            <a:ext cx="4023360" cy="320040"/>
          </a:xfrm>
          <a:prstGeom prst="rect">
            <a:avLst/>
          </a:prstGeom>
          <a:noFill/>
          <a:ln/>
        </p:spPr>
        <p:txBody>
          <a:bodyPr wrap="square" lIns="0" tIns="0" rIns="0" bIns="0" rtlCol="0" anchor="t"/>
          <a:lstStyle/>
          <a:p>
            <a:pPr indent="0" marL="0">
              <a:buNone/>
            </a:pPr>
            <a:r>
              <a:rPr lang="en-US" sz="1400" b="1" dirty="0">
                <a:solidFill>
                  <a:srgbClr val="2F7A55"/>
                </a:solidFill>
                <a:latin typeface="Meiryo UI" pitchFamily="34" charset="0"/>
                <a:ea typeface="Meiryo UI" pitchFamily="34" charset="-122"/>
                <a:cs typeface="Meiryo UI" pitchFamily="34" charset="-120"/>
              </a:rPr>
              <a:t>集客の型化</a:t>
            </a:r>
            <a:endParaRPr lang="en-US" sz="1400" dirty="0"/>
          </a:p>
        </p:txBody>
      </p:sp>
      <p:sp>
        <p:nvSpPr>
          <p:cNvPr id="15" name="Text 11"/>
          <p:cNvSpPr txBox="1"/>
          <p:nvPr/>
        </p:nvSpPr>
        <p:spPr>
          <a:xfrm>
            <a:off x="1554480" y="3090672"/>
            <a:ext cx="4069080" cy="502920"/>
          </a:xfrm>
          <a:prstGeom prst="rect">
            <a:avLst/>
          </a:prstGeom>
          <a:noFill/>
          <a:ln/>
        </p:spPr>
        <p:txBody>
          <a:bodyPr wrap="square" lIns="0" tIns="0" rIns="0" bIns="0" rtlCol="0" anchor="t"/>
          <a:lstStyle/>
          <a:p>
            <a:pPr indent="0" marL="0">
              <a:buNone/>
            </a:pPr>
            <a:r>
              <a:rPr lang="en-US" sz="1150" dirty="0">
                <a:solidFill>
                  <a:srgbClr val="2A3330"/>
                </a:solidFill>
                <a:latin typeface="Meiryo UI" pitchFamily="34" charset="0"/>
                <a:ea typeface="Meiryo UI" pitchFamily="34" charset="-122"/>
                <a:cs typeface="Meiryo UI" pitchFamily="34" charset="-120"/>
              </a:rPr>
              <a:t>送る動画・タイミング・LINE文面をテンプレート化し、在宅スタッフでも回せる仕組みに</a:t>
            </a:r>
            <a:endParaRPr lang="en-US" sz="1150" dirty="0"/>
          </a:p>
        </p:txBody>
      </p:sp>
      <p:sp>
        <p:nvSpPr>
          <p:cNvPr id="16" name="Shape 12"/>
          <p:cNvSpPr/>
          <p:nvPr/>
        </p:nvSpPr>
        <p:spPr>
          <a:xfrm>
            <a:off x="548640" y="3803904"/>
            <a:ext cx="5212080"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7" name="Shape 13"/>
          <p:cNvSpPr/>
          <p:nvPr/>
        </p:nvSpPr>
        <p:spPr>
          <a:xfrm>
            <a:off x="749808" y="4005072"/>
            <a:ext cx="621792" cy="621792"/>
          </a:xfrm>
          <a:prstGeom prst="ellipse">
            <a:avLst/>
          </a:prstGeom>
          <a:solidFill>
            <a:srgbClr val="2F7A55"/>
          </a:solidFill>
          <a:ln w="12700">
            <a:solidFill>
              <a:srgbClr val="2F7A55"/>
            </a:solidFill>
            <a:prstDash val="solid"/>
          </a:ln>
        </p:spPr>
      </p:sp>
      <p:pic>
        <p:nvPicPr>
          <p:cNvPr id="18" name="Image 2" descr="preencoded.png">    </p:cNvPr>
          <p:cNvPicPr>
            <a:picLocks noChangeAspect="1"/>
          </p:cNvPicPr>
          <p:nvPr/>
        </p:nvPicPr>
        <p:blipFill>
          <a:blip r:embed="rId3"/>
          <a:stretch>
            <a:fillRect/>
          </a:stretch>
        </p:blipFill>
        <p:spPr>
          <a:xfrm>
            <a:off x="911474" y="4166738"/>
            <a:ext cx="298460" cy="298460"/>
          </a:xfrm>
          <a:prstGeom prst="rect">
            <a:avLst/>
          </a:prstGeom>
        </p:spPr>
      </p:pic>
      <p:sp>
        <p:nvSpPr>
          <p:cNvPr id="19" name="Text 14"/>
          <p:cNvSpPr txBox="1"/>
          <p:nvPr/>
        </p:nvSpPr>
        <p:spPr>
          <a:xfrm>
            <a:off x="1554480" y="3931920"/>
            <a:ext cx="4023360" cy="320040"/>
          </a:xfrm>
          <a:prstGeom prst="rect">
            <a:avLst/>
          </a:prstGeom>
          <a:noFill/>
          <a:ln/>
        </p:spPr>
        <p:txBody>
          <a:bodyPr wrap="square" lIns="0" tIns="0" rIns="0" bIns="0" rtlCol="0" anchor="t"/>
          <a:lstStyle/>
          <a:p>
            <a:pPr indent="0" marL="0">
              <a:buNone/>
            </a:pPr>
            <a:r>
              <a:rPr lang="en-US" sz="1400" b="1" dirty="0">
                <a:solidFill>
                  <a:srgbClr val="2F7A55"/>
                </a:solidFill>
                <a:latin typeface="Meiryo UI" pitchFamily="34" charset="0"/>
                <a:ea typeface="Meiryo UI" pitchFamily="34" charset="-122"/>
                <a:cs typeface="Meiryo UI" pitchFamily="34" charset="-120"/>
              </a:rPr>
              <a:t>反応の可視化</a:t>
            </a:r>
            <a:endParaRPr lang="en-US" sz="1400" dirty="0"/>
          </a:p>
        </p:txBody>
      </p:sp>
      <p:sp>
        <p:nvSpPr>
          <p:cNvPr id="20" name="Text 15"/>
          <p:cNvSpPr txBox="1"/>
          <p:nvPr/>
        </p:nvSpPr>
        <p:spPr>
          <a:xfrm>
            <a:off x="1554480" y="4261104"/>
            <a:ext cx="4069080" cy="502920"/>
          </a:xfrm>
          <a:prstGeom prst="rect">
            <a:avLst/>
          </a:prstGeom>
          <a:noFill/>
          <a:ln/>
        </p:spPr>
        <p:txBody>
          <a:bodyPr wrap="square" lIns="0" tIns="0" rIns="0" bIns="0" rtlCol="0" anchor="t"/>
          <a:lstStyle/>
          <a:p>
            <a:pPr indent="0" marL="0">
              <a:buNone/>
            </a:pPr>
            <a:r>
              <a:rPr lang="en-US" sz="1150" dirty="0">
                <a:solidFill>
                  <a:srgbClr val="2A3330"/>
                </a:solidFill>
                <a:latin typeface="Meiryo UI" pitchFamily="34" charset="0"/>
                <a:ea typeface="Meiryo UI" pitchFamily="34" charset="-122"/>
                <a:cs typeface="Meiryo UI" pitchFamily="34" charset="-120"/>
              </a:rPr>
              <a:t>視聴・LINE登録・相談申込を計測し、反応の良いテーマの動画を増やす</a:t>
            </a:r>
            <a:endParaRPr lang="en-US" sz="1150" dirty="0"/>
          </a:p>
        </p:txBody>
      </p:sp>
      <p:sp>
        <p:nvSpPr>
          <p:cNvPr id="21" name="Shape 16"/>
          <p:cNvSpPr/>
          <p:nvPr/>
        </p:nvSpPr>
        <p:spPr>
          <a:xfrm>
            <a:off x="548640" y="4974336"/>
            <a:ext cx="5212080"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2" name="Shape 17"/>
          <p:cNvSpPr/>
          <p:nvPr/>
        </p:nvSpPr>
        <p:spPr>
          <a:xfrm>
            <a:off x="749808" y="5175504"/>
            <a:ext cx="621792" cy="621792"/>
          </a:xfrm>
          <a:prstGeom prst="ellipse">
            <a:avLst/>
          </a:prstGeom>
          <a:solidFill>
            <a:srgbClr val="2F7A55"/>
          </a:solidFill>
          <a:ln w="12700">
            <a:solidFill>
              <a:srgbClr val="2F7A55"/>
            </a:solidFill>
            <a:prstDash val="solid"/>
          </a:ln>
        </p:spPr>
      </p:sp>
      <p:pic>
        <p:nvPicPr>
          <p:cNvPr id="23" name="Image 3" descr="preencoded.png">    </p:cNvPr>
          <p:cNvPicPr>
            <a:picLocks noChangeAspect="1"/>
          </p:cNvPicPr>
          <p:nvPr/>
        </p:nvPicPr>
        <p:blipFill>
          <a:blip r:embed="rId4"/>
          <a:stretch>
            <a:fillRect/>
          </a:stretch>
        </p:blipFill>
        <p:spPr>
          <a:xfrm>
            <a:off x="911474" y="5337170"/>
            <a:ext cx="298460" cy="298460"/>
          </a:xfrm>
          <a:prstGeom prst="rect">
            <a:avLst/>
          </a:prstGeom>
        </p:spPr>
      </p:pic>
      <p:sp>
        <p:nvSpPr>
          <p:cNvPr id="24" name="Text 18"/>
          <p:cNvSpPr txBox="1"/>
          <p:nvPr/>
        </p:nvSpPr>
        <p:spPr>
          <a:xfrm>
            <a:off x="1554480" y="5102352"/>
            <a:ext cx="4023360" cy="320040"/>
          </a:xfrm>
          <a:prstGeom prst="rect">
            <a:avLst/>
          </a:prstGeom>
          <a:noFill/>
          <a:ln/>
        </p:spPr>
        <p:txBody>
          <a:bodyPr wrap="square" lIns="0" tIns="0" rIns="0" bIns="0" rtlCol="0" anchor="t"/>
          <a:lstStyle/>
          <a:p>
            <a:pPr indent="0" marL="0">
              <a:buNone/>
            </a:pPr>
            <a:r>
              <a:rPr lang="en-US" sz="1400" b="1" dirty="0">
                <a:solidFill>
                  <a:srgbClr val="2F7A55"/>
                </a:solidFill>
                <a:latin typeface="Meiryo UI" pitchFamily="34" charset="0"/>
                <a:ea typeface="Meiryo UI" pitchFamily="34" charset="-122"/>
                <a:cs typeface="Meiryo UI" pitchFamily="34" charset="-120"/>
              </a:rPr>
              <a:t>口コミの“バトン”化</a:t>
            </a:r>
            <a:endParaRPr lang="en-US" sz="1400" dirty="0"/>
          </a:p>
        </p:txBody>
      </p:sp>
      <p:sp>
        <p:nvSpPr>
          <p:cNvPr id="25" name="Text 19"/>
          <p:cNvSpPr txBox="1"/>
          <p:nvPr/>
        </p:nvSpPr>
        <p:spPr>
          <a:xfrm>
            <a:off x="1554480" y="5431536"/>
            <a:ext cx="4069080" cy="502920"/>
          </a:xfrm>
          <a:prstGeom prst="rect">
            <a:avLst/>
          </a:prstGeom>
          <a:noFill/>
          <a:ln/>
        </p:spPr>
        <p:txBody>
          <a:bodyPr wrap="square" lIns="0" tIns="0" rIns="0" bIns="0" rtlCol="0" anchor="t"/>
          <a:lstStyle/>
          <a:p>
            <a:pPr indent="0" marL="0">
              <a:buNone/>
            </a:pPr>
            <a:r>
              <a:rPr lang="en-US" sz="1150" dirty="0">
                <a:solidFill>
                  <a:srgbClr val="2A3330"/>
                </a:solidFill>
                <a:latin typeface="Meiryo UI" pitchFamily="34" charset="0"/>
                <a:ea typeface="Meiryo UI" pitchFamily="34" charset="-122"/>
                <a:cs typeface="Meiryo UI" pitchFamily="34" charset="-120"/>
              </a:rPr>
              <a:t>お母さんが知人に転送しやすい動画で、口コミを地域の外へ広げる</a:t>
            </a:r>
            <a:endParaRPr lang="en-US" sz="1150" dirty="0"/>
          </a:p>
        </p:txBody>
      </p:sp>
      <p:sp>
        <p:nvSpPr>
          <p:cNvPr id="26" name="Text 20"/>
          <p:cNvSpPr txBox="1"/>
          <p:nvPr/>
        </p:nvSpPr>
        <p:spPr>
          <a:xfrm>
            <a:off x="6172200" y="1463040"/>
            <a:ext cx="4572000" cy="365760"/>
          </a:xfrm>
          <a:prstGeom prst="rect">
            <a:avLst/>
          </a:prstGeom>
          <a:noFill/>
          <a:ln/>
        </p:spPr>
        <p:txBody>
          <a:bodyPr wrap="square" lIns="0" tIns="0" rIns="0" bIns="0" rtlCol="0" anchor="t"/>
          <a:lstStyle/>
          <a:p>
            <a:pPr indent="0" marL="0">
              <a:buNone/>
            </a:pPr>
            <a:r>
              <a:rPr lang="en-US" sz="1500" b="1" dirty="0">
                <a:solidFill>
                  <a:srgbClr val="D8614F"/>
                </a:solidFill>
                <a:latin typeface="Meiryo UI" pitchFamily="34" charset="0"/>
                <a:ea typeface="Meiryo UI" pitchFamily="34" charset="-122"/>
                <a:cs typeface="Meiryo UI" pitchFamily="34" charset="-120"/>
              </a:rPr>
              <a:t>プッシュ施策のKPI（例）</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172200" y="1920240"/>
          <a:ext cx="5468112" cy="914400"/>
        </p:xfrm>
        <a:graphic>
          <a:graphicData uri="http://schemas.openxmlformats.org/drawingml/2006/table">
            <a:tbl>
              <a:tblPr/>
              <a:tblGrid>
                <a:gridCol w="1600200"/>
                <a:gridCol w="2423160"/>
                <a:gridCol w="1444752"/>
              </a:tblGrid>
              <a:tr h="566928">
                <a:tc>
                  <a:txBody>
                    <a:bodyPr/>
                    <a:lstStyle/>
                    <a:p>
                      <a:pPr indent="0" marL="0">
                        <a:buNone/>
                      </a:pPr>
                      <a:r>
                        <a:rPr lang="en-US" sz="1200" b="1" dirty="0">
                          <a:solidFill>
                            <a:srgbClr val="FFFFFF"/>
                          </a:solidFill>
                          <a:latin typeface="Meiryo UI" pitchFamily="34" charset="0"/>
                          <a:ea typeface="Meiryo UI" pitchFamily="34" charset="-122"/>
                          <a:cs typeface="Meiryo UI" pitchFamily="34" charset="-120"/>
                        </a:rPr>
                        <a:t>指標</a:t>
                      </a:r>
                      <a:endParaRPr lang="en-US" sz="120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2F7A55"/>
                    </a:solidFill>
                  </a:tcPr>
                </a:tc>
                <a:tc>
                  <a:txBody>
                    <a:bodyPr/>
                    <a:lstStyle/>
                    <a:p>
                      <a:pPr indent="0" marL="0">
                        <a:buNone/>
                      </a:pPr>
                      <a:r>
                        <a:rPr lang="en-US" sz="1200" b="1" dirty="0">
                          <a:solidFill>
                            <a:srgbClr val="FFFFFF"/>
                          </a:solidFill>
                          <a:latin typeface="Meiryo UI" pitchFamily="34" charset="0"/>
                          <a:ea typeface="Meiryo UI" pitchFamily="34" charset="-122"/>
                          <a:cs typeface="Meiryo UI" pitchFamily="34" charset="-120"/>
                        </a:rPr>
                        <a:t>定義</a:t>
                      </a:r>
                      <a:endParaRPr lang="en-US" sz="120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2F7A55"/>
                    </a:solidFill>
                  </a:tcPr>
                </a:tc>
                <a:tc>
                  <a:txBody>
                    <a:bodyPr/>
                    <a:lstStyle/>
                    <a:p>
                      <a:pPr indent="0" marL="0">
                        <a:buNone/>
                      </a:pPr>
                      <a:r>
                        <a:rPr lang="en-US" sz="1200" b="1" dirty="0">
                          <a:solidFill>
                            <a:srgbClr val="FFFFFF"/>
                          </a:solidFill>
                          <a:latin typeface="Meiryo UI" pitchFamily="34" charset="0"/>
                          <a:ea typeface="Meiryo UI" pitchFamily="34" charset="-122"/>
                          <a:cs typeface="Meiryo UI" pitchFamily="34" charset="-120"/>
                        </a:rPr>
                        <a:t>測定方法</a:t>
                      </a:r>
                      <a:endParaRPr lang="en-US" sz="120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2F7A55"/>
                    </a:solidFill>
                  </a:tcPr>
                </a:tc>
              </a:tr>
              <a:tr h="566928">
                <a:tc>
                  <a:txBody>
                    <a:bodyPr/>
                    <a:lstStyle/>
                    <a:p>
                      <a:pPr indent="0" marL="0">
                        <a:buNone/>
                      </a:pPr>
                      <a:r>
                        <a:rPr lang="en-US" sz="1150" b="1" dirty="0">
                          <a:solidFill>
                            <a:srgbClr val="2F7A55"/>
                          </a:solidFill>
                          <a:latin typeface="Meiryo UI" pitchFamily="34" charset="0"/>
                          <a:ea typeface="Meiryo UI" pitchFamily="34" charset="-122"/>
                          <a:cs typeface="Meiryo UI" pitchFamily="34" charset="-120"/>
                        </a:rPr>
                        <a:t>講演後LINE登録率</a:t>
                      </a:r>
                      <a:endParaRPr lang="en-US" sz="115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FFFFF"/>
                    </a:solidFill>
                  </a:tcPr>
                </a:tc>
                <a:tc>
                  <a:txBody>
                    <a:bodyPr/>
                    <a:lstStyle/>
                    <a:p>
                      <a:pPr indent="0" marL="0">
                        <a:buNone/>
                      </a:pPr>
                      <a:r>
                        <a:rPr lang="en-US" sz="1150" dirty="0">
                          <a:solidFill>
                            <a:srgbClr val="2A3330"/>
                          </a:solidFill>
                          <a:latin typeface="Meiryo UI" pitchFamily="34" charset="0"/>
                          <a:ea typeface="Meiryo UI" pitchFamily="34" charset="-122"/>
                          <a:cs typeface="Meiryo UI" pitchFamily="34" charset="-120"/>
                        </a:rPr>
                        <a:t>講演参加者のうちLINE登録した割合</a:t>
                      </a:r>
                      <a:endParaRPr lang="en-US" sz="115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FFFFF"/>
                    </a:solidFill>
                  </a:tcPr>
                </a:tc>
                <a:tc>
                  <a:txBody>
                    <a:bodyPr/>
                    <a:lstStyle/>
                    <a:p>
                      <a:pPr indent="0" marL="0">
                        <a:buNone/>
                      </a:pPr>
                      <a:r>
                        <a:rPr lang="en-US" sz="1150" dirty="0">
                          <a:solidFill>
                            <a:srgbClr val="2A3330"/>
                          </a:solidFill>
                          <a:latin typeface="Meiryo UI" pitchFamily="34" charset="0"/>
                          <a:ea typeface="Meiryo UI" pitchFamily="34" charset="-122"/>
                          <a:cs typeface="Meiryo UI" pitchFamily="34" charset="-120"/>
                        </a:rPr>
                        <a:t>LINE管理画面</a:t>
                      </a:r>
                      <a:endParaRPr lang="en-US" sz="115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2F7A55"/>
                          </a:solidFill>
                          <a:latin typeface="Meiryo UI" pitchFamily="34" charset="0"/>
                          <a:ea typeface="Meiryo UI" pitchFamily="34" charset="-122"/>
                          <a:cs typeface="Meiryo UI" pitchFamily="34" charset="-120"/>
                        </a:rPr>
                        <a:t>動画視聴率</a:t>
                      </a:r>
                      <a:endParaRPr lang="en-US" sz="115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5F9F6"/>
                    </a:solidFill>
                  </a:tcPr>
                </a:tc>
                <a:tc>
                  <a:txBody>
                    <a:bodyPr/>
                    <a:lstStyle/>
                    <a:p>
                      <a:pPr indent="0" marL="0">
                        <a:buNone/>
                      </a:pPr>
                      <a:r>
                        <a:rPr lang="en-US" sz="1150" dirty="0">
                          <a:solidFill>
                            <a:srgbClr val="2A3330"/>
                          </a:solidFill>
                          <a:latin typeface="Meiryo UI" pitchFamily="34" charset="0"/>
                          <a:ea typeface="Meiryo UI" pitchFamily="34" charset="-122"/>
                          <a:cs typeface="Meiryo UI" pitchFamily="34" charset="-120"/>
                        </a:rPr>
                        <a:t>配信数に対する視聴数</a:t>
                      </a:r>
                      <a:endParaRPr lang="en-US" sz="115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5F9F6"/>
                    </a:solidFill>
                  </a:tcPr>
                </a:tc>
                <a:tc>
                  <a:txBody>
                    <a:bodyPr/>
                    <a:lstStyle/>
                    <a:p>
                      <a:pPr indent="0" marL="0">
                        <a:buNone/>
                      </a:pPr>
                      <a:r>
                        <a:rPr lang="en-US" sz="1150" dirty="0">
                          <a:solidFill>
                            <a:srgbClr val="2A3330"/>
                          </a:solidFill>
                          <a:latin typeface="Meiryo UI" pitchFamily="34" charset="0"/>
                          <a:ea typeface="Meiryo UI" pitchFamily="34" charset="-122"/>
                          <a:cs typeface="Meiryo UI" pitchFamily="34" charset="-120"/>
                        </a:rPr>
                        <a:t>URL別アクセス数</a:t>
                      </a:r>
                      <a:endParaRPr lang="en-US" sz="115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5F9F6"/>
                    </a:solidFill>
                  </a:tcPr>
                </a:tc>
              </a:tr>
              <a:tr h="566928">
                <a:tc>
                  <a:txBody>
                    <a:bodyPr/>
                    <a:lstStyle/>
                    <a:p>
                      <a:pPr indent="0" marL="0">
                        <a:buNone/>
                      </a:pPr>
                      <a:r>
                        <a:rPr lang="en-US" sz="1150" b="1" dirty="0">
                          <a:solidFill>
                            <a:srgbClr val="2F7A55"/>
                          </a:solidFill>
                          <a:latin typeface="Meiryo UI" pitchFamily="34" charset="0"/>
                          <a:ea typeface="Meiryo UI" pitchFamily="34" charset="-122"/>
                          <a:cs typeface="Meiryo UI" pitchFamily="34" charset="-120"/>
                        </a:rPr>
                        <a:t>無料相談申込率</a:t>
                      </a:r>
                      <a:endParaRPr lang="en-US" sz="115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FFFFF"/>
                    </a:solidFill>
                  </a:tcPr>
                </a:tc>
                <a:tc>
                  <a:txBody>
                    <a:bodyPr/>
                    <a:lstStyle/>
                    <a:p>
                      <a:pPr indent="0" marL="0">
                        <a:buNone/>
                      </a:pPr>
                      <a:r>
                        <a:rPr lang="en-US" sz="1150" dirty="0">
                          <a:solidFill>
                            <a:srgbClr val="2A3330"/>
                          </a:solidFill>
                          <a:latin typeface="Meiryo UI" pitchFamily="34" charset="0"/>
                          <a:ea typeface="Meiryo UI" pitchFamily="34" charset="-122"/>
                          <a:cs typeface="Meiryo UI" pitchFamily="34" charset="-120"/>
                        </a:rPr>
                        <a:t>LINE登録者のうち相談を申し込んだ割合</a:t>
                      </a:r>
                      <a:endParaRPr lang="en-US" sz="115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FFFFF"/>
                    </a:solidFill>
                  </a:tcPr>
                </a:tc>
                <a:tc>
                  <a:txBody>
                    <a:bodyPr/>
                    <a:lstStyle/>
                    <a:p>
                      <a:pPr indent="0" marL="0">
                        <a:buNone/>
                      </a:pPr>
                      <a:r>
                        <a:rPr lang="en-US" sz="1150" dirty="0">
                          <a:solidFill>
                            <a:srgbClr val="2A3330"/>
                          </a:solidFill>
                          <a:latin typeface="Meiryo UI" pitchFamily="34" charset="0"/>
                          <a:ea typeface="Meiryo UI" pitchFamily="34" charset="-122"/>
                          <a:cs typeface="Meiryo UI" pitchFamily="34" charset="-120"/>
                        </a:rPr>
                        <a:t>申込フォーム</a:t>
                      </a:r>
                      <a:endParaRPr lang="en-US" sz="115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2F7A55"/>
                          </a:solidFill>
                          <a:latin typeface="Meiryo UI" pitchFamily="34" charset="0"/>
                          <a:ea typeface="Meiryo UI" pitchFamily="34" charset="-122"/>
                          <a:cs typeface="Meiryo UI" pitchFamily="34" charset="-120"/>
                        </a:rPr>
                        <a:t>入会率</a:t>
                      </a:r>
                      <a:endParaRPr lang="en-US" sz="115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5F9F6"/>
                    </a:solidFill>
                  </a:tcPr>
                </a:tc>
                <a:tc>
                  <a:txBody>
                    <a:bodyPr/>
                    <a:lstStyle/>
                    <a:p>
                      <a:pPr indent="0" marL="0">
                        <a:buNone/>
                      </a:pPr>
                      <a:r>
                        <a:rPr lang="en-US" sz="1150" dirty="0">
                          <a:solidFill>
                            <a:srgbClr val="2A3330"/>
                          </a:solidFill>
                          <a:latin typeface="Meiryo UI" pitchFamily="34" charset="0"/>
                          <a:ea typeface="Meiryo UI" pitchFamily="34" charset="-122"/>
                          <a:cs typeface="Meiryo UI" pitchFamily="34" charset="-120"/>
                        </a:rPr>
                        <a:t>無料相談からオンライン塾に入会した割合</a:t>
                      </a:r>
                      <a:endParaRPr lang="en-US" sz="115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5F9F6"/>
                    </a:solidFill>
                  </a:tcPr>
                </a:tc>
                <a:tc>
                  <a:txBody>
                    <a:bodyPr/>
                    <a:lstStyle/>
                    <a:p>
                      <a:pPr indent="0" marL="0">
                        <a:buNone/>
                      </a:pPr>
                      <a:r>
                        <a:rPr lang="en-US" sz="1150" dirty="0">
                          <a:solidFill>
                            <a:srgbClr val="2A3330"/>
                          </a:solidFill>
                          <a:latin typeface="Meiryo UI" pitchFamily="34" charset="0"/>
                          <a:ea typeface="Meiryo UI" pitchFamily="34" charset="-122"/>
                          <a:cs typeface="Meiryo UI" pitchFamily="34" charset="-120"/>
                        </a:rPr>
                        <a:t>顧客台帳</a:t>
                      </a:r>
                      <a:endParaRPr lang="en-US" sz="115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5F9F6"/>
                    </a:solidFill>
                  </a:tcPr>
                </a:tc>
              </a:tr>
              <a:tr h="566928">
                <a:tc>
                  <a:txBody>
                    <a:bodyPr/>
                    <a:lstStyle/>
                    <a:p>
                      <a:pPr indent="0" marL="0">
                        <a:buNone/>
                      </a:pPr>
                      <a:r>
                        <a:rPr lang="en-US" sz="1150" b="1" dirty="0">
                          <a:solidFill>
                            <a:srgbClr val="2F7A55"/>
                          </a:solidFill>
                          <a:latin typeface="Meiryo UI" pitchFamily="34" charset="0"/>
                          <a:ea typeface="Meiryo UI" pitchFamily="34" charset="-122"/>
                          <a:cs typeface="Meiryo UI" pitchFamily="34" charset="-120"/>
                        </a:rPr>
                        <a:t>講座申込数</a:t>
                      </a:r>
                      <a:endParaRPr lang="en-US" sz="115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FFFFF"/>
                    </a:solidFill>
                  </a:tcPr>
                </a:tc>
                <a:tc>
                  <a:txBody>
                    <a:bodyPr/>
                    <a:lstStyle/>
                    <a:p>
                      <a:pPr indent="0" marL="0">
                        <a:buNone/>
                      </a:pPr>
                      <a:r>
                        <a:rPr lang="en-US" sz="1150" dirty="0">
                          <a:solidFill>
                            <a:srgbClr val="2A3330"/>
                          </a:solidFill>
                          <a:latin typeface="Meiryo UI" pitchFamily="34" charset="0"/>
                          <a:ea typeface="Meiryo UI" pitchFamily="34" charset="-122"/>
                          <a:cs typeface="Meiryo UI" pitchFamily="34" charset="-120"/>
                        </a:rPr>
                        <a:t>子育て講座への申込数</a:t>
                      </a:r>
                      <a:endParaRPr lang="en-US" sz="115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FFFFF"/>
                    </a:solidFill>
                  </a:tcPr>
                </a:tc>
                <a:tc>
                  <a:txBody>
                    <a:bodyPr/>
                    <a:lstStyle/>
                    <a:p>
                      <a:pPr indent="0" marL="0">
                        <a:buNone/>
                      </a:pPr>
                      <a:r>
                        <a:rPr lang="en-US" sz="1150" dirty="0">
                          <a:solidFill>
                            <a:srgbClr val="2A3330"/>
                          </a:solidFill>
                          <a:latin typeface="Meiryo UI" pitchFamily="34" charset="0"/>
                          <a:ea typeface="Meiryo UI" pitchFamily="34" charset="-122"/>
                          <a:cs typeface="Meiryo UI" pitchFamily="34" charset="-120"/>
                        </a:rPr>
                        <a:t>申込フォーム</a:t>
                      </a:r>
                      <a:endParaRPr lang="en-US" sz="1150" dirty="0">
                        <a:latin typeface="Meiryo UI" charset="0"/>
                        <a:ea typeface="Meiryo UI" charset="0"/>
                        <a:cs typeface="Meiryo UI" charset="0"/>
                      </a:endParaRPr>
                    </a:p>
                  </a:txBody>
                  <a:tcPr marL="91440" marR="91440" marT="45720" marB="45720" anchor="ctr">
                    <a:lnL w="9525" cap="flat" cmpd="sng" algn="ctr">
                      <a:solidFill>
                        <a:srgbClr val="D3E4D9"/>
                      </a:solidFill>
                      <a:prstDash val="solid"/>
                      <a:round/>
                      <a:headEnd type="none" w="med" len="med"/>
                      <a:tailEnd type="none" w="med" len="med"/>
                    </a:lnL>
                    <a:lnR w="9525" cap="flat" cmpd="sng" algn="ctr">
                      <a:solidFill>
                        <a:srgbClr val="D3E4D9"/>
                      </a:solidFill>
                      <a:prstDash val="solid"/>
                      <a:round/>
                      <a:headEnd type="none" w="med" len="med"/>
                      <a:tailEnd type="none" w="med" len="med"/>
                    </a:lnR>
                    <a:lnT w="9525" cap="flat" cmpd="sng" algn="ctr">
                      <a:solidFill>
                        <a:srgbClr val="D3E4D9"/>
                      </a:solidFill>
                      <a:prstDash val="solid"/>
                      <a:round/>
                      <a:headEnd type="none" w="med" len="med"/>
                      <a:tailEnd type="none" w="med" len="med"/>
                    </a:lnT>
                    <a:lnB w="9525" cap="flat" cmpd="sng" algn="ctr">
                      <a:solidFill>
                        <a:srgbClr val="D3E4D9"/>
                      </a:solidFill>
                      <a:prstDash val="solid"/>
                      <a:round/>
                      <a:headEnd type="none" w="med" len="med"/>
                      <a:tailEnd type="none" w="med" len="med"/>
                    </a:lnB>
                    <a:solidFill>
                      <a:srgbClr val="FFFFFF"/>
                    </a:solidFill>
                  </a:tcPr>
                </a:tc>
              </a:tr>
            </a:tbl>
          </a:graphicData>
        </a:graphic>
      </p:graphicFrame>
      <p:sp>
        <p:nvSpPr>
          <p:cNvPr id="28" name="Text 21"/>
          <p:cNvSpPr txBox="1"/>
          <p:nvPr/>
        </p:nvSpPr>
        <p:spPr>
          <a:xfrm>
            <a:off x="6172200" y="5486400"/>
            <a:ext cx="5468112" cy="548640"/>
          </a:xfrm>
          <a:prstGeom prst="rect">
            <a:avLst/>
          </a:prstGeom>
          <a:noFill/>
          <a:ln/>
        </p:spPr>
        <p:txBody>
          <a:bodyPr wrap="square" lIns="0" tIns="0" rIns="0" bIns="0" rtlCol="0" anchor="t"/>
          <a:lstStyle/>
          <a:p>
            <a:pPr indent="0" marL="0">
              <a:buNone/>
            </a:pPr>
            <a:r>
              <a:rPr lang="en-US" sz="1050" dirty="0">
                <a:solidFill>
                  <a:srgbClr val="66786F"/>
                </a:solidFill>
                <a:latin typeface="Meiryo UI" pitchFamily="34" charset="0"/>
                <a:ea typeface="Meiryo UI" pitchFamily="34" charset="-122"/>
                <a:cs typeface="Meiryo UI" pitchFamily="34" charset="-120"/>
              </a:rPr>
              <a:t>※具体的な目標値は、本日伺う現状数値（相談数・入会率・講演会の参加者数など）をもとにフェーズ1開始時に設定します。</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8614F"/>
                </a:solidFill>
                <a:latin typeface="Meiryo UI" pitchFamily="34" charset="0"/>
                <a:ea typeface="Meiryo UI" pitchFamily="34" charset="-122"/>
                <a:cs typeface="Meiryo UI" pitchFamily="34" charset="-120"/>
              </a:rPr>
              <a:t>04｜PULL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2F7A55"/>
                </a:solidFill>
                <a:latin typeface="Meiryo UI" pitchFamily="34" charset="0"/>
                <a:ea typeface="Meiryo UI" pitchFamily="34" charset="-122"/>
                <a:cs typeface="Meiryo UI" pitchFamily="34" charset="-120"/>
              </a:rPr>
              <a:t>プル型Webマーケティング：媒体ごとに役割を分ける</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0"/>
                </a:solidFill>
                <a:latin typeface="Meiryo UI" pitchFamily="34" charset="0"/>
                <a:ea typeface="Meiryo UI" pitchFamily="34" charset="-122"/>
                <a:cs typeface="Meiryo UI" pitchFamily="34" charset="-120"/>
              </a:rPr>
              <a:t>11</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0"/>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417320"/>
            <a:ext cx="3515258" cy="4846320"/>
          </a:xfrm>
          <a:prstGeom prst="roundRect">
            <a:avLst>
              <a:gd name="adj" fmla="val 312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822960" y="1691640"/>
            <a:ext cx="685800" cy="685800"/>
          </a:xfrm>
          <a:prstGeom prst="ellipse">
            <a:avLst/>
          </a:prstGeom>
          <a:solidFill>
            <a:srgbClr val="2F7A55"/>
          </a:solidFill>
          <a:ln w="12700">
            <a:solidFill>
              <a:srgbClr val="2F7A55"/>
            </a:solidFill>
            <a:prstDash val="solid"/>
          </a:ln>
        </p:spPr>
      </p:sp>
      <p:pic>
        <p:nvPicPr>
          <p:cNvPr id="8" name="Image 0" descr="preencoded.png">    </p:cNvPr>
          <p:cNvPicPr>
            <a:picLocks noChangeAspect="1"/>
          </p:cNvPicPr>
          <p:nvPr/>
        </p:nvPicPr>
        <p:blipFill>
          <a:blip r:embed="rId1"/>
          <a:stretch>
            <a:fillRect/>
          </a:stretch>
        </p:blipFill>
        <p:spPr>
          <a:xfrm>
            <a:off x="1001268" y="1869948"/>
            <a:ext cx="329184" cy="329184"/>
          </a:xfrm>
          <a:prstGeom prst="rect">
            <a:avLst/>
          </a:prstGeom>
        </p:spPr>
      </p:pic>
      <p:sp>
        <p:nvSpPr>
          <p:cNvPr id="9" name="Text 6"/>
          <p:cNvSpPr txBox="1"/>
          <p:nvPr/>
        </p:nvSpPr>
        <p:spPr>
          <a:xfrm>
            <a:off x="1645920" y="1673352"/>
            <a:ext cx="2235098" cy="411480"/>
          </a:xfrm>
          <a:prstGeom prst="rect">
            <a:avLst/>
          </a:prstGeom>
          <a:noFill/>
          <a:ln/>
        </p:spPr>
        <p:txBody>
          <a:bodyPr wrap="square" lIns="0" tIns="0" rIns="0" bIns="0" rtlCol="0" anchor="t"/>
          <a:lstStyle/>
          <a:p>
            <a:pPr indent="0" marL="0">
              <a:buNone/>
            </a:pPr>
            <a:r>
              <a:rPr lang="en-US" sz="1800" b="1" dirty="0">
                <a:solidFill>
                  <a:srgbClr val="2F7A55"/>
                </a:solidFill>
                <a:latin typeface="Meiryo UI" pitchFamily="34" charset="0"/>
                <a:ea typeface="Meiryo UI" pitchFamily="34" charset="-122"/>
                <a:cs typeface="Meiryo UI" pitchFamily="34" charset="-120"/>
              </a:rPr>
              <a:t>YouTube</a:t>
            </a:r>
            <a:endParaRPr lang="en-US" sz="1800" dirty="0"/>
          </a:p>
        </p:txBody>
      </p:sp>
      <p:sp>
        <p:nvSpPr>
          <p:cNvPr id="10" name="Text 7"/>
          <p:cNvSpPr txBox="1"/>
          <p:nvPr/>
        </p:nvSpPr>
        <p:spPr>
          <a:xfrm>
            <a:off x="1645920" y="2075688"/>
            <a:ext cx="2235098" cy="320040"/>
          </a:xfrm>
          <a:prstGeom prst="rect">
            <a:avLst/>
          </a:prstGeom>
          <a:noFill/>
          <a:ln/>
        </p:spPr>
        <p:txBody>
          <a:bodyPr wrap="square" lIns="0" tIns="0" rIns="0" bIns="0" rtlCol="0" anchor="t"/>
          <a:lstStyle/>
          <a:p>
            <a:pPr indent="0" marL="0">
              <a:buNone/>
            </a:pPr>
            <a:r>
              <a:rPr lang="en-US" sz="1250" b="1" dirty="0">
                <a:solidFill>
                  <a:srgbClr val="D8614F"/>
                </a:solidFill>
                <a:latin typeface="Meiryo UI" pitchFamily="34" charset="0"/>
                <a:ea typeface="Meiryo UI" pitchFamily="34" charset="-122"/>
                <a:cs typeface="Meiryo UI" pitchFamily="34" charset="-120"/>
              </a:rPr>
              <a:t>役割：理解・信頼</a:t>
            </a:r>
            <a:endParaRPr lang="en-US" sz="1250" dirty="0"/>
          </a:p>
        </p:txBody>
      </p:sp>
      <p:sp>
        <p:nvSpPr>
          <p:cNvPr id="11" name="Text 8"/>
          <p:cNvSpPr txBox="1"/>
          <p:nvPr/>
        </p:nvSpPr>
        <p:spPr>
          <a:xfrm>
            <a:off x="822960" y="2606040"/>
            <a:ext cx="2966618" cy="256032"/>
          </a:xfrm>
          <a:prstGeom prst="rect">
            <a:avLst/>
          </a:prstGeom>
          <a:noFill/>
          <a:ln/>
        </p:spPr>
        <p:txBody>
          <a:bodyPr wrap="square" lIns="0" tIns="0" rIns="0" bIns="0" rtlCol="0" anchor="t"/>
          <a:lstStyle/>
          <a:p>
            <a:pPr indent="0" marL="0">
              <a:buNone/>
            </a:pPr>
            <a:r>
              <a:rPr lang="en-US" sz="1050" b="1" dirty="0">
                <a:solidFill>
                  <a:srgbClr val="66786F"/>
                </a:solidFill>
                <a:latin typeface="Meiryo UI" pitchFamily="34" charset="0"/>
                <a:ea typeface="Meiryo UI" pitchFamily="34" charset="-122"/>
                <a:cs typeface="Meiryo UI" pitchFamily="34" charset="-120"/>
              </a:rPr>
              <a:t>動画の型</a:t>
            </a:r>
            <a:endParaRPr lang="en-US" sz="1050" dirty="0"/>
          </a:p>
        </p:txBody>
      </p:sp>
      <p:sp>
        <p:nvSpPr>
          <p:cNvPr id="12" name="Text 9"/>
          <p:cNvSpPr txBox="1"/>
          <p:nvPr/>
        </p:nvSpPr>
        <p:spPr>
          <a:xfrm>
            <a:off x="822960" y="2862072"/>
            <a:ext cx="2966618" cy="320040"/>
          </a:xfrm>
          <a:prstGeom prst="rect">
            <a:avLst/>
          </a:prstGeom>
          <a:noFill/>
          <a:ln/>
        </p:spPr>
        <p:txBody>
          <a:bodyPr wrap="square" lIns="0" tIns="0" rIns="0" bIns="0" rtlCol="0" anchor="t"/>
          <a:lstStyle/>
          <a:p>
            <a:pPr indent="0" marL="0">
              <a:buNone/>
            </a:pPr>
            <a:r>
              <a:rPr lang="en-US" sz="1300" b="1" dirty="0">
                <a:solidFill>
                  <a:srgbClr val="2A3330"/>
                </a:solidFill>
                <a:latin typeface="Meiryo UI" pitchFamily="34" charset="0"/>
                <a:ea typeface="Meiryo UI" pitchFamily="34" charset="-122"/>
                <a:cs typeface="Meiryo UI" pitchFamily="34" charset="-120"/>
              </a:rPr>
              <a:t>長尺解説（5〜10分）</a:t>
            </a:r>
            <a:endParaRPr lang="en-US" sz="1300" dirty="0"/>
          </a:p>
        </p:txBody>
      </p:sp>
      <p:sp>
        <p:nvSpPr>
          <p:cNvPr id="13" name="Text 10"/>
          <p:cNvSpPr txBox="1"/>
          <p:nvPr/>
        </p:nvSpPr>
        <p:spPr>
          <a:xfrm>
            <a:off x="822960" y="3291840"/>
            <a:ext cx="2966618" cy="256032"/>
          </a:xfrm>
          <a:prstGeom prst="rect">
            <a:avLst/>
          </a:prstGeom>
          <a:noFill/>
          <a:ln/>
        </p:spPr>
        <p:txBody>
          <a:bodyPr wrap="square" lIns="0" tIns="0" rIns="0" bIns="0" rtlCol="0" anchor="t"/>
          <a:lstStyle/>
          <a:p>
            <a:pPr indent="0" marL="0">
              <a:buNone/>
            </a:pPr>
            <a:r>
              <a:rPr lang="en-US" sz="1050" b="1" dirty="0">
                <a:solidFill>
                  <a:srgbClr val="66786F"/>
                </a:solidFill>
                <a:latin typeface="Meiryo UI" pitchFamily="34" charset="0"/>
                <a:ea typeface="Meiryo UI" pitchFamily="34" charset="-122"/>
                <a:cs typeface="Meiryo UI" pitchFamily="34" charset="-120"/>
              </a:rPr>
              <a:t>主な視聴者</a:t>
            </a:r>
            <a:endParaRPr lang="en-US" sz="1050" dirty="0"/>
          </a:p>
        </p:txBody>
      </p:sp>
      <p:sp>
        <p:nvSpPr>
          <p:cNvPr id="14" name="Text 11"/>
          <p:cNvSpPr txBox="1"/>
          <p:nvPr/>
        </p:nvSpPr>
        <p:spPr>
          <a:xfrm>
            <a:off x="822960" y="3547872"/>
            <a:ext cx="2966618" cy="548640"/>
          </a:xfrm>
          <a:prstGeom prst="rect">
            <a:avLst/>
          </a:prstGeom>
          <a:noFill/>
          <a:ln/>
        </p:spPr>
        <p:txBody>
          <a:bodyPr wrap="square" lIns="0" tIns="0" rIns="0" bIns="0" rtlCol="0" anchor="t"/>
          <a:lstStyle/>
          <a:p>
            <a:pPr indent="0" marL="0">
              <a:buNone/>
            </a:pPr>
            <a:r>
              <a:rPr lang="en-US" sz="1200" dirty="0">
                <a:solidFill>
                  <a:srgbClr val="2A3330"/>
                </a:solidFill>
                <a:latin typeface="Meiryo UI" pitchFamily="34" charset="0"/>
                <a:ea typeface="Meiryo UI" pitchFamily="34" charset="-122"/>
                <a:cs typeface="Meiryo UI" pitchFamily="34" charset="-120"/>
              </a:rPr>
              <a:t>不登校・学習の悩みを検索する、全国のお母さん</a:t>
            </a:r>
            <a:endParaRPr lang="en-US" sz="1200" dirty="0"/>
          </a:p>
        </p:txBody>
      </p:sp>
      <p:sp>
        <p:nvSpPr>
          <p:cNvPr id="15" name="Shape 12"/>
          <p:cNvSpPr/>
          <p:nvPr/>
        </p:nvSpPr>
        <p:spPr>
          <a:xfrm>
            <a:off x="731520" y="4206240"/>
            <a:ext cx="3149498" cy="1874520"/>
          </a:xfrm>
          <a:prstGeom prst="roundRect">
            <a:avLst>
              <a:gd name="adj" fmla="val 5854"/>
            </a:avLst>
          </a:prstGeom>
          <a:solidFill>
            <a:srgbClr val="EAF4EE"/>
          </a:solidFill>
          <a:ln w="12700">
            <a:solidFill>
              <a:srgbClr val="EAF4EE"/>
            </a:solidFill>
            <a:prstDash val="solid"/>
          </a:ln>
        </p:spPr>
      </p:sp>
      <p:sp>
        <p:nvSpPr>
          <p:cNvPr id="16" name="Text 13"/>
          <p:cNvSpPr txBox="1"/>
          <p:nvPr/>
        </p:nvSpPr>
        <p:spPr>
          <a:xfrm>
            <a:off x="914400" y="4297680"/>
            <a:ext cx="2783738" cy="274320"/>
          </a:xfrm>
          <a:prstGeom prst="rect">
            <a:avLst/>
          </a:prstGeom>
          <a:noFill/>
          <a:ln/>
        </p:spPr>
        <p:txBody>
          <a:bodyPr wrap="square" lIns="0" tIns="0" rIns="0" bIns="0" rtlCol="0" anchor="t"/>
          <a:lstStyle/>
          <a:p>
            <a:pPr indent="0" marL="0">
              <a:buNone/>
            </a:pPr>
            <a:r>
              <a:rPr lang="en-US" sz="1050" b="1" dirty="0">
                <a:solidFill>
                  <a:srgbClr val="2F7A55"/>
                </a:solidFill>
                <a:latin typeface="Meiryo UI" pitchFamily="34" charset="0"/>
                <a:ea typeface="Meiryo UI" pitchFamily="34" charset="-122"/>
                <a:cs typeface="Meiryo UI" pitchFamily="34" charset="-120"/>
              </a:rPr>
              <a:t>コンテンツ例</a:t>
            </a:r>
            <a:endParaRPr lang="en-US" sz="1050" dirty="0"/>
          </a:p>
        </p:txBody>
      </p:sp>
      <p:sp>
        <p:nvSpPr>
          <p:cNvPr id="17" name="Text 14"/>
          <p:cNvSpPr txBox="1"/>
          <p:nvPr/>
        </p:nvSpPr>
        <p:spPr>
          <a:xfrm>
            <a:off x="914400" y="4572000"/>
            <a:ext cx="2783738" cy="14173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A3330"/>
                </a:solidFill>
                <a:latin typeface="Meiryo UI" pitchFamily="34" charset="0"/>
                <a:ea typeface="Meiryo UI" pitchFamily="34" charset="-122"/>
                <a:cs typeface="Meiryo UI" pitchFamily="34" charset="-120"/>
              </a:rPr>
              <a:t>不登校の子にお母さんが最初にできること</a:t>
            </a:r>
            <a:endParaRPr lang="en-US" sz="1150" dirty="0"/>
          </a:p>
          <a:p>
            <a:pPr marL="342900" indent="-342900">
              <a:spcAft>
                <a:spcPts val="400"/>
              </a:spcAft>
              <a:buSzPct val="100000"/>
              <a:buChar char="•"/>
            </a:pPr>
            <a:r>
              <a:rPr lang="en-US" sz="1150" dirty="0">
                <a:solidFill>
                  <a:srgbClr val="2A3330"/>
                </a:solidFill>
                <a:latin typeface="Meiryo UI" pitchFamily="34" charset="0"/>
                <a:ea typeface="Meiryo UI" pitchFamily="34" charset="-122"/>
                <a:cs typeface="Meiryo UI" pitchFamily="34" charset="-120"/>
              </a:rPr>
              <a:t>勉強しない子への声かけ、3つのポイント</a:t>
            </a:r>
            <a:endParaRPr lang="en-US" sz="1150" dirty="0"/>
          </a:p>
          <a:p>
            <a:pPr marL="342900" indent="-342900">
              <a:spcAft>
                <a:spcPts val="400"/>
              </a:spcAft>
              <a:buSzPct val="100000"/>
              <a:buChar char="•"/>
            </a:pPr>
            <a:r>
              <a:rPr lang="en-US" sz="1150" dirty="0">
                <a:solidFill>
                  <a:srgbClr val="2A3330"/>
                </a:solidFill>
                <a:latin typeface="Meiryo UI" pitchFamily="34" charset="0"/>
                <a:ea typeface="Meiryo UI" pitchFamily="34" charset="-122"/>
                <a:cs typeface="Meiryo UI" pitchFamily="34" charset="-120"/>
              </a:rPr>
              <a:t>オンライン塾ってどう？受講の流れを解説</a:t>
            </a:r>
            <a:endParaRPr lang="en-US" sz="1150" dirty="0"/>
          </a:p>
        </p:txBody>
      </p:sp>
      <p:sp>
        <p:nvSpPr>
          <p:cNvPr id="18" name="Shape 15"/>
          <p:cNvSpPr/>
          <p:nvPr/>
        </p:nvSpPr>
        <p:spPr>
          <a:xfrm>
            <a:off x="4338218" y="1417320"/>
            <a:ext cx="3515258" cy="4846320"/>
          </a:xfrm>
          <a:prstGeom prst="roundRect">
            <a:avLst>
              <a:gd name="adj" fmla="val 312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9" name="Shape 16"/>
          <p:cNvSpPr/>
          <p:nvPr/>
        </p:nvSpPr>
        <p:spPr>
          <a:xfrm>
            <a:off x="4612538" y="1691640"/>
            <a:ext cx="685800" cy="685800"/>
          </a:xfrm>
          <a:prstGeom prst="ellipse">
            <a:avLst/>
          </a:prstGeom>
          <a:solidFill>
            <a:srgbClr val="2F7A55"/>
          </a:solidFill>
          <a:ln w="12700">
            <a:solidFill>
              <a:srgbClr val="2F7A55"/>
            </a:solidFill>
            <a:prstDash val="solid"/>
          </a:ln>
        </p:spPr>
      </p:sp>
      <p:pic>
        <p:nvPicPr>
          <p:cNvPr id="20" name="Image 1" descr="preencoded.png">    </p:cNvPr>
          <p:cNvPicPr>
            <a:picLocks noChangeAspect="1"/>
          </p:cNvPicPr>
          <p:nvPr/>
        </p:nvPicPr>
        <p:blipFill>
          <a:blip r:embed="rId2"/>
          <a:stretch>
            <a:fillRect/>
          </a:stretch>
        </p:blipFill>
        <p:spPr>
          <a:xfrm>
            <a:off x="4790846" y="1869948"/>
            <a:ext cx="329184" cy="329184"/>
          </a:xfrm>
          <a:prstGeom prst="rect">
            <a:avLst/>
          </a:prstGeom>
        </p:spPr>
      </p:pic>
      <p:sp>
        <p:nvSpPr>
          <p:cNvPr id="21" name="Text 17"/>
          <p:cNvSpPr txBox="1"/>
          <p:nvPr/>
        </p:nvSpPr>
        <p:spPr>
          <a:xfrm>
            <a:off x="5435498" y="1673352"/>
            <a:ext cx="2235098" cy="411480"/>
          </a:xfrm>
          <a:prstGeom prst="rect">
            <a:avLst/>
          </a:prstGeom>
          <a:noFill/>
          <a:ln/>
        </p:spPr>
        <p:txBody>
          <a:bodyPr wrap="square" lIns="0" tIns="0" rIns="0" bIns="0" rtlCol="0" anchor="t"/>
          <a:lstStyle/>
          <a:p>
            <a:pPr indent="0" marL="0">
              <a:buNone/>
            </a:pPr>
            <a:r>
              <a:rPr lang="en-US" sz="1800" b="1" dirty="0">
                <a:solidFill>
                  <a:srgbClr val="2F7A55"/>
                </a:solidFill>
                <a:latin typeface="Meiryo UI" pitchFamily="34" charset="0"/>
                <a:ea typeface="Meiryo UI" pitchFamily="34" charset="-122"/>
                <a:cs typeface="Meiryo UI" pitchFamily="34" charset="-120"/>
              </a:rPr>
              <a:t>Instagram</a:t>
            </a:r>
            <a:endParaRPr lang="en-US" sz="1800" dirty="0"/>
          </a:p>
        </p:txBody>
      </p:sp>
      <p:sp>
        <p:nvSpPr>
          <p:cNvPr id="22" name="Text 18"/>
          <p:cNvSpPr txBox="1"/>
          <p:nvPr/>
        </p:nvSpPr>
        <p:spPr>
          <a:xfrm>
            <a:off x="5435498" y="2075688"/>
            <a:ext cx="2235098" cy="320040"/>
          </a:xfrm>
          <a:prstGeom prst="rect">
            <a:avLst/>
          </a:prstGeom>
          <a:noFill/>
          <a:ln/>
        </p:spPr>
        <p:txBody>
          <a:bodyPr wrap="square" lIns="0" tIns="0" rIns="0" bIns="0" rtlCol="0" anchor="t"/>
          <a:lstStyle/>
          <a:p>
            <a:pPr indent="0" marL="0">
              <a:buNone/>
            </a:pPr>
            <a:r>
              <a:rPr lang="en-US" sz="1250" b="1" dirty="0">
                <a:solidFill>
                  <a:srgbClr val="D8614F"/>
                </a:solidFill>
                <a:latin typeface="Meiryo UI" pitchFamily="34" charset="0"/>
                <a:ea typeface="Meiryo UI" pitchFamily="34" charset="-122"/>
                <a:cs typeface="Meiryo UI" pitchFamily="34" charset="-120"/>
              </a:rPr>
              <a:t>役割：共感・ファン化</a:t>
            </a:r>
            <a:endParaRPr lang="en-US" sz="1250" dirty="0"/>
          </a:p>
        </p:txBody>
      </p:sp>
      <p:sp>
        <p:nvSpPr>
          <p:cNvPr id="23" name="Text 19"/>
          <p:cNvSpPr txBox="1"/>
          <p:nvPr/>
        </p:nvSpPr>
        <p:spPr>
          <a:xfrm>
            <a:off x="4612538" y="2606040"/>
            <a:ext cx="2966618" cy="256032"/>
          </a:xfrm>
          <a:prstGeom prst="rect">
            <a:avLst/>
          </a:prstGeom>
          <a:noFill/>
          <a:ln/>
        </p:spPr>
        <p:txBody>
          <a:bodyPr wrap="square" lIns="0" tIns="0" rIns="0" bIns="0" rtlCol="0" anchor="t"/>
          <a:lstStyle/>
          <a:p>
            <a:pPr indent="0" marL="0">
              <a:buNone/>
            </a:pPr>
            <a:r>
              <a:rPr lang="en-US" sz="1050" b="1" dirty="0">
                <a:solidFill>
                  <a:srgbClr val="66786F"/>
                </a:solidFill>
                <a:latin typeface="Meiryo UI" pitchFamily="34" charset="0"/>
                <a:ea typeface="Meiryo UI" pitchFamily="34" charset="-122"/>
                <a:cs typeface="Meiryo UI" pitchFamily="34" charset="-120"/>
              </a:rPr>
              <a:t>動画の型</a:t>
            </a:r>
            <a:endParaRPr lang="en-US" sz="1050" dirty="0"/>
          </a:p>
        </p:txBody>
      </p:sp>
      <p:sp>
        <p:nvSpPr>
          <p:cNvPr id="24" name="Text 20"/>
          <p:cNvSpPr txBox="1"/>
          <p:nvPr/>
        </p:nvSpPr>
        <p:spPr>
          <a:xfrm>
            <a:off x="4612538" y="2862072"/>
            <a:ext cx="2966618" cy="320040"/>
          </a:xfrm>
          <a:prstGeom prst="rect">
            <a:avLst/>
          </a:prstGeom>
          <a:noFill/>
          <a:ln/>
        </p:spPr>
        <p:txBody>
          <a:bodyPr wrap="square" lIns="0" tIns="0" rIns="0" bIns="0" rtlCol="0" anchor="t"/>
          <a:lstStyle/>
          <a:p>
            <a:pPr indent="0" marL="0">
              <a:buNone/>
            </a:pPr>
            <a:r>
              <a:rPr lang="en-US" sz="1300" b="1" dirty="0">
                <a:solidFill>
                  <a:srgbClr val="2A3330"/>
                </a:solidFill>
                <a:latin typeface="Meiryo UI" pitchFamily="34" charset="0"/>
                <a:ea typeface="Meiryo UI" pitchFamily="34" charset="-122"/>
                <a:cs typeface="Meiryo UI" pitchFamily="34" charset="-120"/>
              </a:rPr>
              <a:t>デザイン重視（フィード・リール）</a:t>
            </a:r>
            <a:endParaRPr lang="en-US" sz="1300" dirty="0"/>
          </a:p>
        </p:txBody>
      </p:sp>
      <p:sp>
        <p:nvSpPr>
          <p:cNvPr id="25" name="Text 21"/>
          <p:cNvSpPr txBox="1"/>
          <p:nvPr/>
        </p:nvSpPr>
        <p:spPr>
          <a:xfrm>
            <a:off x="4612538" y="3291840"/>
            <a:ext cx="2966618" cy="256032"/>
          </a:xfrm>
          <a:prstGeom prst="rect">
            <a:avLst/>
          </a:prstGeom>
          <a:noFill/>
          <a:ln/>
        </p:spPr>
        <p:txBody>
          <a:bodyPr wrap="square" lIns="0" tIns="0" rIns="0" bIns="0" rtlCol="0" anchor="t"/>
          <a:lstStyle/>
          <a:p>
            <a:pPr indent="0" marL="0">
              <a:buNone/>
            </a:pPr>
            <a:r>
              <a:rPr lang="en-US" sz="1050" b="1" dirty="0">
                <a:solidFill>
                  <a:srgbClr val="66786F"/>
                </a:solidFill>
                <a:latin typeface="Meiryo UI" pitchFamily="34" charset="0"/>
                <a:ea typeface="Meiryo UI" pitchFamily="34" charset="-122"/>
                <a:cs typeface="Meiryo UI" pitchFamily="34" charset="-120"/>
              </a:rPr>
              <a:t>主な視聴者</a:t>
            </a:r>
            <a:endParaRPr lang="en-US" sz="1050" dirty="0"/>
          </a:p>
        </p:txBody>
      </p:sp>
      <p:sp>
        <p:nvSpPr>
          <p:cNvPr id="26" name="Text 22"/>
          <p:cNvSpPr txBox="1"/>
          <p:nvPr/>
        </p:nvSpPr>
        <p:spPr>
          <a:xfrm>
            <a:off x="4612538" y="3547872"/>
            <a:ext cx="2966618" cy="548640"/>
          </a:xfrm>
          <a:prstGeom prst="rect">
            <a:avLst/>
          </a:prstGeom>
          <a:noFill/>
          <a:ln/>
        </p:spPr>
        <p:txBody>
          <a:bodyPr wrap="square" lIns="0" tIns="0" rIns="0" bIns="0" rtlCol="0" anchor="t"/>
          <a:lstStyle/>
          <a:p>
            <a:pPr indent="0" marL="0">
              <a:buNone/>
            </a:pPr>
            <a:r>
              <a:rPr lang="en-US" sz="1200" dirty="0">
                <a:solidFill>
                  <a:srgbClr val="2A3330"/>
                </a:solidFill>
                <a:latin typeface="Meiryo UI" pitchFamily="34" charset="0"/>
                <a:ea typeface="Meiryo UI" pitchFamily="34" charset="-122"/>
                <a:cs typeface="Meiryo UI" pitchFamily="34" charset="-120"/>
              </a:rPr>
              <a:t>30〜40代のお母さん、オンラインサロンの会員</a:t>
            </a:r>
            <a:endParaRPr lang="en-US" sz="1200" dirty="0"/>
          </a:p>
        </p:txBody>
      </p:sp>
      <p:sp>
        <p:nvSpPr>
          <p:cNvPr id="27" name="Shape 23"/>
          <p:cNvSpPr/>
          <p:nvPr/>
        </p:nvSpPr>
        <p:spPr>
          <a:xfrm>
            <a:off x="4521098" y="4206240"/>
            <a:ext cx="3149498" cy="1874520"/>
          </a:xfrm>
          <a:prstGeom prst="roundRect">
            <a:avLst>
              <a:gd name="adj" fmla="val 5854"/>
            </a:avLst>
          </a:prstGeom>
          <a:solidFill>
            <a:srgbClr val="EAF4EE"/>
          </a:solidFill>
          <a:ln w="12700">
            <a:solidFill>
              <a:srgbClr val="EAF4EE"/>
            </a:solidFill>
            <a:prstDash val="solid"/>
          </a:ln>
        </p:spPr>
      </p:sp>
      <p:sp>
        <p:nvSpPr>
          <p:cNvPr id="28" name="Text 24"/>
          <p:cNvSpPr txBox="1"/>
          <p:nvPr/>
        </p:nvSpPr>
        <p:spPr>
          <a:xfrm>
            <a:off x="4703978" y="4297680"/>
            <a:ext cx="2783738" cy="274320"/>
          </a:xfrm>
          <a:prstGeom prst="rect">
            <a:avLst/>
          </a:prstGeom>
          <a:noFill/>
          <a:ln/>
        </p:spPr>
        <p:txBody>
          <a:bodyPr wrap="square" lIns="0" tIns="0" rIns="0" bIns="0" rtlCol="0" anchor="t"/>
          <a:lstStyle/>
          <a:p>
            <a:pPr indent="0" marL="0">
              <a:buNone/>
            </a:pPr>
            <a:r>
              <a:rPr lang="en-US" sz="1050" b="1" dirty="0">
                <a:solidFill>
                  <a:srgbClr val="2F7A55"/>
                </a:solidFill>
                <a:latin typeface="Meiryo UI" pitchFamily="34" charset="0"/>
                <a:ea typeface="Meiryo UI" pitchFamily="34" charset="-122"/>
                <a:cs typeface="Meiryo UI" pitchFamily="34" charset="-120"/>
              </a:rPr>
              <a:t>コンテンツ例</a:t>
            </a:r>
            <a:endParaRPr lang="en-US" sz="1050" dirty="0"/>
          </a:p>
        </p:txBody>
      </p:sp>
      <p:sp>
        <p:nvSpPr>
          <p:cNvPr id="29" name="Text 25"/>
          <p:cNvSpPr txBox="1"/>
          <p:nvPr/>
        </p:nvSpPr>
        <p:spPr>
          <a:xfrm>
            <a:off x="4703978" y="4572000"/>
            <a:ext cx="2783738" cy="14173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A3330"/>
                </a:solidFill>
                <a:latin typeface="Meiryo UI" pitchFamily="34" charset="0"/>
                <a:ea typeface="Meiryo UI" pitchFamily="34" charset="-122"/>
                <a:cs typeface="Meiryo UI" pitchFamily="34" charset="-120"/>
              </a:rPr>
              <a:t>がんばるお母さんへのひと言メッセージ</a:t>
            </a:r>
            <a:endParaRPr lang="en-US" sz="1150" dirty="0"/>
          </a:p>
          <a:p>
            <a:pPr marL="342900" indent="-342900">
              <a:spcAft>
                <a:spcPts val="400"/>
              </a:spcAft>
              <a:buSzPct val="100000"/>
              <a:buChar char="•"/>
            </a:pPr>
            <a:r>
              <a:rPr lang="en-US" sz="1150" dirty="0">
                <a:solidFill>
                  <a:srgbClr val="2A3330"/>
                </a:solidFill>
                <a:latin typeface="Meiryo UI" pitchFamily="34" charset="0"/>
                <a:ea typeface="Meiryo UI" pitchFamily="34" charset="-122"/>
                <a:cs typeface="Meiryo UI" pitchFamily="34" charset="-120"/>
              </a:rPr>
              <a:t>今日からできる声かけ（カルーセル）</a:t>
            </a:r>
            <a:endParaRPr lang="en-US" sz="1150" dirty="0"/>
          </a:p>
          <a:p>
            <a:pPr marL="342900" indent="-342900">
              <a:spcAft>
                <a:spcPts val="400"/>
              </a:spcAft>
              <a:buSzPct val="100000"/>
              <a:buChar char="•"/>
            </a:pPr>
            <a:r>
              <a:rPr lang="en-US" sz="1150" dirty="0">
                <a:solidFill>
                  <a:srgbClr val="2A3330"/>
                </a:solidFill>
                <a:latin typeface="Meiryo UI" pitchFamily="34" charset="0"/>
                <a:ea typeface="Meiryo UI" pitchFamily="34" charset="-122"/>
                <a:cs typeface="Meiryo UI" pitchFamily="34" charset="-120"/>
              </a:rPr>
              <a:t>講演会・子育て講座のお知らせ</a:t>
            </a:r>
            <a:endParaRPr lang="en-US" sz="1150" dirty="0"/>
          </a:p>
        </p:txBody>
      </p:sp>
      <p:sp>
        <p:nvSpPr>
          <p:cNvPr id="30" name="Shape 26"/>
          <p:cNvSpPr/>
          <p:nvPr/>
        </p:nvSpPr>
        <p:spPr>
          <a:xfrm>
            <a:off x="8127797" y="1417320"/>
            <a:ext cx="3515258" cy="4846320"/>
          </a:xfrm>
          <a:prstGeom prst="roundRect">
            <a:avLst>
              <a:gd name="adj" fmla="val 312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1" name="Shape 27"/>
          <p:cNvSpPr/>
          <p:nvPr/>
        </p:nvSpPr>
        <p:spPr>
          <a:xfrm>
            <a:off x="8402117" y="1691640"/>
            <a:ext cx="685800" cy="685800"/>
          </a:xfrm>
          <a:prstGeom prst="ellipse">
            <a:avLst/>
          </a:prstGeom>
          <a:solidFill>
            <a:srgbClr val="2F7A55"/>
          </a:solidFill>
          <a:ln w="12700">
            <a:solidFill>
              <a:srgbClr val="2F7A55"/>
            </a:solidFill>
            <a:prstDash val="solid"/>
          </a:ln>
        </p:spPr>
      </p:sp>
      <p:pic>
        <p:nvPicPr>
          <p:cNvPr id="32" name="Image 2" descr="preencoded.png">    </p:cNvPr>
          <p:cNvPicPr>
            <a:picLocks noChangeAspect="1"/>
          </p:cNvPicPr>
          <p:nvPr/>
        </p:nvPicPr>
        <p:blipFill>
          <a:blip r:embed="rId3"/>
          <a:stretch>
            <a:fillRect/>
          </a:stretch>
        </p:blipFill>
        <p:spPr>
          <a:xfrm>
            <a:off x="8580425" y="1869948"/>
            <a:ext cx="329184" cy="329184"/>
          </a:xfrm>
          <a:prstGeom prst="rect">
            <a:avLst/>
          </a:prstGeom>
        </p:spPr>
      </p:pic>
      <p:sp>
        <p:nvSpPr>
          <p:cNvPr id="33" name="Text 28"/>
          <p:cNvSpPr txBox="1"/>
          <p:nvPr/>
        </p:nvSpPr>
        <p:spPr>
          <a:xfrm>
            <a:off x="9225077" y="1673352"/>
            <a:ext cx="2235098" cy="411480"/>
          </a:xfrm>
          <a:prstGeom prst="rect">
            <a:avLst/>
          </a:prstGeom>
          <a:noFill/>
          <a:ln/>
        </p:spPr>
        <p:txBody>
          <a:bodyPr wrap="square" lIns="0" tIns="0" rIns="0" bIns="0" rtlCol="0" anchor="t"/>
          <a:lstStyle/>
          <a:p>
            <a:pPr indent="0" marL="0">
              <a:buNone/>
            </a:pPr>
            <a:r>
              <a:rPr lang="en-US" sz="1800" b="1" dirty="0">
                <a:solidFill>
                  <a:srgbClr val="2F7A55"/>
                </a:solidFill>
                <a:latin typeface="Meiryo UI" pitchFamily="34" charset="0"/>
                <a:ea typeface="Meiryo UI" pitchFamily="34" charset="-122"/>
                <a:cs typeface="Meiryo UI" pitchFamily="34" charset="-120"/>
              </a:rPr>
              <a:t>TikTok／ショート</a:t>
            </a:r>
            <a:endParaRPr lang="en-US" sz="1800" dirty="0"/>
          </a:p>
        </p:txBody>
      </p:sp>
      <p:sp>
        <p:nvSpPr>
          <p:cNvPr id="34" name="Text 29"/>
          <p:cNvSpPr txBox="1"/>
          <p:nvPr/>
        </p:nvSpPr>
        <p:spPr>
          <a:xfrm>
            <a:off x="9225077" y="2075688"/>
            <a:ext cx="2235098" cy="320040"/>
          </a:xfrm>
          <a:prstGeom prst="rect">
            <a:avLst/>
          </a:prstGeom>
          <a:noFill/>
          <a:ln/>
        </p:spPr>
        <p:txBody>
          <a:bodyPr wrap="square" lIns="0" tIns="0" rIns="0" bIns="0" rtlCol="0" anchor="t"/>
          <a:lstStyle/>
          <a:p>
            <a:pPr indent="0" marL="0">
              <a:buNone/>
            </a:pPr>
            <a:r>
              <a:rPr lang="en-US" sz="1250" b="1" dirty="0">
                <a:solidFill>
                  <a:srgbClr val="D8614F"/>
                </a:solidFill>
                <a:latin typeface="Meiryo UI" pitchFamily="34" charset="0"/>
                <a:ea typeface="Meiryo UI" pitchFamily="34" charset="-122"/>
                <a:cs typeface="Meiryo UI" pitchFamily="34" charset="-120"/>
              </a:rPr>
              <a:t>役割：認知拡大（全国へ）</a:t>
            </a:r>
            <a:endParaRPr lang="en-US" sz="1250" dirty="0"/>
          </a:p>
        </p:txBody>
      </p:sp>
      <p:sp>
        <p:nvSpPr>
          <p:cNvPr id="35" name="Text 30"/>
          <p:cNvSpPr txBox="1"/>
          <p:nvPr/>
        </p:nvSpPr>
        <p:spPr>
          <a:xfrm>
            <a:off x="8402117" y="2606040"/>
            <a:ext cx="2966618" cy="256032"/>
          </a:xfrm>
          <a:prstGeom prst="rect">
            <a:avLst/>
          </a:prstGeom>
          <a:noFill/>
          <a:ln/>
        </p:spPr>
        <p:txBody>
          <a:bodyPr wrap="square" lIns="0" tIns="0" rIns="0" bIns="0" rtlCol="0" anchor="t"/>
          <a:lstStyle/>
          <a:p>
            <a:pPr indent="0" marL="0">
              <a:buNone/>
            </a:pPr>
            <a:r>
              <a:rPr lang="en-US" sz="1050" b="1" dirty="0">
                <a:solidFill>
                  <a:srgbClr val="66786F"/>
                </a:solidFill>
                <a:latin typeface="Meiryo UI" pitchFamily="34" charset="0"/>
                <a:ea typeface="Meiryo UI" pitchFamily="34" charset="-122"/>
                <a:cs typeface="Meiryo UI" pitchFamily="34" charset="-120"/>
              </a:rPr>
              <a:t>動画の型</a:t>
            </a:r>
            <a:endParaRPr lang="en-US" sz="1050" dirty="0"/>
          </a:p>
        </p:txBody>
      </p:sp>
      <p:sp>
        <p:nvSpPr>
          <p:cNvPr id="36" name="Text 31"/>
          <p:cNvSpPr txBox="1"/>
          <p:nvPr/>
        </p:nvSpPr>
        <p:spPr>
          <a:xfrm>
            <a:off x="8402117" y="2862072"/>
            <a:ext cx="2966618" cy="320040"/>
          </a:xfrm>
          <a:prstGeom prst="rect">
            <a:avLst/>
          </a:prstGeom>
          <a:noFill/>
          <a:ln/>
        </p:spPr>
        <p:txBody>
          <a:bodyPr wrap="square" lIns="0" tIns="0" rIns="0" bIns="0" rtlCol="0" anchor="t"/>
          <a:lstStyle/>
          <a:p>
            <a:pPr indent="0" marL="0">
              <a:buNone/>
            </a:pPr>
            <a:r>
              <a:rPr lang="en-US" sz="1300" b="1" dirty="0">
                <a:solidFill>
                  <a:srgbClr val="2A3330"/>
                </a:solidFill>
                <a:latin typeface="Meiryo UI" pitchFamily="34" charset="0"/>
                <a:ea typeface="Meiryo UI" pitchFamily="34" charset="-122"/>
                <a:cs typeface="Meiryo UI" pitchFamily="34" charset="-120"/>
              </a:rPr>
              <a:t>縦型ショート（15〜60秒）</a:t>
            </a:r>
            <a:endParaRPr lang="en-US" sz="1300" dirty="0"/>
          </a:p>
        </p:txBody>
      </p:sp>
      <p:sp>
        <p:nvSpPr>
          <p:cNvPr id="37" name="Text 32"/>
          <p:cNvSpPr txBox="1"/>
          <p:nvPr/>
        </p:nvSpPr>
        <p:spPr>
          <a:xfrm>
            <a:off x="8402117" y="3291840"/>
            <a:ext cx="2966618" cy="256032"/>
          </a:xfrm>
          <a:prstGeom prst="rect">
            <a:avLst/>
          </a:prstGeom>
          <a:noFill/>
          <a:ln/>
        </p:spPr>
        <p:txBody>
          <a:bodyPr wrap="square" lIns="0" tIns="0" rIns="0" bIns="0" rtlCol="0" anchor="t"/>
          <a:lstStyle/>
          <a:p>
            <a:pPr indent="0" marL="0">
              <a:buNone/>
            </a:pPr>
            <a:r>
              <a:rPr lang="en-US" sz="1050" b="1" dirty="0">
                <a:solidFill>
                  <a:srgbClr val="66786F"/>
                </a:solidFill>
                <a:latin typeface="Meiryo UI" pitchFamily="34" charset="0"/>
                <a:ea typeface="Meiryo UI" pitchFamily="34" charset="-122"/>
                <a:cs typeface="Meiryo UI" pitchFamily="34" charset="-120"/>
              </a:rPr>
              <a:t>主な視聴者</a:t>
            </a:r>
            <a:endParaRPr lang="en-US" sz="1050" dirty="0"/>
          </a:p>
        </p:txBody>
      </p:sp>
      <p:sp>
        <p:nvSpPr>
          <p:cNvPr id="38" name="Text 33"/>
          <p:cNvSpPr txBox="1"/>
          <p:nvPr/>
        </p:nvSpPr>
        <p:spPr>
          <a:xfrm>
            <a:off x="8402117" y="3547872"/>
            <a:ext cx="2966618" cy="548640"/>
          </a:xfrm>
          <a:prstGeom prst="rect">
            <a:avLst/>
          </a:prstGeom>
          <a:noFill/>
          <a:ln/>
        </p:spPr>
        <p:txBody>
          <a:bodyPr wrap="square" lIns="0" tIns="0" rIns="0" bIns="0" rtlCol="0" anchor="t"/>
          <a:lstStyle/>
          <a:p>
            <a:pPr indent="0" marL="0">
              <a:buNone/>
            </a:pPr>
            <a:r>
              <a:rPr lang="en-US" sz="1200" dirty="0">
                <a:solidFill>
                  <a:srgbClr val="2A3330"/>
                </a:solidFill>
                <a:latin typeface="Meiryo UI" pitchFamily="34" charset="0"/>
                <a:ea typeface="Meiryo UI" pitchFamily="34" charset="-122"/>
                <a:cs typeface="Meiryo UI" pitchFamily="34" charset="-120"/>
              </a:rPr>
              <a:t>まだ貴社を知らない、全国の保護者</a:t>
            </a:r>
            <a:endParaRPr lang="en-US" sz="1200" dirty="0"/>
          </a:p>
        </p:txBody>
      </p:sp>
      <p:sp>
        <p:nvSpPr>
          <p:cNvPr id="39" name="Shape 34"/>
          <p:cNvSpPr/>
          <p:nvPr/>
        </p:nvSpPr>
        <p:spPr>
          <a:xfrm>
            <a:off x="8310677" y="4206240"/>
            <a:ext cx="3149498" cy="1874520"/>
          </a:xfrm>
          <a:prstGeom prst="roundRect">
            <a:avLst>
              <a:gd name="adj" fmla="val 5854"/>
            </a:avLst>
          </a:prstGeom>
          <a:solidFill>
            <a:srgbClr val="EAF4EE"/>
          </a:solidFill>
          <a:ln w="12700">
            <a:solidFill>
              <a:srgbClr val="EAF4EE"/>
            </a:solidFill>
            <a:prstDash val="solid"/>
          </a:ln>
        </p:spPr>
      </p:sp>
      <p:sp>
        <p:nvSpPr>
          <p:cNvPr id="40" name="Text 35"/>
          <p:cNvSpPr txBox="1"/>
          <p:nvPr/>
        </p:nvSpPr>
        <p:spPr>
          <a:xfrm>
            <a:off x="8493557" y="4297680"/>
            <a:ext cx="2783738" cy="274320"/>
          </a:xfrm>
          <a:prstGeom prst="rect">
            <a:avLst/>
          </a:prstGeom>
          <a:noFill/>
          <a:ln/>
        </p:spPr>
        <p:txBody>
          <a:bodyPr wrap="square" lIns="0" tIns="0" rIns="0" bIns="0" rtlCol="0" anchor="t"/>
          <a:lstStyle/>
          <a:p>
            <a:pPr indent="0" marL="0">
              <a:buNone/>
            </a:pPr>
            <a:r>
              <a:rPr lang="en-US" sz="1050" b="1" dirty="0">
                <a:solidFill>
                  <a:srgbClr val="2F7A55"/>
                </a:solidFill>
                <a:latin typeface="Meiryo UI" pitchFamily="34" charset="0"/>
                <a:ea typeface="Meiryo UI" pitchFamily="34" charset="-122"/>
                <a:cs typeface="Meiryo UI" pitchFamily="34" charset="-120"/>
              </a:rPr>
              <a:t>コンテンツ例</a:t>
            </a:r>
            <a:endParaRPr lang="en-US" sz="1050" dirty="0"/>
          </a:p>
        </p:txBody>
      </p:sp>
      <p:sp>
        <p:nvSpPr>
          <p:cNvPr id="41" name="Text 36"/>
          <p:cNvSpPr txBox="1"/>
          <p:nvPr/>
        </p:nvSpPr>
        <p:spPr>
          <a:xfrm>
            <a:off x="8493557" y="4572000"/>
            <a:ext cx="2783738" cy="14173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A3330"/>
                </a:solidFill>
                <a:latin typeface="Meiryo UI" pitchFamily="34" charset="0"/>
                <a:ea typeface="Meiryo UI" pitchFamily="34" charset="-122"/>
                <a:cs typeface="Meiryo UI" pitchFamily="34" charset="-120"/>
              </a:rPr>
              <a:t>子どもが勉強しないのはお母さんのせいじゃない</a:t>
            </a:r>
            <a:endParaRPr lang="en-US" sz="1150" dirty="0"/>
          </a:p>
          <a:p>
            <a:pPr marL="342900" indent="-342900">
              <a:spcAft>
                <a:spcPts val="400"/>
              </a:spcAft>
              <a:buSzPct val="100000"/>
              <a:buChar char="•"/>
            </a:pPr>
            <a:r>
              <a:rPr lang="en-US" sz="1150" dirty="0">
                <a:solidFill>
                  <a:srgbClr val="2A3330"/>
                </a:solidFill>
                <a:latin typeface="Meiryo UI" pitchFamily="34" charset="0"/>
                <a:ea typeface="Meiryo UI" pitchFamily="34" charset="-122"/>
                <a:cs typeface="Meiryo UI" pitchFamily="34" charset="-120"/>
              </a:rPr>
              <a:t>不登校の子が安心するひと言</a:t>
            </a:r>
            <a:endParaRPr lang="en-US" sz="1150" dirty="0"/>
          </a:p>
          <a:p>
            <a:pPr marL="342900" indent="-342900">
              <a:spcAft>
                <a:spcPts val="400"/>
              </a:spcAft>
              <a:buSzPct val="100000"/>
              <a:buChar char="•"/>
            </a:pPr>
            <a:r>
              <a:rPr lang="en-US" sz="1150" dirty="0">
                <a:solidFill>
                  <a:srgbClr val="2A3330"/>
                </a:solidFill>
                <a:latin typeface="Meiryo UI" pitchFamily="34" charset="0"/>
                <a:ea typeface="Meiryo UI" pitchFamily="34" charset="-122"/>
                <a:cs typeface="Meiryo UI" pitchFamily="34" charset="-120"/>
              </a:rPr>
              <a:t>代表が答える子育てQ&amp;A</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8614F"/>
                </a:solidFill>
                <a:latin typeface="Meiryo UI" pitchFamily="34" charset="0"/>
                <a:ea typeface="Meiryo UI" pitchFamily="34" charset="-122"/>
                <a:cs typeface="Meiryo UI" pitchFamily="34" charset="-120"/>
              </a:rPr>
              <a:t>04｜PULL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2F7A55"/>
                </a:solidFill>
                <a:latin typeface="Meiryo UI" pitchFamily="34" charset="0"/>
                <a:ea typeface="Meiryo UI" pitchFamily="34" charset="-122"/>
                <a:cs typeface="Meiryo UI" pitchFamily="34" charset="-120"/>
              </a:rPr>
              <a:t>動画ラフイメージの提示方針（3つの型）</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0"/>
                </a:solidFill>
                <a:latin typeface="Meiryo UI" pitchFamily="34" charset="0"/>
                <a:ea typeface="Meiryo UI" pitchFamily="34" charset="-122"/>
                <a:cs typeface="Meiryo UI" pitchFamily="34" charset="-120"/>
              </a:rPr>
              <a:t>12</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0"/>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371600"/>
            <a:ext cx="3515258" cy="1920240"/>
          </a:xfrm>
          <a:prstGeom prst="roundRect">
            <a:avLst>
              <a:gd name="adj" fmla="val 5714"/>
            </a:avLst>
          </a:prstGeom>
          <a:solidFill>
            <a:srgbClr val="EAF4EE"/>
          </a:solidFill>
          <a:ln w="12700">
            <a:solidFill>
              <a:srgbClr val="EAF4EE"/>
            </a:solidFill>
            <a:prstDash val="solid"/>
          </a:ln>
        </p:spPr>
      </p:sp>
      <p:pic>
        <p:nvPicPr>
          <p:cNvPr id="7" name="Image 0" descr="/tmp/claude-0/-home-user-crow-dunit/6eea73a9-a861-533a-875b-45d20cf557b2/scratchpad/clover/thumbs/youtube.png">    </p:cNvPr>
          <p:cNvPicPr>
            <a:picLocks noChangeAspect="1"/>
          </p:cNvPicPr>
          <p:nvPr/>
        </p:nvPicPr>
        <p:blipFill>
          <a:blip r:embed="rId1"/>
          <a:stretch>
            <a:fillRect/>
          </a:stretch>
        </p:blipFill>
        <p:spPr>
          <a:xfrm>
            <a:off x="761949" y="1463040"/>
            <a:ext cx="3088640" cy="1737360"/>
          </a:xfrm>
          <a:prstGeom prst="rect">
            <a:avLst/>
          </a:prstGeom>
          <a:effectLst>
            <a:outerShdw sx="100000" sy="100000" kx="0" ky="0" algn="bl" rotWithShape="0" blurRad="76200" dist="25400" dir="5400000">
              <a:srgbClr val="000000">
                <a:alpha val="12000"/>
              </a:srgbClr>
            </a:outerShdw>
          </a:effectLst>
        </p:spPr>
      </p:pic>
      <p:sp>
        <p:nvSpPr>
          <p:cNvPr id="8" name="Text 5"/>
          <p:cNvSpPr txBox="1"/>
          <p:nvPr/>
        </p:nvSpPr>
        <p:spPr>
          <a:xfrm>
            <a:off x="548640" y="3429000"/>
            <a:ext cx="3515258" cy="365760"/>
          </a:xfrm>
          <a:prstGeom prst="rect">
            <a:avLst/>
          </a:prstGeom>
          <a:noFill/>
          <a:ln/>
        </p:spPr>
        <p:txBody>
          <a:bodyPr wrap="square" lIns="0" tIns="0" rIns="0" bIns="0" rtlCol="0" anchor="t"/>
          <a:lstStyle/>
          <a:p>
            <a:pPr indent="0" marL="0">
              <a:buNone/>
            </a:pPr>
            <a:r>
              <a:rPr lang="en-US" sz="1600" b="1" dirty="0">
                <a:solidFill>
                  <a:srgbClr val="2F7A55"/>
                </a:solidFill>
                <a:latin typeface="Meiryo UI" pitchFamily="34" charset="0"/>
                <a:ea typeface="Meiryo UI" pitchFamily="34" charset="-122"/>
                <a:cs typeface="Meiryo UI" pitchFamily="34" charset="-120"/>
              </a:rPr>
              <a:t>① 長尺解説型</a:t>
            </a:r>
            <a:endParaRPr lang="en-US" sz="1600" dirty="0"/>
          </a:p>
        </p:txBody>
      </p:sp>
      <p:sp>
        <p:nvSpPr>
          <p:cNvPr id="9" name="Text 6"/>
          <p:cNvSpPr txBox="1"/>
          <p:nvPr/>
        </p:nvSpPr>
        <p:spPr>
          <a:xfrm>
            <a:off x="2875178" y="3474720"/>
            <a:ext cx="1188720" cy="274320"/>
          </a:xfrm>
          <a:prstGeom prst="rect">
            <a:avLst/>
          </a:prstGeom>
          <a:noFill/>
          <a:ln/>
        </p:spPr>
        <p:txBody>
          <a:bodyPr wrap="square" lIns="0" tIns="0" rIns="0" bIns="0" rtlCol="0" anchor="t"/>
          <a:lstStyle/>
          <a:p>
            <a:pPr algn="r" indent="0" marL="0">
              <a:buNone/>
            </a:pPr>
            <a:r>
              <a:rPr lang="en-US" sz="1100" b="1" dirty="0">
                <a:solidFill>
                  <a:srgbClr val="D8614F"/>
                </a:solidFill>
                <a:latin typeface="Meiryo UI" pitchFamily="34" charset="0"/>
                <a:ea typeface="Meiryo UI" pitchFamily="34" charset="-122"/>
                <a:cs typeface="Meiryo UI" pitchFamily="34" charset="-120"/>
              </a:rPr>
              <a:t>尺：5〜10分</a:t>
            </a:r>
            <a:endParaRPr lang="en-US" sz="1100" dirty="0"/>
          </a:p>
        </p:txBody>
      </p:sp>
      <p:sp>
        <p:nvSpPr>
          <p:cNvPr id="10" name="Text 7"/>
          <p:cNvSpPr txBox="1"/>
          <p:nvPr/>
        </p:nvSpPr>
        <p:spPr>
          <a:xfrm>
            <a:off x="548640" y="3776472"/>
            <a:ext cx="3515258" cy="274320"/>
          </a:xfrm>
          <a:prstGeom prst="rect">
            <a:avLst/>
          </a:prstGeom>
          <a:noFill/>
          <a:ln/>
        </p:spPr>
        <p:txBody>
          <a:bodyPr wrap="square" lIns="0" tIns="0" rIns="0" bIns="0" rtlCol="0" anchor="t"/>
          <a:lstStyle/>
          <a:p>
            <a:pPr indent="0" marL="0">
              <a:buNone/>
            </a:pPr>
            <a:r>
              <a:rPr lang="en-US" sz="1100" dirty="0">
                <a:solidFill>
                  <a:srgbClr val="66786F"/>
                </a:solidFill>
                <a:latin typeface="Meiryo UI" pitchFamily="34" charset="0"/>
                <a:ea typeface="Meiryo UI" pitchFamily="34" charset="-122"/>
                <a:cs typeface="Meiryo UI" pitchFamily="34" charset="-120"/>
              </a:rPr>
              <a:t>YouTube／HP掲載／講演後・相談前の送付用</a:t>
            </a:r>
            <a:endParaRPr lang="en-US" sz="1100" dirty="0"/>
          </a:p>
        </p:txBody>
      </p:sp>
      <p:sp>
        <p:nvSpPr>
          <p:cNvPr id="11" name="Text 8"/>
          <p:cNvSpPr txBox="1"/>
          <p:nvPr/>
        </p:nvSpPr>
        <p:spPr>
          <a:xfrm>
            <a:off x="548640" y="4114800"/>
            <a:ext cx="3515258" cy="1325880"/>
          </a:xfrm>
          <a:prstGeom prst="rect">
            <a:avLst/>
          </a:prstGeom>
          <a:noFill/>
          <a:ln/>
        </p:spPr>
        <p:txBody>
          <a:bodyPr wrap="square" lIns="0" tIns="0" rIns="0" bIns="0" rtlCol="0" anchor="t"/>
          <a:lstStyle/>
          <a:p>
            <a:pPr marL="342900" indent="-342900">
              <a:spcAft>
                <a:spcPts val="100"/>
              </a:spcAft>
              <a:buSzPct val="100000"/>
              <a:buFont typeface="+mj-lt"/>
              <a:buAutoNum type="arabicPeriod" startAt="1"/>
            </a:pPr>
            <a:r>
              <a:rPr lang="en-US" sz="1100" dirty="0">
                <a:solidFill>
                  <a:srgbClr val="2A3330"/>
                </a:solidFill>
                <a:latin typeface="Meiryo UI" pitchFamily="34" charset="0"/>
                <a:ea typeface="Meiryo UI" pitchFamily="34" charset="-122"/>
                <a:cs typeface="Meiryo UI" pitchFamily="34" charset="-120"/>
              </a:rPr>
              <a:t>よくある悩みの提示</a:t>
            </a:r>
            <a:endParaRPr lang="en-US" sz="1100" dirty="0"/>
          </a:p>
          <a:p>
            <a:pPr marL="342900" indent="-342900">
              <a:spcAft>
                <a:spcPts val="100"/>
              </a:spcAft>
              <a:buSzPct val="100000"/>
              <a:buFont typeface="+mj-lt"/>
              <a:buAutoNum type="arabicPeriod" startAt="1"/>
            </a:pPr>
            <a:r>
              <a:rPr lang="en-US" sz="1100" dirty="0">
                <a:solidFill>
                  <a:srgbClr val="2A3330"/>
                </a:solidFill>
                <a:latin typeface="Meiryo UI" pitchFamily="34" charset="0"/>
                <a:ea typeface="Meiryo UI" pitchFamily="34" charset="-122"/>
                <a:cs typeface="Meiryo UI" pitchFamily="34" charset="-120"/>
              </a:rPr>
              <a:t>クローバーハウスの考え方</a:t>
            </a:r>
            <a:endParaRPr lang="en-US" sz="1100" dirty="0"/>
          </a:p>
          <a:p>
            <a:pPr marL="342900" indent="-342900">
              <a:spcAft>
                <a:spcPts val="100"/>
              </a:spcAft>
              <a:buSzPct val="100000"/>
              <a:buFont typeface="+mj-lt"/>
              <a:buAutoNum type="arabicPeriod" startAt="1"/>
            </a:pPr>
            <a:r>
              <a:rPr lang="en-US" sz="1100" dirty="0">
                <a:solidFill>
                  <a:srgbClr val="2A3330"/>
                </a:solidFill>
                <a:latin typeface="Meiryo UI" pitchFamily="34" charset="0"/>
                <a:ea typeface="Meiryo UI" pitchFamily="34" charset="-122"/>
                <a:cs typeface="Meiryo UI" pitchFamily="34" charset="-120"/>
              </a:rPr>
              <a:t>子どもへの学習サポート</a:t>
            </a:r>
            <a:endParaRPr lang="en-US" sz="1100" dirty="0"/>
          </a:p>
          <a:p>
            <a:pPr marL="342900" indent="-342900">
              <a:spcAft>
                <a:spcPts val="100"/>
              </a:spcAft>
              <a:buSzPct val="100000"/>
              <a:buFont typeface="+mj-lt"/>
              <a:buAutoNum type="arabicPeriod" startAt="1"/>
            </a:pPr>
            <a:r>
              <a:rPr lang="en-US" sz="1100" dirty="0">
                <a:solidFill>
                  <a:srgbClr val="2A3330"/>
                </a:solidFill>
                <a:latin typeface="Meiryo UI" pitchFamily="34" charset="0"/>
                <a:ea typeface="Meiryo UI" pitchFamily="34" charset="-122"/>
                <a:cs typeface="Meiryo UI" pitchFamily="34" charset="-120"/>
              </a:rPr>
              <a:t>お母さんの心のフォロー</a:t>
            </a:r>
            <a:endParaRPr lang="en-US" sz="1100" dirty="0"/>
          </a:p>
          <a:p>
            <a:pPr marL="342900" indent="-342900">
              <a:spcAft>
                <a:spcPts val="100"/>
              </a:spcAft>
              <a:buSzPct val="100000"/>
              <a:buFont typeface="+mj-lt"/>
              <a:buAutoNum type="arabicPeriod" startAt="1"/>
            </a:pPr>
            <a:r>
              <a:rPr lang="en-US" sz="1100" dirty="0">
                <a:solidFill>
                  <a:srgbClr val="2A3330"/>
                </a:solidFill>
                <a:latin typeface="Meiryo UI" pitchFamily="34" charset="0"/>
                <a:ea typeface="Meiryo UI" pitchFamily="34" charset="-122"/>
                <a:cs typeface="Meiryo UI" pitchFamily="34" charset="-120"/>
              </a:rPr>
              <a:t>受講までの流れ</a:t>
            </a:r>
            <a:endParaRPr lang="en-US" sz="1100" dirty="0"/>
          </a:p>
          <a:p>
            <a:pPr marL="342900" indent="-342900">
              <a:spcAft>
                <a:spcPts val="100"/>
              </a:spcAft>
              <a:buSzPct val="100000"/>
              <a:buFont typeface="+mj-lt"/>
              <a:buAutoNum type="arabicPeriod" startAt="1"/>
            </a:pPr>
            <a:r>
              <a:rPr lang="en-US" sz="1100" dirty="0">
                <a:solidFill>
                  <a:srgbClr val="2A3330"/>
                </a:solidFill>
                <a:latin typeface="Meiryo UI" pitchFamily="34" charset="0"/>
                <a:ea typeface="Meiryo UI" pitchFamily="34" charset="-122"/>
                <a:cs typeface="Meiryo UI" pitchFamily="34" charset="-120"/>
              </a:rPr>
              <a:t>無料相談のご案内</a:t>
            </a:r>
            <a:endParaRPr lang="en-US" sz="1100" dirty="0"/>
          </a:p>
        </p:txBody>
      </p:sp>
      <p:sp>
        <p:nvSpPr>
          <p:cNvPr id="12" name="Text 9"/>
          <p:cNvSpPr txBox="1"/>
          <p:nvPr/>
        </p:nvSpPr>
        <p:spPr>
          <a:xfrm>
            <a:off x="548640" y="5486400"/>
            <a:ext cx="3515258" cy="777240"/>
          </a:xfrm>
          <a:prstGeom prst="rect">
            <a:avLst/>
          </a:prstGeom>
          <a:noFill/>
          <a:ln/>
        </p:spPr>
        <p:txBody>
          <a:bodyPr wrap="square" lIns="0" tIns="0" rIns="0" bIns="0" rtlCol="0" anchor="t"/>
          <a:lstStyle/>
          <a:p>
            <a:pPr indent="0" marL="0">
              <a:buNone/>
            </a:pPr>
            <a:r>
              <a:rPr lang="en-US" sz="1100" b="1" dirty="0">
                <a:solidFill>
                  <a:srgbClr val="2F7A55"/>
                </a:solidFill>
                <a:latin typeface="Meiryo UI" pitchFamily="34" charset="0"/>
                <a:ea typeface="Meiryo UI" pitchFamily="34" charset="-122"/>
                <a:cs typeface="Meiryo UI" pitchFamily="34" charset="-120"/>
              </a:rPr>
              <a:t>トーン：</a:t>
            </a:r>
            <a:pPr indent="0" marL="0">
              <a:buNone/>
            </a:pPr>
            <a:r>
              <a:rPr lang="en-US" sz="1100" dirty="0">
                <a:solidFill>
                  <a:srgbClr val="2A3330"/>
                </a:solidFill>
                <a:latin typeface="Meiryo UI" pitchFamily="34" charset="0"/>
                <a:ea typeface="Meiryo UI" pitchFamily="34" charset="-122"/>
                <a:cs typeface="Meiryo UI" pitchFamily="34" charset="-120"/>
              </a:rPr>
              <a:t>温かさ・安心感。専門用語を使わず、代表の言葉で語る</a:t>
            </a:r>
            <a:endParaRPr lang="en-US" sz="1100" dirty="0"/>
          </a:p>
          <a:p>
            <a:pPr indent="0" marL="0">
              <a:buNone/>
            </a:pPr>
            <a:r>
              <a:rPr lang="en-US" sz="1100" b="1" dirty="0">
                <a:solidFill>
                  <a:srgbClr val="D8614F"/>
                </a:solidFill>
                <a:latin typeface="Meiryo UI" pitchFamily="34" charset="0"/>
                <a:ea typeface="Meiryo UI" pitchFamily="34" charset="-122"/>
                <a:cs typeface="Meiryo UI" pitchFamily="34" charset="-120"/>
              </a:rPr>
              <a:t>ゴール：</a:t>
            </a:r>
            <a:pPr indent="0" marL="0">
              <a:buNone/>
            </a:pPr>
            <a:r>
              <a:rPr lang="en-US" sz="1100" dirty="0">
                <a:solidFill>
                  <a:srgbClr val="2A3330"/>
                </a:solidFill>
                <a:latin typeface="Meiryo UI" pitchFamily="34" charset="0"/>
                <a:ea typeface="Meiryo UI" pitchFamily="34" charset="-122"/>
                <a:cs typeface="Meiryo UI" pitchFamily="34" charset="-120"/>
              </a:rPr>
              <a:t>「ここなら相談できそう」と感じ、無料相談を申し込む</a:t>
            </a:r>
            <a:endParaRPr lang="en-US" sz="1100" dirty="0"/>
          </a:p>
        </p:txBody>
      </p:sp>
      <p:sp>
        <p:nvSpPr>
          <p:cNvPr id="13" name="Shape 10"/>
          <p:cNvSpPr/>
          <p:nvPr/>
        </p:nvSpPr>
        <p:spPr>
          <a:xfrm>
            <a:off x="4338218" y="1371600"/>
            <a:ext cx="3515258" cy="1920240"/>
          </a:xfrm>
          <a:prstGeom prst="roundRect">
            <a:avLst>
              <a:gd name="adj" fmla="val 5714"/>
            </a:avLst>
          </a:prstGeom>
          <a:solidFill>
            <a:srgbClr val="EAF4EE"/>
          </a:solidFill>
          <a:ln w="12700">
            <a:solidFill>
              <a:srgbClr val="EAF4EE"/>
            </a:solidFill>
            <a:prstDash val="solid"/>
          </a:ln>
        </p:spPr>
      </p:sp>
      <p:pic>
        <p:nvPicPr>
          <p:cNvPr id="14" name="Image 1" descr="/tmp/claude-0/-home-user-crow-dunit/6eea73a9-a861-533a-875b-45d20cf557b2/scratchpad/clover/thumbs/instagram.png">    </p:cNvPr>
          <p:cNvPicPr>
            <a:picLocks noChangeAspect="1"/>
          </p:cNvPicPr>
          <p:nvPr/>
        </p:nvPicPr>
        <p:blipFill>
          <a:blip r:embed="rId2"/>
          <a:stretch>
            <a:fillRect/>
          </a:stretch>
        </p:blipFill>
        <p:spPr>
          <a:xfrm>
            <a:off x="5494454" y="1463040"/>
            <a:ext cx="1202788" cy="1737360"/>
          </a:xfrm>
          <a:prstGeom prst="rect">
            <a:avLst/>
          </a:prstGeom>
          <a:effectLst>
            <a:outerShdw sx="100000" sy="100000" kx="0" ky="0" algn="bl" rotWithShape="0" blurRad="76200" dist="25400" dir="5400000">
              <a:srgbClr val="000000">
                <a:alpha val="12000"/>
              </a:srgbClr>
            </a:outerShdw>
          </a:effectLst>
        </p:spPr>
      </p:pic>
      <p:sp>
        <p:nvSpPr>
          <p:cNvPr id="15" name="Text 11"/>
          <p:cNvSpPr txBox="1"/>
          <p:nvPr/>
        </p:nvSpPr>
        <p:spPr>
          <a:xfrm>
            <a:off x="4338218" y="3429000"/>
            <a:ext cx="3515258" cy="365760"/>
          </a:xfrm>
          <a:prstGeom prst="rect">
            <a:avLst/>
          </a:prstGeom>
          <a:noFill/>
          <a:ln/>
        </p:spPr>
        <p:txBody>
          <a:bodyPr wrap="square" lIns="0" tIns="0" rIns="0" bIns="0" rtlCol="0" anchor="t"/>
          <a:lstStyle/>
          <a:p>
            <a:pPr indent="0" marL="0">
              <a:buNone/>
            </a:pPr>
            <a:r>
              <a:rPr lang="en-US" sz="1600" b="1" dirty="0">
                <a:solidFill>
                  <a:srgbClr val="2F7A55"/>
                </a:solidFill>
                <a:latin typeface="Meiryo UI" pitchFamily="34" charset="0"/>
                <a:ea typeface="Meiryo UI" pitchFamily="34" charset="-122"/>
                <a:cs typeface="Meiryo UI" pitchFamily="34" charset="-120"/>
              </a:rPr>
              <a:t>② デザイン重視型</a:t>
            </a:r>
            <a:endParaRPr lang="en-US" sz="1600" dirty="0"/>
          </a:p>
        </p:txBody>
      </p:sp>
      <p:sp>
        <p:nvSpPr>
          <p:cNvPr id="16" name="Text 12"/>
          <p:cNvSpPr txBox="1"/>
          <p:nvPr/>
        </p:nvSpPr>
        <p:spPr>
          <a:xfrm>
            <a:off x="6664757" y="3474720"/>
            <a:ext cx="1188720" cy="274320"/>
          </a:xfrm>
          <a:prstGeom prst="rect">
            <a:avLst/>
          </a:prstGeom>
          <a:noFill/>
          <a:ln/>
        </p:spPr>
        <p:txBody>
          <a:bodyPr wrap="square" lIns="0" tIns="0" rIns="0" bIns="0" rtlCol="0" anchor="t"/>
          <a:lstStyle/>
          <a:p>
            <a:pPr algn="r" indent="0" marL="0">
              <a:buNone/>
            </a:pPr>
            <a:r>
              <a:rPr lang="en-US" sz="1100" b="1" dirty="0">
                <a:solidFill>
                  <a:srgbClr val="D8614F"/>
                </a:solidFill>
                <a:latin typeface="Meiryo UI" pitchFamily="34" charset="0"/>
                <a:ea typeface="Meiryo UI" pitchFamily="34" charset="-122"/>
                <a:cs typeface="Meiryo UI" pitchFamily="34" charset="-120"/>
              </a:rPr>
              <a:t>尺：30〜90秒</a:t>
            </a:r>
            <a:endParaRPr lang="en-US" sz="1100" dirty="0"/>
          </a:p>
        </p:txBody>
      </p:sp>
      <p:sp>
        <p:nvSpPr>
          <p:cNvPr id="17" name="Text 13"/>
          <p:cNvSpPr txBox="1"/>
          <p:nvPr/>
        </p:nvSpPr>
        <p:spPr>
          <a:xfrm>
            <a:off x="4338218" y="3776472"/>
            <a:ext cx="3515258" cy="274320"/>
          </a:xfrm>
          <a:prstGeom prst="rect">
            <a:avLst/>
          </a:prstGeom>
          <a:noFill/>
          <a:ln/>
        </p:spPr>
        <p:txBody>
          <a:bodyPr wrap="square" lIns="0" tIns="0" rIns="0" bIns="0" rtlCol="0" anchor="t"/>
          <a:lstStyle/>
          <a:p>
            <a:pPr indent="0" marL="0">
              <a:buNone/>
            </a:pPr>
            <a:r>
              <a:rPr lang="en-US" sz="1100" dirty="0">
                <a:solidFill>
                  <a:srgbClr val="66786F"/>
                </a:solidFill>
                <a:latin typeface="Meiryo UI" pitchFamily="34" charset="0"/>
                <a:ea typeface="Meiryo UI" pitchFamily="34" charset="-122"/>
                <a:cs typeface="Meiryo UI" pitchFamily="34" charset="-120"/>
              </a:rPr>
              <a:t>Instagram／HP／オンラインサロン連動</a:t>
            </a:r>
            <a:endParaRPr lang="en-US" sz="1100" dirty="0"/>
          </a:p>
        </p:txBody>
      </p:sp>
      <p:sp>
        <p:nvSpPr>
          <p:cNvPr id="18" name="Text 14"/>
          <p:cNvSpPr txBox="1"/>
          <p:nvPr/>
        </p:nvSpPr>
        <p:spPr>
          <a:xfrm>
            <a:off x="4338218" y="4114800"/>
            <a:ext cx="3515258" cy="1325880"/>
          </a:xfrm>
          <a:prstGeom prst="rect">
            <a:avLst/>
          </a:prstGeom>
          <a:noFill/>
          <a:ln/>
        </p:spPr>
        <p:txBody>
          <a:bodyPr wrap="square" lIns="0" tIns="0" rIns="0" bIns="0" rtlCol="0" anchor="t"/>
          <a:lstStyle/>
          <a:p>
            <a:pPr marL="342900" indent="-342900">
              <a:spcAft>
                <a:spcPts val="100"/>
              </a:spcAft>
              <a:buSzPct val="100000"/>
              <a:buFont typeface="+mj-lt"/>
              <a:buAutoNum type="arabicPeriod" startAt="1"/>
            </a:pPr>
            <a:r>
              <a:rPr lang="en-US" sz="1100" dirty="0">
                <a:solidFill>
                  <a:srgbClr val="2A3330"/>
                </a:solidFill>
                <a:latin typeface="Meiryo UI" pitchFamily="34" charset="0"/>
                <a:ea typeface="Meiryo UI" pitchFamily="34" charset="-122"/>
                <a:cs typeface="Meiryo UI" pitchFamily="34" charset="-120"/>
              </a:rPr>
              <a:t>共感の一文「がんばるお母さんの心にも寄り添う塾。」</a:t>
            </a:r>
            <a:endParaRPr lang="en-US" sz="1100" dirty="0"/>
          </a:p>
          <a:p>
            <a:pPr marL="342900" indent="-342900">
              <a:spcAft>
                <a:spcPts val="100"/>
              </a:spcAft>
              <a:buSzPct val="100000"/>
              <a:buFont typeface="+mj-lt"/>
              <a:buAutoNum type="arabicPeriod" startAt="1"/>
            </a:pPr>
            <a:r>
              <a:rPr lang="en-US" sz="1100" dirty="0">
                <a:solidFill>
                  <a:srgbClr val="2A3330"/>
                </a:solidFill>
                <a:latin typeface="Meiryo UI" pitchFamily="34" charset="0"/>
                <a:ea typeface="Meiryo UI" pitchFamily="34" charset="-122"/>
                <a:cs typeface="Meiryo UI" pitchFamily="34" charset="-120"/>
              </a:rPr>
              <a:t>サービスの特長3つ</a:t>
            </a:r>
            <a:endParaRPr lang="en-US" sz="1100" dirty="0"/>
          </a:p>
          <a:p>
            <a:pPr marL="342900" indent="-342900">
              <a:spcAft>
                <a:spcPts val="100"/>
              </a:spcAft>
              <a:buSzPct val="100000"/>
              <a:buFont typeface="+mj-lt"/>
              <a:buAutoNum type="arabicPeriod" startAt="1"/>
            </a:pPr>
            <a:r>
              <a:rPr lang="en-US" sz="1100" dirty="0">
                <a:solidFill>
                  <a:srgbClr val="2A3330"/>
                </a:solidFill>
                <a:latin typeface="Meiryo UI" pitchFamily="34" charset="0"/>
                <a:ea typeface="Meiryo UI" pitchFamily="34" charset="-122"/>
                <a:cs typeface="Meiryo UI" pitchFamily="34" charset="-120"/>
              </a:rPr>
              <a:t>代表の想い</a:t>
            </a:r>
            <a:endParaRPr lang="en-US" sz="1100" dirty="0"/>
          </a:p>
          <a:p>
            <a:pPr marL="342900" indent="-342900">
              <a:spcAft>
                <a:spcPts val="100"/>
              </a:spcAft>
              <a:buSzPct val="100000"/>
              <a:buFont typeface="+mj-lt"/>
              <a:buAutoNum type="arabicPeriod" startAt="1"/>
            </a:pPr>
            <a:r>
              <a:rPr lang="en-US" sz="1100" dirty="0">
                <a:solidFill>
                  <a:srgbClr val="2A3330"/>
                </a:solidFill>
                <a:latin typeface="Meiryo UI" pitchFamily="34" charset="0"/>
                <a:ea typeface="Meiryo UI" pitchFamily="34" charset="-122"/>
                <a:cs typeface="Meiryo UI" pitchFamily="34" charset="-120"/>
              </a:rPr>
              <a:t>無料相談・子育て講座の案内</a:t>
            </a:r>
            <a:endParaRPr lang="en-US" sz="1100" dirty="0"/>
          </a:p>
          <a:p>
            <a:pPr marL="342900" indent="-342900">
              <a:spcAft>
                <a:spcPts val="100"/>
              </a:spcAft>
              <a:buSzPct val="100000"/>
              <a:buFont typeface="+mj-lt"/>
              <a:buAutoNum type="arabicPeriod" startAt="1"/>
            </a:pPr>
            <a:r>
              <a:rPr lang="en-US" sz="1100" dirty="0">
                <a:solidFill>
                  <a:srgbClr val="2A3330"/>
                </a:solidFill>
                <a:latin typeface="Meiryo UI" pitchFamily="34" charset="0"/>
                <a:ea typeface="Meiryo UI" pitchFamily="34" charset="-122"/>
                <a:cs typeface="Meiryo UI" pitchFamily="34" charset="-120"/>
              </a:rPr>
              <a:t>プロフィールへ誘導</a:t>
            </a:r>
            <a:endParaRPr lang="en-US" sz="1100" dirty="0"/>
          </a:p>
        </p:txBody>
      </p:sp>
      <p:sp>
        <p:nvSpPr>
          <p:cNvPr id="19" name="Text 15"/>
          <p:cNvSpPr txBox="1"/>
          <p:nvPr/>
        </p:nvSpPr>
        <p:spPr>
          <a:xfrm>
            <a:off x="4338218" y="5486400"/>
            <a:ext cx="3515258" cy="777240"/>
          </a:xfrm>
          <a:prstGeom prst="rect">
            <a:avLst/>
          </a:prstGeom>
          <a:noFill/>
          <a:ln/>
        </p:spPr>
        <p:txBody>
          <a:bodyPr wrap="square" lIns="0" tIns="0" rIns="0" bIns="0" rtlCol="0" anchor="t"/>
          <a:lstStyle/>
          <a:p>
            <a:pPr indent="0" marL="0">
              <a:buNone/>
            </a:pPr>
            <a:r>
              <a:rPr lang="en-US" sz="1100" b="1" dirty="0">
                <a:solidFill>
                  <a:srgbClr val="2F7A55"/>
                </a:solidFill>
                <a:latin typeface="Meiryo UI" pitchFamily="34" charset="0"/>
                <a:ea typeface="Meiryo UI" pitchFamily="34" charset="-122"/>
                <a:cs typeface="Meiryo UI" pitchFamily="34" charset="-120"/>
              </a:rPr>
              <a:t>トーン：</a:t>
            </a:r>
            <a:pPr indent="0" marL="0">
              <a:buNone/>
            </a:pPr>
            <a:r>
              <a:rPr lang="en-US" sz="1100" dirty="0">
                <a:solidFill>
                  <a:srgbClr val="2A3330"/>
                </a:solidFill>
                <a:latin typeface="Meiryo UI" pitchFamily="34" charset="0"/>
                <a:ea typeface="Meiryo UI" pitchFamily="34" charset="-122"/>
                <a:cs typeface="Meiryo UI" pitchFamily="34" charset="-120"/>
              </a:rPr>
              <a:t>やわらかさ・清潔感。クローバーの緑で安心感を表現</a:t>
            </a:r>
            <a:endParaRPr lang="en-US" sz="1100" dirty="0"/>
          </a:p>
          <a:p>
            <a:pPr indent="0" marL="0">
              <a:buNone/>
            </a:pPr>
            <a:r>
              <a:rPr lang="en-US" sz="1100" b="1" dirty="0">
                <a:solidFill>
                  <a:srgbClr val="D8614F"/>
                </a:solidFill>
                <a:latin typeface="Meiryo UI" pitchFamily="34" charset="0"/>
                <a:ea typeface="Meiryo UI" pitchFamily="34" charset="-122"/>
                <a:cs typeface="Meiryo UI" pitchFamily="34" charset="-120"/>
              </a:rPr>
              <a:t>ゴール：</a:t>
            </a:r>
            <a:pPr indent="0" marL="0">
              <a:buNone/>
            </a:pPr>
            <a:r>
              <a:rPr lang="en-US" sz="1100" dirty="0">
                <a:solidFill>
                  <a:srgbClr val="2A3330"/>
                </a:solidFill>
                <a:latin typeface="Meiryo UI" pitchFamily="34" charset="0"/>
                <a:ea typeface="Meiryo UI" pitchFamily="34" charset="-122"/>
                <a:cs typeface="Meiryo UI" pitchFamily="34" charset="-120"/>
              </a:rPr>
              <a:t>保存・フォローされ、LINE登録につながる</a:t>
            </a:r>
            <a:endParaRPr lang="en-US" sz="1100" dirty="0"/>
          </a:p>
        </p:txBody>
      </p:sp>
      <p:sp>
        <p:nvSpPr>
          <p:cNvPr id="20" name="Shape 16"/>
          <p:cNvSpPr/>
          <p:nvPr/>
        </p:nvSpPr>
        <p:spPr>
          <a:xfrm>
            <a:off x="8127797" y="1371600"/>
            <a:ext cx="3515258" cy="1920240"/>
          </a:xfrm>
          <a:prstGeom prst="roundRect">
            <a:avLst>
              <a:gd name="adj" fmla="val 5714"/>
            </a:avLst>
          </a:prstGeom>
          <a:solidFill>
            <a:srgbClr val="EAF4EE"/>
          </a:solidFill>
          <a:ln w="12700">
            <a:solidFill>
              <a:srgbClr val="EAF4EE"/>
            </a:solidFill>
            <a:prstDash val="solid"/>
          </a:ln>
        </p:spPr>
      </p:sp>
      <p:pic>
        <p:nvPicPr>
          <p:cNvPr id="21" name="Image 2" descr="/tmp/claude-0/-home-user-crow-dunit/6eea73a9-a861-533a-875b-45d20cf557b2/scratchpad/clover/thumbs/tiktok.png">    </p:cNvPr>
          <p:cNvPicPr>
            <a:picLocks noChangeAspect="1"/>
          </p:cNvPicPr>
          <p:nvPr/>
        </p:nvPicPr>
        <p:blipFill>
          <a:blip r:embed="rId3"/>
          <a:stretch>
            <a:fillRect/>
          </a:stretch>
        </p:blipFill>
        <p:spPr>
          <a:xfrm>
            <a:off x="9396794" y="1463040"/>
            <a:ext cx="977265" cy="1737360"/>
          </a:xfrm>
          <a:prstGeom prst="rect">
            <a:avLst/>
          </a:prstGeom>
          <a:effectLst>
            <a:outerShdw sx="100000" sy="100000" kx="0" ky="0" algn="bl" rotWithShape="0" blurRad="76200" dist="25400" dir="5400000">
              <a:srgbClr val="000000">
                <a:alpha val="12000"/>
              </a:srgbClr>
            </a:outerShdw>
          </a:effectLst>
        </p:spPr>
      </p:pic>
      <p:sp>
        <p:nvSpPr>
          <p:cNvPr id="22" name="Text 17"/>
          <p:cNvSpPr txBox="1"/>
          <p:nvPr/>
        </p:nvSpPr>
        <p:spPr>
          <a:xfrm>
            <a:off x="8127797" y="3429000"/>
            <a:ext cx="3515258" cy="365760"/>
          </a:xfrm>
          <a:prstGeom prst="rect">
            <a:avLst/>
          </a:prstGeom>
          <a:noFill/>
          <a:ln/>
        </p:spPr>
        <p:txBody>
          <a:bodyPr wrap="square" lIns="0" tIns="0" rIns="0" bIns="0" rtlCol="0" anchor="t"/>
          <a:lstStyle/>
          <a:p>
            <a:pPr indent="0" marL="0">
              <a:buNone/>
            </a:pPr>
            <a:r>
              <a:rPr lang="en-US" sz="1600" b="1" dirty="0">
                <a:solidFill>
                  <a:srgbClr val="2F7A55"/>
                </a:solidFill>
                <a:latin typeface="Meiryo UI" pitchFamily="34" charset="0"/>
                <a:ea typeface="Meiryo UI" pitchFamily="34" charset="-122"/>
                <a:cs typeface="Meiryo UI" pitchFamily="34" charset="-120"/>
              </a:rPr>
              <a:t>③ 縦型ショート型</a:t>
            </a:r>
            <a:endParaRPr lang="en-US" sz="1600" dirty="0"/>
          </a:p>
        </p:txBody>
      </p:sp>
      <p:sp>
        <p:nvSpPr>
          <p:cNvPr id="23" name="Text 18"/>
          <p:cNvSpPr txBox="1"/>
          <p:nvPr/>
        </p:nvSpPr>
        <p:spPr>
          <a:xfrm>
            <a:off x="10454335" y="3474720"/>
            <a:ext cx="1188720" cy="274320"/>
          </a:xfrm>
          <a:prstGeom prst="rect">
            <a:avLst/>
          </a:prstGeom>
          <a:noFill/>
          <a:ln/>
        </p:spPr>
        <p:txBody>
          <a:bodyPr wrap="square" lIns="0" tIns="0" rIns="0" bIns="0" rtlCol="0" anchor="t"/>
          <a:lstStyle/>
          <a:p>
            <a:pPr algn="r" indent="0" marL="0">
              <a:buNone/>
            </a:pPr>
            <a:r>
              <a:rPr lang="en-US" sz="1100" b="1" dirty="0">
                <a:solidFill>
                  <a:srgbClr val="D8614F"/>
                </a:solidFill>
                <a:latin typeface="Meiryo UI" pitchFamily="34" charset="0"/>
                <a:ea typeface="Meiryo UI" pitchFamily="34" charset="-122"/>
                <a:cs typeface="Meiryo UI" pitchFamily="34" charset="-120"/>
              </a:rPr>
              <a:t>尺：15〜60秒</a:t>
            </a:r>
            <a:endParaRPr lang="en-US" sz="1100" dirty="0"/>
          </a:p>
        </p:txBody>
      </p:sp>
      <p:sp>
        <p:nvSpPr>
          <p:cNvPr id="24" name="Text 19"/>
          <p:cNvSpPr txBox="1"/>
          <p:nvPr/>
        </p:nvSpPr>
        <p:spPr>
          <a:xfrm>
            <a:off x="8127797" y="3776472"/>
            <a:ext cx="3515258" cy="274320"/>
          </a:xfrm>
          <a:prstGeom prst="rect">
            <a:avLst/>
          </a:prstGeom>
          <a:noFill/>
          <a:ln/>
        </p:spPr>
        <p:txBody>
          <a:bodyPr wrap="square" lIns="0" tIns="0" rIns="0" bIns="0" rtlCol="0" anchor="t"/>
          <a:lstStyle/>
          <a:p>
            <a:pPr indent="0" marL="0">
              <a:buNone/>
            </a:pPr>
            <a:r>
              <a:rPr lang="en-US" sz="1100" dirty="0">
                <a:solidFill>
                  <a:srgbClr val="66786F"/>
                </a:solidFill>
                <a:latin typeface="Meiryo UI" pitchFamily="34" charset="0"/>
                <a:ea typeface="Meiryo UI" pitchFamily="34" charset="-122"/>
                <a:cs typeface="Meiryo UI" pitchFamily="34" charset="-120"/>
              </a:rPr>
              <a:t>TikTok／YouTubeショート／リール</a:t>
            </a:r>
            <a:endParaRPr lang="en-US" sz="1100" dirty="0"/>
          </a:p>
        </p:txBody>
      </p:sp>
      <p:sp>
        <p:nvSpPr>
          <p:cNvPr id="25" name="Text 20"/>
          <p:cNvSpPr txBox="1"/>
          <p:nvPr/>
        </p:nvSpPr>
        <p:spPr>
          <a:xfrm>
            <a:off x="8127797" y="4114800"/>
            <a:ext cx="3515258" cy="1325880"/>
          </a:xfrm>
          <a:prstGeom prst="rect">
            <a:avLst/>
          </a:prstGeom>
          <a:noFill/>
          <a:ln/>
        </p:spPr>
        <p:txBody>
          <a:bodyPr wrap="square" lIns="0" tIns="0" rIns="0" bIns="0" rtlCol="0" anchor="t"/>
          <a:lstStyle/>
          <a:p>
            <a:pPr marL="342900" indent="-342900">
              <a:spcAft>
                <a:spcPts val="100"/>
              </a:spcAft>
              <a:buSzPct val="100000"/>
              <a:buFont typeface="+mj-lt"/>
              <a:buAutoNum type="arabicPeriod" startAt="1"/>
            </a:pPr>
            <a:r>
              <a:rPr lang="en-US" sz="1100" dirty="0">
                <a:solidFill>
                  <a:srgbClr val="2A3330"/>
                </a:solidFill>
                <a:latin typeface="Meiryo UI" pitchFamily="34" charset="0"/>
                <a:ea typeface="Meiryo UI" pitchFamily="34" charset="-122"/>
                <a:cs typeface="Meiryo UI" pitchFamily="34" charset="-120"/>
              </a:rPr>
              <a:t>フック「子どもが勉強しないのはお母さんのせいじゃない。」</a:t>
            </a:r>
            <a:endParaRPr lang="en-US" sz="1100" dirty="0"/>
          </a:p>
          <a:p>
            <a:pPr marL="342900" indent="-342900">
              <a:spcAft>
                <a:spcPts val="100"/>
              </a:spcAft>
              <a:buSzPct val="100000"/>
              <a:buFont typeface="+mj-lt"/>
              <a:buAutoNum type="arabicPeriod" startAt="1"/>
            </a:pPr>
            <a:r>
              <a:rPr lang="en-US" sz="1100" dirty="0">
                <a:solidFill>
                  <a:srgbClr val="2A3330"/>
                </a:solidFill>
                <a:latin typeface="Meiryo UI" pitchFamily="34" charset="0"/>
                <a:ea typeface="Meiryo UI" pitchFamily="34" charset="-122"/>
                <a:cs typeface="Meiryo UI" pitchFamily="34" charset="-120"/>
              </a:rPr>
              <a:t>答え（考え方をひと言で）</a:t>
            </a:r>
            <a:endParaRPr lang="en-US" sz="1100" dirty="0"/>
          </a:p>
          <a:p>
            <a:pPr marL="342900" indent="-342900">
              <a:spcAft>
                <a:spcPts val="100"/>
              </a:spcAft>
              <a:buSzPct val="100000"/>
              <a:buFont typeface="+mj-lt"/>
              <a:buAutoNum type="arabicPeriod" startAt="1"/>
            </a:pPr>
            <a:r>
              <a:rPr lang="en-US" sz="1100" dirty="0">
                <a:solidFill>
                  <a:srgbClr val="2A3330"/>
                </a:solidFill>
                <a:latin typeface="Meiryo UI" pitchFamily="34" charset="0"/>
                <a:ea typeface="Meiryo UI" pitchFamily="34" charset="-122"/>
                <a:cs typeface="Meiryo UI" pitchFamily="34" charset="-120"/>
              </a:rPr>
              <a:t>続きはプロフィールへ</a:t>
            </a:r>
            <a:endParaRPr lang="en-US" sz="1100" dirty="0"/>
          </a:p>
        </p:txBody>
      </p:sp>
      <p:sp>
        <p:nvSpPr>
          <p:cNvPr id="26" name="Text 21"/>
          <p:cNvSpPr txBox="1"/>
          <p:nvPr/>
        </p:nvSpPr>
        <p:spPr>
          <a:xfrm>
            <a:off x="8127797" y="5486400"/>
            <a:ext cx="3515258" cy="777240"/>
          </a:xfrm>
          <a:prstGeom prst="rect">
            <a:avLst/>
          </a:prstGeom>
          <a:noFill/>
          <a:ln/>
        </p:spPr>
        <p:txBody>
          <a:bodyPr wrap="square" lIns="0" tIns="0" rIns="0" bIns="0" rtlCol="0" anchor="t"/>
          <a:lstStyle/>
          <a:p>
            <a:pPr indent="0" marL="0">
              <a:buNone/>
            </a:pPr>
            <a:r>
              <a:rPr lang="en-US" sz="1100" b="1" dirty="0">
                <a:solidFill>
                  <a:srgbClr val="2F7A55"/>
                </a:solidFill>
                <a:latin typeface="Meiryo UI" pitchFamily="34" charset="0"/>
                <a:ea typeface="Meiryo UI" pitchFamily="34" charset="-122"/>
                <a:cs typeface="Meiryo UI" pitchFamily="34" charset="-120"/>
              </a:rPr>
              <a:t>トーン：</a:t>
            </a:r>
            <a:pPr indent="0" marL="0">
              <a:buNone/>
            </a:pPr>
            <a:r>
              <a:rPr lang="en-US" sz="1100" dirty="0">
                <a:solidFill>
                  <a:srgbClr val="2A3330"/>
                </a:solidFill>
                <a:latin typeface="Meiryo UI" pitchFamily="34" charset="0"/>
                <a:ea typeface="Meiryo UI" pitchFamily="34" charset="-122"/>
                <a:cs typeface="Meiryo UI" pitchFamily="34" charset="-120"/>
              </a:rPr>
              <a:t>共感・意外性。お母さんを責めない言葉選び</a:t>
            </a:r>
            <a:endParaRPr lang="en-US" sz="1100" dirty="0"/>
          </a:p>
          <a:p>
            <a:pPr indent="0" marL="0">
              <a:buNone/>
            </a:pPr>
            <a:r>
              <a:rPr lang="en-US" sz="1100" b="1" dirty="0">
                <a:solidFill>
                  <a:srgbClr val="D8614F"/>
                </a:solidFill>
                <a:latin typeface="Meiryo UI" pitchFamily="34" charset="0"/>
                <a:ea typeface="Meiryo UI" pitchFamily="34" charset="-122"/>
                <a:cs typeface="Meiryo UI" pitchFamily="34" charset="-120"/>
              </a:rPr>
              <a:t>ゴール：</a:t>
            </a:r>
            <a:pPr indent="0" marL="0">
              <a:buNone/>
            </a:pPr>
            <a:r>
              <a:rPr lang="en-US" sz="1100" dirty="0">
                <a:solidFill>
                  <a:srgbClr val="2A3330"/>
                </a:solidFill>
                <a:latin typeface="Meiryo UI" pitchFamily="34" charset="0"/>
                <a:ea typeface="Meiryo UI" pitchFamily="34" charset="-122"/>
                <a:cs typeface="Meiryo UI" pitchFamily="34" charset="-120"/>
              </a:rPr>
              <a:t>全国での認知拡大と、長尺動画・LINEへの送客</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8614F"/>
                </a:solidFill>
                <a:latin typeface="Meiryo UI" pitchFamily="34" charset="0"/>
                <a:ea typeface="Meiryo UI" pitchFamily="34" charset="-122"/>
                <a:cs typeface="Meiryo UI" pitchFamily="34" charset="-120"/>
              </a:rPr>
              <a:t>04｜PULL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2F7A55"/>
                </a:solidFill>
                <a:latin typeface="Meiryo UI" pitchFamily="34" charset="0"/>
                <a:ea typeface="Meiryo UI" pitchFamily="34" charset="-122"/>
                <a:cs typeface="Meiryo UI" pitchFamily="34" charset="-120"/>
              </a:rPr>
              <a:t>サムネイル・画面イメージ（ラフ案）</a:t>
            </a:r>
            <a:endParaRPr lang="en-US" sz="2600" dirty="0"/>
          </a:p>
        </p:txBody>
      </p:sp>
      <p:sp>
        <p:nvSpPr>
          <p:cNvPr id="4" name="Text 2"/>
          <p:cNvSpPr txBox="1"/>
          <p:nvPr/>
        </p:nvSpPr>
        <p:spPr>
          <a:xfrm>
            <a:off x="548640" y="1207008"/>
            <a:ext cx="11094415" cy="365760"/>
          </a:xfrm>
          <a:prstGeom prst="rect">
            <a:avLst/>
          </a:prstGeom>
          <a:noFill/>
          <a:ln/>
        </p:spPr>
        <p:txBody>
          <a:bodyPr wrap="square" lIns="0" tIns="0" rIns="0" bIns="0" rtlCol="0" anchor="ctr"/>
          <a:lstStyle/>
          <a:p>
            <a:pPr indent="0" marL="0">
              <a:buNone/>
            </a:pPr>
            <a:r>
              <a:rPr lang="en-US" sz="1300" dirty="0">
                <a:solidFill>
                  <a:srgbClr val="66786F"/>
                </a:solidFill>
                <a:latin typeface="Meiryo UI" pitchFamily="34" charset="0"/>
                <a:ea typeface="Meiryo UI" pitchFamily="34" charset="-122"/>
                <a:cs typeface="Meiryo UI" pitchFamily="34" charset="-120"/>
              </a:rPr>
              <a:t>無料3本のうち、プル施策で活用する動画の“見え方”のイメージです。媒体ごとに、最初の1秒で伝えることを変えています。</a:t>
            </a:r>
            <a:endParaRPr lang="en-US" sz="1300" dirty="0"/>
          </a:p>
        </p:txBody>
      </p:sp>
      <p:sp>
        <p:nvSpPr>
          <p:cNvPr id="5" name="Text 3"/>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0"/>
                </a:solidFill>
                <a:latin typeface="Meiryo UI" pitchFamily="34" charset="0"/>
                <a:ea typeface="Meiryo UI" pitchFamily="34" charset="-122"/>
                <a:cs typeface="Meiryo UI" pitchFamily="34" charset="-120"/>
              </a:rPr>
              <a:t>13</a:t>
            </a:r>
            <a:endParaRPr lang="en-US" sz="1000" dirty="0"/>
          </a:p>
        </p:txBody>
      </p:sp>
      <p:sp>
        <p:nvSpPr>
          <p:cNvPr id="6" name="Text 4"/>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0"/>
                </a:solidFill>
                <a:latin typeface="Meiryo UI" pitchFamily="34" charset="0"/>
                <a:ea typeface="Meiryo UI" pitchFamily="34" charset="-122"/>
                <a:cs typeface="Meiryo UI" pitchFamily="34" charset="-120"/>
              </a:rPr>
              <a:t>株式会社アイドマ・ホールディングス｜MiTok</a:t>
            </a:r>
            <a:endParaRPr lang="en-US" sz="900" dirty="0"/>
          </a:p>
        </p:txBody>
      </p:sp>
      <p:pic>
        <p:nvPicPr>
          <p:cNvPr id="7" name="Image 0" descr="/tmp/claude-0/-home-user-crow-dunit/6eea73a9-a861-533a-875b-45d20cf557b2/scratchpad/clover/thumbs/youtube.png">    </p:cNvPr>
          <p:cNvPicPr>
            <a:picLocks noChangeAspect="1"/>
          </p:cNvPicPr>
          <p:nvPr/>
        </p:nvPicPr>
        <p:blipFill>
          <a:blip r:embed="rId1"/>
          <a:stretch>
            <a:fillRect/>
          </a:stretch>
        </p:blipFill>
        <p:spPr>
          <a:xfrm>
            <a:off x="548640" y="1783080"/>
            <a:ext cx="4846320" cy="2726055"/>
          </a:xfrm>
          <a:prstGeom prst="rect">
            <a:avLst/>
          </a:prstGeom>
          <a:effectLst>
            <a:outerShdw sx="100000" sy="100000" kx="0" ky="0" algn="bl" rotWithShape="0" blurRad="76200" dist="25400" dir="5400000">
              <a:srgbClr val="000000">
                <a:alpha val="12000"/>
              </a:srgbClr>
            </a:outerShdw>
          </a:effectLst>
        </p:spPr>
      </p:pic>
      <p:pic>
        <p:nvPicPr>
          <p:cNvPr id="8" name="Image 1" descr="/tmp/claude-0/-home-user-crow-dunit/6eea73a9-a861-533a-875b-45d20cf557b2/scratchpad/clover/thumbs/instagram.png">    </p:cNvPr>
          <p:cNvPicPr>
            <a:picLocks noChangeAspect="1"/>
          </p:cNvPicPr>
          <p:nvPr/>
        </p:nvPicPr>
        <p:blipFill>
          <a:blip r:embed="rId2"/>
          <a:stretch>
            <a:fillRect/>
          </a:stretch>
        </p:blipFill>
        <p:spPr>
          <a:xfrm>
            <a:off x="5897880" y="1783080"/>
            <a:ext cx="2627142" cy="3794760"/>
          </a:xfrm>
          <a:prstGeom prst="rect">
            <a:avLst/>
          </a:prstGeom>
          <a:effectLst>
            <a:outerShdw sx="100000" sy="100000" kx="0" ky="0" algn="bl" rotWithShape="0" blurRad="76200" dist="25400" dir="5400000">
              <a:srgbClr val="000000">
                <a:alpha val="12000"/>
              </a:srgbClr>
            </a:outerShdw>
          </a:effectLst>
        </p:spPr>
      </p:pic>
      <p:sp>
        <p:nvSpPr>
          <p:cNvPr id="9" name="Text 5"/>
          <p:cNvSpPr txBox="1"/>
          <p:nvPr/>
        </p:nvSpPr>
        <p:spPr>
          <a:xfrm>
            <a:off x="5715000" y="5650992"/>
            <a:ext cx="2992902" cy="274320"/>
          </a:xfrm>
          <a:prstGeom prst="rect">
            <a:avLst/>
          </a:prstGeom>
          <a:noFill/>
          <a:ln/>
        </p:spPr>
        <p:txBody>
          <a:bodyPr wrap="square" lIns="0" tIns="0" rIns="0" bIns="0" rtlCol="0" anchor="t"/>
          <a:lstStyle/>
          <a:p>
            <a:pPr algn="ctr" indent="0" marL="0">
              <a:buNone/>
            </a:pPr>
            <a:r>
              <a:rPr lang="en-US" sz="1100" b="1" dirty="0">
                <a:solidFill>
                  <a:srgbClr val="2F7A55"/>
                </a:solidFill>
                <a:latin typeface="Meiryo UI" pitchFamily="34" charset="0"/>
                <a:ea typeface="Meiryo UI" pitchFamily="34" charset="-122"/>
                <a:cs typeface="Meiryo UI" pitchFamily="34" charset="-120"/>
              </a:rPr>
              <a:t>Instagram｜フィード投稿</a:t>
            </a:r>
            <a:endParaRPr lang="en-US" sz="1100" dirty="0"/>
          </a:p>
        </p:txBody>
      </p:sp>
      <p:pic>
        <p:nvPicPr>
          <p:cNvPr id="10" name="Image 2" descr="/tmp/claude-0/-home-user-crow-dunit/6eea73a9-a861-533a-875b-45d20cf557b2/scratchpad/clover/thumbs/tiktok.png">    </p:cNvPr>
          <p:cNvPicPr>
            <a:picLocks noChangeAspect="1"/>
          </p:cNvPicPr>
          <p:nvPr/>
        </p:nvPicPr>
        <p:blipFill>
          <a:blip r:embed="rId3"/>
          <a:stretch>
            <a:fillRect/>
          </a:stretch>
        </p:blipFill>
        <p:spPr>
          <a:xfrm>
            <a:off x="9052560" y="1783080"/>
            <a:ext cx="2134553" cy="3794760"/>
          </a:xfrm>
          <a:prstGeom prst="rect">
            <a:avLst/>
          </a:prstGeom>
          <a:effectLst>
            <a:outerShdw sx="100000" sy="100000" kx="0" ky="0" algn="bl" rotWithShape="0" blurRad="76200" dist="25400" dir="5400000">
              <a:srgbClr val="000000">
                <a:alpha val="12000"/>
              </a:srgbClr>
            </a:outerShdw>
          </a:effectLst>
        </p:spPr>
      </p:pic>
      <p:sp>
        <p:nvSpPr>
          <p:cNvPr id="11" name="Text 6"/>
          <p:cNvSpPr txBox="1"/>
          <p:nvPr/>
        </p:nvSpPr>
        <p:spPr>
          <a:xfrm>
            <a:off x="8869680" y="5650992"/>
            <a:ext cx="2500313" cy="274320"/>
          </a:xfrm>
          <a:prstGeom prst="rect">
            <a:avLst/>
          </a:prstGeom>
          <a:noFill/>
          <a:ln/>
        </p:spPr>
        <p:txBody>
          <a:bodyPr wrap="square" lIns="0" tIns="0" rIns="0" bIns="0" rtlCol="0" anchor="t"/>
          <a:lstStyle/>
          <a:p>
            <a:pPr algn="ctr" indent="0" marL="0">
              <a:buNone/>
            </a:pPr>
            <a:r>
              <a:rPr lang="en-US" sz="1100" b="1" dirty="0">
                <a:solidFill>
                  <a:srgbClr val="2F7A55"/>
                </a:solidFill>
                <a:latin typeface="Meiryo UI" pitchFamily="34" charset="0"/>
                <a:ea typeface="Meiryo UI" pitchFamily="34" charset="-122"/>
                <a:cs typeface="Meiryo UI" pitchFamily="34" charset="-120"/>
              </a:rPr>
              <a:t>TikTok／ショート｜冒頭画面</a:t>
            </a:r>
            <a:endParaRPr lang="en-US" sz="1100" dirty="0"/>
          </a:p>
        </p:txBody>
      </p:sp>
      <p:sp>
        <p:nvSpPr>
          <p:cNvPr id="12" name="Shape 7"/>
          <p:cNvSpPr/>
          <p:nvPr/>
        </p:nvSpPr>
        <p:spPr>
          <a:xfrm>
            <a:off x="548640" y="4681728"/>
            <a:ext cx="4846320" cy="365760"/>
          </a:xfrm>
          <a:prstGeom prst="roundRect">
            <a:avLst>
              <a:gd name="adj" fmla="val 30000"/>
            </a:avLst>
          </a:prstGeom>
          <a:solidFill>
            <a:srgbClr val="EAF4EE"/>
          </a:solidFill>
          <a:ln w="12700">
            <a:solidFill>
              <a:srgbClr val="EAF4EE"/>
            </a:solidFill>
            <a:prstDash val="solid"/>
          </a:ln>
        </p:spPr>
      </p:sp>
      <p:sp>
        <p:nvSpPr>
          <p:cNvPr id="13" name="Text 8"/>
          <p:cNvSpPr txBox="1"/>
          <p:nvPr/>
        </p:nvSpPr>
        <p:spPr>
          <a:xfrm>
            <a:off x="658368" y="4681728"/>
            <a:ext cx="960120" cy="365760"/>
          </a:xfrm>
          <a:prstGeom prst="rect">
            <a:avLst/>
          </a:prstGeom>
          <a:noFill/>
          <a:ln/>
        </p:spPr>
        <p:txBody>
          <a:bodyPr wrap="square" lIns="0" tIns="0" rIns="0" bIns="0" rtlCol="0" anchor="ctr"/>
          <a:lstStyle/>
          <a:p>
            <a:pPr indent="0" marL="0">
              <a:buNone/>
            </a:pPr>
            <a:r>
              <a:rPr lang="en-US" sz="1050" b="1" dirty="0">
                <a:solidFill>
                  <a:srgbClr val="D8614F"/>
                </a:solidFill>
                <a:latin typeface="Meiryo UI" pitchFamily="34" charset="0"/>
                <a:ea typeface="Meiryo UI" pitchFamily="34" charset="-122"/>
                <a:cs typeface="Meiryo UI" pitchFamily="34" charset="-120"/>
              </a:rPr>
              <a:t>YouTube</a:t>
            </a:r>
            <a:endParaRPr lang="en-US" sz="1050" dirty="0"/>
          </a:p>
        </p:txBody>
      </p:sp>
      <p:sp>
        <p:nvSpPr>
          <p:cNvPr id="14" name="Text 9"/>
          <p:cNvSpPr txBox="1"/>
          <p:nvPr/>
        </p:nvSpPr>
        <p:spPr>
          <a:xfrm>
            <a:off x="1600200" y="4681728"/>
            <a:ext cx="3749040" cy="365760"/>
          </a:xfrm>
          <a:prstGeom prst="rect">
            <a:avLst/>
          </a:prstGeom>
          <a:noFill/>
          <a:ln/>
        </p:spPr>
        <p:txBody>
          <a:bodyPr wrap="square" lIns="0" tIns="0" rIns="0" bIns="0" rtlCol="0" anchor="ctr"/>
          <a:lstStyle/>
          <a:p>
            <a:pPr indent="0" marL="0">
              <a:buNone/>
            </a:pPr>
            <a:r>
              <a:rPr lang="en-US" sz="950" dirty="0">
                <a:solidFill>
                  <a:srgbClr val="2A3330"/>
                </a:solidFill>
                <a:latin typeface="Meiryo UI" pitchFamily="34" charset="0"/>
                <a:ea typeface="Meiryo UI" pitchFamily="34" charset="-122"/>
                <a:cs typeface="Meiryo UI" pitchFamily="34" charset="-120"/>
              </a:rPr>
              <a:t>検索されやすい悩みワード（不登校・勉強嫌い）を大きく。対象（お母さん）を明示してクリック率を高める</a:t>
            </a:r>
            <a:endParaRPr lang="en-US" sz="950" dirty="0"/>
          </a:p>
        </p:txBody>
      </p:sp>
      <p:sp>
        <p:nvSpPr>
          <p:cNvPr id="15" name="Shape 10"/>
          <p:cNvSpPr/>
          <p:nvPr/>
        </p:nvSpPr>
        <p:spPr>
          <a:xfrm>
            <a:off x="548640" y="5111496"/>
            <a:ext cx="4846320" cy="365760"/>
          </a:xfrm>
          <a:prstGeom prst="roundRect">
            <a:avLst>
              <a:gd name="adj" fmla="val 30000"/>
            </a:avLst>
          </a:prstGeom>
          <a:solidFill>
            <a:srgbClr val="F5F9F6"/>
          </a:solidFill>
          <a:ln w="12700">
            <a:solidFill>
              <a:srgbClr val="F5F9F6"/>
            </a:solidFill>
            <a:prstDash val="solid"/>
          </a:ln>
        </p:spPr>
      </p:sp>
      <p:sp>
        <p:nvSpPr>
          <p:cNvPr id="16" name="Text 11"/>
          <p:cNvSpPr txBox="1"/>
          <p:nvPr/>
        </p:nvSpPr>
        <p:spPr>
          <a:xfrm>
            <a:off x="658368" y="5111496"/>
            <a:ext cx="960120" cy="365760"/>
          </a:xfrm>
          <a:prstGeom prst="rect">
            <a:avLst/>
          </a:prstGeom>
          <a:noFill/>
          <a:ln/>
        </p:spPr>
        <p:txBody>
          <a:bodyPr wrap="square" lIns="0" tIns="0" rIns="0" bIns="0" rtlCol="0" anchor="ctr"/>
          <a:lstStyle/>
          <a:p>
            <a:pPr indent="0" marL="0">
              <a:buNone/>
            </a:pPr>
            <a:r>
              <a:rPr lang="en-US" sz="1050" b="1" dirty="0">
                <a:solidFill>
                  <a:srgbClr val="D8614F"/>
                </a:solidFill>
                <a:latin typeface="Meiryo UI" pitchFamily="34" charset="0"/>
                <a:ea typeface="Meiryo UI" pitchFamily="34" charset="-122"/>
                <a:cs typeface="Meiryo UI" pitchFamily="34" charset="-120"/>
              </a:rPr>
              <a:t>Instagram</a:t>
            </a:r>
            <a:endParaRPr lang="en-US" sz="1050" dirty="0"/>
          </a:p>
        </p:txBody>
      </p:sp>
      <p:sp>
        <p:nvSpPr>
          <p:cNvPr id="17" name="Text 12"/>
          <p:cNvSpPr txBox="1"/>
          <p:nvPr/>
        </p:nvSpPr>
        <p:spPr>
          <a:xfrm>
            <a:off x="1600200" y="5111496"/>
            <a:ext cx="3749040" cy="365760"/>
          </a:xfrm>
          <a:prstGeom prst="rect">
            <a:avLst/>
          </a:prstGeom>
          <a:noFill/>
          <a:ln/>
        </p:spPr>
        <p:txBody>
          <a:bodyPr wrap="square" lIns="0" tIns="0" rIns="0" bIns="0" rtlCol="0" anchor="ctr"/>
          <a:lstStyle/>
          <a:p>
            <a:pPr indent="0" marL="0">
              <a:buNone/>
            </a:pPr>
            <a:r>
              <a:rPr lang="en-US" sz="950" dirty="0">
                <a:solidFill>
                  <a:srgbClr val="2A3330"/>
                </a:solidFill>
                <a:latin typeface="Meiryo UI" pitchFamily="34" charset="0"/>
                <a:ea typeface="Meiryo UI" pitchFamily="34" charset="-122"/>
                <a:cs typeface="Meiryo UI" pitchFamily="34" charset="-120"/>
              </a:rPr>
              <a:t>サロンの世界観に合わせ、共感と安心感を優先。特長を3つのチップに整理</a:t>
            </a:r>
            <a:endParaRPr lang="en-US" sz="950" dirty="0"/>
          </a:p>
        </p:txBody>
      </p:sp>
      <p:sp>
        <p:nvSpPr>
          <p:cNvPr id="18" name="Shape 13"/>
          <p:cNvSpPr/>
          <p:nvPr/>
        </p:nvSpPr>
        <p:spPr>
          <a:xfrm>
            <a:off x="548640" y="5541264"/>
            <a:ext cx="4846320" cy="365760"/>
          </a:xfrm>
          <a:prstGeom prst="roundRect">
            <a:avLst>
              <a:gd name="adj" fmla="val 30000"/>
            </a:avLst>
          </a:prstGeom>
          <a:solidFill>
            <a:srgbClr val="F5F9F6"/>
          </a:solidFill>
          <a:ln w="12700">
            <a:solidFill>
              <a:srgbClr val="F5F9F6"/>
            </a:solidFill>
            <a:prstDash val="solid"/>
          </a:ln>
        </p:spPr>
      </p:sp>
      <p:sp>
        <p:nvSpPr>
          <p:cNvPr id="19" name="Text 14"/>
          <p:cNvSpPr txBox="1"/>
          <p:nvPr/>
        </p:nvSpPr>
        <p:spPr>
          <a:xfrm>
            <a:off x="658368" y="5541264"/>
            <a:ext cx="960120" cy="365760"/>
          </a:xfrm>
          <a:prstGeom prst="rect">
            <a:avLst/>
          </a:prstGeom>
          <a:noFill/>
          <a:ln/>
        </p:spPr>
        <p:txBody>
          <a:bodyPr wrap="square" lIns="0" tIns="0" rIns="0" bIns="0" rtlCol="0" anchor="ctr"/>
          <a:lstStyle/>
          <a:p>
            <a:pPr indent="0" marL="0">
              <a:buNone/>
            </a:pPr>
            <a:r>
              <a:rPr lang="en-US" sz="1050" b="1" dirty="0">
                <a:solidFill>
                  <a:srgbClr val="D8614F"/>
                </a:solidFill>
                <a:latin typeface="Meiryo UI" pitchFamily="34" charset="0"/>
                <a:ea typeface="Meiryo UI" pitchFamily="34" charset="-122"/>
                <a:cs typeface="Meiryo UI" pitchFamily="34" charset="-120"/>
              </a:rPr>
              <a:t>TikTok</a:t>
            </a:r>
            <a:endParaRPr lang="en-US" sz="1050" dirty="0"/>
          </a:p>
        </p:txBody>
      </p:sp>
      <p:sp>
        <p:nvSpPr>
          <p:cNvPr id="20" name="Text 15"/>
          <p:cNvSpPr txBox="1"/>
          <p:nvPr/>
        </p:nvSpPr>
        <p:spPr>
          <a:xfrm>
            <a:off x="1600200" y="5541264"/>
            <a:ext cx="3749040" cy="365760"/>
          </a:xfrm>
          <a:prstGeom prst="rect">
            <a:avLst/>
          </a:prstGeom>
          <a:noFill/>
          <a:ln/>
        </p:spPr>
        <p:txBody>
          <a:bodyPr wrap="square" lIns="0" tIns="0" rIns="0" bIns="0" rtlCol="0" anchor="ctr"/>
          <a:lstStyle/>
          <a:p>
            <a:pPr indent="0" marL="0">
              <a:buNone/>
            </a:pPr>
            <a:r>
              <a:rPr lang="en-US" sz="950" dirty="0">
                <a:solidFill>
                  <a:srgbClr val="2A3330"/>
                </a:solidFill>
                <a:latin typeface="Meiryo UI" pitchFamily="34" charset="0"/>
                <a:ea typeface="Meiryo UI" pitchFamily="34" charset="-122"/>
                <a:cs typeface="Meiryo UI" pitchFamily="34" charset="-120"/>
              </a:rPr>
              <a:t>冒頭2秒の“意外なひと言”＋MiTokの掛け合いで、スクロールを止める</a:t>
            </a:r>
            <a:endParaRPr lang="en-US" sz="950" dirty="0"/>
          </a:p>
        </p:txBody>
      </p:sp>
      <p:sp>
        <p:nvSpPr>
          <p:cNvPr id="21" name="Text 16"/>
          <p:cNvSpPr txBox="1"/>
          <p:nvPr/>
        </p:nvSpPr>
        <p:spPr>
          <a:xfrm>
            <a:off x="548640" y="5989320"/>
            <a:ext cx="11094415" cy="384048"/>
          </a:xfrm>
          <a:prstGeom prst="rect">
            <a:avLst/>
          </a:prstGeom>
          <a:noFill/>
          <a:ln/>
        </p:spPr>
        <p:txBody>
          <a:bodyPr wrap="square" lIns="0" tIns="0" rIns="0" bIns="0" rtlCol="0" anchor="t"/>
          <a:lstStyle/>
          <a:p>
            <a:pPr indent="0" marL="0">
              <a:buNone/>
            </a:pPr>
            <a:r>
              <a:rPr lang="en-US" sz="950" dirty="0">
                <a:solidFill>
                  <a:srgbClr val="66786F"/>
                </a:solidFill>
                <a:latin typeface="Meiryo UI" pitchFamily="34" charset="0"/>
                <a:ea typeface="Meiryo UI" pitchFamily="34" charset="-122"/>
                <a:cs typeface="Meiryo UI" pitchFamily="34" charset="-120"/>
              </a:rPr>
              <a:t>※イラスト・アカウント名・再生時間は仮のものです。本制作では貴社のロゴ・写真・代表の素材を使用します。お子さまの写真や声は、保護者の同意を得たうえで使用します。</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8614F"/>
                </a:solidFill>
                <a:latin typeface="Meiryo UI" pitchFamily="34" charset="0"/>
                <a:ea typeface="Meiryo UI" pitchFamily="34" charset="-122"/>
                <a:cs typeface="Meiryo UI" pitchFamily="34" charset="-120"/>
              </a:rPr>
              <a:t>04｜PULL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2F7A55"/>
                </a:solidFill>
                <a:latin typeface="Meiryo UI" pitchFamily="34" charset="0"/>
                <a:ea typeface="Meiryo UI" pitchFamily="34" charset="-122"/>
                <a:cs typeface="Meiryo UI" pitchFamily="34" charset="-120"/>
              </a:rPr>
              <a:t>長尺解説動画の絵コンテ（ラフ案）：MiTokの掛け合い構成</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0"/>
                </a:solidFill>
                <a:latin typeface="Meiryo UI" pitchFamily="34" charset="0"/>
                <a:ea typeface="Meiryo UI" pitchFamily="34" charset="-122"/>
                <a:cs typeface="Meiryo UI" pitchFamily="34" charset="-120"/>
              </a:rPr>
              <a:t>14</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0"/>
                </a:solidFill>
                <a:latin typeface="Meiryo UI" pitchFamily="34" charset="0"/>
                <a:ea typeface="Meiryo UI" pitchFamily="34" charset="-122"/>
                <a:cs typeface="Meiryo UI" pitchFamily="34" charset="-120"/>
              </a:rPr>
              <a:t>株式会社アイドマ・ホールディングス｜MiTok</a:t>
            </a:r>
            <a:endParaRPr lang="en-US" sz="900" dirty="0"/>
          </a:p>
        </p:txBody>
      </p:sp>
      <p:pic>
        <p:nvPicPr>
          <p:cNvPr id="6" name="Image 0" descr="/tmp/claude-0/-home-user-crow-dunit/6eea73a9-a861-533a-875b-45d20cf557b2/scratchpad/clover/thumbs/story1.png">    </p:cNvPr>
          <p:cNvPicPr>
            <a:picLocks noChangeAspect="1"/>
          </p:cNvPicPr>
          <p:nvPr/>
        </p:nvPicPr>
        <p:blipFill>
          <a:blip r:embed="rId1"/>
          <a:stretch>
            <a:fillRect/>
          </a:stretch>
        </p:blipFill>
        <p:spPr>
          <a:xfrm>
            <a:off x="548640" y="1417320"/>
            <a:ext cx="3429000" cy="1928813"/>
          </a:xfrm>
          <a:prstGeom prst="rect">
            <a:avLst/>
          </a:prstGeom>
          <a:effectLst>
            <a:outerShdw sx="100000" sy="100000" kx="0" ky="0" algn="bl" rotWithShape="0" blurRad="76200" dist="25400" dir="5400000">
              <a:srgbClr val="000000">
                <a:alpha val="12000"/>
              </a:srgbClr>
            </a:outerShdw>
          </a:effectLst>
        </p:spPr>
      </p:pic>
      <p:sp>
        <p:nvSpPr>
          <p:cNvPr id="7" name="Text 4"/>
          <p:cNvSpPr txBox="1"/>
          <p:nvPr/>
        </p:nvSpPr>
        <p:spPr>
          <a:xfrm>
            <a:off x="548640" y="3419285"/>
            <a:ext cx="3429000" cy="457200"/>
          </a:xfrm>
          <a:prstGeom prst="rect">
            <a:avLst/>
          </a:prstGeom>
          <a:noFill/>
          <a:ln/>
        </p:spPr>
        <p:txBody>
          <a:bodyPr wrap="square" lIns="0" tIns="0" rIns="0" bIns="0" rtlCol="0" anchor="t"/>
          <a:lstStyle/>
          <a:p>
            <a:pPr indent="0" marL="0">
              <a:buNone/>
            </a:pPr>
            <a:r>
              <a:rPr lang="en-US" sz="1050" b="1" dirty="0">
                <a:solidFill>
                  <a:srgbClr val="2F7A55"/>
                </a:solidFill>
                <a:latin typeface="Meiryo UI" pitchFamily="34" charset="0"/>
                <a:ea typeface="Meiryo UI" pitchFamily="34" charset="-122"/>
                <a:cs typeface="Meiryo UI" pitchFamily="34" charset="-120"/>
              </a:rPr>
              <a:t>0:00｜悩みの提示　</a:t>
            </a:r>
            <a:pPr indent="0" marL="0">
              <a:buNone/>
            </a:pPr>
            <a:r>
              <a:rPr lang="en-US" sz="1050" dirty="0">
                <a:solidFill>
                  <a:srgbClr val="2A3330"/>
                </a:solidFill>
                <a:latin typeface="Meiryo UI" pitchFamily="34" charset="0"/>
                <a:ea typeface="Meiryo UI" pitchFamily="34" charset="-122"/>
                <a:cs typeface="Meiryo UI" pitchFamily="34" charset="-120"/>
              </a:rPr>
              <a:t>お母さん役の「何ができる？」が共感を呼ぶ</a:t>
            </a:r>
            <a:endParaRPr lang="en-US" sz="1050" dirty="0"/>
          </a:p>
        </p:txBody>
      </p:sp>
      <p:pic>
        <p:nvPicPr>
          <p:cNvPr id="8" name="Image 1" descr="/tmp/claude-0/-home-user-crow-dunit/6eea73a9-a861-533a-875b-45d20cf557b2/scratchpad/clover/thumbs/story2.png">    </p:cNvPr>
          <p:cNvPicPr>
            <a:picLocks noChangeAspect="1"/>
          </p:cNvPicPr>
          <p:nvPr/>
        </p:nvPicPr>
        <p:blipFill>
          <a:blip r:embed="rId2"/>
          <a:stretch>
            <a:fillRect/>
          </a:stretch>
        </p:blipFill>
        <p:spPr>
          <a:xfrm>
            <a:off x="4251960" y="1417320"/>
            <a:ext cx="3429000" cy="1928813"/>
          </a:xfrm>
          <a:prstGeom prst="rect">
            <a:avLst/>
          </a:prstGeom>
          <a:effectLst>
            <a:outerShdw sx="100000" sy="100000" kx="0" ky="0" algn="bl" rotWithShape="0" blurRad="76200" dist="25400" dir="5400000">
              <a:srgbClr val="000000">
                <a:alpha val="12000"/>
              </a:srgbClr>
            </a:outerShdw>
          </a:effectLst>
        </p:spPr>
      </p:pic>
      <p:sp>
        <p:nvSpPr>
          <p:cNvPr id="9" name="Text 5"/>
          <p:cNvSpPr txBox="1"/>
          <p:nvPr/>
        </p:nvSpPr>
        <p:spPr>
          <a:xfrm>
            <a:off x="4251960" y="3419285"/>
            <a:ext cx="3429000" cy="457200"/>
          </a:xfrm>
          <a:prstGeom prst="rect">
            <a:avLst/>
          </a:prstGeom>
          <a:noFill/>
          <a:ln/>
        </p:spPr>
        <p:txBody>
          <a:bodyPr wrap="square" lIns="0" tIns="0" rIns="0" bIns="0" rtlCol="0" anchor="t"/>
          <a:lstStyle/>
          <a:p>
            <a:pPr indent="0" marL="0">
              <a:buNone/>
            </a:pPr>
            <a:r>
              <a:rPr lang="en-US" sz="1050" b="1" dirty="0">
                <a:solidFill>
                  <a:srgbClr val="2F7A55"/>
                </a:solidFill>
                <a:latin typeface="Meiryo UI" pitchFamily="34" charset="0"/>
                <a:ea typeface="Meiryo UI" pitchFamily="34" charset="-122"/>
                <a:cs typeface="Meiryo UI" pitchFamily="34" charset="-120"/>
              </a:rPr>
              <a:t>2:00｜考え方　</a:t>
            </a:r>
            <a:pPr indent="0" marL="0">
              <a:buNone/>
            </a:pPr>
            <a:r>
              <a:rPr lang="en-US" sz="1050" dirty="0">
                <a:solidFill>
                  <a:srgbClr val="2A3330"/>
                </a:solidFill>
                <a:latin typeface="Meiryo UI" pitchFamily="34" charset="0"/>
                <a:ea typeface="Meiryo UI" pitchFamily="34" charset="-122"/>
                <a:cs typeface="Meiryo UI" pitchFamily="34" charset="-120"/>
              </a:rPr>
              <a:t>代表役が大切にしていることを3点で語る</a:t>
            </a:r>
            <a:endParaRPr lang="en-US" sz="1050" dirty="0"/>
          </a:p>
        </p:txBody>
      </p:sp>
      <p:pic>
        <p:nvPicPr>
          <p:cNvPr id="10" name="Image 2" descr="/tmp/claude-0/-home-user-crow-dunit/6eea73a9-a861-533a-875b-45d20cf557b2/scratchpad/clover/thumbs/story3.png">    </p:cNvPr>
          <p:cNvPicPr>
            <a:picLocks noChangeAspect="1"/>
          </p:cNvPicPr>
          <p:nvPr/>
        </p:nvPicPr>
        <p:blipFill>
          <a:blip r:embed="rId3"/>
          <a:stretch>
            <a:fillRect/>
          </a:stretch>
        </p:blipFill>
        <p:spPr>
          <a:xfrm>
            <a:off x="548640" y="3913061"/>
            <a:ext cx="3429000" cy="1928813"/>
          </a:xfrm>
          <a:prstGeom prst="rect">
            <a:avLst/>
          </a:prstGeom>
          <a:effectLst>
            <a:outerShdw sx="100000" sy="100000" kx="0" ky="0" algn="bl" rotWithShape="0" blurRad="76200" dist="25400" dir="5400000">
              <a:srgbClr val="000000">
                <a:alpha val="12000"/>
              </a:srgbClr>
            </a:outerShdw>
          </a:effectLst>
        </p:spPr>
      </p:pic>
      <p:sp>
        <p:nvSpPr>
          <p:cNvPr id="11" name="Text 6"/>
          <p:cNvSpPr txBox="1"/>
          <p:nvPr/>
        </p:nvSpPr>
        <p:spPr>
          <a:xfrm>
            <a:off x="548640" y="5915025"/>
            <a:ext cx="3429000" cy="457200"/>
          </a:xfrm>
          <a:prstGeom prst="rect">
            <a:avLst/>
          </a:prstGeom>
          <a:noFill/>
          <a:ln/>
        </p:spPr>
        <p:txBody>
          <a:bodyPr wrap="square" lIns="0" tIns="0" rIns="0" bIns="0" rtlCol="0" anchor="t"/>
          <a:lstStyle/>
          <a:p>
            <a:pPr indent="0" marL="0">
              <a:buNone/>
            </a:pPr>
            <a:r>
              <a:rPr lang="en-US" sz="1050" b="1" dirty="0">
                <a:solidFill>
                  <a:srgbClr val="2F7A55"/>
                </a:solidFill>
                <a:latin typeface="Meiryo UI" pitchFamily="34" charset="0"/>
                <a:ea typeface="Meiryo UI" pitchFamily="34" charset="-122"/>
                <a:cs typeface="Meiryo UI" pitchFamily="34" charset="-120"/>
              </a:rPr>
              <a:t>5:00｜受講までの流れ　</a:t>
            </a:r>
            <a:pPr indent="0" marL="0">
              <a:buNone/>
            </a:pPr>
            <a:r>
              <a:rPr lang="en-US" sz="1050" dirty="0">
                <a:solidFill>
                  <a:srgbClr val="2A3330"/>
                </a:solidFill>
                <a:latin typeface="Meiryo UI" pitchFamily="34" charset="0"/>
                <a:ea typeface="Meiryo UI" pitchFamily="34" charset="-122"/>
                <a:cs typeface="Meiryo UI" pitchFamily="34" charset="-120"/>
              </a:rPr>
              <a:t>5ステップ図で不安を解消</a:t>
            </a:r>
            <a:endParaRPr lang="en-US" sz="1050" dirty="0"/>
          </a:p>
        </p:txBody>
      </p:sp>
      <p:pic>
        <p:nvPicPr>
          <p:cNvPr id="12" name="Image 3" descr="/tmp/claude-0/-home-user-crow-dunit/6eea73a9-a861-533a-875b-45d20cf557b2/scratchpad/clover/thumbs/story4.png">    </p:cNvPr>
          <p:cNvPicPr>
            <a:picLocks noChangeAspect="1"/>
          </p:cNvPicPr>
          <p:nvPr/>
        </p:nvPicPr>
        <p:blipFill>
          <a:blip r:embed="rId4"/>
          <a:stretch>
            <a:fillRect/>
          </a:stretch>
        </p:blipFill>
        <p:spPr>
          <a:xfrm>
            <a:off x="4251960" y="3913061"/>
            <a:ext cx="3429000" cy="1928813"/>
          </a:xfrm>
          <a:prstGeom prst="rect">
            <a:avLst/>
          </a:prstGeom>
          <a:effectLst>
            <a:outerShdw sx="100000" sy="100000" kx="0" ky="0" algn="bl" rotWithShape="0" blurRad="76200" dist="25400" dir="5400000">
              <a:srgbClr val="000000">
                <a:alpha val="12000"/>
              </a:srgbClr>
            </a:outerShdw>
          </a:effectLst>
        </p:spPr>
      </p:pic>
      <p:sp>
        <p:nvSpPr>
          <p:cNvPr id="13" name="Text 7"/>
          <p:cNvSpPr txBox="1"/>
          <p:nvPr/>
        </p:nvSpPr>
        <p:spPr>
          <a:xfrm>
            <a:off x="4251960" y="5915025"/>
            <a:ext cx="3429000" cy="457200"/>
          </a:xfrm>
          <a:prstGeom prst="rect">
            <a:avLst/>
          </a:prstGeom>
          <a:noFill/>
          <a:ln/>
        </p:spPr>
        <p:txBody>
          <a:bodyPr wrap="square" lIns="0" tIns="0" rIns="0" bIns="0" rtlCol="0" anchor="t"/>
          <a:lstStyle/>
          <a:p>
            <a:pPr indent="0" marL="0">
              <a:buNone/>
            </a:pPr>
            <a:r>
              <a:rPr lang="en-US" sz="1050" b="1" dirty="0">
                <a:solidFill>
                  <a:srgbClr val="2F7A55"/>
                </a:solidFill>
                <a:latin typeface="Meiryo UI" pitchFamily="34" charset="0"/>
                <a:ea typeface="Meiryo UI" pitchFamily="34" charset="-122"/>
                <a:cs typeface="Meiryo UI" pitchFamily="34" charset="-120"/>
              </a:rPr>
              <a:t>8:00｜お問い合わせ　</a:t>
            </a:r>
            <a:pPr indent="0" marL="0">
              <a:buNone/>
            </a:pPr>
            <a:r>
              <a:rPr lang="en-US" sz="1050" dirty="0">
                <a:solidFill>
                  <a:srgbClr val="2A3330"/>
                </a:solidFill>
                <a:latin typeface="Meiryo UI" pitchFamily="34" charset="0"/>
                <a:ea typeface="Meiryo UI" pitchFamily="34" charset="-122"/>
                <a:cs typeface="Meiryo UI" pitchFamily="34" charset="-120"/>
              </a:rPr>
              <a:t>LINE相談・講演会参加の2択で行動を促す</a:t>
            </a:r>
            <a:endParaRPr lang="en-US" sz="1050" dirty="0"/>
          </a:p>
        </p:txBody>
      </p:sp>
      <p:sp>
        <p:nvSpPr>
          <p:cNvPr id="14" name="Shape 8"/>
          <p:cNvSpPr/>
          <p:nvPr/>
        </p:nvSpPr>
        <p:spPr>
          <a:xfrm>
            <a:off x="8001000" y="1417320"/>
            <a:ext cx="3642055" cy="4846320"/>
          </a:xfrm>
          <a:prstGeom prst="roundRect">
            <a:avLst>
              <a:gd name="adj" fmla="val 3013"/>
            </a:avLst>
          </a:prstGeom>
          <a:solidFill>
            <a:srgbClr val="EAF4EE"/>
          </a:solidFill>
          <a:ln w="12700">
            <a:solidFill>
              <a:srgbClr val="EAF4EE"/>
            </a:solidFill>
            <a:prstDash val="solid"/>
          </a:ln>
        </p:spPr>
      </p:sp>
      <p:sp>
        <p:nvSpPr>
          <p:cNvPr id="15" name="Text 9"/>
          <p:cNvSpPr txBox="1"/>
          <p:nvPr/>
        </p:nvSpPr>
        <p:spPr>
          <a:xfrm>
            <a:off x="8275320" y="1600200"/>
            <a:ext cx="3093415" cy="365760"/>
          </a:xfrm>
          <a:prstGeom prst="rect">
            <a:avLst/>
          </a:prstGeom>
          <a:noFill/>
          <a:ln/>
        </p:spPr>
        <p:txBody>
          <a:bodyPr wrap="square" lIns="0" tIns="0" rIns="0" bIns="0" rtlCol="0" anchor="t"/>
          <a:lstStyle/>
          <a:p>
            <a:pPr indent="0" marL="0">
              <a:buNone/>
            </a:pPr>
            <a:r>
              <a:rPr lang="en-US" sz="1500" b="1" dirty="0">
                <a:solidFill>
                  <a:srgbClr val="2F7A55"/>
                </a:solidFill>
                <a:latin typeface="Meiryo UI" pitchFamily="34" charset="0"/>
                <a:ea typeface="Meiryo UI" pitchFamily="34" charset="-122"/>
                <a:cs typeface="Meiryo UI" pitchFamily="34" charset="-120"/>
              </a:rPr>
              <a:t>構成のポイント</a:t>
            </a:r>
            <a:endParaRPr lang="en-US" sz="1500" dirty="0"/>
          </a:p>
        </p:txBody>
      </p:sp>
      <p:sp>
        <p:nvSpPr>
          <p:cNvPr id="16" name="Shape 10"/>
          <p:cNvSpPr/>
          <p:nvPr/>
        </p:nvSpPr>
        <p:spPr>
          <a:xfrm>
            <a:off x="8275320" y="2103120"/>
            <a:ext cx="384048" cy="384048"/>
          </a:xfrm>
          <a:prstGeom prst="ellipse">
            <a:avLst/>
          </a:prstGeom>
          <a:solidFill>
            <a:srgbClr val="D8614F"/>
          </a:solidFill>
          <a:ln w="12700">
            <a:solidFill>
              <a:srgbClr val="D8614F"/>
            </a:solidFill>
            <a:prstDash val="solid"/>
          </a:ln>
        </p:spPr>
      </p:sp>
      <p:sp>
        <p:nvSpPr>
          <p:cNvPr id="17" name="Text 11"/>
          <p:cNvSpPr txBox="1"/>
          <p:nvPr/>
        </p:nvSpPr>
        <p:spPr>
          <a:xfrm>
            <a:off x="8275320" y="21031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8" name="Text 12"/>
          <p:cNvSpPr txBox="1"/>
          <p:nvPr/>
        </p:nvSpPr>
        <p:spPr>
          <a:xfrm>
            <a:off x="8778240" y="2103120"/>
            <a:ext cx="2636215" cy="384048"/>
          </a:xfrm>
          <a:prstGeom prst="rect">
            <a:avLst/>
          </a:prstGeom>
          <a:noFill/>
          <a:ln/>
        </p:spPr>
        <p:txBody>
          <a:bodyPr wrap="square" lIns="0" tIns="0" rIns="0" bIns="0" rtlCol="0" anchor="ctr"/>
          <a:lstStyle/>
          <a:p>
            <a:pPr indent="0" marL="0">
              <a:buNone/>
            </a:pPr>
            <a:r>
              <a:rPr lang="en-US" sz="1300" b="1" dirty="0">
                <a:solidFill>
                  <a:srgbClr val="1D4A35"/>
                </a:solidFill>
                <a:latin typeface="Meiryo UI" pitchFamily="34" charset="0"/>
                <a:ea typeface="Meiryo UI" pitchFamily="34" charset="-122"/>
                <a:cs typeface="Meiryo UI" pitchFamily="34" charset="-120"/>
              </a:rPr>
              <a:t>講演会の空気感を再現</a:t>
            </a:r>
            <a:endParaRPr lang="en-US" sz="1300" dirty="0"/>
          </a:p>
        </p:txBody>
      </p:sp>
      <p:sp>
        <p:nvSpPr>
          <p:cNvPr id="19" name="Text 13"/>
          <p:cNvSpPr txBox="1"/>
          <p:nvPr/>
        </p:nvSpPr>
        <p:spPr>
          <a:xfrm>
            <a:off x="8778240" y="2514600"/>
            <a:ext cx="2636215" cy="822960"/>
          </a:xfrm>
          <a:prstGeom prst="rect">
            <a:avLst/>
          </a:prstGeom>
          <a:noFill/>
          <a:ln/>
        </p:spPr>
        <p:txBody>
          <a:bodyPr wrap="square" lIns="0" tIns="0" rIns="0" bIns="0" rtlCol="0" anchor="t"/>
          <a:lstStyle/>
          <a:p>
            <a:pPr indent="0" marL="0">
              <a:buNone/>
            </a:pPr>
            <a:r>
              <a:rPr lang="en-US" sz="1100" dirty="0">
                <a:solidFill>
                  <a:srgbClr val="2A3330"/>
                </a:solidFill>
                <a:latin typeface="Meiryo UI" pitchFamily="34" charset="0"/>
                <a:ea typeface="Meiryo UI" pitchFamily="34" charset="-122"/>
                <a:cs typeface="Meiryo UI" pitchFamily="34" charset="-120"/>
              </a:rPr>
              <a:t>お母さん役の悩みに代表役が答える形式で、講演会で生まれる共感を動画でも再現</a:t>
            </a:r>
            <a:endParaRPr lang="en-US" sz="1100" dirty="0"/>
          </a:p>
        </p:txBody>
      </p:sp>
      <p:sp>
        <p:nvSpPr>
          <p:cNvPr id="20" name="Shape 14"/>
          <p:cNvSpPr/>
          <p:nvPr/>
        </p:nvSpPr>
        <p:spPr>
          <a:xfrm>
            <a:off x="8275320" y="3429000"/>
            <a:ext cx="384048" cy="384048"/>
          </a:xfrm>
          <a:prstGeom prst="ellipse">
            <a:avLst/>
          </a:prstGeom>
          <a:solidFill>
            <a:srgbClr val="D8614F"/>
          </a:solidFill>
          <a:ln w="12700">
            <a:solidFill>
              <a:srgbClr val="D8614F"/>
            </a:solidFill>
            <a:prstDash val="solid"/>
          </a:ln>
        </p:spPr>
      </p:sp>
      <p:sp>
        <p:nvSpPr>
          <p:cNvPr id="21" name="Text 15"/>
          <p:cNvSpPr txBox="1"/>
          <p:nvPr/>
        </p:nvSpPr>
        <p:spPr>
          <a:xfrm>
            <a:off x="8275320" y="34290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22" name="Text 16"/>
          <p:cNvSpPr txBox="1"/>
          <p:nvPr/>
        </p:nvSpPr>
        <p:spPr>
          <a:xfrm>
            <a:off x="8778240" y="3429000"/>
            <a:ext cx="2636215" cy="384048"/>
          </a:xfrm>
          <a:prstGeom prst="rect">
            <a:avLst/>
          </a:prstGeom>
          <a:noFill/>
          <a:ln/>
        </p:spPr>
        <p:txBody>
          <a:bodyPr wrap="square" lIns="0" tIns="0" rIns="0" bIns="0" rtlCol="0" anchor="ctr"/>
          <a:lstStyle/>
          <a:p>
            <a:pPr indent="0" marL="0">
              <a:buNone/>
            </a:pPr>
            <a:r>
              <a:rPr lang="en-US" sz="1300" b="1" dirty="0">
                <a:solidFill>
                  <a:srgbClr val="1D4A35"/>
                </a:solidFill>
                <a:latin typeface="Meiryo UI" pitchFamily="34" charset="0"/>
                <a:ea typeface="Meiryo UI" pitchFamily="34" charset="-122"/>
                <a:cs typeface="Meiryo UI" pitchFamily="34" charset="-120"/>
              </a:rPr>
              <a:t>テロップで要点を固定</a:t>
            </a:r>
            <a:endParaRPr lang="en-US" sz="1300" dirty="0"/>
          </a:p>
        </p:txBody>
      </p:sp>
      <p:sp>
        <p:nvSpPr>
          <p:cNvPr id="23" name="Text 17"/>
          <p:cNvSpPr txBox="1"/>
          <p:nvPr/>
        </p:nvSpPr>
        <p:spPr>
          <a:xfrm>
            <a:off x="8778240" y="3840480"/>
            <a:ext cx="2636215" cy="822960"/>
          </a:xfrm>
          <a:prstGeom prst="rect">
            <a:avLst/>
          </a:prstGeom>
          <a:noFill/>
          <a:ln/>
        </p:spPr>
        <p:txBody>
          <a:bodyPr wrap="square" lIns="0" tIns="0" rIns="0" bIns="0" rtlCol="0" anchor="t"/>
          <a:lstStyle/>
          <a:p>
            <a:pPr indent="0" marL="0">
              <a:buNone/>
            </a:pPr>
            <a:r>
              <a:rPr lang="en-US" sz="1100" dirty="0">
                <a:solidFill>
                  <a:srgbClr val="2A3330"/>
                </a:solidFill>
                <a:latin typeface="Meiryo UI" pitchFamily="34" charset="0"/>
                <a:ea typeface="Meiryo UI" pitchFamily="34" charset="-122"/>
                <a:cs typeface="Meiryo UI" pitchFamily="34" charset="-120"/>
              </a:rPr>
              <a:t>音声なしで見られても伝わるよう、各シーンの結論を下部テロップに表示</a:t>
            </a:r>
            <a:endParaRPr lang="en-US" sz="1100" dirty="0"/>
          </a:p>
        </p:txBody>
      </p:sp>
      <p:sp>
        <p:nvSpPr>
          <p:cNvPr id="24" name="Shape 18"/>
          <p:cNvSpPr/>
          <p:nvPr/>
        </p:nvSpPr>
        <p:spPr>
          <a:xfrm>
            <a:off x="8275320" y="4754880"/>
            <a:ext cx="384048" cy="384048"/>
          </a:xfrm>
          <a:prstGeom prst="ellipse">
            <a:avLst/>
          </a:prstGeom>
          <a:solidFill>
            <a:srgbClr val="D8614F"/>
          </a:solidFill>
          <a:ln w="12700">
            <a:solidFill>
              <a:srgbClr val="D8614F"/>
            </a:solidFill>
            <a:prstDash val="solid"/>
          </a:ln>
        </p:spPr>
      </p:sp>
      <p:sp>
        <p:nvSpPr>
          <p:cNvPr id="25" name="Text 19"/>
          <p:cNvSpPr txBox="1"/>
          <p:nvPr/>
        </p:nvSpPr>
        <p:spPr>
          <a:xfrm>
            <a:off x="8275320" y="475488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26" name="Text 20"/>
          <p:cNvSpPr txBox="1"/>
          <p:nvPr/>
        </p:nvSpPr>
        <p:spPr>
          <a:xfrm>
            <a:off x="8778240" y="4754880"/>
            <a:ext cx="2636215" cy="384048"/>
          </a:xfrm>
          <a:prstGeom prst="rect">
            <a:avLst/>
          </a:prstGeom>
          <a:noFill/>
          <a:ln/>
        </p:spPr>
        <p:txBody>
          <a:bodyPr wrap="square" lIns="0" tIns="0" rIns="0" bIns="0" rtlCol="0" anchor="ctr"/>
          <a:lstStyle/>
          <a:p>
            <a:pPr indent="0" marL="0">
              <a:buNone/>
            </a:pPr>
            <a:r>
              <a:rPr lang="en-US" sz="1300" b="1" dirty="0">
                <a:solidFill>
                  <a:srgbClr val="1D4A35"/>
                </a:solidFill>
                <a:latin typeface="Meiryo UI" pitchFamily="34" charset="0"/>
                <a:ea typeface="Meiryo UI" pitchFamily="34" charset="-122"/>
                <a:cs typeface="Meiryo UI" pitchFamily="34" charset="-120"/>
              </a:rPr>
              <a:t>1本で何度も使える</a:t>
            </a:r>
            <a:endParaRPr lang="en-US" sz="1300" dirty="0"/>
          </a:p>
        </p:txBody>
      </p:sp>
      <p:sp>
        <p:nvSpPr>
          <p:cNvPr id="27" name="Text 21"/>
          <p:cNvSpPr txBox="1"/>
          <p:nvPr/>
        </p:nvSpPr>
        <p:spPr>
          <a:xfrm>
            <a:off x="8778240" y="5166360"/>
            <a:ext cx="2636215" cy="822960"/>
          </a:xfrm>
          <a:prstGeom prst="rect">
            <a:avLst/>
          </a:prstGeom>
          <a:noFill/>
          <a:ln/>
        </p:spPr>
        <p:txBody>
          <a:bodyPr wrap="square" lIns="0" tIns="0" rIns="0" bIns="0" rtlCol="0" anchor="t"/>
          <a:lstStyle/>
          <a:p>
            <a:pPr indent="0" marL="0">
              <a:buNone/>
            </a:pPr>
            <a:r>
              <a:rPr lang="en-US" sz="1100" dirty="0">
                <a:solidFill>
                  <a:srgbClr val="2A3330"/>
                </a:solidFill>
                <a:latin typeface="Meiryo UI" pitchFamily="34" charset="0"/>
                <a:ea typeface="Meiryo UI" pitchFamily="34" charset="-122"/>
                <a:cs typeface="Meiryo UI" pitchFamily="34" charset="-120"/>
              </a:rPr>
              <a:t>講演後のおさらい、相談前の送付、HP・LINEでの案内に同じ動画を使い回せる</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8614F"/>
                </a:solidFill>
                <a:latin typeface="Meiryo UI" pitchFamily="34" charset="0"/>
                <a:ea typeface="Meiryo UI" pitchFamily="34" charset="-122"/>
                <a:cs typeface="Meiryo UI" pitchFamily="34" charset="-120"/>
              </a:rPr>
              <a:t>04｜PULL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2F7A55"/>
                </a:solidFill>
                <a:latin typeface="Meiryo UI" pitchFamily="34" charset="0"/>
                <a:ea typeface="Meiryo UI" pitchFamily="34" charset="-122"/>
                <a:cs typeface="Meiryo UI" pitchFamily="34" charset="-120"/>
              </a:rPr>
              <a:t>認知から無料相談・入会までのファネル設計</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0"/>
                </a:solidFill>
                <a:latin typeface="Meiryo UI" pitchFamily="34" charset="0"/>
                <a:ea typeface="Meiryo UI" pitchFamily="34" charset="-122"/>
                <a:cs typeface="Meiryo UI" pitchFamily="34" charset="-120"/>
              </a:rPr>
              <a:t>15</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0"/>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Text 4"/>
          <p:cNvSpPr txBox="1"/>
          <p:nvPr/>
        </p:nvSpPr>
        <p:spPr>
          <a:xfrm>
            <a:off x="3703320" y="1371600"/>
            <a:ext cx="2011680" cy="274320"/>
          </a:xfrm>
          <a:prstGeom prst="rect">
            <a:avLst/>
          </a:prstGeom>
          <a:noFill/>
          <a:ln/>
        </p:spPr>
        <p:txBody>
          <a:bodyPr wrap="square" lIns="0" tIns="0" rIns="0" bIns="0" rtlCol="0" anchor="t"/>
          <a:lstStyle/>
          <a:p>
            <a:pPr indent="0" marL="0">
              <a:buNone/>
            </a:pPr>
            <a:r>
              <a:rPr lang="en-US" sz="1100" b="1" dirty="0">
                <a:solidFill>
                  <a:srgbClr val="66786F"/>
                </a:solidFill>
                <a:latin typeface="Meiryo UI" pitchFamily="34" charset="0"/>
                <a:ea typeface="Meiryo UI" pitchFamily="34" charset="-122"/>
                <a:cs typeface="Meiryo UI" pitchFamily="34" charset="-120"/>
              </a:rPr>
              <a:t>主な接点</a:t>
            </a:r>
            <a:endParaRPr lang="en-US" sz="1100" dirty="0"/>
          </a:p>
        </p:txBody>
      </p:sp>
      <p:sp>
        <p:nvSpPr>
          <p:cNvPr id="7" name="Text 5"/>
          <p:cNvSpPr txBox="1"/>
          <p:nvPr/>
        </p:nvSpPr>
        <p:spPr>
          <a:xfrm>
            <a:off x="5806440" y="1371600"/>
            <a:ext cx="1965960" cy="274320"/>
          </a:xfrm>
          <a:prstGeom prst="rect">
            <a:avLst/>
          </a:prstGeom>
          <a:noFill/>
          <a:ln/>
        </p:spPr>
        <p:txBody>
          <a:bodyPr wrap="square" lIns="0" tIns="0" rIns="0" bIns="0" rtlCol="0" anchor="t"/>
          <a:lstStyle/>
          <a:p>
            <a:pPr indent="0" marL="0">
              <a:buNone/>
            </a:pPr>
            <a:r>
              <a:rPr lang="en-US" sz="1100" b="1" dirty="0">
                <a:solidFill>
                  <a:srgbClr val="66786F"/>
                </a:solidFill>
                <a:latin typeface="Meiryo UI" pitchFamily="34" charset="0"/>
                <a:ea typeface="Meiryo UI" pitchFamily="34" charset="-122"/>
                <a:cs typeface="Meiryo UI" pitchFamily="34" charset="-120"/>
              </a:rPr>
              <a:t>動画の型</a:t>
            </a:r>
            <a:endParaRPr lang="en-US" sz="1100" dirty="0"/>
          </a:p>
        </p:txBody>
      </p:sp>
      <p:sp>
        <p:nvSpPr>
          <p:cNvPr id="8" name="Text 6"/>
          <p:cNvSpPr txBox="1"/>
          <p:nvPr/>
        </p:nvSpPr>
        <p:spPr>
          <a:xfrm>
            <a:off x="7863840" y="1371600"/>
            <a:ext cx="2057400" cy="274320"/>
          </a:xfrm>
          <a:prstGeom prst="rect">
            <a:avLst/>
          </a:prstGeom>
          <a:noFill/>
          <a:ln/>
        </p:spPr>
        <p:txBody>
          <a:bodyPr wrap="square" lIns="0" tIns="0" rIns="0" bIns="0" rtlCol="0" anchor="t"/>
          <a:lstStyle/>
          <a:p>
            <a:pPr indent="0" marL="0">
              <a:buNone/>
            </a:pPr>
            <a:r>
              <a:rPr lang="en-US" sz="1100" b="1" dirty="0">
                <a:solidFill>
                  <a:srgbClr val="66786F"/>
                </a:solidFill>
                <a:latin typeface="Meiryo UI" pitchFamily="34" charset="0"/>
                <a:ea typeface="Meiryo UI" pitchFamily="34" charset="-122"/>
                <a:cs typeface="Meiryo UI" pitchFamily="34" charset="-120"/>
              </a:rPr>
              <a:t>次の行動への導線</a:t>
            </a:r>
            <a:endParaRPr lang="en-US" sz="1100" dirty="0"/>
          </a:p>
        </p:txBody>
      </p:sp>
      <p:sp>
        <p:nvSpPr>
          <p:cNvPr id="9" name="Text 7"/>
          <p:cNvSpPr txBox="1"/>
          <p:nvPr/>
        </p:nvSpPr>
        <p:spPr>
          <a:xfrm>
            <a:off x="10012680" y="1371600"/>
            <a:ext cx="1627632" cy="274320"/>
          </a:xfrm>
          <a:prstGeom prst="rect">
            <a:avLst/>
          </a:prstGeom>
          <a:noFill/>
          <a:ln/>
        </p:spPr>
        <p:txBody>
          <a:bodyPr wrap="square" lIns="0" tIns="0" rIns="0" bIns="0" rtlCol="0" anchor="t"/>
          <a:lstStyle/>
          <a:p>
            <a:pPr indent="0" marL="0">
              <a:buNone/>
            </a:pPr>
            <a:r>
              <a:rPr lang="en-US" sz="1100" b="1" dirty="0">
                <a:solidFill>
                  <a:srgbClr val="66786F"/>
                </a:solidFill>
                <a:latin typeface="Meiryo UI" pitchFamily="34" charset="0"/>
                <a:ea typeface="Meiryo UI" pitchFamily="34" charset="-122"/>
                <a:cs typeface="Meiryo UI" pitchFamily="34" charset="-120"/>
              </a:rPr>
              <a:t>測定指標</a:t>
            </a:r>
            <a:endParaRPr lang="en-US" sz="1100" dirty="0"/>
          </a:p>
        </p:txBody>
      </p:sp>
      <p:sp>
        <p:nvSpPr>
          <p:cNvPr id="10" name="Shape 8"/>
          <p:cNvSpPr/>
          <p:nvPr/>
        </p:nvSpPr>
        <p:spPr>
          <a:xfrm>
            <a:off x="594360" y="1719072"/>
            <a:ext cx="2926080" cy="640080"/>
          </a:xfrm>
          <a:prstGeom prst="roundRect">
            <a:avLst>
              <a:gd name="adj" fmla="val 14286"/>
            </a:avLst>
          </a:prstGeom>
          <a:solidFill>
            <a:srgbClr val="2F7A55"/>
          </a:solidFill>
          <a:ln w="12700">
            <a:solidFill>
              <a:srgbClr val="2F7A55"/>
            </a:solidFill>
            <a:prstDash val="solid"/>
          </a:ln>
        </p:spPr>
      </p:sp>
      <p:sp>
        <p:nvSpPr>
          <p:cNvPr id="11" name="Text 9"/>
          <p:cNvSpPr txBox="1"/>
          <p:nvPr/>
        </p:nvSpPr>
        <p:spPr>
          <a:xfrm>
            <a:off x="594360" y="1719072"/>
            <a:ext cx="29260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認知</a:t>
            </a:r>
            <a:endParaRPr lang="en-US" sz="1400" dirty="0"/>
          </a:p>
        </p:txBody>
      </p:sp>
      <p:sp>
        <p:nvSpPr>
          <p:cNvPr id="12" name="Shape 10"/>
          <p:cNvSpPr/>
          <p:nvPr/>
        </p:nvSpPr>
        <p:spPr>
          <a:xfrm>
            <a:off x="3566160" y="1719072"/>
            <a:ext cx="8076895" cy="640080"/>
          </a:xfrm>
          <a:prstGeom prst="roundRect">
            <a:avLst>
              <a:gd name="adj" fmla="val 11429"/>
            </a:avLst>
          </a:prstGeom>
          <a:solidFill>
            <a:srgbClr val="F5F9F6"/>
          </a:solidFill>
          <a:ln w="9525">
            <a:solidFill>
              <a:srgbClr val="DCEAE1"/>
            </a:solidFill>
            <a:prstDash val="solid"/>
          </a:ln>
        </p:spPr>
      </p:sp>
      <p:sp>
        <p:nvSpPr>
          <p:cNvPr id="13" name="Text 11"/>
          <p:cNvSpPr txBox="1"/>
          <p:nvPr/>
        </p:nvSpPr>
        <p:spPr>
          <a:xfrm>
            <a:off x="3703320" y="1719072"/>
            <a:ext cx="2011680" cy="640080"/>
          </a:xfrm>
          <a:prstGeom prst="rect">
            <a:avLst/>
          </a:prstGeom>
          <a:noFill/>
          <a:ln/>
        </p:spPr>
        <p:txBody>
          <a:bodyPr wrap="square" lIns="0" tIns="0" rIns="0" bIns="0" rtlCol="0" anchor="ctr"/>
          <a:lstStyle/>
          <a:p>
            <a:pPr indent="0" marL="0">
              <a:buNone/>
            </a:pPr>
            <a:r>
              <a:rPr lang="en-US" sz="1150" dirty="0">
                <a:solidFill>
                  <a:srgbClr val="2A3330"/>
                </a:solidFill>
                <a:latin typeface="Meiryo UI" pitchFamily="34" charset="0"/>
                <a:ea typeface="Meiryo UI" pitchFamily="34" charset="-122"/>
                <a:cs typeface="Meiryo UI" pitchFamily="34" charset="-120"/>
              </a:rPr>
              <a:t>TikTok／ショート／リール</a:t>
            </a:r>
            <a:endParaRPr lang="en-US" sz="1150" dirty="0"/>
          </a:p>
        </p:txBody>
      </p:sp>
      <p:sp>
        <p:nvSpPr>
          <p:cNvPr id="14" name="Text 12"/>
          <p:cNvSpPr txBox="1"/>
          <p:nvPr/>
        </p:nvSpPr>
        <p:spPr>
          <a:xfrm>
            <a:off x="5806440" y="1719072"/>
            <a:ext cx="1965960" cy="640080"/>
          </a:xfrm>
          <a:prstGeom prst="rect">
            <a:avLst/>
          </a:prstGeom>
          <a:noFill/>
          <a:ln/>
        </p:spPr>
        <p:txBody>
          <a:bodyPr wrap="square" lIns="0" tIns="0" rIns="0" bIns="0" rtlCol="0" anchor="ctr"/>
          <a:lstStyle/>
          <a:p>
            <a:pPr indent="0" marL="0">
              <a:buNone/>
            </a:pPr>
            <a:r>
              <a:rPr lang="en-US" sz="1150" dirty="0">
                <a:solidFill>
                  <a:srgbClr val="2A3330"/>
                </a:solidFill>
                <a:latin typeface="Meiryo UI" pitchFamily="34" charset="0"/>
                <a:ea typeface="Meiryo UI" pitchFamily="34" charset="-122"/>
                <a:cs typeface="Meiryo UI" pitchFamily="34" charset="-120"/>
              </a:rPr>
              <a:t>縦型ショート</a:t>
            </a:r>
            <a:endParaRPr lang="en-US" sz="1150" dirty="0"/>
          </a:p>
        </p:txBody>
      </p:sp>
      <p:sp>
        <p:nvSpPr>
          <p:cNvPr id="15" name="Text 13"/>
          <p:cNvSpPr txBox="1"/>
          <p:nvPr/>
        </p:nvSpPr>
        <p:spPr>
          <a:xfrm>
            <a:off x="7863840" y="1719072"/>
            <a:ext cx="2057400" cy="640080"/>
          </a:xfrm>
          <a:prstGeom prst="rect">
            <a:avLst/>
          </a:prstGeom>
          <a:noFill/>
          <a:ln/>
        </p:spPr>
        <p:txBody>
          <a:bodyPr wrap="square" lIns="0" tIns="0" rIns="0" bIns="0" rtlCol="0" anchor="ctr"/>
          <a:lstStyle/>
          <a:p>
            <a:pPr indent="0" marL="0">
              <a:buNone/>
            </a:pPr>
            <a:r>
              <a:rPr lang="en-US" sz="1150" dirty="0">
                <a:solidFill>
                  <a:srgbClr val="2A3330"/>
                </a:solidFill>
                <a:latin typeface="Meiryo UI" pitchFamily="34" charset="0"/>
                <a:ea typeface="Meiryo UI" pitchFamily="34" charset="-122"/>
                <a:cs typeface="Meiryo UI" pitchFamily="34" charset="-120"/>
              </a:rPr>
              <a:t>プロフィール→YouTube・Instagram</a:t>
            </a:r>
            <a:endParaRPr lang="en-US" sz="1150" dirty="0"/>
          </a:p>
        </p:txBody>
      </p:sp>
      <p:sp>
        <p:nvSpPr>
          <p:cNvPr id="16" name="Text 14"/>
          <p:cNvSpPr txBox="1"/>
          <p:nvPr/>
        </p:nvSpPr>
        <p:spPr>
          <a:xfrm>
            <a:off x="10012680" y="1719072"/>
            <a:ext cx="1627632" cy="640080"/>
          </a:xfrm>
          <a:prstGeom prst="rect">
            <a:avLst/>
          </a:prstGeom>
          <a:noFill/>
          <a:ln/>
        </p:spPr>
        <p:txBody>
          <a:bodyPr wrap="square" lIns="0" tIns="0" rIns="0" bIns="0" rtlCol="0" anchor="ctr"/>
          <a:lstStyle/>
          <a:p>
            <a:pPr indent="0" marL="0">
              <a:buNone/>
            </a:pPr>
            <a:r>
              <a:rPr lang="en-US" sz="1150" b="1" dirty="0">
                <a:solidFill>
                  <a:srgbClr val="2F7A55"/>
                </a:solidFill>
                <a:latin typeface="Meiryo UI" pitchFamily="34" charset="0"/>
                <a:ea typeface="Meiryo UI" pitchFamily="34" charset="-122"/>
                <a:cs typeface="Meiryo UI" pitchFamily="34" charset="-120"/>
              </a:rPr>
              <a:t>再生数・リーチ数</a:t>
            </a:r>
            <a:endParaRPr lang="en-US" sz="1150" dirty="0"/>
          </a:p>
        </p:txBody>
      </p:sp>
      <p:sp>
        <p:nvSpPr>
          <p:cNvPr id="17" name="Shape 15"/>
          <p:cNvSpPr/>
          <p:nvPr/>
        </p:nvSpPr>
        <p:spPr>
          <a:xfrm>
            <a:off x="758952" y="2478024"/>
            <a:ext cx="2596896" cy="640080"/>
          </a:xfrm>
          <a:prstGeom prst="roundRect">
            <a:avLst>
              <a:gd name="adj" fmla="val 14286"/>
            </a:avLst>
          </a:prstGeom>
          <a:solidFill>
            <a:srgbClr val="2F7A55">
              <a:alpha val="88000"/>
            </a:srgbClr>
          </a:solidFill>
          <a:ln w="12700">
            <a:solidFill>
              <a:srgbClr val="2F7A55"/>
            </a:solidFill>
            <a:prstDash val="solid"/>
          </a:ln>
        </p:spPr>
      </p:sp>
      <p:sp>
        <p:nvSpPr>
          <p:cNvPr id="18" name="Text 16"/>
          <p:cNvSpPr txBox="1"/>
          <p:nvPr/>
        </p:nvSpPr>
        <p:spPr>
          <a:xfrm>
            <a:off x="758952" y="2478024"/>
            <a:ext cx="2596896"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興味・関心</a:t>
            </a:r>
            <a:endParaRPr lang="en-US" sz="1400" dirty="0"/>
          </a:p>
        </p:txBody>
      </p:sp>
      <p:sp>
        <p:nvSpPr>
          <p:cNvPr id="19" name="Shape 17"/>
          <p:cNvSpPr/>
          <p:nvPr/>
        </p:nvSpPr>
        <p:spPr>
          <a:xfrm>
            <a:off x="3566160" y="2478024"/>
            <a:ext cx="8076895" cy="640080"/>
          </a:xfrm>
          <a:prstGeom prst="roundRect">
            <a:avLst>
              <a:gd name="adj" fmla="val 11429"/>
            </a:avLst>
          </a:prstGeom>
          <a:solidFill>
            <a:srgbClr val="FFFFFF"/>
          </a:solidFill>
          <a:ln w="9525">
            <a:solidFill>
              <a:srgbClr val="DCEAE1"/>
            </a:solidFill>
            <a:prstDash val="solid"/>
          </a:ln>
        </p:spPr>
      </p:sp>
      <p:sp>
        <p:nvSpPr>
          <p:cNvPr id="20" name="Text 18"/>
          <p:cNvSpPr txBox="1"/>
          <p:nvPr/>
        </p:nvSpPr>
        <p:spPr>
          <a:xfrm>
            <a:off x="3703320" y="2478024"/>
            <a:ext cx="2011680" cy="640080"/>
          </a:xfrm>
          <a:prstGeom prst="rect">
            <a:avLst/>
          </a:prstGeom>
          <a:noFill/>
          <a:ln/>
        </p:spPr>
        <p:txBody>
          <a:bodyPr wrap="square" lIns="0" tIns="0" rIns="0" bIns="0" rtlCol="0" anchor="ctr"/>
          <a:lstStyle/>
          <a:p>
            <a:pPr indent="0" marL="0">
              <a:buNone/>
            </a:pPr>
            <a:r>
              <a:rPr lang="en-US" sz="1150" dirty="0">
                <a:solidFill>
                  <a:srgbClr val="2A3330"/>
                </a:solidFill>
                <a:latin typeface="Meiryo UI" pitchFamily="34" charset="0"/>
                <a:ea typeface="Meiryo UI" pitchFamily="34" charset="-122"/>
                <a:cs typeface="Meiryo UI" pitchFamily="34" charset="-120"/>
              </a:rPr>
              <a:t>Instagram／YouTube</a:t>
            </a:r>
            <a:endParaRPr lang="en-US" sz="1150" dirty="0"/>
          </a:p>
        </p:txBody>
      </p:sp>
      <p:sp>
        <p:nvSpPr>
          <p:cNvPr id="21" name="Text 19"/>
          <p:cNvSpPr txBox="1"/>
          <p:nvPr/>
        </p:nvSpPr>
        <p:spPr>
          <a:xfrm>
            <a:off x="5806440" y="2478024"/>
            <a:ext cx="1965960" cy="640080"/>
          </a:xfrm>
          <a:prstGeom prst="rect">
            <a:avLst/>
          </a:prstGeom>
          <a:noFill/>
          <a:ln/>
        </p:spPr>
        <p:txBody>
          <a:bodyPr wrap="square" lIns="0" tIns="0" rIns="0" bIns="0" rtlCol="0" anchor="ctr"/>
          <a:lstStyle/>
          <a:p>
            <a:pPr indent="0" marL="0">
              <a:buNone/>
            </a:pPr>
            <a:r>
              <a:rPr lang="en-US" sz="1150" dirty="0">
                <a:solidFill>
                  <a:srgbClr val="2A3330"/>
                </a:solidFill>
                <a:latin typeface="Meiryo UI" pitchFamily="34" charset="0"/>
                <a:ea typeface="Meiryo UI" pitchFamily="34" charset="-122"/>
                <a:cs typeface="Meiryo UI" pitchFamily="34" charset="-120"/>
              </a:rPr>
              <a:t>デザイン重視／長尺解説</a:t>
            </a:r>
            <a:endParaRPr lang="en-US" sz="1150" dirty="0"/>
          </a:p>
        </p:txBody>
      </p:sp>
      <p:sp>
        <p:nvSpPr>
          <p:cNvPr id="22" name="Text 20"/>
          <p:cNvSpPr txBox="1"/>
          <p:nvPr/>
        </p:nvSpPr>
        <p:spPr>
          <a:xfrm>
            <a:off x="7863840" y="2478024"/>
            <a:ext cx="2057400" cy="640080"/>
          </a:xfrm>
          <a:prstGeom prst="rect">
            <a:avLst/>
          </a:prstGeom>
          <a:noFill/>
          <a:ln/>
        </p:spPr>
        <p:txBody>
          <a:bodyPr wrap="square" lIns="0" tIns="0" rIns="0" bIns="0" rtlCol="0" anchor="ctr"/>
          <a:lstStyle/>
          <a:p>
            <a:pPr indent="0" marL="0">
              <a:buNone/>
            </a:pPr>
            <a:r>
              <a:rPr lang="en-US" sz="1150" dirty="0">
                <a:solidFill>
                  <a:srgbClr val="2A3330"/>
                </a:solidFill>
                <a:latin typeface="Meiryo UI" pitchFamily="34" charset="0"/>
                <a:ea typeface="Meiryo UI" pitchFamily="34" charset="-122"/>
                <a:cs typeface="Meiryo UI" pitchFamily="34" charset="-120"/>
              </a:rPr>
              <a:t>フォロー・保存・登録</a:t>
            </a:r>
            <a:endParaRPr lang="en-US" sz="1150" dirty="0"/>
          </a:p>
        </p:txBody>
      </p:sp>
      <p:sp>
        <p:nvSpPr>
          <p:cNvPr id="23" name="Text 21"/>
          <p:cNvSpPr txBox="1"/>
          <p:nvPr/>
        </p:nvSpPr>
        <p:spPr>
          <a:xfrm>
            <a:off x="10012680" y="2478024"/>
            <a:ext cx="1627632" cy="640080"/>
          </a:xfrm>
          <a:prstGeom prst="rect">
            <a:avLst/>
          </a:prstGeom>
          <a:noFill/>
          <a:ln/>
        </p:spPr>
        <p:txBody>
          <a:bodyPr wrap="square" lIns="0" tIns="0" rIns="0" bIns="0" rtlCol="0" anchor="ctr"/>
          <a:lstStyle/>
          <a:p>
            <a:pPr indent="0" marL="0">
              <a:buNone/>
            </a:pPr>
            <a:r>
              <a:rPr lang="en-US" sz="1150" b="1" dirty="0">
                <a:solidFill>
                  <a:srgbClr val="2F7A55"/>
                </a:solidFill>
                <a:latin typeface="Meiryo UI" pitchFamily="34" charset="0"/>
                <a:ea typeface="Meiryo UI" pitchFamily="34" charset="-122"/>
                <a:cs typeface="Meiryo UI" pitchFamily="34" charset="-120"/>
              </a:rPr>
              <a:t>保存数・視聴維持率</a:t>
            </a:r>
            <a:endParaRPr lang="en-US" sz="1150" dirty="0"/>
          </a:p>
        </p:txBody>
      </p:sp>
      <p:sp>
        <p:nvSpPr>
          <p:cNvPr id="24" name="Shape 22"/>
          <p:cNvSpPr/>
          <p:nvPr/>
        </p:nvSpPr>
        <p:spPr>
          <a:xfrm>
            <a:off x="923544" y="3236976"/>
            <a:ext cx="2267712" cy="640080"/>
          </a:xfrm>
          <a:prstGeom prst="roundRect">
            <a:avLst>
              <a:gd name="adj" fmla="val 14286"/>
            </a:avLst>
          </a:prstGeom>
          <a:solidFill>
            <a:srgbClr val="2F7A55">
              <a:alpha val="76000"/>
            </a:srgbClr>
          </a:solidFill>
          <a:ln w="12700">
            <a:solidFill>
              <a:srgbClr val="2F7A55"/>
            </a:solidFill>
            <a:prstDash val="solid"/>
          </a:ln>
        </p:spPr>
      </p:sp>
      <p:sp>
        <p:nvSpPr>
          <p:cNvPr id="25" name="Text 23"/>
          <p:cNvSpPr txBox="1"/>
          <p:nvPr/>
        </p:nvSpPr>
        <p:spPr>
          <a:xfrm>
            <a:off x="923544" y="3236976"/>
            <a:ext cx="2267712"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比較・検討</a:t>
            </a:r>
            <a:endParaRPr lang="en-US" sz="1400" dirty="0"/>
          </a:p>
        </p:txBody>
      </p:sp>
      <p:sp>
        <p:nvSpPr>
          <p:cNvPr id="26" name="Shape 24"/>
          <p:cNvSpPr/>
          <p:nvPr/>
        </p:nvSpPr>
        <p:spPr>
          <a:xfrm>
            <a:off x="3566160" y="3236976"/>
            <a:ext cx="8076895" cy="640080"/>
          </a:xfrm>
          <a:prstGeom prst="roundRect">
            <a:avLst>
              <a:gd name="adj" fmla="val 11429"/>
            </a:avLst>
          </a:prstGeom>
          <a:solidFill>
            <a:srgbClr val="F5F9F6"/>
          </a:solidFill>
          <a:ln w="9525">
            <a:solidFill>
              <a:srgbClr val="DCEAE1"/>
            </a:solidFill>
            <a:prstDash val="solid"/>
          </a:ln>
        </p:spPr>
      </p:sp>
      <p:sp>
        <p:nvSpPr>
          <p:cNvPr id="27" name="Text 25"/>
          <p:cNvSpPr txBox="1"/>
          <p:nvPr/>
        </p:nvSpPr>
        <p:spPr>
          <a:xfrm>
            <a:off x="3703320" y="3236976"/>
            <a:ext cx="2011680" cy="640080"/>
          </a:xfrm>
          <a:prstGeom prst="rect">
            <a:avLst/>
          </a:prstGeom>
          <a:noFill/>
          <a:ln/>
        </p:spPr>
        <p:txBody>
          <a:bodyPr wrap="square" lIns="0" tIns="0" rIns="0" bIns="0" rtlCol="0" anchor="ctr"/>
          <a:lstStyle/>
          <a:p>
            <a:pPr indent="0" marL="0">
              <a:buNone/>
            </a:pPr>
            <a:r>
              <a:rPr lang="en-US" sz="1150" dirty="0">
                <a:solidFill>
                  <a:srgbClr val="2A3330"/>
                </a:solidFill>
                <a:latin typeface="Meiryo UI" pitchFamily="34" charset="0"/>
                <a:ea typeface="Meiryo UI" pitchFamily="34" charset="-122"/>
                <a:cs typeface="Meiryo UI" pitchFamily="34" charset="-120"/>
              </a:rPr>
              <a:t>YouTube／HP／講演会</a:t>
            </a:r>
            <a:endParaRPr lang="en-US" sz="1150" dirty="0"/>
          </a:p>
        </p:txBody>
      </p:sp>
      <p:sp>
        <p:nvSpPr>
          <p:cNvPr id="28" name="Text 26"/>
          <p:cNvSpPr txBox="1"/>
          <p:nvPr/>
        </p:nvSpPr>
        <p:spPr>
          <a:xfrm>
            <a:off x="5806440" y="3236976"/>
            <a:ext cx="1965960" cy="640080"/>
          </a:xfrm>
          <a:prstGeom prst="rect">
            <a:avLst/>
          </a:prstGeom>
          <a:noFill/>
          <a:ln/>
        </p:spPr>
        <p:txBody>
          <a:bodyPr wrap="square" lIns="0" tIns="0" rIns="0" bIns="0" rtlCol="0" anchor="ctr"/>
          <a:lstStyle/>
          <a:p>
            <a:pPr indent="0" marL="0">
              <a:buNone/>
            </a:pPr>
            <a:r>
              <a:rPr lang="en-US" sz="1150" dirty="0">
                <a:solidFill>
                  <a:srgbClr val="2A3330"/>
                </a:solidFill>
                <a:latin typeface="Meiryo UI" pitchFamily="34" charset="0"/>
                <a:ea typeface="Meiryo UI" pitchFamily="34" charset="-122"/>
                <a:cs typeface="Meiryo UI" pitchFamily="34" charset="-120"/>
              </a:rPr>
              <a:t>長尺解説・リードマグネット動画</a:t>
            </a:r>
            <a:endParaRPr lang="en-US" sz="1150" dirty="0"/>
          </a:p>
        </p:txBody>
      </p:sp>
      <p:sp>
        <p:nvSpPr>
          <p:cNvPr id="29" name="Text 27"/>
          <p:cNvSpPr txBox="1"/>
          <p:nvPr/>
        </p:nvSpPr>
        <p:spPr>
          <a:xfrm>
            <a:off x="7863840" y="3236976"/>
            <a:ext cx="2057400" cy="640080"/>
          </a:xfrm>
          <a:prstGeom prst="rect">
            <a:avLst/>
          </a:prstGeom>
          <a:noFill/>
          <a:ln/>
        </p:spPr>
        <p:txBody>
          <a:bodyPr wrap="square" lIns="0" tIns="0" rIns="0" bIns="0" rtlCol="0" anchor="ctr"/>
          <a:lstStyle/>
          <a:p>
            <a:pPr indent="0" marL="0">
              <a:buNone/>
            </a:pPr>
            <a:r>
              <a:rPr lang="en-US" sz="1150" dirty="0">
                <a:solidFill>
                  <a:srgbClr val="2A3330"/>
                </a:solidFill>
                <a:latin typeface="Meiryo UI" pitchFamily="34" charset="0"/>
                <a:ea typeface="Meiryo UI" pitchFamily="34" charset="-122"/>
                <a:cs typeface="Meiryo UI" pitchFamily="34" charset="-120"/>
              </a:rPr>
              <a:t>LINE登録</a:t>
            </a:r>
            <a:endParaRPr lang="en-US" sz="1150" dirty="0"/>
          </a:p>
        </p:txBody>
      </p:sp>
      <p:sp>
        <p:nvSpPr>
          <p:cNvPr id="30" name="Text 28"/>
          <p:cNvSpPr txBox="1"/>
          <p:nvPr/>
        </p:nvSpPr>
        <p:spPr>
          <a:xfrm>
            <a:off x="10012680" y="3236976"/>
            <a:ext cx="1627632" cy="640080"/>
          </a:xfrm>
          <a:prstGeom prst="rect">
            <a:avLst/>
          </a:prstGeom>
          <a:noFill/>
          <a:ln/>
        </p:spPr>
        <p:txBody>
          <a:bodyPr wrap="square" lIns="0" tIns="0" rIns="0" bIns="0" rtlCol="0" anchor="ctr"/>
          <a:lstStyle/>
          <a:p>
            <a:pPr indent="0" marL="0">
              <a:buNone/>
            </a:pPr>
            <a:r>
              <a:rPr lang="en-US" sz="1150" b="1" dirty="0">
                <a:solidFill>
                  <a:srgbClr val="2F7A55"/>
                </a:solidFill>
                <a:latin typeface="Meiryo UI" pitchFamily="34" charset="0"/>
                <a:ea typeface="Meiryo UI" pitchFamily="34" charset="-122"/>
                <a:cs typeface="Meiryo UI" pitchFamily="34" charset="-120"/>
              </a:rPr>
              <a:t>LINE登録数</a:t>
            </a:r>
            <a:endParaRPr lang="en-US" sz="1150" dirty="0"/>
          </a:p>
        </p:txBody>
      </p:sp>
      <p:sp>
        <p:nvSpPr>
          <p:cNvPr id="31" name="Shape 29"/>
          <p:cNvSpPr/>
          <p:nvPr/>
        </p:nvSpPr>
        <p:spPr>
          <a:xfrm>
            <a:off x="1088136" y="3995928"/>
            <a:ext cx="1938528" cy="640080"/>
          </a:xfrm>
          <a:prstGeom prst="roundRect">
            <a:avLst>
              <a:gd name="adj" fmla="val 14286"/>
            </a:avLst>
          </a:prstGeom>
          <a:solidFill>
            <a:srgbClr val="D8614F"/>
          </a:solidFill>
          <a:ln w="12700">
            <a:solidFill>
              <a:srgbClr val="D8614F"/>
            </a:solidFill>
            <a:prstDash val="solid"/>
          </a:ln>
        </p:spPr>
      </p:sp>
      <p:sp>
        <p:nvSpPr>
          <p:cNvPr id="32" name="Text 30"/>
          <p:cNvSpPr txBox="1"/>
          <p:nvPr/>
        </p:nvSpPr>
        <p:spPr>
          <a:xfrm>
            <a:off x="1088136" y="3995928"/>
            <a:ext cx="1938528"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問い合わせ</a:t>
            </a:r>
            <a:endParaRPr lang="en-US" sz="1400" dirty="0"/>
          </a:p>
        </p:txBody>
      </p:sp>
      <p:sp>
        <p:nvSpPr>
          <p:cNvPr id="33" name="Shape 31"/>
          <p:cNvSpPr/>
          <p:nvPr/>
        </p:nvSpPr>
        <p:spPr>
          <a:xfrm>
            <a:off x="3566160" y="3995928"/>
            <a:ext cx="8076895" cy="640080"/>
          </a:xfrm>
          <a:prstGeom prst="roundRect">
            <a:avLst>
              <a:gd name="adj" fmla="val 11429"/>
            </a:avLst>
          </a:prstGeom>
          <a:solidFill>
            <a:srgbClr val="FFFFFF"/>
          </a:solidFill>
          <a:ln w="9525">
            <a:solidFill>
              <a:srgbClr val="DCEAE1"/>
            </a:solidFill>
            <a:prstDash val="solid"/>
          </a:ln>
        </p:spPr>
      </p:sp>
      <p:sp>
        <p:nvSpPr>
          <p:cNvPr id="34" name="Text 32"/>
          <p:cNvSpPr txBox="1"/>
          <p:nvPr/>
        </p:nvSpPr>
        <p:spPr>
          <a:xfrm>
            <a:off x="3703320" y="3995928"/>
            <a:ext cx="2011680" cy="640080"/>
          </a:xfrm>
          <a:prstGeom prst="rect">
            <a:avLst/>
          </a:prstGeom>
          <a:noFill/>
          <a:ln/>
        </p:spPr>
        <p:txBody>
          <a:bodyPr wrap="square" lIns="0" tIns="0" rIns="0" bIns="0" rtlCol="0" anchor="ctr"/>
          <a:lstStyle/>
          <a:p>
            <a:pPr indent="0" marL="0">
              <a:buNone/>
            </a:pPr>
            <a:r>
              <a:rPr lang="en-US" sz="1150" dirty="0">
                <a:solidFill>
                  <a:srgbClr val="2A3330"/>
                </a:solidFill>
                <a:latin typeface="Meiryo UI" pitchFamily="34" charset="0"/>
                <a:ea typeface="Meiryo UI" pitchFamily="34" charset="-122"/>
                <a:cs typeface="Meiryo UI" pitchFamily="34" charset="-120"/>
              </a:rPr>
              <a:t>LINE／HP</a:t>
            </a:r>
            <a:endParaRPr lang="en-US" sz="1150" dirty="0"/>
          </a:p>
        </p:txBody>
      </p:sp>
      <p:sp>
        <p:nvSpPr>
          <p:cNvPr id="35" name="Text 33"/>
          <p:cNvSpPr txBox="1"/>
          <p:nvPr/>
        </p:nvSpPr>
        <p:spPr>
          <a:xfrm>
            <a:off x="5806440" y="3995928"/>
            <a:ext cx="1965960" cy="640080"/>
          </a:xfrm>
          <a:prstGeom prst="rect">
            <a:avLst/>
          </a:prstGeom>
          <a:noFill/>
          <a:ln/>
        </p:spPr>
        <p:txBody>
          <a:bodyPr wrap="square" lIns="0" tIns="0" rIns="0" bIns="0" rtlCol="0" anchor="ctr"/>
          <a:lstStyle/>
          <a:p>
            <a:pPr indent="0" marL="0">
              <a:buNone/>
            </a:pPr>
            <a:r>
              <a:rPr lang="en-US" sz="1150" dirty="0">
                <a:solidFill>
                  <a:srgbClr val="2A3330"/>
                </a:solidFill>
                <a:latin typeface="Meiryo UI" pitchFamily="34" charset="0"/>
                <a:ea typeface="Meiryo UI" pitchFamily="34" charset="-122"/>
                <a:cs typeface="Meiryo UI" pitchFamily="34" charset="-120"/>
              </a:rPr>
              <a:t>相談前の案内動画</a:t>
            </a:r>
            <a:endParaRPr lang="en-US" sz="1150" dirty="0"/>
          </a:p>
        </p:txBody>
      </p:sp>
      <p:sp>
        <p:nvSpPr>
          <p:cNvPr id="36" name="Text 34"/>
          <p:cNvSpPr txBox="1"/>
          <p:nvPr/>
        </p:nvSpPr>
        <p:spPr>
          <a:xfrm>
            <a:off x="7863840" y="3995928"/>
            <a:ext cx="2057400" cy="640080"/>
          </a:xfrm>
          <a:prstGeom prst="rect">
            <a:avLst/>
          </a:prstGeom>
          <a:noFill/>
          <a:ln/>
        </p:spPr>
        <p:txBody>
          <a:bodyPr wrap="square" lIns="0" tIns="0" rIns="0" bIns="0" rtlCol="0" anchor="ctr"/>
          <a:lstStyle/>
          <a:p>
            <a:pPr indent="0" marL="0">
              <a:buNone/>
            </a:pPr>
            <a:r>
              <a:rPr lang="en-US" sz="1150" dirty="0">
                <a:solidFill>
                  <a:srgbClr val="2A3330"/>
                </a:solidFill>
                <a:latin typeface="Meiryo UI" pitchFamily="34" charset="0"/>
                <a:ea typeface="Meiryo UI" pitchFamily="34" charset="-122"/>
                <a:cs typeface="Meiryo UI" pitchFamily="34" charset="-120"/>
              </a:rPr>
              <a:t>無料相談の予約</a:t>
            </a:r>
            <a:endParaRPr lang="en-US" sz="1150" dirty="0"/>
          </a:p>
        </p:txBody>
      </p:sp>
      <p:sp>
        <p:nvSpPr>
          <p:cNvPr id="37" name="Text 35"/>
          <p:cNvSpPr txBox="1"/>
          <p:nvPr/>
        </p:nvSpPr>
        <p:spPr>
          <a:xfrm>
            <a:off x="10012680" y="3995928"/>
            <a:ext cx="1627632" cy="640080"/>
          </a:xfrm>
          <a:prstGeom prst="rect">
            <a:avLst/>
          </a:prstGeom>
          <a:noFill/>
          <a:ln/>
        </p:spPr>
        <p:txBody>
          <a:bodyPr wrap="square" lIns="0" tIns="0" rIns="0" bIns="0" rtlCol="0" anchor="ctr"/>
          <a:lstStyle/>
          <a:p>
            <a:pPr indent="0" marL="0">
              <a:buNone/>
            </a:pPr>
            <a:r>
              <a:rPr lang="en-US" sz="1150" b="1" dirty="0">
                <a:solidFill>
                  <a:srgbClr val="2F7A55"/>
                </a:solidFill>
                <a:latin typeface="Meiryo UI" pitchFamily="34" charset="0"/>
                <a:ea typeface="Meiryo UI" pitchFamily="34" charset="-122"/>
                <a:cs typeface="Meiryo UI" pitchFamily="34" charset="-120"/>
              </a:rPr>
              <a:t>相談申込数</a:t>
            </a:r>
            <a:endParaRPr lang="en-US" sz="1150" dirty="0"/>
          </a:p>
        </p:txBody>
      </p:sp>
      <p:sp>
        <p:nvSpPr>
          <p:cNvPr id="38" name="Shape 36"/>
          <p:cNvSpPr/>
          <p:nvPr/>
        </p:nvSpPr>
        <p:spPr>
          <a:xfrm>
            <a:off x="1252728" y="4754880"/>
            <a:ext cx="1609344" cy="640080"/>
          </a:xfrm>
          <a:prstGeom prst="roundRect">
            <a:avLst>
              <a:gd name="adj" fmla="val 14286"/>
            </a:avLst>
          </a:prstGeom>
          <a:solidFill>
            <a:srgbClr val="D8614F"/>
          </a:solidFill>
          <a:ln w="12700">
            <a:solidFill>
              <a:srgbClr val="D8614F"/>
            </a:solidFill>
            <a:prstDash val="solid"/>
          </a:ln>
        </p:spPr>
      </p:sp>
      <p:sp>
        <p:nvSpPr>
          <p:cNvPr id="39" name="Text 37"/>
          <p:cNvSpPr txBox="1"/>
          <p:nvPr/>
        </p:nvSpPr>
        <p:spPr>
          <a:xfrm>
            <a:off x="1252728" y="4754880"/>
            <a:ext cx="1609344"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入会・受講</a:t>
            </a:r>
            <a:endParaRPr lang="en-US" sz="1400" dirty="0"/>
          </a:p>
        </p:txBody>
      </p:sp>
      <p:sp>
        <p:nvSpPr>
          <p:cNvPr id="40" name="Shape 38"/>
          <p:cNvSpPr/>
          <p:nvPr/>
        </p:nvSpPr>
        <p:spPr>
          <a:xfrm>
            <a:off x="3566160" y="4754880"/>
            <a:ext cx="8076895" cy="640080"/>
          </a:xfrm>
          <a:prstGeom prst="roundRect">
            <a:avLst>
              <a:gd name="adj" fmla="val 11429"/>
            </a:avLst>
          </a:prstGeom>
          <a:solidFill>
            <a:srgbClr val="F5F9F6"/>
          </a:solidFill>
          <a:ln w="9525">
            <a:solidFill>
              <a:srgbClr val="DCEAE1"/>
            </a:solidFill>
            <a:prstDash val="solid"/>
          </a:ln>
        </p:spPr>
      </p:sp>
      <p:sp>
        <p:nvSpPr>
          <p:cNvPr id="41" name="Text 39"/>
          <p:cNvSpPr txBox="1"/>
          <p:nvPr/>
        </p:nvSpPr>
        <p:spPr>
          <a:xfrm>
            <a:off x="3703320" y="4754880"/>
            <a:ext cx="2011680" cy="640080"/>
          </a:xfrm>
          <a:prstGeom prst="rect">
            <a:avLst/>
          </a:prstGeom>
          <a:noFill/>
          <a:ln/>
        </p:spPr>
        <p:txBody>
          <a:bodyPr wrap="square" lIns="0" tIns="0" rIns="0" bIns="0" rtlCol="0" anchor="ctr"/>
          <a:lstStyle/>
          <a:p>
            <a:pPr indent="0" marL="0">
              <a:buNone/>
            </a:pPr>
            <a:r>
              <a:rPr lang="en-US" sz="1150" dirty="0">
                <a:solidFill>
                  <a:srgbClr val="2A3330"/>
                </a:solidFill>
                <a:latin typeface="Meiryo UI" pitchFamily="34" charset="0"/>
                <a:ea typeface="Meiryo UI" pitchFamily="34" charset="-122"/>
                <a:cs typeface="Meiryo UI" pitchFamily="34" charset="-120"/>
              </a:rPr>
              <a:t>無料相談</a:t>
            </a:r>
            <a:endParaRPr lang="en-US" sz="1150" dirty="0"/>
          </a:p>
        </p:txBody>
      </p:sp>
      <p:sp>
        <p:nvSpPr>
          <p:cNvPr id="42" name="Text 40"/>
          <p:cNvSpPr txBox="1"/>
          <p:nvPr/>
        </p:nvSpPr>
        <p:spPr>
          <a:xfrm>
            <a:off x="5806440" y="4754880"/>
            <a:ext cx="1965960" cy="640080"/>
          </a:xfrm>
          <a:prstGeom prst="rect">
            <a:avLst/>
          </a:prstGeom>
          <a:noFill/>
          <a:ln/>
        </p:spPr>
        <p:txBody>
          <a:bodyPr wrap="square" lIns="0" tIns="0" rIns="0" bIns="0" rtlCol="0" anchor="ctr"/>
          <a:lstStyle/>
          <a:p>
            <a:pPr indent="0" marL="0">
              <a:buNone/>
            </a:pPr>
            <a:r>
              <a:rPr lang="en-US" sz="1150" dirty="0">
                <a:solidFill>
                  <a:srgbClr val="2A3330"/>
                </a:solidFill>
                <a:latin typeface="Meiryo UI" pitchFamily="34" charset="0"/>
                <a:ea typeface="Meiryo UI" pitchFamily="34" charset="-122"/>
                <a:cs typeface="Meiryo UI" pitchFamily="34" charset="-120"/>
              </a:rPr>
              <a:t>受講の流れ動画</a:t>
            </a:r>
            <a:endParaRPr lang="en-US" sz="1150" dirty="0"/>
          </a:p>
        </p:txBody>
      </p:sp>
      <p:sp>
        <p:nvSpPr>
          <p:cNvPr id="43" name="Text 41"/>
          <p:cNvSpPr txBox="1"/>
          <p:nvPr/>
        </p:nvSpPr>
        <p:spPr>
          <a:xfrm>
            <a:off x="7863840" y="4754880"/>
            <a:ext cx="2057400" cy="640080"/>
          </a:xfrm>
          <a:prstGeom prst="rect">
            <a:avLst/>
          </a:prstGeom>
          <a:noFill/>
          <a:ln/>
        </p:spPr>
        <p:txBody>
          <a:bodyPr wrap="square" lIns="0" tIns="0" rIns="0" bIns="0" rtlCol="0" anchor="ctr"/>
          <a:lstStyle/>
          <a:p>
            <a:pPr indent="0" marL="0">
              <a:buNone/>
            </a:pPr>
            <a:r>
              <a:rPr lang="en-US" sz="1150" dirty="0">
                <a:solidFill>
                  <a:srgbClr val="2A3330"/>
                </a:solidFill>
                <a:latin typeface="Meiryo UI" pitchFamily="34" charset="0"/>
                <a:ea typeface="Meiryo UI" pitchFamily="34" charset="-122"/>
                <a:cs typeface="Meiryo UI" pitchFamily="34" charset="-120"/>
              </a:rPr>
              <a:t>オンライン塾入会・講座申込</a:t>
            </a:r>
            <a:endParaRPr lang="en-US" sz="1150" dirty="0"/>
          </a:p>
        </p:txBody>
      </p:sp>
      <p:sp>
        <p:nvSpPr>
          <p:cNvPr id="44" name="Text 42"/>
          <p:cNvSpPr txBox="1"/>
          <p:nvPr/>
        </p:nvSpPr>
        <p:spPr>
          <a:xfrm>
            <a:off x="10012680" y="4754880"/>
            <a:ext cx="1627632" cy="640080"/>
          </a:xfrm>
          <a:prstGeom prst="rect">
            <a:avLst/>
          </a:prstGeom>
          <a:noFill/>
          <a:ln/>
        </p:spPr>
        <p:txBody>
          <a:bodyPr wrap="square" lIns="0" tIns="0" rIns="0" bIns="0" rtlCol="0" anchor="ctr"/>
          <a:lstStyle/>
          <a:p>
            <a:pPr indent="0" marL="0">
              <a:buNone/>
            </a:pPr>
            <a:r>
              <a:rPr lang="en-US" sz="1150" b="1" dirty="0">
                <a:solidFill>
                  <a:srgbClr val="2F7A55"/>
                </a:solidFill>
                <a:latin typeface="Meiryo UI" pitchFamily="34" charset="0"/>
                <a:ea typeface="Meiryo UI" pitchFamily="34" charset="-122"/>
                <a:cs typeface="Meiryo UI" pitchFamily="34" charset="-120"/>
              </a:rPr>
              <a:t>入会数・講座申込数</a:t>
            </a:r>
            <a:endParaRPr lang="en-US" sz="1150" dirty="0"/>
          </a:p>
        </p:txBody>
      </p:sp>
      <p:sp>
        <p:nvSpPr>
          <p:cNvPr id="45" name="Shape 43"/>
          <p:cNvSpPr/>
          <p:nvPr/>
        </p:nvSpPr>
        <p:spPr>
          <a:xfrm>
            <a:off x="1417320" y="5513832"/>
            <a:ext cx="1280160" cy="640080"/>
          </a:xfrm>
          <a:prstGeom prst="roundRect">
            <a:avLst>
              <a:gd name="adj" fmla="val 14286"/>
            </a:avLst>
          </a:prstGeom>
          <a:solidFill>
            <a:srgbClr val="D8614F"/>
          </a:solidFill>
          <a:ln w="12700">
            <a:solidFill>
              <a:srgbClr val="D8614F"/>
            </a:solidFill>
            <a:prstDash val="solid"/>
          </a:ln>
        </p:spPr>
      </p:sp>
      <p:sp>
        <p:nvSpPr>
          <p:cNvPr id="46" name="Text 44"/>
          <p:cNvSpPr txBox="1"/>
          <p:nvPr/>
        </p:nvSpPr>
        <p:spPr>
          <a:xfrm>
            <a:off x="1417320" y="5513832"/>
            <a:ext cx="128016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継続・紹介</a:t>
            </a:r>
            <a:endParaRPr lang="en-US" sz="1400" dirty="0"/>
          </a:p>
        </p:txBody>
      </p:sp>
      <p:sp>
        <p:nvSpPr>
          <p:cNvPr id="47" name="Shape 45"/>
          <p:cNvSpPr/>
          <p:nvPr/>
        </p:nvSpPr>
        <p:spPr>
          <a:xfrm>
            <a:off x="3566160" y="5513832"/>
            <a:ext cx="8076895" cy="640080"/>
          </a:xfrm>
          <a:prstGeom prst="roundRect">
            <a:avLst>
              <a:gd name="adj" fmla="val 11429"/>
            </a:avLst>
          </a:prstGeom>
          <a:solidFill>
            <a:srgbClr val="FFFFFF"/>
          </a:solidFill>
          <a:ln w="9525">
            <a:solidFill>
              <a:srgbClr val="DCEAE1"/>
            </a:solidFill>
            <a:prstDash val="solid"/>
          </a:ln>
        </p:spPr>
      </p:sp>
      <p:sp>
        <p:nvSpPr>
          <p:cNvPr id="48" name="Text 46"/>
          <p:cNvSpPr txBox="1"/>
          <p:nvPr/>
        </p:nvSpPr>
        <p:spPr>
          <a:xfrm>
            <a:off x="3703320" y="5513832"/>
            <a:ext cx="2011680" cy="640080"/>
          </a:xfrm>
          <a:prstGeom prst="rect">
            <a:avLst/>
          </a:prstGeom>
          <a:noFill/>
          <a:ln/>
        </p:spPr>
        <p:txBody>
          <a:bodyPr wrap="square" lIns="0" tIns="0" rIns="0" bIns="0" rtlCol="0" anchor="ctr"/>
          <a:lstStyle/>
          <a:p>
            <a:pPr indent="0" marL="0">
              <a:buNone/>
            </a:pPr>
            <a:r>
              <a:rPr lang="en-US" sz="1150" dirty="0">
                <a:solidFill>
                  <a:srgbClr val="2A3330"/>
                </a:solidFill>
                <a:latin typeface="Meiryo UI" pitchFamily="34" charset="0"/>
                <a:ea typeface="Meiryo UI" pitchFamily="34" charset="-122"/>
                <a:cs typeface="Meiryo UI" pitchFamily="34" charset="-120"/>
              </a:rPr>
              <a:t>オンラインサロン・LINE</a:t>
            </a:r>
            <a:endParaRPr lang="en-US" sz="1150" dirty="0"/>
          </a:p>
        </p:txBody>
      </p:sp>
      <p:sp>
        <p:nvSpPr>
          <p:cNvPr id="49" name="Text 47"/>
          <p:cNvSpPr txBox="1"/>
          <p:nvPr/>
        </p:nvSpPr>
        <p:spPr>
          <a:xfrm>
            <a:off x="5806440" y="5513832"/>
            <a:ext cx="1965960" cy="640080"/>
          </a:xfrm>
          <a:prstGeom prst="rect">
            <a:avLst/>
          </a:prstGeom>
          <a:noFill/>
          <a:ln/>
        </p:spPr>
        <p:txBody>
          <a:bodyPr wrap="square" lIns="0" tIns="0" rIns="0" bIns="0" rtlCol="0" anchor="ctr"/>
          <a:lstStyle/>
          <a:p>
            <a:pPr indent="0" marL="0">
              <a:buNone/>
            </a:pPr>
            <a:r>
              <a:rPr lang="en-US" sz="1150" dirty="0">
                <a:solidFill>
                  <a:srgbClr val="2A3330"/>
                </a:solidFill>
                <a:latin typeface="Meiryo UI" pitchFamily="34" charset="0"/>
                <a:ea typeface="Meiryo UI" pitchFamily="34" charset="-122"/>
                <a:cs typeface="Meiryo UI" pitchFamily="34" charset="-120"/>
              </a:rPr>
              <a:t>学習・子育てのヒント動画</a:t>
            </a:r>
            <a:endParaRPr lang="en-US" sz="1150" dirty="0"/>
          </a:p>
        </p:txBody>
      </p:sp>
      <p:sp>
        <p:nvSpPr>
          <p:cNvPr id="50" name="Text 48"/>
          <p:cNvSpPr txBox="1"/>
          <p:nvPr/>
        </p:nvSpPr>
        <p:spPr>
          <a:xfrm>
            <a:off x="7863840" y="5513832"/>
            <a:ext cx="2057400" cy="640080"/>
          </a:xfrm>
          <a:prstGeom prst="rect">
            <a:avLst/>
          </a:prstGeom>
          <a:noFill/>
          <a:ln/>
        </p:spPr>
        <p:txBody>
          <a:bodyPr wrap="square" lIns="0" tIns="0" rIns="0" bIns="0" rtlCol="0" anchor="ctr"/>
          <a:lstStyle/>
          <a:p>
            <a:pPr indent="0" marL="0">
              <a:buNone/>
            </a:pPr>
            <a:r>
              <a:rPr lang="en-US" sz="1150" dirty="0">
                <a:solidFill>
                  <a:srgbClr val="2A3330"/>
                </a:solidFill>
                <a:latin typeface="Meiryo UI" pitchFamily="34" charset="0"/>
                <a:ea typeface="Meiryo UI" pitchFamily="34" charset="-122"/>
                <a:cs typeface="Meiryo UI" pitchFamily="34" charset="-120"/>
              </a:rPr>
              <a:t>知人への紹介・講座の継続受講</a:t>
            </a:r>
            <a:endParaRPr lang="en-US" sz="1150" dirty="0"/>
          </a:p>
        </p:txBody>
      </p:sp>
      <p:sp>
        <p:nvSpPr>
          <p:cNvPr id="51" name="Text 49"/>
          <p:cNvSpPr txBox="1"/>
          <p:nvPr/>
        </p:nvSpPr>
        <p:spPr>
          <a:xfrm>
            <a:off x="10012680" y="5513832"/>
            <a:ext cx="1627632" cy="640080"/>
          </a:xfrm>
          <a:prstGeom prst="rect">
            <a:avLst/>
          </a:prstGeom>
          <a:noFill/>
          <a:ln/>
        </p:spPr>
        <p:txBody>
          <a:bodyPr wrap="square" lIns="0" tIns="0" rIns="0" bIns="0" rtlCol="0" anchor="ctr"/>
          <a:lstStyle/>
          <a:p>
            <a:pPr indent="0" marL="0">
              <a:buNone/>
            </a:pPr>
            <a:r>
              <a:rPr lang="en-US" sz="1150" b="1" dirty="0">
                <a:solidFill>
                  <a:srgbClr val="2F7A55"/>
                </a:solidFill>
                <a:latin typeface="Meiryo UI" pitchFamily="34" charset="0"/>
                <a:ea typeface="Meiryo UI" pitchFamily="34" charset="-122"/>
                <a:cs typeface="Meiryo UI" pitchFamily="34" charset="-120"/>
              </a:rPr>
              <a:t>継続率・紹介数</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8614F"/>
                </a:solidFill>
                <a:latin typeface="Meiryo UI" pitchFamily="34" charset="0"/>
                <a:ea typeface="Meiryo UI" pitchFamily="34" charset="-122"/>
                <a:cs typeface="Meiryo UI" pitchFamily="34" charset="-120"/>
              </a:rPr>
              <a:t>04｜PULL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2F7A55"/>
                </a:solidFill>
                <a:latin typeface="Meiryo UI" pitchFamily="34" charset="0"/>
                <a:ea typeface="Meiryo UI" pitchFamily="34" charset="-122"/>
                <a:cs typeface="Meiryo UI" pitchFamily="34" charset="-120"/>
              </a:rPr>
              <a:t>発信ガイドライン：お母さんの信頼を損なわない表現設計</a:t>
            </a:r>
            <a:endParaRPr lang="en-US" sz="2600" dirty="0"/>
          </a:p>
        </p:txBody>
      </p:sp>
      <p:sp>
        <p:nvSpPr>
          <p:cNvPr id="4" name="Text 2"/>
          <p:cNvSpPr txBox="1"/>
          <p:nvPr/>
        </p:nvSpPr>
        <p:spPr>
          <a:xfrm>
            <a:off x="548640" y="1207008"/>
            <a:ext cx="11094415" cy="365760"/>
          </a:xfrm>
          <a:prstGeom prst="rect">
            <a:avLst/>
          </a:prstGeom>
          <a:noFill/>
          <a:ln/>
        </p:spPr>
        <p:txBody>
          <a:bodyPr wrap="square" lIns="0" tIns="0" rIns="0" bIns="0" rtlCol="0" anchor="ctr"/>
          <a:lstStyle/>
          <a:p>
            <a:pPr indent="0" marL="0">
              <a:buNone/>
            </a:pPr>
            <a:r>
              <a:rPr lang="en-US" sz="1300" dirty="0">
                <a:solidFill>
                  <a:srgbClr val="66786F"/>
                </a:solidFill>
                <a:latin typeface="Meiryo UI" pitchFamily="34" charset="0"/>
                <a:ea typeface="Meiryo UI" pitchFamily="34" charset="-122"/>
                <a:cs typeface="Meiryo UI" pitchFamily="34" charset="-120"/>
              </a:rPr>
              <a:t>教育・子育て・心理ケアの発信は、表示に関するルールとお子さまのプライバシーへの配慮が欠かせません。</a:t>
            </a:r>
            <a:endParaRPr lang="en-US" sz="1300" dirty="0"/>
          </a:p>
        </p:txBody>
      </p:sp>
      <p:sp>
        <p:nvSpPr>
          <p:cNvPr id="5" name="Text 3"/>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0"/>
                </a:solidFill>
                <a:latin typeface="Meiryo UI" pitchFamily="34" charset="0"/>
                <a:ea typeface="Meiryo UI" pitchFamily="34" charset="-122"/>
                <a:cs typeface="Meiryo UI" pitchFamily="34" charset="-120"/>
              </a:rPr>
              <a:t>16</a:t>
            </a:r>
            <a:endParaRPr lang="en-US" sz="1000" dirty="0"/>
          </a:p>
        </p:txBody>
      </p:sp>
      <p:sp>
        <p:nvSpPr>
          <p:cNvPr id="6" name="Text 4"/>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0"/>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7" name="Shape 5"/>
          <p:cNvSpPr/>
          <p:nvPr/>
        </p:nvSpPr>
        <p:spPr>
          <a:xfrm>
            <a:off x="548640" y="1874520"/>
            <a:ext cx="5410048" cy="1737360"/>
          </a:xfrm>
          <a:prstGeom prst="roundRect">
            <a:avLst>
              <a:gd name="adj" fmla="val 631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8" name="Shape 6"/>
          <p:cNvSpPr/>
          <p:nvPr/>
        </p:nvSpPr>
        <p:spPr>
          <a:xfrm>
            <a:off x="868680" y="2194560"/>
            <a:ext cx="777240" cy="777240"/>
          </a:xfrm>
          <a:prstGeom prst="ellipse">
            <a:avLst/>
          </a:prstGeom>
          <a:solidFill>
            <a:srgbClr val="EAF4EE"/>
          </a:solidFill>
          <a:ln w="12700">
            <a:solidFill>
              <a:srgbClr val="EAF4EE"/>
            </a:solidFill>
            <a:prstDash val="solid"/>
          </a:ln>
        </p:spPr>
      </p:sp>
      <p:pic>
        <p:nvPicPr>
          <p:cNvPr id="9" name="Image 0" descr="preencoded.png">    </p:cNvPr>
          <p:cNvPicPr>
            <a:picLocks noChangeAspect="1"/>
          </p:cNvPicPr>
          <p:nvPr/>
        </p:nvPicPr>
        <p:blipFill>
          <a:blip r:embed="rId1"/>
          <a:stretch>
            <a:fillRect/>
          </a:stretch>
        </p:blipFill>
        <p:spPr>
          <a:xfrm>
            <a:off x="1070762" y="2396642"/>
            <a:ext cx="373075" cy="373075"/>
          </a:xfrm>
          <a:prstGeom prst="rect">
            <a:avLst/>
          </a:prstGeom>
        </p:spPr>
      </p:pic>
      <p:sp>
        <p:nvSpPr>
          <p:cNvPr id="10" name="Text 7"/>
          <p:cNvSpPr txBox="1"/>
          <p:nvPr/>
        </p:nvSpPr>
        <p:spPr>
          <a:xfrm>
            <a:off x="1920240" y="2194560"/>
            <a:ext cx="3764128" cy="411480"/>
          </a:xfrm>
          <a:prstGeom prst="rect">
            <a:avLst/>
          </a:prstGeom>
          <a:noFill/>
          <a:ln/>
        </p:spPr>
        <p:txBody>
          <a:bodyPr wrap="square" lIns="0" tIns="0" rIns="0" bIns="0" rtlCol="0" anchor="t"/>
          <a:lstStyle/>
          <a:p>
            <a:pPr indent="0" marL="0">
              <a:buNone/>
            </a:pPr>
            <a:r>
              <a:rPr lang="en-US" sz="1600" b="1" dirty="0">
                <a:solidFill>
                  <a:srgbClr val="2F7A55"/>
                </a:solidFill>
                <a:latin typeface="Meiryo UI" pitchFamily="34" charset="0"/>
                <a:ea typeface="Meiryo UI" pitchFamily="34" charset="-122"/>
                <a:cs typeface="Meiryo UI" pitchFamily="34" charset="-120"/>
              </a:rPr>
              <a:t>成果を断定・保証しない</a:t>
            </a:r>
            <a:endParaRPr lang="en-US" sz="1600" dirty="0"/>
          </a:p>
        </p:txBody>
      </p:sp>
      <p:sp>
        <p:nvSpPr>
          <p:cNvPr id="11" name="Text 8"/>
          <p:cNvSpPr txBox="1"/>
          <p:nvPr/>
        </p:nvSpPr>
        <p:spPr>
          <a:xfrm>
            <a:off x="1920240" y="2651760"/>
            <a:ext cx="3764128" cy="822960"/>
          </a:xfrm>
          <a:prstGeom prst="rect">
            <a:avLst/>
          </a:prstGeom>
          <a:noFill/>
          <a:ln/>
        </p:spPr>
        <p:txBody>
          <a:bodyPr wrap="square" lIns="0" tIns="0" rIns="0" bIns="0" rtlCol="0" anchor="t"/>
          <a:lstStyle/>
          <a:p>
            <a:pPr indent="0" marL="0">
              <a:buNone/>
            </a:pPr>
            <a:r>
              <a:rPr lang="en-US" sz="1200" dirty="0">
                <a:solidFill>
                  <a:srgbClr val="2A3330"/>
                </a:solidFill>
                <a:latin typeface="Meiryo UI" pitchFamily="34" charset="0"/>
                <a:ea typeface="Meiryo UI" pitchFamily="34" charset="-122"/>
                <a:cs typeface="Meiryo UI" pitchFamily="34" charset="-120"/>
              </a:rPr>
              <a:t>「必ず成績が上がる」「不登校が治る」など、成果を断定・保証する表現は用いません。体験談には個人の感想である旨を添えます。</a:t>
            </a:r>
            <a:endParaRPr lang="en-US" sz="1200" dirty="0"/>
          </a:p>
        </p:txBody>
      </p:sp>
      <p:sp>
        <p:nvSpPr>
          <p:cNvPr id="12" name="Shape 9"/>
          <p:cNvSpPr/>
          <p:nvPr/>
        </p:nvSpPr>
        <p:spPr>
          <a:xfrm>
            <a:off x="6233008" y="1874520"/>
            <a:ext cx="5410048" cy="1737360"/>
          </a:xfrm>
          <a:prstGeom prst="roundRect">
            <a:avLst>
              <a:gd name="adj" fmla="val 631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3" name="Shape 10"/>
          <p:cNvSpPr/>
          <p:nvPr/>
        </p:nvSpPr>
        <p:spPr>
          <a:xfrm>
            <a:off x="6553048" y="2194560"/>
            <a:ext cx="777240" cy="777240"/>
          </a:xfrm>
          <a:prstGeom prst="ellipse">
            <a:avLst/>
          </a:prstGeom>
          <a:solidFill>
            <a:srgbClr val="EAF4EE"/>
          </a:solidFill>
          <a:ln w="12700">
            <a:solidFill>
              <a:srgbClr val="EAF4EE"/>
            </a:solidFill>
            <a:prstDash val="solid"/>
          </a:ln>
        </p:spPr>
      </p:sp>
      <p:pic>
        <p:nvPicPr>
          <p:cNvPr id="14" name="Image 1" descr="preencoded.png">    </p:cNvPr>
          <p:cNvPicPr>
            <a:picLocks noChangeAspect="1"/>
          </p:cNvPicPr>
          <p:nvPr/>
        </p:nvPicPr>
        <p:blipFill>
          <a:blip r:embed="rId2"/>
          <a:stretch>
            <a:fillRect/>
          </a:stretch>
        </p:blipFill>
        <p:spPr>
          <a:xfrm>
            <a:off x="6755130" y="2396642"/>
            <a:ext cx="373075" cy="373075"/>
          </a:xfrm>
          <a:prstGeom prst="rect">
            <a:avLst/>
          </a:prstGeom>
        </p:spPr>
      </p:pic>
      <p:sp>
        <p:nvSpPr>
          <p:cNvPr id="15" name="Text 11"/>
          <p:cNvSpPr txBox="1"/>
          <p:nvPr/>
        </p:nvSpPr>
        <p:spPr>
          <a:xfrm>
            <a:off x="7604608" y="2194560"/>
            <a:ext cx="3764128" cy="411480"/>
          </a:xfrm>
          <a:prstGeom prst="rect">
            <a:avLst/>
          </a:prstGeom>
          <a:noFill/>
          <a:ln/>
        </p:spPr>
        <p:txBody>
          <a:bodyPr wrap="square" lIns="0" tIns="0" rIns="0" bIns="0" rtlCol="0" anchor="t"/>
          <a:lstStyle/>
          <a:p>
            <a:pPr indent="0" marL="0">
              <a:buNone/>
            </a:pPr>
            <a:r>
              <a:rPr lang="en-US" sz="1600" b="1" dirty="0">
                <a:solidFill>
                  <a:srgbClr val="2F7A55"/>
                </a:solidFill>
                <a:latin typeface="Meiryo UI" pitchFamily="34" charset="0"/>
                <a:ea typeface="Meiryo UI" pitchFamily="34" charset="-122"/>
                <a:cs typeface="Meiryo UI" pitchFamily="34" charset="-120"/>
              </a:rPr>
              <a:t>お子さまのプライバシー保護</a:t>
            </a:r>
            <a:endParaRPr lang="en-US" sz="1600" dirty="0"/>
          </a:p>
        </p:txBody>
      </p:sp>
      <p:sp>
        <p:nvSpPr>
          <p:cNvPr id="16" name="Text 12"/>
          <p:cNvSpPr txBox="1"/>
          <p:nvPr/>
        </p:nvSpPr>
        <p:spPr>
          <a:xfrm>
            <a:off x="7604608" y="2651760"/>
            <a:ext cx="3764128" cy="822960"/>
          </a:xfrm>
          <a:prstGeom prst="rect">
            <a:avLst/>
          </a:prstGeom>
          <a:noFill/>
          <a:ln/>
        </p:spPr>
        <p:txBody>
          <a:bodyPr wrap="square" lIns="0" tIns="0" rIns="0" bIns="0" rtlCol="0" anchor="t"/>
          <a:lstStyle/>
          <a:p>
            <a:pPr indent="0" marL="0">
              <a:buNone/>
            </a:pPr>
            <a:r>
              <a:rPr lang="en-US" sz="1200" dirty="0">
                <a:solidFill>
                  <a:srgbClr val="2A3330"/>
                </a:solidFill>
                <a:latin typeface="Meiryo UI" pitchFamily="34" charset="0"/>
                <a:ea typeface="Meiryo UI" pitchFamily="34" charset="-122"/>
                <a:cs typeface="Meiryo UI" pitchFamily="34" charset="-120"/>
              </a:rPr>
              <a:t>お子さまの写真・声・エピソードは、保護者の書面同意を得たうえで、個人が特定されない形で使用します。</a:t>
            </a:r>
            <a:endParaRPr lang="en-US" sz="1200" dirty="0"/>
          </a:p>
        </p:txBody>
      </p:sp>
      <p:sp>
        <p:nvSpPr>
          <p:cNvPr id="17" name="Shape 13"/>
          <p:cNvSpPr/>
          <p:nvPr/>
        </p:nvSpPr>
        <p:spPr>
          <a:xfrm>
            <a:off x="548640" y="3886200"/>
            <a:ext cx="5410048" cy="1737360"/>
          </a:xfrm>
          <a:prstGeom prst="roundRect">
            <a:avLst>
              <a:gd name="adj" fmla="val 631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8" name="Shape 14"/>
          <p:cNvSpPr/>
          <p:nvPr/>
        </p:nvSpPr>
        <p:spPr>
          <a:xfrm>
            <a:off x="868680" y="4206240"/>
            <a:ext cx="777240" cy="777240"/>
          </a:xfrm>
          <a:prstGeom prst="ellipse">
            <a:avLst/>
          </a:prstGeom>
          <a:solidFill>
            <a:srgbClr val="EAF4EE"/>
          </a:solidFill>
          <a:ln w="12700">
            <a:solidFill>
              <a:srgbClr val="EAF4EE"/>
            </a:solidFill>
            <a:prstDash val="solid"/>
          </a:ln>
        </p:spPr>
      </p:sp>
      <p:pic>
        <p:nvPicPr>
          <p:cNvPr id="19" name="Image 2" descr="preencoded.png">    </p:cNvPr>
          <p:cNvPicPr>
            <a:picLocks noChangeAspect="1"/>
          </p:cNvPicPr>
          <p:nvPr/>
        </p:nvPicPr>
        <p:blipFill>
          <a:blip r:embed="rId3"/>
          <a:stretch>
            <a:fillRect/>
          </a:stretch>
        </p:blipFill>
        <p:spPr>
          <a:xfrm>
            <a:off x="1070762" y="4408322"/>
            <a:ext cx="373075" cy="373075"/>
          </a:xfrm>
          <a:prstGeom prst="rect">
            <a:avLst/>
          </a:prstGeom>
        </p:spPr>
      </p:pic>
      <p:sp>
        <p:nvSpPr>
          <p:cNvPr id="20" name="Text 15"/>
          <p:cNvSpPr txBox="1"/>
          <p:nvPr/>
        </p:nvSpPr>
        <p:spPr>
          <a:xfrm>
            <a:off x="1920240" y="4206240"/>
            <a:ext cx="3764128" cy="411480"/>
          </a:xfrm>
          <a:prstGeom prst="rect">
            <a:avLst/>
          </a:prstGeom>
          <a:noFill/>
          <a:ln/>
        </p:spPr>
        <p:txBody>
          <a:bodyPr wrap="square" lIns="0" tIns="0" rIns="0" bIns="0" rtlCol="0" anchor="t"/>
          <a:lstStyle/>
          <a:p>
            <a:pPr indent="0" marL="0">
              <a:buNone/>
            </a:pPr>
            <a:r>
              <a:rPr lang="en-US" sz="1600" b="1" dirty="0">
                <a:solidFill>
                  <a:srgbClr val="2F7A55"/>
                </a:solidFill>
                <a:latin typeface="Meiryo UI" pitchFamily="34" charset="0"/>
                <a:ea typeface="Meiryo UI" pitchFamily="34" charset="-122"/>
                <a:cs typeface="Meiryo UI" pitchFamily="34" charset="-120"/>
              </a:rPr>
              <a:t>料金・契約条件は分かりやすく</a:t>
            </a:r>
            <a:endParaRPr lang="en-US" sz="1600" dirty="0"/>
          </a:p>
        </p:txBody>
      </p:sp>
      <p:sp>
        <p:nvSpPr>
          <p:cNvPr id="21" name="Text 16"/>
          <p:cNvSpPr txBox="1"/>
          <p:nvPr/>
        </p:nvSpPr>
        <p:spPr>
          <a:xfrm>
            <a:off x="1920240" y="4663440"/>
            <a:ext cx="3764128" cy="822960"/>
          </a:xfrm>
          <a:prstGeom prst="rect">
            <a:avLst/>
          </a:prstGeom>
          <a:noFill/>
          <a:ln/>
        </p:spPr>
        <p:txBody>
          <a:bodyPr wrap="square" lIns="0" tIns="0" rIns="0" bIns="0" rtlCol="0" anchor="t"/>
          <a:lstStyle/>
          <a:p>
            <a:pPr indent="0" marL="0">
              <a:buNone/>
            </a:pPr>
            <a:r>
              <a:rPr lang="en-US" sz="1200" dirty="0">
                <a:solidFill>
                  <a:srgbClr val="2A3330"/>
                </a:solidFill>
                <a:latin typeface="Meiryo UI" pitchFamily="34" charset="0"/>
                <a:ea typeface="Meiryo UI" pitchFamily="34" charset="-122"/>
                <a:cs typeface="Meiryo UI" pitchFamily="34" charset="-120"/>
              </a:rPr>
              <a:t>オンライン塾・講座の料金や契約条件は、特定商取引法などのルールに沿って誤解のない形で表示します。</a:t>
            </a:r>
            <a:endParaRPr lang="en-US" sz="1200" dirty="0"/>
          </a:p>
        </p:txBody>
      </p:sp>
      <p:sp>
        <p:nvSpPr>
          <p:cNvPr id="22" name="Shape 17"/>
          <p:cNvSpPr/>
          <p:nvPr/>
        </p:nvSpPr>
        <p:spPr>
          <a:xfrm>
            <a:off x="6233008" y="3886200"/>
            <a:ext cx="5410048" cy="1737360"/>
          </a:xfrm>
          <a:prstGeom prst="roundRect">
            <a:avLst>
              <a:gd name="adj" fmla="val 631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3" name="Shape 18"/>
          <p:cNvSpPr/>
          <p:nvPr/>
        </p:nvSpPr>
        <p:spPr>
          <a:xfrm>
            <a:off x="6553048" y="4206240"/>
            <a:ext cx="777240" cy="777240"/>
          </a:xfrm>
          <a:prstGeom prst="ellipse">
            <a:avLst/>
          </a:prstGeom>
          <a:solidFill>
            <a:srgbClr val="EAF4EE"/>
          </a:solidFill>
          <a:ln w="12700">
            <a:solidFill>
              <a:srgbClr val="EAF4EE"/>
            </a:solidFill>
            <a:prstDash val="solid"/>
          </a:ln>
        </p:spPr>
      </p:sp>
      <p:pic>
        <p:nvPicPr>
          <p:cNvPr id="24" name="Image 3" descr="preencoded.png">    </p:cNvPr>
          <p:cNvPicPr>
            <a:picLocks noChangeAspect="1"/>
          </p:cNvPicPr>
          <p:nvPr/>
        </p:nvPicPr>
        <p:blipFill>
          <a:blip r:embed="rId4"/>
          <a:stretch>
            <a:fillRect/>
          </a:stretch>
        </p:blipFill>
        <p:spPr>
          <a:xfrm>
            <a:off x="6755130" y="4408322"/>
            <a:ext cx="373075" cy="373075"/>
          </a:xfrm>
          <a:prstGeom prst="rect">
            <a:avLst/>
          </a:prstGeom>
        </p:spPr>
      </p:pic>
      <p:sp>
        <p:nvSpPr>
          <p:cNvPr id="25" name="Text 19"/>
          <p:cNvSpPr txBox="1"/>
          <p:nvPr/>
        </p:nvSpPr>
        <p:spPr>
          <a:xfrm>
            <a:off x="7604608" y="4206240"/>
            <a:ext cx="3764128" cy="411480"/>
          </a:xfrm>
          <a:prstGeom prst="rect">
            <a:avLst/>
          </a:prstGeom>
          <a:noFill/>
          <a:ln/>
        </p:spPr>
        <p:txBody>
          <a:bodyPr wrap="square" lIns="0" tIns="0" rIns="0" bIns="0" rtlCol="0" anchor="t"/>
          <a:lstStyle/>
          <a:p>
            <a:pPr indent="0" marL="0">
              <a:buNone/>
            </a:pPr>
            <a:r>
              <a:rPr lang="en-US" sz="1600" b="1" dirty="0">
                <a:solidFill>
                  <a:srgbClr val="2F7A55"/>
                </a:solidFill>
                <a:latin typeface="Meiryo UI" pitchFamily="34" charset="0"/>
                <a:ea typeface="Meiryo UI" pitchFamily="34" charset="-122"/>
                <a:cs typeface="Meiryo UI" pitchFamily="34" charset="-120"/>
              </a:rPr>
              <a:t>心理ケアの表現に配慮</a:t>
            </a:r>
            <a:endParaRPr lang="en-US" sz="1600" dirty="0"/>
          </a:p>
        </p:txBody>
      </p:sp>
      <p:sp>
        <p:nvSpPr>
          <p:cNvPr id="26" name="Text 20"/>
          <p:cNvSpPr txBox="1"/>
          <p:nvPr/>
        </p:nvSpPr>
        <p:spPr>
          <a:xfrm>
            <a:off x="7604608" y="4663440"/>
            <a:ext cx="3764128" cy="822960"/>
          </a:xfrm>
          <a:prstGeom prst="rect">
            <a:avLst/>
          </a:prstGeom>
          <a:noFill/>
          <a:ln/>
        </p:spPr>
        <p:txBody>
          <a:bodyPr wrap="square" lIns="0" tIns="0" rIns="0" bIns="0" rtlCol="0" anchor="t"/>
          <a:lstStyle/>
          <a:p>
            <a:pPr indent="0" marL="0">
              <a:buNone/>
            </a:pPr>
            <a:r>
              <a:rPr lang="en-US" sz="1200" dirty="0">
                <a:solidFill>
                  <a:srgbClr val="2A3330"/>
                </a:solidFill>
                <a:latin typeface="Meiryo UI" pitchFamily="34" charset="0"/>
                <a:ea typeface="Meiryo UI" pitchFamily="34" charset="-122"/>
                <a:cs typeface="Meiryo UI" pitchFamily="34" charset="-120"/>
              </a:rPr>
              <a:t>心理ケアが医療行為と誤解されない表現にし、必要に応じて専門機関への相談もご案内します。</a:t>
            </a:r>
            <a:endParaRPr lang="en-US" sz="1200" dirty="0"/>
          </a:p>
        </p:txBody>
      </p:sp>
      <p:sp>
        <p:nvSpPr>
          <p:cNvPr id="27" name="Text 21"/>
          <p:cNvSpPr txBox="1"/>
          <p:nvPr/>
        </p:nvSpPr>
        <p:spPr>
          <a:xfrm>
            <a:off x="548640" y="5943600"/>
            <a:ext cx="11094415" cy="365760"/>
          </a:xfrm>
          <a:prstGeom prst="rect">
            <a:avLst/>
          </a:prstGeom>
          <a:noFill/>
          <a:ln/>
        </p:spPr>
        <p:txBody>
          <a:bodyPr wrap="square" lIns="0" tIns="0" rIns="0" bIns="0" rtlCol="0" anchor="t"/>
          <a:lstStyle/>
          <a:p>
            <a:pPr algn="ctr" indent="0" marL="0">
              <a:buNone/>
            </a:pPr>
            <a:r>
              <a:rPr lang="en-US" sz="1250" b="1" dirty="0">
                <a:solidFill>
                  <a:srgbClr val="D8614F"/>
                </a:solidFill>
                <a:latin typeface="Meiryo UI" pitchFamily="34" charset="0"/>
                <a:ea typeface="Meiryo UI" pitchFamily="34" charset="-122"/>
                <a:cs typeface="Meiryo UI" pitchFamily="34" charset="-120"/>
              </a:rPr>
              <a:t>お母さんを責めない・不安をあおらない言葉選びを、台本作成の段階から徹底します。</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8614F"/>
                </a:solidFill>
                <a:latin typeface="Meiryo UI" pitchFamily="34" charset="0"/>
                <a:ea typeface="Meiryo UI" pitchFamily="34" charset="-122"/>
                <a:cs typeface="Meiryo UI" pitchFamily="34" charset="-120"/>
              </a:rPr>
              <a:t>05｜PHASE 1</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2F7A55"/>
                </a:solidFill>
                <a:latin typeface="Meiryo UI" pitchFamily="34" charset="0"/>
                <a:ea typeface="Meiryo UI" pitchFamily="34" charset="-122"/>
                <a:cs typeface="Meiryo UI" pitchFamily="34" charset="-120"/>
              </a:rPr>
              <a:t>無料3本は「サービス紹介」ではなく「効果検証のプロトタイプ」</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0"/>
                </a:solidFill>
                <a:latin typeface="Meiryo UI" pitchFamily="34" charset="0"/>
                <a:ea typeface="Meiryo UI" pitchFamily="34" charset="-122"/>
                <a:cs typeface="Meiryo UI" pitchFamily="34" charset="-120"/>
              </a:rPr>
              <a:t>17</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0"/>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371600"/>
            <a:ext cx="11094415" cy="822960"/>
          </a:xfrm>
          <a:prstGeom prst="roundRect">
            <a:avLst>
              <a:gd name="adj" fmla="val 13333"/>
            </a:avLst>
          </a:prstGeom>
          <a:solidFill>
            <a:srgbClr val="1D4A35"/>
          </a:solidFill>
          <a:ln w="12700">
            <a:solidFill>
              <a:srgbClr val="1D4A35"/>
            </a:solidFill>
            <a:prstDash val="solid"/>
          </a:ln>
        </p:spPr>
      </p:sp>
      <p:sp>
        <p:nvSpPr>
          <p:cNvPr id="7" name="Text 5"/>
          <p:cNvSpPr txBox="1"/>
          <p:nvPr/>
        </p:nvSpPr>
        <p:spPr>
          <a:xfrm>
            <a:off x="914400" y="1371600"/>
            <a:ext cx="10362895" cy="822960"/>
          </a:xfrm>
          <a:prstGeom prst="rect">
            <a:avLst/>
          </a:prstGeom>
          <a:noFill/>
          <a:ln/>
        </p:spPr>
        <p:txBody>
          <a:bodyPr wrap="square" lIns="0" tIns="0" rIns="0" bIns="0" rtlCol="0" anchor="ctr"/>
          <a:lstStyle/>
          <a:p>
            <a:pPr indent="0" marL="0">
              <a:buNone/>
            </a:pPr>
            <a:r>
              <a:rPr lang="en-US" sz="1500" b="1" dirty="0">
                <a:solidFill>
                  <a:srgbClr val="FFFFFF"/>
                </a:solidFill>
                <a:latin typeface="Meiryo UI" pitchFamily="34" charset="0"/>
                <a:ea typeface="Meiryo UI" pitchFamily="34" charset="-122"/>
                <a:cs typeface="Meiryo UI" pitchFamily="34" charset="-120"/>
              </a:rPr>
              <a:t>プッシュとプル、どの型・どのターゲット・どのチャネルが最も成果につながるかを、</a:t>
            </a:r>
            <a:endParaRPr lang="en-US" sz="1500" dirty="0"/>
          </a:p>
          <a:p>
            <a:pPr indent="0" marL="0">
              <a:buNone/>
            </a:pPr>
            <a:r>
              <a:rPr lang="en-US" sz="1500" b="1" dirty="0">
                <a:solidFill>
                  <a:srgbClr val="FFFFFF"/>
                </a:solidFill>
                <a:latin typeface="Meiryo UI" pitchFamily="34" charset="0"/>
                <a:ea typeface="Meiryo UI" pitchFamily="34" charset="-122"/>
                <a:cs typeface="Meiryo UI" pitchFamily="34" charset="-120"/>
              </a:rPr>
              <a:t>あえて条件を変えた3本で同時に比較検証します。</a:t>
            </a:r>
            <a:endParaRPr lang="en-US" sz="1500" dirty="0"/>
          </a:p>
        </p:txBody>
      </p:sp>
      <p:sp>
        <p:nvSpPr>
          <p:cNvPr id="8" name="Shape 6"/>
          <p:cNvSpPr/>
          <p:nvPr/>
        </p:nvSpPr>
        <p:spPr>
          <a:xfrm>
            <a:off x="548640" y="2423160"/>
            <a:ext cx="3515258" cy="3840480"/>
          </a:xfrm>
          <a:prstGeom prst="roundRect">
            <a:avLst>
              <a:gd name="adj" fmla="val 312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777240" y="2606040"/>
            <a:ext cx="502920" cy="502920"/>
          </a:xfrm>
          <a:prstGeom prst="ellipse">
            <a:avLst/>
          </a:prstGeom>
          <a:solidFill>
            <a:srgbClr val="D8614F"/>
          </a:solidFill>
          <a:ln w="12700">
            <a:solidFill>
              <a:srgbClr val="D8614F"/>
            </a:solidFill>
            <a:prstDash val="solid"/>
          </a:ln>
        </p:spPr>
      </p:sp>
      <p:sp>
        <p:nvSpPr>
          <p:cNvPr id="10" name="Text 8"/>
          <p:cNvSpPr txBox="1"/>
          <p:nvPr/>
        </p:nvSpPr>
        <p:spPr>
          <a:xfrm>
            <a:off x="777240" y="26060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UI" pitchFamily="34" charset="0"/>
                <a:ea typeface="Meiryo UI" pitchFamily="34" charset="-122"/>
                <a:cs typeface="Meiryo UI" pitchFamily="34" charset="-120"/>
              </a:rPr>
              <a:t>1</a:t>
            </a:r>
            <a:endParaRPr lang="en-US" sz="1600" dirty="0"/>
          </a:p>
        </p:txBody>
      </p:sp>
      <p:sp>
        <p:nvSpPr>
          <p:cNvPr id="11" name="Text 9"/>
          <p:cNvSpPr txBox="1"/>
          <p:nvPr/>
        </p:nvSpPr>
        <p:spPr>
          <a:xfrm>
            <a:off x="1417320" y="2560320"/>
            <a:ext cx="2509418" cy="347472"/>
          </a:xfrm>
          <a:prstGeom prst="rect">
            <a:avLst/>
          </a:prstGeom>
          <a:noFill/>
          <a:ln/>
        </p:spPr>
        <p:txBody>
          <a:bodyPr wrap="square" lIns="0" tIns="0" rIns="0" bIns="0" rtlCol="0" anchor="t"/>
          <a:lstStyle/>
          <a:p>
            <a:pPr indent="0" marL="0">
              <a:buNone/>
            </a:pPr>
            <a:r>
              <a:rPr lang="en-US" sz="1500" b="1" dirty="0">
                <a:solidFill>
                  <a:srgbClr val="2F7A55"/>
                </a:solidFill>
                <a:latin typeface="Meiryo UI" pitchFamily="34" charset="0"/>
                <a:ea typeface="Meiryo UI" pitchFamily="34" charset="-122"/>
                <a:cs typeface="Meiryo UI" pitchFamily="34" charset="-120"/>
              </a:rPr>
              <a:t>プッシュ検証</a:t>
            </a:r>
            <a:endParaRPr lang="en-US" sz="1500" dirty="0"/>
          </a:p>
        </p:txBody>
      </p:sp>
      <p:sp>
        <p:nvSpPr>
          <p:cNvPr id="12" name="Text 10"/>
          <p:cNvSpPr txBox="1"/>
          <p:nvPr/>
        </p:nvSpPr>
        <p:spPr>
          <a:xfrm>
            <a:off x="1417320" y="2880360"/>
            <a:ext cx="2509418" cy="274320"/>
          </a:xfrm>
          <a:prstGeom prst="rect">
            <a:avLst/>
          </a:prstGeom>
          <a:noFill/>
          <a:ln/>
        </p:spPr>
        <p:txBody>
          <a:bodyPr wrap="square" lIns="0" tIns="0" rIns="0" bIns="0" rtlCol="0" anchor="t"/>
          <a:lstStyle/>
          <a:p>
            <a:pPr indent="0" marL="0">
              <a:buNone/>
            </a:pPr>
            <a:r>
              <a:rPr lang="en-US" sz="1150" b="1" dirty="0">
                <a:solidFill>
                  <a:srgbClr val="D8614F"/>
                </a:solidFill>
                <a:latin typeface="Meiryo UI" pitchFamily="34" charset="0"/>
                <a:ea typeface="Meiryo UI" pitchFamily="34" charset="-122"/>
                <a:cs typeface="Meiryo UI" pitchFamily="34" charset="-120"/>
              </a:rPr>
              <a:t>長尺解説型</a:t>
            </a:r>
            <a:endParaRPr lang="en-US" sz="1150" dirty="0"/>
          </a:p>
        </p:txBody>
      </p:sp>
      <p:sp>
        <p:nvSpPr>
          <p:cNvPr id="13" name="Text 11"/>
          <p:cNvSpPr txBox="1"/>
          <p:nvPr/>
        </p:nvSpPr>
        <p:spPr>
          <a:xfrm>
            <a:off x="777240" y="3319272"/>
            <a:ext cx="1051560" cy="502920"/>
          </a:xfrm>
          <a:prstGeom prst="rect">
            <a:avLst/>
          </a:prstGeom>
          <a:noFill/>
          <a:ln/>
        </p:spPr>
        <p:txBody>
          <a:bodyPr wrap="square" lIns="0" tIns="0" rIns="0" bIns="0" rtlCol="0" anchor="t"/>
          <a:lstStyle/>
          <a:p>
            <a:pPr indent="0" marL="0">
              <a:buNone/>
            </a:pPr>
            <a:r>
              <a:rPr lang="en-US" sz="1050" b="1" dirty="0">
                <a:solidFill>
                  <a:srgbClr val="66786F"/>
                </a:solidFill>
                <a:latin typeface="Meiryo UI" pitchFamily="34" charset="0"/>
                <a:ea typeface="Meiryo UI" pitchFamily="34" charset="-122"/>
                <a:cs typeface="Meiryo UI" pitchFamily="34" charset="-120"/>
              </a:rPr>
              <a:t>ターゲット</a:t>
            </a:r>
            <a:endParaRPr lang="en-US" sz="1050" dirty="0"/>
          </a:p>
        </p:txBody>
      </p:sp>
      <p:sp>
        <p:nvSpPr>
          <p:cNvPr id="14" name="Text 12"/>
          <p:cNvSpPr txBox="1"/>
          <p:nvPr/>
        </p:nvSpPr>
        <p:spPr>
          <a:xfrm>
            <a:off x="1828800" y="3319272"/>
            <a:ext cx="2052218" cy="530352"/>
          </a:xfrm>
          <a:prstGeom prst="rect">
            <a:avLst/>
          </a:prstGeom>
          <a:noFill/>
          <a:ln/>
        </p:spPr>
        <p:txBody>
          <a:bodyPr wrap="square" lIns="0" tIns="0" rIns="0" bIns="0" rtlCol="0" anchor="t"/>
          <a:lstStyle/>
          <a:p>
            <a:pPr indent="0" marL="0">
              <a:buNone/>
            </a:pPr>
            <a:r>
              <a:rPr lang="en-US" sz="1100" dirty="0">
                <a:solidFill>
                  <a:srgbClr val="2A3330"/>
                </a:solidFill>
                <a:latin typeface="Meiryo UI" pitchFamily="34" charset="0"/>
                <a:ea typeface="Meiryo UI" pitchFamily="34" charset="-122"/>
                <a:cs typeface="Meiryo UI" pitchFamily="34" charset="-120"/>
              </a:rPr>
              <a:t>講演会の参加者・無料相談の申込者</a:t>
            </a:r>
            <a:endParaRPr lang="en-US" sz="1100" dirty="0"/>
          </a:p>
        </p:txBody>
      </p:sp>
      <p:sp>
        <p:nvSpPr>
          <p:cNvPr id="15" name="Text 13"/>
          <p:cNvSpPr txBox="1"/>
          <p:nvPr/>
        </p:nvSpPr>
        <p:spPr>
          <a:xfrm>
            <a:off x="777240" y="3895344"/>
            <a:ext cx="1051560" cy="502920"/>
          </a:xfrm>
          <a:prstGeom prst="rect">
            <a:avLst/>
          </a:prstGeom>
          <a:noFill/>
          <a:ln/>
        </p:spPr>
        <p:txBody>
          <a:bodyPr wrap="square" lIns="0" tIns="0" rIns="0" bIns="0" rtlCol="0" anchor="t"/>
          <a:lstStyle/>
          <a:p>
            <a:pPr indent="0" marL="0">
              <a:buNone/>
            </a:pPr>
            <a:r>
              <a:rPr lang="en-US" sz="1050" b="1" dirty="0">
                <a:solidFill>
                  <a:srgbClr val="66786F"/>
                </a:solidFill>
                <a:latin typeface="Meiryo UI" pitchFamily="34" charset="0"/>
                <a:ea typeface="Meiryo UI" pitchFamily="34" charset="-122"/>
                <a:cs typeface="Meiryo UI" pitchFamily="34" charset="-120"/>
              </a:rPr>
              <a:t>テーマ案</a:t>
            </a:r>
            <a:endParaRPr lang="en-US" sz="1050" dirty="0"/>
          </a:p>
        </p:txBody>
      </p:sp>
      <p:sp>
        <p:nvSpPr>
          <p:cNvPr id="16" name="Text 14"/>
          <p:cNvSpPr txBox="1"/>
          <p:nvPr/>
        </p:nvSpPr>
        <p:spPr>
          <a:xfrm>
            <a:off x="1828800" y="3895344"/>
            <a:ext cx="2052218" cy="530352"/>
          </a:xfrm>
          <a:prstGeom prst="rect">
            <a:avLst/>
          </a:prstGeom>
          <a:noFill/>
          <a:ln/>
        </p:spPr>
        <p:txBody>
          <a:bodyPr wrap="square" lIns="0" tIns="0" rIns="0" bIns="0" rtlCol="0" anchor="t"/>
          <a:lstStyle/>
          <a:p>
            <a:pPr indent="0" marL="0">
              <a:buNone/>
            </a:pPr>
            <a:r>
              <a:rPr lang="en-US" sz="1100" dirty="0">
                <a:solidFill>
                  <a:srgbClr val="2A3330"/>
                </a:solidFill>
                <a:latin typeface="Meiryo UI" pitchFamily="34" charset="0"/>
                <a:ea typeface="Meiryo UI" pitchFamily="34" charset="-122"/>
                <a:cs typeface="Meiryo UI" pitchFamily="34" charset="-120"/>
              </a:rPr>
              <a:t>代表が語る「クローバーハウスの考え方」と無料相談のご案内</a:t>
            </a:r>
            <a:endParaRPr lang="en-US" sz="1100" dirty="0"/>
          </a:p>
        </p:txBody>
      </p:sp>
      <p:sp>
        <p:nvSpPr>
          <p:cNvPr id="17" name="Text 15"/>
          <p:cNvSpPr txBox="1"/>
          <p:nvPr/>
        </p:nvSpPr>
        <p:spPr>
          <a:xfrm>
            <a:off x="777240" y="4471416"/>
            <a:ext cx="1051560" cy="502920"/>
          </a:xfrm>
          <a:prstGeom prst="rect">
            <a:avLst/>
          </a:prstGeom>
          <a:noFill/>
          <a:ln/>
        </p:spPr>
        <p:txBody>
          <a:bodyPr wrap="square" lIns="0" tIns="0" rIns="0" bIns="0" rtlCol="0" anchor="t"/>
          <a:lstStyle/>
          <a:p>
            <a:pPr indent="0" marL="0">
              <a:buNone/>
            </a:pPr>
            <a:r>
              <a:rPr lang="en-US" sz="1050" b="1" dirty="0">
                <a:solidFill>
                  <a:srgbClr val="66786F"/>
                </a:solidFill>
                <a:latin typeface="Meiryo UI" pitchFamily="34" charset="0"/>
                <a:ea typeface="Meiryo UI" pitchFamily="34" charset="-122"/>
                <a:cs typeface="Meiryo UI" pitchFamily="34" charset="-120"/>
              </a:rPr>
              <a:t>配信先</a:t>
            </a:r>
            <a:endParaRPr lang="en-US" sz="1050" dirty="0"/>
          </a:p>
        </p:txBody>
      </p:sp>
      <p:sp>
        <p:nvSpPr>
          <p:cNvPr id="18" name="Text 16"/>
          <p:cNvSpPr txBox="1"/>
          <p:nvPr/>
        </p:nvSpPr>
        <p:spPr>
          <a:xfrm>
            <a:off x="1828800" y="4471416"/>
            <a:ext cx="2052218" cy="530352"/>
          </a:xfrm>
          <a:prstGeom prst="rect">
            <a:avLst/>
          </a:prstGeom>
          <a:noFill/>
          <a:ln/>
        </p:spPr>
        <p:txBody>
          <a:bodyPr wrap="square" lIns="0" tIns="0" rIns="0" bIns="0" rtlCol="0" anchor="t"/>
          <a:lstStyle/>
          <a:p>
            <a:pPr indent="0" marL="0">
              <a:buNone/>
            </a:pPr>
            <a:r>
              <a:rPr lang="en-US" sz="1100" dirty="0">
                <a:solidFill>
                  <a:srgbClr val="2A3330"/>
                </a:solidFill>
                <a:latin typeface="Meiryo UI" pitchFamily="34" charset="0"/>
                <a:ea typeface="Meiryo UI" pitchFamily="34" charset="-122"/>
                <a:cs typeface="Meiryo UI" pitchFamily="34" charset="-120"/>
              </a:rPr>
              <a:t>講演後のLINE・メール、相談前の事前送付</a:t>
            </a:r>
            <a:endParaRPr lang="en-US" sz="1100" dirty="0"/>
          </a:p>
        </p:txBody>
      </p:sp>
      <p:sp>
        <p:nvSpPr>
          <p:cNvPr id="19" name="Text 17"/>
          <p:cNvSpPr txBox="1"/>
          <p:nvPr/>
        </p:nvSpPr>
        <p:spPr>
          <a:xfrm>
            <a:off x="777240" y="5047488"/>
            <a:ext cx="1051560" cy="502920"/>
          </a:xfrm>
          <a:prstGeom prst="rect">
            <a:avLst/>
          </a:prstGeom>
          <a:noFill/>
          <a:ln/>
        </p:spPr>
        <p:txBody>
          <a:bodyPr wrap="square" lIns="0" tIns="0" rIns="0" bIns="0" rtlCol="0" anchor="t"/>
          <a:lstStyle/>
          <a:p>
            <a:pPr indent="0" marL="0">
              <a:buNone/>
            </a:pPr>
            <a:r>
              <a:rPr lang="en-US" sz="1050" b="1" dirty="0">
                <a:solidFill>
                  <a:srgbClr val="66786F"/>
                </a:solidFill>
                <a:latin typeface="Meiryo UI" pitchFamily="34" charset="0"/>
                <a:ea typeface="Meiryo UI" pitchFamily="34" charset="-122"/>
                <a:cs typeface="Meiryo UI" pitchFamily="34" charset="-120"/>
              </a:rPr>
              <a:t>検証する仮説</a:t>
            </a:r>
            <a:endParaRPr lang="en-US" sz="1050" dirty="0"/>
          </a:p>
        </p:txBody>
      </p:sp>
      <p:sp>
        <p:nvSpPr>
          <p:cNvPr id="20" name="Text 18"/>
          <p:cNvSpPr txBox="1"/>
          <p:nvPr/>
        </p:nvSpPr>
        <p:spPr>
          <a:xfrm>
            <a:off x="1828800" y="5047488"/>
            <a:ext cx="2052218" cy="530352"/>
          </a:xfrm>
          <a:prstGeom prst="rect">
            <a:avLst/>
          </a:prstGeom>
          <a:noFill/>
          <a:ln/>
        </p:spPr>
        <p:txBody>
          <a:bodyPr wrap="square" lIns="0" tIns="0" rIns="0" bIns="0" rtlCol="0" anchor="t"/>
          <a:lstStyle/>
          <a:p>
            <a:pPr indent="0" marL="0">
              <a:buNone/>
            </a:pPr>
            <a:r>
              <a:rPr lang="en-US" sz="1100" b="1" dirty="0">
                <a:solidFill>
                  <a:srgbClr val="2A3330"/>
                </a:solidFill>
                <a:latin typeface="Meiryo UI" pitchFamily="34" charset="0"/>
                <a:ea typeface="Meiryo UI" pitchFamily="34" charset="-122"/>
                <a:cs typeface="Meiryo UI" pitchFamily="34" charset="-120"/>
              </a:rPr>
              <a:t>講演後・相談前の送付で相談申込率・入会率は上がるか</a:t>
            </a:r>
            <a:endParaRPr lang="en-US" sz="1100" dirty="0"/>
          </a:p>
        </p:txBody>
      </p:sp>
      <p:sp>
        <p:nvSpPr>
          <p:cNvPr id="21" name="Text 19"/>
          <p:cNvSpPr txBox="1"/>
          <p:nvPr/>
        </p:nvSpPr>
        <p:spPr>
          <a:xfrm>
            <a:off x="777240" y="5623560"/>
            <a:ext cx="1051560" cy="502920"/>
          </a:xfrm>
          <a:prstGeom prst="rect">
            <a:avLst/>
          </a:prstGeom>
          <a:noFill/>
          <a:ln/>
        </p:spPr>
        <p:txBody>
          <a:bodyPr wrap="square" lIns="0" tIns="0" rIns="0" bIns="0" rtlCol="0" anchor="t"/>
          <a:lstStyle/>
          <a:p>
            <a:pPr indent="0" marL="0">
              <a:buNone/>
            </a:pPr>
            <a:r>
              <a:rPr lang="en-US" sz="1050" b="1" dirty="0">
                <a:solidFill>
                  <a:srgbClr val="66786F"/>
                </a:solidFill>
                <a:latin typeface="Meiryo UI" pitchFamily="34" charset="0"/>
                <a:ea typeface="Meiryo UI" pitchFamily="34" charset="-122"/>
                <a:cs typeface="Meiryo UI" pitchFamily="34" charset="-120"/>
              </a:rPr>
              <a:t>主なKPI</a:t>
            </a:r>
            <a:endParaRPr lang="en-US" sz="1050" dirty="0"/>
          </a:p>
        </p:txBody>
      </p:sp>
      <p:sp>
        <p:nvSpPr>
          <p:cNvPr id="22" name="Text 20"/>
          <p:cNvSpPr txBox="1"/>
          <p:nvPr/>
        </p:nvSpPr>
        <p:spPr>
          <a:xfrm>
            <a:off x="1828800" y="5623560"/>
            <a:ext cx="2052218" cy="530352"/>
          </a:xfrm>
          <a:prstGeom prst="rect">
            <a:avLst/>
          </a:prstGeom>
          <a:noFill/>
          <a:ln/>
        </p:spPr>
        <p:txBody>
          <a:bodyPr wrap="square" lIns="0" tIns="0" rIns="0" bIns="0" rtlCol="0" anchor="t"/>
          <a:lstStyle/>
          <a:p>
            <a:pPr indent="0" marL="0">
              <a:buNone/>
            </a:pPr>
            <a:r>
              <a:rPr lang="en-US" sz="1100" dirty="0">
                <a:solidFill>
                  <a:srgbClr val="2A3330"/>
                </a:solidFill>
                <a:latin typeface="Meiryo UI" pitchFamily="34" charset="0"/>
                <a:ea typeface="Meiryo UI" pitchFamily="34" charset="-122"/>
                <a:cs typeface="Meiryo UI" pitchFamily="34" charset="-120"/>
              </a:rPr>
              <a:t>視聴率／相談申込率／入会率</a:t>
            </a:r>
            <a:endParaRPr lang="en-US" sz="1100" dirty="0"/>
          </a:p>
        </p:txBody>
      </p:sp>
      <p:sp>
        <p:nvSpPr>
          <p:cNvPr id="23" name="Shape 21"/>
          <p:cNvSpPr/>
          <p:nvPr/>
        </p:nvSpPr>
        <p:spPr>
          <a:xfrm>
            <a:off x="4338218" y="2423160"/>
            <a:ext cx="3515258" cy="3840480"/>
          </a:xfrm>
          <a:prstGeom prst="roundRect">
            <a:avLst>
              <a:gd name="adj" fmla="val 312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4" name="Shape 22"/>
          <p:cNvSpPr/>
          <p:nvPr/>
        </p:nvSpPr>
        <p:spPr>
          <a:xfrm>
            <a:off x="4566818" y="2606040"/>
            <a:ext cx="502920" cy="502920"/>
          </a:xfrm>
          <a:prstGeom prst="ellipse">
            <a:avLst/>
          </a:prstGeom>
          <a:solidFill>
            <a:srgbClr val="D8614F"/>
          </a:solidFill>
          <a:ln w="12700">
            <a:solidFill>
              <a:srgbClr val="D8614F"/>
            </a:solidFill>
            <a:prstDash val="solid"/>
          </a:ln>
        </p:spPr>
      </p:sp>
      <p:sp>
        <p:nvSpPr>
          <p:cNvPr id="25" name="Text 23"/>
          <p:cNvSpPr txBox="1"/>
          <p:nvPr/>
        </p:nvSpPr>
        <p:spPr>
          <a:xfrm>
            <a:off x="4566818" y="26060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UI" pitchFamily="34" charset="0"/>
                <a:ea typeface="Meiryo UI" pitchFamily="34" charset="-122"/>
                <a:cs typeface="Meiryo UI" pitchFamily="34" charset="-120"/>
              </a:rPr>
              <a:t>2</a:t>
            </a:r>
            <a:endParaRPr lang="en-US" sz="1600" dirty="0"/>
          </a:p>
        </p:txBody>
      </p:sp>
      <p:sp>
        <p:nvSpPr>
          <p:cNvPr id="26" name="Text 24"/>
          <p:cNvSpPr txBox="1"/>
          <p:nvPr/>
        </p:nvSpPr>
        <p:spPr>
          <a:xfrm>
            <a:off x="5206898" y="2560320"/>
            <a:ext cx="2509418" cy="347472"/>
          </a:xfrm>
          <a:prstGeom prst="rect">
            <a:avLst/>
          </a:prstGeom>
          <a:noFill/>
          <a:ln/>
        </p:spPr>
        <p:txBody>
          <a:bodyPr wrap="square" lIns="0" tIns="0" rIns="0" bIns="0" rtlCol="0" anchor="t"/>
          <a:lstStyle/>
          <a:p>
            <a:pPr indent="0" marL="0">
              <a:buNone/>
            </a:pPr>
            <a:r>
              <a:rPr lang="en-US" sz="1500" b="1" dirty="0">
                <a:solidFill>
                  <a:srgbClr val="2F7A55"/>
                </a:solidFill>
                <a:latin typeface="Meiryo UI" pitchFamily="34" charset="0"/>
                <a:ea typeface="Meiryo UI" pitchFamily="34" charset="-122"/>
                <a:cs typeface="Meiryo UI" pitchFamily="34" charset="-120"/>
              </a:rPr>
              <a:t>プル検証（信頼形成）</a:t>
            </a:r>
            <a:endParaRPr lang="en-US" sz="1500" dirty="0"/>
          </a:p>
        </p:txBody>
      </p:sp>
      <p:sp>
        <p:nvSpPr>
          <p:cNvPr id="27" name="Text 25"/>
          <p:cNvSpPr txBox="1"/>
          <p:nvPr/>
        </p:nvSpPr>
        <p:spPr>
          <a:xfrm>
            <a:off x="5206898" y="2880360"/>
            <a:ext cx="2509418" cy="274320"/>
          </a:xfrm>
          <a:prstGeom prst="rect">
            <a:avLst/>
          </a:prstGeom>
          <a:noFill/>
          <a:ln/>
        </p:spPr>
        <p:txBody>
          <a:bodyPr wrap="square" lIns="0" tIns="0" rIns="0" bIns="0" rtlCol="0" anchor="t"/>
          <a:lstStyle/>
          <a:p>
            <a:pPr indent="0" marL="0">
              <a:buNone/>
            </a:pPr>
            <a:r>
              <a:rPr lang="en-US" sz="1150" b="1" dirty="0">
                <a:solidFill>
                  <a:srgbClr val="D8614F"/>
                </a:solidFill>
                <a:latin typeface="Meiryo UI" pitchFamily="34" charset="0"/>
                <a:ea typeface="Meiryo UI" pitchFamily="34" charset="-122"/>
                <a:cs typeface="Meiryo UI" pitchFamily="34" charset="-120"/>
              </a:rPr>
              <a:t>デザイン重視型</a:t>
            </a:r>
            <a:endParaRPr lang="en-US" sz="1150" dirty="0"/>
          </a:p>
        </p:txBody>
      </p:sp>
      <p:sp>
        <p:nvSpPr>
          <p:cNvPr id="28" name="Text 26"/>
          <p:cNvSpPr txBox="1"/>
          <p:nvPr/>
        </p:nvSpPr>
        <p:spPr>
          <a:xfrm>
            <a:off x="4566818" y="3319272"/>
            <a:ext cx="1051560" cy="502920"/>
          </a:xfrm>
          <a:prstGeom prst="rect">
            <a:avLst/>
          </a:prstGeom>
          <a:noFill/>
          <a:ln/>
        </p:spPr>
        <p:txBody>
          <a:bodyPr wrap="square" lIns="0" tIns="0" rIns="0" bIns="0" rtlCol="0" anchor="t"/>
          <a:lstStyle/>
          <a:p>
            <a:pPr indent="0" marL="0">
              <a:buNone/>
            </a:pPr>
            <a:r>
              <a:rPr lang="en-US" sz="1050" b="1" dirty="0">
                <a:solidFill>
                  <a:srgbClr val="66786F"/>
                </a:solidFill>
                <a:latin typeface="Meiryo UI" pitchFamily="34" charset="0"/>
                <a:ea typeface="Meiryo UI" pitchFamily="34" charset="-122"/>
                <a:cs typeface="Meiryo UI" pitchFamily="34" charset="-120"/>
              </a:rPr>
              <a:t>ターゲット</a:t>
            </a:r>
            <a:endParaRPr lang="en-US" sz="1050" dirty="0"/>
          </a:p>
        </p:txBody>
      </p:sp>
      <p:sp>
        <p:nvSpPr>
          <p:cNvPr id="29" name="Text 27"/>
          <p:cNvSpPr txBox="1"/>
          <p:nvPr/>
        </p:nvSpPr>
        <p:spPr>
          <a:xfrm>
            <a:off x="5618378" y="3319272"/>
            <a:ext cx="2052218" cy="530352"/>
          </a:xfrm>
          <a:prstGeom prst="rect">
            <a:avLst/>
          </a:prstGeom>
          <a:noFill/>
          <a:ln/>
        </p:spPr>
        <p:txBody>
          <a:bodyPr wrap="square" lIns="0" tIns="0" rIns="0" bIns="0" rtlCol="0" anchor="t"/>
          <a:lstStyle/>
          <a:p>
            <a:pPr indent="0" marL="0">
              <a:buNone/>
            </a:pPr>
            <a:r>
              <a:rPr lang="en-US" sz="1100" dirty="0">
                <a:solidFill>
                  <a:srgbClr val="2A3330"/>
                </a:solidFill>
                <a:latin typeface="Meiryo UI" pitchFamily="34" charset="0"/>
                <a:ea typeface="Meiryo UI" pitchFamily="34" charset="-122"/>
                <a:cs typeface="Meiryo UI" pitchFamily="34" charset="-120"/>
              </a:rPr>
              <a:t>小中高生のお母さん</a:t>
            </a:r>
            <a:endParaRPr lang="en-US" sz="1100" dirty="0"/>
          </a:p>
        </p:txBody>
      </p:sp>
      <p:sp>
        <p:nvSpPr>
          <p:cNvPr id="30" name="Text 28"/>
          <p:cNvSpPr txBox="1"/>
          <p:nvPr/>
        </p:nvSpPr>
        <p:spPr>
          <a:xfrm>
            <a:off x="4566818" y="3895344"/>
            <a:ext cx="1051560" cy="502920"/>
          </a:xfrm>
          <a:prstGeom prst="rect">
            <a:avLst/>
          </a:prstGeom>
          <a:noFill/>
          <a:ln/>
        </p:spPr>
        <p:txBody>
          <a:bodyPr wrap="square" lIns="0" tIns="0" rIns="0" bIns="0" rtlCol="0" anchor="t"/>
          <a:lstStyle/>
          <a:p>
            <a:pPr indent="0" marL="0">
              <a:buNone/>
            </a:pPr>
            <a:r>
              <a:rPr lang="en-US" sz="1050" b="1" dirty="0">
                <a:solidFill>
                  <a:srgbClr val="66786F"/>
                </a:solidFill>
                <a:latin typeface="Meiryo UI" pitchFamily="34" charset="0"/>
                <a:ea typeface="Meiryo UI" pitchFamily="34" charset="-122"/>
                <a:cs typeface="Meiryo UI" pitchFamily="34" charset="-120"/>
              </a:rPr>
              <a:t>テーマ案</a:t>
            </a:r>
            <a:endParaRPr lang="en-US" sz="1050" dirty="0"/>
          </a:p>
        </p:txBody>
      </p:sp>
      <p:sp>
        <p:nvSpPr>
          <p:cNvPr id="31" name="Text 29"/>
          <p:cNvSpPr txBox="1"/>
          <p:nvPr/>
        </p:nvSpPr>
        <p:spPr>
          <a:xfrm>
            <a:off x="5618378" y="3895344"/>
            <a:ext cx="2052218" cy="530352"/>
          </a:xfrm>
          <a:prstGeom prst="rect">
            <a:avLst/>
          </a:prstGeom>
          <a:noFill/>
          <a:ln/>
        </p:spPr>
        <p:txBody>
          <a:bodyPr wrap="square" lIns="0" tIns="0" rIns="0" bIns="0" rtlCol="0" anchor="t"/>
          <a:lstStyle/>
          <a:p>
            <a:pPr indent="0" marL="0">
              <a:buNone/>
            </a:pPr>
            <a:r>
              <a:rPr lang="en-US" sz="1100" dirty="0">
                <a:solidFill>
                  <a:srgbClr val="2A3330"/>
                </a:solidFill>
                <a:latin typeface="Meiryo UI" pitchFamily="34" charset="0"/>
                <a:ea typeface="Meiryo UI" pitchFamily="34" charset="-122"/>
                <a:cs typeface="Meiryo UI" pitchFamily="34" charset="-120"/>
              </a:rPr>
              <a:t>がんばるお母さんの心にも寄り添う塾</a:t>
            </a:r>
            <a:endParaRPr lang="en-US" sz="1100" dirty="0"/>
          </a:p>
        </p:txBody>
      </p:sp>
      <p:sp>
        <p:nvSpPr>
          <p:cNvPr id="32" name="Text 30"/>
          <p:cNvSpPr txBox="1"/>
          <p:nvPr/>
        </p:nvSpPr>
        <p:spPr>
          <a:xfrm>
            <a:off x="4566818" y="4471416"/>
            <a:ext cx="1051560" cy="502920"/>
          </a:xfrm>
          <a:prstGeom prst="rect">
            <a:avLst/>
          </a:prstGeom>
          <a:noFill/>
          <a:ln/>
        </p:spPr>
        <p:txBody>
          <a:bodyPr wrap="square" lIns="0" tIns="0" rIns="0" bIns="0" rtlCol="0" anchor="t"/>
          <a:lstStyle/>
          <a:p>
            <a:pPr indent="0" marL="0">
              <a:buNone/>
            </a:pPr>
            <a:r>
              <a:rPr lang="en-US" sz="1050" b="1" dirty="0">
                <a:solidFill>
                  <a:srgbClr val="66786F"/>
                </a:solidFill>
                <a:latin typeface="Meiryo UI" pitchFamily="34" charset="0"/>
                <a:ea typeface="Meiryo UI" pitchFamily="34" charset="-122"/>
                <a:cs typeface="Meiryo UI" pitchFamily="34" charset="-120"/>
              </a:rPr>
              <a:t>配信先</a:t>
            </a:r>
            <a:endParaRPr lang="en-US" sz="1050" dirty="0"/>
          </a:p>
        </p:txBody>
      </p:sp>
      <p:sp>
        <p:nvSpPr>
          <p:cNvPr id="33" name="Text 31"/>
          <p:cNvSpPr txBox="1"/>
          <p:nvPr/>
        </p:nvSpPr>
        <p:spPr>
          <a:xfrm>
            <a:off x="5618378" y="4471416"/>
            <a:ext cx="2052218" cy="530352"/>
          </a:xfrm>
          <a:prstGeom prst="rect">
            <a:avLst/>
          </a:prstGeom>
          <a:noFill/>
          <a:ln/>
        </p:spPr>
        <p:txBody>
          <a:bodyPr wrap="square" lIns="0" tIns="0" rIns="0" bIns="0" rtlCol="0" anchor="t"/>
          <a:lstStyle/>
          <a:p>
            <a:pPr indent="0" marL="0">
              <a:buNone/>
            </a:pPr>
            <a:r>
              <a:rPr lang="en-US" sz="1100" dirty="0">
                <a:solidFill>
                  <a:srgbClr val="2A3330"/>
                </a:solidFill>
                <a:latin typeface="Meiryo UI" pitchFamily="34" charset="0"/>
                <a:ea typeface="Meiryo UI" pitchFamily="34" charset="-122"/>
                <a:cs typeface="Meiryo UI" pitchFamily="34" charset="-120"/>
              </a:rPr>
              <a:t>Instagram、HP、オンラインサロン</a:t>
            </a:r>
            <a:endParaRPr lang="en-US" sz="1100" dirty="0"/>
          </a:p>
        </p:txBody>
      </p:sp>
      <p:sp>
        <p:nvSpPr>
          <p:cNvPr id="34" name="Text 32"/>
          <p:cNvSpPr txBox="1"/>
          <p:nvPr/>
        </p:nvSpPr>
        <p:spPr>
          <a:xfrm>
            <a:off x="4566818" y="5047488"/>
            <a:ext cx="1051560" cy="502920"/>
          </a:xfrm>
          <a:prstGeom prst="rect">
            <a:avLst/>
          </a:prstGeom>
          <a:noFill/>
          <a:ln/>
        </p:spPr>
        <p:txBody>
          <a:bodyPr wrap="square" lIns="0" tIns="0" rIns="0" bIns="0" rtlCol="0" anchor="t"/>
          <a:lstStyle/>
          <a:p>
            <a:pPr indent="0" marL="0">
              <a:buNone/>
            </a:pPr>
            <a:r>
              <a:rPr lang="en-US" sz="1050" b="1" dirty="0">
                <a:solidFill>
                  <a:srgbClr val="66786F"/>
                </a:solidFill>
                <a:latin typeface="Meiryo UI" pitchFamily="34" charset="0"/>
                <a:ea typeface="Meiryo UI" pitchFamily="34" charset="-122"/>
                <a:cs typeface="Meiryo UI" pitchFamily="34" charset="-120"/>
              </a:rPr>
              <a:t>検証する仮説</a:t>
            </a:r>
            <a:endParaRPr lang="en-US" sz="1050" dirty="0"/>
          </a:p>
        </p:txBody>
      </p:sp>
      <p:sp>
        <p:nvSpPr>
          <p:cNvPr id="35" name="Text 33"/>
          <p:cNvSpPr txBox="1"/>
          <p:nvPr/>
        </p:nvSpPr>
        <p:spPr>
          <a:xfrm>
            <a:off x="5618378" y="5047488"/>
            <a:ext cx="2052218" cy="530352"/>
          </a:xfrm>
          <a:prstGeom prst="rect">
            <a:avLst/>
          </a:prstGeom>
          <a:noFill/>
          <a:ln/>
        </p:spPr>
        <p:txBody>
          <a:bodyPr wrap="square" lIns="0" tIns="0" rIns="0" bIns="0" rtlCol="0" anchor="t"/>
          <a:lstStyle/>
          <a:p>
            <a:pPr indent="0" marL="0">
              <a:buNone/>
            </a:pPr>
            <a:r>
              <a:rPr lang="en-US" sz="1100" b="1" dirty="0">
                <a:solidFill>
                  <a:srgbClr val="2A3330"/>
                </a:solidFill>
                <a:latin typeface="Meiryo UI" pitchFamily="34" charset="0"/>
                <a:ea typeface="Meiryo UI" pitchFamily="34" charset="-122"/>
                <a:cs typeface="Meiryo UI" pitchFamily="34" charset="-120"/>
              </a:rPr>
              <a:t>共感型の動画でLINE登録・相談は発生するか</a:t>
            </a:r>
            <a:endParaRPr lang="en-US" sz="1100" dirty="0"/>
          </a:p>
        </p:txBody>
      </p:sp>
      <p:sp>
        <p:nvSpPr>
          <p:cNvPr id="36" name="Text 34"/>
          <p:cNvSpPr txBox="1"/>
          <p:nvPr/>
        </p:nvSpPr>
        <p:spPr>
          <a:xfrm>
            <a:off x="4566818" y="5623560"/>
            <a:ext cx="1051560" cy="502920"/>
          </a:xfrm>
          <a:prstGeom prst="rect">
            <a:avLst/>
          </a:prstGeom>
          <a:noFill/>
          <a:ln/>
        </p:spPr>
        <p:txBody>
          <a:bodyPr wrap="square" lIns="0" tIns="0" rIns="0" bIns="0" rtlCol="0" anchor="t"/>
          <a:lstStyle/>
          <a:p>
            <a:pPr indent="0" marL="0">
              <a:buNone/>
            </a:pPr>
            <a:r>
              <a:rPr lang="en-US" sz="1050" b="1" dirty="0">
                <a:solidFill>
                  <a:srgbClr val="66786F"/>
                </a:solidFill>
                <a:latin typeface="Meiryo UI" pitchFamily="34" charset="0"/>
                <a:ea typeface="Meiryo UI" pitchFamily="34" charset="-122"/>
                <a:cs typeface="Meiryo UI" pitchFamily="34" charset="-120"/>
              </a:rPr>
              <a:t>主なKPI</a:t>
            </a:r>
            <a:endParaRPr lang="en-US" sz="1050" dirty="0"/>
          </a:p>
        </p:txBody>
      </p:sp>
      <p:sp>
        <p:nvSpPr>
          <p:cNvPr id="37" name="Text 35"/>
          <p:cNvSpPr txBox="1"/>
          <p:nvPr/>
        </p:nvSpPr>
        <p:spPr>
          <a:xfrm>
            <a:off x="5618378" y="5623560"/>
            <a:ext cx="2052218" cy="530352"/>
          </a:xfrm>
          <a:prstGeom prst="rect">
            <a:avLst/>
          </a:prstGeom>
          <a:noFill/>
          <a:ln/>
        </p:spPr>
        <p:txBody>
          <a:bodyPr wrap="square" lIns="0" tIns="0" rIns="0" bIns="0" rtlCol="0" anchor="t"/>
          <a:lstStyle/>
          <a:p>
            <a:pPr indent="0" marL="0">
              <a:buNone/>
            </a:pPr>
            <a:r>
              <a:rPr lang="en-US" sz="1100" dirty="0">
                <a:solidFill>
                  <a:srgbClr val="2A3330"/>
                </a:solidFill>
                <a:latin typeface="Meiryo UI" pitchFamily="34" charset="0"/>
                <a:ea typeface="Meiryo UI" pitchFamily="34" charset="-122"/>
                <a:cs typeface="Meiryo UI" pitchFamily="34" charset="-120"/>
              </a:rPr>
              <a:t>保存数／LINE登録数／相談数</a:t>
            </a:r>
            <a:endParaRPr lang="en-US" sz="1100" dirty="0"/>
          </a:p>
        </p:txBody>
      </p:sp>
      <p:sp>
        <p:nvSpPr>
          <p:cNvPr id="38" name="Shape 36"/>
          <p:cNvSpPr/>
          <p:nvPr/>
        </p:nvSpPr>
        <p:spPr>
          <a:xfrm>
            <a:off x="8127797" y="2423160"/>
            <a:ext cx="3515258" cy="3840480"/>
          </a:xfrm>
          <a:prstGeom prst="roundRect">
            <a:avLst>
              <a:gd name="adj" fmla="val 312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9" name="Shape 37"/>
          <p:cNvSpPr/>
          <p:nvPr/>
        </p:nvSpPr>
        <p:spPr>
          <a:xfrm>
            <a:off x="8356397" y="2606040"/>
            <a:ext cx="502920" cy="502920"/>
          </a:xfrm>
          <a:prstGeom prst="ellipse">
            <a:avLst/>
          </a:prstGeom>
          <a:solidFill>
            <a:srgbClr val="D8614F"/>
          </a:solidFill>
          <a:ln w="12700">
            <a:solidFill>
              <a:srgbClr val="D8614F"/>
            </a:solidFill>
            <a:prstDash val="solid"/>
          </a:ln>
        </p:spPr>
      </p:sp>
      <p:sp>
        <p:nvSpPr>
          <p:cNvPr id="40" name="Text 38"/>
          <p:cNvSpPr txBox="1"/>
          <p:nvPr/>
        </p:nvSpPr>
        <p:spPr>
          <a:xfrm>
            <a:off x="8356397" y="26060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UI" pitchFamily="34" charset="0"/>
                <a:ea typeface="Meiryo UI" pitchFamily="34" charset="-122"/>
                <a:cs typeface="Meiryo UI" pitchFamily="34" charset="-120"/>
              </a:rPr>
              <a:t>3</a:t>
            </a:r>
            <a:endParaRPr lang="en-US" sz="1600" dirty="0"/>
          </a:p>
        </p:txBody>
      </p:sp>
      <p:sp>
        <p:nvSpPr>
          <p:cNvPr id="41" name="Text 39"/>
          <p:cNvSpPr txBox="1"/>
          <p:nvPr/>
        </p:nvSpPr>
        <p:spPr>
          <a:xfrm>
            <a:off x="8996477" y="2560320"/>
            <a:ext cx="2509418" cy="347472"/>
          </a:xfrm>
          <a:prstGeom prst="rect">
            <a:avLst/>
          </a:prstGeom>
          <a:noFill/>
          <a:ln/>
        </p:spPr>
        <p:txBody>
          <a:bodyPr wrap="square" lIns="0" tIns="0" rIns="0" bIns="0" rtlCol="0" anchor="t"/>
          <a:lstStyle/>
          <a:p>
            <a:pPr indent="0" marL="0">
              <a:buNone/>
            </a:pPr>
            <a:r>
              <a:rPr lang="en-US" sz="1500" b="1" dirty="0">
                <a:solidFill>
                  <a:srgbClr val="2F7A55"/>
                </a:solidFill>
                <a:latin typeface="Meiryo UI" pitchFamily="34" charset="0"/>
                <a:ea typeface="Meiryo UI" pitchFamily="34" charset="-122"/>
                <a:cs typeface="Meiryo UI" pitchFamily="34" charset="-120"/>
              </a:rPr>
              <a:t>プル検証（認知拡大）</a:t>
            </a:r>
            <a:endParaRPr lang="en-US" sz="1500" dirty="0"/>
          </a:p>
        </p:txBody>
      </p:sp>
      <p:sp>
        <p:nvSpPr>
          <p:cNvPr id="42" name="Text 40"/>
          <p:cNvSpPr txBox="1"/>
          <p:nvPr/>
        </p:nvSpPr>
        <p:spPr>
          <a:xfrm>
            <a:off x="8996477" y="2880360"/>
            <a:ext cx="2509418" cy="274320"/>
          </a:xfrm>
          <a:prstGeom prst="rect">
            <a:avLst/>
          </a:prstGeom>
          <a:noFill/>
          <a:ln/>
        </p:spPr>
        <p:txBody>
          <a:bodyPr wrap="square" lIns="0" tIns="0" rIns="0" bIns="0" rtlCol="0" anchor="t"/>
          <a:lstStyle/>
          <a:p>
            <a:pPr indent="0" marL="0">
              <a:buNone/>
            </a:pPr>
            <a:r>
              <a:rPr lang="en-US" sz="1150" b="1" dirty="0">
                <a:solidFill>
                  <a:srgbClr val="D8614F"/>
                </a:solidFill>
                <a:latin typeface="Meiryo UI" pitchFamily="34" charset="0"/>
                <a:ea typeface="Meiryo UI" pitchFamily="34" charset="-122"/>
                <a:cs typeface="Meiryo UI" pitchFamily="34" charset="-120"/>
              </a:rPr>
              <a:t>縦型ショート型</a:t>
            </a:r>
            <a:endParaRPr lang="en-US" sz="1150" dirty="0"/>
          </a:p>
        </p:txBody>
      </p:sp>
      <p:sp>
        <p:nvSpPr>
          <p:cNvPr id="43" name="Text 41"/>
          <p:cNvSpPr txBox="1"/>
          <p:nvPr/>
        </p:nvSpPr>
        <p:spPr>
          <a:xfrm>
            <a:off x="8356397" y="3319272"/>
            <a:ext cx="1051560" cy="502920"/>
          </a:xfrm>
          <a:prstGeom prst="rect">
            <a:avLst/>
          </a:prstGeom>
          <a:noFill/>
          <a:ln/>
        </p:spPr>
        <p:txBody>
          <a:bodyPr wrap="square" lIns="0" tIns="0" rIns="0" bIns="0" rtlCol="0" anchor="t"/>
          <a:lstStyle/>
          <a:p>
            <a:pPr indent="0" marL="0">
              <a:buNone/>
            </a:pPr>
            <a:r>
              <a:rPr lang="en-US" sz="1050" b="1" dirty="0">
                <a:solidFill>
                  <a:srgbClr val="66786F"/>
                </a:solidFill>
                <a:latin typeface="Meiryo UI" pitchFamily="34" charset="0"/>
                <a:ea typeface="Meiryo UI" pitchFamily="34" charset="-122"/>
                <a:cs typeface="Meiryo UI" pitchFamily="34" charset="-120"/>
              </a:rPr>
              <a:t>ターゲット</a:t>
            </a:r>
            <a:endParaRPr lang="en-US" sz="1050" dirty="0"/>
          </a:p>
        </p:txBody>
      </p:sp>
      <p:sp>
        <p:nvSpPr>
          <p:cNvPr id="44" name="Text 42"/>
          <p:cNvSpPr txBox="1"/>
          <p:nvPr/>
        </p:nvSpPr>
        <p:spPr>
          <a:xfrm>
            <a:off x="9407957" y="3319272"/>
            <a:ext cx="2052218" cy="530352"/>
          </a:xfrm>
          <a:prstGeom prst="rect">
            <a:avLst/>
          </a:prstGeom>
          <a:noFill/>
          <a:ln/>
        </p:spPr>
        <p:txBody>
          <a:bodyPr wrap="square" lIns="0" tIns="0" rIns="0" bIns="0" rtlCol="0" anchor="t"/>
          <a:lstStyle/>
          <a:p>
            <a:pPr indent="0" marL="0">
              <a:buNone/>
            </a:pPr>
            <a:r>
              <a:rPr lang="en-US" sz="1100" dirty="0">
                <a:solidFill>
                  <a:srgbClr val="2A3330"/>
                </a:solidFill>
                <a:latin typeface="Meiryo UI" pitchFamily="34" charset="0"/>
                <a:ea typeface="Meiryo UI" pitchFamily="34" charset="-122"/>
                <a:cs typeface="Meiryo UI" pitchFamily="34" charset="-120"/>
              </a:rPr>
              <a:t>まだ貴社を知らない全国の保護者</a:t>
            </a:r>
            <a:endParaRPr lang="en-US" sz="1100" dirty="0"/>
          </a:p>
        </p:txBody>
      </p:sp>
      <p:sp>
        <p:nvSpPr>
          <p:cNvPr id="45" name="Text 43"/>
          <p:cNvSpPr txBox="1"/>
          <p:nvPr/>
        </p:nvSpPr>
        <p:spPr>
          <a:xfrm>
            <a:off x="8356397" y="3895344"/>
            <a:ext cx="1051560" cy="502920"/>
          </a:xfrm>
          <a:prstGeom prst="rect">
            <a:avLst/>
          </a:prstGeom>
          <a:noFill/>
          <a:ln/>
        </p:spPr>
        <p:txBody>
          <a:bodyPr wrap="square" lIns="0" tIns="0" rIns="0" bIns="0" rtlCol="0" anchor="t"/>
          <a:lstStyle/>
          <a:p>
            <a:pPr indent="0" marL="0">
              <a:buNone/>
            </a:pPr>
            <a:r>
              <a:rPr lang="en-US" sz="1050" b="1" dirty="0">
                <a:solidFill>
                  <a:srgbClr val="66786F"/>
                </a:solidFill>
                <a:latin typeface="Meiryo UI" pitchFamily="34" charset="0"/>
                <a:ea typeface="Meiryo UI" pitchFamily="34" charset="-122"/>
                <a:cs typeface="Meiryo UI" pitchFamily="34" charset="-120"/>
              </a:rPr>
              <a:t>テーマ案</a:t>
            </a:r>
            <a:endParaRPr lang="en-US" sz="1050" dirty="0"/>
          </a:p>
        </p:txBody>
      </p:sp>
      <p:sp>
        <p:nvSpPr>
          <p:cNvPr id="46" name="Text 44"/>
          <p:cNvSpPr txBox="1"/>
          <p:nvPr/>
        </p:nvSpPr>
        <p:spPr>
          <a:xfrm>
            <a:off x="9407957" y="3895344"/>
            <a:ext cx="2052218" cy="530352"/>
          </a:xfrm>
          <a:prstGeom prst="rect">
            <a:avLst/>
          </a:prstGeom>
          <a:noFill/>
          <a:ln/>
        </p:spPr>
        <p:txBody>
          <a:bodyPr wrap="square" lIns="0" tIns="0" rIns="0" bIns="0" rtlCol="0" anchor="t"/>
          <a:lstStyle/>
          <a:p>
            <a:pPr indent="0" marL="0">
              <a:buNone/>
            </a:pPr>
            <a:r>
              <a:rPr lang="en-US" sz="1100" dirty="0">
                <a:solidFill>
                  <a:srgbClr val="2A3330"/>
                </a:solidFill>
                <a:latin typeface="Meiryo UI" pitchFamily="34" charset="0"/>
                <a:ea typeface="Meiryo UI" pitchFamily="34" charset="-122"/>
                <a:cs typeface="Meiryo UI" pitchFamily="34" charset="-120"/>
              </a:rPr>
              <a:t>子どもが勉強しないのはお母さんのせいじゃない</a:t>
            </a:r>
            <a:endParaRPr lang="en-US" sz="1100" dirty="0"/>
          </a:p>
        </p:txBody>
      </p:sp>
      <p:sp>
        <p:nvSpPr>
          <p:cNvPr id="47" name="Text 45"/>
          <p:cNvSpPr txBox="1"/>
          <p:nvPr/>
        </p:nvSpPr>
        <p:spPr>
          <a:xfrm>
            <a:off x="8356397" y="4471416"/>
            <a:ext cx="1051560" cy="502920"/>
          </a:xfrm>
          <a:prstGeom prst="rect">
            <a:avLst/>
          </a:prstGeom>
          <a:noFill/>
          <a:ln/>
        </p:spPr>
        <p:txBody>
          <a:bodyPr wrap="square" lIns="0" tIns="0" rIns="0" bIns="0" rtlCol="0" anchor="t"/>
          <a:lstStyle/>
          <a:p>
            <a:pPr indent="0" marL="0">
              <a:buNone/>
            </a:pPr>
            <a:r>
              <a:rPr lang="en-US" sz="1050" b="1" dirty="0">
                <a:solidFill>
                  <a:srgbClr val="66786F"/>
                </a:solidFill>
                <a:latin typeface="Meiryo UI" pitchFamily="34" charset="0"/>
                <a:ea typeface="Meiryo UI" pitchFamily="34" charset="-122"/>
                <a:cs typeface="Meiryo UI" pitchFamily="34" charset="-120"/>
              </a:rPr>
              <a:t>配信先</a:t>
            </a:r>
            <a:endParaRPr lang="en-US" sz="1050" dirty="0"/>
          </a:p>
        </p:txBody>
      </p:sp>
      <p:sp>
        <p:nvSpPr>
          <p:cNvPr id="48" name="Text 46"/>
          <p:cNvSpPr txBox="1"/>
          <p:nvPr/>
        </p:nvSpPr>
        <p:spPr>
          <a:xfrm>
            <a:off x="9407957" y="4471416"/>
            <a:ext cx="2052218" cy="530352"/>
          </a:xfrm>
          <a:prstGeom prst="rect">
            <a:avLst/>
          </a:prstGeom>
          <a:noFill/>
          <a:ln/>
        </p:spPr>
        <p:txBody>
          <a:bodyPr wrap="square" lIns="0" tIns="0" rIns="0" bIns="0" rtlCol="0" anchor="t"/>
          <a:lstStyle/>
          <a:p>
            <a:pPr indent="0" marL="0">
              <a:buNone/>
            </a:pPr>
            <a:r>
              <a:rPr lang="en-US" sz="1100" dirty="0">
                <a:solidFill>
                  <a:srgbClr val="2A3330"/>
                </a:solidFill>
                <a:latin typeface="Meiryo UI" pitchFamily="34" charset="0"/>
                <a:ea typeface="Meiryo UI" pitchFamily="34" charset="-122"/>
                <a:cs typeface="Meiryo UI" pitchFamily="34" charset="-120"/>
              </a:rPr>
              <a:t>TikTok、YouTubeショート、リール</a:t>
            </a:r>
            <a:endParaRPr lang="en-US" sz="1100" dirty="0"/>
          </a:p>
        </p:txBody>
      </p:sp>
      <p:sp>
        <p:nvSpPr>
          <p:cNvPr id="49" name="Text 47"/>
          <p:cNvSpPr txBox="1"/>
          <p:nvPr/>
        </p:nvSpPr>
        <p:spPr>
          <a:xfrm>
            <a:off x="8356397" y="5047488"/>
            <a:ext cx="1051560" cy="502920"/>
          </a:xfrm>
          <a:prstGeom prst="rect">
            <a:avLst/>
          </a:prstGeom>
          <a:noFill/>
          <a:ln/>
        </p:spPr>
        <p:txBody>
          <a:bodyPr wrap="square" lIns="0" tIns="0" rIns="0" bIns="0" rtlCol="0" anchor="t"/>
          <a:lstStyle/>
          <a:p>
            <a:pPr indent="0" marL="0">
              <a:buNone/>
            </a:pPr>
            <a:r>
              <a:rPr lang="en-US" sz="1050" b="1" dirty="0">
                <a:solidFill>
                  <a:srgbClr val="66786F"/>
                </a:solidFill>
                <a:latin typeface="Meiryo UI" pitchFamily="34" charset="0"/>
                <a:ea typeface="Meiryo UI" pitchFamily="34" charset="-122"/>
                <a:cs typeface="Meiryo UI" pitchFamily="34" charset="-120"/>
              </a:rPr>
              <a:t>検証する仮説</a:t>
            </a:r>
            <a:endParaRPr lang="en-US" sz="1050" dirty="0"/>
          </a:p>
        </p:txBody>
      </p:sp>
      <p:sp>
        <p:nvSpPr>
          <p:cNvPr id="50" name="Text 48"/>
          <p:cNvSpPr txBox="1"/>
          <p:nvPr/>
        </p:nvSpPr>
        <p:spPr>
          <a:xfrm>
            <a:off x="9407957" y="5047488"/>
            <a:ext cx="2052218" cy="530352"/>
          </a:xfrm>
          <a:prstGeom prst="rect">
            <a:avLst/>
          </a:prstGeom>
          <a:noFill/>
          <a:ln/>
        </p:spPr>
        <p:txBody>
          <a:bodyPr wrap="square" lIns="0" tIns="0" rIns="0" bIns="0" rtlCol="0" anchor="t"/>
          <a:lstStyle/>
          <a:p>
            <a:pPr indent="0" marL="0">
              <a:buNone/>
            </a:pPr>
            <a:r>
              <a:rPr lang="en-US" sz="1100" b="1" dirty="0">
                <a:solidFill>
                  <a:srgbClr val="2A3330"/>
                </a:solidFill>
                <a:latin typeface="Meiryo UI" pitchFamily="34" charset="0"/>
                <a:ea typeface="Meiryo UI" pitchFamily="34" charset="-122"/>
                <a:cs typeface="Meiryo UI" pitchFamily="34" charset="-120"/>
              </a:rPr>
              <a:t>全国でどの程度の認知が取れ、どの悩みテーマが響くか</a:t>
            </a:r>
            <a:endParaRPr lang="en-US" sz="1100" dirty="0"/>
          </a:p>
        </p:txBody>
      </p:sp>
      <p:sp>
        <p:nvSpPr>
          <p:cNvPr id="51" name="Text 49"/>
          <p:cNvSpPr txBox="1"/>
          <p:nvPr/>
        </p:nvSpPr>
        <p:spPr>
          <a:xfrm>
            <a:off x="8356397" y="5623560"/>
            <a:ext cx="1051560" cy="502920"/>
          </a:xfrm>
          <a:prstGeom prst="rect">
            <a:avLst/>
          </a:prstGeom>
          <a:noFill/>
          <a:ln/>
        </p:spPr>
        <p:txBody>
          <a:bodyPr wrap="square" lIns="0" tIns="0" rIns="0" bIns="0" rtlCol="0" anchor="t"/>
          <a:lstStyle/>
          <a:p>
            <a:pPr indent="0" marL="0">
              <a:buNone/>
            </a:pPr>
            <a:r>
              <a:rPr lang="en-US" sz="1050" b="1" dirty="0">
                <a:solidFill>
                  <a:srgbClr val="66786F"/>
                </a:solidFill>
                <a:latin typeface="Meiryo UI" pitchFamily="34" charset="0"/>
                <a:ea typeface="Meiryo UI" pitchFamily="34" charset="-122"/>
                <a:cs typeface="Meiryo UI" pitchFamily="34" charset="-120"/>
              </a:rPr>
              <a:t>主なKPI</a:t>
            </a:r>
            <a:endParaRPr lang="en-US" sz="1050" dirty="0"/>
          </a:p>
        </p:txBody>
      </p:sp>
      <p:sp>
        <p:nvSpPr>
          <p:cNvPr id="52" name="Text 50"/>
          <p:cNvSpPr txBox="1"/>
          <p:nvPr/>
        </p:nvSpPr>
        <p:spPr>
          <a:xfrm>
            <a:off x="9407957" y="5623560"/>
            <a:ext cx="2052218" cy="530352"/>
          </a:xfrm>
          <a:prstGeom prst="rect">
            <a:avLst/>
          </a:prstGeom>
          <a:noFill/>
          <a:ln/>
        </p:spPr>
        <p:txBody>
          <a:bodyPr wrap="square" lIns="0" tIns="0" rIns="0" bIns="0" rtlCol="0" anchor="t"/>
          <a:lstStyle/>
          <a:p>
            <a:pPr indent="0" marL="0">
              <a:buNone/>
            </a:pPr>
            <a:r>
              <a:rPr lang="en-US" sz="1100" dirty="0">
                <a:solidFill>
                  <a:srgbClr val="2A3330"/>
                </a:solidFill>
                <a:latin typeface="Meiryo UI" pitchFamily="34" charset="0"/>
                <a:ea typeface="Meiryo UI" pitchFamily="34" charset="-122"/>
                <a:cs typeface="Meiryo UI" pitchFamily="34" charset="-120"/>
              </a:rPr>
              <a:t>再生数／視聴維持率／プロフィール遷移数</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8614F"/>
                </a:solidFill>
                <a:latin typeface="Meiryo UI" pitchFamily="34" charset="0"/>
                <a:ea typeface="Meiryo UI" pitchFamily="34" charset="-122"/>
                <a:cs typeface="Meiryo UI" pitchFamily="34" charset="-120"/>
              </a:rPr>
              <a:t>05｜PHASE 1</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2F7A55"/>
                </a:solidFill>
                <a:latin typeface="Meiryo UI" pitchFamily="34" charset="0"/>
                <a:ea typeface="Meiryo UI" pitchFamily="34" charset="-122"/>
                <a:cs typeface="Meiryo UI" pitchFamily="34" charset="-120"/>
              </a:rPr>
              <a:t>フェーズ1の進め方（約6週間）と、3本だけで終える限界</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0"/>
                </a:solidFill>
                <a:latin typeface="Meiryo UI" pitchFamily="34" charset="0"/>
                <a:ea typeface="Meiryo UI" pitchFamily="34" charset="-122"/>
                <a:cs typeface="Meiryo UI" pitchFamily="34" charset="-120"/>
              </a:rPr>
              <a:t>18</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0"/>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Text 4"/>
          <p:cNvSpPr txBox="1"/>
          <p:nvPr/>
        </p:nvSpPr>
        <p:spPr>
          <a:xfrm>
            <a:off x="548640" y="1371600"/>
            <a:ext cx="2743200" cy="320040"/>
          </a:xfrm>
          <a:prstGeom prst="rect">
            <a:avLst/>
          </a:prstGeom>
          <a:noFill/>
          <a:ln/>
        </p:spPr>
        <p:txBody>
          <a:bodyPr wrap="square" lIns="0" tIns="0" rIns="0" bIns="0" rtlCol="0" anchor="t"/>
          <a:lstStyle/>
          <a:p>
            <a:pPr indent="0" marL="0">
              <a:buNone/>
            </a:pPr>
            <a:r>
              <a:rPr lang="en-US" sz="1400" b="1" dirty="0">
                <a:solidFill>
                  <a:srgbClr val="D8614F"/>
                </a:solidFill>
                <a:latin typeface="Meiryo UI" pitchFamily="34" charset="0"/>
                <a:ea typeface="Meiryo UI" pitchFamily="34" charset="-122"/>
                <a:cs typeface="Meiryo UI" pitchFamily="34" charset="-120"/>
              </a:rPr>
              <a:t>スケジュール</a:t>
            </a:r>
            <a:endParaRPr lang="en-US" sz="1400" dirty="0"/>
          </a:p>
        </p:txBody>
      </p:sp>
      <p:sp>
        <p:nvSpPr>
          <p:cNvPr id="7" name="Shape 5"/>
          <p:cNvSpPr/>
          <p:nvPr/>
        </p:nvSpPr>
        <p:spPr>
          <a:xfrm>
            <a:off x="548640" y="1783080"/>
            <a:ext cx="1280160" cy="932688"/>
          </a:xfrm>
          <a:prstGeom prst="roundRect">
            <a:avLst>
              <a:gd name="adj" fmla="val 11765"/>
            </a:avLst>
          </a:prstGeom>
          <a:solidFill>
            <a:srgbClr val="2F7A55"/>
          </a:solidFill>
          <a:ln w="12700">
            <a:solidFill>
              <a:srgbClr val="2F7A55"/>
            </a:solidFill>
            <a:prstDash val="solid"/>
          </a:ln>
        </p:spPr>
      </p:sp>
      <p:sp>
        <p:nvSpPr>
          <p:cNvPr id="8" name="Text 6"/>
          <p:cNvSpPr txBox="1"/>
          <p:nvPr/>
        </p:nvSpPr>
        <p:spPr>
          <a:xfrm>
            <a:off x="548640" y="1874520"/>
            <a:ext cx="12801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1週目</a:t>
            </a:r>
            <a:endParaRPr lang="en-US" sz="1400" dirty="0"/>
          </a:p>
        </p:txBody>
      </p:sp>
      <p:sp>
        <p:nvSpPr>
          <p:cNvPr id="9" name="Text 7"/>
          <p:cNvSpPr txBox="1"/>
          <p:nvPr/>
        </p:nvSpPr>
        <p:spPr>
          <a:xfrm>
            <a:off x="548640" y="2240280"/>
            <a:ext cx="128016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Meiryo UI" pitchFamily="34" charset="0"/>
                <a:ea typeface="Meiryo UI" pitchFamily="34" charset="-122"/>
                <a:cs typeface="Meiryo UI" pitchFamily="34" charset="-120"/>
              </a:rPr>
              <a:t>キックオフ</a:t>
            </a:r>
            <a:endParaRPr lang="en-US" sz="1100" dirty="0"/>
          </a:p>
        </p:txBody>
      </p:sp>
      <p:sp>
        <p:nvSpPr>
          <p:cNvPr id="10" name="Shape 8"/>
          <p:cNvSpPr/>
          <p:nvPr/>
        </p:nvSpPr>
        <p:spPr>
          <a:xfrm>
            <a:off x="1965960" y="1783080"/>
            <a:ext cx="5257800" cy="932688"/>
          </a:xfrm>
          <a:prstGeom prst="roundRect">
            <a:avLst>
              <a:gd name="adj" fmla="val 11765"/>
            </a:avLst>
          </a:prstGeom>
          <a:solidFill>
            <a:srgbClr val="F5F9F6"/>
          </a:solidFill>
          <a:ln w="12700">
            <a:solidFill>
              <a:srgbClr val="F5F9F6"/>
            </a:solidFill>
            <a:prstDash val="solid"/>
          </a:ln>
        </p:spPr>
      </p:sp>
      <p:sp>
        <p:nvSpPr>
          <p:cNvPr id="11" name="Text 9"/>
          <p:cNvSpPr txBox="1"/>
          <p:nvPr/>
        </p:nvSpPr>
        <p:spPr>
          <a:xfrm>
            <a:off x="2148840" y="1874520"/>
            <a:ext cx="4892040" cy="411480"/>
          </a:xfrm>
          <a:prstGeom prst="rect">
            <a:avLst/>
          </a:prstGeom>
          <a:noFill/>
          <a:ln/>
        </p:spPr>
        <p:txBody>
          <a:bodyPr wrap="square" lIns="0" tIns="0" rIns="0" bIns="0" rtlCol="0" anchor="ctr"/>
          <a:lstStyle/>
          <a:p>
            <a:pPr indent="0" marL="0">
              <a:buNone/>
            </a:pPr>
            <a:r>
              <a:rPr lang="en-US" sz="1300" b="1" dirty="0">
                <a:solidFill>
                  <a:srgbClr val="1D4A35"/>
                </a:solidFill>
                <a:latin typeface="Meiryo UI" pitchFamily="34" charset="0"/>
                <a:ea typeface="Meiryo UI" pitchFamily="34" charset="-122"/>
                <a:cs typeface="Meiryo UI" pitchFamily="34" charset="-120"/>
              </a:rPr>
              <a:t>現状数値の確認／KPI設定／台本作成</a:t>
            </a:r>
            <a:endParaRPr lang="en-US" sz="1300" dirty="0"/>
          </a:p>
        </p:txBody>
      </p:sp>
      <p:sp>
        <p:nvSpPr>
          <p:cNvPr id="12" name="Text 10"/>
          <p:cNvSpPr txBox="1"/>
          <p:nvPr/>
        </p:nvSpPr>
        <p:spPr>
          <a:xfrm>
            <a:off x="2148840" y="2286000"/>
            <a:ext cx="4892040" cy="347472"/>
          </a:xfrm>
          <a:prstGeom prst="rect">
            <a:avLst/>
          </a:prstGeom>
          <a:noFill/>
          <a:ln/>
        </p:spPr>
        <p:txBody>
          <a:bodyPr wrap="square" lIns="0" tIns="0" rIns="0" bIns="0" rtlCol="0" anchor="ctr"/>
          <a:lstStyle/>
          <a:p>
            <a:pPr indent="0" marL="0">
              <a:buNone/>
            </a:pPr>
            <a:r>
              <a:rPr lang="en-US" sz="1100" dirty="0">
                <a:solidFill>
                  <a:srgbClr val="66786F"/>
                </a:solidFill>
                <a:latin typeface="Meiryo UI" pitchFamily="34" charset="0"/>
                <a:ea typeface="Meiryo UI" pitchFamily="34" charset="-122"/>
                <a:cs typeface="Meiryo UI" pitchFamily="34" charset="-120"/>
              </a:rPr>
              <a:t>貴社：オンライン塾・子育て講座の資料、現状数値のご共有</a:t>
            </a:r>
            <a:endParaRPr lang="en-US" sz="1100" dirty="0"/>
          </a:p>
        </p:txBody>
      </p:sp>
      <p:sp>
        <p:nvSpPr>
          <p:cNvPr id="13" name="Shape 11"/>
          <p:cNvSpPr/>
          <p:nvPr/>
        </p:nvSpPr>
        <p:spPr>
          <a:xfrm>
            <a:off x="548640" y="2898648"/>
            <a:ext cx="1280160" cy="932688"/>
          </a:xfrm>
          <a:prstGeom prst="roundRect">
            <a:avLst>
              <a:gd name="adj" fmla="val 11765"/>
            </a:avLst>
          </a:prstGeom>
          <a:solidFill>
            <a:srgbClr val="2F7A55"/>
          </a:solidFill>
          <a:ln w="12700">
            <a:solidFill>
              <a:srgbClr val="2F7A55"/>
            </a:solidFill>
            <a:prstDash val="solid"/>
          </a:ln>
        </p:spPr>
      </p:sp>
      <p:sp>
        <p:nvSpPr>
          <p:cNvPr id="14" name="Text 12"/>
          <p:cNvSpPr txBox="1"/>
          <p:nvPr/>
        </p:nvSpPr>
        <p:spPr>
          <a:xfrm>
            <a:off x="548640" y="2990088"/>
            <a:ext cx="12801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2週目</a:t>
            </a:r>
            <a:endParaRPr lang="en-US" sz="1400" dirty="0"/>
          </a:p>
        </p:txBody>
      </p:sp>
      <p:sp>
        <p:nvSpPr>
          <p:cNvPr id="15" name="Text 13"/>
          <p:cNvSpPr txBox="1"/>
          <p:nvPr/>
        </p:nvSpPr>
        <p:spPr>
          <a:xfrm>
            <a:off x="548640" y="3355848"/>
            <a:ext cx="128016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Meiryo UI" pitchFamily="34" charset="0"/>
                <a:ea typeface="Meiryo UI" pitchFamily="34" charset="-122"/>
                <a:cs typeface="Meiryo UI" pitchFamily="34" charset="-120"/>
              </a:rPr>
              <a:t>制作</a:t>
            </a:r>
            <a:endParaRPr lang="en-US" sz="1100" dirty="0"/>
          </a:p>
        </p:txBody>
      </p:sp>
      <p:sp>
        <p:nvSpPr>
          <p:cNvPr id="16" name="Shape 14"/>
          <p:cNvSpPr/>
          <p:nvPr/>
        </p:nvSpPr>
        <p:spPr>
          <a:xfrm>
            <a:off x="1965960" y="2898648"/>
            <a:ext cx="5257800" cy="932688"/>
          </a:xfrm>
          <a:prstGeom prst="roundRect">
            <a:avLst>
              <a:gd name="adj" fmla="val 11765"/>
            </a:avLst>
          </a:prstGeom>
          <a:solidFill>
            <a:srgbClr val="F5F9F6"/>
          </a:solidFill>
          <a:ln w="12700">
            <a:solidFill>
              <a:srgbClr val="F5F9F6"/>
            </a:solidFill>
            <a:prstDash val="solid"/>
          </a:ln>
        </p:spPr>
      </p:sp>
      <p:sp>
        <p:nvSpPr>
          <p:cNvPr id="17" name="Text 15"/>
          <p:cNvSpPr txBox="1"/>
          <p:nvPr/>
        </p:nvSpPr>
        <p:spPr>
          <a:xfrm>
            <a:off x="2148840" y="2990088"/>
            <a:ext cx="4892040" cy="411480"/>
          </a:xfrm>
          <a:prstGeom prst="rect">
            <a:avLst/>
          </a:prstGeom>
          <a:noFill/>
          <a:ln/>
        </p:spPr>
        <p:txBody>
          <a:bodyPr wrap="square" lIns="0" tIns="0" rIns="0" bIns="0" rtlCol="0" anchor="ctr"/>
          <a:lstStyle/>
          <a:p>
            <a:pPr indent="0" marL="0">
              <a:buNone/>
            </a:pPr>
            <a:r>
              <a:rPr lang="en-US" sz="1300" b="1" dirty="0">
                <a:solidFill>
                  <a:srgbClr val="1D4A35"/>
                </a:solidFill>
                <a:latin typeface="Meiryo UI" pitchFamily="34" charset="0"/>
                <a:ea typeface="Meiryo UI" pitchFamily="34" charset="-122"/>
                <a:cs typeface="Meiryo UI" pitchFamily="34" charset="-120"/>
              </a:rPr>
              <a:t>3本の制作・初稿確認・修正</a:t>
            </a:r>
            <a:endParaRPr lang="en-US" sz="1300" dirty="0"/>
          </a:p>
        </p:txBody>
      </p:sp>
      <p:sp>
        <p:nvSpPr>
          <p:cNvPr id="18" name="Text 16"/>
          <p:cNvSpPr txBox="1"/>
          <p:nvPr/>
        </p:nvSpPr>
        <p:spPr>
          <a:xfrm>
            <a:off x="2148840" y="3401568"/>
            <a:ext cx="4892040" cy="347472"/>
          </a:xfrm>
          <a:prstGeom prst="rect">
            <a:avLst/>
          </a:prstGeom>
          <a:noFill/>
          <a:ln/>
        </p:spPr>
        <p:txBody>
          <a:bodyPr wrap="square" lIns="0" tIns="0" rIns="0" bIns="0" rtlCol="0" anchor="ctr"/>
          <a:lstStyle/>
          <a:p>
            <a:pPr indent="0" marL="0">
              <a:buNone/>
            </a:pPr>
            <a:r>
              <a:rPr lang="en-US" sz="1100" dirty="0">
                <a:solidFill>
                  <a:srgbClr val="66786F"/>
                </a:solidFill>
                <a:latin typeface="Meiryo UI" pitchFamily="34" charset="0"/>
                <a:ea typeface="Meiryo UI" pitchFamily="34" charset="-122"/>
                <a:cs typeface="Meiryo UI" pitchFamily="34" charset="-120"/>
              </a:rPr>
              <a:t>貴社：初稿のご確認（30分程度）</a:t>
            </a:r>
            <a:endParaRPr lang="en-US" sz="1100" dirty="0"/>
          </a:p>
        </p:txBody>
      </p:sp>
      <p:sp>
        <p:nvSpPr>
          <p:cNvPr id="19" name="Shape 17"/>
          <p:cNvSpPr/>
          <p:nvPr/>
        </p:nvSpPr>
        <p:spPr>
          <a:xfrm>
            <a:off x="548640" y="4014216"/>
            <a:ext cx="1280160" cy="932688"/>
          </a:xfrm>
          <a:prstGeom prst="roundRect">
            <a:avLst>
              <a:gd name="adj" fmla="val 11765"/>
            </a:avLst>
          </a:prstGeom>
          <a:solidFill>
            <a:srgbClr val="2F7A55"/>
          </a:solidFill>
          <a:ln w="12700">
            <a:solidFill>
              <a:srgbClr val="2F7A55"/>
            </a:solidFill>
            <a:prstDash val="solid"/>
          </a:ln>
        </p:spPr>
      </p:sp>
      <p:sp>
        <p:nvSpPr>
          <p:cNvPr id="20" name="Text 18"/>
          <p:cNvSpPr txBox="1"/>
          <p:nvPr/>
        </p:nvSpPr>
        <p:spPr>
          <a:xfrm>
            <a:off x="548640" y="4105656"/>
            <a:ext cx="12801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3〜5週目</a:t>
            </a:r>
            <a:endParaRPr lang="en-US" sz="1400" dirty="0"/>
          </a:p>
        </p:txBody>
      </p:sp>
      <p:sp>
        <p:nvSpPr>
          <p:cNvPr id="21" name="Text 19"/>
          <p:cNvSpPr txBox="1"/>
          <p:nvPr/>
        </p:nvSpPr>
        <p:spPr>
          <a:xfrm>
            <a:off x="548640" y="4471416"/>
            <a:ext cx="128016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Meiryo UI" pitchFamily="34" charset="0"/>
                <a:ea typeface="Meiryo UI" pitchFamily="34" charset="-122"/>
                <a:cs typeface="Meiryo UI" pitchFamily="34" charset="-120"/>
              </a:rPr>
              <a:t>配信・送付</a:t>
            </a:r>
            <a:endParaRPr lang="en-US" sz="1100" dirty="0"/>
          </a:p>
        </p:txBody>
      </p:sp>
      <p:sp>
        <p:nvSpPr>
          <p:cNvPr id="22" name="Shape 20"/>
          <p:cNvSpPr/>
          <p:nvPr/>
        </p:nvSpPr>
        <p:spPr>
          <a:xfrm>
            <a:off x="1965960" y="4014216"/>
            <a:ext cx="5257800" cy="932688"/>
          </a:xfrm>
          <a:prstGeom prst="roundRect">
            <a:avLst>
              <a:gd name="adj" fmla="val 11765"/>
            </a:avLst>
          </a:prstGeom>
          <a:solidFill>
            <a:srgbClr val="F5F9F6"/>
          </a:solidFill>
          <a:ln w="12700">
            <a:solidFill>
              <a:srgbClr val="F5F9F6"/>
            </a:solidFill>
            <a:prstDash val="solid"/>
          </a:ln>
        </p:spPr>
      </p:sp>
      <p:sp>
        <p:nvSpPr>
          <p:cNvPr id="23" name="Text 21"/>
          <p:cNvSpPr txBox="1"/>
          <p:nvPr/>
        </p:nvSpPr>
        <p:spPr>
          <a:xfrm>
            <a:off x="2148840" y="4105656"/>
            <a:ext cx="4892040" cy="411480"/>
          </a:xfrm>
          <a:prstGeom prst="rect">
            <a:avLst/>
          </a:prstGeom>
          <a:noFill/>
          <a:ln/>
        </p:spPr>
        <p:txBody>
          <a:bodyPr wrap="square" lIns="0" tIns="0" rIns="0" bIns="0" rtlCol="0" anchor="ctr"/>
          <a:lstStyle/>
          <a:p>
            <a:pPr indent="0" marL="0">
              <a:buNone/>
            </a:pPr>
            <a:r>
              <a:rPr lang="en-US" sz="1300" b="1" dirty="0">
                <a:solidFill>
                  <a:srgbClr val="1D4A35"/>
                </a:solidFill>
                <a:latin typeface="Meiryo UI" pitchFamily="34" charset="0"/>
                <a:ea typeface="Meiryo UI" pitchFamily="34" charset="-122"/>
                <a:cs typeface="Meiryo UI" pitchFamily="34" charset="-120"/>
              </a:rPr>
              <a:t>プッシュ：講演後・相談前の送付／プル：SNS投稿</a:t>
            </a:r>
            <a:endParaRPr lang="en-US" sz="1300" dirty="0"/>
          </a:p>
        </p:txBody>
      </p:sp>
      <p:sp>
        <p:nvSpPr>
          <p:cNvPr id="24" name="Text 22"/>
          <p:cNvSpPr txBox="1"/>
          <p:nvPr/>
        </p:nvSpPr>
        <p:spPr>
          <a:xfrm>
            <a:off x="2148840" y="4517136"/>
            <a:ext cx="4892040" cy="347472"/>
          </a:xfrm>
          <a:prstGeom prst="rect">
            <a:avLst/>
          </a:prstGeom>
          <a:noFill/>
          <a:ln/>
        </p:spPr>
        <p:txBody>
          <a:bodyPr wrap="square" lIns="0" tIns="0" rIns="0" bIns="0" rtlCol="0" anchor="ctr"/>
          <a:lstStyle/>
          <a:p>
            <a:pPr indent="0" marL="0">
              <a:buNone/>
            </a:pPr>
            <a:r>
              <a:rPr lang="en-US" sz="1100" dirty="0">
                <a:solidFill>
                  <a:srgbClr val="66786F"/>
                </a:solidFill>
                <a:latin typeface="Meiryo UI" pitchFamily="34" charset="0"/>
                <a:ea typeface="Meiryo UI" pitchFamily="34" charset="-122"/>
                <a:cs typeface="Meiryo UI" pitchFamily="34" charset="-120"/>
              </a:rPr>
              <a:t>貴社：講演会・無料相談での動画活用</a:t>
            </a:r>
            <a:endParaRPr lang="en-US" sz="1100" dirty="0"/>
          </a:p>
        </p:txBody>
      </p:sp>
      <p:sp>
        <p:nvSpPr>
          <p:cNvPr id="25" name="Shape 23"/>
          <p:cNvSpPr/>
          <p:nvPr/>
        </p:nvSpPr>
        <p:spPr>
          <a:xfrm>
            <a:off x="548640" y="5129784"/>
            <a:ext cx="1280160" cy="932688"/>
          </a:xfrm>
          <a:prstGeom prst="roundRect">
            <a:avLst>
              <a:gd name="adj" fmla="val 11765"/>
            </a:avLst>
          </a:prstGeom>
          <a:solidFill>
            <a:srgbClr val="D8614F"/>
          </a:solidFill>
          <a:ln w="12700">
            <a:solidFill>
              <a:srgbClr val="D8614F"/>
            </a:solidFill>
            <a:prstDash val="solid"/>
          </a:ln>
        </p:spPr>
      </p:sp>
      <p:sp>
        <p:nvSpPr>
          <p:cNvPr id="26" name="Text 24"/>
          <p:cNvSpPr txBox="1"/>
          <p:nvPr/>
        </p:nvSpPr>
        <p:spPr>
          <a:xfrm>
            <a:off x="548640" y="5221224"/>
            <a:ext cx="12801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6週目</a:t>
            </a:r>
            <a:endParaRPr lang="en-US" sz="1400" dirty="0"/>
          </a:p>
        </p:txBody>
      </p:sp>
      <p:sp>
        <p:nvSpPr>
          <p:cNvPr id="27" name="Text 25"/>
          <p:cNvSpPr txBox="1"/>
          <p:nvPr/>
        </p:nvSpPr>
        <p:spPr>
          <a:xfrm>
            <a:off x="548640" y="5586984"/>
            <a:ext cx="128016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Meiryo UI" pitchFamily="34" charset="0"/>
                <a:ea typeface="Meiryo UI" pitchFamily="34" charset="-122"/>
                <a:cs typeface="Meiryo UI" pitchFamily="34" charset="-120"/>
              </a:rPr>
              <a:t>検証レポート会</a:t>
            </a:r>
            <a:endParaRPr lang="en-US" sz="1100" dirty="0"/>
          </a:p>
        </p:txBody>
      </p:sp>
      <p:sp>
        <p:nvSpPr>
          <p:cNvPr id="28" name="Shape 26"/>
          <p:cNvSpPr/>
          <p:nvPr/>
        </p:nvSpPr>
        <p:spPr>
          <a:xfrm>
            <a:off x="1965960" y="5129784"/>
            <a:ext cx="5257800" cy="932688"/>
          </a:xfrm>
          <a:prstGeom prst="roundRect">
            <a:avLst>
              <a:gd name="adj" fmla="val 11765"/>
            </a:avLst>
          </a:prstGeom>
          <a:solidFill>
            <a:srgbClr val="F5F9F6"/>
          </a:solidFill>
          <a:ln w="12700">
            <a:solidFill>
              <a:srgbClr val="F5F9F6"/>
            </a:solidFill>
            <a:prstDash val="solid"/>
          </a:ln>
        </p:spPr>
      </p:sp>
      <p:sp>
        <p:nvSpPr>
          <p:cNvPr id="29" name="Text 27"/>
          <p:cNvSpPr txBox="1"/>
          <p:nvPr/>
        </p:nvSpPr>
        <p:spPr>
          <a:xfrm>
            <a:off x="2148840" y="5221224"/>
            <a:ext cx="4892040" cy="411480"/>
          </a:xfrm>
          <a:prstGeom prst="rect">
            <a:avLst/>
          </a:prstGeom>
          <a:noFill/>
          <a:ln/>
        </p:spPr>
        <p:txBody>
          <a:bodyPr wrap="square" lIns="0" tIns="0" rIns="0" bIns="0" rtlCol="0" anchor="ctr"/>
          <a:lstStyle/>
          <a:p>
            <a:pPr indent="0" marL="0">
              <a:buNone/>
            </a:pPr>
            <a:r>
              <a:rPr lang="en-US" sz="1300" b="1" dirty="0">
                <a:solidFill>
                  <a:srgbClr val="1D4A35"/>
                </a:solidFill>
                <a:latin typeface="Meiryo UI" pitchFamily="34" charset="0"/>
                <a:ea typeface="Meiryo UI" pitchFamily="34" charset="-122"/>
                <a:cs typeface="Meiryo UI" pitchFamily="34" charset="-120"/>
              </a:rPr>
              <a:t>効果検証レポート＆フェーズ2設計会</a:t>
            </a:r>
            <a:endParaRPr lang="en-US" sz="1300" dirty="0"/>
          </a:p>
        </p:txBody>
      </p:sp>
      <p:sp>
        <p:nvSpPr>
          <p:cNvPr id="30" name="Text 28"/>
          <p:cNvSpPr txBox="1"/>
          <p:nvPr/>
        </p:nvSpPr>
        <p:spPr>
          <a:xfrm>
            <a:off x="2148840" y="5632704"/>
            <a:ext cx="4892040" cy="347472"/>
          </a:xfrm>
          <a:prstGeom prst="rect">
            <a:avLst/>
          </a:prstGeom>
          <a:noFill/>
          <a:ln/>
        </p:spPr>
        <p:txBody>
          <a:bodyPr wrap="square" lIns="0" tIns="0" rIns="0" bIns="0" rtlCol="0" anchor="ctr"/>
          <a:lstStyle/>
          <a:p>
            <a:pPr indent="0" marL="0">
              <a:buNone/>
            </a:pPr>
            <a:r>
              <a:rPr lang="en-US" sz="1100" dirty="0">
                <a:solidFill>
                  <a:srgbClr val="66786F"/>
                </a:solidFill>
                <a:latin typeface="Meiryo UI" pitchFamily="34" charset="0"/>
                <a:ea typeface="Meiryo UI" pitchFamily="34" charset="-122"/>
                <a:cs typeface="Meiryo UI" pitchFamily="34" charset="-120"/>
              </a:rPr>
              <a:t>貴社：結果のご確認・次の打ち手の合意</a:t>
            </a:r>
            <a:endParaRPr lang="en-US" sz="1100" dirty="0"/>
          </a:p>
        </p:txBody>
      </p:sp>
      <p:sp>
        <p:nvSpPr>
          <p:cNvPr id="31" name="Shape 29"/>
          <p:cNvSpPr/>
          <p:nvPr/>
        </p:nvSpPr>
        <p:spPr>
          <a:xfrm>
            <a:off x="7589520" y="1371600"/>
            <a:ext cx="4053535" cy="4892040"/>
          </a:xfrm>
          <a:prstGeom prst="roundRect">
            <a:avLst>
              <a:gd name="adj" fmla="val 2707"/>
            </a:avLst>
          </a:prstGeom>
          <a:solidFill>
            <a:srgbClr val="FDECEA"/>
          </a:solidFill>
          <a:ln w="12700">
            <a:solidFill>
              <a:srgbClr val="FDECEA"/>
            </a:solidFill>
            <a:prstDash val="solid"/>
          </a:ln>
        </p:spPr>
      </p:sp>
      <p:sp>
        <p:nvSpPr>
          <p:cNvPr id="32" name="Shape 30"/>
          <p:cNvSpPr/>
          <p:nvPr/>
        </p:nvSpPr>
        <p:spPr>
          <a:xfrm>
            <a:off x="7863840" y="1600200"/>
            <a:ext cx="548640" cy="548640"/>
          </a:xfrm>
          <a:prstGeom prst="ellipse">
            <a:avLst/>
          </a:prstGeom>
          <a:solidFill>
            <a:srgbClr val="D8614F"/>
          </a:solidFill>
          <a:ln w="12700">
            <a:solidFill>
              <a:srgbClr val="D8614F"/>
            </a:solidFill>
            <a:prstDash val="solid"/>
          </a:ln>
        </p:spPr>
      </p:sp>
      <p:pic>
        <p:nvPicPr>
          <p:cNvPr id="33" name="Image 0" descr="preencoded.png">    </p:cNvPr>
          <p:cNvPicPr>
            <a:picLocks noChangeAspect="1"/>
          </p:cNvPicPr>
          <p:nvPr/>
        </p:nvPicPr>
        <p:blipFill>
          <a:blip r:embed="rId1"/>
          <a:stretch>
            <a:fillRect/>
          </a:stretch>
        </p:blipFill>
        <p:spPr>
          <a:xfrm>
            <a:off x="8006486" y="1742846"/>
            <a:ext cx="263347" cy="263347"/>
          </a:xfrm>
          <a:prstGeom prst="rect">
            <a:avLst/>
          </a:prstGeom>
        </p:spPr>
      </p:pic>
      <p:sp>
        <p:nvSpPr>
          <p:cNvPr id="34" name="Text 31"/>
          <p:cNvSpPr txBox="1"/>
          <p:nvPr/>
        </p:nvSpPr>
        <p:spPr>
          <a:xfrm>
            <a:off x="8549640" y="1600200"/>
            <a:ext cx="2910535" cy="548640"/>
          </a:xfrm>
          <a:prstGeom prst="rect">
            <a:avLst/>
          </a:prstGeom>
          <a:noFill/>
          <a:ln/>
        </p:spPr>
        <p:txBody>
          <a:bodyPr wrap="square" lIns="0" tIns="0" rIns="0" bIns="0" rtlCol="0" anchor="ctr"/>
          <a:lstStyle/>
          <a:p>
            <a:pPr indent="0" marL="0">
              <a:buNone/>
            </a:pPr>
            <a:r>
              <a:rPr lang="en-US" sz="1500" b="1" dirty="0">
                <a:solidFill>
                  <a:srgbClr val="D8614F"/>
                </a:solidFill>
                <a:latin typeface="Meiryo UI" pitchFamily="34" charset="0"/>
                <a:ea typeface="Meiryo UI" pitchFamily="34" charset="-122"/>
                <a:cs typeface="Meiryo UI" pitchFamily="34" charset="-120"/>
              </a:rPr>
              <a:t>3本だけで終えた場合の限界</a:t>
            </a:r>
            <a:endParaRPr lang="en-US" sz="1500" dirty="0"/>
          </a:p>
        </p:txBody>
      </p:sp>
      <p:sp>
        <p:nvSpPr>
          <p:cNvPr id="35" name="Text 32"/>
          <p:cNvSpPr txBox="1"/>
          <p:nvPr/>
        </p:nvSpPr>
        <p:spPr>
          <a:xfrm>
            <a:off x="7863840" y="2377440"/>
            <a:ext cx="3504895" cy="320040"/>
          </a:xfrm>
          <a:prstGeom prst="rect">
            <a:avLst/>
          </a:prstGeom>
          <a:noFill/>
          <a:ln/>
        </p:spPr>
        <p:txBody>
          <a:bodyPr wrap="square" lIns="0" tIns="0" rIns="0" bIns="0" rtlCol="0" anchor="t"/>
          <a:lstStyle/>
          <a:p>
            <a:pPr indent="0" marL="0">
              <a:buNone/>
            </a:pPr>
            <a:r>
              <a:rPr lang="en-US" sz="1300" b="1" dirty="0">
                <a:solidFill>
                  <a:srgbClr val="1D4A35"/>
                </a:solidFill>
                <a:latin typeface="Meiryo UI" pitchFamily="34" charset="0"/>
                <a:ea typeface="Meiryo UI" pitchFamily="34" charset="-122"/>
                <a:cs typeface="Meiryo UI" pitchFamily="34" charset="-120"/>
              </a:rPr>
              <a:t>講座ローンチに間に合わない</a:t>
            </a:r>
            <a:endParaRPr lang="en-US" sz="1300" dirty="0"/>
          </a:p>
        </p:txBody>
      </p:sp>
      <p:sp>
        <p:nvSpPr>
          <p:cNvPr id="36" name="Text 33"/>
          <p:cNvSpPr txBox="1"/>
          <p:nvPr/>
        </p:nvSpPr>
        <p:spPr>
          <a:xfrm>
            <a:off x="7863840" y="2715768"/>
            <a:ext cx="3504895" cy="594360"/>
          </a:xfrm>
          <a:prstGeom prst="rect">
            <a:avLst/>
          </a:prstGeom>
          <a:noFill/>
          <a:ln/>
        </p:spPr>
        <p:txBody>
          <a:bodyPr wrap="square" lIns="0" tIns="0" rIns="0" bIns="0" rtlCol="0" anchor="t"/>
          <a:lstStyle/>
          <a:p>
            <a:pPr indent="0" marL="0">
              <a:buNone/>
            </a:pPr>
            <a:r>
              <a:rPr lang="en-US" sz="1150" dirty="0">
                <a:solidFill>
                  <a:srgbClr val="2A3330"/>
                </a:solidFill>
                <a:latin typeface="Meiryo UI" pitchFamily="34" charset="0"/>
                <a:ea typeface="Meiryo UI" pitchFamily="34" charset="-122"/>
                <a:cs typeface="Meiryo UI" pitchFamily="34" charset="-120"/>
              </a:rPr>
              <a:t>3本で止めると、年内の子育て講座リリースまでに集客導線が整わない</a:t>
            </a:r>
            <a:endParaRPr lang="en-US" sz="1150" dirty="0"/>
          </a:p>
        </p:txBody>
      </p:sp>
      <p:sp>
        <p:nvSpPr>
          <p:cNvPr id="37" name="Text 34"/>
          <p:cNvSpPr txBox="1"/>
          <p:nvPr/>
        </p:nvSpPr>
        <p:spPr>
          <a:xfrm>
            <a:off x="7863840" y="3401568"/>
            <a:ext cx="3504895" cy="320040"/>
          </a:xfrm>
          <a:prstGeom prst="rect">
            <a:avLst/>
          </a:prstGeom>
          <a:noFill/>
          <a:ln/>
        </p:spPr>
        <p:txBody>
          <a:bodyPr wrap="square" lIns="0" tIns="0" rIns="0" bIns="0" rtlCol="0" anchor="t"/>
          <a:lstStyle/>
          <a:p>
            <a:pPr indent="0" marL="0">
              <a:buNone/>
            </a:pPr>
            <a:r>
              <a:rPr lang="en-US" sz="1300" b="1" dirty="0">
                <a:solidFill>
                  <a:srgbClr val="1D4A35"/>
                </a:solidFill>
                <a:latin typeface="Meiryo UI" pitchFamily="34" charset="0"/>
                <a:ea typeface="Meiryo UI" pitchFamily="34" charset="-122"/>
                <a:cs typeface="Meiryo UI" pitchFamily="34" charset="-120"/>
              </a:rPr>
              <a:t>SNSの成長がリセット</a:t>
            </a:r>
            <a:endParaRPr lang="en-US" sz="1300" dirty="0"/>
          </a:p>
        </p:txBody>
      </p:sp>
      <p:sp>
        <p:nvSpPr>
          <p:cNvPr id="38" name="Text 35"/>
          <p:cNvSpPr txBox="1"/>
          <p:nvPr/>
        </p:nvSpPr>
        <p:spPr>
          <a:xfrm>
            <a:off x="7863840" y="3739896"/>
            <a:ext cx="3504895" cy="594360"/>
          </a:xfrm>
          <a:prstGeom prst="rect">
            <a:avLst/>
          </a:prstGeom>
          <a:noFill/>
          <a:ln/>
        </p:spPr>
        <p:txBody>
          <a:bodyPr wrap="square" lIns="0" tIns="0" rIns="0" bIns="0" rtlCol="0" anchor="t"/>
          <a:lstStyle/>
          <a:p>
            <a:pPr indent="0" marL="0">
              <a:buNone/>
            </a:pPr>
            <a:r>
              <a:rPr lang="en-US" sz="1150" dirty="0">
                <a:solidFill>
                  <a:srgbClr val="2A3330"/>
                </a:solidFill>
                <a:latin typeface="Meiryo UI" pitchFamily="34" charset="0"/>
                <a:ea typeface="Meiryo UI" pitchFamily="34" charset="-122"/>
                <a:cs typeface="Meiryo UI" pitchFamily="34" charset="-120"/>
              </a:rPr>
              <a:t>SNSは投稿の継続性が評価されるため、止めると積み上げが消える</a:t>
            </a:r>
            <a:endParaRPr lang="en-US" sz="1150" dirty="0"/>
          </a:p>
        </p:txBody>
      </p:sp>
      <p:sp>
        <p:nvSpPr>
          <p:cNvPr id="39" name="Text 36"/>
          <p:cNvSpPr txBox="1"/>
          <p:nvPr/>
        </p:nvSpPr>
        <p:spPr>
          <a:xfrm>
            <a:off x="7863840" y="4425696"/>
            <a:ext cx="3504895" cy="320040"/>
          </a:xfrm>
          <a:prstGeom prst="rect">
            <a:avLst/>
          </a:prstGeom>
          <a:noFill/>
          <a:ln/>
        </p:spPr>
        <p:txBody>
          <a:bodyPr wrap="square" lIns="0" tIns="0" rIns="0" bIns="0" rtlCol="0" anchor="t"/>
          <a:lstStyle/>
          <a:p>
            <a:pPr indent="0" marL="0">
              <a:buNone/>
            </a:pPr>
            <a:r>
              <a:rPr lang="en-US" sz="1300" b="1" dirty="0">
                <a:solidFill>
                  <a:srgbClr val="1D4A35"/>
                </a:solidFill>
                <a:latin typeface="Meiryo UI" pitchFamily="34" charset="0"/>
                <a:ea typeface="Meiryo UI" pitchFamily="34" charset="-122"/>
                <a:cs typeface="Meiryo UI" pitchFamily="34" charset="-120"/>
              </a:rPr>
              <a:t>LINE登録者との接点が途切れる</a:t>
            </a:r>
            <a:endParaRPr lang="en-US" sz="1300" dirty="0"/>
          </a:p>
        </p:txBody>
      </p:sp>
      <p:sp>
        <p:nvSpPr>
          <p:cNvPr id="40" name="Text 37"/>
          <p:cNvSpPr txBox="1"/>
          <p:nvPr/>
        </p:nvSpPr>
        <p:spPr>
          <a:xfrm>
            <a:off x="7863840" y="4764024"/>
            <a:ext cx="3504895" cy="594360"/>
          </a:xfrm>
          <a:prstGeom prst="rect">
            <a:avLst/>
          </a:prstGeom>
          <a:noFill/>
          <a:ln/>
        </p:spPr>
        <p:txBody>
          <a:bodyPr wrap="square" lIns="0" tIns="0" rIns="0" bIns="0" rtlCol="0" anchor="t"/>
          <a:lstStyle/>
          <a:p>
            <a:pPr indent="0" marL="0">
              <a:buNone/>
            </a:pPr>
            <a:r>
              <a:rPr lang="en-US" sz="1150" dirty="0">
                <a:solidFill>
                  <a:srgbClr val="2A3330"/>
                </a:solidFill>
                <a:latin typeface="Meiryo UI" pitchFamily="34" charset="0"/>
                <a:ea typeface="Meiryo UI" pitchFamily="34" charset="-122"/>
                <a:cs typeface="Meiryo UI" pitchFamily="34" charset="-120"/>
              </a:rPr>
              <a:t>登録後の配信が続かなければ、相談・受講の機会を逃す</a:t>
            </a:r>
            <a:endParaRPr lang="en-US" sz="1150" dirty="0"/>
          </a:p>
        </p:txBody>
      </p:sp>
      <p:sp>
        <p:nvSpPr>
          <p:cNvPr id="41" name="Text 38"/>
          <p:cNvSpPr txBox="1"/>
          <p:nvPr/>
        </p:nvSpPr>
        <p:spPr>
          <a:xfrm>
            <a:off x="7863840" y="5486400"/>
            <a:ext cx="3504895" cy="640080"/>
          </a:xfrm>
          <a:prstGeom prst="rect">
            <a:avLst/>
          </a:prstGeom>
          <a:noFill/>
          <a:ln/>
        </p:spPr>
        <p:txBody>
          <a:bodyPr wrap="square" lIns="0" tIns="0" rIns="0" bIns="0" rtlCol="0" anchor="ctr"/>
          <a:lstStyle/>
          <a:p>
            <a:pPr indent="0" marL="0">
              <a:buNone/>
            </a:pPr>
            <a:r>
              <a:rPr lang="en-US" sz="1250" b="1" dirty="0">
                <a:solidFill>
                  <a:srgbClr val="2F7A55"/>
                </a:solidFill>
                <a:latin typeface="Meiryo UI" pitchFamily="34" charset="0"/>
                <a:ea typeface="Meiryo UI" pitchFamily="34" charset="-122"/>
                <a:cs typeface="Meiryo UI" pitchFamily="34" charset="-120"/>
              </a:rPr>
              <a:t>だからこそ、フェーズ1は伴走プランの“初月”として設計します。</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8614F"/>
                </a:solidFill>
                <a:latin typeface="Meiryo UI" pitchFamily="34" charset="0"/>
                <a:ea typeface="Meiryo UI" pitchFamily="34" charset="-122"/>
                <a:cs typeface="Meiryo UI" pitchFamily="34" charset="-120"/>
              </a:rPr>
              <a:t>06｜PHASE 2</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2F7A55"/>
                </a:solidFill>
                <a:latin typeface="Meiryo UI" pitchFamily="34" charset="0"/>
                <a:ea typeface="Meiryo UI" pitchFamily="34" charset="-122"/>
                <a:cs typeface="Meiryo UI" pitchFamily="34" charset="-120"/>
              </a:rPr>
              <a:t>有料伴走プランで実施すること：制作から集客の運用まで一気通貫</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0"/>
                </a:solidFill>
                <a:latin typeface="Meiryo UI" pitchFamily="34" charset="0"/>
                <a:ea typeface="Meiryo UI" pitchFamily="34" charset="-122"/>
                <a:cs typeface="Meiryo UI" pitchFamily="34" charset="-120"/>
              </a:rPr>
              <a:t>19</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0"/>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463040"/>
            <a:ext cx="3515258" cy="2148840"/>
          </a:xfrm>
          <a:prstGeom prst="roundRect">
            <a:avLst>
              <a:gd name="adj" fmla="val 51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822960" y="1737360"/>
            <a:ext cx="685800" cy="685800"/>
          </a:xfrm>
          <a:prstGeom prst="ellipse">
            <a:avLst/>
          </a:prstGeom>
          <a:solidFill>
            <a:srgbClr val="2F7A55"/>
          </a:solidFill>
          <a:ln w="12700">
            <a:solidFill>
              <a:srgbClr val="2F7A55"/>
            </a:solidFill>
            <a:prstDash val="solid"/>
          </a:ln>
        </p:spPr>
      </p:sp>
      <p:pic>
        <p:nvPicPr>
          <p:cNvPr id="8" name="Image 0" descr="preencoded.png">    </p:cNvPr>
          <p:cNvPicPr>
            <a:picLocks noChangeAspect="1"/>
          </p:cNvPicPr>
          <p:nvPr/>
        </p:nvPicPr>
        <p:blipFill>
          <a:blip r:embed="rId1"/>
          <a:stretch>
            <a:fillRect/>
          </a:stretch>
        </p:blipFill>
        <p:spPr>
          <a:xfrm>
            <a:off x="1001268" y="1915668"/>
            <a:ext cx="329184" cy="329184"/>
          </a:xfrm>
          <a:prstGeom prst="rect">
            <a:avLst/>
          </a:prstGeom>
        </p:spPr>
      </p:pic>
      <p:sp>
        <p:nvSpPr>
          <p:cNvPr id="9" name="Text 6"/>
          <p:cNvSpPr txBox="1"/>
          <p:nvPr/>
        </p:nvSpPr>
        <p:spPr>
          <a:xfrm>
            <a:off x="1645920" y="1737360"/>
            <a:ext cx="2235098" cy="685800"/>
          </a:xfrm>
          <a:prstGeom prst="rect">
            <a:avLst/>
          </a:prstGeom>
          <a:noFill/>
          <a:ln/>
        </p:spPr>
        <p:txBody>
          <a:bodyPr wrap="square" lIns="0" tIns="0" rIns="0" bIns="0" rtlCol="0" anchor="ctr"/>
          <a:lstStyle/>
          <a:p>
            <a:pPr indent="0" marL="0">
              <a:buNone/>
            </a:pPr>
            <a:r>
              <a:rPr lang="en-US" sz="1550" b="1" dirty="0">
                <a:solidFill>
                  <a:srgbClr val="2F7A55"/>
                </a:solidFill>
                <a:latin typeface="Meiryo UI" pitchFamily="34" charset="0"/>
                <a:ea typeface="Meiryo UI" pitchFamily="34" charset="-122"/>
                <a:cs typeface="Meiryo UI" pitchFamily="34" charset="-120"/>
              </a:rPr>
              <a:t>動画の追加生成</a:t>
            </a:r>
            <a:endParaRPr lang="en-US" sz="1550" dirty="0"/>
          </a:p>
        </p:txBody>
      </p:sp>
      <p:sp>
        <p:nvSpPr>
          <p:cNvPr id="10" name="Text 7"/>
          <p:cNvSpPr txBox="1"/>
          <p:nvPr/>
        </p:nvSpPr>
        <p:spPr>
          <a:xfrm>
            <a:off x="822960" y="2606040"/>
            <a:ext cx="2966618" cy="868680"/>
          </a:xfrm>
          <a:prstGeom prst="rect">
            <a:avLst/>
          </a:prstGeom>
          <a:noFill/>
          <a:ln/>
        </p:spPr>
        <p:txBody>
          <a:bodyPr wrap="square" lIns="0" tIns="0" rIns="0" bIns="0" rtlCol="0" anchor="t"/>
          <a:lstStyle/>
          <a:p>
            <a:pPr indent="0" marL="0">
              <a:lnSpc>
                <a:spcPct val="110000"/>
              </a:lnSpc>
              <a:buNone/>
            </a:pPr>
            <a:r>
              <a:rPr lang="en-US" sz="1250" dirty="0">
                <a:solidFill>
                  <a:srgbClr val="2A3330"/>
                </a:solidFill>
                <a:latin typeface="Meiryo UI" pitchFamily="34" charset="0"/>
                <a:ea typeface="Meiryo UI" pitchFamily="34" charset="-122"/>
                <a:cs typeface="Meiryo UI" pitchFamily="34" charset="-120"/>
              </a:rPr>
              <a:t>検証で成果の出た型を軸に、学年別・悩み別・講座別に継続制作</a:t>
            </a:r>
            <a:endParaRPr lang="en-US" sz="1250" dirty="0"/>
          </a:p>
        </p:txBody>
      </p:sp>
      <p:sp>
        <p:nvSpPr>
          <p:cNvPr id="11" name="Shape 8"/>
          <p:cNvSpPr/>
          <p:nvPr/>
        </p:nvSpPr>
        <p:spPr>
          <a:xfrm>
            <a:off x="4338218" y="1463040"/>
            <a:ext cx="3515258" cy="2148840"/>
          </a:xfrm>
          <a:prstGeom prst="roundRect">
            <a:avLst>
              <a:gd name="adj" fmla="val 51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2" name="Shape 9"/>
          <p:cNvSpPr/>
          <p:nvPr/>
        </p:nvSpPr>
        <p:spPr>
          <a:xfrm>
            <a:off x="4612538" y="1737360"/>
            <a:ext cx="685800" cy="685800"/>
          </a:xfrm>
          <a:prstGeom prst="ellipse">
            <a:avLst/>
          </a:prstGeom>
          <a:solidFill>
            <a:srgbClr val="2F7A55"/>
          </a:solidFill>
          <a:ln w="12700">
            <a:solidFill>
              <a:srgbClr val="2F7A55"/>
            </a:solidFill>
            <a:prstDash val="solid"/>
          </a:ln>
        </p:spPr>
      </p:sp>
      <p:pic>
        <p:nvPicPr>
          <p:cNvPr id="13" name="Image 1" descr="preencoded.png">    </p:cNvPr>
          <p:cNvPicPr>
            <a:picLocks noChangeAspect="1"/>
          </p:cNvPicPr>
          <p:nvPr/>
        </p:nvPicPr>
        <p:blipFill>
          <a:blip r:embed="rId2"/>
          <a:stretch>
            <a:fillRect/>
          </a:stretch>
        </p:blipFill>
        <p:spPr>
          <a:xfrm>
            <a:off x="4790846" y="1915668"/>
            <a:ext cx="329184" cy="329184"/>
          </a:xfrm>
          <a:prstGeom prst="rect">
            <a:avLst/>
          </a:prstGeom>
        </p:spPr>
      </p:pic>
      <p:sp>
        <p:nvSpPr>
          <p:cNvPr id="14" name="Text 10"/>
          <p:cNvSpPr txBox="1"/>
          <p:nvPr/>
        </p:nvSpPr>
        <p:spPr>
          <a:xfrm>
            <a:off x="5435498" y="1737360"/>
            <a:ext cx="2235098" cy="685800"/>
          </a:xfrm>
          <a:prstGeom prst="rect">
            <a:avLst/>
          </a:prstGeom>
          <a:noFill/>
          <a:ln/>
        </p:spPr>
        <p:txBody>
          <a:bodyPr wrap="square" lIns="0" tIns="0" rIns="0" bIns="0" rtlCol="0" anchor="ctr"/>
          <a:lstStyle/>
          <a:p>
            <a:pPr indent="0" marL="0">
              <a:buNone/>
            </a:pPr>
            <a:r>
              <a:rPr lang="en-US" sz="1550" b="1" dirty="0">
                <a:solidFill>
                  <a:srgbClr val="2F7A55"/>
                </a:solidFill>
                <a:latin typeface="Meiryo UI" pitchFamily="34" charset="0"/>
                <a:ea typeface="Meiryo UI" pitchFamily="34" charset="-122"/>
                <a:cs typeface="Meiryo UI" pitchFamily="34" charset="-120"/>
              </a:rPr>
              <a:t>在宅スタッフによる運用</a:t>
            </a:r>
            <a:endParaRPr lang="en-US" sz="1550" dirty="0"/>
          </a:p>
        </p:txBody>
      </p:sp>
      <p:sp>
        <p:nvSpPr>
          <p:cNvPr id="15" name="Text 11"/>
          <p:cNvSpPr txBox="1"/>
          <p:nvPr/>
        </p:nvSpPr>
        <p:spPr>
          <a:xfrm>
            <a:off x="4612538" y="2606040"/>
            <a:ext cx="2966618" cy="868680"/>
          </a:xfrm>
          <a:prstGeom prst="rect">
            <a:avLst/>
          </a:prstGeom>
          <a:noFill/>
          <a:ln/>
        </p:spPr>
        <p:txBody>
          <a:bodyPr wrap="square" lIns="0" tIns="0" rIns="0" bIns="0" rtlCol="0" anchor="t"/>
          <a:lstStyle/>
          <a:p>
            <a:pPr indent="0" marL="0">
              <a:lnSpc>
                <a:spcPct val="110000"/>
              </a:lnSpc>
              <a:buNone/>
            </a:pPr>
            <a:r>
              <a:rPr lang="en-US" sz="1250" dirty="0">
                <a:solidFill>
                  <a:srgbClr val="2A3330"/>
                </a:solidFill>
                <a:latin typeface="Meiryo UI" pitchFamily="34" charset="0"/>
                <a:ea typeface="Meiryo UI" pitchFamily="34" charset="-122"/>
                <a:cs typeface="Meiryo UI" pitchFamily="34" charset="-120"/>
              </a:rPr>
              <a:t>投稿カレンダーの作成と、在宅スタッフによるSNS投稿・HP更新の運用支援</a:t>
            </a:r>
            <a:endParaRPr lang="en-US" sz="1250" dirty="0"/>
          </a:p>
        </p:txBody>
      </p:sp>
      <p:sp>
        <p:nvSpPr>
          <p:cNvPr id="16" name="Shape 12"/>
          <p:cNvSpPr/>
          <p:nvPr/>
        </p:nvSpPr>
        <p:spPr>
          <a:xfrm>
            <a:off x="8127797" y="1463040"/>
            <a:ext cx="3515258" cy="2148840"/>
          </a:xfrm>
          <a:prstGeom prst="roundRect">
            <a:avLst>
              <a:gd name="adj" fmla="val 51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7" name="Shape 13"/>
          <p:cNvSpPr/>
          <p:nvPr/>
        </p:nvSpPr>
        <p:spPr>
          <a:xfrm>
            <a:off x="8402117" y="1737360"/>
            <a:ext cx="685800" cy="685800"/>
          </a:xfrm>
          <a:prstGeom prst="ellipse">
            <a:avLst/>
          </a:prstGeom>
          <a:solidFill>
            <a:srgbClr val="2F7A55"/>
          </a:solidFill>
          <a:ln w="12700">
            <a:solidFill>
              <a:srgbClr val="2F7A55"/>
            </a:solidFill>
            <a:prstDash val="solid"/>
          </a:ln>
        </p:spPr>
      </p:sp>
      <p:pic>
        <p:nvPicPr>
          <p:cNvPr id="18" name="Image 2" descr="preencoded.png">    </p:cNvPr>
          <p:cNvPicPr>
            <a:picLocks noChangeAspect="1"/>
          </p:cNvPicPr>
          <p:nvPr/>
        </p:nvPicPr>
        <p:blipFill>
          <a:blip r:embed="rId3"/>
          <a:stretch>
            <a:fillRect/>
          </a:stretch>
        </p:blipFill>
        <p:spPr>
          <a:xfrm>
            <a:off x="8580425" y="1915668"/>
            <a:ext cx="329184" cy="329184"/>
          </a:xfrm>
          <a:prstGeom prst="rect">
            <a:avLst/>
          </a:prstGeom>
        </p:spPr>
      </p:pic>
      <p:sp>
        <p:nvSpPr>
          <p:cNvPr id="19" name="Text 14"/>
          <p:cNvSpPr txBox="1"/>
          <p:nvPr/>
        </p:nvSpPr>
        <p:spPr>
          <a:xfrm>
            <a:off x="9225077" y="1737360"/>
            <a:ext cx="2235098" cy="685800"/>
          </a:xfrm>
          <a:prstGeom prst="rect">
            <a:avLst/>
          </a:prstGeom>
          <a:noFill/>
          <a:ln/>
        </p:spPr>
        <p:txBody>
          <a:bodyPr wrap="square" lIns="0" tIns="0" rIns="0" bIns="0" rtlCol="0" anchor="ctr"/>
          <a:lstStyle/>
          <a:p>
            <a:pPr indent="0" marL="0">
              <a:buNone/>
            </a:pPr>
            <a:r>
              <a:rPr lang="en-US" sz="1550" b="1" dirty="0">
                <a:solidFill>
                  <a:srgbClr val="2F7A55"/>
                </a:solidFill>
                <a:latin typeface="Meiryo UI" pitchFamily="34" charset="0"/>
                <a:ea typeface="Meiryo UI" pitchFamily="34" charset="-122"/>
                <a:cs typeface="Meiryo UI" pitchFamily="34" charset="-120"/>
              </a:rPr>
              <a:t>集客プロセスへの組み込み</a:t>
            </a:r>
            <a:endParaRPr lang="en-US" sz="1550" dirty="0"/>
          </a:p>
        </p:txBody>
      </p:sp>
      <p:sp>
        <p:nvSpPr>
          <p:cNvPr id="20" name="Text 15"/>
          <p:cNvSpPr txBox="1"/>
          <p:nvPr/>
        </p:nvSpPr>
        <p:spPr>
          <a:xfrm>
            <a:off x="8402117" y="2606040"/>
            <a:ext cx="2966618" cy="868680"/>
          </a:xfrm>
          <a:prstGeom prst="rect">
            <a:avLst/>
          </a:prstGeom>
          <a:noFill/>
          <a:ln/>
        </p:spPr>
        <p:txBody>
          <a:bodyPr wrap="square" lIns="0" tIns="0" rIns="0" bIns="0" rtlCol="0" anchor="t"/>
          <a:lstStyle/>
          <a:p>
            <a:pPr indent="0" marL="0">
              <a:lnSpc>
                <a:spcPct val="110000"/>
              </a:lnSpc>
              <a:buNone/>
            </a:pPr>
            <a:r>
              <a:rPr lang="en-US" sz="1250" dirty="0">
                <a:solidFill>
                  <a:srgbClr val="2A3330"/>
                </a:solidFill>
                <a:latin typeface="Meiryo UI" pitchFamily="34" charset="0"/>
                <a:ea typeface="Meiryo UI" pitchFamily="34" charset="-122"/>
                <a:cs typeface="Meiryo UI" pitchFamily="34" charset="-120"/>
              </a:rPr>
              <a:t>講演会の前後・相談前・LINEステップ配信への動画組み込みと文面作成</a:t>
            </a:r>
            <a:endParaRPr lang="en-US" sz="1250" dirty="0"/>
          </a:p>
        </p:txBody>
      </p:sp>
      <p:sp>
        <p:nvSpPr>
          <p:cNvPr id="21" name="Shape 16"/>
          <p:cNvSpPr/>
          <p:nvPr/>
        </p:nvSpPr>
        <p:spPr>
          <a:xfrm>
            <a:off x="548640" y="3886200"/>
            <a:ext cx="3515258" cy="2148840"/>
          </a:xfrm>
          <a:prstGeom prst="roundRect">
            <a:avLst>
              <a:gd name="adj" fmla="val 51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2" name="Shape 17"/>
          <p:cNvSpPr/>
          <p:nvPr/>
        </p:nvSpPr>
        <p:spPr>
          <a:xfrm>
            <a:off x="822960" y="4160520"/>
            <a:ext cx="685800" cy="685800"/>
          </a:xfrm>
          <a:prstGeom prst="ellipse">
            <a:avLst/>
          </a:prstGeom>
          <a:solidFill>
            <a:srgbClr val="2F7A55"/>
          </a:solidFill>
          <a:ln w="12700">
            <a:solidFill>
              <a:srgbClr val="2F7A55"/>
            </a:solidFill>
            <a:prstDash val="solid"/>
          </a:ln>
        </p:spPr>
      </p:sp>
      <p:pic>
        <p:nvPicPr>
          <p:cNvPr id="23" name="Image 3" descr="preencoded.png">    </p:cNvPr>
          <p:cNvPicPr>
            <a:picLocks noChangeAspect="1"/>
          </p:cNvPicPr>
          <p:nvPr/>
        </p:nvPicPr>
        <p:blipFill>
          <a:blip r:embed="rId4"/>
          <a:stretch>
            <a:fillRect/>
          </a:stretch>
        </p:blipFill>
        <p:spPr>
          <a:xfrm>
            <a:off x="1001268" y="4338828"/>
            <a:ext cx="329184" cy="329184"/>
          </a:xfrm>
          <a:prstGeom prst="rect">
            <a:avLst/>
          </a:prstGeom>
        </p:spPr>
      </p:pic>
      <p:sp>
        <p:nvSpPr>
          <p:cNvPr id="24" name="Text 18"/>
          <p:cNvSpPr txBox="1"/>
          <p:nvPr/>
        </p:nvSpPr>
        <p:spPr>
          <a:xfrm>
            <a:off x="1645920" y="4160520"/>
            <a:ext cx="2235098" cy="685800"/>
          </a:xfrm>
          <a:prstGeom prst="rect">
            <a:avLst/>
          </a:prstGeom>
          <a:noFill/>
          <a:ln/>
        </p:spPr>
        <p:txBody>
          <a:bodyPr wrap="square" lIns="0" tIns="0" rIns="0" bIns="0" rtlCol="0" anchor="ctr"/>
          <a:lstStyle/>
          <a:p>
            <a:pPr indent="0" marL="0">
              <a:buNone/>
            </a:pPr>
            <a:r>
              <a:rPr lang="en-US" sz="1550" b="1" dirty="0">
                <a:solidFill>
                  <a:srgbClr val="2F7A55"/>
                </a:solidFill>
                <a:latin typeface="Meiryo UI" pitchFamily="34" charset="0"/>
                <a:ea typeface="Meiryo UI" pitchFamily="34" charset="-122"/>
                <a:cs typeface="Meiryo UI" pitchFamily="34" charset="-120"/>
              </a:rPr>
              <a:t>分析・改善</a:t>
            </a:r>
            <a:endParaRPr lang="en-US" sz="1550" dirty="0"/>
          </a:p>
        </p:txBody>
      </p:sp>
      <p:sp>
        <p:nvSpPr>
          <p:cNvPr id="25" name="Text 19"/>
          <p:cNvSpPr txBox="1"/>
          <p:nvPr/>
        </p:nvSpPr>
        <p:spPr>
          <a:xfrm>
            <a:off x="822960" y="5029200"/>
            <a:ext cx="2966618" cy="868680"/>
          </a:xfrm>
          <a:prstGeom prst="rect">
            <a:avLst/>
          </a:prstGeom>
          <a:noFill/>
          <a:ln/>
        </p:spPr>
        <p:txBody>
          <a:bodyPr wrap="square" lIns="0" tIns="0" rIns="0" bIns="0" rtlCol="0" anchor="t"/>
          <a:lstStyle/>
          <a:p>
            <a:pPr indent="0" marL="0">
              <a:lnSpc>
                <a:spcPct val="110000"/>
              </a:lnSpc>
              <a:buNone/>
            </a:pPr>
            <a:r>
              <a:rPr lang="en-US" sz="1250" dirty="0">
                <a:solidFill>
                  <a:srgbClr val="2A3330"/>
                </a:solidFill>
                <a:latin typeface="Meiryo UI" pitchFamily="34" charset="0"/>
                <a:ea typeface="Meiryo UI" pitchFamily="34" charset="-122"/>
                <a:cs typeface="Meiryo UI" pitchFamily="34" charset="-120"/>
              </a:rPr>
              <a:t>月次レポート（視聴・LINE登録・相談・入会の経路分析）とA/Bテスト</a:t>
            </a:r>
            <a:endParaRPr lang="en-US" sz="1250" dirty="0"/>
          </a:p>
        </p:txBody>
      </p:sp>
      <p:sp>
        <p:nvSpPr>
          <p:cNvPr id="26" name="Shape 20"/>
          <p:cNvSpPr/>
          <p:nvPr/>
        </p:nvSpPr>
        <p:spPr>
          <a:xfrm>
            <a:off x="4338218" y="3886200"/>
            <a:ext cx="3515258" cy="2148840"/>
          </a:xfrm>
          <a:prstGeom prst="roundRect">
            <a:avLst>
              <a:gd name="adj" fmla="val 51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7" name="Shape 21"/>
          <p:cNvSpPr/>
          <p:nvPr/>
        </p:nvSpPr>
        <p:spPr>
          <a:xfrm>
            <a:off x="4612538" y="4160520"/>
            <a:ext cx="685800" cy="685800"/>
          </a:xfrm>
          <a:prstGeom prst="ellipse">
            <a:avLst/>
          </a:prstGeom>
          <a:solidFill>
            <a:srgbClr val="2F7A55"/>
          </a:solidFill>
          <a:ln w="12700">
            <a:solidFill>
              <a:srgbClr val="2F7A55"/>
            </a:solidFill>
            <a:prstDash val="solid"/>
          </a:ln>
        </p:spPr>
      </p:sp>
      <p:pic>
        <p:nvPicPr>
          <p:cNvPr id="28" name="Image 4" descr="preencoded.png">    </p:cNvPr>
          <p:cNvPicPr>
            <a:picLocks noChangeAspect="1"/>
          </p:cNvPicPr>
          <p:nvPr/>
        </p:nvPicPr>
        <p:blipFill>
          <a:blip r:embed="rId5"/>
          <a:stretch>
            <a:fillRect/>
          </a:stretch>
        </p:blipFill>
        <p:spPr>
          <a:xfrm>
            <a:off x="4790846" y="4338828"/>
            <a:ext cx="329184" cy="329184"/>
          </a:xfrm>
          <a:prstGeom prst="rect">
            <a:avLst/>
          </a:prstGeom>
        </p:spPr>
      </p:pic>
      <p:sp>
        <p:nvSpPr>
          <p:cNvPr id="29" name="Text 22"/>
          <p:cNvSpPr txBox="1"/>
          <p:nvPr/>
        </p:nvSpPr>
        <p:spPr>
          <a:xfrm>
            <a:off x="5435498" y="4160520"/>
            <a:ext cx="2235098" cy="685800"/>
          </a:xfrm>
          <a:prstGeom prst="rect">
            <a:avLst/>
          </a:prstGeom>
          <a:noFill/>
          <a:ln/>
        </p:spPr>
        <p:txBody>
          <a:bodyPr wrap="square" lIns="0" tIns="0" rIns="0" bIns="0" rtlCol="0" anchor="ctr"/>
          <a:lstStyle/>
          <a:p>
            <a:pPr indent="0" marL="0">
              <a:buNone/>
            </a:pPr>
            <a:r>
              <a:rPr lang="en-US" sz="1550" b="1" dirty="0">
                <a:solidFill>
                  <a:srgbClr val="2F7A55"/>
                </a:solidFill>
                <a:latin typeface="Meiryo UI" pitchFamily="34" charset="0"/>
                <a:ea typeface="Meiryo UI" pitchFamily="34" charset="-122"/>
                <a:cs typeface="Meiryo UI" pitchFamily="34" charset="-120"/>
              </a:rPr>
              <a:t>子育て講座のローンチ支援</a:t>
            </a:r>
            <a:endParaRPr lang="en-US" sz="1550" dirty="0"/>
          </a:p>
        </p:txBody>
      </p:sp>
      <p:sp>
        <p:nvSpPr>
          <p:cNvPr id="30" name="Text 23"/>
          <p:cNvSpPr txBox="1"/>
          <p:nvPr/>
        </p:nvSpPr>
        <p:spPr>
          <a:xfrm>
            <a:off x="4612538" y="5029200"/>
            <a:ext cx="2966618" cy="868680"/>
          </a:xfrm>
          <a:prstGeom prst="rect">
            <a:avLst/>
          </a:prstGeom>
          <a:noFill/>
          <a:ln/>
        </p:spPr>
        <p:txBody>
          <a:bodyPr wrap="square" lIns="0" tIns="0" rIns="0" bIns="0" rtlCol="0" anchor="t"/>
          <a:lstStyle/>
          <a:p>
            <a:pPr indent="0" marL="0">
              <a:lnSpc>
                <a:spcPct val="110000"/>
              </a:lnSpc>
              <a:buNone/>
            </a:pPr>
            <a:r>
              <a:rPr lang="en-US" sz="1250" dirty="0">
                <a:solidFill>
                  <a:srgbClr val="2A3330"/>
                </a:solidFill>
                <a:latin typeface="Meiryo UI" pitchFamily="34" charset="0"/>
                <a:ea typeface="Meiryo UI" pitchFamily="34" charset="-122"/>
                <a:cs typeface="Meiryo UI" pitchFamily="34" charset="-120"/>
              </a:rPr>
              <a:t>講座の告知動画・説明動画・LINE配信で、年内リリースの集客を後押し</a:t>
            </a:r>
            <a:endParaRPr lang="en-US" sz="1250" dirty="0"/>
          </a:p>
        </p:txBody>
      </p:sp>
      <p:sp>
        <p:nvSpPr>
          <p:cNvPr id="31" name="Shape 24"/>
          <p:cNvSpPr/>
          <p:nvPr/>
        </p:nvSpPr>
        <p:spPr>
          <a:xfrm>
            <a:off x="8127797" y="3886200"/>
            <a:ext cx="3515258" cy="2148840"/>
          </a:xfrm>
          <a:prstGeom prst="roundRect">
            <a:avLst>
              <a:gd name="adj" fmla="val 51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2" name="Shape 25"/>
          <p:cNvSpPr/>
          <p:nvPr/>
        </p:nvSpPr>
        <p:spPr>
          <a:xfrm>
            <a:off x="8402117" y="4160520"/>
            <a:ext cx="685800" cy="685800"/>
          </a:xfrm>
          <a:prstGeom prst="ellipse">
            <a:avLst/>
          </a:prstGeom>
          <a:solidFill>
            <a:srgbClr val="2F7A55"/>
          </a:solidFill>
          <a:ln w="12700">
            <a:solidFill>
              <a:srgbClr val="2F7A55"/>
            </a:solidFill>
            <a:prstDash val="solid"/>
          </a:ln>
        </p:spPr>
      </p:sp>
      <p:pic>
        <p:nvPicPr>
          <p:cNvPr id="33" name="Image 5" descr="preencoded.png">    </p:cNvPr>
          <p:cNvPicPr>
            <a:picLocks noChangeAspect="1"/>
          </p:cNvPicPr>
          <p:nvPr/>
        </p:nvPicPr>
        <p:blipFill>
          <a:blip r:embed="rId6"/>
          <a:stretch>
            <a:fillRect/>
          </a:stretch>
        </p:blipFill>
        <p:spPr>
          <a:xfrm>
            <a:off x="8580425" y="4338828"/>
            <a:ext cx="329184" cy="329184"/>
          </a:xfrm>
          <a:prstGeom prst="rect">
            <a:avLst/>
          </a:prstGeom>
        </p:spPr>
      </p:pic>
      <p:sp>
        <p:nvSpPr>
          <p:cNvPr id="34" name="Text 26"/>
          <p:cNvSpPr txBox="1"/>
          <p:nvPr/>
        </p:nvSpPr>
        <p:spPr>
          <a:xfrm>
            <a:off x="9225077" y="4160520"/>
            <a:ext cx="2235098" cy="685800"/>
          </a:xfrm>
          <a:prstGeom prst="rect">
            <a:avLst/>
          </a:prstGeom>
          <a:noFill/>
          <a:ln/>
        </p:spPr>
        <p:txBody>
          <a:bodyPr wrap="square" lIns="0" tIns="0" rIns="0" bIns="0" rtlCol="0" anchor="ctr"/>
          <a:lstStyle/>
          <a:p>
            <a:pPr indent="0" marL="0">
              <a:buNone/>
            </a:pPr>
            <a:r>
              <a:rPr lang="en-US" sz="1550" b="1" dirty="0">
                <a:solidFill>
                  <a:srgbClr val="2F7A55"/>
                </a:solidFill>
                <a:latin typeface="Meiryo UI" pitchFamily="34" charset="0"/>
                <a:ea typeface="Meiryo UI" pitchFamily="34" charset="-122"/>
                <a:cs typeface="Meiryo UI" pitchFamily="34" charset="-120"/>
              </a:rPr>
              <a:t>定例ミーティング</a:t>
            </a:r>
            <a:endParaRPr lang="en-US" sz="1550" dirty="0"/>
          </a:p>
        </p:txBody>
      </p:sp>
      <p:sp>
        <p:nvSpPr>
          <p:cNvPr id="35" name="Text 27"/>
          <p:cNvSpPr txBox="1"/>
          <p:nvPr/>
        </p:nvSpPr>
        <p:spPr>
          <a:xfrm>
            <a:off x="8402117" y="5029200"/>
            <a:ext cx="2966618" cy="868680"/>
          </a:xfrm>
          <a:prstGeom prst="rect">
            <a:avLst/>
          </a:prstGeom>
          <a:noFill/>
          <a:ln/>
        </p:spPr>
        <p:txBody>
          <a:bodyPr wrap="square" lIns="0" tIns="0" rIns="0" bIns="0" rtlCol="0" anchor="t"/>
          <a:lstStyle/>
          <a:p>
            <a:pPr indent="0" marL="0">
              <a:lnSpc>
                <a:spcPct val="110000"/>
              </a:lnSpc>
              <a:buNone/>
            </a:pPr>
            <a:r>
              <a:rPr lang="en-US" sz="1250" dirty="0">
                <a:solidFill>
                  <a:srgbClr val="2A3330"/>
                </a:solidFill>
                <a:latin typeface="Meiryo UI" pitchFamily="34" charset="0"/>
                <a:ea typeface="Meiryo UI" pitchFamily="34" charset="-122"/>
                <a:cs typeface="Meiryo UI" pitchFamily="34" charset="-120"/>
              </a:rPr>
              <a:t>月1回の定例で成果を確認し、翌月の施策を決定</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8614F"/>
                </a:solidFill>
                <a:latin typeface="Meiryo UI" pitchFamily="34" charset="0"/>
                <a:ea typeface="Meiryo UI" pitchFamily="34" charset="-122"/>
                <a:cs typeface="Meiryo UI" pitchFamily="34" charset="-120"/>
              </a:rPr>
              <a:t>06｜PHASE 2</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2F7A55"/>
                </a:solidFill>
                <a:latin typeface="Meiryo UI" pitchFamily="34" charset="0"/>
                <a:ea typeface="Meiryo UI" pitchFamily="34" charset="-122"/>
                <a:cs typeface="Meiryo UI" pitchFamily="34" charset="-120"/>
              </a:rPr>
              <a:t>12ヶ月の伴走ロードマップ</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0"/>
                </a:solidFill>
                <a:latin typeface="Meiryo UI" pitchFamily="34" charset="0"/>
                <a:ea typeface="Meiryo UI" pitchFamily="34" charset="-122"/>
                <a:cs typeface="Meiryo UI" pitchFamily="34" charset="-120"/>
              </a:rPr>
              <a:t>20</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0"/>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463040"/>
            <a:ext cx="2919908" cy="914400"/>
          </a:xfrm>
          <a:prstGeom prst="homePlate">
            <a:avLst/>
          </a:prstGeom>
          <a:solidFill>
            <a:srgbClr val="D8614F"/>
          </a:solidFill>
          <a:ln w="12700">
            <a:solidFill>
              <a:srgbClr val="D8614F"/>
            </a:solidFill>
            <a:prstDash val="solid"/>
          </a:ln>
        </p:spPr>
      </p:sp>
      <p:sp>
        <p:nvSpPr>
          <p:cNvPr id="7" name="Text 5"/>
          <p:cNvSpPr txBox="1"/>
          <p:nvPr/>
        </p:nvSpPr>
        <p:spPr>
          <a:xfrm>
            <a:off x="868680" y="1508760"/>
            <a:ext cx="2234108" cy="365760"/>
          </a:xfrm>
          <a:prstGeom prst="rect">
            <a:avLst/>
          </a:prstGeom>
          <a:noFill/>
          <a:ln/>
        </p:spPr>
        <p:txBody>
          <a:bodyPr wrap="square" lIns="0" tIns="0" rIns="0" bIns="0" rtlCol="0" anchor="t"/>
          <a:lstStyle/>
          <a:p>
            <a:pPr algn="ctr" indent="0" marL="0">
              <a:buNone/>
            </a:pPr>
            <a:r>
              <a:rPr lang="en-US" sz="1200" b="1" dirty="0">
                <a:solidFill>
                  <a:srgbClr val="FFFFFF"/>
                </a:solidFill>
                <a:latin typeface="Meiryo UI" pitchFamily="34" charset="0"/>
                <a:ea typeface="Meiryo UI" pitchFamily="34" charset="-122"/>
                <a:cs typeface="Meiryo UI" pitchFamily="34" charset="-120"/>
              </a:rPr>
              <a:t>1〜1.5ヶ月目</a:t>
            </a:r>
            <a:endParaRPr lang="en-US" sz="1200" dirty="0"/>
          </a:p>
        </p:txBody>
      </p:sp>
      <p:sp>
        <p:nvSpPr>
          <p:cNvPr id="8" name="Text 6"/>
          <p:cNvSpPr txBox="1"/>
          <p:nvPr/>
        </p:nvSpPr>
        <p:spPr>
          <a:xfrm>
            <a:off x="868680" y="1847088"/>
            <a:ext cx="2234108" cy="411480"/>
          </a:xfrm>
          <a:prstGeom prst="rect">
            <a:avLst/>
          </a:prstGeom>
          <a:noFill/>
          <a:ln/>
        </p:spPr>
        <p:txBody>
          <a:bodyPr wrap="square" lIns="0" tIns="0" rIns="0" bIns="0" rtlCol="0" anchor="t"/>
          <a:lstStyle/>
          <a:p>
            <a:pPr algn="ctr" indent="0" marL="0">
              <a:buNone/>
            </a:pPr>
            <a:r>
              <a:rPr lang="en-US" sz="1500" b="1" dirty="0">
                <a:solidFill>
                  <a:srgbClr val="FFFFFF"/>
                </a:solidFill>
                <a:latin typeface="Meiryo UI" pitchFamily="34" charset="0"/>
                <a:ea typeface="Meiryo UI" pitchFamily="34" charset="-122"/>
                <a:cs typeface="Meiryo UI" pitchFamily="34" charset="-120"/>
              </a:rPr>
              <a:t>助走期（フェーズ1）</a:t>
            </a:r>
            <a:endParaRPr lang="en-US" sz="1500" dirty="0"/>
          </a:p>
        </p:txBody>
      </p:sp>
      <p:sp>
        <p:nvSpPr>
          <p:cNvPr id="9" name="Shape 7"/>
          <p:cNvSpPr/>
          <p:nvPr/>
        </p:nvSpPr>
        <p:spPr>
          <a:xfrm>
            <a:off x="548640" y="2651760"/>
            <a:ext cx="2691308" cy="2148840"/>
          </a:xfrm>
          <a:prstGeom prst="roundRect">
            <a:avLst>
              <a:gd name="adj" fmla="val 5106"/>
            </a:avLst>
          </a:prstGeom>
          <a:solidFill>
            <a:srgbClr val="F5F9F6"/>
          </a:solidFill>
          <a:ln w="12700">
            <a:solidFill>
              <a:srgbClr val="F5F9F6"/>
            </a:solidFill>
            <a:prstDash val="solid"/>
          </a:ln>
        </p:spPr>
      </p:sp>
      <p:sp>
        <p:nvSpPr>
          <p:cNvPr id="10" name="Text 8"/>
          <p:cNvSpPr txBox="1"/>
          <p:nvPr/>
        </p:nvSpPr>
        <p:spPr>
          <a:xfrm>
            <a:off x="777240" y="2761488"/>
            <a:ext cx="2234108" cy="274320"/>
          </a:xfrm>
          <a:prstGeom prst="rect">
            <a:avLst/>
          </a:prstGeom>
          <a:noFill/>
          <a:ln/>
        </p:spPr>
        <p:txBody>
          <a:bodyPr wrap="square" lIns="0" tIns="0" rIns="0" bIns="0" rtlCol="0" anchor="t"/>
          <a:lstStyle/>
          <a:p>
            <a:pPr indent="0" marL="0">
              <a:buNone/>
            </a:pPr>
            <a:r>
              <a:rPr lang="en-US" sz="1050" b="1" dirty="0">
                <a:solidFill>
                  <a:srgbClr val="66786F"/>
                </a:solidFill>
                <a:latin typeface="Meiryo UI" pitchFamily="34" charset="0"/>
                <a:ea typeface="Meiryo UI" pitchFamily="34" charset="-122"/>
                <a:cs typeface="Meiryo UI" pitchFamily="34" charset="-120"/>
              </a:rPr>
              <a:t>主な実施内容</a:t>
            </a:r>
            <a:endParaRPr lang="en-US" sz="1050" dirty="0"/>
          </a:p>
        </p:txBody>
      </p:sp>
      <p:sp>
        <p:nvSpPr>
          <p:cNvPr id="11" name="Text 9"/>
          <p:cNvSpPr txBox="1"/>
          <p:nvPr/>
        </p:nvSpPr>
        <p:spPr>
          <a:xfrm>
            <a:off x="777240" y="3063240"/>
            <a:ext cx="2325548" cy="16459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A3330"/>
                </a:solidFill>
                <a:latin typeface="Meiryo UI" pitchFamily="34" charset="0"/>
                <a:ea typeface="Meiryo UI" pitchFamily="34" charset="-122"/>
                <a:cs typeface="Meiryo UI" pitchFamily="34" charset="-120"/>
              </a:rPr>
              <a:t>無料3本の制作・配信</a:t>
            </a:r>
            <a:endParaRPr lang="en-US" sz="1200" dirty="0"/>
          </a:p>
          <a:p>
            <a:pPr marL="342900" indent="-342900">
              <a:spcAft>
                <a:spcPts val="500"/>
              </a:spcAft>
              <a:buSzPct val="100000"/>
              <a:buChar char="•"/>
            </a:pPr>
            <a:r>
              <a:rPr lang="en-US" sz="1200" dirty="0">
                <a:solidFill>
                  <a:srgbClr val="2A3330"/>
                </a:solidFill>
                <a:latin typeface="Meiryo UI" pitchFamily="34" charset="0"/>
                <a:ea typeface="Meiryo UI" pitchFamily="34" charset="-122"/>
                <a:cs typeface="Meiryo UI" pitchFamily="34" charset="-120"/>
              </a:rPr>
              <a:t>効果検証</a:t>
            </a:r>
            <a:endParaRPr lang="en-US" sz="1200" dirty="0"/>
          </a:p>
        </p:txBody>
      </p:sp>
      <p:sp>
        <p:nvSpPr>
          <p:cNvPr id="12" name="Shape 10"/>
          <p:cNvSpPr/>
          <p:nvPr/>
        </p:nvSpPr>
        <p:spPr>
          <a:xfrm>
            <a:off x="548640" y="4983480"/>
            <a:ext cx="2691308" cy="1234440"/>
          </a:xfrm>
          <a:prstGeom prst="roundRect">
            <a:avLst>
              <a:gd name="adj" fmla="val 8889"/>
            </a:avLst>
          </a:prstGeom>
          <a:solidFill>
            <a:srgbClr val="EAF4EE"/>
          </a:solidFill>
          <a:ln w="12700">
            <a:solidFill>
              <a:srgbClr val="EAF4EE"/>
            </a:solidFill>
            <a:prstDash val="solid"/>
          </a:ln>
        </p:spPr>
      </p:sp>
      <p:sp>
        <p:nvSpPr>
          <p:cNvPr id="13" name="Text 11"/>
          <p:cNvSpPr txBox="1"/>
          <p:nvPr/>
        </p:nvSpPr>
        <p:spPr>
          <a:xfrm>
            <a:off x="777240" y="5074920"/>
            <a:ext cx="2234108" cy="274320"/>
          </a:xfrm>
          <a:prstGeom prst="rect">
            <a:avLst/>
          </a:prstGeom>
          <a:noFill/>
          <a:ln/>
        </p:spPr>
        <p:txBody>
          <a:bodyPr wrap="square" lIns="0" tIns="0" rIns="0" bIns="0" rtlCol="0" anchor="t"/>
          <a:lstStyle/>
          <a:p>
            <a:pPr indent="0" marL="0">
              <a:buNone/>
            </a:pPr>
            <a:r>
              <a:rPr lang="en-US" sz="1050" b="1" dirty="0">
                <a:solidFill>
                  <a:srgbClr val="D8614F"/>
                </a:solidFill>
                <a:latin typeface="Meiryo UI" pitchFamily="34" charset="0"/>
                <a:ea typeface="Meiryo UI" pitchFamily="34" charset="-122"/>
                <a:cs typeface="Meiryo UI" pitchFamily="34" charset="-120"/>
              </a:rPr>
              <a:t>到達目標</a:t>
            </a:r>
            <a:endParaRPr lang="en-US" sz="1050" dirty="0"/>
          </a:p>
        </p:txBody>
      </p:sp>
      <p:sp>
        <p:nvSpPr>
          <p:cNvPr id="14" name="Text 12"/>
          <p:cNvSpPr txBox="1"/>
          <p:nvPr/>
        </p:nvSpPr>
        <p:spPr>
          <a:xfrm>
            <a:off x="777240" y="5349240"/>
            <a:ext cx="2234108" cy="777240"/>
          </a:xfrm>
          <a:prstGeom prst="rect">
            <a:avLst/>
          </a:prstGeom>
          <a:noFill/>
          <a:ln/>
        </p:spPr>
        <p:txBody>
          <a:bodyPr wrap="square" lIns="0" tIns="0" rIns="0" bIns="0" rtlCol="0" anchor="t"/>
          <a:lstStyle/>
          <a:p>
            <a:pPr indent="0" marL="0">
              <a:buNone/>
            </a:pPr>
            <a:r>
              <a:rPr lang="en-US" sz="1250" b="1" dirty="0">
                <a:solidFill>
                  <a:srgbClr val="1D4A35"/>
                </a:solidFill>
                <a:latin typeface="Meiryo UI" pitchFamily="34" charset="0"/>
                <a:ea typeface="Meiryo UI" pitchFamily="34" charset="-122"/>
                <a:cs typeface="Meiryo UI" pitchFamily="34" charset="-120"/>
              </a:rPr>
              <a:t>「勝ちパターン」の仮説特定</a:t>
            </a:r>
            <a:endParaRPr lang="en-US" sz="1250" dirty="0"/>
          </a:p>
        </p:txBody>
      </p:sp>
      <p:sp>
        <p:nvSpPr>
          <p:cNvPr id="15" name="Shape 13"/>
          <p:cNvSpPr/>
          <p:nvPr/>
        </p:nvSpPr>
        <p:spPr>
          <a:xfrm>
            <a:off x="3349676" y="1463040"/>
            <a:ext cx="2919908" cy="914400"/>
          </a:xfrm>
          <a:prstGeom prst="chevron">
            <a:avLst/>
          </a:prstGeom>
          <a:solidFill>
            <a:srgbClr val="2F7A55">
              <a:alpha val="80000"/>
            </a:srgbClr>
          </a:solidFill>
          <a:ln w="12700">
            <a:solidFill>
              <a:srgbClr val="2F7A55"/>
            </a:solidFill>
            <a:prstDash val="solid"/>
          </a:ln>
        </p:spPr>
      </p:sp>
      <p:sp>
        <p:nvSpPr>
          <p:cNvPr id="16" name="Text 14"/>
          <p:cNvSpPr txBox="1"/>
          <p:nvPr/>
        </p:nvSpPr>
        <p:spPr>
          <a:xfrm>
            <a:off x="3669716" y="1508760"/>
            <a:ext cx="2234108" cy="365760"/>
          </a:xfrm>
          <a:prstGeom prst="rect">
            <a:avLst/>
          </a:prstGeom>
          <a:noFill/>
          <a:ln/>
        </p:spPr>
        <p:txBody>
          <a:bodyPr wrap="square" lIns="0" tIns="0" rIns="0" bIns="0" rtlCol="0" anchor="t"/>
          <a:lstStyle/>
          <a:p>
            <a:pPr algn="ctr" indent="0" marL="0">
              <a:buNone/>
            </a:pPr>
            <a:r>
              <a:rPr lang="en-US" sz="1200" b="1" dirty="0">
                <a:solidFill>
                  <a:srgbClr val="FFFFFF"/>
                </a:solidFill>
                <a:latin typeface="Meiryo UI" pitchFamily="34" charset="0"/>
                <a:ea typeface="Meiryo UI" pitchFamily="34" charset="-122"/>
                <a:cs typeface="Meiryo UI" pitchFamily="34" charset="-120"/>
              </a:rPr>
              <a:t>2〜3ヶ月目</a:t>
            </a:r>
            <a:endParaRPr lang="en-US" sz="1200" dirty="0"/>
          </a:p>
        </p:txBody>
      </p:sp>
      <p:sp>
        <p:nvSpPr>
          <p:cNvPr id="17" name="Text 15"/>
          <p:cNvSpPr txBox="1"/>
          <p:nvPr/>
        </p:nvSpPr>
        <p:spPr>
          <a:xfrm>
            <a:off x="3669716" y="1847088"/>
            <a:ext cx="2234108" cy="411480"/>
          </a:xfrm>
          <a:prstGeom prst="rect">
            <a:avLst/>
          </a:prstGeom>
          <a:noFill/>
          <a:ln/>
        </p:spPr>
        <p:txBody>
          <a:bodyPr wrap="square" lIns="0" tIns="0" rIns="0" bIns="0" rtlCol="0" anchor="t"/>
          <a:lstStyle/>
          <a:p>
            <a:pPr algn="ctr" indent="0" marL="0">
              <a:buNone/>
            </a:pPr>
            <a:r>
              <a:rPr lang="en-US" sz="1500" b="1" dirty="0">
                <a:solidFill>
                  <a:srgbClr val="FFFFFF"/>
                </a:solidFill>
                <a:latin typeface="Meiryo UI" pitchFamily="34" charset="0"/>
                <a:ea typeface="Meiryo UI" pitchFamily="34" charset="-122"/>
                <a:cs typeface="Meiryo UI" pitchFamily="34" charset="-120"/>
              </a:rPr>
              <a:t>立ち上げ期</a:t>
            </a:r>
            <a:endParaRPr lang="en-US" sz="1500" dirty="0"/>
          </a:p>
        </p:txBody>
      </p:sp>
      <p:sp>
        <p:nvSpPr>
          <p:cNvPr id="18" name="Shape 16"/>
          <p:cNvSpPr/>
          <p:nvPr/>
        </p:nvSpPr>
        <p:spPr>
          <a:xfrm>
            <a:off x="3349676" y="2651760"/>
            <a:ext cx="2691308" cy="2148840"/>
          </a:xfrm>
          <a:prstGeom prst="roundRect">
            <a:avLst>
              <a:gd name="adj" fmla="val 5106"/>
            </a:avLst>
          </a:prstGeom>
          <a:solidFill>
            <a:srgbClr val="F5F9F6"/>
          </a:solidFill>
          <a:ln w="12700">
            <a:solidFill>
              <a:srgbClr val="F5F9F6"/>
            </a:solidFill>
            <a:prstDash val="solid"/>
          </a:ln>
        </p:spPr>
      </p:sp>
      <p:sp>
        <p:nvSpPr>
          <p:cNvPr id="19" name="Text 17"/>
          <p:cNvSpPr txBox="1"/>
          <p:nvPr/>
        </p:nvSpPr>
        <p:spPr>
          <a:xfrm>
            <a:off x="3578276" y="2761488"/>
            <a:ext cx="2234108" cy="274320"/>
          </a:xfrm>
          <a:prstGeom prst="rect">
            <a:avLst/>
          </a:prstGeom>
          <a:noFill/>
          <a:ln/>
        </p:spPr>
        <p:txBody>
          <a:bodyPr wrap="square" lIns="0" tIns="0" rIns="0" bIns="0" rtlCol="0" anchor="t"/>
          <a:lstStyle/>
          <a:p>
            <a:pPr indent="0" marL="0">
              <a:buNone/>
            </a:pPr>
            <a:r>
              <a:rPr lang="en-US" sz="1050" b="1" dirty="0">
                <a:solidFill>
                  <a:srgbClr val="66786F"/>
                </a:solidFill>
                <a:latin typeface="Meiryo UI" pitchFamily="34" charset="0"/>
                <a:ea typeface="Meiryo UI" pitchFamily="34" charset="-122"/>
                <a:cs typeface="Meiryo UI" pitchFamily="34" charset="-120"/>
              </a:rPr>
              <a:t>主な実施内容</a:t>
            </a:r>
            <a:endParaRPr lang="en-US" sz="1050" dirty="0"/>
          </a:p>
        </p:txBody>
      </p:sp>
      <p:sp>
        <p:nvSpPr>
          <p:cNvPr id="20" name="Text 18"/>
          <p:cNvSpPr txBox="1"/>
          <p:nvPr/>
        </p:nvSpPr>
        <p:spPr>
          <a:xfrm>
            <a:off x="3578276" y="3063240"/>
            <a:ext cx="2325548" cy="16459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A3330"/>
                </a:solidFill>
                <a:latin typeface="Meiryo UI" pitchFamily="34" charset="0"/>
                <a:ea typeface="Meiryo UI" pitchFamily="34" charset="-122"/>
                <a:cs typeface="Meiryo UI" pitchFamily="34" charset="-120"/>
              </a:rPr>
              <a:t>勝ちパターンの横展開</a:t>
            </a:r>
            <a:endParaRPr lang="en-US" sz="1200" dirty="0"/>
          </a:p>
          <a:p>
            <a:pPr marL="342900" indent="-342900">
              <a:spcAft>
                <a:spcPts val="500"/>
              </a:spcAft>
              <a:buSzPct val="100000"/>
              <a:buChar char="•"/>
            </a:pPr>
            <a:r>
              <a:rPr lang="en-US" sz="1200" dirty="0">
                <a:solidFill>
                  <a:srgbClr val="2A3330"/>
                </a:solidFill>
                <a:latin typeface="Meiryo UI" pitchFamily="34" charset="0"/>
                <a:ea typeface="Meiryo UI" pitchFamily="34" charset="-122"/>
                <a:cs typeface="Meiryo UI" pitchFamily="34" charset="-120"/>
              </a:rPr>
              <a:t>講演後・相談前の送付を型化</a:t>
            </a:r>
            <a:endParaRPr lang="en-US" sz="1200" dirty="0"/>
          </a:p>
          <a:p>
            <a:pPr marL="342900" indent="-342900">
              <a:spcAft>
                <a:spcPts val="500"/>
              </a:spcAft>
              <a:buSzPct val="100000"/>
              <a:buChar char="•"/>
            </a:pPr>
            <a:r>
              <a:rPr lang="en-US" sz="1200" dirty="0">
                <a:solidFill>
                  <a:srgbClr val="2A3330"/>
                </a:solidFill>
                <a:latin typeface="Meiryo UI" pitchFamily="34" charset="0"/>
                <a:ea typeface="Meiryo UI" pitchFamily="34" charset="-122"/>
                <a:cs typeface="Meiryo UI" pitchFamily="34" charset="-120"/>
              </a:rPr>
              <a:t>在宅スタッフのSNS運用開始</a:t>
            </a:r>
            <a:endParaRPr lang="en-US" sz="1200" dirty="0"/>
          </a:p>
        </p:txBody>
      </p:sp>
      <p:sp>
        <p:nvSpPr>
          <p:cNvPr id="21" name="Shape 19"/>
          <p:cNvSpPr/>
          <p:nvPr/>
        </p:nvSpPr>
        <p:spPr>
          <a:xfrm>
            <a:off x="3349676" y="4983480"/>
            <a:ext cx="2691308" cy="1234440"/>
          </a:xfrm>
          <a:prstGeom prst="roundRect">
            <a:avLst>
              <a:gd name="adj" fmla="val 8889"/>
            </a:avLst>
          </a:prstGeom>
          <a:solidFill>
            <a:srgbClr val="EAF4EE"/>
          </a:solidFill>
          <a:ln w="12700">
            <a:solidFill>
              <a:srgbClr val="EAF4EE"/>
            </a:solidFill>
            <a:prstDash val="solid"/>
          </a:ln>
        </p:spPr>
      </p:sp>
      <p:sp>
        <p:nvSpPr>
          <p:cNvPr id="22" name="Text 20"/>
          <p:cNvSpPr txBox="1"/>
          <p:nvPr/>
        </p:nvSpPr>
        <p:spPr>
          <a:xfrm>
            <a:off x="3578276" y="5074920"/>
            <a:ext cx="2234108" cy="274320"/>
          </a:xfrm>
          <a:prstGeom prst="rect">
            <a:avLst/>
          </a:prstGeom>
          <a:noFill/>
          <a:ln/>
        </p:spPr>
        <p:txBody>
          <a:bodyPr wrap="square" lIns="0" tIns="0" rIns="0" bIns="0" rtlCol="0" anchor="t"/>
          <a:lstStyle/>
          <a:p>
            <a:pPr indent="0" marL="0">
              <a:buNone/>
            </a:pPr>
            <a:r>
              <a:rPr lang="en-US" sz="1050" b="1" dirty="0">
                <a:solidFill>
                  <a:srgbClr val="D8614F"/>
                </a:solidFill>
                <a:latin typeface="Meiryo UI" pitchFamily="34" charset="0"/>
                <a:ea typeface="Meiryo UI" pitchFamily="34" charset="-122"/>
                <a:cs typeface="Meiryo UI" pitchFamily="34" charset="-120"/>
              </a:rPr>
              <a:t>到達目標</a:t>
            </a:r>
            <a:endParaRPr lang="en-US" sz="1050" dirty="0"/>
          </a:p>
        </p:txBody>
      </p:sp>
      <p:sp>
        <p:nvSpPr>
          <p:cNvPr id="23" name="Text 21"/>
          <p:cNvSpPr txBox="1"/>
          <p:nvPr/>
        </p:nvSpPr>
        <p:spPr>
          <a:xfrm>
            <a:off x="3578276" y="5349240"/>
            <a:ext cx="2234108" cy="777240"/>
          </a:xfrm>
          <a:prstGeom prst="rect">
            <a:avLst/>
          </a:prstGeom>
          <a:noFill/>
          <a:ln/>
        </p:spPr>
        <p:txBody>
          <a:bodyPr wrap="square" lIns="0" tIns="0" rIns="0" bIns="0" rtlCol="0" anchor="t"/>
          <a:lstStyle/>
          <a:p>
            <a:pPr indent="0" marL="0">
              <a:buNone/>
            </a:pPr>
            <a:r>
              <a:rPr lang="en-US" sz="1250" b="1" dirty="0">
                <a:solidFill>
                  <a:srgbClr val="1D4A35"/>
                </a:solidFill>
                <a:latin typeface="Meiryo UI" pitchFamily="34" charset="0"/>
                <a:ea typeface="Meiryo UI" pitchFamily="34" charset="-122"/>
                <a:cs typeface="Meiryo UI" pitchFamily="34" charset="-120"/>
              </a:rPr>
              <a:t>講演会から相談までの導線が仕組み化</a:t>
            </a:r>
            <a:endParaRPr lang="en-US" sz="1250" dirty="0"/>
          </a:p>
        </p:txBody>
      </p:sp>
      <p:sp>
        <p:nvSpPr>
          <p:cNvPr id="24" name="Shape 22"/>
          <p:cNvSpPr/>
          <p:nvPr/>
        </p:nvSpPr>
        <p:spPr>
          <a:xfrm>
            <a:off x="6150712" y="1463040"/>
            <a:ext cx="2919908" cy="914400"/>
          </a:xfrm>
          <a:prstGeom prst="chevron">
            <a:avLst/>
          </a:prstGeom>
          <a:solidFill>
            <a:srgbClr val="2F7A55">
              <a:alpha val="90000"/>
            </a:srgbClr>
          </a:solidFill>
          <a:ln w="12700">
            <a:solidFill>
              <a:srgbClr val="2F7A55"/>
            </a:solidFill>
            <a:prstDash val="solid"/>
          </a:ln>
        </p:spPr>
      </p:sp>
      <p:sp>
        <p:nvSpPr>
          <p:cNvPr id="25" name="Text 23"/>
          <p:cNvSpPr txBox="1"/>
          <p:nvPr/>
        </p:nvSpPr>
        <p:spPr>
          <a:xfrm>
            <a:off x="6470752" y="1508760"/>
            <a:ext cx="2234108" cy="365760"/>
          </a:xfrm>
          <a:prstGeom prst="rect">
            <a:avLst/>
          </a:prstGeom>
          <a:noFill/>
          <a:ln/>
        </p:spPr>
        <p:txBody>
          <a:bodyPr wrap="square" lIns="0" tIns="0" rIns="0" bIns="0" rtlCol="0" anchor="t"/>
          <a:lstStyle/>
          <a:p>
            <a:pPr algn="ctr" indent="0" marL="0">
              <a:buNone/>
            </a:pPr>
            <a:r>
              <a:rPr lang="en-US" sz="1200" b="1" dirty="0">
                <a:solidFill>
                  <a:srgbClr val="FFFFFF"/>
                </a:solidFill>
                <a:latin typeface="Meiryo UI" pitchFamily="34" charset="0"/>
                <a:ea typeface="Meiryo UI" pitchFamily="34" charset="-122"/>
                <a:cs typeface="Meiryo UI" pitchFamily="34" charset="-120"/>
              </a:rPr>
              <a:t>4〜6ヶ月目</a:t>
            </a:r>
            <a:endParaRPr lang="en-US" sz="1200" dirty="0"/>
          </a:p>
        </p:txBody>
      </p:sp>
      <p:sp>
        <p:nvSpPr>
          <p:cNvPr id="26" name="Text 24"/>
          <p:cNvSpPr txBox="1"/>
          <p:nvPr/>
        </p:nvSpPr>
        <p:spPr>
          <a:xfrm>
            <a:off x="6470752" y="1847088"/>
            <a:ext cx="2234108" cy="411480"/>
          </a:xfrm>
          <a:prstGeom prst="rect">
            <a:avLst/>
          </a:prstGeom>
          <a:noFill/>
          <a:ln/>
        </p:spPr>
        <p:txBody>
          <a:bodyPr wrap="square" lIns="0" tIns="0" rIns="0" bIns="0" rtlCol="0" anchor="t"/>
          <a:lstStyle/>
          <a:p>
            <a:pPr algn="ctr" indent="0" marL="0">
              <a:buNone/>
            </a:pPr>
            <a:r>
              <a:rPr lang="en-US" sz="1500" b="1" dirty="0">
                <a:solidFill>
                  <a:srgbClr val="FFFFFF"/>
                </a:solidFill>
                <a:latin typeface="Meiryo UI" pitchFamily="34" charset="0"/>
                <a:ea typeface="Meiryo UI" pitchFamily="34" charset="-122"/>
                <a:cs typeface="Meiryo UI" pitchFamily="34" charset="-120"/>
              </a:rPr>
              <a:t>拡大期</a:t>
            </a:r>
            <a:endParaRPr lang="en-US" sz="1500" dirty="0"/>
          </a:p>
        </p:txBody>
      </p:sp>
      <p:sp>
        <p:nvSpPr>
          <p:cNvPr id="27" name="Shape 25"/>
          <p:cNvSpPr/>
          <p:nvPr/>
        </p:nvSpPr>
        <p:spPr>
          <a:xfrm>
            <a:off x="6150712" y="2651760"/>
            <a:ext cx="2691308" cy="2148840"/>
          </a:xfrm>
          <a:prstGeom prst="roundRect">
            <a:avLst>
              <a:gd name="adj" fmla="val 5106"/>
            </a:avLst>
          </a:prstGeom>
          <a:solidFill>
            <a:srgbClr val="F5F9F6"/>
          </a:solidFill>
          <a:ln w="12700">
            <a:solidFill>
              <a:srgbClr val="F5F9F6"/>
            </a:solidFill>
            <a:prstDash val="solid"/>
          </a:ln>
        </p:spPr>
      </p:sp>
      <p:sp>
        <p:nvSpPr>
          <p:cNvPr id="28" name="Text 26"/>
          <p:cNvSpPr txBox="1"/>
          <p:nvPr/>
        </p:nvSpPr>
        <p:spPr>
          <a:xfrm>
            <a:off x="6379312" y="2761488"/>
            <a:ext cx="2234108" cy="274320"/>
          </a:xfrm>
          <a:prstGeom prst="rect">
            <a:avLst/>
          </a:prstGeom>
          <a:noFill/>
          <a:ln/>
        </p:spPr>
        <p:txBody>
          <a:bodyPr wrap="square" lIns="0" tIns="0" rIns="0" bIns="0" rtlCol="0" anchor="t"/>
          <a:lstStyle/>
          <a:p>
            <a:pPr indent="0" marL="0">
              <a:buNone/>
            </a:pPr>
            <a:r>
              <a:rPr lang="en-US" sz="1050" b="1" dirty="0">
                <a:solidFill>
                  <a:srgbClr val="66786F"/>
                </a:solidFill>
                <a:latin typeface="Meiryo UI" pitchFamily="34" charset="0"/>
                <a:ea typeface="Meiryo UI" pitchFamily="34" charset="-122"/>
                <a:cs typeface="Meiryo UI" pitchFamily="34" charset="-120"/>
              </a:rPr>
              <a:t>主な実施内容</a:t>
            </a:r>
            <a:endParaRPr lang="en-US" sz="1050" dirty="0"/>
          </a:p>
        </p:txBody>
      </p:sp>
      <p:sp>
        <p:nvSpPr>
          <p:cNvPr id="29" name="Text 27"/>
          <p:cNvSpPr txBox="1"/>
          <p:nvPr/>
        </p:nvSpPr>
        <p:spPr>
          <a:xfrm>
            <a:off x="6379312" y="3063240"/>
            <a:ext cx="2325548" cy="16459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A3330"/>
                </a:solidFill>
                <a:latin typeface="Meiryo UI" pitchFamily="34" charset="0"/>
                <a:ea typeface="Meiryo UI" pitchFamily="34" charset="-122"/>
                <a:cs typeface="Meiryo UI" pitchFamily="34" charset="-120"/>
              </a:rPr>
              <a:t>子育て講座のローンチ集客</a:t>
            </a:r>
            <a:endParaRPr lang="en-US" sz="1200" dirty="0"/>
          </a:p>
          <a:p>
            <a:pPr marL="342900" indent="-342900">
              <a:spcAft>
                <a:spcPts val="500"/>
              </a:spcAft>
              <a:buSzPct val="100000"/>
              <a:buChar char="•"/>
            </a:pPr>
            <a:r>
              <a:rPr lang="en-US" sz="1200" dirty="0">
                <a:solidFill>
                  <a:srgbClr val="2A3330"/>
                </a:solidFill>
                <a:latin typeface="Meiryo UI" pitchFamily="34" charset="0"/>
                <a:ea typeface="Meiryo UI" pitchFamily="34" charset="-122"/>
                <a:cs typeface="Meiryo UI" pitchFamily="34" charset="-120"/>
              </a:rPr>
              <a:t>YouTube検索流入の強化</a:t>
            </a:r>
            <a:endParaRPr lang="en-US" sz="1200" dirty="0"/>
          </a:p>
          <a:p>
            <a:pPr marL="342900" indent="-342900">
              <a:spcAft>
                <a:spcPts val="500"/>
              </a:spcAft>
              <a:buSzPct val="100000"/>
              <a:buChar char="•"/>
            </a:pPr>
            <a:r>
              <a:rPr lang="en-US" sz="1200" dirty="0">
                <a:solidFill>
                  <a:srgbClr val="2A3330"/>
                </a:solidFill>
                <a:latin typeface="Meiryo UI" pitchFamily="34" charset="0"/>
                <a:ea typeface="Meiryo UI" pitchFamily="34" charset="-122"/>
                <a:cs typeface="Meiryo UI" pitchFamily="34" charset="-120"/>
              </a:rPr>
              <a:t>リードマグネットの動画化</a:t>
            </a:r>
            <a:endParaRPr lang="en-US" sz="1200" dirty="0"/>
          </a:p>
        </p:txBody>
      </p:sp>
      <p:sp>
        <p:nvSpPr>
          <p:cNvPr id="30" name="Shape 28"/>
          <p:cNvSpPr/>
          <p:nvPr/>
        </p:nvSpPr>
        <p:spPr>
          <a:xfrm>
            <a:off x="6150712" y="4983480"/>
            <a:ext cx="2691308" cy="1234440"/>
          </a:xfrm>
          <a:prstGeom prst="roundRect">
            <a:avLst>
              <a:gd name="adj" fmla="val 8889"/>
            </a:avLst>
          </a:prstGeom>
          <a:solidFill>
            <a:srgbClr val="EAF4EE"/>
          </a:solidFill>
          <a:ln w="12700">
            <a:solidFill>
              <a:srgbClr val="EAF4EE"/>
            </a:solidFill>
            <a:prstDash val="solid"/>
          </a:ln>
        </p:spPr>
      </p:sp>
      <p:sp>
        <p:nvSpPr>
          <p:cNvPr id="31" name="Text 29"/>
          <p:cNvSpPr txBox="1"/>
          <p:nvPr/>
        </p:nvSpPr>
        <p:spPr>
          <a:xfrm>
            <a:off x="6379312" y="5074920"/>
            <a:ext cx="2234108" cy="274320"/>
          </a:xfrm>
          <a:prstGeom prst="rect">
            <a:avLst/>
          </a:prstGeom>
          <a:noFill/>
          <a:ln/>
        </p:spPr>
        <p:txBody>
          <a:bodyPr wrap="square" lIns="0" tIns="0" rIns="0" bIns="0" rtlCol="0" anchor="t"/>
          <a:lstStyle/>
          <a:p>
            <a:pPr indent="0" marL="0">
              <a:buNone/>
            </a:pPr>
            <a:r>
              <a:rPr lang="en-US" sz="1050" b="1" dirty="0">
                <a:solidFill>
                  <a:srgbClr val="D8614F"/>
                </a:solidFill>
                <a:latin typeface="Meiryo UI" pitchFamily="34" charset="0"/>
                <a:ea typeface="Meiryo UI" pitchFamily="34" charset="-122"/>
                <a:cs typeface="Meiryo UI" pitchFamily="34" charset="-120"/>
              </a:rPr>
              <a:t>到達目標</a:t>
            </a:r>
            <a:endParaRPr lang="en-US" sz="1050" dirty="0"/>
          </a:p>
        </p:txBody>
      </p:sp>
      <p:sp>
        <p:nvSpPr>
          <p:cNvPr id="32" name="Text 30"/>
          <p:cNvSpPr txBox="1"/>
          <p:nvPr/>
        </p:nvSpPr>
        <p:spPr>
          <a:xfrm>
            <a:off x="6379312" y="5349240"/>
            <a:ext cx="2234108" cy="777240"/>
          </a:xfrm>
          <a:prstGeom prst="rect">
            <a:avLst/>
          </a:prstGeom>
          <a:noFill/>
          <a:ln/>
        </p:spPr>
        <p:txBody>
          <a:bodyPr wrap="square" lIns="0" tIns="0" rIns="0" bIns="0" rtlCol="0" anchor="t"/>
          <a:lstStyle/>
          <a:p>
            <a:pPr indent="0" marL="0">
              <a:buNone/>
            </a:pPr>
            <a:r>
              <a:rPr lang="en-US" sz="1250" b="1" dirty="0">
                <a:solidFill>
                  <a:srgbClr val="1D4A35"/>
                </a:solidFill>
                <a:latin typeface="Meiryo UI" pitchFamily="34" charset="0"/>
                <a:ea typeface="Meiryo UI" pitchFamily="34" charset="-122"/>
                <a:cs typeface="Meiryo UI" pitchFamily="34" charset="-120"/>
              </a:rPr>
              <a:t>オンライン塾・講座の全国集客が本格化</a:t>
            </a:r>
            <a:endParaRPr lang="en-US" sz="1250" dirty="0"/>
          </a:p>
        </p:txBody>
      </p:sp>
      <p:sp>
        <p:nvSpPr>
          <p:cNvPr id="33" name="Shape 31"/>
          <p:cNvSpPr/>
          <p:nvPr/>
        </p:nvSpPr>
        <p:spPr>
          <a:xfrm>
            <a:off x="8951747" y="1463040"/>
            <a:ext cx="2691308" cy="914400"/>
          </a:xfrm>
          <a:prstGeom prst="chevron">
            <a:avLst/>
          </a:prstGeom>
          <a:solidFill>
            <a:srgbClr val="2F7A55"/>
          </a:solidFill>
          <a:ln w="12700">
            <a:solidFill>
              <a:srgbClr val="2F7A55"/>
            </a:solidFill>
            <a:prstDash val="solid"/>
          </a:ln>
        </p:spPr>
      </p:sp>
      <p:sp>
        <p:nvSpPr>
          <p:cNvPr id="34" name="Text 32"/>
          <p:cNvSpPr txBox="1"/>
          <p:nvPr/>
        </p:nvSpPr>
        <p:spPr>
          <a:xfrm>
            <a:off x="9271787" y="1508760"/>
            <a:ext cx="2234108" cy="365760"/>
          </a:xfrm>
          <a:prstGeom prst="rect">
            <a:avLst/>
          </a:prstGeom>
          <a:noFill/>
          <a:ln/>
        </p:spPr>
        <p:txBody>
          <a:bodyPr wrap="square" lIns="0" tIns="0" rIns="0" bIns="0" rtlCol="0" anchor="t"/>
          <a:lstStyle/>
          <a:p>
            <a:pPr algn="ctr" indent="0" marL="0">
              <a:buNone/>
            </a:pPr>
            <a:r>
              <a:rPr lang="en-US" sz="1200" b="1" dirty="0">
                <a:solidFill>
                  <a:srgbClr val="FFFFFF"/>
                </a:solidFill>
                <a:latin typeface="Meiryo UI" pitchFamily="34" charset="0"/>
                <a:ea typeface="Meiryo UI" pitchFamily="34" charset="-122"/>
                <a:cs typeface="Meiryo UI" pitchFamily="34" charset="-120"/>
              </a:rPr>
              <a:t>7〜12ヶ月目</a:t>
            </a:r>
            <a:endParaRPr lang="en-US" sz="1200" dirty="0"/>
          </a:p>
        </p:txBody>
      </p:sp>
      <p:sp>
        <p:nvSpPr>
          <p:cNvPr id="35" name="Text 33"/>
          <p:cNvSpPr txBox="1"/>
          <p:nvPr/>
        </p:nvSpPr>
        <p:spPr>
          <a:xfrm>
            <a:off x="9271787" y="1847088"/>
            <a:ext cx="2234108" cy="411480"/>
          </a:xfrm>
          <a:prstGeom prst="rect">
            <a:avLst/>
          </a:prstGeom>
          <a:noFill/>
          <a:ln/>
        </p:spPr>
        <p:txBody>
          <a:bodyPr wrap="square" lIns="0" tIns="0" rIns="0" bIns="0" rtlCol="0" anchor="t"/>
          <a:lstStyle/>
          <a:p>
            <a:pPr algn="ctr" indent="0" marL="0">
              <a:buNone/>
            </a:pPr>
            <a:r>
              <a:rPr lang="en-US" sz="1500" b="1" dirty="0">
                <a:solidFill>
                  <a:srgbClr val="FFFFFF"/>
                </a:solidFill>
                <a:latin typeface="Meiryo UI" pitchFamily="34" charset="0"/>
                <a:ea typeface="Meiryo UI" pitchFamily="34" charset="-122"/>
                <a:cs typeface="Meiryo UI" pitchFamily="34" charset="-120"/>
              </a:rPr>
              <a:t>定着・自走期</a:t>
            </a:r>
            <a:endParaRPr lang="en-US" sz="1500" dirty="0"/>
          </a:p>
        </p:txBody>
      </p:sp>
      <p:sp>
        <p:nvSpPr>
          <p:cNvPr id="36" name="Shape 34"/>
          <p:cNvSpPr/>
          <p:nvPr/>
        </p:nvSpPr>
        <p:spPr>
          <a:xfrm>
            <a:off x="8951747" y="2651760"/>
            <a:ext cx="2691308" cy="2148840"/>
          </a:xfrm>
          <a:prstGeom prst="roundRect">
            <a:avLst>
              <a:gd name="adj" fmla="val 5106"/>
            </a:avLst>
          </a:prstGeom>
          <a:solidFill>
            <a:srgbClr val="F5F9F6"/>
          </a:solidFill>
          <a:ln w="12700">
            <a:solidFill>
              <a:srgbClr val="F5F9F6"/>
            </a:solidFill>
            <a:prstDash val="solid"/>
          </a:ln>
        </p:spPr>
      </p:sp>
      <p:sp>
        <p:nvSpPr>
          <p:cNvPr id="37" name="Text 35"/>
          <p:cNvSpPr txBox="1"/>
          <p:nvPr/>
        </p:nvSpPr>
        <p:spPr>
          <a:xfrm>
            <a:off x="9180347" y="2761488"/>
            <a:ext cx="2234108" cy="274320"/>
          </a:xfrm>
          <a:prstGeom prst="rect">
            <a:avLst/>
          </a:prstGeom>
          <a:noFill/>
          <a:ln/>
        </p:spPr>
        <p:txBody>
          <a:bodyPr wrap="square" lIns="0" tIns="0" rIns="0" bIns="0" rtlCol="0" anchor="t"/>
          <a:lstStyle/>
          <a:p>
            <a:pPr indent="0" marL="0">
              <a:buNone/>
            </a:pPr>
            <a:r>
              <a:rPr lang="en-US" sz="1050" b="1" dirty="0">
                <a:solidFill>
                  <a:srgbClr val="66786F"/>
                </a:solidFill>
                <a:latin typeface="Meiryo UI" pitchFamily="34" charset="0"/>
                <a:ea typeface="Meiryo UI" pitchFamily="34" charset="-122"/>
                <a:cs typeface="Meiryo UI" pitchFamily="34" charset="-120"/>
              </a:rPr>
              <a:t>主な実施内容</a:t>
            </a:r>
            <a:endParaRPr lang="en-US" sz="1050" dirty="0"/>
          </a:p>
        </p:txBody>
      </p:sp>
      <p:sp>
        <p:nvSpPr>
          <p:cNvPr id="38" name="Text 36"/>
          <p:cNvSpPr txBox="1"/>
          <p:nvPr/>
        </p:nvSpPr>
        <p:spPr>
          <a:xfrm>
            <a:off x="9180347" y="3063240"/>
            <a:ext cx="2325548" cy="16459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A3330"/>
                </a:solidFill>
                <a:latin typeface="Meiryo UI" pitchFamily="34" charset="0"/>
                <a:ea typeface="Meiryo UI" pitchFamily="34" charset="-122"/>
                <a:cs typeface="Meiryo UI" pitchFamily="34" charset="-120"/>
              </a:rPr>
              <a:t>動画ライブラリの完成</a:t>
            </a:r>
            <a:endParaRPr lang="en-US" sz="1200" dirty="0"/>
          </a:p>
          <a:p>
            <a:pPr marL="342900" indent="-342900">
              <a:spcAft>
                <a:spcPts val="500"/>
              </a:spcAft>
              <a:buSzPct val="100000"/>
              <a:buChar char="•"/>
            </a:pPr>
            <a:r>
              <a:rPr lang="en-US" sz="1200" dirty="0">
                <a:solidFill>
                  <a:srgbClr val="2A3330"/>
                </a:solidFill>
                <a:latin typeface="Meiryo UI" pitchFamily="34" charset="0"/>
                <a:ea typeface="Meiryo UI" pitchFamily="34" charset="-122"/>
                <a:cs typeface="Meiryo UI" pitchFamily="34" charset="-120"/>
              </a:rPr>
              <a:t>社内運用への移管支援</a:t>
            </a:r>
            <a:endParaRPr lang="en-US" sz="1200" dirty="0"/>
          </a:p>
          <a:p>
            <a:pPr marL="342900" indent="-342900">
              <a:spcAft>
                <a:spcPts val="500"/>
              </a:spcAft>
              <a:buSzPct val="100000"/>
              <a:buChar char="•"/>
            </a:pPr>
            <a:r>
              <a:rPr lang="en-US" sz="1200" dirty="0">
                <a:solidFill>
                  <a:srgbClr val="2A3330"/>
                </a:solidFill>
                <a:latin typeface="Meiryo UI" pitchFamily="34" charset="0"/>
                <a:ea typeface="Meiryo UI" pitchFamily="34" charset="-122"/>
                <a:cs typeface="Meiryo UI" pitchFamily="34" charset="-120"/>
              </a:rPr>
              <a:t>講座の継続集客</a:t>
            </a:r>
            <a:endParaRPr lang="en-US" sz="1200" dirty="0"/>
          </a:p>
        </p:txBody>
      </p:sp>
      <p:sp>
        <p:nvSpPr>
          <p:cNvPr id="39" name="Shape 37"/>
          <p:cNvSpPr/>
          <p:nvPr/>
        </p:nvSpPr>
        <p:spPr>
          <a:xfrm>
            <a:off x="8951747" y="4983480"/>
            <a:ext cx="2691308" cy="1234440"/>
          </a:xfrm>
          <a:prstGeom prst="roundRect">
            <a:avLst>
              <a:gd name="adj" fmla="val 8889"/>
            </a:avLst>
          </a:prstGeom>
          <a:solidFill>
            <a:srgbClr val="1D4A35"/>
          </a:solidFill>
          <a:ln w="12700">
            <a:solidFill>
              <a:srgbClr val="1D4A35"/>
            </a:solidFill>
            <a:prstDash val="solid"/>
          </a:ln>
        </p:spPr>
      </p:sp>
      <p:sp>
        <p:nvSpPr>
          <p:cNvPr id="40" name="Text 38"/>
          <p:cNvSpPr txBox="1"/>
          <p:nvPr/>
        </p:nvSpPr>
        <p:spPr>
          <a:xfrm>
            <a:off x="9180347" y="5074920"/>
            <a:ext cx="2234108" cy="274320"/>
          </a:xfrm>
          <a:prstGeom prst="rect">
            <a:avLst/>
          </a:prstGeom>
          <a:noFill/>
          <a:ln/>
        </p:spPr>
        <p:txBody>
          <a:bodyPr wrap="square" lIns="0" tIns="0" rIns="0" bIns="0" rtlCol="0" anchor="t"/>
          <a:lstStyle/>
          <a:p>
            <a:pPr indent="0" marL="0">
              <a:buNone/>
            </a:pPr>
            <a:r>
              <a:rPr lang="en-US" sz="1050" b="1" dirty="0">
                <a:solidFill>
                  <a:srgbClr val="F6B3AA"/>
                </a:solidFill>
                <a:latin typeface="Meiryo UI" pitchFamily="34" charset="0"/>
                <a:ea typeface="Meiryo UI" pitchFamily="34" charset="-122"/>
                <a:cs typeface="Meiryo UI" pitchFamily="34" charset="-120"/>
              </a:rPr>
              <a:t>到達目標</a:t>
            </a:r>
            <a:endParaRPr lang="en-US" sz="1050" dirty="0"/>
          </a:p>
        </p:txBody>
      </p:sp>
      <p:sp>
        <p:nvSpPr>
          <p:cNvPr id="41" name="Text 39"/>
          <p:cNvSpPr txBox="1"/>
          <p:nvPr/>
        </p:nvSpPr>
        <p:spPr>
          <a:xfrm>
            <a:off x="9180347" y="5349240"/>
            <a:ext cx="2234108" cy="777240"/>
          </a:xfrm>
          <a:prstGeom prst="rect">
            <a:avLst/>
          </a:prstGeom>
          <a:noFill/>
          <a:ln/>
        </p:spPr>
        <p:txBody>
          <a:bodyPr wrap="square" lIns="0" tIns="0" rIns="0" bIns="0" rtlCol="0" anchor="t"/>
          <a:lstStyle/>
          <a:p>
            <a:pPr indent="0" marL="0">
              <a:buNone/>
            </a:pPr>
            <a:r>
              <a:rPr lang="en-US" sz="1250" b="1" dirty="0">
                <a:solidFill>
                  <a:srgbClr val="FFFFFF"/>
                </a:solidFill>
                <a:latin typeface="Meiryo UI" pitchFamily="34" charset="0"/>
                <a:ea typeface="Meiryo UI" pitchFamily="34" charset="-122"/>
                <a:cs typeface="Meiryo UI" pitchFamily="34" charset="-120"/>
              </a:rPr>
              <a:t>教室の広さに縛られない集客体制</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8614F"/>
                </a:solidFill>
                <a:latin typeface="Meiryo UI" pitchFamily="34" charset="0"/>
                <a:ea typeface="Meiryo UI" pitchFamily="34" charset="-122"/>
                <a:cs typeface="Meiryo UI" pitchFamily="34" charset="-120"/>
              </a:rPr>
              <a:t>06｜SEAMLESS TRANSITION</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2F7A55"/>
                </a:solidFill>
                <a:latin typeface="Meiryo UI" pitchFamily="34" charset="0"/>
                <a:ea typeface="Meiryo UI" pitchFamily="34" charset="-122"/>
                <a:cs typeface="Meiryo UI" pitchFamily="34" charset="-120"/>
              </a:rPr>
              <a:t>「テスト（無料3本）」から「本格展開」へ、止めずにつなぐ</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0"/>
                </a:solidFill>
                <a:latin typeface="Meiryo UI" pitchFamily="34" charset="0"/>
                <a:ea typeface="Meiryo UI" pitchFamily="34" charset="-122"/>
                <a:cs typeface="Meiryo UI" pitchFamily="34" charset="-120"/>
              </a:rPr>
              <a:t>21</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0"/>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2011680" y="1371600"/>
            <a:ext cx="4663440" cy="502920"/>
          </a:xfrm>
          <a:prstGeom prst="roundRect">
            <a:avLst>
              <a:gd name="adj" fmla="val 21818"/>
            </a:avLst>
          </a:prstGeom>
          <a:solidFill>
            <a:srgbClr val="EEF0EF"/>
          </a:solidFill>
          <a:ln w="12700">
            <a:solidFill>
              <a:srgbClr val="EEF0EF"/>
            </a:solidFill>
            <a:prstDash val="solid"/>
          </a:ln>
        </p:spPr>
      </p:sp>
      <p:sp>
        <p:nvSpPr>
          <p:cNvPr id="7" name="Text 5"/>
          <p:cNvSpPr txBox="1"/>
          <p:nvPr/>
        </p:nvSpPr>
        <p:spPr>
          <a:xfrm>
            <a:off x="2011680" y="1371600"/>
            <a:ext cx="4663440" cy="502920"/>
          </a:xfrm>
          <a:prstGeom prst="rect">
            <a:avLst/>
          </a:prstGeom>
          <a:noFill/>
          <a:ln/>
        </p:spPr>
        <p:txBody>
          <a:bodyPr wrap="square" lIns="0" tIns="0" rIns="0" bIns="0" rtlCol="0" anchor="ctr"/>
          <a:lstStyle/>
          <a:p>
            <a:pPr algn="ctr" indent="0" marL="0">
              <a:buNone/>
            </a:pPr>
            <a:r>
              <a:rPr lang="en-US" sz="1300" b="1" dirty="0">
                <a:solidFill>
                  <a:srgbClr val="7A8580"/>
                </a:solidFill>
                <a:latin typeface="Meiryo UI" pitchFamily="34" charset="0"/>
                <a:ea typeface="Meiryo UI" pitchFamily="34" charset="-122"/>
                <a:cs typeface="Meiryo UI" pitchFamily="34" charset="-120"/>
              </a:rPr>
              <a:t>様子見（無料3本 → 結果を見て検討）</a:t>
            </a:r>
            <a:endParaRPr lang="en-US" sz="1300" dirty="0"/>
          </a:p>
        </p:txBody>
      </p:sp>
      <p:sp>
        <p:nvSpPr>
          <p:cNvPr id="8" name="Shape 6"/>
          <p:cNvSpPr/>
          <p:nvPr/>
        </p:nvSpPr>
        <p:spPr>
          <a:xfrm>
            <a:off x="6858000" y="1371600"/>
            <a:ext cx="4663440" cy="502920"/>
          </a:xfrm>
          <a:prstGeom prst="roundRect">
            <a:avLst>
              <a:gd name="adj" fmla="val 21818"/>
            </a:avLst>
          </a:prstGeom>
          <a:solidFill>
            <a:srgbClr val="D8614F"/>
          </a:solidFill>
          <a:ln w="12700">
            <a:solidFill>
              <a:srgbClr val="D8614F"/>
            </a:solidFill>
            <a:prstDash val="solid"/>
          </a:ln>
        </p:spPr>
      </p:sp>
      <p:sp>
        <p:nvSpPr>
          <p:cNvPr id="9" name="Text 7"/>
          <p:cNvSpPr txBox="1"/>
          <p:nvPr/>
        </p:nvSpPr>
        <p:spPr>
          <a:xfrm>
            <a:off x="6858000" y="1371600"/>
            <a:ext cx="466344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早期ご決定（無料3本を伴走の初月に組み込み）</a:t>
            </a:r>
            <a:endParaRPr lang="en-US" sz="1300" dirty="0"/>
          </a:p>
        </p:txBody>
      </p:sp>
      <p:sp>
        <p:nvSpPr>
          <p:cNvPr id="10" name="Text 8"/>
          <p:cNvSpPr txBox="1"/>
          <p:nvPr/>
        </p:nvSpPr>
        <p:spPr>
          <a:xfrm>
            <a:off x="548640" y="1965960"/>
            <a:ext cx="1371600" cy="457200"/>
          </a:xfrm>
          <a:prstGeom prst="rect">
            <a:avLst/>
          </a:prstGeom>
          <a:noFill/>
          <a:ln/>
        </p:spPr>
        <p:txBody>
          <a:bodyPr wrap="square" lIns="0" tIns="0" rIns="0" bIns="0" rtlCol="0" anchor="ctr"/>
          <a:lstStyle/>
          <a:p>
            <a:pPr indent="0" marL="0">
              <a:buNone/>
            </a:pPr>
            <a:r>
              <a:rPr lang="en-US" sz="1250" b="1" dirty="0">
                <a:solidFill>
                  <a:srgbClr val="2F7A55"/>
                </a:solidFill>
                <a:latin typeface="Meiryo UI" pitchFamily="34" charset="0"/>
                <a:ea typeface="Meiryo UI" pitchFamily="34" charset="-122"/>
                <a:cs typeface="Meiryo UI" pitchFamily="34" charset="-120"/>
              </a:rPr>
              <a:t>検証設計</a:t>
            </a:r>
            <a:endParaRPr lang="en-US" sz="1250" dirty="0"/>
          </a:p>
        </p:txBody>
      </p:sp>
      <p:sp>
        <p:nvSpPr>
          <p:cNvPr id="11" name="Shape 9"/>
          <p:cNvSpPr/>
          <p:nvPr/>
        </p:nvSpPr>
        <p:spPr>
          <a:xfrm>
            <a:off x="2011680" y="1965960"/>
            <a:ext cx="4663440" cy="457200"/>
          </a:xfrm>
          <a:prstGeom prst="roundRect">
            <a:avLst>
              <a:gd name="adj" fmla="val 24000"/>
            </a:avLst>
          </a:prstGeom>
          <a:solidFill>
            <a:srgbClr val="F5F9F6"/>
          </a:solidFill>
          <a:ln w="12700">
            <a:solidFill>
              <a:srgbClr val="F5F9F6"/>
            </a:solidFill>
            <a:prstDash val="solid"/>
          </a:ln>
        </p:spPr>
      </p:sp>
      <p:sp>
        <p:nvSpPr>
          <p:cNvPr id="12" name="Text 10"/>
          <p:cNvSpPr txBox="1"/>
          <p:nvPr/>
        </p:nvSpPr>
        <p:spPr>
          <a:xfrm>
            <a:off x="2194560" y="1965960"/>
            <a:ext cx="4297680" cy="457200"/>
          </a:xfrm>
          <a:prstGeom prst="rect">
            <a:avLst/>
          </a:prstGeom>
          <a:noFill/>
          <a:ln/>
        </p:spPr>
        <p:txBody>
          <a:bodyPr wrap="square" lIns="0" tIns="0" rIns="0" bIns="0" rtlCol="0" anchor="ctr"/>
          <a:lstStyle/>
          <a:p>
            <a:pPr indent="0" marL="0">
              <a:buNone/>
            </a:pPr>
            <a:r>
              <a:rPr lang="en-US" sz="1200" dirty="0">
                <a:solidFill>
                  <a:srgbClr val="7A8580"/>
                </a:solidFill>
                <a:latin typeface="Meiryo UI" pitchFamily="34" charset="0"/>
                <a:ea typeface="Meiryo UI" pitchFamily="34" charset="-122"/>
                <a:cs typeface="Meiryo UI" pitchFamily="34" charset="-120"/>
              </a:rPr>
              <a:t>3本を「作ること」がゴールになりがち</a:t>
            </a:r>
            <a:endParaRPr lang="en-US" sz="1200" dirty="0"/>
          </a:p>
        </p:txBody>
      </p:sp>
      <p:sp>
        <p:nvSpPr>
          <p:cNvPr id="13" name="Shape 11"/>
          <p:cNvSpPr/>
          <p:nvPr/>
        </p:nvSpPr>
        <p:spPr>
          <a:xfrm>
            <a:off x="6858000" y="1965960"/>
            <a:ext cx="4663440" cy="457200"/>
          </a:xfrm>
          <a:prstGeom prst="roundRect">
            <a:avLst>
              <a:gd name="adj" fmla="val 24000"/>
            </a:avLst>
          </a:prstGeom>
          <a:solidFill>
            <a:srgbClr val="FDECEA"/>
          </a:solidFill>
          <a:ln w="12700">
            <a:solidFill>
              <a:srgbClr val="FDECEA"/>
            </a:solidFill>
            <a:prstDash val="solid"/>
          </a:ln>
        </p:spPr>
      </p:sp>
      <p:sp>
        <p:nvSpPr>
          <p:cNvPr id="14" name="Text 12"/>
          <p:cNvSpPr txBox="1"/>
          <p:nvPr/>
        </p:nvSpPr>
        <p:spPr>
          <a:xfrm>
            <a:off x="7040880" y="1965960"/>
            <a:ext cx="4297680" cy="457200"/>
          </a:xfrm>
          <a:prstGeom prst="rect">
            <a:avLst/>
          </a:prstGeom>
          <a:noFill/>
          <a:ln/>
        </p:spPr>
        <p:txBody>
          <a:bodyPr wrap="square" lIns="0" tIns="0" rIns="0" bIns="0" rtlCol="0" anchor="ctr"/>
          <a:lstStyle/>
          <a:p>
            <a:pPr indent="0" marL="0">
              <a:buNone/>
            </a:pPr>
            <a:r>
              <a:rPr lang="en-US" sz="1200" b="1" dirty="0">
                <a:solidFill>
                  <a:srgbClr val="1D4A35"/>
                </a:solidFill>
                <a:latin typeface="Meiryo UI" pitchFamily="34" charset="0"/>
                <a:ea typeface="Meiryo UI" pitchFamily="34" charset="-122"/>
                <a:cs typeface="Meiryo UI" pitchFamily="34" charset="-120"/>
              </a:rPr>
              <a:t>最初からKPI・比較軸を設計し、検証として実施</a:t>
            </a:r>
            <a:endParaRPr lang="en-US" sz="1200" dirty="0"/>
          </a:p>
        </p:txBody>
      </p:sp>
      <p:sp>
        <p:nvSpPr>
          <p:cNvPr id="15" name="Text 13"/>
          <p:cNvSpPr txBox="1"/>
          <p:nvPr/>
        </p:nvSpPr>
        <p:spPr>
          <a:xfrm>
            <a:off x="548640" y="2496312"/>
            <a:ext cx="1371600" cy="457200"/>
          </a:xfrm>
          <a:prstGeom prst="rect">
            <a:avLst/>
          </a:prstGeom>
          <a:noFill/>
          <a:ln/>
        </p:spPr>
        <p:txBody>
          <a:bodyPr wrap="square" lIns="0" tIns="0" rIns="0" bIns="0" rtlCol="0" anchor="ctr"/>
          <a:lstStyle/>
          <a:p>
            <a:pPr indent="0" marL="0">
              <a:buNone/>
            </a:pPr>
            <a:r>
              <a:rPr lang="en-US" sz="1250" b="1" dirty="0">
                <a:solidFill>
                  <a:srgbClr val="2F7A55"/>
                </a:solidFill>
                <a:latin typeface="Meiryo UI" pitchFamily="34" charset="0"/>
                <a:ea typeface="Meiryo UI" pitchFamily="34" charset="-122"/>
                <a:cs typeface="Meiryo UI" pitchFamily="34" charset="-120"/>
              </a:rPr>
              <a:t>検証後</a:t>
            </a:r>
            <a:endParaRPr lang="en-US" sz="1250" dirty="0"/>
          </a:p>
        </p:txBody>
      </p:sp>
      <p:sp>
        <p:nvSpPr>
          <p:cNvPr id="16" name="Shape 14"/>
          <p:cNvSpPr/>
          <p:nvPr/>
        </p:nvSpPr>
        <p:spPr>
          <a:xfrm>
            <a:off x="2011680" y="2496312"/>
            <a:ext cx="4663440" cy="457200"/>
          </a:xfrm>
          <a:prstGeom prst="roundRect">
            <a:avLst>
              <a:gd name="adj" fmla="val 24000"/>
            </a:avLst>
          </a:prstGeom>
          <a:solidFill>
            <a:srgbClr val="F5F9F6"/>
          </a:solidFill>
          <a:ln w="12700">
            <a:solidFill>
              <a:srgbClr val="F5F9F6"/>
            </a:solidFill>
            <a:prstDash val="solid"/>
          </a:ln>
        </p:spPr>
      </p:sp>
      <p:sp>
        <p:nvSpPr>
          <p:cNvPr id="17" name="Text 15"/>
          <p:cNvSpPr txBox="1"/>
          <p:nvPr/>
        </p:nvSpPr>
        <p:spPr>
          <a:xfrm>
            <a:off x="2194560" y="2496312"/>
            <a:ext cx="4297680" cy="457200"/>
          </a:xfrm>
          <a:prstGeom prst="rect">
            <a:avLst/>
          </a:prstGeom>
          <a:noFill/>
          <a:ln/>
        </p:spPr>
        <p:txBody>
          <a:bodyPr wrap="square" lIns="0" tIns="0" rIns="0" bIns="0" rtlCol="0" anchor="ctr"/>
          <a:lstStyle/>
          <a:p>
            <a:pPr indent="0" marL="0">
              <a:buNone/>
            </a:pPr>
            <a:r>
              <a:rPr lang="en-US" sz="1200" dirty="0">
                <a:solidFill>
                  <a:srgbClr val="7A8580"/>
                </a:solidFill>
                <a:latin typeface="Meiryo UI" pitchFamily="34" charset="0"/>
                <a:ea typeface="Meiryo UI" pitchFamily="34" charset="-122"/>
                <a:cs typeface="Meiryo UI" pitchFamily="34" charset="-120"/>
              </a:rPr>
              <a:t>社内検討・見積り・契約で1〜2ヶ月の空白</a:t>
            </a:r>
            <a:endParaRPr lang="en-US" sz="1200" dirty="0"/>
          </a:p>
        </p:txBody>
      </p:sp>
      <p:sp>
        <p:nvSpPr>
          <p:cNvPr id="18" name="Shape 16"/>
          <p:cNvSpPr/>
          <p:nvPr/>
        </p:nvSpPr>
        <p:spPr>
          <a:xfrm>
            <a:off x="6858000" y="2496312"/>
            <a:ext cx="4663440" cy="457200"/>
          </a:xfrm>
          <a:prstGeom prst="roundRect">
            <a:avLst>
              <a:gd name="adj" fmla="val 24000"/>
            </a:avLst>
          </a:prstGeom>
          <a:solidFill>
            <a:srgbClr val="FDECEA"/>
          </a:solidFill>
          <a:ln w="12700">
            <a:solidFill>
              <a:srgbClr val="FDECEA"/>
            </a:solidFill>
            <a:prstDash val="solid"/>
          </a:ln>
        </p:spPr>
      </p:sp>
      <p:sp>
        <p:nvSpPr>
          <p:cNvPr id="19" name="Text 17"/>
          <p:cNvSpPr txBox="1"/>
          <p:nvPr/>
        </p:nvSpPr>
        <p:spPr>
          <a:xfrm>
            <a:off x="7040880" y="2496312"/>
            <a:ext cx="4297680" cy="457200"/>
          </a:xfrm>
          <a:prstGeom prst="rect">
            <a:avLst/>
          </a:prstGeom>
          <a:noFill/>
          <a:ln/>
        </p:spPr>
        <p:txBody>
          <a:bodyPr wrap="square" lIns="0" tIns="0" rIns="0" bIns="0" rtlCol="0" anchor="ctr"/>
          <a:lstStyle/>
          <a:p>
            <a:pPr indent="0" marL="0">
              <a:buNone/>
            </a:pPr>
            <a:r>
              <a:rPr lang="en-US" sz="1200" b="1" dirty="0">
                <a:solidFill>
                  <a:srgbClr val="1D4A35"/>
                </a:solidFill>
                <a:latin typeface="Meiryo UI" pitchFamily="34" charset="0"/>
                <a:ea typeface="Meiryo UI" pitchFamily="34" charset="-122"/>
                <a:cs typeface="Meiryo UI" pitchFamily="34" charset="-120"/>
              </a:rPr>
              <a:t>検証レポート当日に次の制作へ即着手</a:t>
            </a:r>
            <a:endParaRPr lang="en-US" sz="1200" dirty="0"/>
          </a:p>
        </p:txBody>
      </p:sp>
      <p:sp>
        <p:nvSpPr>
          <p:cNvPr id="20" name="Text 18"/>
          <p:cNvSpPr txBox="1"/>
          <p:nvPr/>
        </p:nvSpPr>
        <p:spPr>
          <a:xfrm>
            <a:off x="548640" y="3026664"/>
            <a:ext cx="1371600" cy="457200"/>
          </a:xfrm>
          <a:prstGeom prst="rect">
            <a:avLst/>
          </a:prstGeom>
          <a:noFill/>
          <a:ln/>
        </p:spPr>
        <p:txBody>
          <a:bodyPr wrap="square" lIns="0" tIns="0" rIns="0" bIns="0" rtlCol="0" anchor="ctr"/>
          <a:lstStyle/>
          <a:p>
            <a:pPr indent="0" marL="0">
              <a:buNone/>
            </a:pPr>
            <a:r>
              <a:rPr lang="en-US" sz="1250" b="1" dirty="0">
                <a:solidFill>
                  <a:srgbClr val="2F7A55"/>
                </a:solidFill>
                <a:latin typeface="Meiryo UI" pitchFamily="34" charset="0"/>
                <a:ea typeface="Meiryo UI" pitchFamily="34" charset="-122"/>
                <a:cs typeface="Meiryo UI" pitchFamily="34" charset="-120"/>
              </a:rPr>
              <a:t>SNS・LINE</a:t>
            </a:r>
            <a:endParaRPr lang="en-US" sz="1250" dirty="0"/>
          </a:p>
        </p:txBody>
      </p:sp>
      <p:sp>
        <p:nvSpPr>
          <p:cNvPr id="21" name="Shape 19"/>
          <p:cNvSpPr/>
          <p:nvPr/>
        </p:nvSpPr>
        <p:spPr>
          <a:xfrm>
            <a:off x="2011680" y="3026664"/>
            <a:ext cx="4663440" cy="457200"/>
          </a:xfrm>
          <a:prstGeom prst="roundRect">
            <a:avLst>
              <a:gd name="adj" fmla="val 24000"/>
            </a:avLst>
          </a:prstGeom>
          <a:solidFill>
            <a:srgbClr val="F5F9F6"/>
          </a:solidFill>
          <a:ln w="12700">
            <a:solidFill>
              <a:srgbClr val="F5F9F6"/>
            </a:solidFill>
            <a:prstDash val="solid"/>
          </a:ln>
        </p:spPr>
      </p:sp>
      <p:sp>
        <p:nvSpPr>
          <p:cNvPr id="22" name="Text 20"/>
          <p:cNvSpPr txBox="1"/>
          <p:nvPr/>
        </p:nvSpPr>
        <p:spPr>
          <a:xfrm>
            <a:off x="2194560" y="3026664"/>
            <a:ext cx="4297680" cy="457200"/>
          </a:xfrm>
          <a:prstGeom prst="rect">
            <a:avLst/>
          </a:prstGeom>
          <a:noFill/>
          <a:ln/>
        </p:spPr>
        <p:txBody>
          <a:bodyPr wrap="square" lIns="0" tIns="0" rIns="0" bIns="0" rtlCol="0" anchor="ctr"/>
          <a:lstStyle/>
          <a:p>
            <a:pPr indent="0" marL="0">
              <a:buNone/>
            </a:pPr>
            <a:r>
              <a:rPr lang="en-US" sz="1200" dirty="0">
                <a:solidFill>
                  <a:srgbClr val="7A8580"/>
                </a:solidFill>
                <a:latin typeface="Meiryo UI" pitchFamily="34" charset="0"/>
                <a:ea typeface="Meiryo UI" pitchFamily="34" charset="-122"/>
                <a:cs typeface="Meiryo UI" pitchFamily="34" charset="-120"/>
              </a:rPr>
              <a:t>投稿・配信が止まり、積み上げがリセット</a:t>
            </a:r>
            <a:endParaRPr lang="en-US" sz="1200" dirty="0"/>
          </a:p>
        </p:txBody>
      </p:sp>
      <p:sp>
        <p:nvSpPr>
          <p:cNvPr id="23" name="Shape 21"/>
          <p:cNvSpPr/>
          <p:nvPr/>
        </p:nvSpPr>
        <p:spPr>
          <a:xfrm>
            <a:off x="6858000" y="3026664"/>
            <a:ext cx="4663440" cy="457200"/>
          </a:xfrm>
          <a:prstGeom prst="roundRect">
            <a:avLst>
              <a:gd name="adj" fmla="val 24000"/>
            </a:avLst>
          </a:prstGeom>
          <a:solidFill>
            <a:srgbClr val="FDECEA"/>
          </a:solidFill>
          <a:ln w="12700">
            <a:solidFill>
              <a:srgbClr val="FDECEA"/>
            </a:solidFill>
            <a:prstDash val="solid"/>
          </a:ln>
        </p:spPr>
      </p:sp>
      <p:sp>
        <p:nvSpPr>
          <p:cNvPr id="24" name="Text 22"/>
          <p:cNvSpPr txBox="1"/>
          <p:nvPr/>
        </p:nvSpPr>
        <p:spPr>
          <a:xfrm>
            <a:off x="7040880" y="3026664"/>
            <a:ext cx="4297680" cy="457200"/>
          </a:xfrm>
          <a:prstGeom prst="rect">
            <a:avLst/>
          </a:prstGeom>
          <a:noFill/>
          <a:ln/>
        </p:spPr>
        <p:txBody>
          <a:bodyPr wrap="square" lIns="0" tIns="0" rIns="0" bIns="0" rtlCol="0" anchor="ctr"/>
          <a:lstStyle/>
          <a:p>
            <a:pPr indent="0" marL="0">
              <a:buNone/>
            </a:pPr>
            <a:r>
              <a:rPr lang="en-US" sz="1200" b="1" dirty="0">
                <a:solidFill>
                  <a:srgbClr val="1D4A35"/>
                </a:solidFill>
                <a:latin typeface="Meiryo UI" pitchFamily="34" charset="0"/>
                <a:ea typeface="Meiryo UI" pitchFamily="34" charset="-122"/>
                <a:cs typeface="Meiryo UI" pitchFamily="34" charset="-120"/>
              </a:rPr>
              <a:t>発信が途切れず、登録者・フォロワーが積み上がる</a:t>
            </a:r>
            <a:endParaRPr lang="en-US" sz="1200" dirty="0"/>
          </a:p>
        </p:txBody>
      </p:sp>
      <p:sp>
        <p:nvSpPr>
          <p:cNvPr id="25" name="Text 23"/>
          <p:cNvSpPr txBox="1"/>
          <p:nvPr/>
        </p:nvSpPr>
        <p:spPr>
          <a:xfrm>
            <a:off x="548640" y="3557016"/>
            <a:ext cx="1371600" cy="457200"/>
          </a:xfrm>
          <a:prstGeom prst="rect">
            <a:avLst/>
          </a:prstGeom>
          <a:noFill/>
          <a:ln/>
        </p:spPr>
        <p:txBody>
          <a:bodyPr wrap="square" lIns="0" tIns="0" rIns="0" bIns="0" rtlCol="0" anchor="ctr"/>
          <a:lstStyle/>
          <a:p>
            <a:pPr indent="0" marL="0">
              <a:buNone/>
            </a:pPr>
            <a:r>
              <a:rPr lang="en-US" sz="1250" b="1" dirty="0">
                <a:solidFill>
                  <a:srgbClr val="2F7A55"/>
                </a:solidFill>
                <a:latin typeface="Meiryo UI" pitchFamily="34" charset="0"/>
                <a:ea typeface="Meiryo UI" pitchFamily="34" charset="-122"/>
                <a:cs typeface="Meiryo UI" pitchFamily="34" charset="-120"/>
              </a:rPr>
              <a:t>子育て講座</a:t>
            </a:r>
            <a:endParaRPr lang="en-US" sz="1250" dirty="0"/>
          </a:p>
        </p:txBody>
      </p:sp>
      <p:sp>
        <p:nvSpPr>
          <p:cNvPr id="26" name="Shape 24"/>
          <p:cNvSpPr/>
          <p:nvPr/>
        </p:nvSpPr>
        <p:spPr>
          <a:xfrm>
            <a:off x="2011680" y="3557016"/>
            <a:ext cx="4663440" cy="457200"/>
          </a:xfrm>
          <a:prstGeom prst="roundRect">
            <a:avLst>
              <a:gd name="adj" fmla="val 24000"/>
            </a:avLst>
          </a:prstGeom>
          <a:solidFill>
            <a:srgbClr val="F5F9F6"/>
          </a:solidFill>
          <a:ln w="12700">
            <a:solidFill>
              <a:srgbClr val="F5F9F6"/>
            </a:solidFill>
            <a:prstDash val="solid"/>
          </a:ln>
        </p:spPr>
      </p:sp>
      <p:sp>
        <p:nvSpPr>
          <p:cNvPr id="27" name="Text 25"/>
          <p:cNvSpPr txBox="1"/>
          <p:nvPr/>
        </p:nvSpPr>
        <p:spPr>
          <a:xfrm>
            <a:off x="2194560" y="3557016"/>
            <a:ext cx="4297680" cy="457200"/>
          </a:xfrm>
          <a:prstGeom prst="rect">
            <a:avLst/>
          </a:prstGeom>
          <a:noFill/>
          <a:ln/>
        </p:spPr>
        <p:txBody>
          <a:bodyPr wrap="square" lIns="0" tIns="0" rIns="0" bIns="0" rtlCol="0" anchor="ctr"/>
          <a:lstStyle/>
          <a:p>
            <a:pPr indent="0" marL="0">
              <a:buNone/>
            </a:pPr>
            <a:r>
              <a:rPr lang="en-US" sz="1200" dirty="0">
                <a:solidFill>
                  <a:srgbClr val="7A8580"/>
                </a:solidFill>
                <a:latin typeface="Meiryo UI" pitchFamily="34" charset="0"/>
                <a:ea typeface="Meiryo UI" pitchFamily="34" charset="-122"/>
                <a:cs typeface="Meiryo UI" pitchFamily="34" charset="-120"/>
              </a:rPr>
              <a:t>告知の準備がローンチに間に合わない</a:t>
            </a:r>
            <a:endParaRPr lang="en-US" sz="1200" dirty="0"/>
          </a:p>
        </p:txBody>
      </p:sp>
      <p:sp>
        <p:nvSpPr>
          <p:cNvPr id="28" name="Shape 26"/>
          <p:cNvSpPr/>
          <p:nvPr/>
        </p:nvSpPr>
        <p:spPr>
          <a:xfrm>
            <a:off x="6858000" y="3557016"/>
            <a:ext cx="4663440" cy="457200"/>
          </a:xfrm>
          <a:prstGeom prst="roundRect">
            <a:avLst>
              <a:gd name="adj" fmla="val 24000"/>
            </a:avLst>
          </a:prstGeom>
          <a:solidFill>
            <a:srgbClr val="FDECEA"/>
          </a:solidFill>
          <a:ln w="12700">
            <a:solidFill>
              <a:srgbClr val="FDECEA"/>
            </a:solidFill>
            <a:prstDash val="solid"/>
          </a:ln>
        </p:spPr>
      </p:sp>
      <p:sp>
        <p:nvSpPr>
          <p:cNvPr id="29" name="Text 27"/>
          <p:cNvSpPr txBox="1"/>
          <p:nvPr/>
        </p:nvSpPr>
        <p:spPr>
          <a:xfrm>
            <a:off x="7040880" y="3557016"/>
            <a:ext cx="4297680" cy="457200"/>
          </a:xfrm>
          <a:prstGeom prst="rect">
            <a:avLst/>
          </a:prstGeom>
          <a:noFill/>
          <a:ln/>
        </p:spPr>
        <p:txBody>
          <a:bodyPr wrap="square" lIns="0" tIns="0" rIns="0" bIns="0" rtlCol="0" anchor="ctr"/>
          <a:lstStyle/>
          <a:p>
            <a:pPr indent="0" marL="0">
              <a:buNone/>
            </a:pPr>
            <a:r>
              <a:rPr lang="en-US" sz="1200" b="1" dirty="0">
                <a:solidFill>
                  <a:srgbClr val="1D4A35"/>
                </a:solidFill>
                <a:latin typeface="Meiryo UI" pitchFamily="34" charset="0"/>
                <a:ea typeface="Meiryo UI" pitchFamily="34" charset="-122"/>
                <a:cs typeface="Meiryo UI" pitchFamily="34" charset="-120"/>
              </a:rPr>
              <a:t>講座リリースに向けて集客導線が整う</a:t>
            </a:r>
            <a:endParaRPr lang="en-US" sz="1200" dirty="0"/>
          </a:p>
        </p:txBody>
      </p:sp>
      <p:sp>
        <p:nvSpPr>
          <p:cNvPr id="30" name="Text 28"/>
          <p:cNvSpPr txBox="1"/>
          <p:nvPr/>
        </p:nvSpPr>
        <p:spPr>
          <a:xfrm>
            <a:off x="548640" y="4087368"/>
            <a:ext cx="1371600" cy="457200"/>
          </a:xfrm>
          <a:prstGeom prst="rect">
            <a:avLst/>
          </a:prstGeom>
          <a:noFill/>
          <a:ln/>
        </p:spPr>
        <p:txBody>
          <a:bodyPr wrap="square" lIns="0" tIns="0" rIns="0" bIns="0" rtlCol="0" anchor="ctr"/>
          <a:lstStyle/>
          <a:p>
            <a:pPr indent="0" marL="0">
              <a:buNone/>
            </a:pPr>
            <a:r>
              <a:rPr lang="en-US" sz="1250" b="1" dirty="0">
                <a:solidFill>
                  <a:srgbClr val="2F7A55"/>
                </a:solidFill>
                <a:latin typeface="Meiryo UI" pitchFamily="34" charset="0"/>
                <a:ea typeface="Meiryo UI" pitchFamily="34" charset="-122"/>
                <a:cs typeface="Meiryo UI" pitchFamily="34" charset="-120"/>
              </a:rPr>
              <a:t>成果まで</a:t>
            </a:r>
            <a:endParaRPr lang="en-US" sz="1250" dirty="0"/>
          </a:p>
        </p:txBody>
      </p:sp>
      <p:sp>
        <p:nvSpPr>
          <p:cNvPr id="31" name="Shape 29"/>
          <p:cNvSpPr/>
          <p:nvPr/>
        </p:nvSpPr>
        <p:spPr>
          <a:xfrm>
            <a:off x="2011680" y="4087368"/>
            <a:ext cx="4663440" cy="457200"/>
          </a:xfrm>
          <a:prstGeom prst="roundRect">
            <a:avLst>
              <a:gd name="adj" fmla="val 24000"/>
            </a:avLst>
          </a:prstGeom>
          <a:solidFill>
            <a:srgbClr val="F5F9F6"/>
          </a:solidFill>
          <a:ln w="12700">
            <a:solidFill>
              <a:srgbClr val="F5F9F6"/>
            </a:solidFill>
            <a:prstDash val="solid"/>
          </a:ln>
        </p:spPr>
      </p:sp>
      <p:sp>
        <p:nvSpPr>
          <p:cNvPr id="32" name="Text 30"/>
          <p:cNvSpPr txBox="1"/>
          <p:nvPr/>
        </p:nvSpPr>
        <p:spPr>
          <a:xfrm>
            <a:off x="2194560" y="4087368"/>
            <a:ext cx="4297680" cy="457200"/>
          </a:xfrm>
          <a:prstGeom prst="rect">
            <a:avLst/>
          </a:prstGeom>
          <a:noFill/>
          <a:ln/>
        </p:spPr>
        <p:txBody>
          <a:bodyPr wrap="square" lIns="0" tIns="0" rIns="0" bIns="0" rtlCol="0" anchor="ctr"/>
          <a:lstStyle/>
          <a:p>
            <a:pPr indent="0" marL="0">
              <a:buNone/>
            </a:pPr>
            <a:r>
              <a:rPr lang="en-US" sz="1200" dirty="0">
                <a:solidFill>
                  <a:srgbClr val="7A8580"/>
                </a:solidFill>
                <a:latin typeface="Meiryo UI" pitchFamily="34" charset="0"/>
                <a:ea typeface="Meiryo UI" pitchFamily="34" charset="-122"/>
                <a:cs typeface="Meiryo UI" pitchFamily="34" charset="-120"/>
              </a:rPr>
              <a:t>実質的に3〜4ヶ月後ろ倒し</a:t>
            </a:r>
            <a:endParaRPr lang="en-US" sz="1200" dirty="0"/>
          </a:p>
        </p:txBody>
      </p:sp>
      <p:sp>
        <p:nvSpPr>
          <p:cNvPr id="33" name="Shape 31"/>
          <p:cNvSpPr/>
          <p:nvPr/>
        </p:nvSpPr>
        <p:spPr>
          <a:xfrm>
            <a:off x="6858000" y="4087368"/>
            <a:ext cx="4663440" cy="457200"/>
          </a:xfrm>
          <a:prstGeom prst="roundRect">
            <a:avLst>
              <a:gd name="adj" fmla="val 24000"/>
            </a:avLst>
          </a:prstGeom>
          <a:solidFill>
            <a:srgbClr val="FDECEA"/>
          </a:solidFill>
          <a:ln w="12700">
            <a:solidFill>
              <a:srgbClr val="FDECEA"/>
            </a:solidFill>
            <a:prstDash val="solid"/>
          </a:ln>
        </p:spPr>
      </p:sp>
      <p:sp>
        <p:nvSpPr>
          <p:cNvPr id="34" name="Text 32"/>
          <p:cNvSpPr txBox="1"/>
          <p:nvPr/>
        </p:nvSpPr>
        <p:spPr>
          <a:xfrm>
            <a:off x="7040880" y="4087368"/>
            <a:ext cx="4297680" cy="457200"/>
          </a:xfrm>
          <a:prstGeom prst="rect">
            <a:avLst/>
          </a:prstGeom>
          <a:noFill/>
          <a:ln/>
        </p:spPr>
        <p:txBody>
          <a:bodyPr wrap="square" lIns="0" tIns="0" rIns="0" bIns="0" rtlCol="0" anchor="ctr"/>
          <a:lstStyle/>
          <a:p>
            <a:pPr indent="0" marL="0">
              <a:buNone/>
            </a:pPr>
            <a:r>
              <a:rPr lang="en-US" sz="1200" b="1" dirty="0">
                <a:solidFill>
                  <a:srgbClr val="1D4A35"/>
                </a:solidFill>
                <a:latin typeface="Meiryo UI" pitchFamily="34" charset="0"/>
                <a:ea typeface="Meiryo UI" pitchFamily="34" charset="-122"/>
                <a:cs typeface="Meiryo UI" pitchFamily="34" charset="-120"/>
              </a:rPr>
              <a:t>最短ルートで成果創出へ</a:t>
            </a:r>
            <a:endParaRPr lang="en-US" sz="1200" dirty="0"/>
          </a:p>
        </p:txBody>
      </p:sp>
      <p:sp>
        <p:nvSpPr>
          <p:cNvPr id="35" name="Text 33"/>
          <p:cNvSpPr txBox="1"/>
          <p:nvPr/>
        </p:nvSpPr>
        <p:spPr>
          <a:xfrm>
            <a:off x="548640" y="4754880"/>
            <a:ext cx="2743200" cy="320040"/>
          </a:xfrm>
          <a:prstGeom prst="rect">
            <a:avLst/>
          </a:prstGeom>
          <a:noFill/>
          <a:ln/>
        </p:spPr>
        <p:txBody>
          <a:bodyPr wrap="square" lIns="0" tIns="0" rIns="0" bIns="0" rtlCol="0" anchor="t"/>
          <a:lstStyle/>
          <a:p>
            <a:pPr indent="0" marL="0">
              <a:buNone/>
            </a:pPr>
            <a:r>
              <a:rPr lang="en-US" sz="1400" b="1" dirty="0">
                <a:solidFill>
                  <a:srgbClr val="D8614F"/>
                </a:solidFill>
                <a:latin typeface="Meiryo UI" pitchFamily="34" charset="0"/>
                <a:ea typeface="Meiryo UI" pitchFamily="34" charset="-122"/>
                <a:cs typeface="Meiryo UI" pitchFamily="34" charset="-120"/>
              </a:rPr>
              <a:t>移行の流れ</a:t>
            </a:r>
            <a:endParaRPr lang="en-US" sz="1400" dirty="0"/>
          </a:p>
        </p:txBody>
      </p:sp>
      <p:sp>
        <p:nvSpPr>
          <p:cNvPr id="36" name="Shape 34"/>
          <p:cNvSpPr/>
          <p:nvPr/>
        </p:nvSpPr>
        <p:spPr>
          <a:xfrm>
            <a:off x="548640" y="5120640"/>
            <a:ext cx="2533574" cy="1143000"/>
          </a:xfrm>
          <a:prstGeom prst="roundRect">
            <a:avLst>
              <a:gd name="adj" fmla="val 9600"/>
            </a:avLst>
          </a:prstGeom>
          <a:solidFill>
            <a:srgbClr val="1D4A35"/>
          </a:solidFill>
          <a:ln w="12700">
            <a:solidFill>
              <a:srgbClr val="1D4A35"/>
            </a:solidFill>
            <a:prstDash val="solid"/>
          </a:ln>
        </p:spPr>
      </p:sp>
      <p:sp>
        <p:nvSpPr>
          <p:cNvPr id="37" name="Text 35"/>
          <p:cNvSpPr txBox="1"/>
          <p:nvPr/>
        </p:nvSpPr>
        <p:spPr>
          <a:xfrm>
            <a:off x="731520" y="5193792"/>
            <a:ext cx="2167814" cy="320040"/>
          </a:xfrm>
          <a:prstGeom prst="rect">
            <a:avLst/>
          </a:prstGeom>
          <a:noFill/>
          <a:ln/>
        </p:spPr>
        <p:txBody>
          <a:bodyPr wrap="square" lIns="0" tIns="0" rIns="0" bIns="0" rtlCol="0" anchor="t"/>
          <a:lstStyle/>
          <a:p>
            <a:pPr indent="0" marL="0">
              <a:buNone/>
            </a:pPr>
            <a:r>
              <a:rPr lang="en-US" sz="1300" b="1" dirty="0">
                <a:solidFill>
                  <a:srgbClr val="F6B3AA"/>
                </a:solidFill>
                <a:latin typeface="Meiryo UI" pitchFamily="34" charset="0"/>
                <a:ea typeface="Meiryo UI" pitchFamily="34" charset="-122"/>
                <a:cs typeface="Meiryo UI" pitchFamily="34" charset="-120"/>
              </a:rPr>
              <a:t>ご契約時</a:t>
            </a:r>
            <a:endParaRPr lang="en-US" sz="1300" dirty="0"/>
          </a:p>
        </p:txBody>
      </p:sp>
      <p:sp>
        <p:nvSpPr>
          <p:cNvPr id="38" name="Text 36"/>
          <p:cNvSpPr txBox="1"/>
          <p:nvPr/>
        </p:nvSpPr>
        <p:spPr>
          <a:xfrm>
            <a:off x="731520" y="5513832"/>
            <a:ext cx="2167814" cy="685800"/>
          </a:xfrm>
          <a:prstGeom prst="rect">
            <a:avLst/>
          </a:prstGeom>
          <a:noFill/>
          <a:ln/>
        </p:spPr>
        <p:txBody>
          <a:bodyPr wrap="square" lIns="0" tIns="0" rIns="0" bIns="0" rtlCol="0" anchor="t"/>
          <a:lstStyle/>
          <a:p>
            <a:pPr indent="0" marL="0">
              <a:buNone/>
            </a:pPr>
            <a:r>
              <a:rPr lang="en-US" sz="1150" dirty="0">
                <a:solidFill>
                  <a:srgbClr val="FFFFFF"/>
                </a:solidFill>
                <a:latin typeface="Meiryo UI" pitchFamily="34" charset="0"/>
                <a:ea typeface="Meiryo UI" pitchFamily="34" charset="-122"/>
                <a:cs typeface="Meiryo UI" pitchFamily="34" charset="-120"/>
              </a:rPr>
              <a:t>伴走プランのご契約</a:t>
            </a:r>
            <a:endParaRPr lang="en-US" sz="1150" dirty="0"/>
          </a:p>
          <a:p>
            <a:pPr indent="0" marL="0">
              <a:buNone/>
            </a:pPr>
            <a:r>
              <a:rPr lang="en-US" sz="1150" dirty="0">
                <a:solidFill>
                  <a:srgbClr val="FFFFFF"/>
                </a:solidFill>
                <a:latin typeface="Meiryo UI" pitchFamily="34" charset="0"/>
                <a:ea typeface="Meiryo UI" pitchFamily="34" charset="-122"/>
                <a:cs typeface="Meiryo UI" pitchFamily="34" charset="-120"/>
              </a:rPr>
              <a:t>（フェーズ1を初月に組み込み）</a:t>
            </a:r>
            <a:endParaRPr lang="en-US" sz="1150" dirty="0"/>
          </a:p>
        </p:txBody>
      </p:sp>
      <p:pic>
        <p:nvPicPr>
          <p:cNvPr id="39" name="Image 0" descr="preencoded.png">    </p:cNvPr>
          <p:cNvPicPr>
            <a:picLocks noChangeAspect="1"/>
          </p:cNvPicPr>
          <p:nvPr/>
        </p:nvPicPr>
        <p:blipFill>
          <a:blip r:embed="rId1"/>
          <a:stretch>
            <a:fillRect/>
          </a:stretch>
        </p:blipFill>
        <p:spPr>
          <a:xfrm>
            <a:off x="3146222" y="5550408"/>
            <a:ext cx="201168" cy="274320"/>
          </a:xfrm>
          <a:prstGeom prst="rect">
            <a:avLst/>
          </a:prstGeom>
        </p:spPr>
      </p:pic>
      <p:sp>
        <p:nvSpPr>
          <p:cNvPr id="40" name="Shape 37"/>
          <p:cNvSpPr/>
          <p:nvPr/>
        </p:nvSpPr>
        <p:spPr>
          <a:xfrm>
            <a:off x="3402254" y="5120640"/>
            <a:ext cx="2533574" cy="1143000"/>
          </a:xfrm>
          <a:prstGeom prst="roundRect">
            <a:avLst>
              <a:gd name="adj" fmla="val 9600"/>
            </a:avLst>
          </a:prstGeom>
          <a:solidFill>
            <a:srgbClr val="EAF4EE"/>
          </a:solidFill>
          <a:ln w="12700">
            <a:solidFill>
              <a:srgbClr val="EAF4EE"/>
            </a:solidFill>
            <a:prstDash val="solid"/>
          </a:ln>
        </p:spPr>
      </p:sp>
      <p:sp>
        <p:nvSpPr>
          <p:cNvPr id="41" name="Text 38"/>
          <p:cNvSpPr txBox="1"/>
          <p:nvPr/>
        </p:nvSpPr>
        <p:spPr>
          <a:xfrm>
            <a:off x="3585134" y="5193792"/>
            <a:ext cx="2167814" cy="320040"/>
          </a:xfrm>
          <a:prstGeom prst="rect">
            <a:avLst/>
          </a:prstGeom>
          <a:noFill/>
          <a:ln/>
        </p:spPr>
        <p:txBody>
          <a:bodyPr wrap="square" lIns="0" tIns="0" rIns="0" bIns="0" rtlCol="0" anchor="t"/>
          <a:lstStyle/>
          <a:p>
            <a:pPr indent="0" marL="0">
              <a:buNone/>
            </a:pPr>
            <a:r>
              <a:rPr lang="en-US" sz="1300" b="1" dirty="0">
                <a:solidFill>
                  <a:srgbClr val="2F7A55"/>
                </a:solidFill>
                <a:latin typeface="Meiryo UI" pitchFamily="34" charset="0"/>
                <a:ea typeface="Meiryo UI" pitchFamily="34" charset="-122"/>
                <a:cs typeface="Meiryo UI" pitchFamily="34" charset="-120"/>
              </a:rPr>
              <a:t>約6週間</a:t>
            </a:r>
            <a:endParaRPr lang="en-US" sz="1300" dirty="0"/>
          </a:p>
        </p:txBody>
      </p:sp>
      <p:sp>
        <p:nvSpPr>
          <p:cNvPr id="42" name="Text 39"/>
          <p:cNvSpPr txBox="1"/>
          <p:nvPr/>
        </p:nvSpPr>
        <p:spPr>
          <a:xfrm>
            <a:off x="3585134" y="5513832"/>
            <a:ext cx="2167814" cy="685800"/>
          </a:xfrm>
          <a:prstGeom prst="rect">
            <a:avLst/>
          </a:prstGeom>
          <a:noFill/>
          <a:ln/>
        </p:spPr>
        <p:txBody>
          <a:bodyPr wrap="square" lIns="0" tIns="0" rIns="0" bIns="0" rtlCol="0" anchor="t"/>
          <a:lstStyle/>
          <a:p>
            <a:pPr indent="0" marL="0">
              <a:buNone/>
            </a:pPr>
            <a:r>
              <a:rPr lang="en-US" sz="1150" dirty="0">
                <a:solidFill>
                  <a:srgbClr val="2A3330"/>
                </a:solidFill>
                <a:latin typeface="Meiryo UI" pitchFamily="34" charset="0"/>
                <a:ea typeface="Meiryo UI" pitchFamily="34" charset="-122"/>
                <a:cs typeface="Meiryo UI" pitchFamily="34" charset="-120"/>
              </a:rPr>
              <a:t>無料3本の制作・配信・検証</a:t>
            </a:r>
            <a:endParaRPr lang="en-US" sz="1150" dirty="0"/>
          </a:p>
        </p:txBody>
      </p:sp>
      <p:pic>
        <p:nvPicPr>
          <p:cNvPr id="43" name="Image 1" descr="preencoded.png">    </p:cNvPr>
          <p:cNvPicPr>
            <a:picLocks noChangeAspect="1"/>
          </p:cNvPicPr>
          <p:nvPr/>
        </p:nvPicPr>
        <p:blipFill>
          <a:blip r:embed="rId2"/>
          <a:stretch>
            <a:fillRect/>
          </a:stretch>
        </p:blipFill>
        <p:spPr>
          <a:xfrm>
            <a:off x="5999836" y="5550408"/>
            <a:ext cx="201168" cy="274320"/>
          </a:xfrm>
          <a:prstGeom prst="rect">
            <a:avLst/>
          </a:prstGeom>
        </p:spPr>
      </p:pic>
      <p:sp>
        <p:nvSpPr>
          <p:cNvPr id="44" name="Shape 40"/>
          <p:cNvSpPr/>
          <p:nvPr/>
        </p:nvSpPr>
        <p:spPr>
          <a:xfrm>
            <a:off x="6255868" y="5120640"/>
            <a:ext cx="2533574" cy="1143000"/>
          </a:xfrm>
          <a:prstGeom prst="roundRect">
            <a:avLst>
              <a:gd name="adj" fmla="val 9600"/>
            </a:avLst>
          </a:prstGeom>
          <a:solidFill>
            <a:srgbClr val="EAF4EE"/>
          </a:solidFill>
          <a:ln w="12700">
            <a:solidFill>
              <a:srgbClr val="EAF4EE"/>
            </a:solidFill>
            <a:prstDash val="solid"/>
          </a:ln>
        </p:spPr>
      </p:sp>
      <p:sp>
        <p:nvSpPr>
          <p:cNvPr id="45" name="Text 41"/>
          <p:cNvSpPr txBox="1"/>
          <p:nvPr/>
        </p:nvSpPr>
        <p:spPr>
          <a:xfrm>
            <a:off x="6438748" y="5193792"/>
            <a:ext cx="2167814" cy="320040"/>
          </a:xfrm>
          <a:prstGeom prst="rect">
            <a:avLst/>
          </a:prstGeom>
          <a:noFill/>
          <a:ln/>
        </p:spPr>
        <p:txBody>
          <a:bodyPr wrap="square" lIns="0" tIns="0" rIns="0" bIns="0" rtlCol="0" anchor="t"/>
          <a:lstStyle/>
          <a:p>
            <a:pPr indent="0" marL="0">
              <a:buNone/>
            </a:pPr>
            <a:r>
              <a:rPr lang="en-US" sz="1300" b="1" dirty="0">
                <a:solidFill>
                  <a:srgbClr val="2F7A55"/>
                </a:solidFill>
                <a:latin typeface="Meiryo UI" pitchFamily="34" charset="0"/>
                <a:ea typeface="Meiryo UI" pitchFamily="34" charset="-122"/>
                <a:cs typeface="Meiryo UI" pitchFamily="34" charset="-120"/>
              </a:rPr>
              <a:t>検証レポート会</a:t>
            </a:r>
            <a:endParaRPr lang="en-US" sz="1300" dirty="0"/>
          </a:p>
        </p:txBody>
      </p:sp>
      <p:sp>
        <p:nvSpPr>
          <p:cNvPr id="46" name="Text 42"/>
          <p:cNvSpPr txBox="1"/>
          <p:nvPr/>
        </p:nvSpPr>
        <p:spPr>
          <a:xfrm>
            <a:off x="6438748" y="5513832"/>
            <a:ext cx="2167814" cy="685800"/>
          </a:xfrm>
          <a:prstGeom prst="rect">
            <a:avLst/>
          </a:prstGeom>
          <a:noFill/>
          <a:ln/>
        </p:spPr>
        <p:txBody>
          <a:bodyPr wrap="square" lIns="0" tIns="0" rIns="0" bIns="0" rtlCol="0" anchor="t"/>
          <a:lstStyle/>
          <a:p>
            <a:pPr indent="0" marL="0">
              <a:buNone/>
            </a:pPr>
            <a:r>
              <a:rPr lang="en-US" sz="1150" dirty="0">
                <a:solidFill>
                  <a:srgbClr val="2A3330"/>
                </a:solidFill>
                <a:latin typeface="Meiryo UI" pitchFamily="34" charset="0"/>
                <a:ea typeface="Meiryo UI" pitchFamily="34" charset="-122"/>
                <a:cs typeface="Meiryo UI" pitchFamily="34" charset="-120"/>
              </a:rPr>
              <a:t>勝ちパターンの特定と</a:t>
            </a:r>
            <a:endParaRPr lang="en-US" sz="1150" dirty="0"/>
          </a:p>
          <a:p>
            <a:pPr indent="0" marL="0">
              <a:buNone/>
            </a:pPr>
            <a:r>
              <a:rPr lang="en-US" sz="1150" dirty="0">
                <a:solidFill>
                  <a:srgbClr val="2A3330"/>
                </a:solidFill>
                <a:latin typeface="Meiryo UI" pitchFamily="34" charset="0"/>
                <a:ea typeface="Meiryo UI" pitchFamily="34" charset="-122"/>
                <a:cs typeface="Meiryo UI" pitchFamily="34" charset="-120"/>
              </a:rPr>
              <a:t>フェーズ2計画の確定</a:t>
            </a:r>
            <a:endParaRPr lang="en-US" sz="1150" dirty="0"/>
          </a:p>
        </p:txBody>
      </p:sp>
      <p:pic>
        <p:nvPicPr>
          <p:cNvPr id="47" name="Image 2" descr="preencoded.png">    </p:cNvPr>
          <p:cNvPicPr>
            <a:picLocks noChangeAspect="1"/>
          </p:cNvPicPr>
          <p:nvPr/>
        </p:nvPicPr>
        <p:blipFill>
          <a:blip r:embed="rId3"/>
          <a:stretch>
            <a:fillRect/>
          </a:stretch>
        </p:blipFill>
        <p:spPr>
          <a:xfrm>
            <a:off x="8853449" y="5550408"/>
            <a:ext cx="201168" cy="274320"/>
          </a:xfrm>
          <a:prstGeom prst="rect">
            <a:avLst/>
          </a:prstGeom>
        </p:spPr>
      </p:pic>
      <p:sp>
        <p:nvSpPr>
          <p:cNvPr id="48" name="Shape 43"/>
          <p:cNvSpPr/>
          <p:nvPr/>
        </p:nvSpPr>
        <p:spPr>
          <a:xfrm>
            <a:off x="9109481" y="5120640"/>
            <a:ext cx="2533574" cy="1143000"/>
          </a:xfrm>
          <a:prstGeom prst="roundRect">
            <a:avLst>
              <a:gd name="adj" fmla="val 9600"/>
            </a:avLst>
          </a:prstGeom>
          <a:solidFill>
            <a:srgbClr val="EAF4EE"/>
          </a:solidFill>
          <a:ln w="12700">
            <a:solidFill>
              <a:srgbClr val="EAF4EE"/>
            </a:solidFill>
            <a:prstDash val="solid"/>
          </a:ln>
        </p:spPr>
      </p:sp>
      <p:sp>
        <p:nvSpPr>
          <p:cNvPr id="49" name="Text 44"/>
          <p:cNvSpPr txBox="1"/>
          <p:nvPr/>
        </p:nvSpPr>
        <p:spPr>
          <a:xfrm>
            <a:off x="9292361" y="5193792"/>
            <a:ext cx="2167814" cy="320040"/>
          </a:xfrm>
          <a:prstGeom prst="rect">
            <a:avLst/>
          </a:prstGeom>
          <a:noFill/>
          <a:ln/>
        </p:spPr>
        <p:txBody>
          <a:bodyPr wrap="square" lIns="0" tIns="0" rIns="0" bIns="0" rtlCol="0" anchor="t"/>
          <a:lstStyle/>
          <a:p>
            <a:pPr indent="0" marL="0">
              <a:buNone/>
            </a:pPr>
            <a:r>
              <a:rPr lang="en-US" sz="1300" b="1" dirty="0">
                <a:solidFill>
                  <a:srgbClr val="2F7A55"/>
                </a:solidFill>
                <a:latin typeface="Meiryo UI" pitchFamily="34" charset="0"/>
                <a:ea typeface="Meiryo UI" pitchFamily="34" charset="-122"/>
                <a:cs typeface="Meiryo UI" pitchFamily="34" charset="-120"/>
              </a:rPr>
              <a:t>フェーズ2開始</a:t>
            </a:r>
            <a:endParaRPr lang="en-US" sz="1300" dirty="0"/>
          </a:p>
        </p:txBody>
      </p:sp>
      <p:sp>
        <p:nvSpPr>
          <p:cNvPr id="50" name="Text 45"/>
          <p:cNvSpPr txBox="1"/>
          <p:nvPr/>
        </p:nvSpPr>
        <p:spPr>
          <a:xfrm>
            <a:off x="9292361" y="5513832"/>
            <a:ext cx="2167814" cy="685800"/>
          </a:xfrm>
          <a:prstGeom prst="rect">
            <a:avLst/>
          </a:prstGeom>
          <a:noFill/>
          <a:ln/>
        </p:spPr>
        <p:txBody>
          <a:bodyPr wrap="square" lIns="0" tIns="0" rIns="0" bIns="0" rtlCol="0" anchor="t"/>
          <a:lstStyle/>
          <a:p>
            <a:pPr indent="0" marL="0">
              <a:buNone/>
            </a:pPr>
            <a:r>
              <a:rPr lang="en-US" sz="1150" dirty="0">
                <a:solidFill>
                  <a:srgbClr val="2A3330"/>
                </a:solidFill>
                <a:latin typeface="Meiryo UI" pitchFamily="34" charset="0"/>
                <a:ea typeface="Meiryo UI" pitchFamily="34" charset="-122"/>
                <a:cs typeface="Meiryo UI" pitchFamily="34" charset="-120"/>
              </a:rPr>
              <a:t>追加制作・運用・講座ローンチ</a:t>
            </a:r>
            <a:endParaRPr lang="en-US" sz="1150" dirty="0"/>
          </a:p>
          <a:p>
            <a:pPr indent="0" marL="0">
              <a:buNone/>
            </a:pPr>
            <a:r>
              <a:rPr lang="en-US" sz="1150" dirty="0">
                <a:solidFill>
                  <a:srgbClr val="2A3330"/>
                </a:solidFill>
                <a:latin typeface="Meiryo UI" pitchFamily="34" charset="0"/>
                <a:ea typeface="Meiryo UI" pitchFamily="34" charset="-122"/>
                <a:cs typeface="Meiryo UI" pitchFamily="34" charset="-120"/>
              </a:rPr>
              <a:t>による本格展開</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8614F"/>
                </a:solidFill>
                <a:latin typeface="Meiryo UI" pitchFamily="34" charset="0"/>
                <a:ea typeface="Meiryo UI" pitchFamily="34" charset="-122"/>
                <a:cs typeface="Meiryo UI" pitchFamily="34" charset="-120"/>
              </a:rPr>
              <a:t>06｜COST OF WAITING</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2F7A55"/>
                </a:solidFill>
                <a:latin typeface="Meiryo UI" pitchFamily="34" charset="0"/>
                <a:ea typeface="Meiryo UI" pitchFamily="34" charset="-122"/>
                <a:cs typeface="Meiryo UI" pitchFamily="34" charset="-120"/>
              </a:rPr>
              <a:t>「様子見」による機会損失の考え方</a:t>
            </a:r>
            <a:endParaRPr lang="en-US" sz="2600" dirty="0"/>
          </a:p>
        </p:txBody>
      </p:sp>
      <p:sp>
        <p:nvSpPr>
          <p:cNvPr id="4" name="Text 2"/>
          <p:cNvSpPr txBox="1"/>
          <p:nvPr/>
        </p:nvSpPr>
        <p:spPr>
          <a:xfrm>
            <a:off x="548640" y="1207008"/>
            <a:ext cx="11094415" cy="365760"/>
          </a:xfrm>
          <a:prstGeom prst="rect">
            <a:avLst/>
          </a:prstGeom>
          <a:noFill/>
          <a:ln/>
        </p:spPr>
        <p:txBody>
          <a:bodyPr wrap="square" lIns="0" tIns="0" rIns="0" bIns="0" rtlCol="0" anchor="ctr"/>
          <a:lstStyle/>
          <a:p>
            <a:pPr indent="0" marL="0">
              <a:buNone/>
            </a:pPr>
            <a:r>
              <a:rPr lang="en-US" sz="1300" dirty="0">
                <a:solidFill>
                  <a:srgbClr val="66786F"/>
                </a:solidFill>
                <a:latin typeface="Meiryo UI" pitchFamily="34" charset="0"/>
                <a:ea typeface="Meiryo UI" pitchFamily="34" charset="-122"/>
                <a:cs typeface="Meiryo UI" pitchFamily="34" charset="-120"/>
              </a:rPr>
              <a:t>オンライン塾は継続受講が見込めるストック型のサービス。1ヶ月の遅れは「1ヶ月分の売上」では終わりません。</a:t>
            </a:r>
            <a:endParaRPr lang="en-US" sz="1300" dirty="0"/>
          </a:p>
        </p:txBody>
      </p:sp>
      <p:sp>
        <p:nvSpPr>
          <p:cNvPr id="5" name="Text 3"/>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0"/>
                </a:solidFill>
                <a:latin typeface="Meiryo UI" pitchFamily="34" charset="0"/>
                <a:ea typeface="Meiryo UI" pitchFamily="34" charset="-122"/>
                <a:cs typeface="Meiryo UI" pitchFamily="34" charset="-120"/>
              </a:rPr>
              <a:t>22</a:t>
            </a:r>
            <a:endParaRPr lang="en-US" sz="1000" dirty="0"/>
          </a:p>
        </p:txBody>
      </p:sp>
      <p:sp>
        <p:nvSpPr>
          <p:cNvPr id="6" name="Text 4"/>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0"/>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7" name="Shape 5"/>
          <p:cNvSpPr/>
          <p:nvPr/>
        </p:nvSpPr>
        <p:spPr>
          <a:xfrm>
            <a:off x="548640" y="1874520"/>
            <a:ext cx="2331720" cy="1737360"/>
          </a:xfrm>
          <a:prstGeom prst="roundRect">
            <a:avLst>
              <a:gd name="adj" fmla="val 6316"/>
            </a:avLst>
          </a:prstGeom>
          <a:solidFill>
            <a:srgbClr val="F5F9F6"/>
          </a:solidFill>
          <a:ln w="12700">
            <a:solidFill>
              <a:srgbClr val="F5F9F6"/>
            </a:solidFill>
            <a:prstDash val="solid"/>
          </a:ln>
        </p:spPr>
      </p:sp>
      <p:sp>
        <p:nvSpPr>
          <p:cNvPr id="8" name="Text 6"/>
          <p:cNvSpPr txBox="1"/>
          <p:nvPr/>
        </p:nvSpPr>
        <p:spPr>
          <a:xfrm>
            <a:off x="548640" y="1965960"/>
            <a:ext cx="2331720" cy="868680"/>
          </a:xfrm>
          <a:prstGeom prst="rect">
            <a:avLst/>
          </a:prstGeom>
          <a:noFill/>
          <a:ln/>
        </p:spPr>
        <p:txBody>
          <a:bodyPr wrap="square" lIns="0" tIns="0" rIns="0" bIns="0" rtlCol="0" anchor="ctr"/>
          <a:lstStyle/>
          <a:p>
            <a:pPr algn="ctr" indent="0" marL="0">
              <a:buNone/>
            </a:pPr>
            <a:r>
              <a:rPr lang="en-US" sz="3400" b="1" dirty="0">
                <a:solidFill>
                  <a:srgbClr val="1D4A35"/>
                </a:solidFill>
                <a:latin typeface="Meiryo UI" pitchFamily="34" charset="0"/>
                <a:ea typeface="Meiryo UI" pitchFamily="34" charset="-122"/>
                <a:cs typeface="Meiryo UI" pitchFamily="34" charset="-120"/>
              </a:rPr>
              <a:t>約2万円</a:t>
            </a:r>
            <a:endParaRPr lang="en-US" sz="3400" dirty="0"/>
          </a:p>
        </p:txBody>
      </p:sp>
      <p:sp>
        <p:nvSpPr>
          <p:cNvPr id="9" name="Text 7"/>
          <p:cNvSpPr txBox="1"/>
          <p:nvPr/>
        </p:nvSpPr>
        <p:spPr>
          <a:xfrm>
            <a:off x="548640" y="2834640"/>
            <a:ext cx="2331720" cy="685800"/>
          </a:xfrm>
          <a:prstGeom prst="rect">
            <a:avLst/>
          </a:prstGeom>
          <a:noFill/>
          <a:ln/>
        </p:spPr>
        <p:txBody>
          <a:bodyPr wrap="square" lIns="0" tIns="0" rIns="0" bIns="0" rtlCol="0" anchor="t"/>
          <a:lstStyle/>
          <a:p>
            <a:pPr algn="ctr" indent="0" marL="0">
              <a:buNone/>
            </a:pPr>
            <a:r>
              <a:rPr lang="en-US" sz="1200" dirty="0">
                <a:solidFill>
                  <a:srgbClr val="66786F"/>
                </a:solidFill>
                <a:latin typeface="Meiryo UI" pitchFamily="34" charset="0"/>
                <a:ea typeface="Meiryo UI" pitchFamily="34" charset="-122"/>
                <a:cs typeface="Meiryo UI" pitchFamily="34" charset="-120"/>
              </a:rPr>
              <a:t>オンライン塾の</a:t>
            </a:r>
            <a:endParaRPr lang="en-US" sz="1200" dirty="0"/>
          </a:p>
          <a:p>
            <a:pPr algn="ctr" indent="0" marL="0">
              <a:buNone/>
            </a:pPr>
            <a:r>
              <a:rPr lang="en-US" sz="1200" dirty="0">
                <a:solidFill>
                  <a:srgbClr val="66786F"/>
                </a:solidFill>
                <a:latin typeface="Meiryo UI" pitchFamily="34" charset="0"/>
                <a:ea typeface="Meiryo UI" pitchFamily="34" charset="-122"/>
                <a:cs typeface="Meiryo UI" pitchFamily="34" charset="-120"/>
              </a:rPr>
              <a:t>月謝（仮）</a:t>
            </a:r>
            <a:endParaRPr lang="en-US" sz="1200" dirty="0"/>
          </a:p>
        </p:txBody>
      </p:sp>
      <p:sp>
        <p:nvSpPr>
          <p:cNvPr id="10" name="Text 8"/>
          <p:cNvSpPr txBox="1"/>
          <p:nvPr/>
        </p:nvSpPr>
        <p:spPr>
          <a:xfrm>
            <a:off x="2880360" y="2331720"/>
            <a:ext cx="502920" cy="731520"/>
          </a:xfrm>
          <a:prstGeom prst="rect">
            <a:avLst/>
          </a:prstGeom>
          <a:noFill/>
          <a:ln/>
        </p:spPr>
        <p:txBody>
          <a:bodyPr wrap="square" lIns="0" tIns="0" rIns="0" bIns="0" rtlCol="0" anchor="ctr"/>
          <a:lstStyle/>
          <a:p>
            <a:pPr algn="ctr" indent="0" marL="0">
              <a:buNone/>
            </a:pPr>
            <a:r>
              <a:rPr lang="en-US" sz="3000" b="1" dirty="0">
                <a:solidFill>
                  <a:srgbClr val="D8614F"/>
                </a:solidFill>
                <a:latin typeface="Meiryo UI" pitchFamily="34" charset="0"/>
                <a:ea typeface="Meiryo UI" pitchFamily="34" charset="-122"/>
                <a:cs typeface="Meiryo UI" pitchFamily="34" charset="-120"/>
              </a:rPr>
              <a:t>×</a:t>
            </a:r>
            <a:endParaRPr lang="en-US" sz="3000" dirty="0"/>
          </a:p>
        </p:txBody>
      </p:sp>
      <p:sp>
        <p:nvSpPr>
          <p:cNvPr id="11" name="Shape 9"/>
          <p:cNvSpPr/>
          <p:nvPr/>
        </p:nvSpPr>
        <p:spPr>
          <a:xfrm>
            <a:off x="3383280" y="1874520"/>
            <a:ext cx="2331720" cy="1737360"/>
          </a:xfrm>
          <a:prstGeom prst="roundRect">
            <a:avLst>
              <a:gd name="adj" fmla="val 6316"/>
            </a:avLst>
          </a:prstGeom>
          <a:solidFill>
            <a:srgbClr val="F5F9F6"/>
          </a:solidFill>
          <a:ln w="12700">
            <a:solidFill>
              <a:srgbClr val="F5F9F6"/>
            </a:solidFill>
            <a:prstDash val="solid"/>
          </a:ln>
        </p:spPr>
      </p:sp>
      <p:sp>
        <p:nvSpPr>
          <p:cNvPr id="12" name="Text 10"/>
          <p:cNvSpPr txBox="1"/>
          <p:nvPr/>
        </p:nvSpPr>
        <p:spPr>
          <a:xfrm>
            <a:off x="3383280" y="1965960"/>
            <a:ext cx="2331720" cy="868680"/>
          </a:xfrm>
          <a:prstGeom prst="rect">
            <a:avLst/>
          </a:prstGeom>
          <a:noFill/>
          <a:ln/>
        </p:spPr>
        <p:txBody>
          <a:bodyPr wrap="square" lIns="0" tIns="0" rIns="0" bIns="0" rtlCol="0" anchor="ctr"/>
          <a:lstStyle/>
          <a:p>
            <a:pPr algn="ctr" indent="0" marL="0">
              <a:buNone/>
            </a:pPr>
            <a:r>
              <a:rPr lang="en-US" sz="3400" b="1" dirty="0">
                <a:solidFill>
                  <a:srgbClr val="1D4A35"/>
                </a:solidFill>
                <a:latin typeface="Meiryo UI" pitchFamily="34" charset="0"/>
                <a:ea typeface="Meiryo UI" pitchFamily="34" charset="-122"/>
                <a:cs typeface="Meiryo UI" pitchFamily="34" charset="-120"/>
              </a:rPr>
              <a:t>12ヶ月</a:t>
            </a:r>
            <a:endParaRPr lang="en-US" sz="3400" dirty="0"/>
          </a:p>
        </p:txBody>
      </p:sp>
      <p:sp>
        <p:nvSpPr>
          <p:cNvPr id="13" name="Text 11"/>
          <p:cNvSpPr txBox="1"/>
          <p:nvPr/>
        </p:nvSpPr>
        <p:spPr>
          <a:xfrm>
            <a:off x="3383280" y="2834640"/>
            <a:ext cx="2331720" cy="685800"/>
          </a:xfrm>
          <a:prstGeom prst="rect">
            <a:avLst/>
          </a:prstGeom>
          <a:noFill/>
          <a:ln/>
        </p:spPr>
        <p:txBody>
          <a:bodyPr wrap="square" lIns="0" tIns="0" rIns="0" bIns="0" rtlCol="0" anchor="t"/>
          <a:lstStyle/>
          <a:p>
            <a:pPr algn="ctr" indent="0" marL="0">
              <a:buNone/>
            </a:pPr>
            <a:r>
              <a:rPr lang="en-US" sz="1200" dirty="0">
                <a:solidFill>
                  <a:srgbClr val="66786F"/>
                </a:solidFill>
                <a:latin typeface="Meiryo UI" pitchFamily="34" charset="0"/>
                <a:ea typeface="Meiryo UI" pitchFamily="34" charset="-122"/>
                <a:cs typeface="Meiryo UI" pitchFamily="34" charset="-120"/>
              </a:rPr>
              <a:t>平均継続期間（仮）</a:t>
            </a:r>
            <a:endParaRPr lang="en-US" sz="1200" dirty="0"/>
          </a:p>
        </p:txBody>
      </p:sp>
      <p:sp>
        <p:nvSpPr>
          <p:cNvPr id="14" name="Text 12"/>
          <p:cNvSpPr txBox="1"/>
          <p:nvPr/>
        </p:nvSpPr>
        <p:spPr>
          <a:xfrm>
            <a:off x="5715000" y="2331720"/>
            <a:ext cx="502920" cy="731520"/>
          </a:xfrm>
          <a:prstGeom prst="rect">
            <a:avLst/>
          </a:prstGeom>
          <a:noFill/>
          <a:ln/>
        </p:spPr>
        <p:txBody>
          <a:bodyPr wrap="square" lIns="0" tIns="0" rIns="0" bIns="0" rtlCol="0" anchor="ctr"/>
          <a:lstStyle/>
          <a:p>
            <a:pPr algn="ctr" indent="0" marL="0">
              <a:buNone/>
            </a:pPr>
            <a:r>
              <a:rPr lang="en-US" sz="3000" b="1" dirty="0">
                <a:solidFill>
                  <a:srgbClr val="D8614F"/>
                </a:solidFill>
                <a:latin typeface="Meiryo UI" pitchFamily="34" charset="0"/>
                <a:ea typeface="Meiryo UI" pitchFamily="34" charset="-122"/>
                <a:cs typeface="Meiryo UI" pitchFamily="34" charset="-120"/>
              </a:rPr>
              <a:t>=</a:t>
            </a:r>
            <a:endParaRPr lang="en-US" sz="3000" dirty="0"/>
          </a:p>
        </p:txBody>
      </p:sp>
      <p:sp>
        <p:nvSpPr>
          <p:cNvPr id="15" name="Shape 13"/>
          <p:cNvSpPr/>
          <p:nvPr/>
        </p:nvSpPr>
        <p:spPr>
          <a:xfrm>
            <a:off x="6217920" y="1874520"/>
            <a:ext cx="2331720" cy="1737360"/>
          </a:xfrm>
          <a:prstGeom prst="roundRect">
            <a:avLst>
              <a:gd name="adj" fmla="val 6316"/>
            </a:avLst>
          </a:prstGeom>
          <a:solidFill>
            <a:srgbClr val="EAF4EE"/>
          </a:solidFill>
          <a:ln w="12700">
            <a:solidFill>
              <a:srgbClr val="EAF4EE"/>
            </a:solidFill>
            <a:prstDash val="solid"/>
          </a:ln>
        </p:spPr>
      </p:sp>
      <p:sp>
        <p:nvSpPr>
          <p:cNvPr id="16" name="Text 14"/>
          <p:cNvSpPr txBox="1"/>
          <p:nvPr/>
        </p:nvSpPr>
        <p:spPr>
          <a:xfrm>
            <a:off x="6217920" y="1965960"/>
            <a:ext cx="2331720" cy="868680"/>
          </a:xfrm>
          <a:prstGeom prst="rect">
            <a:avLst/>
          </a:prstGeom>
          <a:noFill/>
          <a:ln/>
        </p:spPr>
        <p:txBody>
          <a:bodyPr wrap="square" lIns="0" tIns="0" rIns="0" bIns="0" rtlCol="0" anchor="ctr"/>
          <a:lstStyle/>
          <a:p>
            <a:pPr algn="ctr" indent="0" marL="0">
              <a:buNone/>
            </a:pPr>
            <a:r>
              <a:rPr lang="en-US" sz="3400" b="1" dirty="0">
                <a:solidFill>
                  <a:srgbClr val="2F7A55"/>
                </a:solidFill>
                <a:latin typeface="Meiryo UI" pitchFamily="34" charset="0"/>
                <a:ea typeface="Meiryo UI" pitchFamily="34" charset="-122"/>
                <a:cs typeface="Meiryo UI" pitchFamily="34" charset="-120"/>
              </a:rPr>
              <a:t>約24万円</a:t>
            </a:r>
            <a:endParaRPr lang="en-US" sz="3400" dirty="0"/>
          </a:p>
        </p:txBody>
      </p:sp>
      <p:sp>
        <p:nvSpPr>
          <p:cNvPr id="17" name="Text 15"/>
          <p:cNvSpPr txBox="1"/>
          <p:nvPr/>
        </p:nvSpPr>
        <p:spPr>
          <a:xfrm>
            <a:off x="6217920" y="2834640"/>
            <a:ext cx="2331720" cy="685800"/>
          </a:xfrm>
          <a:prstGeom prst="rect">
            <a:avLst/>
          </a:prstGeom>
          <a:noFill/>
          <a:ln/>
        </p:spPr>
        <p:txBody>
          <a:bodyPr wrap="square" lIns="0" tIns="0" rIns="0" bIns="0" rtlCol="0" anchor="t"/>
          <a:lstStyle/>
          <a:p>
            <a:pPr algn="ctr" indent="0" marL="0">
              <a:buNone/>
            </a:pPr>
            <a:r>
              <a:rPr lang="en-US" sz="1200" dirty="0">
                <a:solidFill>
                  <a:srgbClr val="66786F"/>
                </a:solidFill>
                <a:latin typeface="Meiryo UI" pitchFamily="34" charset="0"/>
                <a:ea typeface="Meiryo UI" pitchFamily="34" charset="-122"/>
                <a:cs typeface="Meiryo UI" pitchFamily="34" charset="-120"/>
              </a:rPr>
              <a:t>塾生1名あたりの</a:t>
            </a:r>
            <a:endParaRPr lang="en-US" sz="1200" dirty="0"/>
          </a:p>
          <a:p>
            <a:pPr algn="ctr" indent="0" marL="0">
              <a:buNone/>
            </a:pPr>
            <a:r>
              <a:rPr lang="en-US" sz="1200" dirty="0">
                <a:solidFill>
                  <a:srgbClr val="66786F"/>
                </a:solidFill>
                <a:latin typeface="Meiryo UI" pitchFamily="34" charset="0"/>
                <a:ea typeface="Meiryo UI" pitchFamily="34" charset="-122"/>
                <a:cs typeface="Meiryo UI" pitchFamily="34" charset="-120"/>
              </a:rPr>
              <a:t>生涯売上</a:t>
            </a:r>
            <a:endParaRPr lang="en-US" sz="1200" dirty="0"/>
          </a:p>
        </p:txBody>
      </p:sp>
      <p:sp>
        <p:nvSpPr>
          <p:cNvPr id="18" name="Shape 16"/>
          <p:cNvSpPr/>
          <p:nvPr/>
        </p:nvSpPr>
        <p:spPr>
          <a:xfrm>
            <a:off x="8869680" y="1874520"/>
            <a:ext cx="2773375" cy="1737360"/>
          </a:xfrm>
          <a:prstGeom prst="roundRect">
            <a:avLst>
              <a:gd name="adj" fmla="val 6316"/>
            </a:avLst>
          </a:prstGeom>
          <a:solidFill>
            <a:srgbClr val="1D4A35"/>
          </a:solidFill>
          <a:ln w="12700">
            <a:solidFill>
              <a:srgbClr val="1D4A35"/>
            </a:solidFill>
            <a:prstDash val="solid"/>
          </a:ln>
        </p:spPr>
      </p:sp>
      <p:sp>
        <p:nvSpPr>
          <p:cNvPr id="19" name="Text 17"/>
          <p:cNvSpPr txBox="1"/>
          <p:nvPr/>
        </p:nvSpPr>
        <p:spPr>
          <a:xfrm>
            <a:off x="9052560" y="2011680"/>
            <a:ext cx="2407615" cy="274320"/>
          </a:xfrm>
          <a:prstGeom prst="rect">
            <a:avLst/>
          </a:prstGeom>
          <a:noFill/>
          <a:ln/>
        </p:spPr>
        <p:txBody>
          <a:bodyPr wrap="square" lIns="0" tIns="0" rIns="0" bIns="0" rtlCol="0" anchor="t"/>
          <a:lstStyle/>
          <a:p>
            <a:pPr algn="ctr" indent="0" marL="0">
              <a:buNone/>
            </a:pPr>
            <a:r>
              <a:rPr lang="en-US" sz="1100" dirty="0">
                <a:solidFill>
                  <a:srgbClr val="D5E9DC"/>
                </a:solidFill>
                <a:latin typeface="Meiryo UI" pitchFamily="34" charset="0"/>
                <a:ea typeface="Meiryo UI" pitchFamily="34" charset="-122"/>
                <a:cs typeface="Meiryo UI" pitchFamily="34" charset="-120"/>
              </a:rPr>
              <a:t>後ろ倒し期間（仮）</a:t>
            </a:r>
            <a:endParaRPr lang="en-US" sz="1100" dirty="0"/>
          </a:p>
        </p:txBody>
      </p:sp>
      <p:sp>
        <p:nvSpPr>
          <p:cNvPr id="20" name="Text 18"/>
          <p:cNvSpPr txBox="1"/>
          <p:nvPr/>
        </p:nvSpPr>
        <p:spPr>
          <a:xfrm>
            <a:off x="9052560" y="2286000"/>
            <a:ext cx="2407615"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Meiryo UI" pitchFamily="34" charset="0"/>
                <a:ea typeface="Meiryo UI" pitchFamily="34" charset="-122"/>
                <a:cs typeface="Meiryo UI" pitchFamily="34" charset="-120"/>
              </a:rPr>
              <a:t>3ヶ月</a:t>
            </a:r>
            <a:endParaRPr lang="en-US" sz="3000" dirty="0"/>
          </a:p>
        </p:txBody>
      </p:sp>
      <p:sp>
        <p:nvSpPr>
          <p:cNvPr id="21" name="Text 19"/>
          <p:cNvSpPr txBox="1"/>
          <p:nvPr/>
        </p:nvSpPr>
        <p:spPr>
          <a:xfrm>
            <a:off x="9052560" y="3063240"/>
            <a:ext cx="2407615" cy="365760"/>
          </a:xfrm>
          <a:prstGeom prst="rect">
            <a:avLst/>
          </a:prstGeom>
          <a:noFill/>
          <a:ln/>
        </p:spPr>
        <p:txBody>
          <a:bodyPr wrap="square" lIns="0" tIns="0" rIns="0" bIns="0" rtlCol="0" anchor="t"/>
          <a:lstStyle/>
          <a:p>
            <a:pPr algn="ctr" indent="0" marL="0">
              <a:buNone/>
            </a:pPr>
            <a:r>
              <a:rPr lang="en-US" sz="1100" dirty="0">
                <a:solidFill>
                  <a:srgbClr val="D5E9DC"/>
                </a:solidFill>
                <a:latin typeface="Meiryo UI" pitchFamily="34" charset="0"/>
                <a:ea typeface="Meiryo UI" pitchFamily="34" charset="-122"/>
                <a:cs typeface="Meiryo UI" pitchFamily="34" charset="-120"/>
              </a:rPr>
              <a:t>検討・再見積り・再立ち上げ</a:t>
            </a:r>
            <a:endParaRPr lang="en-US" sz="1100" dirty="0"/>
          </a:p>
        </p:txBody>
      </p:sp>
      <p:sp>
        <p:nvSpPr>
          <p:cNvPr id="22" name="Shape 20"/>
          <p:cNvSpPr/>
          <p:nvPr/>
        </p:nvSpPr>
        <p:spPr>
          <a:xfrm>
            <a:off x="548640" y="3931920"/>
            <a:ext cx="11094415" cy="1600200"/>
          </a:xfrm>
          <a:prstGeom prst="roundRect">
            <a:avLst>
              <a:gd name="adj" fmla="val 6857"/>
            </a:avLst>
          </a:prstGeom>
          <a:solidFill>
            <a:srgbClr val="FDECEA"/>
          </a:solidFill>
          <a:ln w="12700">
            <a:solidFill>
              <a:srgbClr val="FDECEA"/>
            </a:solidFill>
            <a:prstDash val="solid"/>
          </a:ln>
        </p:spPr>
      </p:sp>
      <p:sp>
        <p:nvSpPr>
          <p:cNvPr id="23" name="Text 21"/>
          <p:cNvSpPr txBox="1"/>
          <p:nvPr/>
        </p:nvSpPr>
        <p:spPr>
          <a:xfrm>
            <a:off x="914400" y="4069080"/>
            <a:ext cx="5943600" cy="365760"/>
          </a:xfrm>
          <a:prstGeom prst="rect">
            <a:avLst/>
          </a:prstGeom>
          <a:noFill/>
          <a:ln/>
        </p:spPr>
        <p:txBody>
          <a:bodyPr wrap="square" lIns="0" tIns="0" rIns="0" bIns="0" rtlCol="0" anchor="t"/>
          <a:lstStyle/>
          <a:p>
            <a:pPr indent="0" marL="0">
              <a:buNone/>
            </a:pPr>
            <a:r>
              <a:rPr lang="en-US" sz="1400" b="1" dirty="0">
                <a:solidFill>
                  <a:srgbClr val="1D4A35"/>
                </a:solidFill>
                <a:latin typeface="Meiryo UI" pitchFamily="34" charset="0"/>
                <a:ea typeface="Meiryo UI" pitchFamily="34" charset="-122"/>
                <a:cs typeface="Meiryo UI" pitchFamily="34" charset="-120"/>
              </a:rPr>
              <a:t>仮に月3名の新規入会が3ヶ月遅れると……</a:t>
            </a:r>
            <a:endParaRPr lang="en-US" sz="1400" dirty="0"/>
          </a:p>
        </p:txBody>
      </p:sp>
      <p:sp>
        <p:nvSpPr>
          <p:cNvPr id="24" name="Text 22"/>
          <p:cNvSpPr txBox="1"/>
          <p:nvPr/>
        </p:nvSpPr>
        <p:spPr>
          <a:xfrm>
            <a:off x="914400" y="4526280"/>
            <a:ext cx="4572000" cy="822960"/>
          </a:xfrm>
          <a:prstGeom prst="rect">
            <a:avLst/>
          </a:prstGeom>
          <a:noFill/>
          <a:ln/>
        </p:spPr>
        <p:txBody>
          <a:bodyPr wrap="square" lIns="0" tIns="0" rIns="0" bIns="0" rtlCol="0" anchor="ctr"/>
          <a:lstStyle/>
          <a:p>
            <a:pPr indent="0" marL="0">
              <a:buNone/>
            </a:pPr>
            <a:r>
              <a:rPr lang="en-US" sz="2600" b="1" dirty="0">
                <a:solidFill>
                  <a:srgbClr val="1D4A35"/>
                </a:solidFill>
                <a:latin typeface="Meiryo UI" pitchFamily="34" charset="0"/>
                <a:ea typeface="Meiryo UI" pitchFamily="34" charset="-122"/>
                <a:cs typeface="Meiryo UI" pitchFamily="34" charset="-120"/>
              </a:rPr>
              <a:t>24万円 × 9名 ＝</a:t>
            </a:r>
            <a:endParaRPr lang="en-US" sz="2600" dirty="0"/>
          </a:p>
        </p:txBody>
      </p:sp>
      <p:sp>
        <p:nvSpPr>
          <p:cNvPr id="25" name="Text 23"/>
          <p:cNvSpPr txBox="1"/>
          <p:nvPr/>
        </p:nvSpPr>
        <p:spPr>
          <a:xfrm>
            <a:off x="5303520" y="4389120"/>
            <a:ext cx="4114800" cy="1005840"/>
          </a:xfrm>
          <a:prstGeom prst="rect">
            <a:avLst/>
          </a:prstGeom>
          <a:noFill/>
          <a:ln/>
        </p:spPr>
        <p:txBody>
          <a:bodyPr wrap="square" lIns="0" tIns="0" rIns="0" bIns="0" rtlCol="0" anchor="ctr"/>
          <a:lstStyle/>
          <a:p>
            <a:pPr indent="0" marL="0">
              <a:buNone/>
            </a:pPr>
            <a:r>
              <a:rPr lang="en-US" sz="4800" b="1" dirty="0">
                <a:solidFill>
                  <a:srgbClr val="D8614F"/>
                </a:solidFill>
                <a:latin typeface="Meiryo UI" pitchFamily="34" charset="0"/>
                <a:ea typeface="Meiryo UI" pitchFamily="34" charset="-122"/>
                <a:cs typeface="Meiryo UI" pitchFamily="34" charset="-120"/>
              </a:rPr>
              <a:t>約216万円</a:t>
            </a:r>
            <a:endParaRPr lang="en-US" sz="4800" dirty="0"/>
          </a:p>
        </p:txBody>
      </p:sp>
      <p:sp>
        <p:nvSpPr>
          <p:cNvPr id="26" name="Text 24"/>
          <p:cNvSpPr txBox="1"/>
          <p:nvPr/>
        </p:nvSpPr>
        <p:spPr>
          <a:xfrm>
            <a:off x="9281160" y="4526280"/>
            <a:ext cx="2194560" cy="822960"/>
          </a:xfrm>
          <a:prstGeom prst="rect">
            <a:avLst/>
          </a:prstGeom>
          <a:noFill/>
          <a:ln/>
        </p:spPr>
        <p:txBody>
          <a:bodyPr wrap="square" lIns="0" tIns="0" rIns="0" bIns="0" rtlCol="0" anchor="ctr"/>
          <a:lstStyle/>
          <a:p>
            <a:pPr indent="0" marL="0">
              <a:buNone/>
            </a:pPr>
            <a:r>
              <a:rPr lang="en-US" sz="2000" b="1" dirty="0">
                <a:solidFill>
                  <a:srgbClr val="1D4A35"/>
                </a:solidFill>
                <a:latin typeface="Meiryo UI" pitchFamily="34" charset="0"/>
                <a:ea typeface="Meiryo UI" pitchFamily="34" charset="-122"/>
                <a:cs typeface="Meiryo UI" pitchFamily="34" charset="-120"/>
              </a:rPr>
              <a:t>の機会損失</a:t>
            </a:r>
            <a:endParaRPr lang="en-US" sz="2000" dirty="0"/>
          </a:p>
        </p:txBody>
      </p:sp>
      <p:sp>
        <p:nvSpPr>
          <p:cNvPr id="27" name="Text 25"/>
          <p:cNvSpPr txBox="1"/>
          <p:nvPr/>
        </p:nvSpPr>
        <p:spPr>
          <a:xfrm>
            <a:off x="548640" y="5715000"/>
            <a:ext cx="11094415" cy="457200"/>
          </a:xfrm>
          <a:prstGeom prst="rect">
            <a:avLst/>
          </a:prstGeom>
          <a:noFill/>
          <a:ln/>
        </p:spPr>
        <p:txBody>
          <a:bodyPr wrap="square" lIns="0" tIns="0" rIns="0" bIns="0" rtlCol="0" anchor="t"/>
          <a:lstStyle/>
          <a:p>
            <a:pPr indent="0" marL="0">
              <a:buNone/>
            </a:pPr>
            <a:r>
              <a:rPr lang="en-US" sz="1100" dirty="0">
                <a:solidFill>
                  <a:srgbClr val="66786F"/>
                </a:solidFill>
                <a:latin typeface="Meiryo UI" pitchFamily="34" charset="0"/>
                <a:ea typeface="Meiryo UI" pitchFamily="34" charset="-122"/>
                <a:cs typeface="Meiryo UI" pitchFamily="34" charset="-120"/>
              </a:rPr>
              <a:t>※上記は考え方を示すための仮置きの数値です。子育て講座の売上は含みません。本日、貴社の実数値（月謝・継続期間・現在の入会数）で再計算させてください。</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8614F"/>
                </a:solidFill>
                <a:latin typeface="Meiryo UI" pitchFamily="34" charset="0"/>
                <a:ea typeface="Meiryo UI" pitchFamily="34" charset="-122"/>
                <a:cs typeface="Meiryo UI" pitchFamily="34" charset="-120"/>
              </a:rPr>
              <a:t>07｜TODAY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2F7A55"/>
                </a:solidFill>
                <a:latin typeface="Meiryo UI" pitchFamily="34" charset="0"/>
                <a:ea typeface="Meiryo UI" pitchFamily="34" charset="-122"/>
                <a:cs typeface="Meiryo UI" pitchFamily="34" charset="-120"/>
              </a:rPr>
              <a:t>本日ご確認させていただきたいこと</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0"/>
                </a:solidFill>
                <a:latin typeface="Meiryo UI" pitchFamily="34" charset="0"/>
                <a:ea typeface="Meiryo UI" pitchFamily="34" charset="-122"/>
                <a:cs typeface="Meiryo UI" pitchFamily="34" charset="-120"/>
              </a:rPr>
              <a:t>23</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0"/>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46304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777240" y="1719072"/>
            <a:ext cx="512064" cy="512064"/>
          </a:xfrm>
          <a:prstGeom prst="ellipse">
            <a:avLst/>
          </a:prstGeom>
          <a:solidFill>
            <a:srgbClr val="2F7A55"/>
          </a:solidFill>
          <a:ln w="12700">
            <a:solidFill>
              <a:srgbClr val="2F7A55"/>
            </a:solidFill>
            <a:prstDash val="solid"/>
          </a:ln>
        </p:spPr>
      </p:sp>
      <p:sp>
        <p:nvSpPr>
          <p:cNvPr id="8" name="Text 6"/>
          <p:cNvSpPr txBox="1"/>
          <p:nvPr/>
        </p:nvSpPr>
        <p:spPr>
          <a:xfrm>
            <a:off x="777240" y="171907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1</a:t>
            </a:r>
            <a:endParaRPr lang="en-US" sz="1500" dirty="0"/>
          </a:p>
        </p:txBody>
      </p:sp>
      <p:sp>
        <p:nvSpPr>
          <p:cNvPr id="9" name="Text 7"/>
          <p:cNvSpPr txBox="1"/>
          <p:nvPr/>
        </p:nvSpPr>
        <p:spPr>
          <a:xfrm>
            <a:off x="1463040" y="1572768"/>
            <a:ext cx="4312768" cy="548640"/>
          </a:xfrm>
          <a:prstGeom prst="rect">
            <a:avLst/>
          </a:prstGeom>
          <a:noFill/>
          <a:ln/>
        </p:spPr>
        <p:txBody>
          <a:bodyPr wrap="square" lIns="0" tIns="0" rIns="0" bIns="0" rtlCol="0" anchor="ctr"/>
          <a:lstStyle/>
          <a:p>
            <a:pPr indent="0" marL="0">
              <a:buNone/>
            </a:pPr>
            <a:r>
              <a:rPr lang="en-US" sz="1350" b="1" dirty="0">
                <a:solidFill>
                  <a:srgbClr val="1D4A35"/>
                </a:solidFill>
                <a:latin typeface="Meiryo UI" pitchFamily="34" charset="0"/>
                <a:ea typeface="Meiryo UI" pitchFamily="34" charset="-122"/>
                <a:cs typeface="Meiryo UI" pitchFamily="34" charset="-120"/>
              </a:rPr>
              <a:t>現在の塾生数（対面／オンライン）と受け入れ上限</a:t>
            </a:r>
            <a:endParaRPr lang="en-US" sz="1350" dirty="0"/>
          </a:p>
        </p:txBody>
      </p:sp>
      <p:sp>
        <p:nvSpPr>
          <p:cNvPr id="10" name="Text 8"/>
          <p:cNvSpPr txBox="1"/>
          <p:nvPr/>
        </p:nvSpPr>
        <p:spPr>
          <a:xfrm>
            <a:off x="1463040" y="2121408"/>
            <a:ext cx="4312768" cy="274320"/>
          </a:xfrm>
          <a:prstGeom prst="rect">
            <a:avLst/>
          </a:prstGeom>
          <a:noFill/>
          <a:ln/>
        </p:spPr>
        <p:txBody>
          <a:bodyPr wrap="square" lIns="0" tIns="0" rIns="0" bIns="0" rtlCol="0" anchor="t"/>
          <a:lstStyle/>
          <a:p>
            <a:pPr indent="0" marL="0">
              <a:buNone/>
            </a:pPr>
            <a:r>
              <a:rPr lang="en-US" sz="1100" dirty="0">
                <a:solidFill>
                  <a:srgbClr val="66786F"/>
                </a:solidFill>
                <a:latin typeface="Meiryo UI" pitchFamily="34" charset="0"/>
                <a:ea typeface="Meiryo UI" pitchFamily="34" charset="-122"/>
                <a:cs typeface="Meiryo UI" pitchFamily="34" charset="-120"/>
              </a:rPr>
              <a:t>目的：KPI・目標値の設定</a:t>
            </a:r>
            <a:endParaRPr lang="en-US" sz="1100" dirty="0"/>
          </a:p>
        </p:txBody>
      </p:sp>
      <p:sp>
        <p:nvSpPr>
          <p:cNvPr id="11" name="Shape 9"/>
          <p:cNvSpPr/>
          <p:nvPr/>
        </p:nvSpPr>
        <p:spPr>
          <a:xfrm>
            <a:off x="548640" y="265176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777240" y="2907792"/>
            <a:ext cx="512064" cy="512064"/>
          </a:xfrm>
          <a:prstGeom prst="ellipse">
            <a:avLst/>
          </a:prstGeom>
          <a:solidFill>
            <a:srgbClr val="2F7A55"/>
          </a:solidFill>
          <a:ln w="12700">
            <a:solidFill>
              <a:srgbClr val="2F7A55"/>
            </a:solidFill>
            <a:prstDash val="solid"/>
          </a:ln>
        </p:spPr>
      </p:sp>
      <p:sp>
        <p:nvSpPr>
          <p:cNvPr id="13" name="Text 11"/>
          <p:cNvSpPr txBox="1"/>
          <p:nvPr/>
        </p:nvSpPr>
        <p:spPr>
          <a:xfrm>
            <a:off x="777240" y="290779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2</a:t>
            </a:r>
            <a:endParaRPr lang="en-US" sz="1500" dirty="0"/>
          </a:p>
        </p:txBody>
      </p:sp>
      <p:sp>
        <p:nvSpPr>
          <p:cNvPr id="14" name="Text 12"/>
          <p:cNvSpPr txBox="1"/>
          <p:nvPr/>
        </p:nvSpPr>
        <p:spPr>
          <a:xfrm>
            <a:off x="1463040" y="2761488"/>
            <a:ext cx="4312768" cy="548640"/>
          </a:xfrm>
          <a:prstGeom prst="rect">
            <a:avLst/>
          </a:prstGeom>
          <a:noFill/>
          <a:ln/>
        </p:spPr>
        <p:txBody>
          <a:bodyPr wrap="square" lIns="0" tIns="0" rIns="0" bIns="0" rtlCol="0" anchor="ctr"/>
          <a:lstStyle/>
          <a:p>
            <a:pPr indent="0" marL="0">
              <a:buNone/>
            </a:pPr>
            <a:r>
              <a:rPr lang="en-US" sz="1350" b="1" dirty="0">
                <a:solidFill>
                  <a:srgbClr val="1D4A35"/>
                </a:solidFill>
                <a:latin typeface="Meiryo UI" pitchFamily="34" charset="0"/>
                <a:ea typeface="Meiryo UI" pitchFamily="34" charset="-122"/>
                <a:cs typeface="Meiryo UI" pitchFamily="34" charset="-120"/>
              </a:rPr>
              <a:t>月あたりの無料相談数と、入会までの割合</a:t>
            </a:r>
            <a:endParaRPr lang="en-US" sz="1350" dirty="0"/>
          </a:p>
        </p:txBody>
      </p:sp>
      <p:sp>
        <p:nvSpPr>
          <p:cNvPr id="15" name="Text 13"/>
          <p:cNvSpPr txBox="1"/>
          <p:nvPr/>
        </p:nvSpPr>
        <p:spPr>
          <a:xfrm>
            <a:off x="1463040" y="3310128"/>
            <a:ext cx="4312768" cy="274320"/>
          </a:xfrm>
          <a:prstGeom prst="rect">
            <a:avLst/>
          </a:prstGeom>
          <a:noFill/>
          <a:ln/>
        </p:spPr>
        <p:txBody>
          <a:bodyPr wrap="square" lIns="0" tIns="0" rIns="0" bIns="0" rtlCol="0" anchor="t"/>
          <a:lstStyle/>
          <a:p>
            <a:pPr indent="0" marL="0">
              <a:buNone/>
            </a:pPr>
            <a:r>
              <a:rPr lang="en-US" sz="1100" dirty="0">
                <a:solidFill>
                  <a:srgbClr val="66786F"/>
                </a:solidFill>
                <a:latin typeface="Meiryo UI" pitchFamily="34" charset="0"/>
                <a:ea typeface="Meiryo UI" pitchFamily="34" charset="-122"/>
                <a:cs typeface="Meiryo UI" pitchFamily="34" charset="-120"/>
              </a:rPr>
              <a:t>目的：転換率の把握</a:t>
            </a:r>
            <a:endParaRPr lang="en-US" sz="1100" dirty="0"/>
          </a:p>
        </p:txBody>
      </p:sp>
      <p:sp>
        <p:nvSpPr>
          <p:cNvPr id="16" name="Shape 14"/>
          <p:cNvSpPr/>
          <p:nvPr/>
        </p:nvSpPr>
        <p:spPr>
          <a:xfrm>
            <a:off x="548640" y="384048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777240" y="4096512"/>
            <a:ext cx="512064" cy="512064"/>
          </a:xfrm>
          <a:prstGeom prst="ellipse">
            <a:avLst/>
          </a:prstGeom>
          <a:solidFill>
            <a:srgbClr val="2F7A55"/>
          </a:solidFill>
          <a:ln w="12700">
            <a:solidFill>
              <a:srgbClr val="2F7A55"/>
            </a:solidFill>
            <a:prstDash val="solid"/>
          </a:ln>
        </p:spPr>
      </p:sp>
      <p:sp>
        <p:nvSpPr>
          <p:cNvPr id="18" name="Text 16"/>
          <p:cNvSpPr txBox="1"/>
          <p:nvPr/>
        </p:nvSpPr>
        <p:spPr>
          <a:xfrm>
            <a:off x="777240" y="409651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3</a:t>
            </a:r>
            <a:endParaRPr lang="en-US" sz="1500" dirty="0"/>
          </a:p>
        </p:txBody>
      </p:sp>
      <p:sp>
        <p:nvSpPr>
          <p:cNvPr id="19" name="Text 17"/>
          <p:cNvSpPr txBox="1"/>
          <p:nvPr/>
        </p:nvSpPr>
        <p:spPr>
          <a:xfrm>
            <a:off x="1463040" y="3950208"/>
            <a:ext cx="4312768" cy="548640"/>
          </a:xfrm>
          <a:prstGeom prst="rect">
            <a:avLst/>
          </a:prstGeom>
          <a:noFill/>
          <a:ln/>
        </p:spPr>
        <p:txBody>
          <a:bodyPr wrap="square" lIns="0" tIns="0" rIns="0" bIns="0" rtlCol="0" anchor="ctr"/>
          <a:lstStyle/>
          <a:p>
            <a:pPr indent="0" marL="0">
              <a:buNone/>
            </a:pPr>
            <a:r>
              <a:rPr lang="en-US" sz="1350" b="1" dirty="0">
                <a:solidFill>
                  <a:srgbClr val="1D4A35"/>
                </a:solidFill>
                <a:latin typeface="Meiryo UI" pitchFamily="34" charset="0"/>
                <a:ea typeface="Meiryo UI" pitchFamily="34" charset="-122"/>
                <a:cs typeface="Meiryo UI" pitchFamily="34" charset="-120"/>
              </a:rPr>
              <a:t>講演会1回あたりの参加者数と、相談への申込率</a:t>
            </a:r>
            <a:endParaRPr lang="en-US" sz="1350" dirty="0"/>
          </a:p>
        </p:txBody>
      </p:sp>
      <p:sp>
        <p:nvSpPr>
          <p:cNvPr id="20" name="Text 18"/>
          <p:cNvSpPr txBox="1"/>
          <p:nvPr/>
        </p:nvSpPr>
        <p:spPr>
          <a:xfrm>
            <a:off x="1463040" y="4498848"/>
            <a:ext cx="4312768" cy="274320"/>
          </a:xfrm>
          <a:prstGeom prst="rect">
            <a:avLst/>
          </a:prstGeom>
          <a:noFill/>
          <a:ln/>
        </p:spPr>
        <p:txBody>
          <a:bodyPr wrap="square" lIns="0" tIns="0" rIns="0" bIns="0" rtlCol="0" anchor="t"/>
          <a:lstStyle/>
          <a:p>
            <a:pPr indent="0" marL="0">
              <a:buNone/>
            </a:pPr>
            <a:r>
              <a:rPr lang="en-US" sz="1100" dirty="0">
                <a:solidFill>
                  <a:srgbClr val="66786F"/>
                </a:solidFill>
                <a:latin typeface="Meiryo UI" pitchFamily="34" charset="0"/>
                <a:ea typeface="Meiryo UI" pitchFamily="34" charset="-122"/>
                <a:cs typeface="Meiryo UI" pitchFamily="34" charset="-120"/>
              </a:rPr>
              <a:t>目的：プッシュ施策の設計</a:t>
            </a:r>
            <a:endParaRPr lang="en-US" sz="1100" dirty="0"/>
          </a:p>
        </p:txBody>
      </p:sp>
      <p:sp>
        <p:nvSpPr>
          <p:cNvPr id="21" name="Shape 19"/>
          <p:cNvSpPr/>
          <p:nvPr/>
        </p:nvSpPr>
        <p:spPr>
          <a:xfrm>
            <a:off x="548640" y="502920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2" name="Shape 20"/>
          <p:cNvSpPr/>
          <p:nvPr/>
        </p:nvSpPr>
        <p:spPr>
          <a:xfrm>
            <a:off x="777240" y="5285232"/>
            <a:ext cx="512064" cy="512064"/>
          </a:xfrm>
          <a:prstGeom prst="ellipse">
            <a:avLst/>
          </a:prstGeom>
          <a:solidFill>
            <a:srgbClr val="2F7A55"/>
          </a:solidFill>
          <a:ln w="12700">
            <a:solidFill>
              <a:srgbClr val="2F7A55"/>
            </a:solidFill>
            <a:prstDash val="solid"/>
          </a:ln>
        </p:spPr>
      </p:sp>
      <p:sp>
        <p:nvSpPr>
          <p:cNvPr id="23" name="Text 21"/>
          <p:cNvSpPr txBox="1"/>
          <p:nvPr/>
        </p:nvSpPr>
        <p:spPr>
          <a:xfrm>
            <a:off x="777240" y="528523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4</a:t>
            </a:r>
            <a:endParaRPr lang="en-US" sz="1500" dirty="0"/>
          </a:p>
        </p:txBody>
      </p:sp>
      <p:sp>
        <p:nvSpPr>
          <p:cNvPr id="24" name="Text 22"/>
          <p:cNvSpPr txBox="1"/>
          <p:nvPr/>
        </p:nvSpPr>
        <p:spPr>
          <a:xfrm>
            <a:off x="1463040" y="5138928"/>
            <a:ext cx="4312768" cy="548640"/>
          </a:xfrm>
          <a:prstGeom prst="rect">
            <a:avLst/>
          </a:prstGeom>
          <a:noFill/>
          <a:ln/>
        </p:spPr>
        <p:txBody>
          <a:bodyPr wrap="square" lIns="0" tIns="0" rIns="0" bIns="0" rtlCol="0" anchor="ctr"/>
          <a:lstStyle/>
          <a:p>
            <a:pPr indent="0" marL="0">
              <a:buNone/>
            </a:pPr>
            <a:r>
              <a:rPr lang="en-US" sz="1350" b="1" dirty="0">
                <a:solidFill>
                  <a:srgbClr val="1D4A35"/>
                </a:solidFill>
                <a:latin typeface="Meiryo UI" pitchFamily="34" charset="0"/>
                <a:ea typeface="Meiryo UI" pitchFamily="34" charset="-122"/>
                <a:cs typeface="Meiryo UI" pitchFamily="34" charset="-120"/>
              </a:rPr>
              <a:t>オンライン塾の月謝と平均継続期間</a:t>
            </a:r>
            <a:endParaRPr lang="en-US" sz="1350" dirty="0"/>
          </a:p>
        </p:txBody>
      </p:sp>
      <p:sp>
        <p:nvSpPr>
          <p:cNvPr id="25" name="Text 23"/>
          <p:cNvSpPr txBox="1"/>
          <p:nvPr/>
        </p:nvSpPr>
        <p:spPr>
          <a:xfrm>
            <a:off x="1463040" y="5687568"/>
            <a:ext cx="4312768" cy="274320"/>
          </a:xfrm>
          <a:prstGeom prst="rect">
            <a:avLst/>
          </a:prstGeom>
          <a:noFill/>
          <a:ln/>
        </p:spPr>
        <p:txBody>
          <a:bodyPr wrap="square" lIns="0" tIns="0" rIns="0" bIns="0" rtlCol="0" anchor="t"/>
          <a:lstStyle/>
          <a:p>
            <a:pPr indent="0" marL="0">
              <a:buNone/>
            </a:pPr>
            <a:r>
              <a:rPr lang="en-US" sz="1100" dirty="0">
                <a:solidFill>
                  <a:srgbClr val="66786F"/>
                </a:solidFill>
                <a:latin typeface="Meiryo UI" pitchFamily="34" charset="0"/>
                <a:ea typeface="Meiryo UI" pitchFamily="34" charset="-122"/>
                <a:cs typeface="Meiryo UI" pitchFamily="34" charset="-120"/>
              </a:rPr>
              <a:t>目的：投資対効果の算出</a:t>
            </a:r>
            <a:endParaRPr lang="en-US" sz="1100" dirty="0"/>
          </a:p>
        </p:txBody>
      </p:sp>
      <p:sp>
        <p:nvSpPr>
          <p:cNvPr id="26" name="Shape 24"/>
          <p:cNvSpPr/>
          <p:nvPr/>
        </p:nvSpPr>
        <p:spPr>
          <a:xfrm>
            <a:off x="6233008" y="146304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7" name="Shape 25"/>
          <p:cNvSpPr/>
          <p:nvPr/>
        </p:nvSpPr>
        <p:spPr>
          <a:xfrm>
            <a:off x="6461608" y="1719072"/>
            <a:ext cx="512064" cy="512064"/>
          </a:xfrm>
          <a:prstGeom prst="ellipse">
            <a:avLst/>
          </a:prstGeom>
          <a:solidFill>
            <a:srgbClr val="2F7A55"/>
          </a:solidFill>
          <a:ln w="12700">
            <a:solidFill>
              <a:srgbClr val="2F7A55"/>
            </a:solidFill>
            <a:prstDash val="solid"/>
          </a:ln>
        </p:spPr>
      </p:sp>
      <p:sp>
        <p:nvSpPr>
          <p:cNvPr id="28" name="Text 26"/>
          <p:cNvSpPr txBox="1"/>
          <p:nvPr/>
        </p:nvSpPr>
        <p:spPr>
          <a:xfrm>
            <a:off x="6461608" y="171907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5</a:t>
            </a:r>
            <a:endParaRPr lang="en-US" sz="1500" dirty="0"/>
          </a:p>
        </p:txBody>
      </p:sp>
      <p:sp>
        <p:nvSpPr>
          <p:cNvPr id="29" name="Text 27"/>
          <p:cNvSpPr txBox="1"/>
          <p:nvPr/>
        </p:nvSpPr>
        <p:spPr>
          <a:xfrm>
            <a:off x="7147408" y="1572768"/>
            <a:ext cx="4312768" cy="548640"/>
          </a:xfrm>
          <a:prstGeom prst="rect">
            <a:avLst/>
          </a:prstGeom>
          <a:noFill/>
          <a:ln/>
        </p:spPr>
        <p:txBody>
          <a:bodyPr wrap="square" lIns="0" tIns="0" rIns="0" bIns="0" rtlCol="0" anchor="ctr"/>
          <a:lstStyle/>
          <a:p>
            <a:pPr indent="0" marL="0">
              <a:buNone/>
            </a:pPr>
            <a:r>
              <a:rPr lang="en-US" sz="1350" b="1" dirty="0">
                <a:solidFill>
                  <a:srgbClr val="1D4A35"/>
                </a:solidFill>
                <a:latin typeface="Meiryo UI" pitchFamily="34" charset="0"/>
                <a:ea typeface="Meiryo UI" pitchFamily="34" charset="-122"/>
                <a:cs typeface="Meiryo UI" pitchFamily="34" charset="-120"/>
              </a:rPr>
              <a:t>子育て講座の内容・価格・定員・リリース時期</a:t>
            </a:r>
            <a:endParaRPr lang="en-US" sz="1350" dirty="0"/>
          </a:p>
        </p:txBody>
      </p:sp>
      <p:sp>
        <p:nvSpPr>
          <p:cNvPr id="30" name="Text 28"/>
          <p:cNvSpPr txBox="1"/>
          <p:nvPr/>
        </p:nvSpPr>
        <p:spPr>
          <a:xfrm>
            <a:off x="7147408" y="2121408"/>
            <a:ext cx="4312768" cy="274320"/>
          </a:xfrm>
          <a:prstGeom prst="rect">
            <a:avLst/>
          </a:prstGeom>
          <a:noFill/>
          <a:ln/>
        </p:spPr>
        <p:txBody>
          <a:bodyPr wrap="square" lIns="0" tIns="0" rIns="0" bIns="0" rtlCol="0" anchor="t"/>
          <a:lstStyle/>
          <a:p>
            <a:pPr indent="0" marL="0">
              <a:buNone/>
            </a:pPr>
            <a:r>
              <a:rPr lang="en-US" sz="1100" dirty="0">
                <a:solidFill>
                  <a:srgbClr val="66786F"/>
                </a:solidFill>
                <a:latin typeface="Meiryo UI" pitchFamily="34" charset="0"/>
                <a:ea typeface="Meiryo UI" pitchFamily="34" charset="-122"/>
                <a:cs typeface="Meiryo UI" pitchFamily="34" charset="-120"/>
              </a:rPr>
              <a:t>目的：講座ローンチ計画の設計</a:t>
            </a:r>
            <a:endParaRPr lang="en-US" sz="1100" dirty="0"/>
          </a:p>
        </p:txBody>
      </p:sp>
      <p:sp>
        <p:nvSpPr>
          <p:cNvPr id="31" name="Shape 29"/>
          <p:cNvSpPr/>
          <p:nvPr/>
        </p:nvSpPr>
        <p:spPr>
          <a:xfrm>
            <a:off x="6233008" y="265176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2" name="Shape 30"/>
          <p:cNvSpPr/>
          <p:nvPr/>
        </p:nvSpPr>
        <p:spPr>
          <a:xfrm>
            <a:off x="6461608" y="2907792"/>
            <a:ext cx="512064" cy="512064"/>
          </a:xfrm>
          <a:prstGeom prst="ellipse">
            <a:avLst/>
          </a:prstGeom>
          <a:solidFill>
            <a:srgbClr val="2F7A55"/>
          </a:solidFill>
          <a:ln w="12700">
            <a:solidFill>
              <a:srgbClr val="2F7A55"/>
            </a:solidFill>
            <a:prstDash val="solid"/>
          </a:ln>
        </p:spPr>
      </p:sp>
      <p:sp>
        <p:nvSpPr>
          <p:cNvPr id="33" name="Text 31"/>
          <p:cNvSpPr txBox="1"/>
          <p:nvPr/>
        </p:nvSpPr>
        <p:spPr>
          <a:xfrm>
            <a:off x="6461608" y="290779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6</a:t>
            </a:r>
            <a:endParaRPr lang="en-US" sz="1500" dirty="0"/>
          </a:p>
        </p:txBody>
      </p:sp>
      <p:sp>
        <p:nvSpPr>
          <p:cNvPr id="34" name="Text 32"/>
          <p:cNvSpPr txBox="1"/>
          <p:nvPr/>
        </p:nvSpPr>
        <p:spPr>
          <a:xfrm>
            <a:off x="7147408" y="2761488"/>
            <a:ext cx="4312768" cy="548640"/>
          </a:xfrm>
          <a:prstGeom prst="rect">
            <a:avLst/>
          </a:prstGeom>
          <a:noFill/>
          <a:ln/>
        </p:spPr>
        <p:txBody>
          <a:bodyPr wrap="square" lIns="0" tIns="0" rIns="0" bIns="0" rtlCol="0" anchor="ctr"/>
          <a:lstStyle/>
          <a:p>
            <a:pPr indent="0" marL="0">
              <a:buNone/>
            </a:pPr>
            <a:r>
              <a:rPr lang="en-US" sz="1350" b="1" dirty="0">
                <a:solidFill>
                  <a:srgbClr val="1D4A35"/>
                </a:solidFill>
                <a:latin typeface="Meiryo UI" pitchFamily="34" charset="0"/>
                <a:ea typeface="Meiryo UI" pitchFamily="34" charset="-122"/>
                <a:cs typeface="Meiryo UI" pitchFamily="34" charset="-120"/>
              </a:rPr>
              <a:t>Instagramのフォロワー数・サロン会員数・LINE登録者数</a:t>
            </a:r>
            <a:endParaRPr lang="en-US" sz="1350" dirty="0"/>
          </a:p>
        </p:txBody>
      </p:sp>
      <p:sp>
        <p:nvSpPr>
          <p:cNvPr id="35" name="Text 33"/>
          <p:cNvSpPr txBox="1"/>
          <p:nvPr/>
        </p:nvSpPr>
        <p:spPr>
          <a:xfrm>
            <a:off x="7147408" y="3310128"/>
            <a:ext cx="4312768" cy="274320"/>
          </a:xfrm>
          <a:prstGeom prst="rect">
            <a:avLst/>
          </a:prstGeom>
          <a:noFill/>
          <a:ln/>
        </p:spPr>
        <p:txBody>
          <a:bodyPr wrap="square" lIns="0" tIns="0" rIns="0" bIns="0" rtlCol="0" anchor="t"/>
          <a:lstStyle/>
          <a:p>
            <a:pPr indent="0" marL="0">
              <a:buNone/>
            </a:pPr>
            <a:r>
              <a:rPr lang="en-US" sz="1100" dirty="0">
                <a:solidFill>
                  <a:srgbClr val="66786F"/>
                </a:solidFill>
                <a:latin typeface="Meiryo UI" pitchFamily="34" charset="0"/>
                <a:ea typeface="Meiryo UI" pitchFamily="34" charset="-122"/>
                <a:cs typeface="Meiryo UI" pitchFamily="34" charset="-120"/>
              </a:rPr>
              <a:t>目的：プル施策の起点設計</a:t>
            </a:r>
            <a:endParaRPr lang="en-US" sz="1100" dirty="0"/>
          </a:p>
        </p:txBody>
      </p:sp>
      <p:sp>
        <p:nvSpPr>
          <p:cNvPr id="36" name="Shape 34"/>
          <p:cNvSpPr/>
          <p:nvPr/>
        </p:nvSpPr>
        <p:spPr>
          <a:xfrm>
            <a:off x="6233008" y="384048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7" name="Shape 35"/>
          <p:cNvSpPr/>
          <p:nvPr/>
        </p:nvSpPr>
        <p:spPr>
          <a:xfrm>
            <a:off x="6461608" y="4096512"/>
            <a:ext cx="512064" cy="512064"/>
          </a:xfrm>
          <a:prstGeom prst="ellipse">
            <a:avLst/>
          </a:prstGeom>
          <a:solidFill>
            <a:srgbClr val="2F7A55"/>
          </a:solidFill>
          <a:ln w="12700">
            <a:solidFill>
              <a:srgbClr val="2F7A55"/>
            </a:solidFill>
            <a:prstDash val="solid"/>
          </a:ln>
        </p:spPr>
      </p:sp>
      <p:sp>
        <p:nvSpPr>
          <p:cNvPr id="38" name="Text 36"/>
          <p:cNvSpPr txBox="1"/>
          <p:nvPr/>
        </p:nvSpPr>
        <p:spPr>
          <a:xfrm>
            <a:off x="6461608" y="409651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7</a:t>
            </a:r>
            <a:endParaRPr lang="en-US" sz="1500" dirty="0"/>
          </a:p>
        </p:txBody>
      </p:sp>
      <p:sp>
        <p:nvSpPr>
          <p:cNvPr id="39" name="Text 37"/>
          <p:cNvSpPr txBox="1"/>
          <p:nvPr/>
        </p:nvSpPr>
        <p:spPr>
          <a:xfrm>
            <a:off x="7147408" y="3950208"/>
            <a:ext cx="4312768" cy="548640"/>
          </a:xfrm>
          <a:prstGeom prst="rect">
            <a:avLst/>
          </a:prstGeom>
          <a:noFill/>
          <a:ln/>
        </p:spPr>
        <p:txBody>
          <a:bodyPr wrap="square" lIns="0" tIns="0" rIns="0" bIns="0" rtlCol="0" anchor="ctr"/>
          <a:lstStyle/>
          <a:p>
            <a:pPr indent="0" marL="0">
              <a:buNone/>
            </a:pPr>
            <a:r>
              <a:rPr lang="en-US" sz="1350" b="1" dirty="0">
                <a:solidFill>
                  <a:srgbClr val="1D4A35"/>
                </a:solidFill>
                <a:latin typeface="Meiryo UI" pitchFamily="34" charset="0"/>
                <a:ea typeface="Meiryo UI" pitchFamily="34" charset="-122"/>
                <a:cs typeface="Meiryo UI" pitchFamily="34" charset="-120"/>
              </a:rPr>
              <a:t>リードマグネットの内容と配布方法</a:t>
            </a:r>
            <a:endParaRPr lang="en-US" sz="1350" dirty="0"/>
          </a:p>
        </p:txBody>
      </p:sp>
      <p:sp>
        <p:nvSpPr>
          <p:cNvPr id="40" name="Text 38"/>
          <p:cNvSpPr txBox="1"/>
          <p:nvPr/>
        </p:nvSpPr>
        <p:spPr>
          <a:xfrm>
            <a:off x="7147408" y="4498848"/>
            <a:ext cx="4312768" cy="274320"/>
          </a:xfrm>
          <a:prstGeom prst="rect">
            <a:avLst/>
          </a:prstGeom>
          <a:noFill/>
          <a:ln/>
        </p:spPr>
        <p:txBody>
          <a:bodyPr wrap="square" lIns="0" tIns="0" rIns="0" bIns="0" rtlCol="0" anchor="t"/>
          <a:lstStyle/>
          <a:p>
            <a:pPr indent="0" marL="0">
              <a:buNone/>
            </a:pPr>
            <a:r>
              <a:rPr lang="en-US" sz="1100" dirty="0">
                <a:solidFill>
                  <a:srgbClr val="66786F"/>
                </a:solidFill>
                <a:latin typeface="Meiryo UI" pitchFamily="34" charset="0"/>
                <a:ea typeface="Meiryo UI" pitchFamily="34" charset="-122"/>
                <a:cs typeface="Meiryo UI" pitchFamily="34" charset="-120"/>
              </a:rPr>
              <a:t>目的：動画化・導線の設計</a:t>
            </a:r>
            <a:endParaRPr lang="en-US" sz="1100" dirty="0"/>
          </a:p>
        </p:txBody>
      </p:sp>
      <p:sp>
        <p:nvSpPr>
          <p:cNvPr id="41" name="Shape 39"/>
          <p:cNvSpPr/>
          <p:nvPr/>
        </p:nvSpPr>
        <p:spPr>
          <a:xfrm>
            <a:off x="6233008" y="502920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42" name="Shape 40"/>
          <p:cNvSpPr/>
          <p:nvPr/>
        </p:nvSpPr>
        <p:spPr>
          <a:xfrm>
            <a:off x="6461608" y="5285232"/>
            <a:ext cx="512064" cy="512064"/>
          </a:xfrm>
          <a:prstGeom prst="ellipse">
            <a:avLst/>
          </a:prstGeom>
          <a:solidFill>
            <a:srgbClr val="D8614F"/>
          </a:solidFill>
          <a:ln w="12700">
            <a:solidFill>
              <a:srgbClr val="D8614F"/>
            </a:solidFill>
            <a:prstDash val="solid"/>
          </a:ln>
        </p:spPr>
      </p:sp>
      <p:sp>
        <p:nvSpPr>
          <p:cNvPr id="43" name="Text 41"/>
          <p:cNvSpPr txBox="1"/>
          <p:nvPr/>
        </p:nvSpPr>
        <p:spPr>
          <a:xfrm>
            <a:off x="6461608" y="528523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8</a:t>
            </a:r>
            <a:endParaRPr lang="en-US" sz="1500" dirty="0"/>
          </a:p>
        </p:txBody>
      </p:sp>
      <p:sp>
        <p:nvSpPr>
          <p:cNvPr id="44" name="Text 42"/>
          <p:cNvSpPr txBox="1"/>
          <p:nvPr/>
        </p:nvSpPr>
        <p:spPr>
          <a:xfrm>
            <a:off x="7147408" y="5138928"/>
            <a:ext cx="4312768" cy="548640"/>
          </a:xfrm>
          <a:prstGeom prst="rect">
            <a:avLst/>
          </a:prstGeom>
          <a:noFill/>
          <a:ln/>
        </p:spPr>
        <p:txBody>
          <a:bodyPr wrap="square" lIns="0" tIns="0" rIns="0" bIns="0" rtlCol="0" anchor="ctr"/>
          <a:lstStyle/>
          <a:p>
            <a:pPr indent="0" marL="0">
              <a:buNone/>
            </a:pPr>
            <a:r>
              <a:rPr lang="en-US" sz="1350" b="1" dirty="0">
                <a:solidFill>
                  <a:srgbClr val="1D4A35"/>
                </a:solidFill>
                <a:latin typeface="Meiryo UI" pitchFamily="34" charset="0"/>
                <a:ea typeface="Meiryo UI" pitchFamily="34" charset="-122"/>
                <a:cs typeface="Meiryo UI" pitchFamily="34" charset="-120"/>
              </a:rPr>
              <a:t>本施策のご決裁フロー（ご決裁者・時期）</a:t>
            </a:r>
            <a:endParaRPr lang="en-US" sz="1350" dirty="0"/>
          </a:p>
        </p:txBody>
      </p:sp>
      <p:sp>
        <p:nvSpPr>
          <p:cNvPr id="45" name="Text 43"/>
          <p:cNvSpPr txBox="1"/>
          <p:nvPr/>
        </p:nvSpPr>
        <p:spPr>
          <a:xfrm>
            <a:off x="7147408" y="5687568"/>
            <a:ext cx="4312768" cy="274320"/>
          </a:xfrm>
          <a:prstGeom prst="rect">
            <a:avLst/>
          </a:prstGeom>
          <a:noFill/>
          <a:ln/>
        </p:spPr>
        <p:txBody>
          <a:bodyPr wrap="square" lIns="0" tIns="0" rIns="0" bIns="0" rtlCol="0" anchor="t"/>
          <a:lstStyle/>
          <a:p>
            <a:pPr indent="0" marL="0">
              <a:buNone/>
            </a:pPr>
            <a:r>
              <a:rPr lang="en-US" sz="1100" dirty="0">
                <a:solidFill>
                  <a:srgbClr val="66786F"/>
                </a:solidFill>
                <a:latin typeface="Meiryo UI" pitchFamily="34" charset="0"/>
                <a:ea typeface="Meiryo UI" pitchFamily="34" charset="-122"/>
                <a:cs typeface="Meiryo UI" pitchFamily="34" charset="-120"/>
              </a:rPr>
              <a:t>目的：導入スケジュールの確定</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8614F"/>
                </a:solidFill>
                <a:latin typeface="Meiryo UI" pitchFamily="34" charset="0"/>
                <a:ea typeface="Meiryo UI" pitchFamily="34" charset="-122"/>
                <a:cs typeface="Meiryo UI" pitchFamily="34" charset="-120"/>
              </a:rPr>
              <a:t>07｜SIMULATION</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2F7A55"/>
                </a:solidFill>
                <a:latin typeface="Meiryo UI" pitchFamily="34" charset="0"/>
                <a:ea typeface="Meiryo UI" pitchFamily="34" charset="-122"/>
                <a:cs typeface="Meiryo UI" pitchFamily="34" charset="-120"/>
              </a:rPr>
              <a:t>目標値シミュレーション（ご提案）</a:t>
            </a:r>
            <a:endParaRPr lang="en-US" sz="2600" dirty="0"/>
          </a:p>
        </p:txBody>
      </p:sp>
      <p:sp>
        <p:nvSpPr>
          <p:cNvPr id="4" name="Text 2"/>
          <p:cNvSpPr txBox="1"/>
          <p:nvPr/>
        </p:nvSpPr>
        <p:spPr>
          <a:xfrm>
            <a:off x="548640" y="1207008"/>
            <a:ext cx="11094415" cy="365760"/>
          </a:xfrm>
          <a:prstGeom prst="rect">
            <a:avLst/>
          </a:prstGeom>
          <a:noFill/>
          <a:ln/>
        </p:spPr>
        <p:txBody>
          <a:bodyPr wrap="square" lIns="0" tIns="0" rIns="0" bIns="0" rtlCol="0" anchor="ctr"/>
          <a:lstStyle/>
          <a:p>
            <a:pPr indent="0" marL="0">
              <a:buNone/>
            </a:pPr>
            <a:r>
              <a:rPr lang="en-US" sz="1300" dirty="0">
                <a:solidFill>
                  <a:srgbClr val="66786F"/>
                </a:solidFill>
                <a:latin typeface="Meiryo UI" pitchFamily="34" charset="0"/>
                <a:ea typeface="Meiryo UI" pitchFamily="34" charset="-122"/>
                <a:cs typeface="Meiryo UI" pitchFamily="34" charset="-120"/>
              </a:rPr>
              <a:t>本日伺った数値を反映し、次回お打ち合わせで目標として合意するための試算です。※下記は現時点の仮置き値です。</a:t>
            </a:r>
            <a:endParaRPr lang="en-US" sz="1300" dirty="0"/>
          </a:p>
        </p:txBody>
      </p:sp>
      <p:sp>
        <p:nvSpPr>
          <p:cNvPr id="5" name="Text 3"/>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0"/>
                </a:solidFill>
                <a:latin typeface="Meiryo UI" pitchFamily="34" charset="0"/>
                <a:ea typeface="Meiryo UI" pitchFamily="34" charset="-122"/>
                <a:cs typeface="Meiryo UI" pitchFamily="34" charset="-120"/>
              </a:rPr>
              <a:t>24</a:t>
            </a:r>
            <a:endParaRPr lang="en-US" sz="1000" dirty="0"/>
          </a:p>
        </p:txBody>
      </p:sp>
      <p:sp>
        <p:nvSpPr>
          <p:cNvPr id="6" name="Text 4"/>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0"/>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7" name="Shape 5"/>
          <p:cNvSpPr/>
          <p:nvPr/>
        </p:nvSpPr>
        <p:spPr>
          <a:xfrm>
            <a:off x="548640" y="1691640"/>
            <a:ext cx="11094415" cy="685800"/>
          </a:xfrm>
          <a:prstGeom prst="roundRect">
            <a:avLst>
              <a:gd name="adj" fmla="val 16000"/>
            </a:avLst>
          </a:prstGeom>
          <a:solidFill>
            <a:srgbClr val="EAF4EE"/>
          </a:solidFill>
          <a:ln w="12700">
            <a:solidFill>
              <a:srgbClr val="EAF4EE"/>
            </a:solidFill>
            <a:prstDash val="solid"/>
          </a:ln>
        </p:spPr>
      </p:sp>
      <p:sp>
        <p:nvSpPr>
          <p:cNvPr id="8" name="Text 6"/>
          <p:cNvSpPr txBox="1"/>
          <p:nvPr/>
        </p:nvSpPr>
        <p:spPr>
          <a:xfrm>
            <a:off x="777240" y="1691640"/>
            <a:ext cx="2468880" cy="685800"/>
          </a:xfrm>
          <a:prstGeom prst="rect">
            <a:avLst/>
          </a:prstGeom>
          <a:noFill/>
          <a:ln/>
        </p:spPr>
        <p:txBody>
          <a:bodyPr wrap="square" lIns="0" tIns="0" rIns="0" bIns="0" rtlCol="0" anchor="ctr"/>
          <a:lstStyle/>
          <a:p>
            <a:pPr indent="0" marL="0">
              <a:buNone/>
            </a:pPr>
            <a:r>
              <a:rPr lang="en-US" sz="1250" b="1" dirty="0">
                <a:solidFill>
                  <a:srgbClr val="2F7A55"/>
                </a:solidFill>
                <a:latin typeface="Meiryo UI" pitchFamily="34" charset="0"/>
                <a:ea typeface="Meiryo UI" pitchFamily="34" charset="-122"/>
                <a:cs typeface="Meiryo UI" pitchFamily="34" charset="-120"/>
              </a:rPr>
              <a:t>現状（本日のヒアリング値）</a:t>
            </a:r>
            <a:endParaRPr lang="en-US" sz="1250" dirty="0"/>
          </a:p>
        </p:txBody>
      </p:sp>
      <p:sp>
        <p:nvSpPr>
          <p:cNvPr id="9" name="Text 7"/>
          <p:cNvSpPr txBox="1"/>
          <p:nvPr/>
        </p:nvSpPr>
        <p:spPr>
          <a:xfrm>
            <a:off x="3291840" y="1764792"/>
            <a:ext cx="1578803" cy="256032"/>
          </a:xfrm>
          <a:prstGeom prst="rect">
            <a:avLst/>
          </a:prstGeom>
          <a:noFill/>
          <a:ln/>
        </p:spPr>
        <p:txBody>
          <a:bodyPr wrap="square" lIns="0" tIns="0" rIns="0" bIns="0" rtlCol="0" anchor="t"/>
          <a:lstStyle/>
          <a:p>
            <a:pPr indent="0" marL="0">
              <a:buNone/>
            </a:pPr>
            <a:r>
              <a:rPr lang="en-US" sz="1050" dirty="0">
                <a:solidFill>
                  <a:srgbClr val="66786F"/>
                </a:solidFill>
                <a:latin typeface="Meiryo UI" pitchFamily="34" charset="0"/>
                <a:ea typeface="Meiryo UI" pitchFamily="34" charset="-122"/>
                <a:cs typeface="Meiryo UI" pitchFamily="34" charset="-120"/>
              </a:rPr>
              <a:t>塾生数</a:t>
            </a:r>
            <a:endParaRPr lang="en-US" sz="1050" dirty="0"/>
          </a:p>
        </p:txBody>
      </p:sp>
      <p:sp>
        <p:nvSpPr>
          <p:cNvPr id="10" name="Text 8"/>
          <p:cNvSpPr txBox="1"/>
          <p:nvPr/>
        </p:nvSpPr>
        <p:spPr>
          <a:xfrm>
            <a:off x="3291840" y="2011680"/>
            <a:ext cx="1578803" cy="310896"/>
          </a:xfrm>
          <a:prstGeom prst="rect">
            <a:avLst/>
          </a:prstGeom>
          <a:noFill/>
          <a:ln/>
        </p:spPr>
        <p:txBody>
          <a:bodyPr wrap="square" lIns="0" tIns="0" rIns="0" bIns="0" rtlCol="0" anchor="t"/>
          <a:lstStyle/>
          <a:p>
            <a:pPr indent="0" marL="0">
              <a:buNone/>
            </a:pPr>
            <a:r>
              <a:rPr lang="en-US" sz="1500" b="1" dirty="0">
                <a:solidFill>
                  <a:srgbClr val="1D4A35"/>
                </a:solidFill>
                <a:latin typeface="Meiryo UI" pitchFamily="34" charset="0"/>
                <a:ea typeface="Meiryo UI" pitchFamily="34" charset="-122"/>
                <a:cs typeface="Meiryo UI" pitchFamily="34" charset="-120"/>
              </a:rPr>
              <a:t>〇名</a:t>
            </a:r>
            <a:endParaRPr lang="en-US" sz="1500" dirty="0"/>
          </a:p>
        </p:txBody>
      </p:sp>
      <p:sp>
        <p:nvSpPr>
          <p:cNvPr id="11" name="Text 9"/>
          <p:cNvSpPr txBox="1"/>
          <p:nvPr/>
        </p:nvSpPr>
        <p:spPr>
          <a:xfrm>
            <a:off x="4962083" y="1764792"/>
            <a:ext cx="1578803" cy="256032"/>
          </a:xfrm>
          <a:prstGeom prst="rect">
            <a:avLst/>
          </a:prstGeom>
          <a:noFill/>
          <a:ln/>
        </p:spPr>
        <p:txBody>
          <a:bodyPr wrap="square" lIns="0" tIns="0" rIns="0" bIns="0" rtlCol="0" anchor="t"/>
          <a:lstStyle/>
          <a:p>
            <a:pPr indent="0" marL="0">
              <a:buNone/>
            </a:pPr>
            <a:r>
              <a:rPr lang="en-US" sz="1050" dirty="0">
                <a:solidFill>
                  <a:srgbClr val="66786F"/>
                </a:solidFill>
                <a:latin typeface="Meiryo UI" pitchFamily="34" charset="0"/>
                <a:ea typeface="Meiryo UI" pitchFamily="34" charset="-122"/>
                <a:cs typeface="Meiryo UI" pitchFamily="34" charset="-120"/>
              </a:rPr>
              <a:t>月間の無料相談</a:t>
            </a:r>
            <a:endParaRPr lang="en-US" sz="1050" dirty="0"/>
          </a:p>
        </p:txBody>
      </p:sp>
      <p:sp>
        <p:nvSpPr>
          <p:cNvPr id="12" name="Text 10"/>
          <p:cNvSpPr txBox="1"/>
          <p:nvPr/>
        </p:nvSpPr>
        <p:spPr>
          <a:xfrm>
            <a:off x="4962083" y="2011680"/>
            <a:ext cx="1578803" cy="310896"/>
          </a:xfrm>
          <a:prstGeom prst="rect">
            <a:avLst/>
          </a:prstGeom>
          <a:noFill/>
          <a:ln/>
        </p:spPr>
        <p:txBody>
          <a:bodyPr wrap="square" lIns="0" tIns="0" rIns="0" bIns="0" rtlCol="0" anchor="t"/>
          <a:lstStyle/>
          <a:p>
            <a:pPr indent="0" marL="0">
              <a:buNone/>
            </a:pPr>
            <a:r>
              <a:rPr lang="en-US" sz="1500" b="1" dirty="0">
                <a:solidFill>
                  <a:srgbClr val="1D4A35"/>
                </a:solidFill>
                <a:latin typeface="Meiryo UI" pitchFamily="34" charset="0"/>
                <a:ea typeface="Meiryo UI" pitchFamily="34" charset="-122"/>
                <a:cs typeface="Meiryo UI" pitchFamily="34" charset="-120"/>
              </a:rPr>
              <a:t>〇件</a:t>
            </a:r>
            <a:endParaRPr lang="en-US" sz="1500" dirty="0"/>
          </a:p>
        </p:txBody>
      </p:sp>
      <p:sp>
        <p:nvSpPr>
          <p:cNvPr id="13" name="Text 11"/>
          <p:cNvSpPr txBox="1"/>
          <p:nvPr/>
        </p:nvSpPr>
        <p:spPr>
          <a:xfrm>
            <a:off x="6632326" y="1764792"/>
            <a:ext cx="1578803" cy="256032"/>
          </a:xfrm>
          <a:prstGeom prst="rect">
            <a:avLst/>
          </a:prstGeom>
          <a:noFill/>
          <a:ln/>
        </p:spPr>
        <p:txBody>
          <a:bodyPr wrap="square" lIns="0" tIns="0" rIns="0" bIns="0" rtlCol="0" anchor="t"/>
          <a:lstStyle/>
          <a:p>
            <a:pPr indent="0" marL="0">
              <a:buNone/>
            </a:pPr>
            <a:r>
              <a:rPr lang="en-US" sz="1050" dirty="0">
                <a:solidFill>
                  <a:srgbClr val="66786F"/>
                </a:solidFill>
                <a:latin typeface="Meiryo UI" pitchFamily="34" charset="0"/>
                <a:ea typeface="Meiryo UI" pitchFamily="34" charset="-122"/>
                <a:cs typeface="Meiryo UI" pitchFamily="34" charset="-120"/>
              </a:rPr>
              <a:t>月謝</a:t>
            </a:r>
            <a:endParaRPr lang="en-US" sz="1050" dirty="0"/>
          </a:p>
        </p:txBody>
      </p:sp>
      <p:sp>
        <p:nvSpPr>
          <p:cNvPr id="14" name="Text 12"/>
          <p:cNvSpPr txBox="1"/>
          <p:nvPr/>
        </p:nvSpPr>
        <p:spPr>
          <a:xfrm>
            <a:off x="6632326" y="2011680"/>
            <a:ext cx="1578803" cy="310896"/>
          </a:xfrm>
          <a:prstGeom prst="rect">
            <a:avLst/>
          </a:prstGeom>
          <a:noFill/>
          <a:ln/>
        </p:spPr>
        <p:txBody>
          <a:bodyPr wrap="square" lIns="0" tIns="0" rIns="0" bIns="0" rtlCol="0" anchor="t"/>
          <a:lstStyle/>
          <a:p>
            <a:pPr indent="0" marL="0">
              <a:buNone/>
            </a:pPr>
            <a:r>
              <a:rPr lang="en-US" sz="1500" b="1" dirty="0">
                <a:solidFill>
                  <a:srgbClr val="1D4A35"/>
                </a:solidFill>
                <a:latin typeface="Meiryo UI" pitchFamily="34" charset="0"/>
                <a:ea typeface="Meiryo UI" pitchFamily="34" charset="-122"/>
                <a:cs typeface="Meiryo UI" pitchFamily="34" charset="-120"/>
              </a:rPr>
              <a:t>約2万円</a:t>
            </a:r>
            <a:endParaRPr lang="en-US" sz="1500" dirty="0"/>
          </a:p>
        </p:txBody>
      </p:sp>
      <p:sp>
        <p:nvSpPr>
          <p:cNvPr id="15" name="Text 13"/>
          <p:cNvSpPr txBox="1"/>
          <p:nvPr/>
        </p:nvSpPr>
        <p:spPr>
          <a:xfrm>
            <a:off x="8302569" y="1764792"/>
            <a:ext cx="1578803" cy="256032"/>
          </a:xfrm>
          <a:prstGeom prst="rect">
            <a:avLst/>
          </a:prstGeom>
          <a:noFill/>
          <a:ln/>
        </p:spPr>
        <p:txBody>
          <a:bodyPr wrap="square" lIns="0" tIns="0" rIns="0" bIns="0" rtlCol="0" anchor="t"/>
          <a:lstStyle/>
          <a:p>
            <a:pPr indent="0" marL="0">
              <a:buNone/>
            </a:pPr>
            <a:r>
              <a:rPr lang="en-US" sz="1050" dirty="0">
                <a:solidFill>
                  <a:srgbClr val="66786F"/>
                </a:solidFill>
                <a:latin typeface="Meiryo UI" pitchFamily="34" charset="0"/>
                <a:ea typeface="Meiryo UI" pitchFamily="34" charset="-122"/>
                <a:cs typeface="Meiryo UI" pitchFamily="34" charset="-120"/>
              </a:rPr>
              <a:t>平均継続</a:t>
            </a:r>
            <a:endParaRPr lang="en-US" sz="1050" dirty="0"/>
          </a:p>
        </p:txBody>
      </p:sp>
      <p:sp>
        <p:nvSpPr>
          <p:cNvPr id="16" name="Text 14"/>
          <p:cNvSpPr txBox="1"/>
          <p:nvPr/>
        </p:nvSpPr>
        <p:spPr>
          <a:xfrm>
            <a:off x="8302569" y="2011680"/>
            <a:ext cx="1578803" cy="310896"/>
          </a:xfrm>
          <a:prstGeom prst="rect">
            <a:avLst/>
          </a:prstGeom>
          <a:noFill/>
          <a:ln/>
        </p:spPr>
        <p:txBody>
          <a:bodyPr wrap="square" lIns="0" tIns="0" rIns="0" bIns="0" rtlCol="0" anchor="t"/>
          <a:lstStyle/>
          <a:p>
            <a:pPr indent="0" marL="0">
              <a:buNone/>
            </a:pPr>
            <a:r>
              <a:rPr lang="en-US" sz="1500" b="1" dirty="0">
                <a:solidFill>
                  <a:srgbClr val="1D4A35"/>
                </a:solidFill>
                <a:latin typeface="Meiryo UI" pitchFamily="34" charset="0"/>
                <a:ea typeface="Meiryo UI" pitchFamily="34" charset="-122"/>
                <a:cs typeface="Meiryo UI" pitchFamily="34" charset="-120"/>
              </a:rPr>
              <a:t>12ヶ月</a:t>
            </a:r>
            <a:endParaRPr lang="en-US" sz="1500" dirty="0"/>
          </a:p>
        </p:txBody>
      </p:sp>
      <p:sp>
        <p:nvSpPr>
          <p:cNvPr id="17" name="Text 15"/>
          <p:cNvSpPr txBox="1"/>
          <p:nvPr/>
        </p:nvSpPr>
        <p:spPr>
          <a:xfrm>
            <a:off x="9972812" y="1764792"/>
            <a:ext cx="1578803" cy="256032"/>
          </a:xfrm>
          <a:prstGeom prst="rect">
            <a:avLst/>
          </a:prstGeom>
          <a:noFill/>
          <a:ln/>
        </p:spPr>
        <p:txBody>
          <a:bodyPr wrap="square" lIns="0" tIns="0" rIns="0" bIns="0" rtlCol="0" anchor="t"/>
          <a:lstStyle/>
          <a:p>
            <a:pPr indent="0" marL="0">
              <a:buNone/>
            </a:pPr>
            <a:r>
              <a:rPr lang="en-US" sz="1050" dirty="0">
                <a:solidFill>
                  <a:srgbClr val="66786F"/>
                </a:solidFill>
                <a:latin typeface="Meiryo UI" pitchFamily="34" charset="0"/>
                <a:ea typeface="Meiryo UI" pitchFamily="34" charset="-122"/>
                <a:cs typeface="Meiryo UI" pitchFamily="34" charset="-120"/>
              </a:rPr>
              <a:t>講演会の参加者</a:t>
            </a:r>
            <a:endParaRPr lang="en-US" sz="1050" dirty="0"/>
          </a:p>
        </p:txBody>
      </p:sp>
      <p:sp>
        <p:nvSpPr>
          <p:cNvPr id="18" name="Text 16"/>
          <p:cNvSpPr txBox="1"/>
          <p:nvPr/>
        </p:nvSpPr>
        <p:spPr>
          <a:xfrm>
            <a:off x="9972812" y="2011680"/>
            <a:ext cx="1578803" cy="310896"/>
          </a:xfrm>
          <a:prstGeom prst="rect">
            <a:avLst/>
          </a:prstGeom>
          <a:noFill/>
          <a:ln/>
        </p:spPr>
        <p:txBody>
          <a:bodyPr wrap="square" lIns="0" tIns="0" rIns="0" bIns="0" rtlCol="0" anchor="t"/>
          <a:lstStyle/>
          <a:p>
            <a:pPr indent="0" marL="0">
              <a:buNone/>
            </a:pPr>
            <a:r>
              <a:rPr lang="en-US" sz="1500" b="1" dirty="0">
                <a:solidFill>
                  <a:srgbClr val="1D4A35"/>
                </a:solidFill>
                <a:latin typeface="Meiryo UI" pitchFamily="34" charset="0"/>
                <a:ea typeface="Meiryo UI" pitchFamily="34" charset="-122"/>
                <a:cs typeface="Meiryo UI" pitchFamily="34" charset="-120"/>
              </a:rPr>
              <a:t>〇名/回</a:t>
            </a:r>
            <a:endParaRPr lang="en-US" sz="1500" dirty="0"/>
          </a:p>
        </p:txBody>
      </p:sp>
      <p:sp>
        <p:nvSpPr>
          <p:cNvPr id="19" name="Text 17"/>
          <p:cNvSpPr txBox="1"/>
          <p:nvPr/>
        </p:nvSpPr>
        <p:spPr>
          <a:xfrm>
            <a:off x="548640" y="2606040"/>
            <a:ext cx="4937760" cy="320040"/>
          </a:xfrm>
          <a:prstGeom prst="rect">
            <a:avLst/>
          </a:prstGeom>
          <a:noFill/>
          <a:ln/>
        </p:spPr>
        <p:txBody>
          <a:bodyPr wrap="square" lIns="0" tIns="0" rIns="0" bIns="0" rtlCol="0" anchor="t"/>
          <a:lstStyle/>
          <a:p>
            <a:pPr indent="0" marL="0">
              <a:buNone/>
            </a:pPr>
            <a:r>
              <a:rPr lang="en-US" sz="1350" b="1" dirty="0">
                <a:solidFill>
                  <a:srgbClr val="D8614F"/>
                </a:solidFill>
                <a:latin typeface="Meiryo UI" pitchFamily="34" charset="0"/>
                <a:ea typeface="Meiryo UI" pitchFamily="34" charset="-122"/>
                <a:cs typeface="Meiryo UI" pitchFamily="34" charset="-120"/>
              </a:rPr>
              <a:t>拡大期（4ヶ月目以降）の月間KPI試算</a:t>
            </a:r>
            <a:endParaRPr lang="en-US" sz="1350" dirty="0"/>
          </a:p>
        </p:txBody>
      </p:sp>
      <p:sp>
        <p:nvSpPr>
          <p:cNvPr id="20" name="Text 18"/>
          <p:cNvSpPr txBox="1"/>
          <p:nvPr/>
        </p:nvSpPr>
        <p:spPr>
          <a:xfrm>
            <a:off x="548640" y="2971800"/>
            <a:ext cx="2743200" cy="256032"/>
          </a:xfrm>
          <a:prstGeom prst="rect">
            <a:avLst/>
          </a:prstGeom>
          <a:noFill/>
          <a:ln/>
        </p:spPr>
        <p:txBody>
          <a:bodyPr wrap="square" lIns="0" tIns="0" rIns="0" bIns="0" rtlCol="0" anchor="t"/>
          <a:lstStyle/>
          <a:p>
            <a:pPr indent="0" marL="0">
              <a:buNone/>
            </a:pPr>
            <a:r>
              <a:rPr lang="en-US" sz="1100" b="1" dirty="0">
                <a:solidFill>
                  <a:srgbClr val="2F7A55"/>
                </a:solidFill>
                <a:latin typeface="Meiryo UI" pitchFamily="34" charset="0"/>
                <a:ea typeface="Meiryo UI" pitchFamily="34" charset="-122"/>
                <a:cs typeface="Meiryo UI" pitchFamily="34" charset="-120"/>
              </a:rPr>
              <a:t>プッシュ（講演会フォロー）</a:t>
            </a:r>
            <a:endParaRPr lang="en-US" sz="1100" dirty="0"/>
          </a:p>
        </p:txBody>
      </p:sp>
      <p:sp>
        <p:nvSpPr>
          <p:cNvPr id="21" name="Shape 19"/>
          <p:cNvSpPr/>
          <p:nvPr/>
        </p:nvSpPr>
        <p:spPr>
          <a:xfrm>
            <a:off x="548640" y="3246120"/>
            <a:ext cx="4937760" cy="347472"/>
          </a:xfrm>
          <a:prstGeom prst="roundRect">
            <a:avLst>
              <a:gd name="adj" fmla="val 15789"/>
            </a:avLst>
          </a:prstGeom>
          <a:solidFill>
            <a:srgbClr val="F5F9F6"/>
          </a:solidFill>
          <a:ln w="9525">
            <a:solidFill>
              <a:srgbClr val="DCEAE1"/>
            </a:solidFill>
            <a:prstDash val="solid"/>
          </a:ln>
        </p:spPr>
      </p:sp>
      <p:sp>
        <p:nvSpPr>
          <p:cNvPr id="22" name="Text 20"/>
          <p:cNvSpPr txBox="1"/>
          <p:nvPr/>
        </p:nvSpPr>
        <p:spPr>
          <a:xfrm>
            <a:off x="685800" y="3246120"/>
            <a:ext cx="3840480" cy="347472"/>
          </a:xfrm>
          <a:prstGeom prst="rect">
            <a:avLst/>
          </a:prstGeom>
          <a:noFill/>
          <a:ln/>
        </p:spPr>
        <p:txBody>
          <a:bodyPr wrap="square" lIns="0" tIns="0" rIns="0" bIns="0" rtlCol="0" anchor="ctr"/>
          <a:lstStyle/>
          <a:p>
            <a:pPr indent="0" marL="0">
              <a:buNone/>
            </a:pPr>
            <a:r>
              <a:rPr lang="en-US" sz="1100" dirty="0">
                <a:solidFill>
                  <a:srgbClr val="2A3330"/>
                </a:solidFill>
                <a:latin typeface="Meiryo UI" pitchFamily="34" charset="0"/>
                <a:ea typeface="Meiryo UI" pitchFamily="34" charset="-122"/>
                <a:cs typeface="Meiryo UI" pitchFamily="34" charset="-120"/>
              </a:rPr>
              <a:t>講演会の参加者（月2回×30名）</a:t>
            </a:r>
            <a:endParaRPr lang="en-US" sz="1100" dirty="0"/>
          </a:p>
        </p:txBody>
      </p:sp>
      <p:sp>
        <p:nvSpPr>
          <p:cNvPr id="23" name="Text 21"/>
          <p:cNvSpPr txBox="1"/>
          <p:nvPr/>
        </p:nvSpPr>
        <p:spPr>
          <a:xfrm>
            <a:off x="4526280" y="3246120"/>
            <a:ext cx="868680" cy="347472"/>
          </a:xfrm>
          <a:prstGeom prst="rect">
            <a:avLst/>
          </a:prstGeom>
          <a:noFill/>
          <a:ln/>
        </p:spPr>
        <p:txBody>
          <a:bodyPr wrap="square" lIns="0" tIns="0" rIns="0" bIns="0" rtlCol="0" anchor="ctr"/>
          <a:lstStyle/>
          <a:p>
            <a:pPr algn="r" indent="0" marL="0">
              <a:buNone/>
            </a:pPr>
            <a:r>
              <a:rPr lang="en-US" sz="1200" b="1" dirty="0">
                <a:solidFill>
                  <a:srgbClr val="1D4A35"/>
                </a:solidFill>
                <a:latin typeface="Meiryo UI" pitchFamily="34" charset="0"/>
                <a:ea typeface="Meiryo UI" pitchFamily="34" charset="-122"/>
                <a:cs typeface="Meiryo UI" pitchFamily="34" charset="-120"/>
              </a:rPr>
              <a:t>60名</a:t>
            </a:r>
            <a:endParaRPr lang="en-US" sz="1200" dirty="0"/>
          </a:p>
        </p:txBody>
      </p:sp>
      <p:sp>
        <p:nvSpPr>
          <p:cNvPr id="24" name="Shape 22"/>
          <p:cNvSpPr/>
          <p:nvPr/>
        </p:nvSpPr>
        <p:spPr>
          <a:xfrm>
            <a:off x="548640" y="3648456"/>
            <a:ext cx="4617720" cy="347472"/>
          </a:xfrm>
          <a:prstGeom prst="roundRect">
            <a:avLst>
              <a:gd name="adj" fmla="val 15789"/>
            </a:avLst>
          </a:prstGeom>
          <a:solidFill>
            <a:srgbClr val="F5F9F6"/>
          </a:solidFill>
          <a:ln w="9525">
            <a:solidFill>
              <a:srgbClr val="DCEAE1"/>
            </a:solidFill>
            <a:prstDash val="solid"/>
          </a:ln>
        </p:spPr>
      </p:sp>
      <p:sp>
        <p:nvSpPr>
          <p:cNvPr id="25" name="Text 23"/>
          <p:cNvSpPr txBox="1"/>
          <p:nvPr/>
        </p:nvSpPr>
        <p:spPr>
          <a:xfrm>
            <a:off x="685800" y="3648456"/>
            <a:ext cx="3520440" cy="347472"/>
          </a:xfrm>
          <a:prstGeom prst="rect">
            <a:avLst/>
          </a:prstGeom>
          <a:noFill/>
          <a:ln/>
        </p:spPr>
        <p:txBody>
          <a:bodyPr wrap="square" lIns="0" tIns="0" rIns="0" bIns="0" rtlCol="0" anchor="ctr"/>
          <a:lstStyle/>
          <a:p>
            <a:pPr indent="0" marL="0">
              <a:buNone/>
            </a:pPr>
            <a:r>
              <a:rPr lang="en-US" sz="1100" dirty="0">
                <a:solidFill>
                  <a:srgbClr val="2A3330"/>
                </a:solidFill>
                <a:latin typeface="Meiryo UI" pitchFamily="34" charset="0"/>
                <a:ea typeface="Meiryo UI" pitchFamily="34" charset="-122"/>
                <a:cs typeface="Meiryo UI" pitchFamily="34" charset="-120"/>
              </a:rPr>
              <a:t>講演後のLINE登録（70%）</a:t>
            </a:r>
            <a:endParaRPr lang="en-US" sz="1100" dirty="0"/>
          </a:p>
        </p:txBody>
      </p:sp>
      <p:sp>
        <p:nvSpPr>
          <p:cNvPr id="26" name="Text 24"/>
          <p:cNvSpPr txBox="1"/>
          <p:nvPr/>
        </p:nvSpPr>
        <p:spPr>
          <a:xfrm>
            <a:off x="4206240" y="3648456"/>
            <a:ext cx="868680" cy="347472"/>
          </a:xfrm>
          <a:prstGeom prst="rect">
            <a:avLst/>
          </a:prstGeom>
          <a:noFill/>
          <a:ln/>
        </p:spPr>
        <p:txBody>
          <a:bodyPr wrap="square" lIns="0" tIns="0" rIns="0" bIns="0" rtlCol="0" anchor="ctr"/>
          <a:lstStyle/>
          <a:p>
            <a:pPr algn="r" indent="0" marL="0">
              <a:buNone/>
            </a:pPr>
            <a:r>
              <a:rPr lang="en-US" sz="1200" b="1" dirty="0">
                <a:solidFill>
                  <a:srgbClr val="1D4A35"/>
                </a:solidFill>
                <a:latin typeface="Meiryo UI" pitchFamily="34" charset="0"/>
                <a:ea typeface="Meiryo UI" pitchFamily="34" charset="-122"/>
                <a:cs typeface="Meiryo UI" pitchFamily="34" charset="-120"/>
              </a:rPr>
              <a:t>42名</a:t>
            </a:r>
            <a:endParaRPr lang="en-US" sz="1200" dirty="0"/>
          </a:p>
        </p:txBody>
      </p:sp>
      <p:sp>
        <p:nvSpPr>
          <p:cNvPr id="27" name="Shape 25"/>
          <p:cNvSpPr/>
          <p:nvPr/>
        </p:nvSpPr>
        <p:spPr>
          <a:xfrm>
            <a:off x="548640" y="4050792"/>
            <a:ext cx="4297680" cy="347472"/>
          </a:xfrm>
          <a:prstGeom prst="roundRect">
            <a:avLst>
              <a:gd name="adj" fmla="val 15789"/>
            </a:avLst>
          </a:prstGeom>
          <a:solidFill>
            <a:srgbClr val="F5F9F6"/>
          </a:solidFill>
          <a:ln w="9525">
            <a:solidFill>
              <a:srgbClr val="DCEAE1"/>
            </a:solidFill>
            <a:prstDash val="solid"/>
          </a:ln>
        </p:spPr>
      </p:sp>
      <p:sp>
        <p:nvSpPr>
          <p:cNvPr id="28" name="Text 26"/>
          <p:cNvSpPr txBox="1"/>
          <p:nvPr/>
        </p:nvSpPr>
        <p:spPr>
          <a:xfrm>
            <a:off x="685800" y="4050792"/>
            <a:ext cx="3200400" cy="347472"/>
          </a:xfrm>
          <a:prstGeom prst="rect">
            <a:avLst/>
          </a:prstGeom>
          <a:noFill/>
          <a:ln/>
        </p:spPr>
        <p:txBody>
          <a:bodyPr wrap="square" lIns="0" tIns="0" rIns="0" bIns="0" rtlCol="0" anchor="ctr"/>
          <a:lstStyle/>
          <a:p>
            <a:pPr indent="0" marL="0">
              <a:buNone/>
            </a:pPr>
            <a:r>
              <a:rPr lang="en-US" sz="1100" dirty="0">
                <a:solidFill>
                  <a:srgbClr val="2A3330"/>
                </a:solidFill>
                <a:latin typeface="Meiryo UI" pitchFamily="34" charset="0"/>
                <a:ea typeface="Meiryo UI" pitchFamily="34" charset="-122"/>
                <a:cs typeface="Meiryo UI" pitchFamily="34" charset="-120"/>
              </a:rPr>
              <a:t>おさらい動画の視聴（70%）</a:t>
            </a:r>
            <a:endParaRPr lang="en-US" sz="1100" dirty="0"/>
          </a:p>
        </p:txBody>
      </p:sp>
      <p:sp>
        <p:nvSpPr>
          <p:cNvPr id="29" name="Text 27"/>
          <p:cNvSpPr txBox="1"/>
          <p:nvPr/>
        </p:nvSpPr>
        <p:spPr>
          <a:xfrm>
            <a:off x="3886200" y="4050792"/>
            <a:ext cx="868680" cy="347472"/>
          </a:xfrm>
          <a:prstGeom prst="rect">
            <a:avLst/>
          </a:prstGeom>
          <a:noFill/>
          <a:ln/>
        </p:spPr>
        <p:txBody>
          <a:bodyPr wrap="square" lIns="0" tIns="0" rIns="0" bIns="0" rtlCol="0" anchor="ctr"/>
          <a:lstStyle/>
          <a:p>
            <a:pPr algn="r" indent="0" marL="0">
              <a:buNone/>
            </a:pPr>
            <a:r>
              <a:rPr lang="en-US" sz="1200" b="1" dirty="0">
                <a:solidFill>
                  <a:srgbClr val="1D4A35"/>
                </a:solidFill>
                <a:latin typeface="Meiryo UI" pitchFamily="34" charset="0"/>
                <a:ea typeface="Meiryo UI" pitchFamily="34" charset="-122"/>
                <a:cs typeface="Meiryo UI" pitchFamily="34" charset="-120"/>
              </a:rPr>
              <a:t>約29名</a:t>
            </a:r>
            <a:endParaRPr lang="en-US" sz="1200" dirty="0"/>
          </a:p>
        </p:txBody>
      </p:sp>
      <p:sp>
        <p:nvSpPr>
          <p:cNvPr id="30" name="Shape 28"/>
          <p:cNvSpPr/>
          <p:nvPr/>
        </p:nvSpPr>
        <p:spPr>
          <a:xfrm>
            <a:off x="548640" y="4453128"/>
            <a:ext cx="3977640" cy="347472"/>
          </a:xfrm>
          <a:prstGeom prst="roundRect">
            <a:avLst>
              <a:gd name="adj" fmla="val 15789"/>
            </a:avLst>
          </a:prstGeom>
          <a:solidFill>
            <a:srgbClr val="F5F9F6"/>
          </a:solidFill>
          <a:ln w="9525">
            <a:solidFill>
              <a:srgbClr val="DCEAE1"/>
            </a:solidFill>
            <a:prstDash val="solid"/>
          </a:ln>
        </p:spPr>
      </p:sp>
      <p:sp>
        <p:nvSpPr>
          <p:cNvPr id="31" name="Text 29"/>
          <p:cNvSpPr txBox="1"/>
          <p:nvPr/>
        </p:nvSpPr>
        <p:spPr>
          <a:xfrm>
            <a:off x="685800" y="4453128"/>
            <a:ext cx="2880360" cy="347472"/>
          </a:xfrm>
          <a:prstGeom prst="rect">
            <a:avLst/>
          </a:prstGeom>
          <a:noFill/>
          <a:ln/>
        </p:spPr>
        <p:txBody>
          <a:bodyPr wrap="square" lIns="0" tIns="0" rIns="0" bIns="0" rtlCol="0" anchor="ctr"/>
          <a:lstStyle/>
          <a:p>
            <a:pPr indent="0" marL="0">
              <a:buNone/>
            </a:pPr>
            <a:r>
              <a:rPr lang="en-US" sz="1100" dirty="0">
                <a:solidFill>
                  <a:srgbClr val="2A3330"/>
                </a:solidFill>
                <a:latin typeface="Meiryo UI" pitchFamily="34" charset="0"/>
                <a:ea typeface="Meiryo UI" pitchFamily="34" charset="-122"/>
                <a:cs typeface="Meiryo UI" pitchFamily="34" charset="-120"/>
              </a:rPr>
              <a:t>無料相談の申込（20%）</a:t>
            </a:r>
            <a:endParaRPr lang="en-US" sz="1100" dirty="0"/>
          </a:p>
        </p:txBody>
      </p:sp>
      <p:sp>
        <p:nvSpPr>
          <p:cNvPr id="32" name="Text 30"/>
          <p:cNvSpPr txBox="1"/>
          <p:nvPr/>
        </p:nvSpPr>
        <p:spPr>
          <a:xfrm>
            <a:off x="3566160" y="4453128"/>
            <a:ext cx="868680" cy="347472"/>
          </a:xfrm>
          <a:prstGeom prst="rect">
            <a:avLst/>
          </a:prstGeom>
          <a:noFill/>
          <a:ln/>
        </p:spPr>
        <p:txBody>
          <a:bodyPr wrap="square" lIns="0" tIns="0" rIns="0" bIns="0" rtlCol="0" anchor="ctr"/>
          <a:lstStyle/>
          <a:p>
            <a:pPr algn="r" indent="0" marL="0">
              <a:buNone/>
            </a:pPr>
            <a:r>
              <a:rPr lang="en-US" sz="1200" b="1" dirty="0">
                <a:solidFill>
                  <a:srgbClr val="1D4A35"/>
                </a:solidFill>
                <a:latin typeface="Meiryo UI" pitchFamily="34" charset="0"/>
                <a:ea typeface="Meiryo UI" pitchFamily="34" charset="-122"/>
                <a:cs typeface="Meiryo UI" pitchFamily="34" charset="-120"/>
              </a:rPr>
              <a:t>約6件</a:t>
            </a:r>
            <a:endParaRPr lang="en-US" sz="1200" dirty="0"/>
          </a:p>
        </p:txBody>
      </p:sp>
      <p:sp>
        <p:nvSpPr>
          <p:cNvPr id="33" name="Shape 31"/>
          <p:cNvSpPr/>
          <p:nvPr/>
        </p:nvSpPr>
        <p:spPr>
          <a:xfrm>
            <a:off x="548640" y="4855464"/>
            <a:ext cx="3657600" cy="347472"/>
          </a:xfrm>
          <a:prstGeom prst="roundRect">
            <a:avLst>
              <a:gd name="adj" fmla="val 15789"/>
            </a:avLst>
          </a:prstGeom>
          <a:solidFill>
            <a:srgbClr val="2F7A55"/>
          </a:solidFill>
          <a:ln w="9525">
            <a:solidFill>
              <a:srgbClr val="2F7A55"/>
            </a:solidFill>
            <a:prstDash val="solid"/>
          </a:ln>
        </p:spPr>
      </p:sp>
      <p:sp>
        <p:nvSpPr>
          <p:cNvPr id="34" name="Text 32"/>
          <p:cNvSpPr txBox="1"/>
          <p:nvPr/>
        </p:nvSpPr>
        <p:spPr>
          <a:xfrm>
            <a:off x="685800" y="4855464"/>
            <a:ext cx="2560320" cy="347472"/>
          </a:xfrm>
          <a:prstGeom prst="rect">
            <a:avLst/>
          </a:prstGeom>
          <a:noFill/>
          <a:ln/>
        </p:spPr>
        <p:txBody>
          <a:bodyPr wrap="square" lIns="0" tIns="0" rIns="0" bIns="0" rtlCol="0" anchor="ctr"/>
          <a:lstStyle/>
          <a:p>
            <a:pPr indent="0" marL="0">
              <a:buNone/>
            </a:pPr>
            <a:r>
              <a:rPr lang="en-US" sz="1100" b="1" dirty="0">
                <a:solidFill>
                  <a:srgbClr val="FFFFFF"/>
                </a:solidFill>
                <a:latin typeface="Meiryo UI" pitchFamily="34" charset="0"/>
                <a:ea typeface="Meiryo UI" pitchFamily="34" charset="-122"/>
                <a:cs typeface="Meiryo UI" pitchFamily="34" charset="-120"/>
              </a:rPr>
              <a:t>オンライン塾に入会（35%）</a:t>
            </a:r>
            <a:endParaRPr lang="en-US" sz="1100" dirty="0"/>
          </a:p>
        </p:txBody>
      </p:sp>
      <p:sp>
        <p:nvSpPr>
          <p:cNvPr id="35" name="Text 33"/>
          <p:cNvSpPr txBox="1"/>
          <p:nvPr/>
        </p:nvSpPr>
        <p:spPr>
          <a:xfrm>
            <a:off x="3246120" y="4855464"/>
            <a:ext cx="868680" cy="347472"/>
          </a:xfrm>
          <a:prstGeom prst="rect">
            <a:avLst/>
          </a:prstGeom>
          <a:noFill/>
          <a:ln/>
        </p:spPr>
        <p:txBody>
          <a:bodyPr wrap="square" lIns="0" tIns="0" rIns="0" bIns="0" rtlCol="0" anchor="ctr"/>
          <a:lstStyle/>
          <a:p>
            <a:pPr algn="r" indent="0" marL="0">
              <a:buNone/>
            </a:pPr>
            <a:r>
              <a:rPr lang="en-US" sz="1200" b="1" dirty="0">
                <a:solidFill>
                  <a:srgbClr val="FFFFFF"/>
                </a:solidFill>
                <a:latin typeface="Meiryo UI" pitchFamily="34" charset="0"/>
                <a:ea typeface="Meiryo UI" pitchFamily="34" charset="-122"/>
                <a:cs typeface="Meiryo UI" pitchFamily="34" charset="-120"/>
              </a:rPr>
              <a:t>約2名</a:t>
            </a:r>
            <a:endParaRPr lang="en-US" sz="1200" dirty="0"/>
          </a:p>
        </p:txBody>
      </p:sp>
      <p:sp>
        <p:nvSpPr>
          <p:cNvPr id="36" name="Text 34"/>
          <p:cNvSpPr txBox="1"/>
          <p:nvPr/>
        </p:nvSpPr>
        <p:spPr>
          <a:xfrm>
            <a:off x="548640" y="5303520"/>
            <a:ext cx="2743200" cy="256032"/>
          </a:xfrm>
          <a:prstGeom prst="rect">
            <a:avLst/>
          </a:prstGeom>
          <a:noFill/>
          <a:ln/>
        </p:spPr>
        <p:txBody>
          <a:bodyPr wrap="square" lIns="0" tIns="0" rIns="0" bIns="0" rtlCol="0" anchor="t"/>
          <a:lstStyle/>
          <a:p>
            <a:pPr indent="0" marL="0">
              <a:buNone/>
            </a:pPr>
            <a:r>
              <a:rPr lang="en-US" sz="1100" b="1" dirty="0">
                <a:solidFill>
                  <a:srgbClr val="2F7A55"/>
                </a:solidFill>
                <a:latin typeface="Meiryo UI" pitchFamily="34" charset="0"/>
                <a:ea typeface="Meiryo UI" pitchFamily="34" charset="-122"/>
                <a:cs typeface="Meiryo UI" pitchFamily="34" charset="-120"/>
              </a:rPr>
              <a:t>プル（SNS・YouTube）</a:t>
            </a:r>
            <a:endParaRPr lang="en-US" sz="1100" dirty="0"/>
          </a:p>
        </p:txBody>
      </p:sp>
      <p:sp>
        <p:nvSpPr>
          <p:cNvPr id="37" name="Shape 35"/>
          <p:cNvSpPr/>
          <p:nvPr/>
        </p:nvSpPr>
        <p:spPr>
          <a:xfrm>
            <a:off x="548640" y="5577840"/>
            <a:ext cx="4937760" cy="384048"/>
          </a:xfrm>
          <a:prstGeom prst="roundRect">
            <a:avLst>
              <a:gd name="adj" fmla="val 14286"/>
            </a:avLst>
          </a:prstGeom>
          <a:solidFill>
            <a:srgbClr val="2F7A55"/>
          </a:solidFill>
          <a:ln w="12700">
            <a:solidFill>
              <a:srgbClr val="2F7A55"/>
            </a:solidFill>
            <a:prstDash val="solid"/>
          </a:ln>
        </p:spPr>
      </p:sp>
      <p:sp>
        <p:nvSpPr>
          <p:cNvPr id="38" name="Text 36"/>
          <p:cNvSpPr txBox="1"/>
          <p:nvPr/>
        </p:nvSpPr>
        <p:spPr>
          <a:xfrm>
            <a:off x="685800" y="5577840"/>
            <a:ext cx="3931920" cy="384048"/>
          </a:xfrm>
          <a:prstGeom prst="rect">
            <a:avLst/>
          </a:prstGeom>
          <a:noFill/>
          <a:ln/>
        </p:spPr>
        <p:txBody>
          <a:bodyPr wrap="square" lIns="0" tIns="0" rIns="0" bIns="0" rtlCol="0" anchor="ctr"/>
          <a:lstStyle/>
          <a:p>
            <a:pPr indent="0" marL="0">
              <a:buNone/>
            </a:pPr>
            <a:r>
              <a:rPr lang="en-US" sz="1050" b="1" dirty="0">
                <a:solidFill>
                  <a:srgbClr val="FFFFFF"/>
                </a:solidFill>
                <a:latin typeface="Meiryo UI" pitchFamily="34" charset="0"/>
                <a:ea typeface="Meiryo UI" pitchFamily="34" charset="-122"/>
                <a:cs typeface="Meiryo UI" pitchFamily="34" charset="-120"/>
              </a:rPr>
              <a:t>動画経由のLINE登録 月100名 → 相談10件（入会率30%）</a:t>
            </a:r>
            <a:endParaRPr lang="en-US" sz="1050" dirty="0"/>
          </a:p>
        </p:txBody>
      </p:sp>
      <p:sp>
        <p:nvSpPr>
          <p:cNvPr id="39" name="Text 37"/>
          <p:cNvSpPr txBox="1"/>
          <p:nvPr/>
        </p:nvSpPr>
        <p:spPr>
          <a:xfrm>
            <a:off x="4526280" y="5577840"/>
            <a:ext cx="868680" cy="384048"/>
          </a:xfrm>
          <a:prstGeom prst="rect">
            <a:avLst/>
          </a:prstGeom>
          <a:noFill/>
          <a:ln/>
        </p:spPr>
        <p:txBody>
          <a:bodyPr wrap="square" lIns="0" tIns="0" rIns="0" bIns="0" rtlCol="0" anchor="ctr"/>
          <a:lstStyle/>
          <a:p>
            <a:pPr algn="r" indent="0" marL="0">
              <a:buNone/>
            </a:pPr>
            <a:r>
              <a:rPr lang="en-US" sz="1200" b="1" dirty="0">
                <a:solidFill>
                  <a:srgbClr val="FFFFFF"/>
                </a:solidFill>
                <a:latin typeface="Meiryo UI" pitchFamily="34" charset="0"/>
                <a:ea typeface="Meiryo UI" pitchFamily="34" charset="-122"/>
                <a:cs typeface="Meiryo UI" pitchFamily="34" charset="-120"/>
              </a:rPr>
              <a:t>約3名</a:t>
            </a:r>
            <a:endParaRPr lang="en-US" sz="1200" dirty="0"/>
          </a:p>
        </p:txBody>
      </p:sp>
      <p:sp>
        <p:nvSpPr>
          <p:cNvPr id="40" name="Shape 38"/>
          <p:cNvSpPr/>
          <p:nvPr/>
        </p:nvSpPr>
        <p:spPr>
          <a:xfrm>
            <a:off x="5852160" y="2606040"/>
            <a:ext cx="1808378" cy="1097280"/>
          </a:xfrm>
          <a:prstGeom prst="roundRect">
            <a:avLst>
              <a:gd name="adj" fmla="val 10000"/>
            </a:avLst>
          </a:prstGeom>
          <a:solidFill>
            <a:srgbClr val="F5F9F6"/>
          </a:solidFill>
          <a:ln w="12700">
            <a:solidFill>
              <a:srgbClr val="F5F9F6"/>
            </a:solidFill>
            <a:prstDash val="solid"/>
          </a:ln>
        </p:spPr>
      </p:sp>
      <p:sp>
        <p:nvSpPr>
          <p:cNvPr id="41" name="Text 39"/>
          <p:cNvSpPr txBox="1"/>
          <p:nvPr/>
        </p:nvSpPr>
        <p:spPr>
          <a:xfrm>
            <a:off x="5852160" y="2651760"/>
            <a:ext cx="1808378" cy="502920"/>
          </a:xfrm>
          <a:prstGeom prst="rect">
            <a:avLst/>
          </a:prstGeom>
          <a:noFill/>
          <a:ln/>
        </p:spPr>
        <p:txBody>
          <a:bodyPr wrap="square" lIns="0" tIns="0" rIns="0" bIns="0" rtlCol="0" anchor="ctr"/>
          <a:lstStyle/>
          <a:p>
            <a:pPr algn="ctr" indent="0" marL="0">
              <a:buNone/>
            </a:pPr>
            <a:r>
              <a:rPr lang="en-US" sz="2100" b="1" dirty="0">
                <a:solidFill>
                  <a:srgbClr val="2F7A55"/>
                </a:solidFill>
                <a:latin typeface="Meiryo UI" pitchFamily="34" charset="0"/>
                <a:ea typeface="Meiryo UI" pitchFamily="34" charset="-122"/>
                <a:cs typeface="Meiryo UI" pitchFamily="34" charset="-120"/>
              </a:rPr>
              <a:t>+5名/月</a:t>
            </a:r>
            <a:endParaRPr lang="en-US" sz="2100" dirty="0"/>
          </a:p>
        </p:txBody>
      </p:sp>
      <p:sp>
        <p:nvSpPr>
          <p:cNvPr id="42" name="Text 40"/>
          <p:cNvSpPr txBox="1"/>
          <p:nvPr/>
        </p:nvSpPr>
        <p:spPr>
          <a:xfrm>
            <a:off x="5852160" y="3154680"/>
            <a:ext cx="1808378" cy="502920"/>
          </a:xfrm>
          <a:prstGeom prst="rect">
            <a:avLst/>
          </a:prstGeom>
          <a:noFill/>
          <a:ln/>
        </p:spPr>
        <p:txBody>
          <a:bodyPr wrap="square" lIns="0" tIns="0" rIns="0" bIns="0" rtlCol="0" anchor="t"/>
          <a:lstStyle/>
          <a:p>
            <a:pPr algn="ctr" indent="0" marL="0">
              <a:buNone/>
            </a:pPr>
            <a:r>
              <a:rPr lang="en-US" sz="1000" dirty="0">
                <a:solidFill>
                  <a:srgbClr val="66786F"/>
                </a:solidFill>
                <a:latin typeface="Meiryo UI" pitchFamily="34" charset="0"/>
                <a:ea typeface="Meiryo UI" pitchFamily="34" charset="-122"/>
                <a:cs typeface="Meiryo UI" pitchFamily="34" charset="-120"/>
              </a:rPr>
              <a:t>拡大期の新規入会</a:t>
            </a:r>
            <a:endParaRPr lang="en-US" sz="1000" dirty="0"/>
          </a:p>
          <a:p>
            <a:pPr algn="ctr" indent="0" marL="0">
              <a:buNone/>
            </a:pPr>
            <a:r>
              <a:rPr lang="en-US" sz="1000" dirty="0">
                <a:solidFill>
                  <a:srgbClr val="66786F"/>
                </a:solidFill>
                <a:latin typeface="Meiryo UI" pitchFamily="34" charset="0"/>
                <a:ea typeface="Meiryo UI" pitchFamily="34" charset="-122"/>
                <a:cs typeface="Meiryo UI" pitchFamily="34" charset="-120"/>
              </a:rPr>
              <a:t>（上乗せ分）</a:t>
            </a:r>
            <a:endParaRPr lang="en-US" sz="1000" dirty="0"/>
          </a:p>
        </p:txBody>
      </p:sp>
      <p:sp>
        <p:nvSpPr>
          <p:cNvPr id="43" name="Shape 41"/>
          <p:cNvSpPr/>
          <p:nvPr/>
        </p:nvSpPr>
        <p:spPr>
          <a:xfrm>
            <a:off x="7843418" y="2606040"/>
            <a:ext cx="1808378" cy="1097280"/>
          </a:xfrm>
          <a:prstGeom prst="roundRect">
            <a:avLst>
              <a:gd name="adj" fmla="val 10000"/>
            </a:avLst>
          </a:prstGeom>
          <a:solidFill>
            <a:srgbClr val="F5F9F6"/>
          </a:solidFill>
          <a:ln w="12700">
            <a:solidFill>
              <a:srgbClr val="F5F9F6"/>
            </a:solidFill>
            <a:prstDash val="solid"/>
          </a:ln>
        </p:spPr>
      </p:sp>
      <p:sp>
        <p:nvSpPr>
          <p:cNvPr id="44" name="Text 42"/>
          <p:cNvSpPr txBox="1"/>
          <p:nvPr/>
        </p:nvSpPr>
        <p:spPr>
          <a:xfrm>
            <a:off x="7843418" y="2651760"/>
            <a:ext cx="1808378" cy="502920"/>
          </a:xfrm>
          <a:prstGeom prst="rect">
            <a:avLst/>
          </a:prstGeom>
          <a:noFill/>
          <a:ln/>
        </p:spPr>
        <p:txBody>
          <a:bodyPr wrap="square" lIns="0" tIns="0" rIns="0" bIns="0" rtlCol="0" anchor="ctr"/>
          <a:lstStyle/>
          <a:p>
            <a:pPr algn="ctr" indent="0" marL="0">
              <a:buNone/>
            </a:pPr>
            <a:r>
              <a:rPr lang="en-US" sz="2100" b="1" dirty="0">
                <a:solidFill>
                  <a:srgbClr val="2F7A55"/>
                </a:solidFill>
                <a:latin typeface="Meiryo UI" pitchFamily="34" charset="0"/>
                <a:ea typeface="Meiryo UI" pitchFamily="34" charset="-122"/>
                <a:cs typeface="Meiryo UI" pitchFamily="34" charset="-120"/>
              </a:rPr>
              <a:t>+42名</a:t>
            </a:r>
            <a:endParaRPr lang="en-US" sz="2100" dirty="0"/>
          </a:p>
        </p:txBody>
      </p:sp>
      <p:sp>
        <p:nvSpPr>
          <p:cNvPr id="45" name="Text 43"/>
          <p:cNvSpPr txBox="1"/>
          <p:nvPr/>
        </p:nvSpPr>
        <p:spPr>
          <a:xfrm>
            <a:off x="7843418" y="3154680"/>
            <a:ext cx="1808378" cy="502920"/>
          </a:xfrm>
          <a:prstGeom prst="rect">
            <a:avLst/>
          </a:prstGeom>
          <a:noFill/>
          <a:ln/>
        </p:spPr>
        <p:txBody>
          <a:bodyPr wrap="square" lIns="0" tIns="0" rIns="0" bIns="0" rtlCol="0" anchor="t"/>
          <a:lstStyle/>
          <a:p>
            <a:pPr algn="ctr" indent="0" marL="0">
              <a:buNone/>
            </a:pPr>
            <a:r>
              <a:rPr lang="en-US" sz="1000" dirty="0">
                <a:solidFill>
                  <a:srgbClr val="66786F"/>
                </a:solidFill>
                <a:latin typeface="Meiryo UI" pitchFamily="34" charset="0"/>
                <a:ea typeface="Meiryo UI" pitchFamily="34" charset="-122"/>
                <a:cs typeface="Meiryo UI" pitchFamily="34" charset="-120"/>
              </a:rPr>
              <a:t>12ヶ月後の</a:t>
            </a:r>
            <a:endParaRPr lang="en-US" sz="1000" dirty="0"/>
          </a:p>
          <a:p>
            <a:pPr algn="ctr" indent="0" marL="0">
              <a:buNone/>
            </a:pPr>
            <a:r>
              <a:rPr lang="en-US" sz="1000" dirty="0">
                <a:solidFill>
                  <a:srgbClr val="66786F"/>
                </a:solidFill>
                <a:latin typeface="Meiryo UI" pitchFamily="34" charset="0"/>
                <a:ea typeface="Meiryo UI" pitchFamily="34" charset="-122"/>
                <a:cs typeface="Meiryo UI" pitchFamily="34" charset="-120"/>
              </a:rPr>
              <a:t>塾生数の上乗せ</a:t>
            </a:r>
            <a:endParaRPr lang="en-US" sz="1000" dirty="0"/>
          </a:p>
        </p:txBody>
      </p:sp>
      <p:sp>
        <p:nvSpPr>
          <p:cNvPr id="46" name="Shape 44"/>
          <p:cNvSpPr/>
          <p:nvPr/>
        </p:nvSpPr>
        <p:spPr>
          <a:xfrm>
            <a:off x="9834677" y="2606040"/>
            <a:ext cx="1808378" cy="1097280"/>
          </a:xfrm>
          <a:prstGeom prst="roundRect">
            <a:avLst>
              <a:gd name="adj" fmla="val 10000"/>
            </a:avLst>
          </a:prstGeom>
          <a:solidFill>
            <a:srgbClr val="FDECEA"/>
          </a:solidFill>
          <a:ln w="12700">
            <a:solidFill>
              <a:srgbClr val="FDECEA"/>
            </a:solidFill>
            <a:prstDash val="solid"/>
          </a:ln>
        </p:spPr>
      </p:sp>
      <p:sp>
        <p:nvSpPr>
          <p:cNvPr id="47" name="Text 45"/>
          <p:cNvSpPr txBox="1"/>
          <p:nvPr/>
        </p:nvSpPr>
        <p:spPr>
          <a:xfrm>
            <a:off x="9834677" y="2651760"/>
            <a:ext cx="1808378" cy="502920"/>
          </a:xfrm>
          <a:prstGeom prst="rect">
            <a:avLst/>
          </a:prstGeom>
          <a:noFill/>
          <a:ln/>
        </p:spPr>
        <p:txBody>
          <a:bodyPr wrap="square" lIns="0" tIns="0" rIns="0" bIns="0" rtlCol="0" anchor="ctr"/>
          <a:lstStyle/>
          <a:p>
            <a:pPr algn="ctr" indent="0" marL="0">
              <a:buNone/>
            </a:pPr>
            <a:r>
              <a:rPr lang="en-US" sz="2100" b="1" dirty="0">
                <a:solidFill>
                  <a:srgbClr val="D8614F"/>
                </a:solidFill>
                <a:latin typeface="Meiryo UI" pitchFamily="34" charset="0"/>
                <a:ea typeface="Meiryo UI" pitchFamily="34" charset="-122"/>
                <a:cs typeface="Meiryo UI" pitchFamily="34" charset="-120"/>
              </a:rPr>
              <a:t>+84万円/月</a:t>
            </a:r>
            <a:endParaRPr lang="en-US" sz="2100" dirty="0"/>
          </a:p>
        </p:txBody>
      </p:sp>
      <p:sp>
        <p:nvSpPr>
          <p:cNvPr id="48" name="Text 46"/>
          <p:cNvSpPr txBox="1"/>
          <p:nvPr/>
        </p:nvSpPr>
        <p:spPr>
          <a:xfrm>
            <a:off x="9834677" y="3154680"/>
            <a:ext cx="1808378" cy="502920"/>
          </a:xfrm>
          <a:prstGeom prst="rect">
            <a:avLst/>
          </a:prstGeom>
          <a:noFill/>
          <a:ln/>
        </p:spPr>
        <p:txBody>
          <a:bodyPr wrap="square" lIns="0" tIns="0" rIns="0" bIns="0" rtlCol="0" anchor="t"/>
          <a:lstStyle/>
          <a:p>
            <a:pPr algn="ctr" indent="0" marL="0">
              <a:buNone/>
            </a:pPr>
            <a:r>
              <a:rPr lang="en-US" sz="1000" dirty="0">
                <a:solidFill>
                  <a:srgbClr val="66786F"/>
                </a:solidFill>
                <a:latin typeface="Meiryo UI" pitchFamily="34" charset="0"/>
                <a:ea typeface="Meiryo UI" pitchFamily="34" charset="-122"/>
                <a:cs typeface="Meiryo UI" pitchFamily="34" charset="-120"/>
              </a:rPr>
              <a:t>12ヶ月目の</a:t>
            </a:r>
            <a:endParaRPr lang="en-US" sz="1000" dirty="0"/>
          </a:p>
          <a:p>
            <a:pPr algn="ctr" indent="0" marL="0">
              <a:buNone/>
            </a:pPr>
            <a:r>
              <a:rPr lang="en-US" sz="1000" dirty="0">
                <a:solidFill>
                  <a:srgbClr val="66786F"/>
                </a:solidFill>
                <a:latin typeface="Meiryo UI" pitchFamily="34" charset="0"/>
                <a:ea typeface="Meiryo UI" pitchFamily="34" charset="-122"/>
                <a:cs typeface="Meiryo UI" pitchFamily="34" charset="-120"/>
              </a:rPr>
              <a:t>月謝売上の上乗せ</a:t>
            </a:r>
            <a:endParaRPr lang="en-US" sz="1000" dirty="0"/>
          </a:p>
        </p:txBody>
      </p:sp>
      <p:graphicFrame>
        <p:nvGraphicFramePr>
          <p:cNvPr id="49" name="Chart 0" descr=""/>
          <p:cNvGraphicFramePr/>
          <p:nvPr/>
        </p:nvGraphicFramePr>
        <p:xfrm>
          <a:off x="5852160" y="3840480"/>
          <a:ext cx="5790895" cy="2240280"/>
        </p:xfrm>
        <a:graphic xmlns:a="http://schemas.openxmlformats.org/drawingml/2006/main">
          <a:graphicData uri="http://schemas.openxmlformats.org/drawingml/2006/chart">
            <c:chart xmlns:c="http://schemas.openxmlformats.org/drawingml/2006/chart" r:id="rId1"/>
          </a:graphicData>
        </a:graphic>
      </p:graphicFrame>
      <p:sp>
        <p:nvSpPr>
          <p:cNvPr id="50" name="Text 47"/>
          <p:cNvSpPr txBox="1"/>
          <p:nvPr/>
        </p:nvSpPr>
        <p:spPr>
          <a:xfrm>
            <a:off x="5852160" y="6080760"/>
            <a:ext cx="5790895" cy="320040"/>
          </a:xfrm>
          <a:prstGeom prst="rect">
            <a:avLst/>
          </a:prstGeom>
          <a:noFill/>
          <a:ln/>
        </p:spPr>
        <p:txBody>
          <a:bodyPr wrap="square" lIns="0" tIns="0" rIns="0" bIns="0" rtlCol="0" anchor="t"/>
          <a:lstStyle/>
          <a:p>
            <a:pPr indent="0" marL="0">
              <a:buNone/>
            </a:pPr>
            <a:r>
              <a:rPr lang="en-US" sz="950" dirty="0">
                <a:solidFill>
                  <a:srgbClr val="66786F"/>
                </a:solidFill>
                <a:latin typeface="Meiryo UI" pitchFamily="34" charset="0"/>
                <a:ea typeface="Meiryo UI" pitchFamily="34" charset="-122"/>
                <a:cs typeface="Meiryo UI" pitchFamily="34" charset="-120"/>
              </a:rPr>
              <a:t>※立ち上げ期+1〜2名/月、拡大期+3名/月、定着期+5名/月と仮定。退会・子育て講座の売上は含まない単純試算です。</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D8614F"/>
                </a:solidFill>
                <a:latin typeface="Meiryo UI" pitchFamily="34" charset="0"/>
                <a:ea typeface="Meiryo UI" pitchFamily="34" charset="-122"/>
                <a:cs typeface="Meiryo UI" pitchFamily="34" charset="-120"/>
              </a:rPr>
              <a:t>07｜NEXT STEP</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2F7A55"/>
                </a:solidFill>
                <a:latin typeface="Meiryo UI" pitchFamily="34" charset="0"/>
                <a:ea typeface="Meiryo UI" pitchFamily="34" charset="-122"/>
                <a:cs typeface="Meiryo UI" pitchFamily="34" charset="-120"/>
              </a:rPr>
              <a:t>今後のスケジュール：次回お打ち合わせからご契約・本格始動へ</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0"/>
                </a:solidFill>
                <a:latin typeface="Meiryo UI" pitchFamily="34" charset="0"/>
                <a:ea typeface="Meiryo UI" pitchFamily="34" charset="-122"/>
                <a:cs typeface="Meiryo UI" pitchFamily="34" charset="-120"/>
              </a:rPr>
              <a:t>25</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0"/>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1242041" y="1874520"/>
            <a:ext cx="9707613" cy="0"/>
          </a:xfrm>
          <a:prstGeom prst="line">
            <a:avLst/>
          </a:prstGeom>
          <a:noFill/>
          <a:ln w="25400">
            <a:solidFill>
              <a:srgbClr val="C4DDCD"/>
            </a:solidFill>
            <a:prstDash val="solid"/>
          </a:ln>
        </p:spPr>
      </p:sp>
      <p:sp>
        <p:nvSpPr>
          <p:cNvPr id="7" name="Shape 5"/>
          <p:cNvSpPr/>
          <p:nvPr/>
        </p:nvSpPr>
        <p:spPr>
          <a:xfrm>
            <a:off x="1086593" y="1719072"/>
            <a:ext cx="310896" cy="310896"/>
          </a:xfrm>
          <a:prstGeom prst="ellipse">
            <a:avLst/>
          </a:prstGeom>
          <a:solidFill>
            <a:srgbClr val="D8614F"/>
          </a:solidFill>
          <a:ln w="25400">
            <a:solidFill>
              <a:srgbClr val="FFFFFF"/>
            </a:solidFill>
            <a:prstDash val="solid"/>
          </a:ln>
        </p:spPr>
      </p:sp>
      <p:sp>
        <p:nvSpPr>
          <p:cNvPr id="8" name="Text 6"/>
          <p:cNvSpPr txBox="1"/>
          <p:nvPr/>
        </p:nvSpPr>
        <p:spPr>
          <a:xfrm>
            <a:off x="585216" y="2194560"/>
            <a:ext cx="1313650" cy="502920"/>
          </a:xfrm>
          <a:prstGeom prst="rect">
            <a:avLst/>
          </a:prstGeom>
          <a:noFill/>
          <a:ln/>
        </p:spPr>
        <p:txBody>
          <a:bodyPr wrap="square" lIns="0" tIns="0" rIns="0" bIns="0" rtlCol="0" anchor="ctr"/>
          <a:lstStyle/>
          <a:p>
            <a:pPr algn="ctr" indent="0" marL="0">
              <a:buNone/>
            </a:pPr>
            <a:r>
              <a:rPr lang="en-US" sz="1200" b="1" dirty="0">
                <a:solidFill>
                  <a:srgbClr val="D8614F"/>
                </a:solidFill>
                <a:latin typeface="Meiryo UI" pitchFamily="34" charset="0"/>
                <a:ea typeface="Meiryo UI" pitchFamily="34" charset="-122"/>
                <a:cs typeface="Meiryo UI" pitchFamily="34" charset="-120"/>
              </a:rPr>
              <a:t>本日</a:t>
            </a:r>
            <a:endParaRPr lang="en-US" sz="1200" dirty="0"/>
          </a:p>
        </p:txBody>
      </p:sp>
      <p:sp>
        <p:nvSpPr>
          <p:cNvPr id="9" name="Text 7"/>
          <p:cNvSpPr txBox="1"/>
          <p:nvPr/>
        </p:nvSpPr>
        <p:spPr>
          <a:xfrm>
            <a:off x="585216" y="2697480"/>
            <a:ext cx="1313650" cy="731520"/>
          </a:xfrm>
          <a:prstGeom prst="rect">
            <a:avLst/>
          </a:prstGeom>
          <a:noFill/>
          <a:ln/>
        </p:spPr>
        <p:txBody>
          <a:bodyPr wrap="square" lIns="0" tIns="0" rIns="0" bIns="0" rtlCol="0" anchor="t"/>
          <a:lstStyle/>
          <a:p>
            <a:pPr algn="ctr" indent="0" marL="0">
              <a:buNone/>
            </a:pPr>
            <a:r>
              <a:rPr lang="en-US" sz="1050" dirty="0">
                <a:solidFill>
                  <a:srgbClr val="2A3330"/>
                </a:solidFill>
                <a:latin typeface="Meiryo UI" pitchFamily="34" charset="0"/>
                <a:ea typeface="Meiryo UI" pitchFamily="34" charset="-122"/>
                <a:cs typeface="Meiryo UI" pitchFamily="34" charset="-120"/>
              </a:rPr>
              <a:t>課題・現状数値の</a:t>
            </a:r>
            <a:endParaRPr lang="en-US" sz="1050" dirty="0"/>
          </a:p>
          <a:p>
            <a:pPr algn="ctr" indent="0" marL="0">
              <a:buNone/>
            </a:pPr>
            <a:r>
              <a:rPr lang="en-US" sz="1050" dirty="0">
                <a:solidFill>
                  <a:srgbClr val="2A3330"/>
                </a:solidFill>
                <a:latin typeface="Meiryo UI" pitchFamily="34" charset="0"/>
                <a:ea typeface="Meiryo UI" pitchFamily="34" charset="-122"/>
                <a:cs typeface="Meiryo UI" pitchFamily="34" charset="-120"/>
              </a:rPr>
              <a:t>ヒアリング</a:t>
            </a:r>
            <a:endParaRPr lang="en-US" sz="1050" dirty="0"/>
          </a:p>
        </p:txBody>
      </p:sp>
      <p:sp>
        <p:nvSpPr>
          <p:cNvPr id="10" name="Shape 8"/>
          <p:cNvSpPr/>
          <p:nvPr/>
        </p:nvSpPr>
        <p:spPr>
          <a:xfrm>
            <a:off x="2473395" y="1719072"/>
            <a:ext cx="310896" cy="310896"/>
          </a:xfrm>
          <a:prstGeom prst="ellipse">
            <a:avLst/>
          </a:prstGeom>
          <a:solidFill>
            <a:srgbClr val="D8614F"/>
          </a:solidFill>
          <a:ln w="25400">
            <a:solidFill>
              <a:srgbClr val="FFFFFF"/>
            </a:solidFill>
            <a:prstDash val="solid"/>
          </a:ln>
        </p:spPr>
      </p:sp>
      <p:sp>
        <p:nvSpPr>
          <p:cNvPr id="11" name="Text 9"/>
          <p:cNvSpPr txBox="1"/>
          <p:nvPr/>
        </p:nvSpPr>
        <p:spPr>
          <a:xfrm>
            <a:off x="1972018" y="2194560"/>
            <a:ext cx="1313650" cy="502920"/>
          </a:xfrm>
          <a:prstGeom prst="rect">
            <a:avLst/>
          </a:prstGeom>
          <a:noFill/>
          <a:ln/>
        </p:spPr>
        <p:txBody>
          <a:bodyPr wrap="square" lIns="0" tIns="0" rIns="0" bIns="0" rtlCol="0" anchor="ctr"/>
          <a:lstStyle/>
          <a:p>
            <a:pPr algn="ctr" indent="0" marL="0">
              <a:buNone/>
            </a:pPr>
            <a:r>
              <a:rPr lang="en-US" sz="1200" b="1" dirty="0">
                <a:solidFill>
                  <a:srgbClr val="D8614F"/>
                </a:solidFill>
                <a:latin typeface="Meiryo UI" pitchFamily="34" charset="0"/>
                <a:ea typeface="Meiryo UI" pitchFamily="34" charset="-122"/>
                <a:cs typeface="Meiryo UI" pitchFamily="34" charset="-120"/>
              </a:rPr>
              <a:t>次回打ち合わせ</a:t>
            </a:r>
            <a:endParaRPr lang="en-US" sz="1200" dirty="0"/>
          </a:p>
        </p:txBody>
      </p:sp>
      <p:sp>
        <p:nvSpPr>
          <p:cNvPr id="12" name="Text 10"/>
          <p:cNvSpPr txBox="1"/>
          <p:nvPr/>
        </p:nvSpPr>
        <p:spPr>
          <a:xfrm>
            <a:off x="1972018" y="2697480"/>
            <a:ext cx="1313650" cy="731520"/>
          </a:xfrm>
          <a:prstGeom prst="rect">
            <a:avLst/>
          </a:prstGeom>
          <a:noFill/>
          <a:ln/>
        </p:spPr>
        <p:txBody>
          <a:bodyPr wrap="square" lIns="0" tIns="0" rIns="0" bIns="0" rtlCol="0" anchor="t"/>
          <a:lstStyle/>
          <a:p>
            <a:pPr algn="ctr" indent="0" marL="0">
              <a:buNone/>
            </a:pPr>
            <a:r>
              <a:rPr lang="en-US" sz="1050" dirty="0">
                <a:solidFill>
                  <a:srgbClr val="2A3330"/>
                </a:solidFill>
                <a:latin typeface="Meiryo UI" pitchFamily="34" charset="0"/>
                <a:ea typeface="Meiryo UI" pitchFamily="34" charset="-122"/>
                <a:cs typeface="Meiryo UI" pitchFamily="34" charset="-120"/>
              </a:rPr>
              <a:t>試算の確定</a:t>
            </a:r>
            <a:endParaRPr lang="en-US" sz="1050" dirty="0"/>
          </a:p>
          <a:p>
            <a:pPr algn="ctr" indent="0" marL="0">
              <a:buNone/>
            </a:pPr>
            <a:r>
              <a:rPr lang="en-US" sz="1050" dirty="0">
                <a:solidFill>
                  <a:srgbClr val="2A3330"/>
                </a:solidFill>
                <a:latin typeface="Meiryo UI" pitchFamily="34" charset="0"/>
                <a:ea typeface="Meiryo UI" pitchFamily="34" charset="-122"/>
                <a:cs typeface="Meiryo UI" pitchFamily="34" charset="-120"/>
              </a:rPr>
              <a:t>目標合意・正式提案</a:t>
            </a:r>
            <a:endParaRPr lang="en-US" sz="1050" dirty="0"/>
          </a:p>
        </p:txBody>
      </p:sp>
      <p:sp>
        <p:nvSpPr>
          <p:cNvPr id="13" name="Shape 11"/>
          <p:cNvSpPr/>
          <p:nvPr/>
        </p:nvSpPr>
        <p:spPr>
          <a:xfrm>
            <a:off x="3860197" y="1719072"/>
            <a:ext cx="310896" cy="310896"/>
          </a:xfrm>
          <a:prstGeom prst="ellipse">
            <a:avLst/>
          </a:prstGeom>
          <a:solidFill>
            <a:srgbClr val="2F7A55"/>
          </a:solidFill>
          <a:ln w="25400">
            <a:solidFill>
              <a:srgbClr val="FFFFFF"/>
            </a:solidFill>
            <a:prstDash val="solid"/>
          </a:ln>
        </p:spPr>
      </p:sp>
      <p:sp>
        <p:nvSpPr>
          <p:cNvPr id="14" name="Text 12"/>
          <p:cNvSpPr txBox="1"/>
          <p:nvPr/>
        </p:nvSpPr>
        <p:spPr>
          <a:xfrm>
            <a:off x="3358820" y="2194560"/>
            <a:ext cx="1313650" cy="502920"/>
          </a:xfrm>
          <a:prstGeom prst="rect">
            <a:avLst/>
          </a:prstGeom>
          <a:noFill/>
          <a:ln/>
        </p:spPr>
        <p:txBody>
          <a:bodyPr wrap="square" lIns="0" tIns="0" rIns="0" bIns="0" rtlCol="0" anchor="ctr"/>
          <a:lstStyle/>
          <a:p>
            <a:pPr algn="ctr" indent="0" marL="0">
              <a:buNone/>
            </a:pPr>
            <a:r>
              <a:rPr lang="en-US" sz="1200" b="1" dirty="0">
                <a:solidFill>
                  <a:srgbClr val="2F7A55"/>
                </a:solidFill>
                <a:latin typeface="Meiryo UI" pitchFamily="34" charset="0"/>
                <a:ea typeface="Meiryo UI" pitchFamily="34" charset="-122"/>
                <a:cs typeface="Meiryo UI" pitchFamily="34" charset="-120"/>
              </a:rPr>
              <a:t>ご契約〜1週間</a:t>
            </a:r>
            <a:endParaRPr lang="en-US" sz="1200" dirty="0"/>
          </a:p>
        </p:txBody>
      </p:sp>
      <p:sp>
        <p:nvSpPr>
          <p:cNvPr id="15" name="Text 13"/>
          <p:cNvSpPr txBox="1"/>
          <p:nvPr/>
        </p:nvSpPr>
        <p:spPr>
          <a:xfrm>
            <a:off x="3358820" y="2697480"/>
            <a:ext cx="1313650" cy="731520"/>
          </a:xfrm>
          <a:prstGeom prst="rect">
            <a:avLst/>
          </a:prstGeom>
          <a:noFill/>
          <a:ln/>
        </p:spPr>
        <p:txBody>
          <a:bodyPr wrap="square" lIns="0" tIns="0" rIns="0" bIns="0" rtlCol="0" anchor="t"/>
          <a:lstStyle/>
          <a:p>
            <a:pPr algn="ctr" indent="0" marL="0">
              <a:buNone/>
            </a:pPr>
            <a:r>
              <a:rPr lang="en-US" sz="1050" dirty="0">
                <a:solidFill>
                  <a:srgbClr val="2A3330"/>
                </a:solidFill>
                <a:latin typeface="Meiryo UI" pitchFamily="34" charset="0"/>
                <a:ea typeface="Meiryo UI" pitchFamily="34" charset="-122"/>
                <a:cs typeface="Meiryo UI" pitchFamily="34" charset="-120"/>
              </a:rPr>
              <a:t>キックオフ</a:t>
            </a:r>
            <a:endParaRPr lang="en-US" sz="1050" dirty="0"/>
          </a:p>
          <a:p>
            <a:pPr algn="ctr" indent="0" marL="0">
              <a:buNone/>
            </a:pPr>
            <a:r>
              <a:rPr lang="en-US" sz="1050" dirty="0">
                <a:solidFill>
                  <a:srgbClr val="2A3330"/>
                </a:solidFill>
                <a:latin typeface="Meiryo UI" pitchFamily="34" charset="0"/>
                <a:ea typeface="Meiryo UI" pitchFamily="34" charset="-122"/>
                <a:cs typeface="Meiryo UI" pitchFamily="34" charset="-120"/>
              </a:rPr>
              <a:t>KPI設定・素材確認</a:t>
            </a:r>
            <a:endParaRPr lang="en-US" sz="1050" dirty="0"/>
          </a:p>
        </p:txBody>
      </p:sp>
      <p:sp>
        <p:nvSpPr>
          <p:cNvPr id="16" name="Shape 14"/>
          <p:cNvSpPr/>
          <p:nvPr/>
        </p:nvSpPr>
        <p:spPr>
          <a:xfrm>
            <a:off x="5246999" y="1719072"/>
            <a:ext cx="310896" cy="310896"/>
          </a:xfrm>
          <a:prstGeom prst="ellipse">
            <a:avLst/>
          </a:prstGeom>
          <a:solidFill>
            <a:srgbClr val="2F7A55"/>
          </a:solidFill>
          <a:ln w="25400">
            <a:solidFill>
              <a:srgbClr val="FFFFFF"/>
            </a:solidFill>
            <a:prstDash val="solid"/>
          </a:ln>
        </p:spPr>
      </p:sp>
      <p:sp>
        <p:nvSpPr>
          <p:cNvPr id="17" name="Text 15"/>
          <p:cNvSpPr txBox="1"/>
          <p:nvPr/>
        </p:nvSpPr>
        <p:spPr>
          <a:xfrm>
            <a:off x="4745622" y="2194560"/>
            <a:ext cx="1313650" cy="502920"/>
          </a:xfrm>
          <a:prstGeom prst="rect">
            <a:avLst/>
          </a:prstGeom>
          <a:noFill/>
          <a:ln/>
        </p:spPr>
        <p:txBody>
          <a:bodyPr wrap="square" lIns="0" tIns="0" rIns="0" bIns="0" rtlCol="0" anchor="ctr"/>
          <a:lstStyle/>
          <a:p>
            <a:pPr algn="ctr" indent="0" marL="0">
              <a:buNone/>
            </a:pPr>
            <a:r>
              <a:rPr lang="en-US" sz="1200" b="1" dirty="0">
                <a:solidFill>
                  <a:srgbClr val="2F7A55"/>
                </a:solidFill>
                <a:latin typeface="Meiryo UI" pitchFamily="34" charset="0"/>
                <a:ea typeface="Meiryo UI" pitchFamily="34" charset="-122"/>
                <a:cs typeface="Meiryo UI" pitchFamily="34" charset="-120"/>
              </a:rPr>
              <a:t>〜2週間</a:t>
            </a:r>
            <a:endParaRPr lang="en-US" sz="1200" dirty="0"/>
          </a:p>
        </p:txBody>
      </p:sp>
      <p:sp>
        <p:nvSpPr>
          <p:cNvPr id="18" name="Text 16"/>
          <p:cNvSpPr txBox="1"/>
          <p:nvPr/>
        </p:nvSpPr>
        <p:spPr>
          <a:xfrm>
            <a:off x="4745622" y="2697480"/>
            <a:ext cx="1313650" cy="731520"/>
          </a:xfrm>
          <a:prstGeom prst="rect">
            <a:avLst/>
          </a:prstGeom>
          <a:noFill/>
          <a:ln/>
        </p:spPr>
        <p:txBody>
          <a:bodyPr wrap="square" lIns="0" tIns="0" rIns="0" bIns="0" rtlCol="0" anchor="t"/>
          <a:lstStyle/>
          <a:p>
            <a:pPr algn="ctr" indent="0" marL="0">
              <a:buNone/>
            </a:pPr>
            <a:r>
              <a:rPr lang="en-US" sz="1050" dirty="0">
                <a:solidFill>
                  <a:srgbClr val="2A3330"/>
                </a:solidFill>
                <a:latin typeface="Meiryo UI" pitchFamily="34" charset="0"/>
                <a:ea typeface="Meiryo UI" pitchFamily="34" charset="-122"/>
                <a:cs typeface="Meiryo UI" pitchFamily="34" charset="-120"/>
              </a:rPr>
              <a:t>無料3本の</a:t>
            </a:r>
            <a:endParaRPr lang="en-US" sz="1050" dirty="0"/>
          </a:p>
          <a:p>
            <a:pPr algn="ctr" indent="0" marL="0">
              <a:buNone/>
            </a:pPr>
            <a:r>
              <a:rPr lang="en-US" sz="1050" dirty="0">
                <a:solidFill>
                  <a:srgbClr val="2A3330"/>
                </a:solidFill>
                <a:latin typeface="Meiryo UI" pitchFamily="34" charset="0"/>
                <a:ea typeface="Meiryo UI" pitchFamily="34" charset="-122"/>
                <a:cs typeface="Meiryo UI" pitchFamily="34" charset="-120"/>
              </a:rPr>
              <a:t>初稿提出・修正</a:t>
            </a:r>
            <a:endParaRPr lang="en-US" sz="1050" dirty="0"/>
          </a:p>
        </p:txBody>
      </p:sp>
      <p:sp>
        <p:nvSpPr>
          <p:cNvPr id="19" name="Shape 17"/>
          <p:cNvSpPr/>
          <p:nvPr/>
        </p:nvSpPr>
        <p:spPr>
          <a:xfrm>
            <a:off x="6633801" y="1719072"/>
            <a:ext cx="310896" cy="310896"/>
          </a:xfrm>
          <a:prstGeom prst="ellipse">
            <a:avLst/>
          </a:prstGeom>
          <a:solidFill>
            <a:srgbClr val="2F7A55"/>
          </a:solidFill>
          <a:ln w="25400">
            <a:solidFill>
              <a:srgbClr val="FFFFFF"/>
            </a:solidFill>
            <a:prstDash val="solid"/>
          </a:ln>
        </p:spPr>
      </p:sp>
      <p:sp>
        <p:nvSpPr>
          <p:cNvPr id="20" name="Text 18"/>
          <p:cNvSpPr txBox="1"/>
          <p:nvPr/>
        </p:nvSpPr>
        <p:spPr>
          <a:xfrm>
            <a:off x="6132424" y="2194560"/>
            <a:ext cx="1313650" cy="502920"/>
          </a:xfrm>
          <a:prstGeom prst="rect">
            <a:avLst/>
          </a:prstGeom>
          <a:noFill/>
          <a:ln/>
        </p:spPr>
        <p:txBody>
          <a:bodyPr wrap="square" lIns="0" tIns="0" rIns="0" bIns="0" rtlCol="0" anchor="ctr"/>
          <a:lstStyle/>
          <a:p>
            <a:pPr algn="ctr" indent="0" marL="0">
              <a:buNone/>
            </a:pPr>
            <a:r>
              <a:rPr lang="en-US" sz="1200" b="1" dirty="0">
                <a:solidFill>
                  <a:srgbClr val="2F7A55"/>
                </a:solidFill>
                <a:latin typeface="Meiryo UI" pitchFamily="34" charset="0"/>
                <a:ea typeface="Meiryo UI" pitchFamily="34" charset="-122"/>
                <a:cs typeface="Meiryo UI" pitchFamily="34" charset="-120"/>
              </a:rPr>
              <a:t>3〜5週目</a:t>
            </a:r>
            <a:endParaRPr lang="en-US" sz="1200" dirty="0"/>
          </a:p>
        </p:txBody>
      </p:sp>
      <p:sp>
        <p:nvSpPr>
          <p:cNvPr id="21" name="Text 19"/>
          <p:cNvSpPr txBox="1"/>
          <p:nvPr/>
        </p:nvSpPr>
        <p:spPr>
          <a:xfrm>
            <a:off x="6132424" y="2697480"/>
            <a:ext cx="1313650" cy="731520"/>
          </a:xfrm>
          <a:prstGeom prst="rect">
            <a:avLst/>
          </a:prstGeom>
          <a:noFill/>
          <a:ln/>
        </p:spPr>
        <p:txBody>
          <a:bodyPr wrap="square" lIns="0" tIns="0" rIns="0" bIns="0" rtlCol="0" anchor="t"/>
          <a:lstStyle/>
          <a:p>
            <a:pPr algn="ctr" indent="0" marL="0">
              <a:buNone/>
            </a:pPr>
            <a:r>
              <a:rPr lang="en-US" sz="1050" dirty="0">
                <a:solidFill>
                  <a:srgbClr val="2A3330"/>
                </a:solidFill>
                <a:latin typeface="Meiryo UI" pitchFamily="34" charset="0"/>
                <a:ea typeface="Meiryo UI" pitchFamily="34" charset="-122"/>
                <a:cs typeface="Meiryo UI" pitchFamily="34" charset="-120"/>
              </a:rPr>
              <a:t>配信・送付の実行</a:t>
            </a:r>
            <a:endParaRPr lang="en-US" sz="1050" dirty="0"/>
          </a:p>
          <a:p>
            <a:pPr algn="ctr" indent="0" marL="0">
              <a:buNone/>
            </a:pPr>
            <a:r>
              <a:rPr lang="en-US" sz="1050" dirty="0">
                <a:solidFill>
                  <a:srgbClr val="2A3330"/>
                </a:solidFill>
                <a:latin typeface="Meiryo UI" pitchFamily="34" charset="0"/>
                <a:ea typeface="Meiryo UI" pitchFamily="34" charset="-122"/>
                <a:cs typeface="Meiryo UI" pitchFamily="34" charset="-120"/>
              </a:rPr>
              <a:t>（KPI計測開始）</a:t>
            </a:r>
            <a:endParaRPr lang="en-US" sz="1050" dirty="0"/>
          </a:p>
        </p:txBody>
      </p:sp>
      <p:sp>
        <p:nvSpPr>
          <p:cNvPr id="22" name="Shape 20"/>
          <p:cNvSpPr/>
          <p:nvPr/>
        </p:nvSpPr>
        <p:spPr>
          <a:xfrm>
            <a:off x="8020602" y="1719072"/>
            <a:ext cx="310896" cy="310896"/>
          </a:xfrm>
          <a:prstGeom prst="ellipse">
            <a:avLst/>
          </a:prstGeom>
          <a:solidFill>
            <a:srgbClr val="2F7A55"/>
          </a:solidFill>
          <a:ln w="25400">
            <a:solidFill>
              <a:srgbClr val="FFFFFF"/>
            </a:solidFill>
            <a:prstDash val="solid"/>
          </a:ln>
        </p:spPr>
      </p:sp>
      <p:sp>
        <p:nvSpPr>
          <p:cNvPr id="23" name="Text 21"/>
          <p:cNvSpPr txBox="1"/>
          <p:nvPr/>
        </p:nvSpPr>
        <p:spPr>
          <a:xfrm>
            <a:off x="7519226" y="2194560"/>
            <a:ext cx="1313650" cy="502920"/>
          </a:xfrm>
          <a:prstGeom prst="rect">
            <a:avLst/>
          </a:prstGeom>
          <a:noFill/>
          <a:ln/>
        </p:spPr>
        <p:txBody>
          <a:bodyPr wrap="square" lIns="0" tIns="0" rIns="0" bIns="0" rtlCol="0" anchor="ctr"/>
          <a:lstStyle/>
          <a:p>
            <a:pPr algn="ctr" indent="0" marL="0">
              <a:buNone/>
            </a:pPr>
            <a:r>
              <a:rPr lang="en-US" sz="1200" b="1" dirty="0">
                <a:solidFill>
                  <a:srgbClr val="2F7A55"/>
                </a:solidFill>
                <a:latin typeface="Meiryo UI" pitchFamily="34" charset="0"/>
                <a:ea typeface="Meiryo UI" pitchFamily="34" charset="-122"/>
                <a:cs typeface="Meiryo UI" pitchFamily="34" charset="-120"/>
              </a:rPr>
              <a:t>6週目</a:t>
            </a:r>
            <a:endParaRPr lang="en-US" sz="1200" dirty="0"/>
          </a:p>
        </p:txBody>
      </p:sp>
      <p:sp>
        <p:nvSpPr>
          <p:cNvPr id="24" name="Text 22"/>
          <p:cNvSpPr txBox="1"/>
          <p:nvPr/>
        </p:nvSpPr>
        <p:spPr>
          <a:xfrm>
            <a:off x="7519226" y="2697480"/>
            <a:ext cx="1313650" cy="731520"/>
          </a:xfrm>
          <a:prstGeom prst="rect">
            <a:avLst/>
          </a:prstGeom>
          <a:noFill/>
          <a:ln/>
        </p:spPr>
        <p:txBody>
          <a:bodyPr wrap="square" lIns="0" tIns="0" rIns="0" bIns="0" rtlCol="0" anchor="t"/>
          <a:lstStyle/>
          <a:p>
            <a:pPr algn="ctr" indent="0" marL="0">
              <a:buNone/>
            </a:pPr>
            <a:r>
              <a:rPr lang="en-US" sz="1050" dirty="0">
                <a:solidFill>
                  <a:srgbClr val="2A3330"/>
                </a:solidFill>
                <a:latin typeface="Meiryo UI" pitchFamily="34" charset="0"/>
                <a:ea typeface="Meiryo UI" pitchFamily="34" charset="-122"/>
                <a:cs typeface="Meiryo UI" pitchFamily="34" charset="-120"/>
              </a:rPr>
              <a:t>効果検証レポート会</a:t>
            </a:r>
            <a:endParaRPr lang="en-US" sz="1050" dirty="0"/>
          </a:p>
          <a:p>
            <a:pPr algn="ctr" indent="0" marL="0">
              <a:buNone/>
            </a:pPr>
            <a:r>
              <a:rPr lang="en-US" sz="1050" dirty="0">
                <a:solidFill>
                  <a:srgbClr val="2A3330"/>
                </a:solidFill>
                <a:latin typeface="Meiryo UI" pitchFamily="34" charset="0"/>
                <a:ea typeface="Meiryo UI" pitchFamily="34" charset="-122"/>
                <a:cs typeface="Meiryo UI" pitchFamily="34" charset="-120"/>
              </a:rPr>
              <a:t>→ フェーズ2へ</a:t>
            </a:r>
            <a:endParaRPr lang="en-US" sz="1050" dirty="0"/>
          </a:p>
        </p:txBody>
      </p:sp>
      <p:sp>
        <p:nvSpPr>
          <p:cNvPr id="25" name="Shape 23"/>
          <p:cNvSpPr/>
          <p:nvPr/>
        </p:nvSpPr>
        <p:spPr>
          <a:xfrm>
            <a:off x="9407404" y="1719072"/>
            <a:ext cx="310896" cy="310896"/>
          </a:xfrm>
          <a:prstGeom prst="ellipse">
            <a:avLst/>
          </a:prstGeom>
          <a:solidFill>
            <a:srgbClr val="1D4A35"/>
          </a:solidFill>
          <a:ln w="25400">
            <a:solidFill>
              <a:srgbClr val="FFFFFF"/>
            </a:solidFill>
            <a:prstDash val="solid"/>
          </a:ln>
        </p:spPr>
      </p:sp>
      <p:sp>
        <p:nvSpPr>
          <p:cNvPr id="26" name="Text 24"/>
          <p:cNvSpPr txBox="1"/>
          <p:nvPr/>
        </p:nvSpPr>
        <p:spPr>
          <a:xfrm>
            <a:off x="8906027" y="2194560"/>
            <a:ext cx="1313650" cy="502920"/>
          </a:xfrm>
          <a:prstGeom prst="rect">
            <a:avLst/>
          </a:prstGeom>
          <a:noFill/>
          <a:ln/>
        </p:spPr>
        <p:txBody>
          <a:bodyPr wrap="square" lIns="0" tIns="0" rIns="0" bIns="0" rtlCol="0" anchor="ctr"/>
          <a:lstStyle/>
          <a:p>
            <a:pPr algn="ctr" indent="0" marL="0">
              <a:buNone/>
            </a:pPr>
            <a:r>
              <a:rPr lang="en-US" sz="1200" b="1" dirty="0">
                <a:solidFill>
                  <a:srgbClr val="1D4A35"/>
                </a:solidFill>
                <a:latin typeface="Meiryo UI" pitchFamily="34" charset="0"/>
                <a:ea typeface="Meiryo UI" pitchFamily="34" charset="-122"/>
                <a:cs typeface="Meiryo UI" pitchFamily="34" charset="-120"/>
              </a:rPr>
              <a:t>年内</a:t>
            </a:r>
            <a:endParaRPr lang="en-US" sz="1200" dirty="0"/>
          </a:p>
        </p:txBody>
      </p:sp>
      <p:sp>
        <p:nvSpPr>
          <p:cNvPr id="27" name="Text 25"/>
          <p:cNvSpPr txBox="1"/>
          <p:nvPr/>
        </p:nvSpPr>
        <p:spPr>
          <a:xfrm>
            <a:off x="8906027" y="2697480"/>
            <a:ext cx="1313650" cy="731520"/>
          </a:xfrm>
          <a:prstGeom prst="rect">
            <a:avLst/>
          </a:prstGeom>
          <a:noFill/>
          <a:ln/>
        </p:spPr>
        <p:txBody>
          <a:bodyPr wrap="square" lIns="0" tIns="0" rIns="0" bIns="0" rtlCol="0" anchor="t"/>
          <a:lstStyle/>
          <a:p>
            <a:pPr algn="ctr" indent="0" marL="0">
              <a:buNone/>
            </a:pPr>
            <a:r>
              <a:rPr lang="en-US" sz="1050" dirty="0">
                <a:solidFill>
                  <a:srgbClr val="2A3330"/>
                </a:solidFill>
                <a:latin typeface="Meiryo UI" pitchFamily="34" charset="0"/>
                <a:ea typeface="Meiryo UI" pitchFamily="34" charset="-122"/>
                <a:cs typeface="Meiryo UI" pitchFamily="34" charset="-120"/>
              </a:rPr>
              <a:t>子育て講座の</a:t>
            </a:r>
            <a:endParaRPr lang="en-US" sz="1050" dirty="0"/>
          </a:p>
          <a:p>
            <a:pPr algn="ctr" indent="0" marL="0">
              <a:buNone/>
            </a:pPr>
            <a:r>
              <a:rPr lang="en-US" sz="1050" dirty="0">
                <a:solidFill>
                  <a:srgbClr val="2A3330"/>
                </a:solidFill>
                <a:latin typeface="Meiryo UI" pitchFamily="34" charset="0"/>
                <a:ea typeface="Meiryo UI" pitchFamily="34" charset="-122"/>
                <a:cs typeface="Meiryo UI" pitchFamily="34" charset="-120"/>
              </a:rPr>
              <a:t>ローンチ集客</a:t>
            </a:r>
            <a:endParaRPr lang="en-US" sz="1050" dirty="0"/>
          </a:p>
        </p:txBody>
      </p:sp>
      <p:sp>
        <p:nvSpPr>
          <p:cNvPr id="28" name="Shape 26"/>
          <p:cNvSpPr/>
          <p:nvPr/>
        </p:nvSpPr>
        <p:spPr>
          <a:xfrm>
            <a:off x="10794206" y="1719072"/>
            <a:ext cx="310896" cy="310896"/>
          </a:xfrm>
          <a:prstGeom prst="ellipse">
            <a:avLst/>
          </a:prstGeom>
          <a:solidFill>
            <a:srgbClr val="1D4A35"/>
          </a:solidFill>
          <a:ln w="25400">
            <a:solidFill>
              <a:srgbClr val="FFFFFF"/>
            </a:solidFill>
            <a:prstDash val="solid"/>
          </a:ln>
        </p:spPr>
      </p:sp>
      <p:sp>
        <p:nvSpPr>
          <p:cNvPr id="29" name="Text 27"/>
          <p:cNvSpPr txBox="1"/>
          <p:nvPr/>
        </p:nvSpPr>
        <p:spPr>
          <a:xfrm>
            <a:off x="10292829" y="2194560"/>
            <a:ext cx="1313650" cy="502920"/>
          </a:xfrm>
          <a:prstGeom prst="rect">
            <a:avLst/>
          </a:prstGeom>
          <a:noFill/>
          <a:ln/>
        </p:spPr>
        <p:txBody>
          <a:bodyPr wrap="square" lIns="0" tIns="0" rIns="0" bIns="0" rtlCol="0" anchor="ctr"/>
          <a:lstStyle/>
          <a:p>
            <a:pPr algn="ctr" indent="0" marL="0">
              <a:buNone/>
            </a:pPr>
            <a:r>
              <a:rPr lang="en-US" sz="1200" b="1" dirty="0">
                <a:solidFill>
                  <a:srgbClr val="1D4A35"/>
                </a:solidFill>
                <a:latin typeface="Meiryo UI" pitchFamily="34" charset="0"/>
                <a:ea typeface="Meiryo UI" pitchFamily="34" charset="-122"/>
                <a:cs typeface="Meiryo UI" pitchFamily="34" charset="-120"/>
              </a:rPr>
              <a:t>12ヶ月目</a:t>
            </a:r>
            <a:endParaRPr lang="en-US" sz="1200" dirty="0"/>
          </a:p>
        </p:txBody>
      </p:sp>
      <p:sp>
        <p:nvSpPr>
          <p:cNvPr id="30" name="Text 28"/>
          <p:cNvSpPr txBox="1"/>
          <p:nvPr/>
        </p:nvSpPr>
        <p:spPr>
          <a:xfrm>
            <a:off x="10292829" y="2697480"/>
            <a:ext cx="1313650" cy="731520"/>
          </a:xfrm>
          <a:prstGeom prst="rect">
            <a:avLst/>
          </a:prstGeom>
          <a:noFill/>
          <a:ln/>
        </p:spPr>
        <p:txBody>
          <a:bodyPr wrap="square" lIns="0" tIns="0" rIns="0" bIns="0" rtlCol="0" anchor="t"/>
          <a:lstStyle/>
          <a:p>
            <a:pPr algn="ctr" indent="0" marL="0">
              <a:buNone/>
            </a:pPr>
            <a:r>
              <a:rPr lang="en-US" sz="1050" dirty="0">
                <a:solidFill>
                  <a:srgbClr val="2A3330"/>
                </a:solidFill>
                <a:latin typeface="Meiryo UI" pitchFamily="34" charset="0"/>
                <a:ea typeface="Meiryo UI" pitchFamily="34" charset="-122"/>
                <a:cs typeface="Meiryo UI" pitchFamily="34" charset="-120"/>
              </a:rPr>
              <a:t>年間振り返り</a:t>
            </a:r>
            <a:endParaRPr lang="en-US" sz="1050" dirty="0"/>
          </a:p>
          <a:p>
            <a:pPr algn="ctr" indent="0" marL="0">
              <a:buNone/>
            </a:pPr>
            <a:r>
              <a:rPr lang="en-US" sz="1050" dirty="0">
                <a:solidFill>
                  <a:srgbClr val="2A3330"/>
                </a:solidFill>
                <a:latin typeface="Meiryo UI" pitchFamily="34" charset="0"/>
                <a:ea typeface="Meiryo UI" pitchFamily="34" charset="-122"/>
                <a:cs typeface="Meiryo UI" pitchFamily="34" charset="-120"/>
              </a:rPr>
              <a:t>次年度計画</a:t>
            </a:r>
            <a:endParaRPr lang="en-US" sz="1050" dirty="0"/>
          </a:p>
        </p:txBody>
      </p:sp>
      <p:sp>
        <p:nvSpPr>
          <p:cNvPr id="31" name="Shape 29"/>
          <p:cNvSpPr/>
          <p:nvPr/>
        </p:nvSpPr>
        <p:spPr>
          <a:xfrm>
            <a:off x="1981162" y="1463040"/>
            <a:ext cx="1295362" cy="2057400"/>
          </a:xfrm>
          <a:prstGeom prst="roundRect">
            <a:avLst>
              <a:gd name="adj" fmla="val 7059"/>
            </a:avLst>
          </a:prstGeom>
          <a:solidFill>
            <a:srgbClr val="D8614F">
              <a:alpha val="12000"/>
            </a:srgbClr>
          </a:solidFill>
          <a:ln w="15875">
            <a:solidFill>
              <a:srgbClr val="D8614F"/>
            </a:solidFill>
            <a:prstDash val="dash"/>
          </a:ln>
        </p:spPr>
      </p:sp>
      <p:sp>
        <p:nvSpPr>
          <p:cNvPr id="32" name="Shape 30"/>
          <p:cNvSpPr/>
          <p:nvPr/>
        </p:nvSpPr>
        <p:spPr>
          <a:xfrm>
            <a:off x="548640" y="3931920"/>
            <a:ext cx="5410048" cy="2011680"/>
          </a:xfrm>
          <a:prstGeom prst="roundRect">
            <a:avLst>
              <a:gd name="adj" fmla="val 5455"/>
            </a:avLst>
          </a:prstGeom>
          <a:solidFill>
            <a:srgbClr val="FDECEA"/>
          </a:solidFill>
          <a:ln w="12700">
            <a:solidFill>
              <a:srgbClr val="FDECEA"/>
            </a:solidFill>
            <a:prstDash val="solid"/>
          </a:ln>
        </p:spPr>
      </p:sp>
      <p:sp>
        <p:nvSpPr>
          <p:cNvPr id="33" name="Shape 31"/>
          <p:cNvSpPr/>
          <p:nvPr/>
        </p:nvSpPr>
        <p:spPr>
          <a:xfrm>
            <a:off x="822960" y="4160520"/>
            <a:ext cx="548640" cy="548640"/>
          </a:xfrm>
          <a:prstGeom prst="ellipse">
            <a:avLst/>
          </a:prstGeom>
          <a:solidFill>
            <a:srgbClr val="D8614F"/>
          </a:solidFill>
          <a:ln w="12700">
            <a:solidFill>
              <a:srgbClr val="D8614F"/>
            </a:solidFill>
            <a:prstDash val="solid"/>
          </a:ln>
        </p:spPr>
      </p:sp>
      <p:pic>
        <p:nvPicPr>
          <p:cNvPr id="34" name="Image 0" descr="preencoded.png">    </p:cNvPr>
          <p:cNvPicPr>
            <a:picLocks noChangeAspect="1"/>
          </p:cNvPicPr>
          <p:nvPr/>
        </p:nvPicPr>
        <p:blipFill>
          <a:blip r:embed="rId1"/>
          <a:stretch>
            <a:fillRect/>
          </a:stretch>
        </p:blipFill>
        <p:spPr>
          <a:xfrm>
            <a:off x="965606" y="4303166"/>
            <a:ext cx="263347" cy="263347"/>
          </a:xfrm>
          <a:prstGeom prst="rect">
            <a:avLst/>
          </a:prstGeom>
        </p:spPr>
      </p:pic>
      <p:sp>
        <p:nvSpPr>
          <p:cNvPr id="35" name="Text 32"/>
          <p:cNvSpPr txBox="1"/>
          <p:nvPr/>
        </p:nvSpPr>
        <p:spPr>
          <a:xfrm>
            <a:off x="1508760" y="4160520"/>
            <a:ext cx="4267048" cy="548640"/>
          </a:xfrm>
          <a:prstGeom prst="rect">
            <a:avLst/>
          </a:prstGeom>
          <a:noFill/>
          <a:ln/>
        </p:spPr>
        <p:txBody>
          <a:bodyPr wrap="square" lIns="0" tIns="0" rIns="0" bIns="0" rtlCol="0" anchor="ctr"/>
          <a:lstStyle/>
          <a:p>
            <a:pPr indent="0" marL="0">
              <a:buNone/>
            </a:pPr>
            <a:r>
              <a:rPr lang="en-US" sz="1400" b="1" dirty="0">
                <a:solidFill>
                  <a:srgbClr val="1D4A35"/>
                </a:solidFill>
                <a:latin typeface="Meiryo UI" pitchFamily="34" charset="0"/>
                <a:ea typeface="Meiryo UI" pitchFamily="34" charset="-122"/>
                <a:cs typeface="Meiryo UI" pitchFamily="34" charset="-120"/>
              </a:rPr>
              <a:t>次回までに貴社にご準備いただきたいこと</a:t>
            </a:r>
            <a:endParaRPr lang="en-US" sz="1400" dirty="0"/>
          </a:p>
        </p:txBody>
      </p:sp>
      <p:sp>
        <p:nvSpPr>
          <p:cNvPr id="36" name="Text 33"/>
          <p:cNvSpPr txBox="1"/>
          <p:nvPr/>
        </p:nvSpPr>
        <p:spPr>
          <a:xfrm>
            <a:off x="868680" y="4846320"/>
            <a:ext cx="4769968" cy="10058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A3330"/>
                </a:solidFill>
                <a:latin typeface="Meiryo UI" pitchFamily="34" charset="0"/>
                <a:ea typeface="Meiryo UI" pitchFamily="34" charset="-122"/>
                <a:cs typeface="Meiryo UI" pitchFamily="34" charset="-120"/>
              </a:rPr>
              <a:t>現状数値の確認（塾生数・相談数・講演会の参加者数）</a:t>
            </a:r>
            <a:endParaRPr lang="en-US" sz="1250" dirty="0"/>
          </a:p>
          <a:p>
            <a:pPr marL="342900" indent="-342900">
              <a:spcAft>
                <a:spcPts val="600"/>
              </a:spcAft>
              <a:buSzPct val="100000"/>
              <a:buChar char="•"/>
            </a:pPr>
            <a:r>
              <a:rPr lang="en-US" sz="1250" dirty="0">
                <a:solidFill>
                  <a:srgbClr val="2A3330"/>
                </a:solidFill>
                <a:latin typeface="Meiryo UI" pitchFamily="34" charset="0"/>
                <a:ea typeface="Meiryo UI" pitchFamily="34" charset="-122"/>
                <a:cs typeface="Meiryo UI" pitchFamily="34" charset="-120"/>
              </a:rPr>
              <a:t>子育て講座の概要（内容・価格・リリース時期）</a:t>
            </a:r>
            <a:endParaRPr lang="en-US" sz="1250" dirty="0"/>
          </a:p>
          <a:p>
            <a:pPr marL="342900" indent="-342900">
              <a:spcAft>
                <a:spcPts val="600"/>
              </a:spcAft>
              <a:buSzPct val="100000"/>
              <a:buChar char="•"/>
            </a:pPr>
            <a:r>
              <a:rPr lang="en-US" sz="1250" dirty="0">
                <a:solidFill>
                  <a:srgbClr val="2A3330"/>
                </a:solidFill>
                <a:latin typeface="Meiryo UI" pitchFamily="34" charset="0"/>
                <a:ea typeface="Meiryo UI" pitchFamily="34" charset="-122"/>
                <a:cs typeface="Meiryo UI" pitchFamily="34" charset="-120"/>
              </a:rPr>
              <a:t>Instagram・LINEのアカウント情報と、ロゴ・写真素材</a:t>
            </a:r>
            <a:endParaRPr lang="en-US" sz="1250" dirty="0"/>
          </a:p>
        </p:txBody>
      </p:sp>
      <p:sp>
        <p:nvSpPr>
          <p:cNvPr id="37" name="Shape 34"/>
          <p:cNvSpPr/>
          <p:nvPr/>
        </p:nvSpPr>
        <p:spPr>
          <a:xfrm>
            <a:off x="6233008" y="3931920"/>
            <a:ext cx="5410048" cy="2011680"/>
          </a:xfrm>
          <a:prstGeom prst="roundRect">
            <a:avLst>
              <a:gd name="adj" fmla="val 5455"/>
            </a:avLst>
          </a:prstGeom>
          <a:solidFill>
            <a:srgbClr val="EAF4EE"/>
          </a:solidFill>
          <a:ln w="12700">
            <a:solidFill>
              <a:srgbClr val="EAF4EE"/>
            </a:solidFill>
            <a:prstDash val="solid"/>
          </a:ln>
        </p:spPr>
      </p:sp>
      <p:sp>
        <p:nvSpPr>
          <p:cNvPr id="38" name="Shape 35"/>
          <p:cNvSpPr/>
          <p:nvPr/>
        </p:nvSpPr>
        <p:spPr>
          <a:xfrm>
            <a:off x="6507328" y="4160520"/>
            <a:ext cx="548640" cy="548640"/>
          </a:xfrm>
          <a:prstGeom prst="ellipse">
            <a:avLst/>
          </a:prstGeom>
          <a:solidFill>
            <a:srgbClr val="2F7A55"/>
          </a:solidFill>
          <a:ln w="12700">
            <a:solidFill>
              <a:srgbClr val="2F7A55"/>
            </a:solidFill>
            <a:prstDash val="solid"/>
          </a:ln>
        </p:spPr>
      </p:sp>
      <p:pic>
        <p:nvPicPr>
          <p:cNvPr id="39" name="Image 1" descr="preencoded.png">    </p:cNvPr>
          <p:cNvPicPr>
            <a:picLocks noChangeAspect="1"/>
          </p:cNvPicPr>
          <p:nvPr/>
        </p:nvPicPr>
        <p:blipFill>
          <a:blip r:embed="rId2"/>
          <a:stretch>
            <a:fillRect/>
          </a:stretch>
        </p:blipFill>
        <p:spPr>
          <a:xfrm>
            <a:off x="6649974" y="4303166"/>
            <a:ext cx="263347" cy="263347"/>
          </a:xfrm>
          <a:prstGeom prst="rect">
            <a:avLst/>
          </a:prstGeom>
        </p:spPr>
      </p:pic>
      <p:sp>
        <p:nvSpPr>
          <p:cNvPr id="40" name="Text 36"/>
          <p:cNvSpPr txBox="1"/>
          <p:nvPr/>
        </p:nvSpPr>
        <p:spPr>
          <a:xfrm>
            <a:off x="7193128" y="4160520"/>
            <a:ext cx="4267048" cy="548640"/>
          </a:xfrm>
          <a:prstGeom prst="rect">
            <a:avLst/>
          </a:prstGeom>
          <a:noFill/>
          <a:ln/>
        </p:spPr>
        <p:txBody>
          <a:bodyPr wrap="square" lIns="0" tIns="0" rIns="0" bIns="0" rtlCol="0" anchor="ctr"/>
          <a:lstStyle/>
          <a:p>
            <a:pPr indent="0" marL="0">
              <a:buNone/>
            </a:pPr>
            <a:r>
              <a:rPr lang="en-US" sz="1400" b="1" dirty="0">
                <a:solidFill>
                  <a:srgbClr val="1D4A35"/>
                </a:solidFill>
                <a:latin typeface="Meiryo UI" pitchFamily="34" charset="0"/>
                <a:ea typeface="Meiryo UI" pitchFamily="34" charset="-122"/>
                <a:cs typeface="Meiryo UI" pitchFamily="34" charset="-120"/>
              </a:rPr>
              <a:t>次回お打ち合わせで弊社がご提示するもの</a:t>
            </a:r>
            <a:endParaRPr lang="en-US" sz="1400" dirty="0"/>
          </a:p>
        </p:txBody>
      </p:sp>
      <p:sp>
        <p:nvSpPr>
          <p:cNvPr id="41" name="Text 37"/>
          <p:cNvSpPr txBox="1"/>
          <p:nvPr/>
        </p:nvSpPr>
        <p:spPr>
          <a:xfrm>
            <a:off x="6553048" y="4846320"/>
            <a:ext cx="4769968" cy="10058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A3330"/>
                </a:solidFill>
                <a:latin typeface="Meiryo UI" pitchFamily="34" charset="0"/>
                <a:ea typeface="Meiryo UI" pitchFamily="34" charset="-122"/>
                <a:cs typeface="Meiryo UI" pitchFamily="34" charset="-120"/>
              </a:rPr>
              <a:t>実数値を反映した目標値シミュレーション（確定版）</a:t>
            </a:r>
            <a:endParaRPr lang="en-US" sz="1250" dirty="0"/>
          </a:p>
          <a:p>
            <a:pPr marL="342900" indent="-342900">
              <a:spcAft>
                <a:spcPts val="600"/>
              </a:spcAft>
              <a:buSzPct val="100000"/>
              <a:buChar char="•"/>
            </a:pPr>
            <a:r>
              <a:rPr lang="en-US" sz="1250" dirty="0">
                <a:solidFill>
                  <a:srgbClr val="2A3330"/>
                </a:solidFill>
                <a:latin typeface="Meiryo UI" pitchFamily="34" charset="0"/>
                <a:ea typeface="Meiryo UI" pitchFamily="34" charset="-122"/>
                <a:cs typeface="Meiryo UI" pitchFamily="34" charset="-120"/>
              </a:rPr>
              <a:t>無料3本の台本ドラフト（ご提供資料をもとに作成）</a:t>
            </a:r>
            <a:endParaRPr lang="en-US" sz="1250" dirty="0"/>
          </a:p>
          <a:p>
            <a:pPr marL="342900" indent="-342900">
              <a:spcAft>
                <a:spcPts val="600"/>
              </a:spcAft>
              <a:buSzPct val="100000"/>
              <a:buChar char="•"/>
            </a:pPr>
            <a:r>
              <a:rPr lang="en-US" sz="1250" dirty="0">
                <a:solidFill>
                  <a:srgbClr val="2A3330"/>
                </a:solidFill>
                <a:latin typeface="Meiryo UI" pitchFamily="34" charset="0"/>
                <a:ea typeface="Meiryo UI" pitchFamily="34" charset="-122"/>
                <a:cs typeface="Meiryo UI" pitchFamily="34" charset="-120"/>
              </a:rPr>
              <a:t>在宅スタッフによるHP・SNS運用のテスト計画</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D4A35"/>
        </a:solidFill>
      </p:bgPr>
    </p:bg>
    <p:spTree>
      <p:nvGrpSpPr>
        <p:cNvPr id="1" name=""/>
        <p:cNvGrpSpPr/>
        <p:nvPr/>
      </p:nvGrpSpPr>
      <p:grpSpPr>
        <a:xfrm>
          <a:off x="0" y="0"/>
          <a:ext cx="0" cy="0"/>
          <a:chOff x="0" y="0"/>
          <a:chExt cx="0" cy="0"/>
        </a:xfrm>
      </p:grpSpPr>
      <p:sp>
        <p:nvSpPr>
          <p:cNvPr id="2" name="Shape 0"/>
          <p:cNvSpPr/>
          <p:nvPr/>
        </p:nvSpPr>
        <p:spPr>
          <a:xfrm>
            <a:off x="-1097280" y="3840480"/>
            <a:ext cx="4114800" cy="4114800"/>
          </a:xfrm>
          <a:prstGeom prst="ellipse">
            <a:avLst/>
          </a:prstGeom>
          <a:solidFill>
            <a:srgbClr val="2F7A55"/>
          </a:solidFill>
          <a:ln w="12700">
            <a:solidFill>
              <a:srgbClr val="2F7A55"/>
            </a:solidFill>
            <a:prstDash val="solid"/>
          </a:ln>
        </p:spPr>
      </p:sp>
      <p:sp>
        <p:nvSpPr>
          <p:cNvPr id="3" name="Shape 1"/>
          <p:cNvSpPr/>
          <p:nvPr/>
        </p:nvSpPr>
        <p:spPr>
          <a:xfrm>
            <a:off x="10332720" y="-731520"/>
            <a:ext cx="2377440" cy="2377440"/>
          </a:xfrm>
          <a:prstGeom prst="ellipse">
            <a:avLst/>
          </a:prstGeom>
          <a:solidFill>
            <a:srgbClr val="E9786B">
              <a:alpha val="80000"/>
            </a:srgbClr>
          </a:solidFill>
          <a:ln w="12700">
            <a:solidFill>
              <a:srgbClr val="E9786B"/>
            </a:solidFill>
            <a:prstDash val="solid"/>
          </a:ln>
        </p:spPr>
      </p:sp>
      <p:sp>
        <p:nvSpPr>
          <p:cNvPr id="4" name="Text 2"/>
          <p:cNvSpPr txBox="1"/>
          <p:nvPr/>
        </p:nvSpPr>
        <p:spPr>
          <a:xfrm>
            <a:off x="1097280" y="822960"/>
            <a:ext cx="5486400" cy="365760"/>
          </a:xfrm>
          <a:prstGeom prst="rect">
            <a:avLst/>
          </a:prstGeom>
          <a:noFill/>
          <a:ln/>
        </p:spPr>
        <p:txBody>
          <a:bodyPr wrap="square" lIns="0" tIns="0" rIns="0" bIns="0" rtlCol="0" anchor="t"/>
          <a:lstStyle/>
          <a:p>
            <a:pPr indent="0" marL="0">
              <a:buNone/>
            </a:pPr>
            <a:r>
              <a:rPr lang="en-US" sz="1400" b="1" spc="200" kern="0" dirty="0">
                <a:solidFill>
                  <a:srgbClr val="F6B3AA"/>
                </a:solidFill>
                <a:latin typeface="Meiryo UI" pitchFamily="34" charset="0"/>
                <a:ea typeface="Meiryo UI" pitchFamily="34" charset="-122"/>
                <a:cs typeface="Meiryo UI" pitchFamily="34" charset="-120"/>
              </a:rPr>
              <a:t>おわりに</a:t>
            </a:r>
            <a:endParaRPr lang="en-US" sz="1400" dirty="0"/>
          </a:p>
        </p:txBody>
      </p:sp>
      <p:sp>
        <p:nvSpPr>
          <p:cNvPr id="5" name="Text 3"/>
          <p:cNvSpPr txBox="1"/>
          <p:nvPr/>
        </p:nvSpPr>
        <p:spPr>
          <a:xfrm>
            <a:off x="1097280" y="1325880"/>
            <a:ext cx="10058400" cy="1463040"/>
          </a:xfrm>
          <a:prstGeom prst="rect">
            <a:avLst/>
          </a:prstGeom>
          <a:noFill/>
          <a:ln/>
        </p:spPr>
        <p:txBody>
          <a:bodyPr wrap="square" lIns="0" tIns="0" rIns="0" bIns="0" rtlCol="0" anchor="t"/>
          <a:lstStyle/>
          <a:p>
            <a:pPr indent="0" marL="0">
              <a:lnSpc>
                <a:spcPct val="110000"/>
              </a:lnSpc>
              <a:buNone/>
            </a:pPr>
            <a:r>
              <a:rPr lang="en-US" sz="3200" b="1" dirty="0">
                <a:solidFill>
                  <a:srgbClr val="FFFFFF"/>
                </a:solidFill>
                <a:latin typeface="Meiryo UI" pitchFamily="34" charset="0"/>
                <a:ea typeface="Meiryo UI" pitchFamily="34" charset="-122"/>
                <a:cs typeface="Meiryo UI" pitchFamily="34" charset="-120"/>
              </a:rPr>
              <a:t>「動画をつくる」のではなく、</a:t>
            </a:r>
            <a:endParaRPr lang="en-US" sz="3200" dirty="0"/>
          </a:p>
          <a:p>
            <a:pPr indent="0" marL="0">
              <a:lnSpc>
                <a:spcPct val="110000"/>
              </a:lnSpc>
              <a:buNone/>
            </a:pPr>
            <a:r>
              <a:rPr lang="en-US" sz="3200" b="1" dirty="0">
                <a:solidFill>
                  <a:srgbClr val="FFFFFF"/>
                </a:solidFill>
                <a:latin typeface="Meiryo UI" pitchFamily="34" charset="0"/>
                <a:ea typeface="Meiryo UI" pitchFamily="34" charset="-122"/>
                <a:cs typeface="Meiryo UI" pitchFamily="34" charset="-120"/>
              </a:rPr>
              <a:t>「事業を伸ばす」ことにコミットします。</a:t>
            </a:r>
            <a:endParaRPr lang="en-US" sz="3200" dirty="0"/>
          </a:p>
        </p:txBody>
      </p:sp>
      <p:sp>
        <p:nvSpPr>
          <p:cNvPr id="6" name="Text 4"/>
          <p:cNvSpPr txBox="1"/>
          <p:nvPr/>
        </p:nvSpPr>
        <p:spPr>
          <a:xfrm>
            <a:off x="3566160" y="3063240"/>
            <a:ext cx="7863840" cy="2194560"/>
          </a:xfrm>
          <a:prstGeom prst="rect">
            <a:avLst/>
          </a:prstGeom>
          <a:noFill/>
          <a:ln/>
        </p:spPr>
        <p:txBody>
          <a:bodyPr wrap="square" lIns="0" tIns="0" rIns="0" bIns="0" rtlCol="0" anchor="t"/>
          <a:lstStyle/>
          <a:p>
            <a:pPr indent="0" marL="0">
              <a:lnSpc>
                <a:spcPct val="125000"/>
              </a:lnSpc>
              <a:buNone/>
            </a:pPr>
            <a:r>
              <a:rPr lang="en-US" sz="1400" dirty="0">
                <a:solidFill>
                  <a:srgbClr val="D5E9DC"/>
                </a:solidFill>
                <a:latin typeface="Meiryo UI" pitchFamily="34" charset="0"/>
                <a:ea typeface="Meiryo UI" pitchFamily="34" charset="-122"/>
                <a:cs typeface="Meiryo UI" pitchFamily="34" charset="-120"/>
              </a:rPr>
              <a:t>貴社は、地域のお母さんから寄せられる「深い信頼」と、子どもの学びとお母さんの心を同時に支える「独自のアプローチ」という、他にはない資産をお持ちです。</a:t>
            </a:r>
            <a:endParaRPr lang="en-US" sz="1400" dirty="0"/>
          </a:p>
          <a:p>
            <a:pPr indent="0" marL="0">
              <a:lnSpc>
                <a:spcPct val="125000"/>
              </a:lnSpc>
              <a:buNone/>
            </a:pPr>
            <a:endParaRPr lang="en-US" sz="1400" dirty="0"/>
          </a:p>
          <a:p>
            <a:pPr indent="0" marL="0">
              <a:lnSpc>
                <a:spcPct val="125000"/>
              </a:lnSpc>
              <a:buNone/>
            </a:pPr>
            <a:r>
              <a:rPr lang="en-US" sz="1400" dirty="0">
                <a:solidFill>
                  <a:srgbClr val="D5E9DC"/>
                </a:solidFill>
                <a:latin typeface="Meiryo UI" pitchFamily="34" charset="0"/>
                <a:ea typeface="Meiryo UI" pitchFamily="34" charset="-122"/>
                <a:cs typeface="Meiryo UI" pitchFamily="34" charset="-120"/>
              </a:rPr>
              <a:t>教室の広さという制約を越え、年内の子育て講座のリリースを控えた今こそ、その想いを動画と仕組みで全国のお母さんへ届ける絶好のタイミングです。</a:t>
            </a:r>
            <a:endParaRPr lang="en-US" sz="1400" dirty="0"/>
          </a:p>
        </p:txBody>
      </p:sp>
      <p:sp>
        <p:nvSpPr>
          <p:cNvPr id="7" name="Text 5"/>
          <p:cNvSpPr txBox="1"/>
          <p:nvPr/>
        </p:nvSpPr>
        <p:spPr>
          <a:xfrm>
            <a:off x="3566160" y="5440680"/>
            <a:ext cx="7863840" cy="457200"/>
          </a:xfrm>
          <a:prstGeom prst="rect">
            <a:avLst/>
          </a:prstGeom>
          <a:noFill/>
          <a:ln/>
        </p:spPr>
        <p:txBody>
          <a:bodyPr wrap="square" lIns="0" tIns="0" rIns="0" bIns="0" rtlCol="0" anchor="t"/>
          <a:lstStyle/>
          <a:p>
            <a:pPr indent="0" marL="0">
              <a:buNone/>
            </a:pPr>
            <a:r>
              <a:rPr lang="en-US" sz="1700" b="1" dirty="0">
                <a:solidFill>
                  <a:srgbClr val="F6B3AA"/>
                </a:solidFill>
                <a:latin typeface="Meiryo UI" pitchFamily="34" charset="0"/>
                <a:ea typeface="Meiryo UI" pitchFamily="34" charset="-122"/>
                <a:cs typeface="Meiryo UI" pitchFamily="34" charset="-120"/>
              </a:rPr>
              <a:t>次回お打ち合わせで、ぜひ次の一歩をご一緒に踏み出させてください。</a:t>
            </a:r>
            <a:endParaRPr lang="en-US" sz="1700" dirty="0"/>
          </a:p>
        </p:txBody>
      </p:sp>
      <p:sp>
        <p:nvSpPr>
          <p:cNvPr id="8" name="Text 6"/>
          <p:cNvSpPr txBox="1"/>
          <p:nvPr/>
        </p:nvSpPr>
        <p:spPr>
          <a:xfrm>
            <a:off x="3566160" y="6080760"/>
            <a:ext cx="7863840" cy="320040"/>
          </a:xfrm>
          <a:prstGeom prst="rect">
            <a:avLst/>
          </a:prstGeom>
          <a:noFill/>
          <a:ln/>
        </p:spPr>
        <p:txBody>
          <a:bodyPr wrap="square" lIns="0" tIns="0" rIns="0" bIns="0" rtlCol="0" anchor="t"/>
          <a:lstStyle/>
          <a:p>
            <a:pPr indent="0" marL="0">
              <a:buNone/>
            </a:pPr>
            <a:r>
              <a:rPr lang="en-US" sz="1200" dirty="0">
                <a:solidFill>
                  <a:srgbClr val="FFFFFF"/>
                </a:solidFill>
                <a:latin typeface="Meiryo UI" pitchFamily="34" charset="0"/>
                <a:ea typeface="Meiryo UI" pitchFamily="34" charset="-122"/>
                <a:cs typeface="Meiryo UI" pitchFamily="34" charset="-120"/>
              </a:rPr>
              <a:t>株式会社アイドマ・ホールディングス　MiTok事業部</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株式会社アイドマ・ホールディングス</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オンライン塾・子育て講座 営業・マーケティング総合改革提案書</dc:title>
  <dc:subject>PptxGenJS Presentation</dc:subject>
  <dc:creator>PptxGenJS</dc:creator>
  <cp:lastModifiedBy>PptxGenJS</cp:lastModifiedBy>
  <cp:revision>1</cp:revision>
  <dcterms:created xsi:type="dcterms:W3CDTF">2026-09-23T07:43:20Z</dcterms:created>
  <dcterms:modified xsi:type="dcterms:W3CDTF">2026-09-23T07:43:20Z</dcterms:modified>
</cp:coreProperties>
</file>