
<file path=[Content_Types].xml><?xml version="1.0" encoding="utf-8"?>
<Types xmlns="http://schemas.openxmlformats.org/package/2006/content-types">
  <Default Extension="xml" ContentType="application/xml"/>
  <Default Extension="rels" ContentType="application/vnd.openxmlformats-package.relationships+xml"/>
  <Default Extension="jpeg" ContentType="image/jpeg"/>
  <Default Extension="jpg" ContentType="image/jpg"/>
  <Default Extension="svg" ContentType="image/svg+xml"/>
  <Default Extension="png" ContentType="image/png"/>
  <Default Extension="gif" ContentType="image/gif"/>
  <Default Extension="m4v" ContentType="video/mp4"/>
  <Default Extension="mp4" ContentType="video/mp4"/>
  <Default Extension="vml" ContentType="application/vnd.openxmlformats-officedocument.vmlDrawing"/>
  <Default Extension="xlsx" ContentType="application/vnd.openxmlformats-officedocument.spreadsheetml.sheet"/>
  <Override PartName="/ppt/presentation.xml" ContentType="application/vnd.openxmlformats-officedocument.presentationml.presentation.main+xml"/>
  <Override PartName="/ppt/notesMasters/notesMaster1.xml" ContentType="application/vnd.openxmlformats-officedocument.presentationml.notesMaster+xml"/>
  <Override PartName="/ppt/slideMasters/slideMaster1.xml" ContentType="application/vnd.openxmlformats-officedocument.presentationml.slideMaster+xml"/>
  <Override PartName="/ppt/slides/slide1.xml" ContentType="application/vnd.openxmlformats-officedocument.presentationml.slide+xml"/>
  <Override PartName="/ppt/slideMasters/slideMaster2.xml" ContentType="application/vnd.openxmlformats-officedocument.presentationml.slideMaster+xml"/>
  <Override PartName="/ppt/slides/slide2.xml" ContentType="application/vnd.openxmlformats-officedocument.presentationml.slide+xml"/>
  <Override PartName="/ppt/slideMasters/slideMaster3.xml" ContentType="application/vnd.openxmlformats-officedocument.presentationml.slideMaster+xml"/>
  <Override PartName="/ppt/slides/slide3.xml" ContentType="application/vnd.openxmlformats-officedocument.presentationml.slide+xml"/>
  <Override PartName="/ppt/slideMasters/slideMaster4.xml" ContentType="application/vnd.openxmlformats-officedocument.presentationml.slideMaster+xml"/>
  <Override PartName="/ppt/slides/slide4.xml" ContentType="application/vnd.openxmlformats-officedocument.presentationml.slide+xml"/>
  <Override PartName="/ppt/slideMasters/slideMaster5.xml" ContentType="application/vnd.openxmlformats-officedocument.presentationml.slideMaster+xml"/>
  <Override PartName="/ppt/slides/slide5.xml" ContentType="application/vnd.openxmlformats-officedocument.presentationml.slide+xml"/>
  <Override PartName="/ppt/slideMasters/slideMaster6.xml" ContentType="application/vnd.openxmlformats-officedocument.presentationml.slideMaster+xml"/>
  <Override PartName="/ppt/slides/slide6.xml" ContentType="application/vnd.openxmlformats-officedocument.presentationml.slide+xml"/>
  <Override PartName="/ppt/slideMasters/slideMaster7.xml" ContentType="application/vnd.openxmlformats-officedocument.presentationml.slideMaster+xml"/>
  <Override PartName="/ppt/slides/slide7.xml" ContentType="application/vnd.openxmlformats-officedocument.presentationml.slide+xml"/>
  <Override PartName="/ppt/slideMasters/slideMaster8.xml" ContentType="application/vnd.openxmlformats-officedocument.presentationml.slideMaster+xml"/>
  <Override PartName="/ppt/slides/slide8.xml" ContentType="application/vnd.openxmlformats-officedocument.presentationml.slide+xml"/>
  <Override PartName="/ppt/slideMasters/slideMaster9.xml" ContentType="application/vnd.openxmlformats-officedocument.presentationml.slideMaster+xml"/>
  <Override PartName="/ppt/slides/slide9.xml" ContentType="application/vnd.openxmlformats-officedocument.presentationml.slide+xml"/>
  <Override PartName="/ppt/slideMasters/slideMaster10.xml" ContentType="application/vnd.openxmlformats-officedocument.presentationml.slideMaster+xml"/>
  <Override PartName="/ppt/slides/slide10.xml" ContentType="application/vnd.openxmlformats-officedocument.presentationml.slide+xml"/>
  <Override PartName="/ppt/slideMasters/slideMaster11.xml" ContentType="application/vnd.openxmlformats-officedocument.presentationml.slideMaster+xml"/>
  <Override PartName="/ppt/slides/slide11.xml" ContentType="application/vnd.openxmlformats-officedocument.presentationml.slide+xml"/>
  <Override PartName="/ppt/slideMasters/slideMaster12.xml" ContentType="application/vnd.openxmlformats-officedocument.presentationml.slideMaster+xml"/>
  <Override PartName="/ppt/slides/slide12.xml" ContentType="application/vnd.openxmlformats-officedocument.presentationml.slide+xml"/>
  <Override PartName="/ppt/slideMasters/slideMaster13.xml" ContentType="application/vnd.openxmlformats-officedocument.presentationml.slideMaster+xml"/>
  <Override PartName="/ppt/slides/slide13.xml" ContentType="application/vnd.openxmlformats-officedocument.presentationml.slide+xml"/>
  <Override PartName="/ppt/slideMasters/slideMaster14.xml" ContentType="application/vnd.openxmlformats-officedocument.presentationml.slideMaster+xml"/>
  <Override PartName="/ppt/slides/slide14.xml" ContentType="application/vnd.openxmlformats-officedocument.presentationml.slide+xml"/>
  <Override PartName="/ppt/slideMasters/slideMaster15.xml" ContentType="application/vnd.openxmlformats-officedocument.presentationml.slideMaster+xml"/>
  <Override PartName="/ppt/slides/slide15.xml" ContentType="application/vnd.openxmlformats-officedocument.presentationml.slide+xml"/>
  <Override PartName="/ppt/slideMasters/slideMaster16.xml" ContentType="application/vnd.openxmlformats-officedocument.presentationml.slideMaster+xml"/>
  <Override PartName="/ppt/slides/slide16.xml" ContentType="application/vnd.openxmlformats-officedocument.presentationml.slide+xml"/>
  <Override PartName="/ppt/slideMasters/slideMaster17.xml" ContentType="application/vnd.openxmlformats-officedocument.presentationml.slideMaster+xml"/>
  <Override PartName="/ppt/slides/slide17.xml" ContentType="application/vnd.openxmlformats-officedocument.presentationml.slide+xml"/>
  <Override PartName="/ppt/slideMasters/slideMaster18.xml" ContentType="application/vnd.openxmlformats-officedocument.presentationml.slideMaster+xml"/>
  <Override PartName="/ppt/slides/slide18.xml" ContentType="application/vnd.openxmlformats-officedocument.presentationml.slide+xml"/>
  <Override PartName="/ppt/slideMasters/slideMaster19.xml" ContentType="application/vnd.openxmlformats-officedocument.presentationml.slideMaster+xml"/>
  <Override PartName="/ppt/slides/slide19.xml" ContentType="application/vnd.openxmlformats-officedocument.presentationml.slide+xml"/>
  <Override PartName="/ppt/slideMasters/slideMaster20.xml" ContentType="application/vnd.openxmlformats-officedocument.presentationml.slideMaster+xml"/>
  <Override PartName="/ppt/slides/slide20.xml" ContentType="application/vnd.openxmlformats-officedocument.presentationml.slide+xml"/>
  <Override PartName="/ppt/slideMasters/slideMaster21.xml" ContentType="application/vnd.openxmlformats-officedocument.presentationml.slideMaster+xml"/>
  <Override PartName="/ppt/slides/slide21.xml" ContentType="application/vnd.openxmlformats-officedocument.presentationml.slide+xml"/>
  <Override PartName="/ppt/slideMasters/slideMaster22.xml" ContentType="application/vnd.openxmlformats-officedocument.presentationml.slideMaster+xml"/>
  <Override PartName="/ppt/slides/slide22.xml" ContentType="application/vnd.openxmlformats-officedocument.presentationml.slide+xml"/>
  <Override PartName="/ppt/slideMasters/slideMaster23.xml" ContentType="application/vnd.openxmlformats-officedocument.presentationml.slideMaster+xml"/>
  <Override PartName="/ppt/slides/slide23.xml" ContentType="application/vnd.openxmlformats-officedocument.presentationml.slide+xml"/>
  <Override PartName="/ppt/slideMasters/slideMaster24.xml" ContentType="application/vnd.openxmlformats-officedocument.presentationml.slideMaster+xml"/>
  <Override PartName="/ppt/slides/slide24.xml" ContentType="application/vnd.openxmlformats-officedocument.presentationml.slide+xml"/>
  <Override PartName="/ppt/charts/chart1.xml" ContentType="application/vnd.openxmlformats-officedocument.drawingml.chart+xml"/>
  <Override PartName="/ppt/slideMasters/slideMaster25.xml" ContentType="application/vnd.openxmlformats-officedocument.presentationml.slideMaster+xml"/>
  <Override PartName="/ppt/slides/slide25.xml" ContentType="application/vnd.openxmlformats-officedocument.presentationml.slide+xml"/>
  <Override PartName="/ppt/slideMasters/slideMaster26.xml" ContentType="application/vnd.openxmlformats-officedocument.presentationml.slideMaster+xml"/>
  <Override PartName="/ppt/slides/slide26.xml" ContentType="application/vnd.openxmlformats-officedocument.presentationml.slide+xml"/>
  <Override PartName="/ppt/presProps.xml" ContentType="application/vnd.openxmlformats-officedocument.presentationml.presProps+xml"/>
  <Override PartName="/ppt/viewProps.xml" ContentType="application/vnd.openxmlformats-officedocument.presentationml.viewProps+xml"/>
  <Override PartName="/ppt/theme/theme1.xml" ContentType="application/vnd.openxmlformats-officedocument.theme+xml"/>
  <Override PartName="/ppt/tableStyles.xml" ContentType="application/vnd.openxmlformats-officedocument.presentationml.tableStyles+xml"/>
  <Override PartName="/ppt/slideLayouts/slideLayout1.xml" ContentType="application/vnd.openxmlformats-officedocument.presentationml.slideLayout+xml"/>
  <Override PartName="/ppt/notesSlides/notesSlide1.xml" ContentType="application/vnd.openxmlformats-officedocument.presentationml.notesSlide+xml"/>
  <Override PartName="/ppt/notesSlides/notesSlide2.xml" ContentType="application/vnd.openxmlformats-officedocument.presentationml.notesSlide+xml"/>
  <Override PartName="/ppt/notesSlides/notesSlide3.xml" ContentType="application/vnd.openxmlformats-officedocument.presentationml.notesSlide+xml"/>
  <Override PartName="/ppt/notesSlides/notesSlide4.xml" ContentType="application/vnd.openxmlformats-officedocument.presentationml.notesSlide+xml"/>
  <Override PartName="/ppt/notesSlides/notesSlide5.xml" ContentType="application/vnd.openxmlformats-officedocument.presentationml.notesSlide+xml"/>
  <Override PartName="/ppt/notesSlides/notesSlide6.xml" ContentType="application/vnd.openxmlformats-officedocument.presentationml.notesSlide+xml"/>
  <Override PartName="/ppt/notesSlides/notesSlide7.xml" ContentType="application/vnd.openxmlformats-officedocument.presentationml.notesSlide+xml"/>
  <Override PartName="/ppt/notesSlides/notesSlide8.xml" ContentType="application/vnd.openxmlformats-officedocument.presentationml.notesSlide+xml"/>
  <Override PartName="/ppt/notesSlides/notesSlide9.xml" ContentType="application/vnd.openxmlformats-officedocument.presentationml.notesSlide+xml"/>
  <Override PartName="/ppt/notesSlides/notesSlide10.xml" ContentType="application/vnd.openxmlformats-officedocument.presentationml.notesSlide+xml"/>
  <Override PartName="/ppt/notesSlides/notesSlide11.xml" ContentType="application/vnd.openxmlformats-officedocument.presentationml.notesSlide+xml"/>
  <Override PartName="/ppt/notesSlides/notesSlide12.xml" ContentType="application/vnd.openxmlformats-officedocument.presentationml.notesSlide+xml"/>
  <Override PartName="/ppt/notesSlides/notesSlide13.xml" ContentType="application/vnd.openxmlformats-officedocument.presentationml.notesSlide+xml"/>
  <Override PartName="/ppt/notesSlides/notesSlide14.xml" ContentType="application/vnd.openxmlformats-officedocument.presentationml.notesSlide+xml"/>
  <Override PartName="/ppt/notesSlides/notesSlide15.xml" ContentType="application/vnd.openxmlformats-officedocument.presentationml.notesSlide+xml"/>
  <Override PartName="/ppt/notesSlides/notesSlide16.xml" ContentType="application/vnd.openxmlformats-officedocument.presentationml.notesSlide+xml"/>
  <Override PartName="/ppt/notesSlides/notesSlide17.xml" ContentType="application/vnd.openxmlformats-officedocument.presentationml.notesSlide+xml"/>
  <Override PartName="/ppt/notesSlides/notesSlide18.xml" ContentType="application/vnd.openxmlformats-officedocument.presentationml.notesSlide+xml"/>
  <Override PartName="/ppt/notesSlides/notesSlide19.xml" ContentType="application/vnd.openxmlformats-officedocument.presentationml.notesSlide+xml"/>
  <Override PartName="/ppt/notesSlides/notesSlide20.xml" ContentType="application/vnd.openxmlformats-officedocument.presentationml.notesSlide+xml"/>
  <Override PartName="/ppt/notesSlides/notesSlide21.xml" ContentType="application/vnd.openxmlformats-officedocument.presentationml.notesSlide+xml"/>
  <Override PartName="/ppt/notesSlides/notesSlide22.xml" ContentType="application/vnd.openxmlformats-officedocument.presentationml.notesSlide+xml"/>
  <Override PartName="/ppt/notesSlides/notesSlide23.xml" ContentType="application/vnd.openxmlformats-officedocument.presentationml.notesSlide+xml"/>
  <Override PartName="/ppt/notesSlides/notesSlide24.xml" ContentType="application/vnd.openxmlformats-officedocument.presentationml.notesSlide+xml"/>
  <Override PartName="/ppt/notesSlides/notesSlide25.xml" ContentType="application/vnd.openxmlformats-officedocument.presentationml.notesSlide+xml"/>
  <Override PartName="/ppt/notesSlides/notesSlide26.xml" ContentType="application/vnd.openxmlformats-officedocument.presentationml.notesSlide+xml"/>
  <Override PartName="/docProps/core.xml" ContentType="application/vnd.openxmlformats-package.core-properties+xml"/>
  <Override PartName="/docProps/app.xml" ContentType="application/vnd.openxmlformats-officedocument.extended-properties+xml"/>
</Types>
</file>

<file path=_rels/.rels><?xml version="1.0" encoding="UTF-8" standalone="yes"?>
<Relationships xmlns="http://schemas.openxmlformats.org/package/2006/relationships">
		<Relationship Id="rId1" Type="http://schemas.openxmlformats.org/officeDocument/2006/relationships/extended-properties" Target="docProps/app.xml"/>
		<Relationship Id="rId2" Type="http://schemas.openxmlformats.org/package/2006/relationships/metadata/core-properties" Target="docProps/core.xml"/>
		<Relationship Id="rId3" Type="http://schemas.openxmlformats.org/officeDocument/2006/relationships/officeDocument" Target="ppt/presentation.xml"/>
		</Relationships>
</file>

<file path=ppt/presentation.xml><?xml version="1.0" encoding="utf-8"?>
<p:presentation xmlns:a="http://schemas.openxmlformats.org/drawingml/2006/main" xmlns:r="http://schemas.openxmlformats.org/officeDocument/2006/relationships" xmlns:p="http://schemas.openxmlformats.org/presentationml/2006/main" saveSubsetFonts="1" autoCompressPictures="0">
  <p:sldMasterIdLst>
    <p:sldMasterId id="2147483648" r:id="rId1"/>
  </p:sldMasterIdLst>
  <p:sldIdLst>
    <p:sldId id="256" r:id="rId2"/>
    <p:sldId id="257" r:id="rId3"/>
    <p:sldId id="258" r:id="rId4"/>
    <p:sldId id="259" r:id="rId5"/>
    <p:sldId id="260" r:id="rId6"/>
    <p:sldId id="261" r:id="rId7"/>
    <p:sldId id="262" r:id="rId8"/>
    <p:sldId id="263" r:id="rId9"/>
    <p:sldId id="264" r:id="rId10"/>
    <p:sldId id="265" r:id="rId11"/>
    <p:sldId id="266" r:id="rId12"/>
    <p:sldId id="267" r:id="rId13"/>
    <p:sldId id="268" r:id="rId14"/>
    <p:sldId id="269" r:id="rId15"/>
    <p:sldId id="270" r:id="rId16"/>
    <p:sldId id="271" r:id="rId17"/>
    <p:sldId id="272" r:id="rId18"/>
    <p:sldId id="273" r:id="rId19"/>
    <p:sldId id="274" r:id="rId20"/>
    <p:sldId id="275" r:id="rId21"/>
    <p:sldId id="276" r:id="rId22"/>
    <p:sldId id="277" r:id="rId23"/>
    <p:sldId id="278" r:id="rId24"/>
    <p:sldId id="279" r:id="rId25"/>
    <p:sldId id="280" r:id="rId26"/>
    <p:sldId id="281" r:id="rId27"/>
  </p:sldIdLst>
  <p:notesMasterIdLst>
    <p:notesMasterId r:id="rId28"/>
  </p:notesMasterIdLst>
  <p:sldSz cx="12192000" cy="6858000"/>
  <p:notesSz cx="6858000" cy="12192000"/>
  <p:defaultTextStyle>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defaultTextStyle>
</p:presentation>
</file>

<file path=ppt/presProps.xml><?xml version="1.0" encoding="utf-8"?>
<p:presentationPr xmlns:a="http://schemas.openxmlformats.org/drawingml/2006/main" xmlns:r="http://schemas.openxmlformats.org/officeDocument/2006/relationships" xmlns:p="http://schemas.openxmlformats.org/presentationml/2006/main"/>
</file>

<file path=ppt/tableStyles.xml><?xml version="1.0" encoding="utf-8"?>
<a:tblStyleLst xmlns:a="http://schemas.openxmlformats.org/drawingml/2006/main" def="{5C22544A-7EE6-4342-B048-85BDC9FD1C3A}"/>
</file>

<file path=ppt/viewProps.xml><?xml version="1.0" encoding="utf-8"?>
<p:viewPr xmlns:a="http://schemas.openxmlformats.org/drawingml/2006/main" xmlns:r="http://schemas.openxmlformats.org/officeDocument/2006/relationships" xmlns:p="http://schemas.openxmlformats.org/presentationml/2006/main">
  <p:normalViewPr horzBarState="maximized">
    <p:restoredLeft sz="15611"/>
    <p:restoredTop sz="94610"/>
  </p:normalViewPr>
  <p:slideViewPr>
    <p:cSldViewPr snapToGrid="0" snapToObjects="1">
      <p:cViewPr varScale="1">
        <p:scale>
          <a:sx n="136" d="100"/>
          <a:sy n="136" d="100"/>
        </p:scale>
        <p:origin x="216" y="312"/>
      </p:cViewPr>
      <p:guideLst/>
    </p:cSldViewPr>
  </p:slideViewPr>
  <p:notesTextViewPr>
    <p:cViewPr>
      <p:scale>
        <a:sx n="1" d="1"/>
        <a:sy n="1" d="1"/>
      </p:scale>
      <p:origin x="0" y="0"/>
    </p:cViewPr>
  </p:notesTextViewPr>
  <p:gridSpacing cx="76200" cy="76200"/>
</p:viewPr>
</file>

<file path=ppt/_rels/presentation.xml.rels><?xml version="1.0" encoding="UTF-8" standalone="yes"?>
<Relationships xmlns="http://schemas.openxmlformats.org/package/2006/relationships"><Relationship Id="rId1" Type="http://schemas.openxmlformats.org/officeDocument/2006/relationships/slideMaster" Target="slideMasters/slideMaster1.xml"/><Relationship Id="rId2" Type="http://schemas.openxmlformats.org/officeDocument/2006/relationships/slide" Target="slides/slide1.xml"/><Relationship Id="rId3" Type="http://schemas.openxmlformats.org/officeDocument/2006/relationships/slide" Target="slides/slide2.xml"/><Relationship Id="rId4" Type="http://schemas.openxmlformats.org/officeDocument/2006/relationships/slide" Target="slides/slide3.xml"/><Relationship Id="rId5" Type="http://schemas.openxmlformats.org/officeDocument/2006/relationships/slide" Target="slides/slide4.xml"/><Relationship Id="rId6" Type="http://schemas.openxmlformats.org/officeDocument/2006/relationships/slide" Target="slides/slide5.xml"/><Relationship Id="rId7" Type="http://schemas.openxmlformats.org/officeDocument/2006/relationships/slide" Target="slides/slide6.xml"/><Relationship Id="rId8" Type="http://schemas.openxmlformats.org/officeDocument/2006/relationships/slide" Target="slides/slide7.xml"/><Relationship Id="rId9" Type="http://schemas.openxmlformats.org/officeDocument/2006/relationships/slide" Target="slides/slide8.xml"/><Relationship Id="rId10" Type="http://schemas.openxmlformats.org/officeDocument/2006/relationships/slide" Target="slides/slide9.xml"/><Relationship Id="rId11" Type="http://schemas.openxmlformats.org/officeDocument/2006/relationships/slide" Target="slides/slide10.xml"/><Relationship Id="rId12" Type="http://schemas.openxmlformats.org/officeDocument/2006/relationships/slide" Target="slides/slide11.xml"/><Relationship Id="rId13" Type="http://schemas.openxmlformats.org/officeDocument/2006/relationships/slide" Target="slides/slide12.xml"/><Relationship Id="rId14" Type="http://schemas.openxmlformats.org/officeDocument/2006/relationships/slide" Target="slides/slide13.xml"/><Relationship Id="rId15" Type="http://schemas.openxmlformats.org/officeDocument/2006/relationships/slide" Target="slides/slide14.xml"/><Relationship Id="rId16" Type="http://schemas.openxmlformats.org/officeDocument/2006/relationships/slide" Target="slides/slide15.xml"/><Relationship Id="rId17" Type="http://schemas.openxmlformats.org/officeDocument/2006/relationships/slide" Target="slides/slide16.xml"/><Relationship Id="rId18" Type="http://schemas.openxmlformats.org/officeDocument/2006/relationships/slide" Target="slides/slide17.xml"/><Relationship Id="rId19" Type="http://schemas.openxmlformats.org/officeDocument/2006/relationships/slide" Target="slides/slide18.xml"/><Relationship Id="rId20" Type="http://schemas.openxmlformats.org/officeDocument/2006/relationships/slide" Target="slides/slide19.xml"/><Relationship Id="rId21" Type="http://schemas.openxmlformats.org/officeDocument/2006/relationships/slide" Target="slides/slide20.xml"/><Relationship Id="rId22" Type="http://schemas.openxmlformats.org/officeDocument/2006/relationships/slide" Target="slides/slide21.xml"/><Relationship Id="rId23" Type="http://schemas.openxmlformats.org/officeDocument/2006/relationships/slide" Target="slides/slide22.xml"/><Relationship Id="rId24" Type="http://schemas.openxmlformats.org/officeDocument/2006/relationships/slide" Target="slides/slide23.xml"/><Relationship Id="rId25" Type="http://schemas.openxmlformats.org/officeDocument/2006/relationships/slide" Target="slides/slide24.xml"/><Relationship Id="rId26" Type="http://schemas.openxmlformats.org/officeDocument/2006/relationships/slide" Target="slides/slide25.xml"/><Relationship Id="rId27" Type="http://schemas.openxmlformats.org/officeDocument/2006/relationships/slide" Target="slides/slide26.xml"/><Relationship Id="rId28" Type="http://schemas.openxmlformats.org/officeDocument/2006/relationships/notesMaster" Target="notesMasters/notesMaster1.xml"/><Relationship Id="rId29" Type="http://schemas.openxmlformats.org/officeDocument/2006/relationships/presProps" Target="presProps.xml"/><Relationship Id="rId30" Type="http://schemas.openxmlformats.org/officeDocument/2006/relationships/viewProps" Target="viewProps.xml"/><Relationship Id="rId31" Type="http://schemas.openxmlformats.org/officeDocument/2006/relationships/theme" Target="theme/theme1.xml"/><Relationship Id="rId32" Type="http://schemas.openxmlformats.org/officeDocument/2006/relationships/tableStyles" Target="tableStyles.xml"/></Relationships>
</file>

<file path=ppt/charts/_rels/chart1.xml.rels><?xml version="1.0" encoding="UTF-8" standalone="yes"?><Relationships xmlns="http://schemas.openxmlformats.org/package/2006/relationships"><Relationship Id="rId1" Type="http://schemas.openxmlformats.org/officeDocument/2006/relationships/package" Target="../embeddings/Microsoft_Excel_Worksheet1.xlsx"/></Relationships>
</file>

<file path=ppt/charts/chart1.xml><?xml version="1.0" encoding="utf-8"?>
<c:chartSpace xmlns:c="http://schemas.openxmlformats.org/drawingml/2006/chart" xmlns:a="http://schemas.openxmlformats.org/drawingml/2006/main" xmlns:r="http://schemas.openxmlformats.org/officeDocument/2006/relationships">
  <c:date1904 val="0"/>
  <c:roundedCorners val="1"/>
  <c:chart>
    <c:title>
      <c:tx>
        <c:rich>
          <a:bodyPr/>
          <a:lstStyle/>
          <a:p>
            <a:pPr>
              <a:defRPr sz="1100" b="0" i="0" u="none" strike="noStrike">
                <a:solidFill>
                  <a:srgbClr val="2A2B38"/>
                </a:solidFill>
                <a:latin typeface="Meiryo UI"/>
              </a:defRPr>
            </a:pPr>
            <a:r>
              <a:rPr sz="1100" b="0" i="0" u="none" strike="noStrike">
                <a:solidFill>
                  <a:srgbClr val="2A2B38"/>
                </a:solidFill>
                <a:latin typeface="Meiryo UI"/>
              </a:rPr>
              <a:t>上乗せ契約件数（累計）の推移　※月（ヶ月目）</a:t>
            </a:r>
          </a:p>
        </c:rich>
      </c:tx>
      <c:layout/>
      <c:overlay val="0"/>
    </c:title>
    <c:autoTitleDeleted val="0"/>
    <c:plotArea>
      <c:layout/>
      <c:barChart>
        <c:barDir val="col"/>
        <c:grouping val="clustered"/>
        <c:varyColors val="0"/>
        <c:ser>
          <c:idx val="0"/>
          <c:order val="0"/>
          <c:tx>
            <c:strRef>
              <c:f>Sheet1!$B$1</c:f>
              <c:strCache>
                <c:ptCount val="1"/>
                <c:pt idx="0">
                  <c:v>上乗せ契約件数（累計）</c:v>
                </c:pt>
              </c:strCache>
            </c:strRef>
          </c:tx>
          <c:spPr>
            <a:solidFill>
              <a:srgbClr val="3A3F73"/>
            </a:solidFill>
            <a:effectLst/>
          </c:spPr>
          <c:invertIfNegative val="0"/>
          <c:dLbls>
            <c:numFmt formatCode="#,##0" sourceLinked="0"/>
            <c:txPr>
              <a:bodyPr/>
              <a:lstStyle/>
              <a:p>
                <a:pPr>
                  <a:defRPr b="0" i="0" strike="noStrike" sz="1200" u="none">
                    <a:solidFill>
                      <a:srgbClr val="000000"/>
                    </a:solidFill>
                    <a:latin typeface="Arial"/>
                  </a:defRPr>
                </a:pPr>
              </a:p>
            </c:txPr>
            <c:showLegendKey val="0"/>
            <c:showVal val="0"/>
            <c:showCatName val="0"/>
            <c:showSerName val="0"/>
            <c:showPercent val="0"/>
            <c:showBubbleSize val="0"/>
            <c:showLeaderLines val="0"/>
          </c:dLbls>
          <c:cat>
            <c:multiLvlStrRef>
              <c:f>Sheet1!$A$2:$A$13</c:f>
              <c:multiLvlStrCache>
                <c:ptCount val="12"/>
                <c:lvl>
                  <c:pt idx="0">
                    <c:v>1</c:v>
                  </c:pt>
                  <c:pt idx="1">
                    <c:v>2</c:v>
                  </c:pt>
                  <c:pt idx="2">
                    <c:v>3</c:v>
                  </c:pt>
                  <c:pt idx="3">
                    <c:v>4</c:v>
                  </c:pt>
                  <c:pt idx="4">
                    <c:v>5</c:v>
                  </c:pt>
                  <c:pt idx="5">
                    <c:v>6</c:v>
                  </c:pt>
                  <c:pt idx="6">
                    <c:v>7</c:v>
                  </c:pt>
                  <c:pt idx="7">
                    <c:v>8</c:v>
                  </c:pt>
                  <c:pt idx="8">
                    <c:v>9</c:v>
                  </c:pt>
                  <c:pt idx="9">
                    <c:v>10</c:v>
                  </c:pt>
                  <c:pt idx="10">
                    <c:v>11</c:v>
                  </c:pt>
                  <c:pt idx="11">
                    <c:v>12</c:v>
                  </c:pt>
                </c:lvl>
              </c:multiLvlStrCache>
            </c:multiLvlStrRef>
          </c:cat>
          <c:val>
            <c:numRef>
              <c:f>Sheet1!$B$2:$B$13</c:f>
              <c:numCache>
                <c:formatCode>General</c:formatCode>
                <c:ptCount val="12"/>
                <c:pt idx="0">
                  <c:v>0</c:v>
                </c:pt>
                <c:pt idx="1">
                  <c:v>1</c:v>
                </c:pt>
                <c:pt idx="2">
                  <c:v>2</c:v>
                </c:pt>
                <c:pt idx="3">
                  <c:v>4</c:v>
                </c:pt>
                <c:pt idx="4">
                  <c:v>6</c:v>
                </c:pt>
                <c:pt idx="5">
                  <c:v>8</c:v>
                </c:pt>
                <c:pt idx="6">
                  <c:v>11</c:v>
                </c:pt>
                <c:pt idx="7">
                  <c:v>14</c:v>
                </c:pt>
                <c:pt idx="8">
                  <c:v>17</c:v>
                </c:pt>
                <c:pt idx="9">
                  <c:v>20</c:v>
                </c:pt>
                <c:pt idx="10">
                  <c:v>23</c:v>
                </c:pt>
                <c:pt idx="11">
                  <c:v>26</c:v>
                </c:pt>
              </c:numCache>
            </c:numRef>
          </c:val>
        </c:ser>
        <c:dLbls>
          <c:numFmt formatCode="#,##0" sourceLinked="0"/>
          <c:txPr>
            <a:bodyPr/>
            <a:lstStyle/>
            <a:p>
              <a:pPr>
                <a:defRPr b="0" i="0" strike="noStrike" sz="1200" u="none">
                  <a:solidFill>
                    <a:srgbClr val="000000"/>
                  </a:solidFill>
                  <a:latin typeface="Arial"/>
                </a:defRPr>
              </a:pPr>
            </a:p>
          </c:txPr>
          <c:showLegendKey val="0"/>
          <c:showVal val="0"/>
          <c:showCatName val="0"/>
          <c:showSerName val="0"/>
          <c:showPercent val="0"/>
          <c:showBubbleSize val="0"/>
          <c:showLeaderLines val="0"/>
        </c:dLbls>
        <c:gapWidth val="45"/>
        <c:overlap val="0"/>
        <c:axId val="2094734554"/>
        <c:axId val="2094734552"/>
        <c:axId val="2094734556"/>
      </c:barChart>
      <c:catAx>
        <c:axId val="2094734554"/>
        <c:scaling>
          <c:orientation val="minMax"/>
        </c:scaling>
        <c:delete val="0"/>
        <c:axPos val="b"/>
        <c:numFmt formatCode="General" sourceLinked="1"/>
        <c:majorTickMark val="out"/>
        <c:minorTickMark val="none"/>
        <c:tickLblPos val="low"/>
        <c:spPr>
          <a:ln w="12700" cap="flat">
            <a:noFill/>
            <a:prstDash val="solid"/>
            <a:round/>
          </a:ln>
        </c:spPr>
        <c:txPr>
          <a:bodyPr/>
          <a:lstStyle/>
          <a:p>
            <a:pPr>
              <a:defRPr sz="1000" b="0" i="0" u="none" strike="noStrike">
                <a:solidFill>
                  <a:srgbClr val="686A82"/>
                </a:solidFill>
                <a:latin typeface="Meiryo UI"/>
              </a:defRPr>
            </a:pPr>
            <a:endParaRPr lang="en-US"/>
          </a:p>
        </c:txPr>
        <c:crossAx val="2094734552"/>
        <c:crosses val="autoZero"/>
        <c:auto val="1"/>
        <c:lblAlgn val="ctr"/>
        <c:noMultiLvlLbl val="1"/>
      </c:catAx>
      <c:valAx>
        <c:axId val="2094734552"/>
        <c:scaling>
          <c:orientation val="minMax"/>
          <c:max val="30"/>
        </c:scaling>
        <c:delete val="0"/>
        <c:axPos val="l"/>
        <c:majorGridlines>
          <c:spPr>
            <a:ln w="9525" cap="flat">
              <a:solidFill>
                <a:srgbClr val="E6E7F1"/>
              </a:solidFill>
              <a:prstDash val="solid"/>
              <a:round/>
            </a:ln>
          </c:spPr>
        </c:majorGridlines>
        <c:numFmt formatCode="General" sourceLinked="0"/>
        <c:majorTickMark val="out"/>
        <c:minorTickMark val="none"/>
        <c:tickLblPos val="nextTo"/>
        <c:spPr>
          <a:ln w="12700" cap="flat">
            <a:noFill/>
            <a:prstDash val="solid"/>
            <a:round/>
          </a:ln>
        </c:spPr>
        <c:txPr>
          <a:bodyPr/>
          <a:lstStyle/>
          <a:p>
            <a:pPr>
              <a:defRPr sz="1000" b="0" i="0" u="none" strike="noStrike">
                <a:solidFill>
                  <a:srgbClr val="686A82"/>
                </a:solidFill>
                <a:latin typeface="Meiryo UI"/>
              </a:defRPr>
            </a:pPr>
            <a:endParaRPr lang="en-US"/>
          </a:p>
        </c:txPr>
        <c:crossAx val="2094734554"/>
        <c:crosses val="autoZero"/>
        <c:crossBetween val="between"/>
        <c:majorUnit val="10"/>
      </c:valAx>
      <c:spPr>
        <a:noFill/>
        <a:ln>
          <a:noFill/>
        </a:ln>
        <a:effectLst/>
      </c:spPr>
    </c:plotArea>
    <c:plotVisOnly val="1"/>
    <c:dispBlanksAs val="span"/>
  </c:chart>
  <c:spPr>
    <a:noFill/>
    <a:ln>
      <a:noFill/>
    </a:ln>
    <a:effectLst/>
  </c:spPr>
  <c:externalData r:id="rId1">
    <c:autoUpdate val="0"/>
  </c:externalData>
</c:chartSpace>
</file>

<file path=ppt/notesMasters/_rels/notesMaster1.xml.rels><?xml version="1.0" encoding="UTF-8" standalone="yes"?>
<Relationships xmlns="http://schemas.openxmlformats.org/package/2006/relationships">
		<Relationship Id="rId1" Type="http://schemas.openxmlformats.org/officeDocument/2006/relationships/theme" Target="../theme/theme1.xml"/>
		</Relationships>
</file>

<file path=ppt/notesMasters/notesMaster1.xml><?xml version="1.0" encoding="utf-8"?>
<p:notes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
        <p:nvSpPr>
          <p:cNvPr id="2" name="Header Placeholder 1"/>
          <p:cNvSpPr>
            <a:spLocks noGrp="1"/>
          </p:cNvSpPr>
          <p:nvPr>
            <p:ph type="hdr" sz="quarter"/>
          </p:nvPr>
        </p:nvSpPr>
        <p:spPr>
          <a:xfrm>
            <a:off x="0" y="0"/>
            <a:ext cx="2971800" cy="458788"/>
          </a:xfrm>
          <a:prstGeom prst="rect">
            <a:avLst/>
          </a:prstGeom>
        </p:spPr>
        <p:txBody>
          <a:bodyPr vert="horz" lIns="91440" tIns="45720" rIns="91440" bIns="45720" rtlCol="0"/>
          <a:lstStyle>
            <a:lvl1pPr algn="l">
              <a:defRPr sz="1200"/>
            </a:lvl1pPr>
          </a:lstStyle>
          <a:p>
            <a:endParaRPr lang="en-US"/>
          </a:p>
        </p:txBody>
      </p:sp>
      <p:sp>
        <p:nvSpPr>
          <p:cNvPr id="3" name="Date Placeholder 2"/>
          <p:cNvSpPr>
            <a:spLocks noGrp="1"/>
          </p:cNvSpPr>
          <p:nvPr>
            <p:ph type="dt" idx="1"/>
          </p:nvPr>
        </p:nvSpPr>
        <p:spPr>
          <a:xfrm>
            <a:off x="3884613" y="0"/>
            <a:ext cx="2971800" cy="458788"/>
          </a:xfrm>
          <a:prstGeom prst="rect">
            <a:avLst/>
          </a:prstGeom>
        </p:spPr>
        <p:txBody>
          <a:bodyPr vert="horz" lIns="91440" tIns="45720" rIns="91440" bIns="45720" rtlCol="0"/>
          <a:lstStyle>
            <a:lvl1pPr algn="r">
              <a:defRPr sz="1200"/>
            </a:lvl1pPr>
          </a:lstStyle>
          <a:p>
            <a:fld id="{5282F153-3F37-0F45-9E97-73ACFA13230C}" type="datetimeFigureOut">
              <a:rPr lang="en-US"/>
              <a:t>7/23/19</a:t>
            </a:fld>
            <a:endParaRPr lang="en-US"/>
          </a:p>
        </p:txBody>
      </p:sp>
      <p:sp>
        <p:nvSpPr>
          <p:cNvPr id="4" name="Slide Image Placeholder 3"/>
          <p:cNvSpPr>
            <a:spLocks noGrp="1" noRot="1" noChangeAspect="1"/>
          </p:cNvSpPr>
          <p:nvPr>
            <p:ph type="sldImg" idx="2"/>
          </p:nvPr>
        </p:nvSpPr>
        <p:spPr>
          <a:xfrm>
            <a:off x="685800" y="1143000"/>
            <a:ext cx="5486400" cy="3086100"/>
          </a:xfrm>
          <a:prstGeom prst="rect">
            <a:avLst/>
          </a:prstGeom>
          <a:noFill/>
          <a:ln w="12700">
            <a:solidFill>
              <a:prstClr val="black"/>
            </a:solidFill>
          </a:ln>
        </p:spPr>
        <p:txBody>
          <a:bodyPr vert="horz" lIns="91440" tIns="45720" rIns="91440" bIns="45720" rtlCol="0" anchor="ctr"/>
          <a:lstStyle/>
          <a:p>
            <a:endParaRPr lang="en-US"/>
          </a:p>
        </p:txBody>
      </p:sp>
      <p:sp>
        <p:nvSpPr>
          <p:cNvPr id="5" name="Notes Placeholder 4"/>
          <p:cNvSpPr>
            <a:spLocks noGrp="1"/>
          </p:cNvSpPr>
          <p:nvPr>
            <p:ph type="body" sz="quarter" idx="3"/>
          </p:nvPr>
        </p:nvSpPr>
        <p:spPr>
          <a:xfrm>
            <a:off x="685800" y="4400550"/>
            <a:ext cx="5486400" cy="3600450"/>
          </a:xfrm>
          <a:prstGeom prst="rect">
            <a:avLst/>
          </a:prstGeom>
        </p:spPr>
        <p:txBody>
          <a:bodyPr vert="horz" lIns="91440" tIns="45720" rIns="91440" bIns="45720" rtlCol="0"/>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6" name="Footer Placeholder 5"/>
          <p:cNvSpPr>
            <a:spLocks noGrp="1"/>
          </p:cNvSpPr>
          <p:nvPr>
            <p:ph type="ftr" sz="quarter" idx="4"/>
          </p:nvPr>
        </p:nvSpPr>
        <p:spPr>
          <a:xfrm>
            <a:off x="0" y="8685213"/>
            <a:ext cx="2971800" cy="458787"/>
          </a:xfrm>
          <a:prstGeom prst="rect">
            <a:avLst/>
          </a:prstGeom>
        </p:spPr>
        <p:txBody>
          <a:bodyPr vert="horz" lIns="91440" tIns="45720" rIns="91440" bIns="45720" rtlCol="0" anchor="b"/>
          <a:lstStyle>
            <a:lvl1pPr algn="l">
              <a:defRPr sz="1200"/>
            </a:lvl1pPr>
          </a:lstStyle>
          <a:p>
            <a:endParaRPr lang="en-US"/>
          </a:p>
        </p:txBody>
      </p:sp>
      <p:sp>
        <p:nvSpPr>
          <p:cNvPr id="7" name="Slide Number Placeholder 6"/>
          <p:cNvSpPr>
            <a:spLocks noGrp="1"/>
          </p:cNvSpPr>
          <p:nvPr>
            <p:ph type="sldNum" sz="quarter" idx="5"/>
          </p:nvPr>
        </p:nvSpPr>
        <p:spPr>
          <a:xfrm>
            <a:off x="3884613" y="8685213"/>
            <a:ext cx="2971800" cy="458787"/>
          </a:xfrm>
          <a:prstGeom prst="rect">
            <a:avLst/>
          </a:prstGeom>
        </p:spPr>
        <p:txBody>
          <a:bodyPr vert="horz" lIns="91440" tIns="45720" rIns="91440" bIns="45720" rtlCol="0" anchor="b"/>
          <a:lstStyle>
            <a:lvl1pPr algn="r">
              <a:defRPr sz="1200"/>
            </a:lvl1pPr>
          </a:lstStyle>
          <a:p>
            <a:fld id="{CE5E9CC1-C706-0F49-92D6-E571CC5EEA8F}" type="slidenum">
              <a:rPr lang="en-US"/>
              <a:t>‹#›</a:t>
            </a:fld>
            <a:endParaRPr lang="en-US"/>
          </a:p>
        </p:txBody>
      </p:sp>
    </p:spTree>
    <p:extLst>
      <p:ext uri="{BB962C8B-B14F-4D97-AF65-F5344CB8AC3E}">
        <p14:creationId xmlns:p14="http://schemas.microsoft.com/office/powerpoint/2010/main" val="1024086991"/>
      </p:ext>
    </p:extLst>
  </p:cSld>
  <p:clrMap bg1="lt1" tx1="dk1" bg2="lt2" tx2="dk2" accent1="accent1" accent2="accent2" accent3="accent3" accent4="accent4" accent5="accent5" accent6="accent6" hlink="hlink" folHlink="folHlink"/>
  <p:notesStyle>
    <a:lvl1pPr marL="0" algn="l" defTabSz="914400" rtl="0" eaLnBrk="1" latinLnBrk="0" hangingPunct="1">
      <a:defRPr sz="1200" kern="1200">
        <a:solidFill>
          <a:schemeClr val="tx1"/>
        </a:solidFill>
        <a:latin typeface="+mn-lt"/>
        <a:ea typeface="+mn-ea"/>
        <a:cs typeface="+mn-cs"/>
      </a:defRPr>
    </a:lvl1pPr>
    <a:lvl2pPr marL="457200" algn="l" defTabSz="914400" rtl="0" eaLnBrk="1" latinLnBrk="0" hangingPunct="1">
      <a:defRPr sz="1200" kern="1200">
        <a:solidFill>
          <a:schemeClr val="tx1"/>
        </a:solidFill>
        <a:latin typeface="+mn-lt"/>
        <a:ea typeface="+mn-ea"/>
        <a:cs typeface="+mn-cs"/>
      </a:defRPr>
    </a:lvl2pPr>
    <a:lvl3pPr marL="914400" algn="l" defTabSz="914400" rtl="0" eaLnBrk="1" latinLnBrk="0" hangingPunct="1">
      <a:defRPr sz="1200" kern="1200">
        <a:solidFill>
          <a:schemeClr val="tx1"/>
        </a:solidFill>
        <a:latin typeface="+mn-lt"/>
        <a:ea typeface="+mn-ea"/>
        <a:cs typeface="+mn-cs"/>
      </a:defRPr>
    </a:lvl3pPr>
    <a:lvl4pPr marL="1371600" algn="l" defTabSz="914400" rtl="0" eaLnBrk="1" latinLnBrk="0" hangingPunct="1">
      <a:defRPr sz="1200" kern="1200">
        <a:solidFill>
          <a:schemeClr val="tx1"/>
        </a:solidFill>
        <a:latin typeface="+mn-lt"/>
        <a:ea typeface="+mn-ea"/>
        <a:cs typeface="+mn-cs"/>
      </a:defRPr>
    </a:lvl4pPr>
    <a:lvl5pPr marL="1828800" algn="l" defTabSz="914400" rtl="0" eaLnBrk="1" latinLnBrk="0" hangingPunct="1">
      <a:defRPr sz="1200" kern="1200">
        <a:solidFill>
          <a:schemeClr val="tx1"/>
        </a:solidFill>
        <a:latin typeface="+mn-lt"/>
        <a:ea typeface="+mn-ea"/>
        <a:cs typeface="+mn-cs"/>
      </a:defRPr>
    </a:lvl5pPr>
    <a:lvl6pPr marL="2286000" algn="l" defTabSz="914400" rtl="0" eaLnBrk="1" latinLnBrk="0" hangingPunct="1">
      <a:defRPr sz="1200" kern="1200">
        <a:solidFill>
          <a:schemeClr val="tx1"/>
        </a:solidFill>
        <a:latin typeface="+mn-lt"/>
        <a:ea typeface="+mn-ea"/>
        <a:cs typeface="+mn-cs"/>
      </a:defRPr>
    </a:lvl6pPr>
    <a:lvl7pPr marL="2743200" algn="l" defTabSz="914400" rtl="0" eaLnBrk="1" latinLnBrk="0" hangingPunct="1">
      <a:defRPr sz="1200" kern="1200">
        <a:solidFill>
          <a:schemeClr val="tx1"/>
        </a:solidFill>
        <a:latin typeface="+mn-lt"/>
        <a:ea typeface="+mn-ea"/>
        <a:cs typeface="+mn-cs"/>
      </a:defRPr>
    </a:lvl7pPr>
    <a:lvl8pPr marL="3200400" algn="l" defTabSz="914400" rtl="0" eaLnBrk="1" latinLnBrk="0" hangingPunct="1">
      <a:defRPr sz="1200" kern="1200">
        <a:solidFill>
          <a:schemeClr val="tx1"/>
        </a:solidFill>
        <a:latin typeface="+mn-lt"/>
        <a:ea typeface="+mn-ea"/>
        <a:cs typeface="+mn-cs"/>
      </a:defRPr>
    </a:lvl8pPr>
    <a:lvl9pPr marL="3657600" algn="l" defTabSz="914400" rtl="0" eaLnBrk="1" latinLnBrk="0" hangingPunct="1">
      <a:defRPr sz="1200" kern="1200">
        <a:solidFill>
          <a:schemeClr val="tx1"/>
        </a:solidFill>
        <a:latin typeface="+mn-lt"/>
        <a:ea typeface="+mn-ea"/>
        <a:cs typeface="+mn-cs"/>
      </a:defRPr>
    </a:lvl9pPr>
  </p:notesStyle>
</p:notesMaster>
</file>

<file path=ppt/notesSlides/_rels/notesSlide1.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1.xml"/>
		</Relationships>
</file>

<file path=ppt/notesSlides/_rels/notesSlide2.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2.xml"/>
		</Relationships>
</file>

<file path=ppt/notesSlides/_rels/notesSlide3.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3.xml"/>
		</Relationships>
</file>

<file path=ppt/notesSlides/_rels/notesSlide4.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4.xml"/>
		</Relationships>
</file>

<file path=ppt/notesSlides/_rels/notesSlide5.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5.xml"/>
		</Relationships>
</file>

<file path=ppt/notesSlides/_rels/notesSlide6.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6.xml"/>
		</Relationships>
</file>

<file path=ppt/notesSlides/_rels/notesSlide7.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7.xml"/>
		</Relationships>
</file>

<file path=ppt/notesSlides/_rels/notesSlide8.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8.xml"/>
		</Relationships>
</file>

<file path=ppt/notesSlides/_rels/notesSlide9.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9.xml"/>
		</Relationships>
</file>

<file path=ppt/notesSlides/_rels/notesSlide10.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10.xml"/>
		</Relationships>
</file>

<file path=ppt/notesSlides/_rels/notesSlide11.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11.xml"/>
		</Relationships>
</file>

<file path=ppt/notesSlides/_rels/notesSlide12.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12.xml"/>
		</Relationships>
</file>

<file path=ppt/notesSlides/_rels/notesSlide13.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13.xml"/>
		</Relationships>
</file>

<file path=ppt/notesSlides/_rels/notesSlide14.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14.xml"/>
		</Relationships>
</file>

<file path=ppt/notesSlides/_rels/notesSlide15.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15.xml"/>
		</Relationships>
</file>

<file path=ppt/notesSlides/_rels/notesSlide16.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16.xml"/>
		</Relationships>
</file>

<file path=ppt/notesSlides/_rels/notesSlide17.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17.xml"/>
		</Relationships>
</file>

<file path=ppt/notesSlides/_rels/notesSlide18.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18.xml"/>
		</Relationships>
</file>

<file path=ppt/notesSlides/_rels/notesSlide19.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19.xml"/>
		</Relationships>
</file>

<file path=ppt/notesSlides/_rels/notesSlide20.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20.xml"/>
		</Relationships>
</file>

<file path=ppt/notesSlides/_rels/notesSlide21.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21.xml"/>
		</Relationships>
</file>

<file path=ppt/notesSlides/_rels/notesSlide22.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22.xml"/>
		</Relationships>
</file>

<file path=ppt/notesSlides/_rels/notesSlide23.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23.xml"/>
		</Relationships>
</file>

<file path=ppt/notesSlides/_rels/notesSlide24.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24.xml"/>
		</Relationships>
</file>

<file path=ppt/notesSlides/_rels/notesSlide25.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25.xml"/>
		</Relationships>
</file>

<file path=ppt/notesSlides/_rels/notesSlide26.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26.xml"/>
		</Relationships>
</file>

<file path=ppt/notesSlides/notesSlide1.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【営業担当者用・事前確認】
・お打ち合わせ：金曜 16:00〜（前回商談の明後日）。
・ご決裁者は澤田代表と想定。冒頭で決裁フローを確認する。
・現在データ障害トラブルに対応中とのこと。冒頭でお気遣いの一言を添え、「事務所の手を取らない提案」であることを強調する。
・アイドマを今回初めて知ったとのこと。冒頭2〜3分で会社紹介を入れる。
・本日のお約束：MiTok以外のサービス（Web強化・マンパワー補強など）のご案内。7ページ（Why アイドマ）と19ページ（フェーズ2）で具体的に説明し、該当サービスの資料を別途用意しておく。
・澤田代表の宿題（MiTokの確認、動画に盛り込む要素の資料送付）が届いているか確認し、届いていれば3・14ページの内容を補足する。
・前回共感いただいた「自利・利他」の考え方が、事務所の理念なのかどうかを確認してから資料・動画で使う（本資料では断定していない）。
・事務所HP（sawadakaikei.com）は資料作成時に参照できていないため、商談前に担当者が目を通し、サービス内容と報酬の表示を確認しておくこと。</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2.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2</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3.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3</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4.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市場の変化は傾向として伝える。統計の数字を出す場合は、最新の公的データを事前に確認すること。</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4</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5.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④⑤（時間・人手がない、PRの意識が根付いていない）は、MiTokと在宅スタッフによる運用で「事務所の手を使わずに発信を続けられる」ことにつなげる。責める言い方は避け、「多くの事務所様で同じことが起きています」と伝える。</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5</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6.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前回のご要望は「HPへの掲載」と「顧問先への発信」。掲載するだけでは見られないことを、第三者の事例として伝える。お客様を否定しない。</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6</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7.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3番の「Web強化・マンパワー補強」が本日お約束したご案内。ここで該当サービスの資料を画面共有し、具体的にご説明する。</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7</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8.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「紹介客の満足度をさらに高めたい」という前回のご意向に直結するスライド。紹介者が転送できる動画があれば、紹介時の説明の負担が減り、紹介の質も上がる。</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8</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9.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9</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0.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10</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1.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HPの法人設立ページに、法人成りの解説動画を埋め込むだけでも、ページの説得力が大きく変わる。YouTubeで作った動画をHPの各サービスページに掲載する流れを提案する。</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11</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2.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MiTokのAI掛け合い形式（相談者役が質問し、税理士役が答える）を前提としたラフ。無料3本はこの3つの型を1本ずつ制作する。</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12</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3.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HPの「/incorporation（法人設立）」ページに合わせ、YouTubeは法人成りをテーマにした。澤田代表から届く資料の内容に応じて、相続や確定申告のテーマに差し替えてもよい。</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13</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4.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絵コンテは台本作成前のたたき台。「大切にしていること」の3点は仮の表現なので、澤田代表から届く資料と、本日のお話をもとに言葉を直す。法人の設立登記は司法書士の業務のため、「設立の準備」は提携先との連携を前提とした表現にしている。</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14</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5.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15</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6.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広告に関するルールの詳細は、所属する税理士会の規則を貴事務所でご確認いただく前提で話す。法令の解釈は断定しない。法人設立の登記は司法書士の業務のため、発信では提携先との連携として表現する。</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16</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7.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前回のご要望（HPへの掲載・顧問先への発信）は1本目と2本目でそのまま実現できる。そのうえで「検証」として設計することの価値を伝える。</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17</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8.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18</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9.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本日お約束した「Web強化・マンパワー補強」は2・3番のカード。該当サービスの資料を画面共有して具体的に説明し、「事務所のスタッフの手を使わずに発信が続く」状態をイメージしていただく。</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19</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20.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来月にご契約・キックオフの場合、2〜3ヶ月目が年末調整、4〜6ヶ月目が確定申告の時期に重なる想定。繁忙期に事務所の手を取らない運用設計であることを強調する。</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20</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21.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まず無料の3本を見てから考えたい」への切り返し：「もちろん3本の成果はしっかり検証します。ただ、検証後に検討を始めると1〜2ヶ月の空白が生まれ、確定申告シーズンに個人向けの発信が間に合わなくなります。検証を“伴走の初月”として設計しておけば、結果が出た当日に次の一手を打てます」</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21</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22.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年間報酬30万円・継続5年・月2件はすべて仮置き。画面共有で澤田代表と一緒に実数値を入れて再計算する。金額が大きく見えるため、「あくまで考え方」であることを丁寧に伝え、押し付けにならないようにする。</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22</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23.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8番（決裁フロー）は冒頭で確認。6番（受け入れ可能な件数）は、マンパワー補強のご提案につなげる。7番は、前回共感いただいた「自利・利他」の考え方が事務所の理念かどうかもあわせて確認する。</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23</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24.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前スライドで伺った数値（顧問先数・新規相談件数・報酬の目安・継続年数・HPの問い合わせ数）を上部の帯に記入し、その場で試算を調整する。確定値は次回お打ち合わせで「目標値」として合意する。受け入れ可能な件数を超える場合は、マンパワー補強のご提案とセットで考える。
試算ロジック：顧問先・紹介者100件×視聴50%→紹介約4件×面談75%×契約60%≒2件／月、プル（問い合わせ4件×契約25%）≒1件／月。累計：1ヶ月目0、2〜3ヶ月目+1/月、4〜6ヶ月目+2/月、7〜12ヶ月目+3/月 → 12ヶ月で26件、年間報酬ベースで26件×30万円＝780万円。</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24</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25.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本日の最後に、次回お打ち合わせの日程をその場で確定させる。年末調整の繁忙期に入る前にキックオフできる日程を目安に提案する。次回は「シミュレーション確定＋台本ドラフト＋運用プラン」という具体的な成果物を持参し、その場で契約判断をいただける状態をつくる。</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25</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26.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26</a:t>
            </a:fld>
            <a:endParaRPr lang="en-US"/>
          </a:p>
        </p:txBody>
      </p:sp>
    </p:spTree>
    <p:extLst>
      <p:ext uri="{BB962C8B-B14F-4D97-AF65-F5344CB8AC3E}">
        <p14:creationId xmlns:p14="http://schemas.microsoft.com/office/powerpoint/2010/main" val="1024086991"/>
      </p:ext>
    </p:extLst>
  </p:cSld>
  <p:clrMapOvr>
    <a:masterClrMapping/>
  </p:clrMapOvr>
</p:notes>
</file>

<file path=ppt/slideLayouts/_rels/slideLayout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slideLayout1.xml><?xml version="1.0" encoding="utf-8"?>
<p:sldLayout xmlns:a="http://schemas.openxmlformats.org/drawingml/2006/main" xmlns:r="http://schemas.openxmlformats.org/officeDocument/2006/relationships" xmlns:p="http://schemas.openxmlformats.org/presentationml/2006/main" preserve="1">
  <p:cSld name="DEFAULT">
    <p:bg>
      <p:bgRef idx="1001">
        <a:schemeClr val="bg1"/>
      </p:bgRef>
    </p:bg>
    <p:spTree>
      <p:nvGrpSpPr>
        <p:cNvPr id="1" name=""/>
        <p:cNvGrpSpPr/>
        <p:nvPr/>
      </p:nvGrpSpPr>
      <p:grpSpPr>
        <a:xfrm>
          <a:off x="0" y="0"/>
          <a:ext cx="0" cy="0"/>
          <a:chOff x="0" y="0"/>
          <a:chExt cx="0" cy="0"/>
        </a:xfrm>
      </p:grpSpPr>
    </p:spTree>
  </p:cSld>
  <p:clrMapOvr>
    <a:masterClrMapping/>
  </p:clrMapOvr>
</p:sldLayout>
</file>

<file path=ppt/slideMasters/_rels/slideMaster1.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theme" Target="../theme/theme1.xml"/></Relationships>
</file>

<file path=ppt/slideMasters/slideMaster1.xml><?xml version="1.0" encoding="utf-8"?>
<p:sldMaster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Tree>
  </p:cSld>
  <p:clrMap bg1="lt1" tx1="dk1" bg2="lt2" tx2="dk2" accent1="accent1" accent2="accent2" accent3="accent3" accent4="accent4" accent5="accent5" accent6="accent6" hlink="hlink" folHlink="folHlink"/>
  <p:sldLayoutIdLst>
    <p:sldLayoutId id="2147483649" r:id="rId1"/>
  </p:sldLayoutIdLst>
  <p:hf sldNum="0" hdr="0" ftr="0" dt="0"/>
  <p:txStyles>
    <p:titleStyle>
      <a:lvl1pPr algn="ctr" defTabSz="914400" rtl="0" eaLnBrk="1" latinLnBrk="0" hangingPunct="1">
        <a:spcBef>
          <a:spcPct val="0"/>
        </a:spcBef>
        <a:buNone/>
        <a:defRPr sz="4400" kern="1200">
          <a:solidFill>
            <a:schemeClr val="tx1"/>
          </a:solidFill>
          <a:latin typeface="+mj-lt"/>
          <a:ea typeface="+mj-ea"/>
          <a:cs typeface="+mj-cs"/>
        </a:defRPr>
      </a:lvl1pPr>
    </p:titleStyle>
    <p:bodyStyle>
      <a:lvl1pPr marL="342900" indent="-342900" algn="l" defTabSz="914400" rtl="0" eaLnBrk="1" latinLnBrk="0" hangingPunct="1">
        <a:spcBef>
          <a:spcPct val="20000"/>
        </a:spcBef>
        <a:buFont typeface="Arial" pitchFamily="34" charset="0"/>
        <a:buChar char="•"/>
        <a:defRPr sz="3200" kern="1200">
          <a:solidFill>
            <a:schemeClr val="tx1"/>
          </a:solidFill>
          <a:latin typeface="+mn-lt"/>
          <a:ea typeface="+mn-ea"/>
          <a:cs typeface="+mn-cs"/>
        </a:defRPr>
      </a:lvl1pPr>
      <a:lvl2pPr marL="742950" indent="-285750" algn="l" defTabSz="914400" rtl="0" eaLnBrk="1" latinLnBrk="0" hangingPunct="1">
        <a:spcBef>
          <a:spcPct val="20000"/>
        </a:spcBef>
        <a:buFont typeface="Arial" pitchFamily="34" charset="0"/>
        <a:buChar char="–"/>
        <a:defRPr sz="2800" kern="1200">
          <a:solidFill>
            <a:schemeClr val="tx1"/>
          </a:solidFill>
          <a:latin typeface="+mn-lt"/>
          <a:ea typeface="+mn-ea"/>
          <a:cs typeface="+mn-cs"/>
        </a:defRPr>
      </a:lvl2pPr>
      <a:lvl3pPr marL="1143000" indent="-228600" algn="l" defTabSz="914400" rtl="0" eaLnBrk="1" latinLnBrk="0" hangingPunct="1">
        <a:spcBef>
          <a:spcPct val="20000"/>
        </a:spcBef>
        <a:buFont typeface="Arial" pitchFamily="34" charset="0"/>
        <a:buChar char="•"/>
        <a:defRPr sz="2400" kern="1200">
          <a:solidFill>
            <a:schemeClr val="tx1"/>
          </a:solidFill>
          <a:latin typeface="+mn-lt"/>
          <a:ea typeface="+mn-ea"/>
          <a:cs typeface="+mn-cs"/>
        </a:defRPr>
      </a:lvl3pPr>
      <a:lvl4pPr marL="16002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4pPr>
      <a:lvl5pPr marL="20574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5pPr>
      <a:lvl6pPr marL="25146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6pPr>
      <a:lvl7pPr marL="29718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7pPr>
      <a:lvl8pPr marL="34290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8pPr>
      <a:lvl9pPr marL="38862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9pPr>
    </p:bodyStyle>
    <p:otherStyle>
      <a:defPPr>
        <a:defRPr lang="en-US"/>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otherStyle>
  </p:txStyles>
</p:sldMaster>
</file>

<file path=ppt/slides/_rels/slide1.xml.rels><?xml version="1.0" encoding="UTF-8" standalone="yes"?>
<Relationships xmlns="http://schemas.openxmlformats.org/package/2006/relationships"><Relationship Id="rId1" Type="http://schemas.openxmlformats.org/officeDocument/2006/relationships/image" Target="../media/image-1-1.png"/><Relationship Id="rId2" Type="http://schemas.openxmlformats.org/officeDocument/2006/relationships/slideLayout" Target="../slideLayouts/slideLayout1.xml"/><Relationship Id="rId3" Type="http://schemas.openxmlformats.org/officeDocument/2006/relationships/notesSlide" Target="../notesSlides/notesSlide1.xml"/></Relationships>
</file>

<file path=ppt/slides/_rels/slide2.xml.rels><?xml version="1.0" encoding="UTF-8" standalone="yes"?>
<Relationships xmlns="http://schemas.openxmlformats.org/package/2006/relationships"><Relationship Id="rId1" Type="http://schemas.openxmlformats.org/officeDocument/2006/relationships/image" Target="../media/image-2-1.png"/><Relationship Id="rId2" Type="http://schemas.openxmlformats.org/officeDocument/2006/relationships/image" Target="../media/image-2-2.png"/><Relationship Id="rId3" Type="http://schemas.openxmlformats.org/officeDocument/2006/relationships/image" Target="../media/image-2-3.png"/><Relationship Id="rId4" Type="http://schemas.openxmlformats.org/officeDocument/2006/relationships/image" Target="../media/image-2-4.png"/><Relationship Id="rId5" Type="http://schemas.openxmlformats.org/officeDocument/2006/relationships/image" Target="../media/image-2-5.png"/><Relationship Id="rId6" Type="http://schemas.openxmlformats.org/officeDocument/2006/relationships/image" Target="../media/image-2-6.png"/><Relationship Id="rId7" Type="http://schemas.openxmlformats.org/officeDocument/2006/relationships/slideLayout" Target="../slideLayouts/slideLayout1.xml"/><Relationship Id="rId8" Type="http://schemas.openxmlformats.org/officeDocument/2006/relationships/notesSlide" Target="../notesSlides/notesSlide2.xml"/></Relationships>
</file>

<file path=ppt/slides/_rels/slide3.xml.rels><?xml version="1.0" encoding="UTF-8" standalone="yes"?>
<Relationships xmlns="http://schemas.openxmlformats.org/package/2006/relationships"><Relationship Id="rId1" Type="http://schemas.openxmlformats.org/officeDocument/2006/relationships/image" Target="../media/image-3-1.png"/><Relationship Id="rId2" Type="http://schemas.openxmlformats.org/officeDocument/2006/relationships/slideLayout" Target="../slideLayouts/slideLayout1.xml"/><Relationship Id="rId3" Type="http://schemas.openxmlformats.org/officeDocument/2006/relationships/notesSlide" Target="../notesSlides/notesSlide3.xml"/></Relationships>
</file>

<file path=ppt/slides/_rels/slide4.xml.rels><?xml version="1.0" encoding="UTF-8" standalone="yes"?>
<Relationships xmlns="http://schemas.openxmlformats.org/package/2006/relationships"><Relationship Id="rId1" Type="http://schemas.openxmlformats.org/officeDocument/2006/relationships/image" Target="../media/image-4-1.png"/><Relationship Id="rId2" Type="http://schemas.openxmlformats.org/officeDocument/2006/relationships/image" Target="../media/image-4-2.png"/><Relationship Id="rId3" Type="http://schemas.openxmlformats.org/officeDocument/2006/relationships/image" Target="../media/image-4-3.png"/><Relationship Id="rId4" Type="http://schemas.openxmlformats.org/officeDocument/2006/relationships/image" Target="../media/image-4-4.png"/><Relationship Id="rId5" Type="http://schemas.openxmlformats.org/officeDocument/2006/relationships/image" Target="../media/image-4-5.png"/><Relationship Id="rId6" Type="http://schemas.openxmlformats.org/officeDocument/2006/relationships/image" Target="../media/image-4-6.png"/><Relationship Id="rId7" Type="http://schemas.openxmlformats.org/officeDocument/2006/relationships/image" Target="../media/image-4-7.png"/><Relationship Id="rId8" Type="http://schemas.openxmlformats.org/officeDocument/2006/relationships/image" Target="../media/image-4-8.png"/><Relationship Id="rId9" Type="http://schemas.openxmlformats.org/officeDocument/2006/relationships/image" Target="../media/image-4-9.png"/><Relationship Id="rId10" Type="http://schemas.openxmlformats.org/officeDocument/2006/relationships/image" Target="../media/image-4-10.png"/><Relationship Id="rId11" Type="http://schemas.openxmlformats.org/officeDocument/2006/relationships/slideLayout" Target="../slideLayouts/slideLayout1.xml"/><Relationship Id="rId12" Type="http://schemas.openxmlformats.org/officeDocument/2006/relationships/notesSlide" Target="../notesSlides/notesSlide4.xml"/></Relationships>
</file>

<file path=ppt/slides/_rels/slide5.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5.xml"/></Relationships>
</file>

<file path=ppt/slides/_rels/slide6.xml.rels><?xml version="1.0" encoding="UTF-8" standalone="yes"?>
<Relationships xmlns="http://schemas.openxmlformats.org/package/2006/relationships"><Relationship Id="rId1" Type="http://schemas.openxmlformats.org/officeDocument/2006/relationships/image" Target="../media/image-6-1.png"/><Relationship Id="rId2" Type="http://schemas.openxmlformats.org/officeDocument/2006/relationships/image" Target="../media/image-6-2.png"/><Relationship Id="rId3" Type="http://schemas.openxmlformats.org/officeDocument/2006/relationships/image" Target="../media/image-6-3.png"/><Relationship Id="rId4" Type="http://schemas.openxmlformats.org/officeDocument/2006/relationships/image" Target="../media/image-6-4.png"/><Relationship Id="rId5" Type="http://schemas.openxmlformats.org/officeDocument/2006/relationships/image" Target="../media/image-6-5.png"/><Relationship Id="rId6" Type="http://schemas.openxmlformats.org/officeDocument/2006/relationships/image" Target="../media/image-6-6.png"/><Relationship Id="rId7" Type="http://schemas.openxmlformats.org/officeDocument/2006/relationships/image" Target="../media/image-6-7.png"/><Relationship Id="rId8" Type="http://schemas.openxmlformats.org/officeDocument/2006/relationships/image" Target="../media/image-6-8.png"/><Relationship Id="rId9" Type="http://schemas.openxmlformats.org/officeDocument/2006/relationships/image" Target="../media/image-6-9.png"/><Relationship Id="rId10" Type="http://schemas.openxmlformats.org/officeDocument/2006/relationships/image" Target="../media/image-6-10.png"/><Relationship Id="rId11" Type="http://schemas.openxmlformats.org/officeDocument/2006/relationships/slideLayout" Target="../slideLayouts/slideLayout1.xml"/><Relationship Id="rId12" Type="http://schemas.openxmlformats.org/officeDocument/2006/relationships/notesSlide" Target="../notesSlides/notesSlide6.xml"/></Relationships>
</file>

<file path=ppt/slides/_rels/slide7.xml.rels><?xml version="1.0" encoding="UTF-8" standalone="yes"?>
<Relationships xmlns="http://schemas.openxmlformats.org/package/2006/relationships"><Relationship Id="rId1" Type="http://schemas.openxmlformats.org/officeDocument/2006/relationships/image" Target="../media/image-7-1.png"/><Relationship Id="rId2" Type="http://schemas.openxmlformats.org/officeDocument/2006/relationships/image" Target="../media/image-7-2.png"/><Relationship Id="rId3" Type="http://schemas.openxmlformats.org/officeDocument/2006/relationships/image" Target="../media/image-7-3.png"/><Relationship Id="rId4" Type="http://schemas.openxmlformats.org/officeDocument/2006/relationships/image" Target="../media/image-7-4.png"/><Relationship Id="rId5" Type="http://schemas.openxmlformats.org/officeDocument/2006/relationships/image" Target="../media/image-7-5.png"/><Relationship Id="rId6" Type="http://schemas.openxmlformats.org/officeDocument/2006/relationships/slideLayout" Target="../slideLayouts/slideLayout1.xml"/><Relationship Id="rId7" Type="http://schemas.openxmlformats.org/officeDocument/2006/relationships/notesSlide" Target="../notesSlides/notesSlide7.xml"/></Relationships>
</file>

<file path=ppt/slides/_rels/slide8.xml.rels><?xml version="1.0" encoding="UTF-8" standalone="yes"?>
<Relationships xmlns="http://schemas.openxmlformats.org/package/2006/relationships"><Relationship Id="rId1" Type="http://schemas.openxmlformats.org/officeDocument/2006/relationships/image" Target="../media/image-8-1.png"/><Relationship Id="rId2" Type="http://schemas.openxmlformats.org/officeDocument/2006/relationships/slideLayout" Target="../slideLayouts/slideLayout1.xml"/><Relationship Id="rId3" Type="http://schemas.openxmlformats.org/officeDocument/2006/relationships/notesSlide" Target="../notesSlides/notesSlide8.xml"/></Relationships>
</file>

<file path=ppt/slides/_rels/slide9.xml.rels><?xml version="1.0" encoding="UTF-8" standalone="yes"?>
<Relationships xmlns="http://schemas.openxmlformats.org/package/2006/relationships"><Relationship Id="rId1" Type="http://schemas.openxmlformats.org/officeDocument/2006/relationships/image" Target="../media/image-9-1.png"/><Relationship Id="rId2" Type="http://schemas.openxmlformats.org/officeDocument/2006/relationships/image" Target="../media/image-9-2.png"/><Relationship Id="rId3" Type="http://schemas.openxmlformats.org/officeDocument/2006/relationships/image" Target="../media/image-9-3.png"/><Relationship Id="rId4" Type="http://schemas.openxmlformats.org/officeDocument/2006/relationships/image" Target="../media/image-9-4.png"/><Relationship Id="rId5" Type="http://schemas.openxmlformats.org/officeDocument/2006/relationships/image" Target="../media/image-9-5.png"/><Relationship Id="rId6" Type="http://schemas.openxmlformats.org/officeDocument/2006/relationships/image" Target="../media/image-9-6.png"/><Relationship Id="rId7" Type="http://schemas.openxmlformats.org/officeDocument/2006/relationships/slideLayout" Target="../slideLayouts/slideLayout1.xml"/><Relationship Id="rId8" Type="http://schemas.openxmlformats.org/officeDocument/2006/relationships/notesSlide" Target="../notesSlides/notesSlide9.xml"/></Relationships>
</file>

<file path=ppt/slides/_rels/slide10.xml.rels><?xml version="1.0" encoding="UTF-8" standalone="yes"?>
<Relationships xmlns="http://schemas.openxmlformats.org/package/2006/relationships"><Relationship Id="rId1" Type="http://schemas.openxmlformats.org/officeDocument/2006/relationships/image" Target="../media/image-10-1.png"/><Relationship Id="rId2" Type="http://schemas.openxmlformats.org/officeDocument/2006/relationships/image" Target="../media/image-10-2.png"/><Relationship Id="rId3" Type="http://schemas.openxmlformats.org/officeDocument/2006/relationships/image" Target="../media/image-10-3.png"/><Relationship Id="rId4" Type="http://schemas.openxmlformats.org/officeDocument/2006/relationships/image" Target="../media/image-10-4.png"/><Relationship Id="rId5" Type="http://schemas.openxmlformats.org/officeDocument/2006/relationships/slideLayout" Target="../slideLayouts/slideLayout1.xml"/><Relationship Id="rId6" Type="http://schemas.openxmlformats.org/officeDocument/2006/relationships/notesSlide" Target="../notesSlides/notesSlide10.xml"/></Relationships>
</file>

<file path=ppt/slides/_rels/slide11.xml.rels><?xml version="1.0" encoding="UTF-8" standalone="yes"?>
<Relationships xmlns="http://schemas.openxmlformats.org/package/2006/relationships"><Relationship Id="rId1" Type="http://schemas.openxmlformats.org/officeDocument/2006/relationships/image" Target="../media/image-11-1.png"/><Relationship Id="rId2" Type="http://schemas.openxmlformats.org/officeDocument/2006/relationships/image" Target="../media/image-11-2.png"/><Relationship Id="rId3" Type="http://schemas.openxmlformats.org/officeDocument/2006/relationships/image" Target="../media/image-11-3.png"/><Relationship Id="rId4" Type="http://schemas.openxmlformats.org/officeDocument/2006/relationships/slideLayout" Target="../slideLayouts/slideLayout1.xml"/><Relationship Id="rId5" Type="http://schemas.openxmlformats.org/officeDocument/2006/relationships/notesSlide" Target="../notesSlides/notesSlide11.xml"/></Relationships>
</file>

<file path=ppt/slides/_rels/slide12.xml.rels><?xml version="1.0" encoding="UTF-8" standalone="yes"?>
<Relationships xmlns="http://schemas.openxmlformats.org/package/2006/relationships"><Relationship Id="rId1" Type="http://schemas.openxmlformats.org/officeDocument/2006/relationships/image" Target="../media/image-12-1.png"/><Relationship Id="rId2" Type="http://schemas.openxmlformats.org/officeDocument/2006/relationships/image" Target="../media/image-12-2.png"/><Relationship Id="rId3" Type="http://schemas.openxmlformats.org/officeDocument/2006/relationships/image" Target="../media/image-12-3.png"/><Relationship Id="rId4" Type="http://schemas.openxmlformats.org/officeDocument/2006/relationships/slideLayout" Target="../slideLayouts/slideLayout1.xml"/><Relationship Id="rId5" Type="http://schemas.openxmlformats.org/officeDocument/2006/relationships/notesSlide" Target="../notesSlides/notesSlide12.xml"/></Relationships>
</file>

<file path=ppt/slides/_rels/slide13.xml.rels><?xml version="1.0" encoding="UTF-8" standalone="yes"?>
<Relationships xmlns="http://schemas.openxmlformats.org/package/2006/relationships"><Relationship Id="rId1" Type="http://schemas.openxmlformats.org/officeDocument/2006/relationships/image" Target="../media/image-13-1.png"/><Relationship Id="rId2" Type="http://schemas.openxmlformats.org/officeDocument/2006/relationships/image" Target="../media/image-13-2.png"/><Relationship Id="rId3" Type="http://schemas.openxmlformats.org/officeDocument/2006/relationships/image" Target="../media/image-13-3.png"/><Relationship Id="rId4" Type="http://schemas.openxmlformats.org/officeDocument/2006/relationships/slideLayout" Target="../slideLayouts/slideLayout1.xml"/><Relationship Id="rId5" Type="http://schemas.openxmlformats.org/officeDocument/2006/relationships/notesSlide" Target="../notesSlides/notesSlide13.xml"/></Relationships>
</file>

<file path=ppt/slides/_rels/slide14.xml.rels><?xml version="1.0" encoding="UTF-8" standalone="yes"?>
<Relationships xmlns="http://schemas.openxmlformats.org/package/2006/relationships"><Relationship Id="rId1" Type="http://schemas.openxmlformats.org/officeDocument/2006/relationships/image" Target="../media/image-14-1.png"/><Relationship Id="rId2" Type="http://schemas.openxmlformats.org/officeDocument/2006/relationships/image" Target="../media/image-14-2.png"/><Relationship Id="rId3" Type="http://schemas.openxmlformats.org/officeDocument/2006/relationships/image" Target="../media/image-14-3.png"/><Relationship Id="rId4" Type="http://schemas.openxmlformats.org/officeDocument/2006/relationships/image" Target="../media/image-14-4.png"/><Relationship Id="rId5" Type="http://schemas.openxmlformats.org/officeDocument/2006/relationships/slideLayout" Target="../slideLayouts/slideLayout1.xml"/><Relationship Id="rId6" Type="http://schemas.openxmlformats.org/officeDocument/2006/relationships/notesSlide" Target="../notesSlides/notesSlide14.xml"/></Relationships>
</file>

<file path=ppt/slides/_rels/slide15.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15.xml"/></Relationships>
</file>

<file path=ppt/slides/_rels/slide16.xml.rels><?xml version="1.0" encoding="UTF-8" standalone="yes"?>
<Relationships xmlns="http://schemas.openxmlformats.org/package/2006/relationships"><Relationship Id="rId1" Type="http://schemas.openxmlformats.org/officeDocument/2006/relationships/image" Target="../media/image-16-1.png"/><Relationship Id="rId2" Type="http://schemas.openxmlformats.org/officeDocument/2006/relationships/image" Target="../media/image-16-2.png"/><Relationship Id="rId3" Type="http://schemas.openxmlformats.org/officeDocument/2006/relationships/image" Target="../media/image-16-3.png"/><Relationship Id="rId4" Type="http://schemas.openxmlformats.org/officeDocument/2006/relationships/image" Target="../media/image-16-4.png"/><Relationship Id="rId5" Type="http://schemas.openxmlformats.org/officeDocument/2006/relationships/slideLayout" Target="../slideLayouts/slideLayout1.xml"/><Relationship Id="rId6" Type="http://schemas.openxmlformats.org/officeDocument/2006/relationships/notesSlide" Target="../notesSlides/notesSlide16.xml"/></Relationships>
</file>

<file path=ppt/slides/_rels/slide17.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17.xml"/></Relationships>
</file>

<file path=ppt/slides/_rels/slide18.xml.rels><?xml version="1.0" encoding="UTF-8" standalone="yes"?>
<Relationships xmlns="http://schemas.openxmlformats.org/package/2006/relationships"><Relationship Id="rId1" Type="http://schemas.openxmlformats.org/officeDocument/2006/relationships/image" Target="../media/image-18-1.png"/><Relationship Id="rId2" Type="http://schemas.openxmlformats.org/officeDocument/2006/relationships/slideLayout" Target="../slideLayouts/slideLayout1.xml"/><Relationship Id="rId3" Type="http://schemas.openxmlformats.org/officeDocument/2006/relationships/notesSlide" Target="../notesSlides/notesSlide18.xml"/></Relationships>
</file>

<file path=ppt/slides/_rels/slide19.xml.rels><?xml version="1.0" encoding="UTF-8" standalone="yes"?>
<Relationships xmlns="http://schemas.openxmlformats.org/package/2006/relationships"><Relationship Id="rId1" Type="http://schemas.openxmlformats.org/officeDocument/2006/relationships/image" Target="../media/image-19-1.png"/><Relationship Id="rId2" Type="http://schemas.openxmlformats.org/officeDocument/2006/relationships/image" Target="../media/image-19-2.png"/><Relationship Id="rId3" Type="http://schemas.openxmlformats.org/officeDocument/2006/relationships/image" Target="../media/image-19-3.png"/><Relationship Id="rId4" Type="http://schemas.openxmlformats.org/officeDocument/2006/relationships/image" Target="../media/image-19-4.png"/><Relationship Id="rId5" Type="http://schemas.openxmlformats.org/officeDocument/2006/relationships/image" Target="../media/image-19-5.png"/><Relationship Id="rId6" Type="http://schemas.openxmlformats.org/officeDocument/2006/relationships/image" Target="../media/image-19-6.png"/><Relationship Id="rId7" Type="http://schemas.openxmlformats.org/officeDocument/2006/relationships/slideLayout" Target="../slideLayouts/slideLayout1.xml"/><Relationship Id="rId8" Type="http://schemas.openxmlformats.org/officeDocument/2006/relationships/notesSlide" Target="../notesSlides/notesSlide19.xml"/></Relationships>
</file>

<file path=ppt/slides/_rels/slide20.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20.xml"/></Relationships>
</file>

<file path=ppt/slides/_rels/slide21.xml.rels><?xml version="1.0" encoding="UTF-8" standalone="yes"?>
<Relationships xmlns="http://schemas.openxmlformats.org/package/2006/relationships"><Relationship Id="rId1" Type="http://schemas.openxmlformats.org/officeDocument/2006/relationships/image" Target="../media/image-21-1.png"/><Relationship Id="rId2" Type="http://schemas.openxmlformats.org/officeDocument/2006/relationships/image" Target="../media/image-21-2.png"/><Relationship Id="rId3" Type="http://schemas.openxmlformats.org/officeDocument/2006/relationships/image" Target="../media/image-21-3.png"/><Relationship Id="rId4" Type="http://schemas.openxmlformats.org/officeDocument/2006/relationships/slideLayout" Target="../slideLayouts/slideLayout1.xml"/><Relationship Id="rId5" Type="http://schemas.openxmlformats.org/officeDocument/2006/relationships/notesSlide" Target="../notesSlides/notesSlide21.xml"/></Relationships>
</file>

<file path=ppt/slides/_rels/slide22.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22.xml"/></Relationships>
</file>

<file path=ppt/slides/_rels/slide23.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23.xml"/></Relationships>
</file>

<file path=ppt/slides/_rels/slide24.xml.rels><?xml version="1.0" encoding="UTF-8" standalone="yes"?>
<Relationships xmlns="http://schemas.openxmlformats.org/package/2006/relationships"><Relationship Id="rId1" Type="http://schemas.openxmlformats.org/officeDocument/2006/relationships/chart" Target="/ppt/charts/chart1.xml"/><Relationship Id="rId2" Type="http://schemas.openxmlformats.org/officeDocument/2006/relationships/slideLayout" Target="../slideLayouts/slideLayout1.xml"/><Relationship Id="rId3" Type="http://schemas.openxmlformats.org/officeDocument/2006/relationships/notesSlide" Target="../notesSlides/notesSlide24.xml"/></Relationships>
</file>

<file path=ppt/slides/_rels/slide25.xml.rels><?xml version="1.0" encoding="UTF-8" standalone="yes"?>
<Relationships xmlns="http://schemas.openxmlformats.org/package/2006/relationships"><Relationship Id="rId1" Type="http://schemas.openxmlformats.org/officeDocument/2006/relationships/image" Target="../media/image-25-1.png"/><Relationship Id="rId2" Type="http://schemas.openxmlformats.org/officeDocument/2006/relationships/image" Target="../media/image-25-2.png"/><Relationship Id="rId3" Type="http://schemas.openxmlformats.org/officeDocument/2006/relationships/slideLayout" Target="../slideLayouts/slideLayout1.xml"/><Relationship Id="rId4" Type="http://schemas.openxmlformats.org/officeDocument/2006/relationships/notesSlide" Target="../notesSlides/notesSlide25.xml"/></Relationships>
</file>

<file path=ppt/slides/_rels/slide26.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26.xml"/></Relationships>
</file>

<file path=ppt/slides/slide1.xml><?xml version="1.0" encoding="utf-8"?>
<p:sld xmlns:a="http://schemas.openxmlformats.org/drawingml/2006/main" xmlns:r="http://schemas.openxmlformats.org/officeDocument/2006/relationships" xmlns:p="http://schemas.openxmlformats.org/presentationml/2006/main">
  <p:cSld name="Slide 1">
    <p:bg>
      <p:bgPr>
        <a:solidFill>
          <a:srgbClr val="262A52"/>
        </a:solidFill>
      </p:bgPr>
    </p:bg>
    <p:spTree>
      <p:nvGrpSpPr>
        <p:cNvPr id="1" name=""/>
        <p:cNvGrpSpPr/>
        <p:nvPr/>
      </p:nvGrpSpPr>
      <p:grpSpPr>
        <a:xfrm>
          <a:off x="0" y="0"/>
          <a:ext cx="0" cy="0"/>
          <a:chOff x="0" y="0"/>
          <a:chExt cx="0" cy="0"/>
        </a:xfrm>
      </p:grpSpPr>
      <p:sp>
        <p:nvSpPr>
          <p:cNvPr id="2" name="Shape 0"/>
          <p:cNvSpPr/>
          <p:nvPr/>
        </p:nvSpPr>
        <p:spPr>
          <a:xfrm>
            <a:off x="8138160" y="1097280"/>
            <a:ext cx="4937760" cy="4937760"/>
          </a:xfrm>
          <a:prstGeom prst="ellipse">
            <a:avLst/>
          </a:prstGeom>
          <a:solidFill>
            <a:srgbClr val="3A3F73"/>
          </a:solidFill>
          <a:ln w="12700">
            <a:solidFill>
              <a:srgbClr val="3A3F73"/>
            </a:solidFill>
            <a:prstDash val="solid"/>
          </a:ln>
        </p:spPr>
      </p:sp>
      <p:sp>
        <p:nvSpPr>
          <p:cNvPr id="3" name="Shape 1"/>
          <p:cNvSpPr/>
          <p:nvPr/>
        </p:nvSpPr>
        <p:spPr>
          <a:xfrm>
            <a:off x="9326880" y="365760"/>
            <a:ext cx="2011680" cy="2011680"/>
          </a:xfrm>
          <a:prstGeom prst="ellipse">
            <a:avLst/>
          </a:prstGeom>
          <a:solidFill>
            <a:srgbClr val="C8962E">
              <a:alpha val="85000"/>
            </a:srgbClr>
          </a:solidFill>
          <a:ln w="12700">
            <a:solidFill>
              <a:srgbClr val="C8962E"/>
            </a:solidFill>
            <a:prstDash val="solid"/>
          </a:ln>
        </p:spPr>
      </p:sp>
      <p:pic>
        <p:nvPicPr>
          <p:cNvPr id="4" name="Image 0" descr="preencoded.png">    </p:cNvPr>
          <p:cNvPicPr>
            <a:picLocks noChangeAspect="1"/>
          </p:cNvPicPr>
          <p:nvPr/>
        </p:nvPicPr>
        <p:blipFill>
          <a:blip r:embed="rId1"/>
          <a:stretch>
            <a:fillRect/>
          </a:stretch>
        </p:blipFill>
        <p:spPr>
          <a:xfrm>
            <a:off x="9555480" y="2560320"/>
            <a:ext cx="1737360" cy="1737360"/>
          </a:xfrm>
          <a:prstGeom prst="rect">
            <a:avLst/>
          </a:prstGeom>
        </p:spPr>
      </p:pic>
      <p:sp>
        <p:nvSpPr>
          <p:cNvPr id="5" name="Text 2"/>
          <p:cNvSpPr txBox="1"/>
          <p:nvPr/>
        </p:nvSpPr>
        <p:spPr>
          <a:xfrm>
            <a:off x="640080" y="731520"/>
            <a:ext cx="6400800" cy="365760"/>
          </a:xfrm>
          <a:prstGeom prst="rect">
            <a:avLst/>
          </a:prstGeom>
          <a:noFill/>
          <a:ln/>
        </p:spPr>
        <p:txBody>
          <a:bodyPr wrap="square" lIns="0" tIns="0" rIns="0" bIns="0" rtlCol="0" anchor="t"/>
          <a:lstStyle/>
          <a:p>
            <a:pPr indent="0" marL="0">
              <a:buNone/>
            </a:pPr>
            <a:r>
              <a:rPr lang="en-US" sz="1600" dirty="0">
                <a:solidFill>
                  <a:srgbClr val="DADCEE"/>
                </a:solidFill>
                <a:latin typeface="Meiryo UI" pitchFamily="34" charset="0"/>
                <a:ea typeface="Meiryo UI" pitchFamily="34" charset="-122"/>
                <a:cs typeface="Meiryo UI" pitchFamily="34" charset="-120"/>
              </a:rPr>
              <a:t>澤田会計事務所 御中</a:t>
            </a:r>
            <a:endParaRPr lang="en-US" sz="1600" dirty="0"/>
          </a:p>
        </p:txBody>
      </p:sp>
      <p:sp>
        <p:nvSpPr>
          <p:cNvPr id="6" name="Text 3"/>
          <p:cNvSpPr txBox="1"/>
          <p:nvPr/>
        </p:nvSpPr>
        <p:spPr>
          <a:xfrm>
            <a:off x="640080" y="1463040"/>
            <a:ext cx="7498080" cy="2468880"/>
          </a:xfrm>
          <a:prstGeom prst="rect">
            <a:avLst/>
          </a:prstGeom>
          <a:noFill/>
          <a:ln/>
        </p:spPr>
        <p:txBody>
          <a:bodyPr wrap="square" lIns="0" tIns="0" rIns="0" bIns="0" rtlCol="0" anchor="t"/>
          <a:lstStyle/>
          <a:p>
            <a:pPr indent="0" marL="0">
              <a:lnSpc>
                <a:spcPct val="105000"/>
              </a:lnSpc>
              <a:buNone/>
            </a:pPr>
            <a:r>
              <a:rPr lang="en-US" sz="4000" b="1" dirty="0">
                <a:solidFill>
                  <a:srgbClr val="FFFFFF"/>
                </a:solidFill>
                <a:latin typeface="Meiryo UI" pitchFamily="34" charset="0"/>
                <a:ea typeface="Meiryo UI" pitchFamily="34" charset="-122"/>
                <a:cs typeface="Meiryo UI" pitchFamily="34" charset="-120"/>
              </a:rPr>
              <a:t>個人向けサービス強化</a:t>
            </a:r>
            <a:endParaRPr lang="en-US" sz="4000" dirty="0"/>
          </a:p>
          <a:p>
            <a:pPr indent="0" marL="0">
              <a:lnSpc>
                <a:spcPct val="105000"/>
              </a:lnSpc>
              <a:buNone/>
            </a:pPr>
            <a:r>
              <a:rPr lang="en-US" sz="4000" b="1" dirty="0">
                <a:solidFill>
                  <a:srgbClr val="FFFFFF"/>
                </a:solidFill>
                <a:latin typeface="Meiryo UI" pitchFamily="34" charset="0"/>
                <a:ea typeface="Meiryo UI" pitchFamily="34" charset="-122"/>
                <a:cs typeface="Meiryo UI" pitchFamily="34" charset="-120"/>
              </a:rPr>
              <a:t>営業・マーケティング</a:t>
            </a:r>
            <a:endParaRPr lang="en-US" sz="4000" dirty="0"/>
          </a:p>
          <a:p>
            <a:pPr indent="0" marL="0">
              <a:lnSpc>
                <a:spcPct val="105000"/>
              </a:lnSpc>
              <a:buNone/>
            </a:pPr>
            <a:r>
              <a:rPr lang="en-US" sz="4000" b="1" dirty="0">
                <a:solidFill>
                  <a:srgbClr val="FFFFFF"/>
                </a:solidFill>
                <a:latin typeface="Meiryo UI" pitchFamily="34" charset="0"/>
                <a:ea typeface="Meiryo UI" pitchFamily="34" charset="-122"/>
                <a:cs typeface="Meiryo UI" pitchFamily="34" charset="-120"/>
              </a:rPr>
              <a:t>総合改革提案書</a:t>
            </a:r>
            <a:endParaRPr lang="en-US" sz="4000" dirty="0"/>
          </a:p>
        </p:txBody>
      </p:sp>
      <p:sp>
        <p:nvSpPr>
          <p:cNvPr id="7" name="Text 4"/>
          <p:cNvSpPr txBox="1"/>
          <p:nvPr/>
        </p:nvSpPr>
        <p:spPr>
          <a:xfrm>
            <a:off x="640080" y="4069080"/>
            <a:ext cx="7680960" cy="457200"/>
          </a:xfrm>
          <a:prstGeom prst="rect">
            <a:avLst/>
          </a:prstGeom>
          <a:noFill/>
          <a:ln/>
        </p:spPr>
        <p:txBody>
          <a:bodyPr wrap="square" lIns="0" tIns="0" rIns="0" bIns="0" rtlCol="0" anchor="t"/>
          <a:lstStyle/>
          <a:p>
            <a:pPr indent="0" marL="0">
              <a:buNone/>
            </a:pPr>
            <a:r>
              <a:rPr lang="en-US" sz="1800" b="1" dirty="0">
                <a:solidFill>
                  <a:srgbClr val="E8CD85"/>
                </a:solidFill>
                <a:latin typeface="Meiryo UI" pitchFamily="34" charset="0"/>
                <a:ea typeface="Meiryo UI" pitchFamily="34" charset="-122"/>
                <a:cs typeface="Meiryo UI" pitchFamily="34" charset="-120"/>
              </a:rPr>
              <a:t>「紹介だけ」から「紹介×Web」の両輪で選ばれる事務所へ</a:t>
            </a:r>
            <a:endParaRPr lang="en-US" sz="1800" dirty="0"/>
          </a:p>
        </p:txBody>
      </p:sp>
      <p:sp>
        <p:nvSpPr>
          <p:cNvPr id="8" name="Text 5"/>
          <p:cNvSpPr txBox="1"/>
          <p:nvPr/>
        </p:nvSpPr>
        <p:spPr>
          <a:xfrm>
            <a:off x="640080" y="4709160"/>
            <a:ext cx="7498080" cy="365760"/>
          </a:xfrm>
          <a:prstGeom prst="rect">
            <a:avLst/>
          </a:prstGeom>
          <a:noFill/>
          <a:ln/>
        </p:spPr>
        <p:txBody>
          <a:bodyPr wrap="square" lIns="0" tIns="0" rIns="0" bIns="0" rtlCol="0" anchor="t"/>
          <a:lstStyle/>
          <a:p>
            <a:pPr indent="0" marL="0">
              <a:buNone/>
            </a:pPr>
            <a:r>
              <a:rPr lang="en-US" sz="1300" dirty="0">
                <a:solidFill>
                  <a:srgbClr val="DADCEE"/>
                </a:solidFill>
                <a:latin typeface="Meiryo UI" pitchFamily="34" charset="0"/>
                <a:ea typeface="Meiryo UI" pitchFamily="34" charset="-122"/>
                <a:cs typeface="Meiryo UI" pitchFamily="34" charset="-120"/>
              </a:rPr>
              <a:t>AI対話・動画プラットフォーム「MiTok（ミトク）」ご活用提案／第2回お打ち合わせ資料</a:t>
            </a:r>
            <a:endParaRPr lang="en-US" sz="1300" dirty="0"/>
          </a:p>
        </p:txBody>
      </p:sp>
      <p:sp>
        <p:nvSpPr>
          <p:cNvPr id="9" name="Text 6"/>
          <p:cNvSpPr txBox="1"/>
          <p:nvPr/>
        </p:nvSpPr>
        <p:spPr>
          <a:xfrm>
            <a:off x="640080" y="5989320"/>
            <a:ext cx="7315200" cy="365760"/>
          </a:xfrm>
          <a:prstGeom prst="rect">
            <a:avLst/>
          </a:prstGeom>
          <a:noFill/>
          <a:ln/>
        </p:spPr>
        <p:txBody>
          <a:bodyPr wrap="square" lIns="0" tIns="0" rIns="0" bIns="0" rtlCol="0" anchor="t"/>
          <a:lstStyle/>
          <a:p>
            <a:pPr indent="0" marL="0">
              <a:buNone/>
            </a:pPr>
            <a:r>
              <a:rPr lang="en-US" sz="1300" b="1" dirty="0">
                <a:solidFill>
                  <a:srgbClr val="FFFFFF"/>
                </a:solidFill>
                <a:latin typeface="Meiryo UI" pitchFamily="34" charset="0"/>
                <a:ea typeface="Meiryo UI" pitchFamily="34" charset="-122"/>
                <a:cs typeface="Meiryo UI" pitchFamily="34" charset="-120"/>
              </a:rPr>
              <a:t>株式会社アイドマ・ホールディングス　MiTok事業部</a:t>
            </a:r>
            <a:endParaRPr lang="en-US" sz="1300" dirty="0"/>
          </a:p>
        </p:txBody>
      </p:sp>
    </p:spTree>
  </p:cSld>
  <p:clrMapOvr>
    <a:masterClrMapping/>
  </p:clrMapOvr>
</p:sld>
</file>

<file path=ppt/slides/slide2.xml><?xml version="1.0" encoding="utf-8"?>
<p:sld xmlns:a="http://schemas.openxmlformats.org/drawingml/2006/main" xmlns:r="http://schemas.openxmlformats.org/officeDocument/2006/relationships" xmlns:p="http://schemas.openxmlformats.org/presentationml/2006/main">
  <p:cSld name="Slide 2">
    <p:bg>
      <p:bgPr>
        <a:solidFill>
          <a:srgbClr val="FFFFFF"/>
        </a:solidFill>
      </p:bgPr>
    </p:bg>
    <p:spTree>
      <p:nvGrpSpPr>
        <p:cNvPr id="1" name=""/>
        <p:cNvGrpSpPr/>
        <p:nvPr/>
      </p:nvGrpSpPr>
      <p:grpSpPr>
        <a:xfrm>
          <a:off x="0" y="0"/>
          <a:ext cx="0" cy="0"/>
          <a:chOff x="0" y="0"/>
          <a:chExt cx="0" cy="0"/>
        </a:xfrm>
      </p:grpSpPr>
      <p:sp>
        <p:nvSpPr>
          <p:cNvPr id="2" name="Text 0"/>
          <p:cNvSpPr txBox="1"/>
          <p:nvPr/>
        </p:nvSpPr>
        <p:spPr>
          <a:xfrm>
            <a:off x="548640" y="347472"/>
            <a:ext cx="7315200" cy="274320"/>
          </a:xfrm>
          <a:prstGeom prst="rect">
            <a:avLst/>
          </a:prstGeom>
          <a:noFill/>
          <a:ln/>
        </p:spPr>
        <p:txBody>
          <a:bodyPr wrap="square" lIns="0" tIns="0" rIns="0" bIns="0" rtlCol="0" anchor="t"/>
          <a:lstStyle/>
          <a:p>
            <a:pPr indent="0" marL="0">
              <a:buNone/>
            </a:pPr>
            <a:r>
              <a:rPr lang="en-US" sz="1100" b="1" spc="200" kern="0" dirty="0">
                <a:solidFill>
                  <a:srgbClr val="A87A1C"/>
                </a:solidFill>
                <a:latin typeface="Meiryo UI" pitchFamily="34" charset="0"/>
                <a:ea typeface="Meiryo UI" pitchFamily="34" charset="-122"/>
                <a:cs typeface="Meiryo UI" pitchFamily="34" charset="-120"/>
              </a:rPr>
              <a:t>EXECUTIVE SUMMARY</a:t>
            </a:r>
            <a:endParaRPr lang="en-US" sz="1100" dirty="0"/>
          </a:p>
        </p:txBody>
      </p:sp>
      <p:sp>
        <p:nvSpPr>
          <p:cNvPr id="3" name="Text 1"/>
          <p:cNvSpPr txBox="1"/>
          <p:nvPr/>
        </p:nvSpPr>
        <p:spPr>
          <a:xfrm>
            <a:off x="548640" y="621792"/>
            <a:ext cx="11094415" cy="566928"/>
          </a:xfrm>
          <a:prstGeom prst="rect">
            <a:avLst/>
          </a:prstGeom>
          <a:noFill/>
          <a:ln/>
        </p:spPr>
        <p:txBody>
          <a:bodyPr wrap="square" lIns="0" tIns="0" rIns="0" bIns="0" rtlCol="0" anchor="ctr"/>
          <a:lstStyle/>
          <a:p>
            <a:pPr indent="0" marL="0">
              <a:buNone/>
            </a:pPr>
            <a:r>
              <a:rPr lang="en-US" sz="2600" b="1" dirty="0">
                <a:solidFill>
                  <a:srgbClr val="3A3F73"/>
                </a:solidFill>
                <a:latin typeface="Meiryo UI" pitchFamily="34" charset="0"/>
                <a:ea typeface="Meiryo UI" pitchFamily="34" charset="-122"/>
                <a:cs typeface="Meiryo UI" pitchFamily="34" charset="-120"/>
              </a:rPr>
              <a:t>結論：MiTokで「紹介×Web」の両輪をつくる</a:t>
            </a:r>
            <a:endParaRPr lang="en-US" sz="2600" dirty="0"/>
          </a:p>
        </p:txBody>
      </p:sp>
      <p:sp>
        <p:nvSpPr>
          <p:cNvPr id="4" name="Text 2"/>
          <p:cNvSpPr txBox="1"/>
          <p:nvPr/>
        </p:nvSpPr>
        <p:spPr>
          <a:xfrm>
            <a:off x="11094415" y="6419088"/>
            <a:ext cx="548640" cy="256032"/>
          </a:xfrm>
          <a:prstGeom prst="rect">
            <a:avLst/>
          </a:prstGeom>
          <a:noFill/>
          <a:ln/>
        </p:spPr>
        <p:txBody>
          <a:bodyPr wrap="square" lIns="0" tIns="0" rIns="0" bIns="0" rtlCol="0" anchor="t"/>
          <a:lstStyle/>
          <a:p>
            <a:pPr algn="r" indent="0" marL="0">
              <a:buNone/>
            </a:pPr>
            <a:r>
              <a:rPr lang="en-US" sz="1000" dirty="0">
                <a:solidFill>
                  <a:srgbClr val="7C7E90"/>
                </a:solidFill>
                <a:latin typeface="Meiryo UI" pitchFamily="34" charset="0"/>
                <a:ea typeface="Meiryo UI" pitchFamily="34" charset="-122"/>
                <a:cs typeface="Meiryo UI" pitchFamily="34" charset="-120"/>
              </a:rPr>
              <a:t>2</a:t>
            </a:r>
            <a:endParaRPr lang="en-US" sz="1000" dirty="0"/>
          </a:p>
        </p:txBody>
      </p:sp>
      <p:sp>
        <p:nvSpPr>
          <p:cNvPr id="5" name="Text 3"/>
          <p:cNvSpPr txBox="1"/>
          <p:nvPr/>
        </p:nvSpPr>
        <p:spPr>
          <a:xfrm>
            <a:off x="548640" y="6419088"/>
            <a:ext cx="4572000" cy="256032"/>
          </a:xfrm>
          <a:prstGeom prst="rect">
            <a:avLst/>
          </a:prstGeom>
          <a:noFill/>
          <a:ln/>
        </p:spPr>
        <p:txBody>
          <a:bodyPr wrap="square" lIns="0" tIns="0" rIns="0" bIns="0" rtlCol="0" anchor="t"/>
          <a:lstStyle/>
          <a:p>
            <a:pPr indent="0" marL="0">
              <a:buNone/>
            </a:pPr>
            <a:r>
              <a:rPr lang="en-US" sz="900" dirty="0">
                <a:solidFill>
                  <a:srgbClr val="7C7E90"/>
                </a:solidFill>
                <a:latin typeface="Meiryo UI" pitchFamily="34" charset="0"/>
                <a:ea typeface="Meiryo UI" pitchFamily="34" charset="-122"/>
                <a:cs typeface="Meiryo UI" pitchFamily="34" charset="-120"/>
              </a:rPr>
              <a:t>株式会社アイドマ・ホールディングス｜MiTok</a:t>
            </a:r>
            <a:endParaRPr lang="en-US" sz="900" dirty="0"/>
          </a:p>
        </p:txBody>
      </p:sp>
      <p:sp>
        <p:nvSpPr>
          <p:cNvPr id="6" name="Shape 4"/>
          <p:cNvSpPr/>
          <p:nvPr/>
        </p:nvSpPr>
        <p:spPr>
          <a:xfrm>
            <a:off x="548640" y="1371600"/>
            <a:ext cx="11094415" cy="960120"/>
          </a:xfrm>
          <a:prstGeom prst="roundRect">
            <a:avLst>
              <a:gd name="adj" fmla="val 11429"/>
            </a:avLst>
          </a:prstGeom>
          <a:solidFill>
            <a:srgbClr val="EEEFF7"/>
          </a:solidFill>
          <a:ln w="12700">
            <a:solidFill>
              <a:srgbClr val="EEEFF7"/>
            </a:solidFill>
            <a:prstDash val="solid"/>
          </a:ln>
        </p:spPr>
      </p:sp>
      <p:sp>
        <p:nvSpPr>
          <p:cNvPr id="7" name="Text 5"/>
          <p:cNvSpPr txBox="1"/>
          <p:nvPr/>
        </p:nvSpPr>
        <p:spPr>
          <a:xfrm>
            <a:off x="868680" y="1371600"/>
            <a:ext cx="10454335" cy="960120"/>
          </a:xfrm>
          <a:prstGeom prst="rect">
            <a:avLst/>
          </a:prstGeom>
          <a:noFill/>
          <a:ln/>
        </p:spPr>
        <p:txBody>
          <a:bodyPr wrap="square" lIns="0" tIns="0" rIns="0" bIns="0" rtlCol="0" anchor="ctr"/>
          <a:lstStyle/>
          <a:p>
            <a:pPr indent="0" marL="0">
              <a:buNone/>
            </a:pPr>
            <a:r>
              <a:rPr lang="en-US" sz="1550" b="1" dirty="0">
                <a:solidFill>
                  <a:srgbClr val="262A52"/>
                </a:solidFill>
                <a:latin typeface="Meiryo UI" pitchFamily="34" charset="0"/>
                <a:ea typeface="Meiryo UI" pitchFamily="34" charset="-122"/>
                <a:cs typeface="Meiryo UI" pitchFamily="34" charset="-120"/>
              </a:rPr>
              <a:t>紹介ほぼ100%の集客から、動画で事務所の考え方と個人向けサービスが伝わり、</a:t>
            </a:r>
            <a:endParaRPr lang="en-US" sz="1550" dirty="0"/>
          </a:p>
          <a:p>
            <a:pPr indent="0" marL="0">
              <a:buNone/>
            </a:pPr>
            <a:r>
              <a:rPr lang="en-US" sz="1550" b="1" dirty="0">
                <a:solidFill>
                  <a:srgbClr val="262A52"/>
                </a:solidFill>
                <a:latin typeface="Meiryo UI" pitchFamily="34" charset="0"/>
                <a:ea typeface="Meiryo UI" pitchFamily="34" charset="-122"/>
                <a:cs typeface="Meiryo UI" pitchFamily="34" charset="-120"/>
              </a:rPr>
              <a:t>顧問先からの紹介とWebからの問い合わせの“両輪”で選ばれる事務所へ転換することをご提案します。</a:t>
            </a:r>
            <a:endParaRPr lang="en-US" sz="1550" dirty="0"/>
          </a:p>
        </p:txBody>
      </p:sp>
      <p:sp>
        <p:nvSpPr>
          <p:cNvPr id="8" name="Shape 6"/>
          <p:cNvSpPr/>
          <p:nvPr/>
        </p:nvSpPr>
        <p:spPr>
          <a:xfrm>
            <a:off x="548640" y="2606040"/>
            <a:ext cx="3515258" cy="2331720"/>
          </a:xfrm>
          <a:prstGeom prst="roundRect">
            <a:avLst>
              <a:gd name="adj" fmla="val 4706"/>
            </a:avLst>
          </a:prstGeom>
          <a:solidFill>
            <a:srgbClr val="FFFFFF"/>
          </a:solidFill>
          <a:ln w="12700">
            <a:solidFill>
              <a:srgbClr val="FFFFFF"/>
            </a:solidFill>
            <a:prstDash val="solid"/>
          </a:ln>
          <a:effectLst>
            <a:outerShdw sx="100000" sy="100000" kx="0" ky="0" algn="bl" rotWithShape="0" blurRad="76200" dist="25400" dir="5400000">
              <a:srgbClr val="000000">
                <a:alpha val="12000"/>
              </a:srgbClr>
            </a:outerShdw>
          </a:effectLst>
        </p:spPr>
      </p:sp>
      <p:sp>
        <p:nvSpPr>
          <p:cNvPr id="9" name="Shape 7"/>
          <p:cNvSpPr/>
          <p:nvPr/>
        </p:nvSpPr>
        <p:spPr>
          <a:xfrm>
            <a:off x="822960" y="2834640"/>
            <a:ext cx="640080" cy="640080"/>
          </a:xfrm>
          <a:prstGeom prst="ellipse">
            <a:avLst/>
          </a:prstGeom>
          <a:solidFill>
            <a:srgbClr val="3A3F73"/>
          </a:solidFill>
          <a:ln w="12700">
            <a:solidFill>
              <a:srgbClr val="3A3F73"/>
            </a:solidFill>
            <a:prstDash val="solid"/>
          </a:ln>
        </p:spPr>
      </p:sp>
      <p:pic>
        <p:nvPicPr>
          <p:cNvPr id="10" name="Image 0" descr="preencoded.png">    </p:cNvPr>
          <p:cNvPicPr>
            <a:picLocks noChangeAspect="1"/>
          </p:cNvPicPr>
          <p:nvPr/>
        </p:nvPicPr>
        <p:blipFill>
          <a:blip r:embed="rId1"/>
          <a:stretch>
            <a:fillRect/>
          </a:stretch>
        </p:blipFill>
        <p:spPr>
          <a:xfrm>
            <a:off x="989381" y="3001061"/>
            <a:ext cx="307238" cy="307238"/>
          </a:xfrm>
          <a:prstGeom prst="rect">
            <a:avLst/>
          </a:prstGeom>
        </p:spPr>
      </p:pic>
      <p:sp>
        <p:nvSpPr>
          <p:cNvPr id="11" name="Text 8"/>
          <p:cNvSpPr txBox="1"/>
          <p:nvPr/>
        </p:nvSpPr>
        <p:spPr>
          <a:xfrm>
            <a:off x="1600200" y="2834640"/>
            <a:ext cx="2280818" cy="640080"/>
          </a:xfrm>
          <a:prstGeom prst="rect">
            <a:avLst/>
          </a:prstGeom>
          <a:noFill/>
          <a:ln/>
        </p:spPr>
        <p:txBody>
          <a:bodyPr wrap="square" lIns="0" tIns="0" rIns="0" bIns="0" rtlCol="0" anchor="ctr"/>
          <a:lstStyle/>
          <a:p>
            <a:pPr indent="0" marL="0">
              <a:buNone/>
            </a:pPr>
            <a:r>
              <a:rPr lang="en-US" sz="1500" b="1" dirty="0">
                <a:solidFill>
                  <a:srgbClr val="3A3F73"/>
                </a:solidFill>
                <a:latin typeface="Meiryo UI" pitchFamily="34" charset="0"/>
                <a:ea typeface="Meiryo UI" pitchFamily="34" charset="-122"/>
                <a:cs typeface="Meiryo UI" pitchFamily="34" charset="-120"/>
              </a:rPr>
              <a:t>プッシュ｜紹介を“仕組み”にする</a:t>
            </a:r>
            <a:endParaRPr lang="en-US" sz="1500" dirty="0"/>
          </a:p>
        </p:txBody>
      </p:sp>
      <p:sp>
        <p:nvSpPr>
          <p:cNvPr id="12" name="Text 9"/>
          <p:cNvSpPr txBox="1"/>
          <p:nvPr/>
        </p:nvSpPr>
        <p:spPr>
          <a:xfrm>
            <a:off x="822960" y="3611880"/>
            <a:ext cx="2966618" cy="1188720"/>
          </a:xfrm>
          <a:prstGeom prst="rect">
            <a:avLst/>
          </a:prstGeom>
          <a:noFill/>
          <a:ln/>
        </p:spPr>
        <p:txBody>
          <a:bodyPr wrap="square" lIns="0" tIns="0" rIns="0" bIns="0" rtlCol="0" anchor="t"/>
          <a:lstStyle/>
          <a:p>
            <a:pPr indent="0" marL="0">
              <a:lnSpc>
                <a:spcPct val="115000"/>
              </a:lnSpc>
              <a:buNone/>
            </a:pPr>
            <a:r>
              <a:rPr lang="en-US" sz="1250" dirty="0">
                <a:solidFill>
                  <a:srgbClr val="2A2B38"/>
                </a:solidFill>
                <a:latin typeface="Meiryo UI" pitchFamily="34" charset="0"/>
                <a:ea typeface="Meiryo UI" pitchFamily="34" charset="-122"/>
                <a:cs typeface="Meiryo UI" pitchFamily="34" charset="-120"/>
              </a:rPr>
              <a:t>顧問先・紹介者に「紹介したくなる事務所紹介動画」を届け、面談前の送付も組み合わせて、紹介件数と面談化率を引き上げる。</a:t>
            </a:r>
            <a:endParaRPr lang="en-US" sz="1250" dirty="0"/>
          </a:p>
        </p:txBody>
      </p:sp>
      <p:sp>
        <p:nvSpPr>
          <p:cNvPr id="13" name="Shape 10"/>
          <p:cNvSpPr/>
          <p:nvPr/>
        </p:nvSpPr>
        <p:spPr>
          <a:xfrm>
            <a:off x="4338218" y="2606040"/>
            <a:ext cx="3515258" cy="2331720"/>
          </a:xfrm>
          <a:prstGeom prst="roundRect">
            <a:avLst>
              <a:gd name="adj" fmla="val 4706"/>
            </a:avLst>
          </a:prstGeom>
          <a:solidFill>
            <a:srgbClr val="FFFFFF"/>
          </a:solidFill>
          <a:ln w="12700">
            <a:solidFill>
              <a:srgbClr val="FFFFFF"/>
            </a:solidFill>
            <a:prstDash val="solid"/>
          </a:ln>
          <a:effectLst>
            <a:outerShdw sx="100000" sy="100000" kx="0" ky="0" algn="bl" rotWithShape="0" blurRad="76200" dist="25400" dir="5400000">
              <a:srgbClr val="000000">
                <a:alpha val="12000"/>
              </a:srgbClr>
            </a:outerShdw>
          </a:effectLst>
        </p:spPr>
      </p:sp>
      <p:sp>
        <p:nvSpPr>
          <p:cNvPr id="14" name="Shape 11"/>
          <p:cNvSpPr/>
          <p:nvPr/>
        </p:nvSpPr>
        <p:spPr>
          <a:xfrm>
            <a:off x="4612538" y="2834640"/>
            <a:ext cx="640080" cy="640080"/>
          </a:xfrm>
          <a:prstGeom prst="ellipse">
            <a:avLst/>
          </a:prstGeom>
          <a:solidFill>
            <a:srgbClr val="3A3F73"/>
          </a:solidFill>
          <a:ln w="12700">
            <a:solidFill>
              <a:srgbClr val="3A3F73"/>
            </a:solidFill>
            <a:prstDash val="solid"/>
          </a:ln>
        </p:spPr>
      </p:sp>
      <p:pic>
        <p:nvPicPr>
          <p:cNvPr id="15" name="Image 1" descr="preencoded.png">    </p:cNvPr>
          <p:cNvPicPr>
            <a:picLocks noChangeAspect="1"/>
          </p:cNvPicPr>
          <p:nvPr/>
        </p:nvPicPr>
        <p:blipFill>
          <a:blip r:embed="rId2"/>
          <a:stretch>
            <a:fillRect/>
          </a:stretch>
        </p:blipFill>
        <p:spPr>
          <a:xfrm>
            <a:off x="4778959" y="3001061"/>
            <a:ext cx="307238" cy="307238"/>
          </a:xfrm>
          <a:prstGeom prst="rect">
            <a:avLst/>
          </a:prstGeom>
        </p:spPr>
      </p:pic>
      <p:sp>
        <p:nvSpPr>
          <p:cNvPr id="16" name="Text 12"/>
          <p:cNvSpPr txBox="1"/>
          <p:nvPr/>
        </p:nvSpPr>
        <p:spPr>
          <a:xfrm>
            <a:off x="5389778" y="2834640"/>
            <a:ext cx="2280818" cy="640080"/>
          </a:xfrm>
          <a:prstGeom prst="rect">
            <a:avLst/>
          </a:prstGeom>
          <a:noFill/>
          <a:ln/>
        </p:spPr>
        <p:txBody>
          <a:bodyPr wrap="square" lIns="0" tIns="0" rIns="0" bIns="0" rtlCol="0" anchor="ctr"/>
          <a:lstStyle/>
          <a:p>
            <a:pPr indent="0" marL="0">
              <a:buNone/>
            </a:pPr>
            <a:r>
              <a:rPr lang="en-US" sz="1500" b="1" dirty="0">
                <a:solidFill>
                  <a:srgbClr val="3A3F73"/>
                </a:solidFill>
                <a:latin typeface="Meiryo UI" pitchFamily="34" charset="0"/>
                <a:ea typeface="Meiryo UI" pitchFamily="34" charset="-122"/>
                <a:cs typeface="Meiryo UI" pitchFamily="34" charset="-120"/>
              </a:rPr>
              <a:t>プル｜個人からの直接の相談</a:t>
            </a:r>
            <a:endParaRPr lang="en-US" sz="1500" dirty="0"/>
          </a:p>
        </p:txBody>
      </p:sp>
      <p:sp>
        <p:nvSpPr>
          <p:cNvPr id="17" name="Text 13"/>
          <p:cNvSpPr txBox="1"/>
          <p:nvPr/>
        </p:nvSpPr>
        <p:spPr>
          <a:xfrm>
            <a:off x="4612538" y="3611880"/>
            <a:ext cx="2966618" cy="1188720"/>
          </a:xfrm>
          <a:prstGeom prst="rect">
            <a:avLst/>
          </a:prstGeom>
          <a:noFill/>
          <a:ln/>
        </p:spPr>
        <p:txBody>
          <a:bodyPr wrap="square" lIns="0" tIns="0" rIns="0" bIns="0" rtlCol="0" anchor="t"/>
          <a:lstStyle/>
          <a:p>
            <a:pPr indent="0" marL="0">
              <a:lnSpc>
                <a:spcPct val="115000"/>
              </a:lnSpc>
              <a:buNone/>
            </a:pPr>
            <a:r>
              <a:rPr lang="en-US" sz="1250" dirty="0">
                <a:solidFill>
                  <a:srgbClr val="2A2B38"/>
                </a:solidFill>
                <a:latin typeface="Meiryo UI" pitchFamily="34" charset="0"/>
                <a:ea typeface="Meiryo UI" pitchFamily="34" charset="-122"/>
                <a:cs typeface="Meiryo UI" pitchFamily="34" charset="-120"/>
              </a:rPr>
              <a:t>YouTube／Instagram／TikTokで法人成り・相続・確定申告を分かりやすく解説し、HPからの問い合わせを生む導線をつくる。</a:t>
            </a:r>
            <a:endParaRPr lang="en-US" sz="1250" dirty="0"/>
          </a:p>
        </p:txBody>
      </p:sp>
      <p:sp>
        <p:nvSpPr>
          <p:cNvPr id="18" name="Shape 14"/>
          <p:cNvSpPr/>
          <p:nvPr/>
        </p:nvSpPr>
        <p:spPr>
          <a:xfrm>
            <a:off x="8127797" y="2606040"/>
            <a:ext cx="3515258" cy="2331720"/>
          </a:xfrm>
          <a:prstGeom prst="roundRect">
            <a:avLst>
              <a:gd name="adj" fmla="val 4706"/>
            </a:avLst>
          </a:prstGeom>
          <a:solidFill>
            <a:srgbClr val="FFFFFF"/>
          </a:solidFill>
          <a:ln w="12700">
            <a:solidFill>
              <a:srgbClr val="FFFFFF"/>
            </a:solidFill>
            <a:prstDash val="solid"/>
          </a:ln>
          <a:effectLst>
            <a:outerShdw sx="100000" sy="100000" kx="0" ky="0" algn="bl" rotWithShape="0" blurRad="76200" dist="25400" dir="5400000">
              <a:srgbClr val="000000">
                <a:alpha val="12000"/>
              </a:srgbClr>
            </a:outerShdw>
          </a:effectLst>
        </p:spPr>
      </p:sp>
      <p:sp>
        <p:nvSpPr>
          <p:cNvPr id="19" name="Shape 15"/>
          <p:cNvSpPr/>
          <p:nvPr/>
        </p:nvSpPr>
        <p:spPr>
          <a:xfrm>
            <a:off x="8402117" y="2834640"/>
            <a:ext cx="640080" cy="640080"/>
          </a:xfrm>
          <a:prstGeom prst="ellipse">
            <a:avLst/>
          </a:prstGeom>
          <a:solidFill>
            <a:srgbClr val="3A3F73"/>
          </a:solidFill>
          <a:ln w="12700">
            <a:solidFill>
              <a:srgbClr val="3A3F73"/>
            </a:solidFill>
            <a:prstDash val="solid"/>
          </a:ln>
        </p:spPr>
      </p:sp>
      <p:pic>
        <p:nvPicPr>
          <p:cNvPr id="20" name="Image 2" descr="preencoded.png">    </p:cNvPr>
          <p:cNvPicPr>
            <a:picLocks noChangeAspect="1"/>
          </p:cNvPicPr>
          <p:nvPr/>
        </p:nvPicPr>
        <p:blipFill>
          <a:blip r:embed="rId3"/>
          <a:stretch>
            <a:fillRect/>
          </a:stretch>
        </p:blipFill>
        <p:spPr>
          <a:xfrm>
            <a:off x="8568538" y="3001061"/>
            <a:ext cx="307238" cy="307238"/>
          </a:xfrm>
          <a:prstGeom prst="rect">
            <a:avLst/>
          </a:prstGeom>
        </p:spPr>
      </p:pic>
      <p:sp>
        <p:nvSpPr>
          <p:cNvPr id="21" name="Text 16"/>
          <p:cNvSpPr txBox="1"/>
          <p:nvPr/>
        </p:nvSpPr>
        <p:spPr>
          <a:xfrm>
            <a:off x="9179357" y="2834640"/>
            <a:ext cx="2280818" cy="640080"/>
          </a:xfrm>
          <a:prstGeom prst="rect">
            <a:avLst/>
          </a:prstGeom>
          <a:noFill/>
          <a:ln/>
        </p:spPr>
        <p:txBody>
          <a:bodyPr wrap="square" lIns="0" tIns="0" rIns="0" bIns="0" rtlCol="0" anchor="ctr"/>
          <a:lstStyle/>
          <a:p>
            <a:pPr indent="0" marL="0">
              <a:buNone/>
            </a:pPr>
            <a:r>
              <a:rPr lang="en-US" sz="1500" b="1" dirty="0">
                <a:solidFill>
                  <a:srgbClr val="3A3F73"/>
                </a:solidFill>
                <a:latin typeface="Meiryo UI" pitchFamily="34" charset="0"/>
                <a:ea typeface="Meiryo UI" pitchFamily="34" charset="-122"/>
                <a:cs typeface="Meiryo UI" pitchFamily="34" charset="-120"/>
              </a:rPr>
              <a:t>2フェーズの伴走</a:t>
            </a:r>
            <a:endParaRPr lang="en-US" sz="1500" dirty="0"/>
          </a:p>
        </p:txBody>
      </p:sp>
      <p:sp>
        <p:nvSpPr>
          <p:cNvPr id="22" name="Text 17"/>
          <p:cNvSpPr txBox="1"/>
          <p:nvPr/>
        </p:nvSpPr>
        <p:spPr>
          <a:xfrm>
            <a:off x="8402117" y="3611880"/>
            <a:ext cx="2966618" cy="1188720"/>
          </a:xfrm>
          <a:prstGeom prst="rect">
            <a:avLst/>
          </a:prstGeom>
          <a:noFill/>
          <a:ln/>
        </p:spPr>
        <p:txBody>
          <a:bodyPr wrap="square" lIns="0" tIns="0" rIns="0" bIns="0" rtlCol="0" anchor="t"/>
          <a:lstStyle/>
          <a:p>
            <a:pPr indent="0" marL="0">
              <a:lnSpc>
                <a:spcPct val="115000"/>
              </a:lnSpc>
              <a:buNone/>
            </a:pPr>
            <a:r>
              <a:rPr lang="en-US" sz="1250" dirty="0">
                <a:solidFill>
                  <a:srgbClr val="2A2B38"/>
                </a:solidFill>
                <a:latin typeface="Meiryo UI" pitchFamily="34" charset="0"/>
                <a:ea typeface="Meiryo UI" pitchFamily="34" charset="-122"/>
                <a:cs typeface="Meiryo UI" pitchFamily="34" charset="-120"/>
              </a:rPr>
              <a:t>無料3本は効果検証のためのプロトタイプ。検証結果をそのまま有料伴走へ引き継ぎ、Web強化・運用の人手まで一気通貫で支援する。</a:t>
            </a:r>
            <a:endParaRPr lang="en-US" sz="1250" dirty="0"/>
          </a:p>
        </p:txBody>
      </p:sp>
      <p:sp>
        <p:nvSpPr>
          <p:cNvPr id="23" name="Text 18"/>
          <p:cNvSpPr txBox="1"/>
          <p:nvPr/>
        </p:nvSpPr>
        <p:spPr>
          <a:xfrm>
            <a:off x="548640" y="5193792"/>
            <a:ext cx="2743200" cy="320040"/>
          </a:xfrm>
          <a:prstGeom prst="rect">
            <a:avLst/>
          </a:prstGeom>
          <a:noFill/>
          <a:ln/>
        </p:spPr>
        <p:txBody>
          <a:bodyPr wrap="square" lIns="0" tIns="0" rIns="0" bIns="0" rtlCol="0" anchor="t"/>
          <a:lstStyle/>
          <a:p>
            <a:pPr indent="0" marL="0">
              <a:buNone/>
            </a:pPr>
            <a:r>
              <a:rPr lang="en-US" sz="1300" b="1" dirty="0">
                <a:solidFill>
                  <a:srgbClr val="A87A1C"/>
                </a:solidFill>
                <a:latin typeface="Meiryo UI" pitchFamily="34" charset="0"/>
                <a:ea typeface="Meiryo UI" pitchFamily="34" charset="-122"/>
                <a:cs typeface="Meiryo UI" pitchFamily="34" charset="-120"/>
              </a:rPr>
              <a:t>12ヶ月後のゴール</a:t>
            </a:r>
            <a:endParaRPr lang="en-US" sz="1300" dirty="0"/>
          </a:p>
        </p:txBody>
      </p:sp>
      <p:sp>
        <p:nvSpPr>
          <p:cNvPr id="24" name="Shape 19"/>
          <p:cNvSpPr/>
          <p:nvPr/>
        </p:nvSpPr>
        <p:spPr>
          <a:xfrm>
            <a:off x="548640" y="5577840"/>
            <a:ext cx="365760" cy="365760"/>
          </a:xfrm>
          <a:prstGeom prst="ellipse">
            <a:avLst/>
          </a:prstGeom>
          <a:solidFill>
            <a:srgbClr val="FBF3E1"/>
          </a:solidFill>
          <a:ln w="12700">
            <a:solidFill>
              <a:srgbClr val="FBF3E1"/>
            </a:solidFill>
            <a:prstDash val="solid"/>
          </a:ln>
        </p:spPr>
      </p:sp>
      <p:pic>
        <p:nvPicPr>
          <p:cNvPr id="25" name="Image 3" descr="preencoded.png">    </p:cNvPr>
          <p:cNvPicPr>
            <a:picLocks noChangeAspect="1"/>
          </p:cNvPicPr>
          <p:nvPr/>
        </p:nvPicPr>
        <p:blipFill>
          <a:blip r:embed="rId4"/>
          <a:stretch>
            <a:fillRect/>
          </a:stretch>
        </p:blipFill>
        <p:spPr>
          <a:xfrm>
            <a:off x="643738" y="5672938"/>
            <a:ext cx="175565" cy="175565"/>
          </a:xfrm>
          <a:prstGeom prst="rect">
            <a:avLst/>
          </a:prstGeom>
        </p:spPr>
      </p:pic>
      <p:sp>
        <p:nvSpPr>
          <p:cNvPr id="26" name="Text 20"/>
          <p:cNvSpPr txBox="1"/>
          <p:nvPr/>
        </p:nvSpPr>
        <p:spPr>
          <a:xfrm>
            <a:off x="1024128" y="5532120"/>
            <a:ext cx="3012338" cy="548640"/>
          </a:xfrm>
          <a:prstGeom prst="rect">
            <a:avLst/>
          </a:prstGeom>
          <a:noFill/>
          <a:ln/>
        </p:spPr>
        <p:txBody>
          <a:bodyPr wrap="square" lIns="0" tIns="0" rIns="0" bIns="0" rtlCol="0" anchor="ctr"/>
          <a:lstStyle/>
          <a:p>
            <a:pPr indent="0" marL="0">
              <a:buNone/>
            </a:pPr>
            <a:r>
              <a:rPr lang="en-US" sz="1200" dirty="0">
                <a:solidFill>
                  <a:srgbClr val="2A2B38"/>
                </a:solidFill>
                <a:latin typeface="Meiryo UI" pitchFamily="34" charset="0"/>
                <a:ea typeface="Meiryo UI" pitchFamily="34" charset="-122"/>
                <a:cs typeface="Meiryo UI" pitchFamily="34" charset="-120"/>
              </a:rPr>
              <a:t>HPから個人のお客様の問い合わせが毎月届いている</a:t>
            </a:r>
            <a:endParaRPr lang="en-US" sz="1200" dirty="0"/>
          </a:p>
        </p:txBody>
      </p:sp>
      <p:sp>
        <p:nvSpPr>
          <p:cNvPr id="27" name="Shape 21"/>
          <p:cNvSpPr/>
          <p:nvPr/>
        </p:nvSpPr>
        <p:spPr>
          <a:xfrm>
            <a:off x="4338218" y="5577840"/>
            <a:ext cx="365760" cy="365760"/>
          </a:xfrm>
          <a:prstGeom prst="ellipse">
            <a:avLst/>
          </a:prstGeom>
          <a:solidFill>
            <a:srgbClr val="FBF3E1"/>
          </a:solidFill>
          <a:ln w="12700">
            <a:solidFill>
              <a:srgbClr val="FBF3E1"/>
            </a:solidFill>
            <a:prstDash val="solid"/>
          </a:ln>
        </p:spPr>
      </p:sp>
      <p:pic>
        <p:nvPicPr>
          <p:cNvPr id="28" name="Image 4" descr="preencoded.png">    </p:cNvPr>
          <p:cNvPicPr>
            <a:picLocks noChangeAspect="1"/>
          </p:cNvPicPr>
          <p:nvPr/>
        </p:nvPicPr>
        <p:blipFill>
          <a:blip r:embed="rId5"/>
          <a:stretch>
            <a:fillRect/>
          </a:stretch>
        </p:blipFill>
        <p:spPr>
          <a:xfrm>
            <a:off x="4433316" y="5672938"/>
            <a:ext cx="175565" cy="175565"/>
          </a:xfrm>
          <a:prstGeom prst="rect">
            <a:avLst/>
          </a:prstGeom>
        </p:spPr>
      </p:pic>
      <p:sp>
        <p:nvSpPr>
          <p:cNvPr id="29" name="Text 22"/>
          <p:cNvSpPr txBox="1"/>
          <p:nvPr/>
        </p:nvSpPr>
        <p:spPr>
          <a:xfrm>
            <a:off x="4813706" y="5532120"/>
            <a:ext cx="3012338" cy="548640"/>
          </a:xfrm>
          <a:prstGeom prst="rect">
            <a:avLst/>
          </a:prstGeom>
          <a:noFill/>
          <a:ln/>
        </p:spPr>
        <p:txBody>
          <a:bodyPr wrap="square" lIns="0" tIns="0" rIns="0" bIns="0" rtlCol="0" anchor="ctr"/>
          <a:lstStyle/>
          <a:p>
            <a:pPr indent="0" marL="0">
              <a:buNone/>
            </a:pPr>
            <a:r>
              <a:rPr lang="en-US" sz="1200" dirty="0">
                <a:solidFill>
                  <a:srgbClr val="2A2B38"/>
                </a:solidFill>
                <a:latin typeface="Meiryo UI" pitchFamily="34" charset="0"/>
                <a:ea typeface="Meiryo UI" pitchFamily="34" charset="-122"/>
                <a:cs typeface="Meiryo UI" pitchFamily="34" charset="-120"/>
              </a:rPr>
              <a:t>顧問先が事務所の良さを“動画で”紹介してくれている</a:t>
            </a:r>
            <a:endParaRPr lang="en-US" sz="1200" dirty="0"/>
          </a:p>
        </p:txBody>
      </p:sp>
      <p:sp>
        <p:nvSpPr>
          <p:cNvPr id="30" name="Shape 23"/>
          <p:cNvSpPr/>
          <p:nvPr/>
        </p:nvSpPr>
        <p:spPr>
          <a:xfrm>
            <a:off x="8127797" y="5577840"/>
            <a:ext cx="365760" cy="365760"/>
          </a:xfrm>
          <a:prstGeom prst="ellipse">
            <a:avLst/>
          </a:prstGeom>
          <a:solidFill>
            <a:srgbClr val="FBF3E1"/>
          </a:solidFill>
          <a:ln w="12700">
            <a:solidFill>
              <a:srgbClr val="FBF3E1"/>
            </a:solidFill>
            <a:prstDash val="solid"/>
          </a:ln>
        </p:spPr>
      </p:sp>
      <p:pic>
        <p:nvPicPr>
          <p:cNvPr id="31" name="Image 5" descr="preencoded.png">    </p:cNvPr>
          <p:cNvPicPr>
            <a:picLocks noChangeAspect="1"/>
          </p:cNvPicPr>
          <p:nvPr/>
        </p:nvPicPr>
        <p:blipFill>
          <a:blip r:embed="rId6"/>
          <a:stretch>
            <a:fillRect/>
          </a:stretch>
        </p:blipFill>
        <p:spPr>
          <a:xfrm>
            <a:off x="8222894" y="5672938"/>
            <a:ext cx="175565" cy="175565"/>
          </a:xfrm>
          <a:prstGeom prst="rect">
            <a:avLst/>
          </a:prstGeom>
        </p:spPr>
      </p:pic>
      <p:sp>
        <p:nvSpPr>
          <p:cNvPr id="32" name="Text 24"/>
          <p:cNvSpPr txBox="1"/>
          <p:nvPr/>
        </p:nvSpPr>
        <p:spPr>
          <a:xfrm>
            <a:off x="8603285" y="5532120"/>
            <a:ext cx="3012338" cy="548640"/>
          </a:xfrm>
          <a:prstGeom prst="rect">
            <a:avLst/>
          </a:prstGeom>
          <a:noFill/>
          <a:ln/>
        </p:spPr>
        <p:txBody>
          <a:bodyPr wrap="square" lIns="0" tIns="0" rIns="0" bIns="0" rtlCol="0" anchor="ctr"/>
          <a:lstStyle/>
          <a:p>
            <a:pPr indent="0" marL="0">
              <a:buNone/>
            </a:pPr>
            <a:r>
              <a:rPr lang="en-US" sz="1200" dirty="0">
                <a:solidFill>
                  <a:srgbClr val="2A2B38"/>
                </a:solidFill>
                <a:latin typeface="Meiryo UI" pitchFamily="34" charset="0"/>
                <a:ea typeface="Meiryo UI" pitchFamily="34" charset="-122"/>
                <a:cs typeface="Meiryo UI" pitchFamily="34" charset="-120"/>
              </a:rPr>
              <a:t>繁忙期でも発信が止まらない、手のかからない仕組みがある</a:t>
            </a:r>
            <a:endParaRPr lang="en-US" sz="1200" dirty="0"/>
          </a:p>
        </p:txBody>
      </p:sp>
    </p:spTree>
  </p:cSld>
  <p:clrMapOvr>
    <a:masterClrMapping/>
  </p:clrMapOvr>
</p:sld>
</file>

<file path=ppt/slides/slide3.xml><?xml version="1.0" encoding="utf-8"?>
<p:sld xmlns:a="http://schemas.openxmlformats.org/drawingml/2006/main" xmlns:r="http://schemas.openxmlformats.org/officeDocument/2006/relationships" xmlns:p="http://schemas.openxmlformats.org/presentationml/2006/main">
  <p:cSld name="Slide 3">
    <p:bg>
      <p:bgPr>
        <a:solidFill>
          <a:srgbClr val="FFFFFF"/>
        </a:solidFill>
      </p:bgPr>
    </p:bg>
    <p:spTree>
      <p:nvGrpSpPr>
        <p:cNvPr id="1" name=""/>
        <p:cNvGrpSpPr/>
        <p:nvPr/>
      </p:nvGrpSpPr>
      <p:grpSpPr>
        <a:xfrm>
          <a:off x="0" y="0"/>
          <a:ext cx="0" cy="0"/>
          <a:chOff x="0" y="0"/>
          <a:chExt cx="0" cy="0"/>
        </a:xfrm>
      </p:grpSpPr>
      <p:sp>
        <p:nvSpPr>
          <p:cNvPr id="2" name="Text 0"/>
          <p:cNvSpPr txBox="1"/>
          <p:nvPr/>
        </p:nvSpPr>
        <p:spPr>
          <a:xfrm>
            <a:off x="548640" y="347472"/>
            <a:ext cx="7315200" cy="274320"/>
          </a:xfrm>
          <a:prstGeom prst="rect">
            <a:avLst/>
          </a:prstGeom>
          <a:noFill/>
          <a:ln/>
        </p:spPr>
        <p:txBody>
          <a:bodyPr wrap="square" lIns="0" tIns="0" rIns="0" bIns="0" rtlCol="0" anchor="t"/>
          <a:lstStyle/>
          <a:p>
            <a:pPr indent="0" marL="0">
              <a:buNone/>
            </a:pPr>
            <a:r>
              <a:rPr lang="en-US" sz="1100" b="1" spc="200" kern="0" dirty="0">
                <a:solidFill>
                  <a:srgbClr val="A87A1C"/>
                </a:solidFill>
                <a:latin typeface="Meiryo UI" pitchFamily="34" charset="0"/>
                <a:ea typeface="Meiryo UI" pitchFamily="34" charset="-122"/>
                <a:cs typeface="Meiryo UI" pitchFamily="34" charset="-120"/>
              </a:rPr>
              <a:t>01｜RECAP</a:t>
            </a:r>
            <a:endParaRPr lang="en-US" sz="1100" dirty="0"/>
          </a:p>
        </p:txBody>
      </p:sp>
      <p:sp>
        <p:nvSpPr>
          <p:cNvPr id="3" name="Text 1"/>
          <p:cNvSpPr txBox="1"/>
          <p:nvPr/>
        </p:nvSpPr>
        <p:spPr>
          <a:xfrm>
            <a:off x="548640" y="621792"/>
            <a:ext cx="11094415" cy="566928"/>
          </a:xfrm>
          <a:prstGeom prst="rect">
            <a:avLst/>
          </a:prstGeom>
          <a:noFill/>
          <a:ln/>
        </p:spPr>
        <p:txBody>
          <a:bodyPr wrap="square" lIns="0" tIns="0" rIns="0" bIns="0" rtlCol="0" anchor="ctr"/>
          <a:lstStyle/>
          <a:p>
            <a:pPr indent="0" marL="0">
              <a:buNone/>
            </a:pPr>
            <a:r>
              <a:rPr lang="en-US" sz="2600" b="1" dirty="0">
                <a:solidFill>
                  <a:srgbClr val="3A3F73"/>
                </a:solidFill>
                <a:latin typeface="Meiryo UI" pitchFamily="34" charset="0"/>
                <a:ea typeface="Meiryo UI" pitchFamily="34" charset="-122"/>
                <a:cs typeface="Meiryo UI" pitchFamily="34" charset="-120"/>
              </a:rPr>
              <a:t>前回お打ち合わせの振り返り</a:t>
            </a:r>
            <a:endParaRPr lang="en-US" sz="2600" dirty="0"/>
          </a:p>
        </p:txBody>
      </p:sp>
      <p:sp>
        <p:nvSpPr>
          <p:cNvPr id="4" name="Text 2"/>
          <p:cNvSpPr txBox="1"/>
          <p:nvPr/>
        </p:nvSpPr>
        <p:spPr>
          <a:xfrm>
            <a:off x="11094415" y="6419088"/>
            <a:ext cx="548640" cy="256032"/>
          </a:xfrm>
          <a:prstGeom prst="rect">
            <a:avLst/>
          </a:prstGeom>
          <a:noFill/>
          <a:ln/>
        </p:spPr>
        <p:txBody>
          <a:bodyPr wrap="square" lIns="0" tIns="0" rIns="0" bIns="0" rtlCol="0" anchor="t"/>
          <a:lstStyle/>
          <a:p>
            <a:pPr algn="r" indent="0" marL="0">
              <a:buNone/>
            </a:pPr>
            <a:r>
              <a:rPr lang="en-US" sz="1000" dirty="0">
                <a:solidFill>
                  <a:srgbClr val="7C7E90"/>
                </a:solidFill>
                <a:latin typeface="Meiryo UI" pitchFamily="34" charset="0"/>
                <a:ea typeface="Meiryo UI" pitchFamily="34" charset="-122"/>
                <a:cs typeface="Meiryo UI" pitchFamily="34" charset="-120"/>
              </a:rPr>
              <a:t>3</a:t>
            </a:r>
            <a:endParaRPr lang="en-US" sz="1000" dirty="0"/>
          </a:p>
        </p:txBody>
      </p:sp>
      <p:sp>
        <p:nvSpPr>
          <p:cNvPr id="5" name="Text 3"/>
          <p:cNvSpPr txBox="1"/>
          <p:nvPr/>
        </p:nvSpPr>
        <p:spPr>
          <a:xfrm>
            <a:off x="548640" y="6419088"/>
            <a:ext cx="4572000" cy="256032"/>
          </a:xfrm>
          <a:prstGeom prst="rect">
            <a:avLst/>
          </a:prstGeom>
          <a:noFill/>
          <a:ln/>
        </p:spPr>
        <p:txBody>
          <a:bodyPr wrap="square" lIns="0" tIns="0" rIns="0" bIns="0" rtlCol="0" anchor="t"/>
          <a:lstStyle/>
          <a:p>
            <a:pPr indent="0" marL="0">
              <a:buNone/>
            </a:pPr>
            <a:r>
              <a:rPr lang="en-US" sz="900" dirty="0">
                <a:solidFill>
                  <a:srgbClr val="7C7E90"/>
                </a:solidFill>
                <a:latin typeface="Meiryo UI" pitchFamily="34" charset="0"/>
                <a:ea typeface="Meiryo UI" pitchFamily="34" charset="-122"/>
                <a:cs typeface="Meiryo UI" pitchFamily="34" charset="-120"/>
              </a:rPr>
              <a:t>株式会社アイドマ・ホールディングス｜MiTok</a:t>
            </a:r>
            <a:endParaRPr lang="en-US" sz="900" dirty="0"/>
          </a:p>
        </p:txBody>
      </p:sp>
      <p:graphicFrame>
        <p:nvGraphicFramePr>
          <p:cNvPr id="4" name="Table 0"/>
          <p:cNvGraphicFramePr>
            <a:graphicFrameLocks noGrp="1"/>
          </p:cNvGraphicFramePr>
          <p:nvPr>
            <p:extLst>
              <p:ext uri="{D42A27DB-BD31-4B8C-83A1-F6EECF244321}">
                <p14:modId xmlns:p14="http://schemas.microsoft.com/office/powerpoint/2010/main" val="1579011935"/>
              </p:ext>
            </p:extLst>
          </p:nvPr>
        </p:nvGraphicFramePr>
        <p:xfrm>
          <a:off x="548640" y="1463040"/>
          <a:ext cx="7498080" cy="914400"/>
        </p:xfrm>
        <a:graphic>
          <a:graphicData uri="http://schemas.openxmlformats.org/drawingml/2006/table">
            <a:tbl>
              <a:tblPr/>
              <a:tblGrid>
                <a:gridCol w="1737360"/>
                <a:gridCol w="5760720"/>
              </a:tblGrid>
              <a:tr h="585216">
                <a:tc>
                  <a:txBody>
                    <a:bodyPr/>
                    <a:lstStyle/>
                    <a:p>
                      <a:pPr indent="0" marL="0">
                        <a:buNone/>
                      </a:pPr>
                      <a:r>
                        <a:rPr lang="en-US" sz="1200" b="1" dirty="0">
                          <a:solidFill>
                            <a:srgbClr val="FFFFFF"/>
                          </a:solidFill>
                          <a:latin typeface="Meiryo UI" pitchFamily="34" charset="0"/>
                          <a:ea typeface="Meiryo UI" pitchFamily="34" charset="-122"/>
                          <a:cs typeface="Meiryo UI" pitchFamily="34" charset="-120"/>
                        </a:rPr>
                        <a:t>項目</a:t>
                      </a:r>
                      <a:endParaRPr lang="en-US" sz="1200" dirty="0">
                        <a:latin typeface="Meiryo UI" charset="0"/>
                        <a:ea typeface="Meiryo UI" charset="0"/>
                        <a:cs typeface="Meiryo UI" charset="0"/>
                      </a:endParaRPr>
                    </a:p>
                  </a:txBody>
                  <a:tcPr marL="91440" marR="91440" marT="45720" marB="45720" anchor="ctr">
                    <a:lnL w="9525" cap="flat" cmpd="sng" algn="ctr">
                      <a:solidFill>
                        <a:srgbClr val="D9DBEA"/>
                      </a:solidFill>
                      <a:prstDash val="solid"/>
                      <a:round/>
                      <a:headEnd type="none" w="med" len="med"/>
                      <a:tailEnd type="none" w="med" len="med"/>
                    </a:lnL>
                    <a:lnR w="9525" cap="flat" cmpd="sng" algn="ctr">
                      <a:solidFill>
                        <a:srgbClr val="D9DBEA"/>
                      </a:solidFill>
                      <a:prstDash val="solid"/>
                      <a:round/>
                      <a:headEnd type="none" w="med" len="med"/>
                      <a:tailEnd type="none" w="med" len="med"/>
                    </a:lnR>
                    <a:lnT w="9525" cap="flat" cmpd="sng" algn="ctr">
                      <a:solidFill>
                        <a:srgbClr val="D9DBEA"/>
                      </a:solidFill>
                      <a:prstDash val="solid"/>
                      <a:round/>
                      <a:headEnd type="none" w="med" len="med"/>
                      <a:tailEnd type="none" w="med" len="med"/>
                    </a:lnT>
                    <a:lnB w="9525" cap="flat" cmpd="sng" algn="ctr">
                      <a:solidFill>
                        <a:srgbClr val="D9DBEA"/>
                      </a:solidFill>
                      <a:prstDash val="solid"/>
                      <a:round/>
                      <a:headEnd type="none" w="med" len="med"/>
                      <a:tailEnd type="none" w="med" len="med"/>
                    </a:lnB>
                    <a:solidFill>
                      <a:srgbClr val="3A3F73"/>
                    </a:solidFill>
                  </a:tcPr>
                </a:tc>
                <a:tc>
                  <a:txBody>
                    <a:bodyPr/>
                    <a:lstStyle/>
                    <a:p>
                      <a:pPr indent="0" marL="0">
                        <a:buNone/>
                      </a:pPr>
                      <a:r>
                        <a:rPr lang="en-US" sz="1200" b="1" dirty="0">
                          <a:solidFill>
                            <a:srgbClr val="FFFFFF"/>
                          </a:solidFill>
                          <a:latin typeface="Meiryo UI" pitchFamily="34" charset="0"/>
                          <a:ea typeface="Meiryo UI" pitchFamily="34" charset="-122"/>
                          <a:cs typeface="Meiryo UI" pitchFamily="34" charset="-120"/>
                        </a:rPr>
                        <a:t>確認内容</a:t>
                      </a:r>
                      <a:endParaRPr lang="en-US" sz="1200" dirty="0">
                        <a:latin typeface="Meiryo UI" charset="0"/>
                        <a:ea typeface="Meiryo UI" charset="0"/>
                        <a:cs typeface="Meiryo UI" charset="0"/>
                      </a:endParaRPr>
                    </a:p>
                  </a:txBody>
                  <a:tcPr marL="91440" marR="91440" marT="45720" marB="45720" anchor="ctr">
                    <a:lnL w="9525" cap="flat" cmpd="sng" algn="ctr">
                      <a:solidFill>
                        <a:srgbClr val="D9DBEA"/>
                      </a:solidFill>
                      <a:prstDash val="solid"/>
                      <a:round/>
                      <a:headEnd type="none" w="med" len="med"/>
                      <a:tailEnd type="none" w="med" len="med"/>
                    </a:lnL>
                    <a:lnR w="9525" cap="flat" cmpd="sng" algn="ctr">
                      <a:solidFill>
                        <a:srgbClr val="D9DBEA"/>
                      </a:solidFill>
                      <a:prstDash val="solid"/>
                      <a:round/>
                      <a:headEnd type="none" w="med" len="med"/>
                      <a:tailEnd type="none" w="med" len="med"/>
                    </a:lnR>
                    <a:lnT w="9525" cap="flat" cmpd="sng" algn="ctr">
                      <a:solidFill>
                        <a:srgbClr val="D9DBEA"/>
                      </a:solidFill>
                      <a:prstDash val="solid"/>
                      <a:round/>
                      <a:headEnd type="none" w="med" len="med"/>
                      <a:tailEnd type="none" w="med" len="med"/>
                    </a:lnT>
                    <a:lnB w="9525" cap="flat" cmpd="sng" algn="ctr">
                      <a:solidFill>
                        <a:srgbClr val="D9DBEA"/>
                      </a:solidFill>
                      <a:prstDash val="solid"/>
                      <a:round/>
                      <a:headEnd type="none" w="med" len="med"/>
                      <a:tailEnd type="none" w="med" len="med"/>
                    </a:lnB>
                    <a:solidFill>
                      <a:srgbClr val="3A3F73"/>
                    </a:solidFill>
                  </a:tcPr>
                </a:tc>
              </a:tr>
              <a:tr h="585216">
                <a:tc>
                  <a:txBody>
                    <a:bodyPr/>
                    <a:lstStyle/>
                    <a:p>
                      <a:pPr indent="0" marL="0">
                        <a:buNone/>
                      </a:pPr>
                      <a:r>
                        <a:rPr lang="en-US" sz="1150" b="1" dirty="0">
                          <a:solidFill>
                            <a:srgbClr val="3A3F73"/>
                          </a:solidFill>
                          <a:latin typeface="Meiryo UI" pitchFamily="34" charset="0"/>
                          <a:ea typeface="Meiryo UI" pitchFamily="34" charset="-122"/>
                          <a:cs typeface="Meiryo UI" pitchFamily="34" charset="-120"/>
                        </a:rPr>
                        <a:t>事業</a:t>
                      </a:r>
                      <a:endParaRPr lang="en-US" sz="1150" dirty="0">
                        <a:latin typeface="Meiryo UI" charset="0"/>
                        <a:ea typeface="Meiryo UI" charset="0"/>
                        <a:cs typeface="Meiryo UI" charset="0"/>
                      </a:endParaRPr>
                    </a:p>
                  </a:txBody>
                  <a:tcPr marL="91440" marR="91440" marT="45720" marB="45720" anchor="ctr">
                    <a:lnL w="9525" cap="flat" cmpd="sng" algn="ctr">
                      <a:solidFill>
                        <a:srgbClr val="D9DBEA"/>
                      </a:solidFill>
                      <a:prstDash val="solid"/>
                      <a:round/>
                      <a:headEnd type="none" w="med" len="med"/>
                      <a:tailEnd type="none" w="med" len="med"/>
                    </a:lnL>
                    <a:lnR w="9525" cap="flat" cmpd="sng" algn="ctr">
                      <a:solidFill>
                        <a:srgbClr val="D9DBEA"/>
                      </a:solidFill>
                      <a:prstDash val="solid"/>
                      <a:round/>
                      <a:headEnd type="none" w="med" len="med"/>
                      <a:tailEnd type="none" w="med" len="med"/>
                    </a:lnR>
                    <a:lnT w="9525" cap="flat" cmpd="sng" algn="ctr">
                      <a:solidFill>
                        <a:srgbClr val="D9DBEA"/>
                      </a:solidFill>
                      <a:prstDash val="solid"/>
                      <a:round/>
                      <a:headEnd type="none" w="med" len="med"/>
                      <a:tailEnd type="none" w="med" len="med"/>
                    </a:lnT>
                    <a:lnB w="9525" cap="flat" cmpd="sng" algn="ctr">
                      <a:solidFill>
                        <a:srgbClr val="D9DBEA"/>
                      </a:solidFill>
                      <a:prstDash val="solid"/>
                      <a:round/>
                      <a:headEnd type="none" w="med" len="med"/>
                      <a:tailEnd type="none" w="med" len="med"/>
                    </a:lnB>
                    <a:solidFill>
                      <a:srgbClr val="FFFFFF"/>
                    </a:solidFill>
                  </a:tcPr>
                </a:tc>
                <a:tc>
                  <a:txBody>
                    <a:bodyPr/>
                    <a:lstStyle/>
                    <a:p>
                      <a:pPr indent="0" marL="0">
                        <a:buNone/>
                      </a:pPr>
                      <a:r>
                        <a:rPr lang="en-US" sz="1150" dirty="0">
                          <a:solidFill>
                            <a:srgbClr val="2A2B38"/>
                          </a:solidFill>
                          <a:latin typeface="Meiryo UI" pitchFamily="34" charset="0"/>
                          <a:ea typeface="Meiryo UI" pitchFamily="34" charset="-122"/>
                          <a:cs typeface="Meiryo UI" pitchFamily="34" charset="-120"/>
                        </a:rPr>
                        <a:t>会計・税務を中心とした法人・個人向けのサービス（法人設立など）</a:t>
                      </a:r>
                      <a:endParaRPr lang="en-US" sz="1150" dirty="0">
                        <a:latin typeface="Meiryo UI" charset="0"/>
                        <a:ea typeface="Meiryo UI" charset="0"/>
                        <a:cs typeface="Meiryo UI" charset="0"/>
                      </a:endParaRPr>
                    </a:p>
                  </a:txBody>
                  <a:tcPr marL="91440" marR="91440" marT="45720" marB="45720" anchor="ctr">
                    <a:lnL w="9525" cap="flat" cmpd="sng" algn="ctr">
                      <a:solidFill>
                        <a:srgbClr val="D9DBEA"/>
                      </a:solidFill>
                      <a:prstDash val="solid"/>
                      <a:round/>
                      <a:headEnd type="none" w="med" len="med"/>
                      <a:tailEnd type="none" w="med" len="med"/>
                    </a:lnL>
                    <a:lnR w="9525" cap="flat" cmpd="sng" algn="ctr">
                      <a:solidFill>
                        <a:srgbClr val="D9DBEA"/>
                      </a:solidFill>
                      <a:prstDash val="solid"/>
                      <a:round/>
                      <a:headEnd type="none" w="med" len="med"/>
                      <a:tailEnd type="none" w="med" len="med"/>
                    </a:lnR>
                    <a:lnT w="9525" cap="flat" cmpd="sng" algn="ctr">
                      <a:solidFill>
                        <a:srgbClr val="D9DBEA"/>
                      </a:solidFill>
                      <a:prstDash val="solid"/>
                      <a:round/>
                      <a:headEnd type="none" w="med" len="med"/>
                      <a:tailEnd type="none" w="med" len="med"/>
                    </a:lnT>
                    <a:lnB w="9525" cap="flat" cmpd="sng" algn="ctr">
                      <a:solidFill>
                        <a:srgbClr val="D9DBEA"/>
                      </a:solidFill>
                      <a:prstDash val="solid"/>
                      <a:round/>
                      <a:headEnd type="none" w="med" len="med"/>
                      <a:tailEnd type="none" w="med" len="med"/>
                    </a:lnB>
                    <a:solidFill>
                      <a:srgbClr val="FFFFFF"/>
                    </a:solidFill>
                  </a:tcPr>
                </a:tc>
              </a:tr>
              <a:tr h="585216">
                <a:tc>
                  <a:txBody>
                    <a:bodyPr/>
                    <a:lstStyle/>
                    <a:p>
                      <a:pPr indent="0" marL="0">
                        <a:buNone/>
                      </a:pPr>
                      <a:r>
                        <a:rPr lang="en-US" sz="1150" b="1" dirty="0">
                          <a:solidFill>
                            <a:srgbClr val="3A3F73"/>
                          </a:solidFill>
                          <a:latin typeface="Meiryo UI" pitchFamily="34" charset="0"/>
                          <a:ea typeface="Meiryo UI" pitchFamily="34" charset="-122"/>
                          <a:cs typeface="Meiryo UI" pitchFamily="34" charset="-120"/>
                        </a:rPr>
                        <a:t>強み</a:t>
                      </a:r>
                      <a:endParaRPr lang="en-US" sz="1150" dirty="0">
                        <a:latin typeface="Meiryo UI" charset="0"/>
                        <a:ea typeface="Meiryo UI" charset="0"/>
                        <a:cs typeface="Meiryo UI" charset="0"/>
                      </a:endParaRPr>
                    </a:p>
                  </a:txBody>
                  <a:tcPr marL="91440" marR="91440" marT="45720" marB="45720" anchor="ctr">
                    <a:lnL w="9525" cap="flat" cmpd="sng" algn="ctr">
                      <a:solidFill>
                        <a:srgbClr val="D9DBEA"/>
                      </a:solidFill>
                      <a:prstDash val="solid"/>
                      <a:round/>
                      <a:headEnd type="none" w="med" len="med"/>
                      <a:tailEnd type="none" w="med" len="med"/>
                    </a:lnL>
                    <a:lnR w="9525" cap="flat" cmpd="sng" algn="ctr">
                      <a:solidFill>
                        <a:srgbClr val="D9DBEA"/>
                      </a:solidFill>
                      <a:prstDash val="solid"/>
                      <a:round/>
                      <a:headEnd type="none" w="med" len="med"/>
                      <a:tailEnd type="none" w="med" len="med"/>
                    </a:lnR>
                    <a:lnT w="9525" cap="flat" cmpd="sng" algn="ctr">
                      <a:solidFill>
                        <a:srgbClr val="D9DBEA"/>
                      </a:solidFill>
                      <a:prstDash val="solid"/>
                      <a:round/>
                      <a:headEnd type="none" w="med" len="med"/>
                      <a:tailEnd type="none" w="med" len="med"/>
                    </a:lnT>
                    <a:lnB w="9525" cap="flat" cmpd="sng" algn="ctr">
                      <a:solidFill>
                        <a:srgbClr val="D9DBEA"/>
                      </a:solidFill>
                      <a:prstDash val="solid"/>
                      <a:round/>
                      <a:headEnd type="none" w="med" len="med"/>
                      <a:tailEnd type="none" w="med" len="med"/>
                    </a:lnB>
                    <a:solidFill>
                      <a:srgbClr val="F6F7FB"/>
                    </a:solidFill>
                  </a:tcPr>
                </a:tc>
                <a:tc>
                  <a:txBody>
                    <a:bodyPr/>
                    <a:lstStyle/>
                    <a:p>
                      <a:pPr indent="0" marL="0">
                        <a:buNone/>
                      </a:pPr>
                      <a:r>
                        <a:rPr lang="en-US" sz="1150" dirty="0">
                          <a:solidFill>
                            <a:srgbClr val="2A2B38"/>
                          </a:solidFill>
                          <a:latin typeface="Meiryo UI" pitchFamily="34" charset="0"/>
                          <a:ea typeface="Meiryo UI" pitchFamily="34" charset="-122"/>
                          <a:cs typeface="Meiryo UI" pitchFamily="34" charset="-120"/>
                        </a:rPr>
                        <a:t>顧問先の満足度が高く、紹介によって案件が生まれていること</a:t>
                      </a:r>
                      <a:endParaRPr lang="en-US" sz="1150" dirty="0">
                        <a:latin typeface="Meiryo UI" charset="0"/>
                        <a:ea typeface="Meiryo UI" charset="0"/>
                        <a:cs typeface="Meiryo UI" charset="0"/>
                      </a:endParaRPr>
                    </a:p>
                  </a:txBody>
                  <a:tcPr marL="91440" marR="91440" marT="45720" marB="45720" anchor="ctr">
                    <a:lnL w="9525" cap="flat" cmpd="sng" algn="ctr">
                      <a:solidFill>
                        <a:srgbClr val="D9DBEA"/>
                      </a:solidFill>
                      <a:prstDash val="solid"/>
                      <a:round/>
                      <a:headEnd type="none" w="med" len="med"/>
                      <a:tailEnd type="none" w="med" len="med"/>
                    </a:lnL>
                    <a:lnR w="9525" cap="flat" cmpd="sng" algn="ctr">
                      <a:solidFill>
                        <a:srgbClr val="D9DBEA"/>
                      </a:solidFill>
                      <a:prstDash val="solid"/>
                      <a:round/>
                      <a:headEnd type="none" w="med" len="med"/>
                      <a:tailEnd type="none" w="med" len="med"/>
                    </a:lnR>
                    <a:lnT w="9525" cap="flat" cmpd="sng" algn="ctr">
                      <a:solidFill>
                        <a:srgbClr val="D9DBEA"/>
                      </a:solidFill>
                      <a:prstDash val="solid"/>
                      <a:round/>
                      <a:headEnd type="none" w="med" len="med"/>
                      <a:tailEnd type="none" w="med" len="med"/>
                    </a:lnT>
                    <a:lnB w="9525" cap="flat" cmpd="sng" algn="ctr">
                      <a:solidFill>
                        <a:srgbClr val="D9DBEA"/>
                      </a:solidFill>
                      <a:prstDash val="solid"/>
                      <a:round/>
                      <a:headEnd type="none" w="med" len="med"/>
                      <a:tailEnd type="none" w="med" len="med"/>
                    </a:lnB>
                    <a:solidFill>
                      <a:srgbClr val="F6F7FB"/>
                    </a:solidFill>
                  </a:tcPr>
                </a:tc>
              </a:tr>
              <a:tr h="585216">
                <a:tc>
                  <a:txBody>
                    <a:bodyPr/>
                    <a:lstStyle/>
                    <a:p>
                      <a:pPr indent="0" marL="0">
                        <a:buNone/>
                      </a:pPr>
                      <a:r>
                        <a:rPr lang="en-US" sz="1150" b="1" dirty="0">
                          <a:solidFill>
                            <a:srgbClr val="3A3F73"/>
                          </a:solidFill>
                          <a:latin typeface="Meiryo UI" pitchFamily="34" charset="0"/>
                          <a:ea typeface="Meiryo UI" pitchFamily="34" charset="-122"/>
                          <a:cs typeface="Meiryo UI" pitchFamily="34" charset="-120"/>
                        </a:rPr>
                        <a:t>現在の集客</a:t>
                      </a:r>
                      <a:endParaRPr lang="en-US" sz="1150" dirty="0">
                        <a:latin typeface="Meiryo UI" charset="0"/>
                        <a:ea typeface="Meiryo UI" charset="0"/>
                        <a:cs typeface="Meiryo UI" charset="0"/>
                      </a:endParaRPr>
                    </a:p>
                  </a:txBody>
                  <a:tcPr marL="91440" marR="91440" marT="45720" marB="45720" anchor="ctr">
                    <a:lnL w="9525" cap="flat" cmpd="sng" algn="ctr">
                      <a:solidFill>
                        <a:srgbClr val="D9DBEA"/>
                      </a:solidFill>
                      <a:prstDash val="solid"/>
                      <a:round/>
                      <a:headEnd type="none" w="med" len="med"/>
                      <a:tailEnd type="none" w="med" len="med"/>
                    </a:lnL>
                    <a:lnR w="9525" cap="flat" cmpd="sng" algn="ctr">
                      <a:solidFill>
                        <a:srgbClr val="D9DBEA"/>
                      </a:solidFill>
                      <a:prstDash val="solid"/>
                      <a:round/>
                      <a:headEnd type="none" w="med" len="med"/>
                      <a:tailEnd type="none" w="med" len="med"/>
                    </a:lnR>
                    <a:lnT w="9525" cap="flat" cmpd="sng" algn="ctr">
                      <a:solidFill>
                        <a:srgbClr val="D9DBEA"/>
                      </a:solidFill>
                      <a:prstDash val="solid"/>
                      <a:round/>
                      <a:headEnd type="none" w="med" len="med"/>
                      <a:tailEnd type="none" w="med" len="med"/>
                    </a:lnT>
                    <a:lnB w="9525" cap="flat" cmpd="sng" algn="ctr">
                      <a:solidFill>
                        <a:srgbClr val="D9DBEA"/>
                      </a:solidFill>
                      <a:prstDash val="solid"/>
                      <a:round/>
                      <a:headEnd type="none" w="med" len="med"/>
                      <a:tailEnd type="none" w="med" len="med"/>
                    </a:lnB>
                    <a:solidFill>
                      <a:srgbClr val="FFFFFF"/>
                    </a:solidFill>
                  </a:tcPr>
                </a:tc>
                <a:tc>
                  <a:txBody>
                    <a:bodyPr/>
                    <a:lstStyle/>
                    <a:p>
                      <a:pPr indent="0" marL="0">
                        <a:buNone/>
                      </a:pPr>
                      <a:r>
                        <a:rPr lang="en-US" sz="1150" dirty="0">
                          <a:solidFill>
                            <a:srgbClr val="2A2B38"/>
                          </a:solidFill>
                          <a:latin typeface="Meiryo UI" pitchFamily="34" charset="0"/>
                          <a:ea typeface="Meiryo UI" pitchFamily="34" charset="-122"/>
                          <a:cs typeface="Meiryo UI" pitchFamily="34" charset="-120"/>
                        </a:rPr>
                        <a:t>ほぼ100%が紹介。HPは掲載しているが、問い合わせはほとんどない</a:t>
                      </a:r>
                      <a:endParaRPr lang="en-US" sz="1150" dirty="0">
                        <a:latin typeface="Meiryo UI" charset="0"/>
                        <a:ea typeface="Meiryo UI" charset="0"/>
                        <a:cs typeface="Meiryo UI" charset="0"/>
                      </a:endParaRPr>
                    </a:p>
                  </a:txBody>
                  <a:tcPr marL="91440" marR="91440" marT="45720" marB="45720" anchor="ctr">
                    <a:lnL w="9525" cap="flat" cmpd="sng" algn="ctr">
                      <a:solidFill>
                        <a:srgbClr val="D9DBEA"/>
                      </a:solidFill>
                      <a:prstDash val="solid"/>
                      <a:round/>
                      <a:headEnd type="none" w="med" len="med"/>
                      <a:tailEnd type="none" w="med" len="med"/>
                    </a:lnL>
                    <a:lnR w="9525" cap="flat" cmpd="sng" algn="ctr">
                      <a:solidFill>
                        <a:srgbClr val="D9DBEA"/>
                      </a:solidFill>
                      <a:prstDash val="solid"/>
                      <a:round/>
                      <a:headEnd type="none" w="med" len="med"/>
                      <a:tailEnd type="none" w="med" len="med"/>
                    </a:lnR>
                    <a:lnT w="9525" cap="flat" cmpd="sng" algn="ctr">
                      <a:solidFill>
                        <a:srgbClr val="D9DBEA"/>
                      </a:solidFill>
                      <a:prstDash val="solid"/>
                      <a:round/>
                      <a:headEnd type="none" w="med" len="med"/>
                      <a:tailEnd type="none" w="med" len="med"/>
                    </a:lnT>
                    <a:lnB w="9525" cap="flat" cmpd="sng" algn="ctr">
                      <a:solidFill>
                        <a:srgbClr val="D9DBEA"/>
                      </a:solidFill>
                      <a:prstDash val="solid"/>
                      <a:round/>
                      <a:headEnd type="none" w="med" len="med"/>
                      <a:tailEnd type="none" w="med" len="med"/>
                    </a:lnB>
                    <a:solidFill>
                      <a:srgbClr val="FFFFFF"/>
                    </a:solidFill>
                  </a:tcPr>
                </a:tc>
              </a:tr>
              <a:tr h="585216">
                <a:tc>
                  <a:txBody>
                    <a:bodyPr/>
                    <a:lstStyle/>
                    <a:p>
                      <a:pPr indent="0" marL="0">
                        <a:buNone/>
                      </a:pPr>
                      <a:r>
                        <a:rPr lang="en-US" sz="1150" b="1" dirty="0">
                          <a:solidFill>
                            <a:srgbClr val="3A3F73"/>
                          </a:solidFill>
                          <a:latin typeface="Meiryo UI" pitchFamily="34" charset="0"/>
                          <a:ea typeface="Meiryo UI" pitchFamily="34" charset="-122"/>
                          <a:cs typeface="Meiryo UI" pitchFamily="34" charset="-120"/>
                        </a:rPr>
                        <a:t>課題</a:t>
                      </a:r>
                      <a:endParaRPr lang="en-US" sz="1150" dirty="0">
                        <a:latin typeface="Meiryo UI" charset="0"/>
                        <a:ea typeface="Meiryo UI" charset="0"/>
                        <a:cs typeface="Meiryo UI" charset="0"/>
                      </a:endParaRPr>
                    </a:p>
                  </a:txBody>
                  <a:tcPr marL="91440" marR="91440" marT="45720" marB="45720" anchor="ctr">
                    <a:lnL w="9525" cap="flat" cmpd="sng" algn="ctr">
                      <a:solidFill>
                        <a:srgbClr val="D9DBEA"/>
                      </a:solidFill>
                      <a:prstDash val="solid"/>
                      <a:round/>
                      <a:headEnd type="none" w="med" len="med"/>
                      <a:tailEnd type="none" w="med" len="med"/>
                    </a:lnL>
                    <a:lnR w="9525" cap="flat" cmpd="sng" algn="ctr">
                      <a:solidFill>
                        <a:srgbClr val="D9DBEA"/>
                      </a:solidFill>
                      <a:prstDash val="solid"/>
                      <a:round/>
                      <a:headEnd type="none" w="med" len="med"/>
                      <a:tailEnd type="none" w="med" len="med"/>
                    </a:lnR>
                    <a:lnT w="9525" cap="flat" cmpd="sng" algn="ctr">
                      <a:solidFill>
                        <a:srgbClr val="D9DBEA"/>
                      </a:solidFill>
                      <a:prstDash val="solid"/>
                      <a:round/>
                      <a:headEnd type="none" w="med" len="med"/>
                      <a:tailEnd type="none" w="med" len="med"/>
                    </a:lnT>
                    <a:lnB w="9525" cap="flat" cmpd="sng" algn="ctr">
                      <a:solidFill>
                        <a:srgbClr val="D9DBEA"/>
                      </a:solidFill>
                      <a:prstDash val="solid"/>
                      <a:round/>
                      <a:headEnd type="none" w="med" len="med"/>
                      <a:tailEnd type="none" w="med" len="med"/>
                    </a:lnB>
                    <a:solidFill>
                      <a:srgbClr val="F6F7FB"/>
                    </a:solidFill>
                  </a:tcPr>
                </a:tc>
                <a:tc>
                  <a:txBody>
                    <a:bodyPr/>
                    <a:lstStyle/>
                    <a:p>
                      <a:pPr indent="0" marL="0">
                        <a:buNone/>
                      </a:pPr>
                      <a:r>
                        <a:rPr lang="en-US" sz="1150" dirty="0">
                          <a:solidFill>
                            <a:srgbClr val="2A2B38"/>
                          </a:solidFill>
                          <a:latin typeface="Meiryo UI" pitchFamily="34" charset="0"/>
                          <a:ea typeface="Meiryo UI" pitchFamily="34" charset="-122"/>
                          <a:cs typeface="Meiryo UI" pitchFamily="34" charset="-120"/>
                        </a:rPr>
                        <a:t>HPを活用しきれていない／個人向けの情報発信が不足／発信や資料作成の時間がない</a:t>
                      </a:r>
                      <a:endParaRPr lang="en-US" sz="1150" dirty="0">
                        <a:latin typeface="Meiryo UI" charset="0"/>
                        <a:ea typeface="Meiryo UI" charset="0"/>
                        <a:cs typeface="Meiryo UI" charset="0"/>
                      </a:endParaRPr>
                    </a:p>
                  </a:txBody>
                  <a:tcPr marL="91440" marR="91440" marT="45720" marB="45720" anchor="ctr">
                    <a:lnL w="9525" cap="flat" cmpd="sng" algn="ctr">
                      <a:solidFill>
                        <a:srgbClr val="D9DBEA"/>
                      </a:solidFill>
                      <a:prstDash val="solid"/>
                      <a:round/>
                      <a:headEnd type="none" w="med" len="med"/>
                      <a:tailEnd type="none" w="med" len="med"/>
                    </a:lnL>
                    <a:lnR w="9525" cap="flat" cmpd="sng" algn="ctr">
                      <a:solidFill>
                        <a:srgbClr val="D9DBEA"/>
                      </a:solidFill>
                      <a:prstDash val="solid"/>
                      <a:round/>
                      <a:headEnd type="none" w="med" len="med"/>
                      <a:tailEnd type="none" w="med" len="med"/>
                    </a:lnR>
                    <a:lnT w="9525" cap="flat" cmpd="sng" algn="ctr">
                      <a:solidFill>
                        <a:srgbClr val="D9DBEA"/>
                      </a:solidFill>
                      <a:prstDash val="solid"/>
                      <a:round/>
                      <a:headEnd type="none" w="med" len="med"/>
                      <a:tailEnd type="none" w="med" len="med"/>
                    </a:lnT>
                    <a:lnB w="9525" cap="flat" cmpd="sng" algn="ctr">
                      <a:solidFill>
                        <a:srgbClr val="D9DBEA"/>
                      </a:solidFill>
                      <a:prstDash val="solid"/>
                      <a:round/>
                      <a:headEnd type="none" w="med" len="med"/>
                      <a:tailEnd type="none" w="med" len="med"/>
                    </a:lnB>
                    <a:solidFill>
                      <a:srgbClr val="F6F7FB"/>
                    </a:solidFill>
                  </a:tcPr>
                </a:tc>
              </a:tr>
              <a:tr h="585216">
                <a:tc>
                  <a:txBody>
                    <a:bodyPr/>
                    <a:lstStyle/>
                    <a:p>
                      <a:pPr indent="0" marL="0">
                        <a:buNone/>
                      </a:pPr>
                      <a:r>
                        <a:rPr lang="en-US" sz="1150" b="1" dirty="0">
                          <a:solidFill>
                            <a:srgbClr val="3A3F73"/>
                          </a:solidFill>
                          <a:latin typeface="Meiryo UI" pitchFamily="34" charset="0"/>
                          <a:ea typeface="Meiryo UI" pitchFamily="34" charset="-122"/>
                          <a:cs typeface="Meiryo UI" pitchFamily="34" charset="-120"/>
                        </a:rPr>
                        <a:t>目指す姿</a:t>
                      </a:r>
                      <a:endParaRPr lang="en-US" sz="1150" dirty="0">
                        <a:latin typeface="Meiryo UI" charset="0"/>
                        <a:ea typeface="Meiryo UI" charset="0"/>
                        <a:cs typeface="Meiryo UI" charset="0"/>
                      </a:endParaRPr>
                    </a:p>
                  </a:txBody>
                  <a:tcPr marL="91440" marR="91440" marT="45720" marB="45720" anchor="ctr">
                    <a:lnL w="9525" cap="flat" cmpd="sng" algn="ctr">
                      <a:solidFill>
                        <a:srgbClr val="D9DBEA"/>
                      </a:solidFill>
                      <a:prstDash val="solid"/>
                      <a:round/>
                      <a:headEnd type="none" w="med" len="med"/>
                      <a:tailEnd type="none" w="med" len="med"/>
                    </a:lnL>
                    <a:lnR w="9525" cap="flat" cmpd="sng" algn="ctr">
                      <a:solidFill>
                        <a:srgbClr val="D9DBEA"/>
                      </a:solidFill>
                      <a:prstDash val="solid"/>
                      <a:round/>
                      <a:headEnd type="none" w="med" len="med"/>
                      <a:tailEnd type="none" w="med" len="med"/>
                    </a:lnR>
                    <a:lnT w="9525" cap="flat" cmpd="sng" algn="ctr">
                      <a:solidFill>
                        <a:srgbClr val="D9DBEA"/>
                      </a:solidFill>
                      <a:prstDash val="solid"/>
                      <a:round/>
                      <a:headEnd type="none" w="med" len="med"/>
                      <a:tailEnd type="none" w="med" len="med"/>
                    </a:lnT>
                    <a:lnB w="9525" cap="flat" cmpd="sng" algn="ctr">
                      <a:solidFill>
                        <a:srgbClr val="D9DBEA"/>
                      </a:solidFill>
                      <a:prstDash val="solid"/>
                      <a:round/>
                      <a:headEnd type="none" w="med" len="med"/>
                      <a:tailEnd type="none" w="med" len="med"/>
                    </a:lnB>
                    <a:solidFill>
                      <a:srgbClr val="FFFFFF"/>
                    </a:solidFill>
                  </a:tcPr>
                </a:tc>
                <a:tc>
                  <a:txBody>
                    <a:bodyPr/>
                    <a:lstStyle/>
                    <a:p>
                      <a:pPr indent="0" marL="0">
                        <a:buNone/>
                      </a:pPr>
                      <a:r>
                        <a:rPr lang="en-US" sz="1150" b="1" dirty="0">
                          <a:solidFill>
                            <a:srgbClr val="A87A1C"/>
                          </a:solidFill>
                          <a:latin typeface="Meiryo UI" pitchFamily="34" charset="0"/>
                          <a:ea typeface="Meiryo UI" pitchFamily="34" charset="-122"/>
                          <a:cs typeface="Meiryo UI" pitchFamily="34" charset="-120"/>
                        </a:rPr>
                        <a:t>紹介客や個人のお客様に、事務所の強みや情報を分厚く・分かりやすく伝えられる状態</a:t>
                      </a:r>
                      <a:endParaRPr lang="en-US" sz="1150" dirty="0">
                        <a:latin typeface="Meiryo UI" charset="0"/>
                        <a:ea typeface="Meiryo UI" charset="0"/>
                        <a:cs typeface="Meiryo UI" charset="0"/>
                      </a:endParaRPr>
                    </a:p>
                  </a:txBody>
                  <a:tcPr marL="91440" marR="91440" marT="45720" marB="45720" anchor="ctr">
                    <a:lnL w="9525" cap="flat" cmpd="sng" algn="ctr">
                      <a:solidFill>
                        <a:srgbClr val="D9DBEA"/>
                      </a:solidFill>
                      <a:prstDash val="solid"/>
                      <a:round/>
                      <a:headEnd type="none" w="med" len="med"/>
                      <a:tailEnd type="none" w="med" len="med"/>
                    </a:lnL>
                    <a:lnR w="9525" cap="flat" cmpd="sng" algn="ctr">
                      <a:solidFill>
                        <a:srgbClr val="D9DBEA"/>
                      </a:solidFill>
                      <a:prstDash val="solid"/>
                      <a:round/>
                      <a:headEnd type="none" w="med" len="med"/>
                      <a:tailEnd type="none" w="med" len="med"/>
                    </a:lnR>
                    <a:lnT w="9525" cap="flat" cmpd="sng" algn="ctr">
                      <a:solidFill>
                        <a:srgbClr val="D9DBEA"/>
                      </a:solidFill>
                      <a:prstDash val="solid"/>
                      <a:round/>
                      <a:headEnd type="none" w="med" len="med"/>
                      <a:tailEnd type="none" w="med" len="med"/>
                    </a:lnT>
                    <a:lnB w="9525" cap="flat" cmpd="sng" algn="ctr">
                      <a:solidFill>
                        <a:srgbClr val="D9DBEA"/>
                      </a:solidFill>
                      <a:prstDash val="solid"/>
                      <a:round/>
                      <a:headEnd type="none" w="med" len="med"/>
                      <a:tailEnd type="none" w="med" len="med"/>
                    </a:lnB>
                    <a:solidFill>
                      <a:srgbClr val="FFFFFF"/>
                    </a:solidFill>
                  </a:tcPr>
                </a:tc>
              </a:tr>
              <a:tr h="585216">
                <a:tc>
                  <a:txBody>
                    <a:bodyPr/>
                    <a:lstStyle/>
                    <a:p>
                      <a:pPr indent="0" marL="0">
                        <a:buNone/>
                      </a:pPr>
                      <a:r>
                        <a:rPr lang="en-US" sz="1150" b="1" dirty="0">
                          <a:solidFill>
                            <a:srgbClr val="3A3F73"/>
                          </a:solidFill>
                          <a:latin typeface="Meiryo UI" pitchFamily="34" charset="0"/>
                          <a:ea typeface="Meiryo UI" pitchFamily="34" charset="-122"/>
                          <a:cs typeface="Meiryo UI" pitchFamily="34" charset="-120"/>
                        </a:rPr>
                        <a:t>MiTokの活用</a:t>
                      </a:r>
                      <a:endParaRPr lang="en-US" sz="1150" dirty="0">
                        <a:latin typeface="Meiryo UI" charset="0"/>
                        <a:ea typeface="Meiryo UI" charset="0"/>
                        <a:cs typeface="Meiryo UI" charset="0"/>
                      </a:endParaRPr>
                    </a:p>
                  </a:txBody>
                  <a:tcPr marL="91440" marR="91440" marT="45720" marB="45720" anchor="ctr">
                    <a:lnL w="9525" cap="flat" cmpd="sng" algn="ctr">
                      <a:solidFill>
                        <a:srgbClr val="D9DBEA"/>
                      </a:solidFill>
                      <a:prstDash val="solid"/>
                      <a:round/>
                      <a:headEnd type="none" w="med" len="med"/>
                      <a:tailEnd type="none" w="med" len="med"/>
                    </a:lnL>
                    <a:lnR w="9525" cap="flat" cmpd="sng" algn="ctr">
                      <a:solidFill>
                        <a:srgbClr val="D9DBEA"/>
                      </a:solidFill>
                      <a:prstDash val="solid"/>
                      <a:round/>
                      <a:headEnd type="none" w="med" len="med"/>
                      <a:tailEnd type="none" w="med" len="med"/>
                    </a:lnR>
                    <a:lnT w="9525" cap="flat" cmpd="sng" algn="ctr">
                      <a:solidFill>
                        <a:srgbClr val="D9DBEA"/>
                      </a:solidFill>
                      <a:prstDash val="solid"/>
                      <a:round/>
                      <a:headEnd type="none" w="med" len="med"/>
                      <a:tailEnd type="none" w="med" len="med"/>
                    </a:lnT>
                    <a:lnB w="9525" cap="flat" cmpd="sng" algn="ctr">
                      <a:solidFill>
                        <a:srgbClr val="D9DBEA"/>
                      </a:solidFill>
                      <a:prstDash val="solid"/>
                      <a:round/>
                      <a:headEnd type="none" w="med" len="med"/>
                      <a:tailEnd type="none" w="med" len="med"/>
                    </a:lnB>
                    <a:solidFill>
                      <a:srgbClr val="F6F7FB"/>
                    </a:solidFill>
                  </a:tcPr>
                </a:tc>
                <a:tc>
                  <a:txBody>
                    <a:bodyPr/>
                    <a:lstStyle/>
                    <a:p>
                      <a:pPr indent="0" marL="0">
                        <a:buNone/>
                      </a:pPr>
                      <a:r>
                        <a:rPr lang="en-US" sz="1150" dirty="0">
                          <a:solidFill>
                            <a:srgbClr val="2A2B38"/>
                          </a:solidFill>
                          <a:latin typeface="Meiryo UI" pitchFamily="34" charset="0"/>
                          <a:ea typeface="Meiryo UI" pitchFamily="34" charset="-122"/>
                          <a:cs typeface="Meiryo UI" pitchFamily="34" charset="-120"/>
                        </a:rPr>
                        <a:t>HPへの動画掲載と、既存の顧問先への動画での情報発信</a:t>
                      </a:r>
                      <a:endParaRPr lang="en-US" sz="1150" dirty="0">
                        <a:latin typeface="Meiryo UI" charset="0"/>
                        <a:ea typeface="Meiryo UI" charset="0"/>
                        <a:cs typeface="Meiryo UI" charset="0"/>
                      </a:endParaRPr>
                    </a:p>
                  </a:txBody>
                  <a:tcPr marL="91440" marR="91440" marT="45720" marB="45720" anchor="ctr">
                    <a:lnL w="9525" cap="flat" cmpd="sng" algn="ctr">
                      <a:solidFill>
                        <a:srgbClr val="D9DBEA"/>
                      </a:solidFill>
                      <a:prstDash val="solid"/>
                      <a:round/>
                      <a:headEnd type="none" w="med" len="med"/>
                      <a:tailEnd type="none" w="med" len="med"/>
                    </a:lnL>
                    <a:lnR w="9525" cap="flat" cmpd="sng" algn="ctr">
                      <a:solidFill>
                        <a:srgbClr val="D9DBEA"/>
                      </a:solidFill>
                      <a:prstDash val="solid"/>
                      <a:round/>
                      <a:headEnd type="none" w="med" len="med"/>
                      <a:tailEnd type="none" w="med" len="med"/>
                    </a:lnR>
                    <a:lnT w="9525" cap="flat" cmpd="sng" algn="ctr">
                      <a:solidFill>
                        <a:srgbClr val="D9DBEA"/>
                      </a:solidFill>
                      <a:prstDash val="solid"/>
                      <a:round/>
                      <a:headEnd type="none" w="med" len="med"/>
                      <a:tailEnd type="none" w="med" len="med"/>
                    </a:lnT>
                    <a:lnB w="9525" cap="flat" cmpd="sng" algn="ctr">
                      <a:solidFill>
                        <a:srgbClr val="D9DBEA"/>
                      </a:solidFill>
                      <a:prstDash val="solid"/>
                      <a:round/>
                      <a:headEnd type="none" w="med" len="med"/>
                      <a:tailEnd type="none" w="med" len="med"/>
                    </a:lnB>
                    <a:solidFill>
                      <a:srgbClr val="F6F7FB"/>
                    </a:solidFill>
                  </a:tcPr>
                </a:tc>
              </a:tr>
              <a:tr h="585216">
                <a:tc>
                  <a:txBody>
                    <a:bodyPr/>
                    <a:lstStyle/>
                    <a:p>
                      <a:pPr indent="0" marL="0">
                        <a:buNone/>
                      </a:pPr>
                      <a:r>
                        <a:rPr lang="en-US" sz="1150" b="1" dirty="0">
                          <a:solidFill>
                            <a:srgbClr val="3A3F73"/>
                          </a:solidFill>
                          <a:latin typeface="Meiryo UI" pitchFamily="34" charset="0"/>
                          <a:ea typeface="Meiryo UI" pitchFamily="34" charset="-122"/>
                          <a:cs typeface="Meiryo UI" pitchFamily="34" charset="-120"/>
                        </a:rPr>
                        <a:t>本日のお約束</a:t>
                      </a:r>
                      <a:endParaRPr lang="en-US" sz="1150" dirty="0">
                        <a:latin typeface="Meiryo UI" charset="0"/>
                        <a:ea typeface="Meiryo UI" charset="0"/>
                        <a:cs typeface="Meiryo UI" charset="0"/>
                      </a:endParaRPr>
                    </a:p>
                  </a:txBody>
                  <a:tcPr marL="91440" marR="91440" marT="45720" marB="45720" anchor="ctr">
                    <a:lnL w="9525" cap="flat" cmpd="sng" algn="ctr">
                      <a:solidFill>
                        <a:srgbClr val="D9DBEA"/>
                      </a:solidFill>
                      <a:prstDash val="solid"/>
                      <a:round/>
                      <a:headEnd type="none" w="med" len="med"/>
                      <a:tailEnd type="none" w="med" len="med"/>
                    </a:lnL>
                    <a:lnR w="9525" cap="flat" cmpd="sng" algn="ctr">
                      <a:solidFill>
                        <a:srgbClr val="D9DBEA"/>
                      </a:solidFill>
                      <a:prstDash val="solid"/>
                      <a:round/>
                      <a:headEnd type="none" w="med" len="med"/>
                      <a:tailEnd type="none" w="med" len="med"/>
                    </a:lnR>
                    <a:lnT w="9525" cap="flat" cmpd="sng" algn="ctr">
                      <a:solidFill>
                        <a:srgbClr val="D9DBEA"/>
                      </a:solidFill>
                      <a:prstDash val="solid"/>
                      <a:round/>
                      <a:headEnd type="none" w="med" len="med"/>
                      <a:tailEnd type="none" w="med" len="med"/>
                    </a:lnT>
                    <a:lnB w="9525" cap="flat" cmpd="sng" algn="ctr">
                      <a:solidFill>
                        <a:srgbClr val="D9DBEA"/>
                      </a:solidFill>
                      <a:prstDash val="solid"/>
                      <a:round/>
                      <a:headEnd type="none" w="med" len="med"/>
                      <a:tailEnd type="none" w="med" len="med"/>
                    </a:lnB>
                    <a:solidFill>
                      <a:srgbClr val="FFFFFF"/>
                    </a:solidFill>
                  </a:tcPr>
                </a:tc>
                <a:tc>
                  <a:txBody>
                    <a:bodyPr/>
                    <a:lstStyle/>
                    <a:p>
                      <a:pPr indent="0" marL="0">
                        <a:buNone/>
                      </a:pPr>
                      <a:r>
                        <a:rPr lang="en-US" sz="1150" dirty="0">
                          <a:solidFill>
                            <a:srgbClr val="2A2B38"/>
                          </a:solidFill>
                          <a:latin typeface="Meiryo UI" pitchFamily="34" charset="0"/>
                          <a:ea typeface="Meiryo UI" pitchFamily="34" charset="-122"/>
                          <a:cs typeface="Meiryo UI" pitchFamily="34" charset="-120"/>
                        </a:rPr>
                        <a:t>MiTok以外のサービス（Web強化・マンパワー補強など）のご案内（＝本資料）</a:t>
                      </a:r>
                      <a:endParaRPr lang="en-US" sz="1150" dirty="0">
                        <a:latin typeface="Meiryo UI" charset="0"/>
                        <a:ea typeface="Meiryo UI" charset="0"/>
                        <a:cs typeface="Meiryo UI" charset="0"/>
                      </a:endParaRPr>
                    </a:p>
                  </a:txBody>
                  <a:tcPr marL="91440" marR="91440" marT="45720" marB="45720" anchor="ctr">
                    <a:lnL w="9525" cap="flat" cmpd="sng" algn="ctr">
                      <a:solidFill>
                        <a:srgbClr val="D9DBEA"/>
                      </a:solidFill>
                      <a:prstDash val="solid"/>
                      <a:round/>
                      <a:headEnd type="none" w="med" len="med"/>
                      <a:tailEnd type="none" w="med" len="med"/>
                    </a:lnL>
                    <a:lnR w="9525" cap="flat" cmpd="sng" algn="ctr">
                      <a:solidFill>
                        <a:srgbClr val="D9DBEA"/>
                      </a:solidFill>
                      <a:prstDash val="solid"/>
                      <a:round/>
                      <a:headEnd type="none" w="med" len="med"/>
                      <a:tailEnd type="none" w="med" len="med"/>
                    </a:lnR>
                    <a:lnT w="9525" cap="flat" cmpd="sng" algn="ctr">
                      <a:solidFill>
                        <a:srgbClr val="D9DBEA"/>
                      </a:solidFill>
                      <a:prstDash val="solid"/>
                      <a:round/>
                      <a:headEnd type="none" w="med" len="med"/>
                      <a:tailEnd type="none" w="med" len="med"/>
                    </a:lnT>
                    <a:lnB w="9525" cap="flat" cmpd="sng" algn="ctr">
                      <a:solidFill>
                        <a:srgbClr val="D9DBEA"/>
                      </a:solidFill>
                      <a:prstDash val="solid"/>
                      <a:round/>
                      <a:headEnd type="none" w="med" len="med"/>
                      <a:tailEnd type="none" w="med" len="med"/>
                    </a:lnB>
                    <a:solidFill>
                      <a:srgbClr val="FFFFFF"/>
                    </a:solidFill>
                  </a:tcPr>
                </a:tc>
              </a:tr>
            </a:tbl>
          </a:graphicData>
        </a:graphic>
      </p:graphicFrame>
      <p:sp>
        <p:nvSpPr>
          <p:cNvPr id="7" name="Shape 4"/>
          <p:cNvSpPr/>
          <p:nvPr/>
        </p:nvSpPr>
        <p:spPr>
          <a:xfrm>
            <a:off x="8412480" y="1463040"/>
            <a:ext cx="3227832" cy="4572000"/>
          </a:xfrm>
          <a:prstGeom prst="roundRect">
            <a:avLst>
              <a:gd name="adj" fmla="val 3399"/>
            </a:avLst>
          </a:prstGeom>
          <a:solidFill>
            <a:srgbClr val="EEEFF7"/>
          </a:solidFill>
          <a:ln w="12700">
            <a:solidFill>
              <a:srgbClr val="EEEFF7"/>
            </a:solidFill>
            <a:prstDash val="solid"/>
          </a:ln>
        </p:spPr>
      </p:sp>
      <p:sp>
        <p:nvSpPr>
          <p:cNvPr id="8" name="Shape 5"/>
          <p:cNvSpPr/>
          <p:nvPr/>
        </p:nvSpPr>
        <p:spPr>
          <a:xfrm>
            <a:off x="8732520" y="1783080"/>
            <a:ext cx="731520" cy="731520"/>
          </a:xfrm>
          <a:prstGeom prst="ellipse">
            <a:avLst/>
          </a:prstGeom>
          <a:solidFill>
            <a:srgbClr val="3A3F73"/>
          </a:solidFill>
          <a:ln w="12700">
            <a:solidFill>
              <a:srgbClr val="3A3F73"/>
            </a:solidFill>
            <a:prstDash val="solid"/>
          </a:ln>
        </p:spPr>
      </p:sp>
      <p:pic>
        <p:nvPicPr>
          <p:cNvPr id="9" name="Image 0" descr="preencoded.png">    </p:cNvPr>
          <p:cNvPicPr>
            <a:picLocks noChangeAspect="1"/>
          </p:cNvPicPr>
          <p:nvPr/>
        </p:nvPicPr>
        <p:blipFill>
          <a:blip r:embed="rId1"/>
          <a:stretch>
            <a:fillRect/>
          </a:stretch>
        </p:blipFill>
        <p:spPr>
          <a:xfrm>
            <a:off x="8922715" y="1973275"/>
            <a:ext cx="351130" cy="351130"/>
          </a:xfrm>
          <a:prstGeom prst="rect">
            <a:avLst/>
          </a:prstGeom>
        </p:spPr>
      </p:pic>
      <p:sp>
        <p:nvSpPr>
          <p:cNvPr id="10" name="Text 6"/>
          <p:cNvSpPr txBox="1"/>
          <p:nvPr/>
        </p:nvSpPr>
        <p:spPr>
          <a:xfrm>
            <a:off x="8732520" y="2697480"/>
            <a:ext cx="2651760" cy="457200"/>
          </a:xfrm>
          <a:prstGeom prst="rect">
            <a:avLst/>
          </a:prstGeom>
          <a:noFill/>
          <a:ln/>
        </p:spPr>
        <p:txBody>
          <a:bodyPr wrap="square" lIns="0" tIns="0" rIns="0" bIns="0" rtlCol="0" anchor="t"/>
          <a:lstStyle/>
          <a:p>
            <a:pPr indent="0" marL="0">
              <a:buNone/>
            </a:pPr>
            <a:r>
              <a:rPr lang="en-US" sz="1500" b="1" dirty="0">
                <a:solidFill>
                  <a:srgbClr val="3A3F73"/>
                </a:solidFill>
                <a:latin typeface="Meiryo UI" pitchFamily="34" charset="0"/>
                <a:ea typeface="Meiryo UI" pitchFamily="34" charset="-122"/>
                <a:cs typeface="Meiryo UI" pitchFamily="34" charset="-120"/>
              </a:rPr>
              <a:t>お送りいただく資料の活用</a:t>
            </a:r>
            <a:endParaRPr lang="en-US" sz="1500" dirty="0"/>
          </a:p>
        </p:txBody>
      </p:sp>
      <p:sp>
        <p:nvSpPr>
          <p:cNvPr id="11" name="Text 7"/>
          <p:cNvSpPr txBox="1"/>
          <p:nvPr/>
        </p:nvSpPr>
        <p:spPr>
          <a:xfrm>
            <a:off x="8732520" y="3200400"/>
            <a:ext cx="2651760" cy="2697480"/>
          </a:xfrm>
          <a:prstGeom prst="rect">
            <a:avLst/>
          </a:prstGeom>
          <a:noFill/>
          <a:ln/>
        </p:spPr>
        <p:txBody>
          <a:bodyPr wrap="square" lIns="0" tIns="0" rIns="0" bIns="0" rtlCol="0" anchor="t"/>
          <a:lstStyle/>
          <a:p>
            <a:pPr indent="0" marL="0">
              <a:lnSpc>
                <a:spcPct val="120000"/>
              </a:lnSpc>
              <a:buNone/>
            </a:pPr>
            <a:r>
              <a:rPr lang="en-US" sz="1200" dirty="0">
                <a:solidFill>
                  <a:srgbClr val="2A2B38"/>
                </a:solidFill>
                <a:latin typeface="Meiryo UI" pitchFamily="34" charset="0"/>
                <a:ea typeface="Meiryo UI" pitchFamily="34" charset="-122"/>
                <a:cs typeface="Meiryo UI" pitchFamily="34" charset="-120"/>
              </a:rPr>
              <a:t>澤田代表にまとめていただく「動画に盛り込みたい要素」は、そのまま無料3本の台本の一次素材として活用します。</a:t>
            </a:r>
            <a:endParaRPr lang="en-US" sz="1200" dirty="0"/>
          </a:p>
          <a:p>
            <a:pPr indent="0" marL="0">
              <a:lnSpc>
                <a:spcPct val="120000"/>
              </a:lnSpc>
              <a:buNone/>
            </a:pPr>
            <a:endParaRPr lang="en-US" sz="1200" dirty="0"/>
          </a:p>
          <a:p>
            <a:pPr indent="0" marL="0">
              <a:lnSpc>
                <a:spcPct val="120000"/>
              </a:lnSpc>
              <a:buNone/>
            </a:pPr>
            <a:r>
              <a:rPr lang="en-US" sz="1200" dirty="0">
                <a:solidFill>
                  <a:srgbClr val="2A2B38"/>
                </a:solidFill>
                <a:latin typeface="Meiryo UI" pitchFamily="34" charset="0"/>
                <a:ea typeface="Meiryo UI" pitchFamily="34" charset="-122"/>
                <a:cs typeface="Meiryo UI" pitchFamily="34" charset="-120"/>
              </a:rPr>
              <a:t>事務所の考え方と、お客様から選ばれてきた理由を言葉にし、動画で伝わる形に仕上げます。</a:t>
            </a:r>
            <a:endParaRPr lang="en-US" sz="1200" dirty="0"/>
          </a:p>
        </p:txBody>
      </p:sp>
    </p:spTree>
  </p:cSld>
  <p:clrMapOvr>
    <a:masterClrMapping/>
  </p:clrMapOvr>
</p:sld>
</file>

<file path=ppt/slides/slide4.xml><?xml version="1.0" encoding="utf-8"?>
<p:sld xmlns:a="http://schemas.openxmlformats.org/drawingml/2006/main" xmlns:r="http://schemas.openxmlformats.org/officeDocument/2006/relationships" xmlns:p="http://schemas.openxmlformats.org/presentationml/2006/main">
  <p:cSld name="Slide 4">
    <p:bg>
      <p:bgPr>
        <a:solidFill>
          <a:srgbClr val="FFFFFF"/>
        </a:solidFill>
      </p:bgPr>
    </p:bg>
    <p:spTree>
      <p:nvGrpSpPr>
        <p:cNvPr id="1" name=""/>
        <p:cNvGrpSpPr/>
        <p:nvPr/>
      </p:nvGrpSpPr>
      <p:grpSpPr>
        <a:xfrm>
          <a:off x="0" y="0"/>
          <a:ext cx="0" cy="0"/>
          <a:chOff x="0" y="0"/>
          <a:chExt cx="0" cy="0"/>
        </a:xfrm>
      </p:grpSpPr>
      <p:sp>
        <p:nvSpPr>
          <p:cNvPr id="2" name="Text 0"/>
          <p:cNvSpPr txBox="1"/>
          <p:nvPr/>
        </p:nvSpPr>
        <p:spPr>
          <a:xfrm>
            <a:off x="548640" y="347472"/>
            <a:ext cx="7315200" cy="274320"/>
          </a:xfrm>
          <a:prstGeom prst="rect">
            <a:avLst/>
          </a:prstGeom>
          <a:noFill/>
          <a:ln/>
        </p:spPr>
        <p:txBody>
          <a:bodyPr wrap="square" lIns="0" tIns="0" rIns="0" bIns="0" rtlCol="0" anchor="t"/>
          <a:lstStyle/>
          <a:p>
            <a:pPr indent="0" marL="0">
              <a:buNone/>
            </a:pPr>
            <a:r>
              <a:rPr lang="en-US" sz="1100" b="1" spc="200" kern="0" dirty="0">
                <a:solidFill>
                  <a:srgbClr val="A87A1C"/>
                </a:solidFill>
                <a:latin typeface="Meiryo UI" pitchFamily="34" charset="0"/>
                <a:ea typeface="Meiryo UI" pitchFamily="34" charset="-122"/>
                <a:cs typeface="Meiryo UI" pitchFamily="34" charset="-120"/>
              </a:rPr>
              <a:t>02｜WHY NOW</a:t>
            </a:r>
            <a:endParaRPr lang="en-US" sz="1100" dirty="0"/>
          </a:p>
        </p:txBody>
      </p:sp>
      <p:sp>
        <p:nvSpPr>
          <p:cNvPr id="3" name="Text 1"/>
          <p:cNvSpPr txBox="1"/>
          <p:nvPr/>
        </p:nvSpPr>
        <p:spPr>
          <a:xfrm>
            <a:off x="548640" y="621792"/>
            <a:ext cx="11094415" cy="566928"/>
          </a:xfrm>
          <a:prstGeom prst="rect">
            <a:avLst/>
          </a:prstGeom>
          <a:noFill/>
          <a:ln/>
        </p:spPr>
        <p:txBody>
          <a:bodyPr wrap="square" lIns="0" tIns="0" rIns="0" bIns="0" rtlCol="0" anchor="ctr"/>
          <a:lstStyle/>
          <a:p>
            <a:pPr indent="0" marL="0">
              <a:buNone/>
            </a:pPr>
            <a:r>
              <a:rPr lang="en-US" sz="2600" b="1" dirty="0">
                <a:solidFill>
                  <a:srgbClr val="3A3F73"/>
                </a:solidFill>
                <a:latin typeface="Meiryo UI" pitchFamily="34" charset="0"/>
                <a:ea typeface="Meiryo UI" pitchFamily="34" charset="-122"/>
                <a:cs typeface="Meiryo UI" pitchFamily="34" charset="-120"/>
              </a:rPr>
              <a:t>市場環境の変化：「紹介だけ」では個人のお客様に届かない</a:t>
            </a:r>
            <a:endParaRPr lang="en-US" sz="2600" dirty="0"/>
          </a:p>
        </p:txBody>
      </p:sp>
      <p:sp>
        <p:nvSpPr>
          <p:cNvPr id="4" name="Text 2"/>
          <p:cNvSpPr txBox="1"/>
          <p:nvPr/>
        </p:nvSpPr>
        <p:spPr>
          <a:xfrm>
            <a:off x="11094415" y="6419088"/>
            <a:ext cx="548640" cy="256032"/>
          </a:xfrm>
          <a:prstGeom prst="rect">
            <a:avLst/>
          </a:prstGeom>
          <a:noFill/>
          <a:ln/>
        </p:spPr>
        <p:txBody>
          <a:bodyPr wrap="square" lIns="0" tIns="0" rIns="0" bIns="0" rtlCol="0" anchor="t"/>
          <a:lstStyle/>
          <a:p>
            <a:pPr algn="r" indent="0" marL="0">
              <a:buNone/>
            </a:pPr>
            <a:r>
              <a:rPr lang="en-US" sz="1000" dirty="0">
                <a:solidFill>
                  <a:srgbClr val="7C7E90"/>
                </a:solidFill>
                <a:latin typeface="Meiryo UI" pitchFamily="34" charset="0"/>
                <a:ea typeface="Meiryo UI" pitchFamily="34" charset="-122"/>
                <a:cs typeface="Meiryo UI" pitchFamily="34" charset="-120"/>
              </a:rPr>
              <a:t>4</a:t>
            </a:r>
            <a:endParaRPr lang="en-US" sz="1000" dirty="0"/>
          </a:p>
        </p:txBody>
      </p:sp>
      <p:sp>
        <p:nvSpPr>
          <p:cNvPr id="5" name="Text 3"/>
          <p:cNvSpPr txBox="1"/>
          <p:nvPr/>
        </p:nvSpPr>
        <p:spPr>
          <a:xfrm>
            <a:off x="548640" y="6419088"/>
            <a:ext cx="4572000" cy="256032"/>
          </a:xfrm>
          <a:prstGeom prst="rect">
            <a:avLst/>
          </a:prstGeom>
          <a:noFill/>
          <a:ln/>
        </p:spPr>
        <p:txBody>
          <a:bodyPr wrap="square" lIns="0" tIns="0" rIns="0" bIns="0" rtlCol="0" anchor="t"/>
          <a:lstStyle/>
          <a:p>
            <a:pPr indent="0" marL="0">
              <a:buNone/>
            </a:pPr>
            <a:r>
              <a:rPr lang="en-US" sz="900" dirty="0">
                <a:solidFill>
                  <a:srgbClr val="7C7E90"/>
                </a:solidFill>
                <a:latin typeface="Meiryo UI" pitchFamily="34" charset="0"/>
                <a:ea typeface="Meiryo UI" pitchFamily="34" charset="-122"/>
                <a:cs typeface="Meiryo UI" pitchFamily="34" charset="-120"/>
              </a:rPr>
              <a:t>株式会社アイドマ・ホールディングス｜MiTok</a:t>
            </a:r>
            <a:endParaRPr lang="en-US" sz="900" dirty="0"/>
          </a:p>
        </p:txBody>
      </p:sp>
      <p:sp>
        <p:nvSpPr>
          <p:cNvPr id="6" name="Text 4"/>
          <p:cNvSpPr txBox="1"/>
          <p:nvPr/>
        </p:nvSpPr>
        <p:spPr>
          <a:xfrm>
            <a:off x="1417320" y="1417320"/>
            <a:ext cx="2743200" cy="274320"/>
          </a:xfrm>
          <a:prstGeom prst="rect">
            <a:avLst/>
          </a:prstGeom>
          <a:noFill/>
          <a:ln/>
        </p:spPr>
        <p:txBody>
          <a:bodyPr wrap="square" lIns="0" tIns="0" rIns="0" bIns="0" rtlCol="0" anchor="t"/>
          <a:lstStyle/>
          <a:p>
            <a:pPr indent="0" marL="0">
              <a:buNone/>
            </a:pPr>
            <a:r>
              <a:rPr lang="en-US" sz="1100" b="1" dirty="0">
                <a:solidFill>
                  <a:srgbClr val="686A82"/>
                </a:solidFill>
                <a:latin typeface="Meiryo UI" pitchFamily="34" charset="0"/>
                <a:ea typeface="Meiryo UI" pitchFamily="34" charset="-122"/>
                <a:cs typeface="Meiryo UI" pitchFamily="34" charset="-120"/>
              </a:rPr>
              <a:t>変化</a:t>
            </a:r>
            <a:endParaRPr lang="en-US" sz="1100" dirty="0"/>
          </a:p>
        </p:txBody>
      </p:sp>
      <p:sp>
        <p:nvSpPr>
          <p:cNvPr id="7" name="Text 5"/>
          <p:cNvSpPr txBox="1"/>
          <p:nvPr/>
        </p:nvSpPr>
        <p:spPr>
          <a:xfrm>
            <a:off x="3977640" y="1417320"/>
            <a:ext cx="2743200" cy="274320"/>
          </a:xfrm>
          <a:prstGeom prst="rect">
            <a:avLst/>
          </a:prstGeom>
          <a:noFill/>
          <a:ln/>
        </p:spPr>
        <p:txBody>
          <a:bodyPr wrap="square" lIns="0" tIns="0" rIns="0" bIns="0" rtlCol="0" anchor="t"/>
          <a:lstStyle/>
          <a:p>
            <a:pPr indent="0" marL="0">
              <a:buNone/>
            </a:pPr>
            <a:r>
              <a:rPr lang="en-US" sz="1100" b="1" dirty="0">
                <a:solidFill>
                  <a:srgbClr val="686A82"/>
                </a:solidFill>
                <a:latin typeface="Meiryo UI" pitchFamily="34" charset="0"/>
                <a:ea typeface="Meiryo UI" pitchFamily="34" charset="-122"/>
                <a:cs typeface="Meiryo UI" pitchFamily="34" charset="-120"/>
              </a:rPr>
              <a:t>起きていること</a:t>
            </a:r>
            <a:endParaRPr lang="en-US" sz="1100" dirty="0"/>
          </a:p>
        </p:txBody>
      </p:sp>
      <p:sp>
        <p:nvSpPr>
          <p:cNvPr id="8" name="Text 6"/>
          <p:cNvSpPr txBox="1"/>
          <p:nvPr/>
        </p:nvSpPr>
        <p:spPr>
          <a:xfrm>
            <a:off x="7818120" y="1417320"/>
            <a:ext cx="2743200" cy="274320"/>
          </a:xfrm>
          <a:prstGeom prst="rect">
            <a:avLst/>
          </a:prstGeom>
          <a:noFill/>
          <a:ln/>
        </p:spPr>
        <p:txBody>
          <a:bodyPr wrap="square" lIns="0" tIns="0" rIns="0" bIns="0" rtlCol="0" anchor="t"/>
          <a:lstStyle/>
          <a:p>
            <a:pPr indent="0" marL="0">
              <a:buNone/>
            </a:pPr>
            <a:r>
              <a:rPr lang="en-US" sz="1100" b="1" dirty="0">
                <a:solidFill>
                  <a:srgbClr val="A87A1C"/>
                </a:solidFill>
                <a:latin typeface="Meiryo UI" pitchFamily="34" charset="0"/>
                <a:ea typeface="Meiryo UI" pitchFamily="34" charset="-122"/>
                <a:cs typeface="Meiryo UI" pitchFamily="34" charset="-120"/>
              </a:rPr>
              <a:t>貴事務所への影響</a:t>
            </a:r>
            <a:endParaRPr lang="en-US" sz="1100" dirty="0"/>
          </a:p>
        </p:txBody>
      </p:sp>
      <p:sp>
        <p:nvSpPr>
          <p:cNvPr id="9" name="Shape 7"/>
          <p:cNvSpPr/>
          <p:nvPr/>
        </p:nvSpPr>
        <p:spPr>
          <a:xfrm>
            <a:off x="548640" y="1737360"/>
            <a:ext cx="11094415" cy="777240"/>
          </a:xfrm>
          <a:prstGeom prst="roundRect">
            <a:avLst>
              <a:gd name="adj" fmla="val 14118"/>
            </a:avLst>
          </a:prstGeom>
          <a:solidFill>
            <a:srgbClr val="F6F7FB"/>
          </a:solidFill>
          <a:ln w="12700">
            <a:solidFill>
              <a:srgbClr val="F6F7FB"/>
            </a:solidFill>
            <a:prstDash val="solid"/>
          </a:ln>
        </p:spPr>
      </p:sp>
      <p:sp>
        <p:nvSpPr>
          <p:cNvPr id="10" name="Shape 8"/>
          <p:cNvSpPr/>
          <p:nvPr/>
        </p:nvSpPr>
        <p:spPr>
          <a:xfrm>
            <a:off x="713232" y="1847088"/>
            <a:ext cx="548640" cy="548640"/>
          </a:xfrm>
          <a:prstGeom prst="ellipse">
            <a:avLst/>
          </a:prstGeom>
          <a:solidFill>
            <a:srgbClr val="3A3F73"/>
          </a:solidFill>
          <a:ln w="12700">
            <a:solidFill>
              <a:srgbClr val="3A3F73"/>
            </a:solidFill>
            <a:prstDash val="solid"/>
          </a:ln>
        </p:spPr>
      </p:sp>
      <p:pic>
        <p:nvPicPr>
          <p:cNvPr id="11" name="Image 0" descr="preencoded.png">    </p:cNvPr>
          <p:cNvPicPr>
            <a:picLocks noChangeAspect="1"/>
          </p:cNvPicPr>
          <p:nvPr/>
        </p:nvPicPr>
        <p:blipFill>
          <a:blip r:embed="rId1"/>
          <a:stretch>
            <a:fillRect/>
          </a:stretch>
        </p:blipFill>
        <p:spPr>
          <a:xfrm>
            <a:off x="855878" y="1989734"/>
            <a:ext cx="263347" cy="263347"/>
          </a:xfrm>
          <a:prstGeom prst="rect">
            <a:avLst/>
          </a:prstGeom>
        </p:spPr>
      </p:pic>
      <p:sp>
        <p:nvSpPr>
          <p:cNvPr id="12" name="Text 9"/>
          <p:cNvSpPr txBox="1"/>
          <p:nvPr/>
        </p:nvSpPr>
        <p:spPr>
          <a:xfrm>
            <a:off x="1417320" y="1737360"/>
            <a:ext cx="2514600" cy="777240"/>
          </a:xfrm>
          <a:prstGeom prst="rect">
            <a:avLst/>
          </a:prstGeom>
          <a:noFill/>
          <a:ln/>
        </p:spPr>
        <p:txBody>
          <a:bodyPr wrap="square" lIns="0" tIns="0" rIns="0" bIns="0" rtlCol="0" anchor="ctr"/>
          <a:lstStyle/>
          <a:p>
            <a:pPr indent="0" marL="0">
              <a:buNone/>
            </a:pPr>
            <a:r>
              <a:rPr lang="en-US" sz="1350" b="1" dirty="0">
                <a:solidFill>
                  <a:srgbClr val="3A3F73"/>
                </a:solidFill>
                <a:latin typeface="Meiryo UI" pitchFamily="34" charset="0"/>
                <a:ea typeface="Meiryo UI" pitchFamily="34" charset="-122"/>
                <a:cs typeface="Meiryo UI" pitchFamily="34" charset="-120"/>
              </a:rPr>
              <a:t>個人事業主・副業・起業の増加</a:t>
            </a:r>
            <a:endParaRPr lang="en-US" sz="1350" dirty="0"/>
          </a:p>
        </p:txBody>
      </p:sp>
      <p:sp>
        <p:nvSpPr>
          <p:cNvPr id="13" name="Text 10"/>
          <p:cNvSpPr txBox="1"/>
          <p:nvPr/>
        </p:nvSpPr>
        <p:spPr>
          <a:xfrm>
            <a:off x="3977640" y="1737360"/>
            <a:ext cx="3474720" cy="777240"/>
          </a:xfrm>
          <a:prstGeom prst="rect">
            <a:avLst/>
          </a:prstGeom>
          <a:noFill/>
          <a:ln/>
        </p:spPr>
        <p:txBody>
          <a:bodyPr wrap="square" lIns="0" tIns="0" rIns="0" bIns="0" rtlCol="0" anchor="ctr"/>
          <a:lstStyle/>
          <a:p>
            <a:pPr indent="0" marL="0">
              <a:buNone/>
            </a:pPr>
            <a:r>
              <a:rPr lang="en-US" sz="1200" dirty="0">
                <a:solidFill>
                  <a:srgbClr val="2A2B38"/>
                </a:solidFill>
                <a:latin typeface="Meiryo UI" pitchFamily="34" charset="0"/>
                <a:ea typeface="Meiryo UI" pitchFamily="34" charset="-122"/>
                <a:cs typeface="Meiryo UI" pitchFamily="34" charset="-120"/>
              </a:rPr>
              <a:t>フリーランスや副業が広がり、個人の税務相談のニーズが拡大している</a:t>
            </a:r>
            <a:endParaRPr lang="en-US" sz="1200" dirty="0"/>
          </a:p>
        </p:txBody>
      </p:sp>
      <p:pic>
        <p:nvPicPr>
          <p:cNvPr id="14" name="Image 1" descr="preencoded.png">    </p:cNvPr>
          <p:cNvPicPr>
            <a:picLocks noChangeAspect="1"/>
          </p:cNvPicPr>
          <p:nvPr/>
        </p:nvPicPr>
        <p:blipFill>
          <a:blip r:embed="rId2"/>
          <a:stretch>
            <a:fillRect/>
          </a:stretch>
        </p:blipFill>
        <p:spPr>
          <a:xfrm>
            <a:off x="7479792" y="2011680"/>
            <a:ext cx="228600" cy="228600"/>
          </a:xfrm>
          <a:prstGeom prst="rect">
            <a:avLst/>
          </a:prstGeom>
        </p:spPr>
      </p:pic>
      <p:sp>
        <p:nvSpPr>
          <p:cNvPr id="15" name="Text 11"/>
          <p:cNvSpPr txBox="1"/>
          <p:nvPr/>
        </p:nvSpPr>
        <p:spPr>
          <a:xfrm>
            <a:off x="7818120" y="1737360"/>
            <a:ext cx="3657600" cy="777240"/>
          </a:xfrm>
          <a:prstGeom prst="rect">
            <a:avLst/>
          </a:prstGeom>
          <a:noFill/>
          <a:ln/>
        </p:spPr>
        <p:txBody>
          <a:bodyPr wrap="square" lIns="0" tIns="0" rIns="0" bIns="0" rtlCol="0" anchor="ctr"/>
          <a:lstStyle/>
          <a:p>
            <a:pPr indent="0" marL="0">
              <a:buNone/>
            </a:pPr>
            <a:r>
              <a:rPr lang="en-US" sz="1200" b="1" dirty="0">
                <a:solidFill>
                  <a:srgbClr val="2A2B38"/>
                </a:solidFill>
                <a:latin typeface="Meiryo UI" pitchFamily="34" charset="0"/>
                <a:ea typeface="Meiryo UI" pitchFamily="34" charset="-122"/>
                <a:cs typeface="Meiryo UI" pitchFamily="34" charset="-120"/>
              </a:rPr>
              <a:t>個人向けサービスの需要は大きい</a:t>
            </a:r>
            <a:endParaRPr lang="en-US" sz="1200" dirty="0"/>
          </a:p>
        </p:txBody>
      </p:sp>
      <p:sp>
        <p:nvSpPr>
          <p:cNvPr id="16" name="Shape 12"/>
          <p:cNvSpPr/>
          <p:nvPr/>
        </p:nvSpPr>
        <p:spPr>
          <a:xfrm>
            <a:off x="548640" y="2651760"/>
            <a:ext cx="11094415" cy="777240"/>
          </a:xfrm>
          <a:prstGeom prst="roundRect">
            <a:avLst>
              <a:gd name="adj" fmla="val 14118"/>
            </a:avLst>
          </a:prstGeom>
          <a:solidFill>
            <a:srgbClr val="F6F7FB"/>
          </a:solidFill>
          <a:ln w="12700">
            <a:solidFill>
              <a:srgbClr val="F6F7FB"/>
            </a:solidFill>
            <a:prstDash val="solid"/>
          </a:ln>
        </p:spPr>
      </p:sp>
      <p:sp>
        <p:nvSpPr>
          <p:cNvPr id="17" name="Shape 13"/>
          <p:cNvSpPr/>
          <p:nvPr/>
        </p:nvSpPr>
        <p:spPr>
          <a:xfrm>
            <a:off x="713232" y="2761488"/>
            <a:ext cx="548640" cy="548640"/>
          </a:xfrm>
          <a:prstGeom prst="ellipse">
            <a:avLst/>
          </a:prstGeom>
          <a:solidFill>
            <a:srgbClr val="3A3F73"/>
          </a:solidFill>
          <a:ln w="12700">
            <a:solidFill>
              <a:srgbClr val="3A3F73"/>
            </a:solidFill>
            <a:prstDash val="solid"/>
          </a:ln>
        </p:spPr>
      </p:sp>
      <p:pic>
        <p:nvPicPr>
          <p:cNvPr id="18" name="Image 2" descr="preencoded.png">    </p:cNvPr>
          <p:cNvPicPr>
            <a:picLocks noChangeAspect="1"/>
          </p:cNvPicPr>
          <p:nvPr/>
        </p:nvPicPr>
        <p:blipFill>
          <a:blip r:embed="rId3"/>
          <a:stretch>
            <a:fillRect/>
          </a:stretch>
        </p:blipFill>
        <p:spPr>
          <a:xfrm>
            <a:off x="855878" y="2904134"/>
            <a:ext cx="263347" cy="263347"/>
          </a:xfrm>
          <a:prstGeom prst="rect">
            <a:avLst/>
          </a:prstGeom>
        </p:spPr>
      </p:pic>
      <p:sp>
        <p:nvSpPr>
          <p:cNvPr id="19" name="Text 14"/>
          <p:cNvSpPr txBox="1"/>
          <p:nvPr/>
        </p:nvSpPr>
        <p:spPr>
          <a:xfrm>
            <a:off x="1417320" y="2651760"/>
            <a:ext cx="2514600" cy="777240"/>
          </a:xfrm>
          <a:prstGeom prst="rect">
            <a:avLst/>
          </a:prstGeom>
          <a:noFill/>
          <a:ln/>
        </p:spPr>
        <p:txBody>
          <a:bodyPr wrap="square" lIns="0" tIns="0" rIns="0" bIns="0" rtlCol="0" anchor="ctr"/>
          <a:lstStyle/>
          <a:p>
            <a:pPr indent="0" marL="0">
              <a:buNone/>
            </a:pPr>
            <a:r>
              <a:rPr lang="en-US" sz="1350" b="1" dirty="0">
                <a:solidFill>
                  <a:srgbClr val="3A3F73"/>
                </a:solidFill>
                <a:latin typeface="Meiryo UI" pitchFamily="34" charset="0"/>
                <a:ea typeface="Meiryo UI" pitchFamily="34" charset="-122"/>
                <a:cs typeface="Meiryo UI" pitchFamily="34" charset="-120"/>
              </a:rPr>
              <a:t>相続・事業承継への関心</a:t>
            </a:r>
            <a:endParaRPr lang="en-US" sz="1350" dirty="0"/>
          </a:p>
        </p:txBody>
      </p:sp>
      <p:sp>
        <p:nvSpPr>
          <p:cNvPr id="20" name="Text 15"/>
          <p:cNvSpPr txBox="1"/>
          <p:nvPr/>
        </p:nvSpPr>
        <p:spPr>
          <a:xfrm>
            <a:off x="3977640" y="2651760"/>
            <a:ext cx="3474720" cy="777240"/>
          </a:xfrm>
          <a:prstGeom prst="rect">
            <a:avLst/>
          </a:prstGeom>
          <a:noFill/>
          <a:ln/>
        </p:spPr>
        <p:txBody>
          <a:bodyPr wrap="square" lIns="0" tIns="0" rIns="0" bIns="0" rtlCol="0" anchor="ctr"/>
          <a:lstStyle/>
          <a:p>
            <a:pPr indent="0" marL="0">
              <a:buNone/>
            </a:pPr>
            <a:r>
              <a:rPr lang="en-US" sz="1200" dirty="0">
                <a:solidFill>
                  <a:srgbClr val="2A2B38"/>
                </a:solidFill>
                <a:latin typeface="Meiryo UI" pitchFamily="34" charset="0"/>
                <a:ea typeface="Meiryo UI" pitchFamily="34" charset="-122"/>
                <a:cs typeface="Meiryo UI" pitchFamily="34" charset="-120"/>
              </a:rPr>
              <a:t>相続・生前対策・事業承継についての相談が増えている</a:t>
            </a:r>
            <a:endParaRPr lang="en-US" sz="1200" dirty="0"/>
          </a:p>
        </p:txBody>
      </p:sp>
      <p:pic>
        <p:nvPicPr>
          <p:cNvPr id="21" name="Image 3" descr="preencoded.png">    </p:cNvPr>
          <p:cNvPicPr>
            <a:picLocks noChangeAspect="1"/>
          </p:cNvPicPr>
          <p:nvPr/>
        </p:nvPicPr>
        <p:blipFill>
          <a:blip r:embed="rId4"/>
          <a:stretch>
            <a:fillRect/>
          </a:stretch>
        </p:blipFill>
        <p:spPr>
          <a:xfrm>
            <a:off x="7479792" y="2926080"/>
            <a:ext cx="228600" cy="228600"/>
          </a:xfrm>
          <a:prstGeom prst="rect">
            <a:avLst/>
          </a:prstGeom>
        </p:spPr>
      </p:pic>
      <p:sp>
        <p:nvSpPr>
          <p:cNvPr id="22" name="Text 16"/>
          <p:cNvSpPr txBox="1"/>
          <p:nvPr/>
        </p:nvSpPr>
        <p:spPr>
          <a:xfrm>
            <a:off x="7818120" y="2651760"/>
            <a:ext cx="3657600" cy="777240"/>
          </a:xfrm>
          <a:prstGeom prst="rect">
            <a:avLst/>
          </a:prstGeom>
          <a:noFill/>
          <a:ln/>
        </p:spPr>
        <p:txBody>
          <a:bodyPr wrap="square" lIns="0" tIns="0" rIns="0" bIns="0" rtlCol="0" anchor="ctr"/>
          <a:lstStyle/>
          <a:p>
            <a:pPr indent="0" marL="0">
              <a:buNone/>
            </a:pPr>
            <a:r>
              <a:rPr lang="en-US" sz="1200" b="1" dirty="0">
                <a:solidFill>
                  <a:srgbClr val="2A2B38"/>
                </a:solidFill>
                <a:latin typeface="Meiryo UI" pitchFamily="34" charset="0"/>
                <a:ea typeface="Meiryo UI" pitchFamily="34" charset="-122"/>
                <a:cs typeface="Meiryo UI" pitchFamily="34" charset="-120"/>
              </a:rPr>
              <a:t>分かりやすい情報発信が選ばれる決め手に</a:t>
            </a:r>
            <a:endParaRPr lang="en-US" sz="1200" dirty="0"/>
          </a:p>
        </p:txBody>
      </p:sp>
      <p:sp>
        <p:nvSpPr>
          <p:cNvPr id="23" name="Shape 17"/>
          <p:cNvSpPr/>
          <p:nvPr/>
        </p:nvSpPr>
        <p:spPr>
          <a:xfrm>
            <a:off x="548640" y="3566160"/>
            <a:ext cx="11094415" cy="777240"/>
          </a:xfrm>
          <a:prstGeom prst="roundRect">
            <a:avLst>
              <a:gd name="adj" fmla="val 14118"/>
            </a:avLst>
          </a:prstGeom>
          <a:solidFill>
            <a:srgbClr val="F6F7FB"/>
          </a:solidFill>
          <a:ln w="12700">
            <a:solidFill>
              <a:srgbClr val="F6F7FB"/>
            </a:solidFill>
            <a:prstDash val="solid"/>
          </a:ln>
        </p:spPr>
      </p:sp>
      <p:sp>
        <p:nvSpPr>
          <p:cNvPr id="24" name="Shape 18"/>
          <p:cNvSpPr/>
          <p:nvPr/>
        </p:nvSpPr>
        <p:spPr>
          <a:xfrm>
            <a:off x="713232" y="3675888"/>
            <a:ext cx="548640" cy="548640"/>
          </a:xfrm>
          <a:prstGeom prst="ellipse">
            <a:avLst/>
          </a:prstGeom>
          <a:solidFill>
            <a:srgbClr val="3A3F73"/>
          </a:solidFill>
          <a:ln w="12700">
            <a:solidFill>
              <a:srgbClr val="3A3F73"/>
            </a:solidFill>
            <a:prstDash val="solid"/>
          </a:ln>
        </p:spPr>
      </p:sp>
      <p:pic>
        <p:nvPicPr>
          <p:cNvPr id="25" name="Image 4" descr="preencoded.png">    </p:cNvPr>
          <p:cNvPicPr>
            <a:picLocks noChangeAspect="1"/>
          </p:cNvPicPr>
          <p:nvPr/>
        </p:nvPicPr>
        <p:blipFill>
          <a:blip r:embed="rId5"/>
          <a:stretch>
            <a:fillRect/>
          </a:stretch>
        </p:blipFill>
        <p:spPr>
          <a:xfrm>
            <a:off x="855878" y="3818534"/>
            <a:ext cx="263347" cy="263347"/>
          </a:xfrm>
          <a:prstGeom prst="rect">
            <a:avLst/>
          </a:prstGeom>
        </p:spPr>
      </p:pic>
      <p:sp>
        <p:nvSpPr>
          <p:cNvPr id="26" name="Text 19"/>
          <p:cNvSpPr txBox="1"/>
          <p:nvPr/>
        </p:nvSpPr>
        <p:spPr>
          <a:xfrm>
            <a:off x="1417320" y="3566160"/>
            <a:ext cx="2514600" cy="777240"/>
          </a:xfrm>
          <a:prstGeom prst="rect">
            <a:avLst/>
          </a:prstGeom>
          <a:noFill/>
          <a:ln/>
        </p:spPr>
        <p:txBody>
          <a:bodyPr wrap="square" lIns="0" tIns="0" rIns="0" bIns="0" rtlCol="0" anchor="ctr"/>
          <a:lstStyle/>
          <a:p>
            <a:pPr indent="0" marL="0">
              <a:buNone/>
            </a:pPr>
            <a:r>
              <a:rPr lang="en-US" sz="1350" b="1" dirty="0">
                <a:solidFill>
                  <a:srgbClr val="3A3F73"/>
                </a:solidFill>
                <a:latin typeface="Meiryo UI" pitchFamily="34" charset="0"/>
                <a:ea typeface="Meiryo UI" pitchFamily="34" charset="-122"/>
                <a:cs typeface="Meiryo UI" pitchFamily="34" charset="-120"/>
              </a:rPr>
              <a:t>税理士選びはネット検索へ</a:t>
            </a:r>
            <a:endParaRPr lang="en-US" sz="1350" dirty="0"/>
          </a:p>
        </p:txBody>
      </p:sp>
      <p:sp>
        <p:nvSpPr>
          <p:cNvPr id="27" name="Text 20"/>
          <p:cNvSpPr txBox="1"/>
          <p:nvPr/>
        </p:nvSpPr>
        <p:spPr>
          <a:xfrm>
            <a:off x="3977640" y="3566160"/>
            <a:ext cx="3474720" cy="777240"/>
          </a:xfrm>
          <a:prstGeom prst="rect">
            <a:avLst/>
          </a:prstGeom>
          <a:noFill/>
          <a:ln/>
        </p:spPr>
        <p:txBody>
          <a:bodyPr wrap="square" lIns="0" tIns="0" rIns="0" bIns="0" rtlCol="0" anchor="ctr"/>
          <a:lstStyle/>
          <a:p>
            <a:pPr indent="0" marL="0">
              <a:buNone/>
            </a:pPr>
            <a:r>
              <a:rPr lang="en-US" sz="1200" dirty="0">
                <a:solidFill>
                  <a:srgbClr val="2A2B38"/>
                </a:solidFill>
                <a:latin typeface="Meiryo UI" pitchFamily="34" charset="0"/>
                <a:ea typeface="Meiryo UI" pitchFamily="34" charset="-122"/>
                <a:cs typeface="Meiryo UI" pitchFamily="34" charset="-120"/>
              </a:rPr>
              <a:t>個人は検索・口コミ・動画で事務所を比べて選ぶようになっている</a:t>
            </a:r>
            <a:endParaRPr lang="en-US" sz="1200" dirty="0"/>
          </a:p>
        </p:txBody>
      </p:sp>
      <p:pic>
        <p:nvPicPr>
          <p:cNvPr id="28" name="Image 5" descr="preencoded.png">    </p:cNvPr>
          <p:cNvPicPr>
            <a:picLocks noChangeAspect="1"/>
          </p:cNvPicPr>
          <p:nvPr/>
        </p:nvPicPr>
        <p:blipFill>
          <a:blip r:embed="rId6"/>
          <a:stretch>
            <a:fillRect/>
          </a:stretch>
        </p:blipFill>
        <p:spPr>
          <a:xfrm>
            <a:off x="7479792" y="3840480"/>
            <a:ext cx="228600" cy="228600"/>
          </a:xfrm>
          <a:prstGeom prst="rect">
            <a:avLst/>
          </a:prstGeom>
        </p:spPr>
      </p:pic>
      <p:sp>
        <p:nvSpPr>
          <p:cNvPr id="29" name="Text 21"/>
          <p:cNvSpPr txBox="1"/>
          <p:nvPr/>
        </p:nvSpPr>
        <p:spPr>
          <a:xfrm>
            <a:off x="7818120" y="3566160"/>
            <a:ext cx="3657600" cy="777240"/>
          </a:xfrm>
          <a:prstGeom prst="rect">
            <a:avLst/>
          </a:prstGeom>
          <a:noFill/>
          <a:ln/>
        </p:spPr>
        <p:txBody>
          <a:bodyPr wrap="square" lIns="0" tIns="0" rIns="0" bIns="0" rtlCol="0" anchor="ctr"/>
          <a:lstStyle/>
          <a:p>
            <a:pPr indent="0" marL="0">
              <a:buNone/>
            </a:pPr>
            <a:r>
              <a:rPr lang="en-US" sz="1200" b="1" dirty="0">
                <a:solidFill>
                  <a:srgbClr val="2A2B38"/>
                </a:solidFill>
                <a:latin typeface="Meiryo UI" pitchFamily="34" charset="0"/>
                <a:ea typeface="Meiryo UI" pitchFamily="34" charset="-122"/>
                <a:cs typeface="Meiryo UI" pitchFamily="34" charset="-120"/>
              </a:rPr>
              <a:t>HPが“ある”だけでは問い合わせにつながらない</a:t>
            </a:r>
            <a:endParaRPr lang="en-US" sz="1200" dirty="0"/>
          </a:p>
        </p:txBody>
      </p:sp>
      <p:sp>
        <p:nvSpPr>
          <p:cNvPr id="30" name="Shape 22"/>
          <p:cNvSpPr/>
          <p:nvPr/>
        </p:nvSpPr>
        <p:spPr>
          <a:xfrm>
            <a:off x="548640" y="4480560"/>
            <a:ext cx="11094415" cy="777240"/>
          </a:xfrm>
          <a:prstGeom prst="roundRect">
            <a:avLst>
              <a:gd name="adj" fmla="val 14118"/>
            </a:avLst>
          </a:prstGeom>
          <a:solidFill>
            <a:srgbClr val="F6F7FB"/>
          </a:solidFill>
          <a:ln w="12700">
            <a:solidFill>
              <a:srgbClr val="F6F7FB"/>
            </a:solidFill>
            <a:prstDash val="solid"/>
          </a:ln>
        </p:spPr>
      </p:sp>
      <p:sp>
        <p:nvSpPr>
          <p:cNvPr id="31" name="Shape 23"/>
          <p:cNvSpPr/>
          <p:nvPr/>
        </p:nvSpPr>
        <p:spPr>
          <a:xfrm>
            <a:off x="713232" y="4590288"/>
            <a:ext cx="548640" cy="548640"/>
          </a:xfrm>
          <a:prstGeom prst="ellipse">
            <a:avLst/>
          </a:prstGeom>
          <a:solidFill>
            <a:srgbClr val="3A3F73"/>
          </a:solidFill>
          <a:ln w="12700">
            <a:solidFill>
              <a:srgbClr val="3A3F73"/>
            </a:solidFill>
            <a:prstDash val="solid"/>
          </a:ln>
        </p:spPr>
      </p:sp>
      <p:pic>
        <p:nvPicPr>
          <p:cNvPr id="32" name="Image 6" descr="preencoded.png">    </p:cNvPr>
          <p:cNvPicPr>
            <a:picLocks noChangeAspect="1"/>
          </p:cNvPicPr>
          <p:nvPr/>
        </p:nvPicPr>
        <p:blipFill>
          <a:blip r:embed="rId7"/>
          <a:stretch>
            <a:fillRect/>
          </a:stretch>
        </p:blipFill>
        <p:spPr>
          <a:xfrm>
            <a:off x="855878" y="4732934"/>
            <a:ext cx="263347" cy="263347"/>
          </a:xfrm>
          <a:prstGeom prst="rect">
            <a:avLst/>
          </a:prstGeom>
        </p:spPr>
      </p:pic>
      <p:sp>
        <p:nvSpPr>
          <p:cNvPr id="33" name="Text 24"/>
          <p:cNvSpPr txBox="1"/>
          <p:nvPr/>
        </p:nvSpPr>
        <p:spPr>
          <a:xfrm>
            <a:off x="1417320" y="4480560"/>
            <a:ext cx="2514600" cy="777240"/>
          </a:xfrm>
          <a:prstGeom prst="rect">
            <a:avLst/>
          </a:prstGeom>
          <a:noFill/>
          <a:ln/>
        </p:spPr>
        <p:txBody>
          <a:bodyPr wrap="square" lIns="0" tIns="0" rIns="0" bIns="0" rtlCol="0" anchor="ctr"/>
          <a:lstStyle/>
          <a:p>
            <a:pPr indent="0" marL="0">
              <a:buNone/>
            </a:pPr>
            <a:r>
              <a:rPr lang="en-US" sz="1350" b="1" dirty="0">
                <a:solidFill>
                  <a:srgbClr val="3A3F73"/>
                </a:solidFill>
                <a:latin typeface="Meiryo UI" pitchFamily="34" charset="0"/>
                <a:ea typeface="Meiryo UI" pitchFamily="34" charset="-122"/>
                <a:cs typeface="Meiryo UI" pitchFamily="34" charset="-120"/>
              </a:rPr>
              <a:t>制度の変更が続いている</a:t>
            </a:r>
            <a:endParaRPr lang="en-US" sz="1350" dirty="0"/>
          </a:p>
        </p:txBody>
      </p:sp>
      <p:sp>
        <p:nvSpPr>
          <p:cNvPr id="34" name="Text 25"/>
          <p:cNvSpPr txBox="1"/>
          <p:nvPr/>
        </p:nvSpPr>
        <p:spPr>
          <a:xfrm>
            <a:off x="3977640" y="4480560"/>
            <a:ext cx="3474720" cy="777240"/>
          </a:xfrm>
          <a:prstGeom prst="rect">
            <a:avLst/>
          </a:prstGeom>
          <a:noFill/>
          <a:ln/>
        </p:spPr>
        <p:txBody>
          <a:bodyPr wrap="square" lIns="0" tIns="0" rIns="0" bIns="0" rtlCol="0" anchor="ctr"/>
          <a:lstStyle/>
          <a:p>
            <a:pPr indent="0" marL="0">
              <a:buNone/>
            </a:pPr>
            <a:r>
              <a:rPr lang="en-US" sz="1200" dirty="0">
                <a:solidFill>
                  <a:srgbClr val="2A2B38"/>
                </a:solidFill>
                <a:latin typeface="Meiryo UI" pitchFamily="34" charset="0"/>
                <a:ea typeface="Meiryo UI" pitchFamily="34" charset="-122"/>
                <a:cs typeface="Meiryo UI" pitchFamily="34" charset="-120"/>
              </a:rPr>
              <a:t>インボイスや電子帳簿保存など、制度の変更が続いている</a:t>
            </a:r>
            <a:endParaRPr lang="en-US" sz="1200" dirty="0"/>
          </a:p>
        </p:txBody>
      </p:sp>
      <p:pic>
        <p:nvPicPr>
          <p:cNvPr id="35" name="Image 7" descr="preencoded.png">    </p:cNvPr>
          <p:cNvPicPr>
            <a:picLocks noChangeAspect="1"/>
          </p:cNvPicPr>
          <p:nvPr/>
        </p:nvPicPr>
        <p:blipFill>
          <a:blip r:embed="rId8"/>
          <a:stretch>
            <a:fillRect/>
          </a:stretch>
        </p:blipFill>
        <p:spPr>
          <a:xfrm>
            <a:off x="7479792" y="4754880"/>
            <a:ext cx="228600" cy="228600"/>
          </a:xfrm>
          <a:prstGeom prst="rect">
            <a:avLst/>
          </a:prstGeom>
        </p:spPr>
      </p:pic>
      <p:sp>
        <p:nvSpPr>
          <p:cNvPr id="36" name="Text 26"/>
          <p:cNvSpPr txBox="1"/>
          <p:nvPr/>
        </p:nvSpPr>
        <p:spPr>
          <a:xfrm>
            <a:off x="7818120" y="4480560"/>
            <a:ext cx="3657600" cy="777240"/>
          </a:xfrm>
          <a:prstGeom prst="rect">
            <a:avLst/>
          </a:prstGeom>
          <a:noFill/>
          <a:ln/>
        </p:spPr>
        <p:txBody>
          <a:bodyPr wrap="square" lIns="0" tIns="0" rIns="0" bIns="0" rtlCol="0" anchor="ctr"/>
          <a:lstStyle/>
          <a:p>
            <a:pPr indent="0" marL="0">
              <a:buNone/>
            </a:pPr>
            <a:r>
              <a:rPr lang="en-US" sz="1200" b="1" dirty="0">
                <a:solidFill>
                  <a:srgbClr val="2A2B38"/>
                </a:solidFill>
                <a:latin typeface="Meiryo UI" pitchFamily="34" charset="0"/>
                <a:ea typeface="Meiryo UI" pitchFamily="34" charset="-122"/>
                <a:cs typeface="Meiryo UI" pitchFamily="34" charset="-120"/>
              </a:rPr>
              <a:t>顧問先への分かりやすい発信が満足度を左右する</a:t>
            </a:r>
            <a:endParaRPr lang="en-US" sz="1200" dirty="0"/>
          </a:p>
        </p:txBody>
      </p:sp>
      <p:sp>
        <p:nvSpPr>
          <p:cNvPr id="37" name="Shape 27"/>
          <p:cNvSpPr/>
          <p:nvPr/>
        </p:nvSpPr>
        <p:spPr>
          <a:xfrm>
            <a:off x="548640" y="5394960"/>
            <a:ext cx="11094415" cy="777240"/>
          </a:xfrm>
          <a:prstGeom prst="roundRect">
            <a:avLst>
              <a:gd name="adj" fmla="val 14118"/>
            </a:avLst>
          </a:prstGeom>
          <a:solidFill>
            <a:srgbClr val="FBF3E1"/>
          </a:solidFill>
          <a:ln w="12700">
            <a:solidFill>
              <a:srgbClr val="FBF3E1"/>
            </a:solidFill>
            <a:prstDash val="solid"/>
          </a:ln>
        </p:spPr>
      </p:sp>
      <p:sp>
        <p:nvSpPr>
          <p:cNvPr id="38" name="Shape 28"/>
          <p:cNvSpPr/>
          <p:nvPr/>
        </p:nvSpPr>
        <p:spPr>
          <a:xfrm>
            <a:off x="713232" y="5504688"/>
            <a:ext cx="548640" cy="548640"/>
          </a:xfrm>
          <a:prstGeom prst="ellipse">
            <a:avLst/>
          </a:prstGeom>
          <a:solidFill>
            <a:srgbClr val="A87A1C"/>
          </a:solidFill>
          <a:ln w="12700">
            <a:solidFill>
              <a:srgbClr val="A87A1C"/>
            </a:solidFill>
            <a:prstDash val="solid"/>
          </a:ln>
        </p:spPr>
      </p:sp>
      <p:pic>
        <p:nvPicPr>
          <p:cNvPr id="39" name="Image 8" descr="preencoded.png">    </p:cNvPr>
          <p:cNvPicPr>
            <a:picLocks noChangeAspect="1"/>
          </p:cNvPicPr>
          <p:nvPr/>
        </p:nvPicPr>
        <p:blipFill>
          <a:blip r:embed="rId9"/>
          <a:stretch>
            <a:fillRect/>
          </a:stretch>
        </p:blipFill>
        <p:spPr>
          <a:xfrm>
            <a:off x="855878" y="5647334"/>
            <a:ext cx="263347" cy="263347"/>
          </a:xfrm>
          <a:prstGeom prst="rect">
            <a:avLst/>
          </a:prstGeom>
        </p:spPr>
      </p:pic>
      <p:sp>
        <p:nvSpPr>
          <p:cNvPr id="40" name="Text 29"/>
          <p:cNvSpPr txBox="1"/>
          <p:nvPr/>
        </p:nvSpPr>
        <p:spPr>
          <a:xfrm>
            <a:off x="1417320" y="5394960"/>
            <a:ext cx="2514600" cy="777240"/>
          </a:xfrm>
          <a:prstGeom prst="rect">
            <a:avLst/>
          </a:prstGeom>
          <a:noFill/>
          <a:ln/>
        </p:spPr>
        <p:txBody>
          <a:bodyPr wrap="square" lIns="0" tIns="0" rIns="0" bIns="0" rtlCol="0" anchor="ctr"/>
          <a:lstStyle/>
          <a:p>
            <a:pPr indent="0" marL="0">
              <a:buNone/>
            </a:pPr>
            <a:r>
              <a:rPr lang="en-US" sz="1350" b="1" dirty="0">
                <a:solidFill>
                  <a:srgbClr val="A87A1C"/>
                </a:solidFill>
                <a:latin typeface="Meiryo UI" pitchFamily="34" charset="0"/>
                <a:ea typeface="Meiryo UI" pitchFamily="34" charset="-122"/>
                <a:cs typeface="Meiryo UI" pitchFamily="34" charset="-120"/>
              </a:rPr>
              <a:t>貴事務所の転換点</a:t>
            </a:r>
            <a:endParaRPr lang="en-US" sz="1350" dirty="0"/>
          </a:p>
        </p:txBody>
      </p:sp>
      <p:sp>
        <p:nvSpPr>
          <p:cNvPr id="41" name="Text 30"/>
          <p:cNvSpPr txBox="1"/>
          <p:nvPr/>
        </p:nvSpPr>
        <p:spPr>
          <a:xfrm>
            <a:off x="3977640" y="5394960"/>
            <a:ext cx="3474720" cy="777240"/>
          </a:xfrm>
          <a:prstGeom prst="rect">
            <a:avLst/>
          </a:prstGeom>
          <a:noFill/>
          <a:ln/>
        </p:spPr>
        <p:txBody>
          <a:bodyPr wrap="square" lIns="0" tIns="0" rIns="0" bIns="0" rtlCol="0" anchor="ctr"/>
          <a:lstStyle/>
          <a:p>
            <a:pPr indent="0" marL="0">
              <a:buNone/>
            </a:pPr>
            <a:r>
              <a:rPr lang="en-US" sz="1200" dirty="0">
                <a:solidFill>
                  <a:srgbClr val="2A2B38"/>
                </a:solidFill>
                <a:latin typeface="Meiryo UI" pitchFamily="34" charset="0"/>
                <a:ea typeface="Meiryo UI" pitchFamily="34" charset="-122"/>
                <a:cs typeface="Meiryo UI" pitchFamily="34" charset="-120"/>
              </a:rPr>
              <a:t>紹介ほぼ100%で業務は多忙。年末調整・確定申告の繁忙期を控える</a:t>
            </a:r>
            <a:endParaRPr lang="en-US" sz="1200" dirty="0"/>
          </a:p>
        </p:txBody>
      </p:sp>
      <p:pic>
        <p:nvPicPr>
          <p:cNvPr id="42" name="Image 9" descr="preencoded.png">    </p:cNvPr>
          <p:cNvPicPr>
            <a:picLocks noChangeAspect="1"/>
          </p:cNvPicPr>
          <p:nvPr/>
        </p:nvPicPr>
        <p:blipFill>
          <a:blip r:embed="rId10"/>
          <a:stretch>
            <a:fillRect/>
          </a:stretch>
        </p:blipFill>
        <p:spPr>
          <a:xfrm>
            <a:off x="7479792" y="5669280"/>
            <a:ext cx="228600" cy="228600"/>
          </a:xfrm>
          <a:prstGeom prst="rect">
            <a:avLst/>
          </a:prstGeom>
        </p:spPr>
      </p:pic>
      <p:sp>
        <p:nvSpPr>
          <p:cNvPr id="43" name="Text 31"/>
          <p:cNvSpPr txBox="1"/>
          <p:nvPr/>
        </p:nvSpPr>
        <p:spPr>
          <a:xfrm>
            <a:off x="7818120" y="5394960"/>
            <a:ext cx="3657600" cy="777240"/>
          </a:xfrm>
          <a:prstGeom prst="rect">
            <a:avLst/>
          </a:prstGeom>
          <a:noFill/>
          <a:ln/>
        </p:spPr>
        <p:txBody>
          <a:bodyPr wrap="square" lIns="0" tIns="0" rIns="0" bIns="0" rtlCol="0" anchor="ctr"/>
          <a:lstStyle/>
          <a:p>
            <a:pPr indent="0" marL="0">
              <a:buNone/>
            </a:pPr>
            <a:r>
              <a:rPr lang="en-US" sz="1200" b="1" dirty="0">
                <a:solidFill>
                  <a:srgbClr val="2A2B38"/>
                </a:solidFill>
                <a:latin typeface="Meiryo UI" pitchFamily="34" charset="0"/>
                <a:ea typeface="Meiryo UI" pitchFamily="34" charset="-122"/>
                <a:cs typeface="Meiryo UI" pitchFamily="34" charset="-120"/>
              </a:rPr>
              <a:t>繁忙期の前に“手のかからない発信の仕組み”をつくる好機</a:t>
            </a:r>
            <a:endParaRPr lang="en-US" sz="1200" dirty="0"/>
          </a:p>
        </p:txBody>
      </p:sp>
    </p:spTree>
  </p:cSld>
  <p:clrMapOvr>
    <a:masterClrMapping/>
  </p:clrMapOvr>
</p:sld>
</file>

<file path=ppt/slides/slide5.xml><?xml version="1.0" encoding="utf-8"?>
<p:sld xmlns:a="http://schemas.openxmlformats.org/drawingml/2006/main" xmlns:r="http://schemas.openxmlformats.org/officeDocument/2006/relationships" xmlns:p="http://schemas.openxmlformats.org/presentationml/2006/main">
  <p:cSld name="Slide 5">
    <p:bg>
      <p:bgPr>
        <a:solidFill>
          <a:srgbClr val="FFFFFF"/>
        </a:solidFill>
      </p:bgPr>
    </p:bg>
    <p:spTree>
      <p:nvGrpSpPr>
        <p:cNvPr id="1" name=""/>
        <p:cNvGrpSpPr/>
        <p:nvPr/>
      </p:nvGrpSpPr>
      <p:grpSpPr>
        <a:xfrm>
          <a:off x="0" y="0"/>
          <a:ext cx="0" cy="0"/>
          <a:chOff x="0" y="0"/>
          <a:chExt cx="0" cy="0"/>
        </a:xfrm>
      </p:grpSpPr>
      <p:sp>
        <p:nvSpPr>
          <p:cNvPr id="2" name="Text 0"/>
          <p:cNvSpPr txBox="1"/>
          <p:nvPr/>
        </p:nvSpPr>
        <p:spPr>
          <a:xfrm>
            <a:off x="548640" y="347472"/>
            <a:ext cx="7315200" cy="274320"/>
          </a:xfrm>
          <a:prstGeom prst="rect">
            <a:avLst/>
          </a:prstGeom>
          <a:noFill/>
          <a:ln/>
        </p:spPr>
        <p:txBody>
          <a:bodyPr wrap="square" lIns="0" tIns="0" rIns="0" bIns="0" rtlCol="0" anchor="t"/>
          <a:lstStyle/>
          <a:p>
            <a:pPr indent="0" marL="0">
              <a:buNone/>
            </a:pPr>
            <a:r>
              <a:rPr lang="en-US" sz="1100" b="1" spc="200" kern="0" dirty="0">
                <a:solidFill>
                  <a:srgbClr val="A87A1C"/>
                </a:solidFill>
                <a:latin typeface="Meiryo UI" pitchFamily="34" charset="0"/>
                <a:ea typeface="Meiryo UI" pitchFamily="34" charset="-122"/>
                <a:cs typeface="Meiryo UI" pitchFamily="34" charset="-120"/>
              </a:rPr>
              <a:t>02｜WHY NOW</a:t>
            </a:r>
            <a:endParaRPr lang="en-US" sz="1100" dirty="0"/>
          </a:p>
        </p:txBody>
      </p:sp>
      <p:sp>
        <p:nvSpPr>
          <p:cNvPr id="3" name="Text 1"/>
          <p:cNvSpPr txBox="1"/>
          <p:nvPr/>
        </p:nvSpPr>
        <p:spPr>
          <a:xfrm>
            <a:off x="548640" y="621792"/>
            <a:ext cx="11094415" cy="566928"/>
          </a:xfrm>
          <a:prstGeom prst="rect">
            <a:avLst/>
          </a:prstGeom>
          <a:noFill/>
          <a:ln/>
        </p:spPr>
        <p:txBody>
          <a:bodyPr wrap="square" lIns="0" tIns="0" rIns="0" bIns="0" rtlCol="0" anchor="ctr"/>
          <a:lstStyle/>
          <a:p>
            <a:pPr indent="0" marL="0">
              <a:buNone/>
            </a:pPr>
            <a:r>
              <a:rPr lang="en-US" sz="2600" b="1" dirty="0">
                <a:solidFill>
                  <a:srgbClr val="3A3F73"/>
                </a:solidFill>
                <a:latin typeface="Meiryo UI" pitchFamily="34" charset="0"/>
                <a:ea typeface="Meiryo UI" pitchFamily="34" charset="-122"/>
                <a:cs typeface="Meiryo UI" pitchFamily="34" charset="-120"/>
              </a:rPr>
              <a:t>貴事務所が直面している本質的課題</a:t>
            </a:r>
            <a:endParaRPr lang="en-US" sz="2600" dirty="0"/>
          </a:p>
        </p:txBody>
      </p:sp>
      <p:sp>
        <p:nvSpPr>
          <p:cNvPr id="4" name="Text 2"/>
          <p:cNvSpPr txBox="1"/>
          <p:nvPr/>
        </p:nvSpPr>
        <p:spPr>
          <a:xfrm>
            <a:off x="548640" y="1207008"/>
            <a:ext cx="11094415" cy="365760"/>
          </a:xfrm>
          <a:prstGeom prst="rect">
            <a:avLst/>
          </a:prstGeom>
          <a:noFill/>
          <a:ln/>
        </p:spPr>
        <p:txBody>
          <a:bodyPr wrap="square" lIns="0" tIns="0" rIns="0" bIns="0" rtlCol="0" anchor="ctr"/>
          <a:lstStyle/>
          <a:p>
            <a:pPr indent="0" marL="0">
              <a:buNone/>
            </a:pPr>
            <a:r>
              <a:rPr lang="en-US" sz="1300" dirty="0">
                <a:solidFill>
                  <a:srgbClr val="686A82"/>
                </a:solidFill>
                <a:latin typeface="Meiryo UI" pitchFamily="34" charset="0"/>
                <a:ea typeface="Meiryo UI" pitchFamily="34" charset="-122"/>
                <a:cs typeface="Meiryo UI" pitchFamily="34" charset="-120"/>
              </a:rPr>
              <a:t>前回伺った内容をもとに、構造的な課題として整理しました。本日、優先度と現状の数値をご確認ください。</a:t>
            </a:r>
            <a:endParaRPr lang="en-US" sz="1300" dirty="0"/>
          </a:p>
        </p:txBody>
      </p:sp>
      <p:sp>
        <p:nvSpPr>
          <p:cNvPr id="5" name="Text 3"/>
          <p:cNvSpPr txBox="1"/>
          <p:nvPr/>
        </p:nvSpPr>
        <p:spPr>
          <a:xfrm>
            <a:off x="11094415" y="6419088"/>
            <a:ext cx="548640" cy="256032"/>
          </a:xfrm>
          <a:prstGeom prst="rect">
            <a:avLst/>
          </a:prstGeom>
          <a:noFill/>
          <a:ln/>
        </p:spPr>
        <p:txBody>
          <a:bodyPr wrap="square" lIns="0" tIns="0" rIns="0" bIns="0" rtlCol="0" anchor="t"/>
          <a:lstStyle/>
          <a:p>
            <a:pPr algn="r" indent="0" marL="0">
              <a:buNone/>
            </a:pPr>
            <a:r>
              <a:rPr lang="en-US" sz="1000" dirty="0">
                <a:solidFill>
                  <a:srgbClr val="7C7E90"/>
                </a:solidFill>
                <a:latin typeface="Meiryo UI" pitchFamily="34" charset="0"/>
                <a:ea typeface="Meiryo UI" pitchFamily="34" charset="-122"/>
                <a:cs typeface="Meiryo UI" pitchFamily="34" charset="-120"/>
              </a:rPr>
              <a:t>5</a:t>
            </a:r>
            <a:endParaRPr lang="en-US" sz="1000" dirty="0"/>
          </a:p>
        </p:txBody>
      </p:sp>
      <p:sp>
        <p:nvSpPr>
          <p:cNvPr id="6" name="Text 4"/>
          <p:cNvSpPr txBox="1"/>
          <p:nvPr/>
        </p:nvSpPr>
        <p:spPr>
          <a:xfrm>
            <a:off x="548640" y="6419088"/>
            <a:ext cx="4572000" cy="256032"/>
          </a:xfrm>
          <a:prstGeom prst="rect">
            <a:avLst/>
          </a:prstGeom>
          <a:noFill/>
          <a:ln/>
        </p:spPr>
        <p:txBody>
          <a:bodyPr wrap="square" lIns="0" tIns="0" rIns="0" bIns="0" rtlCol="0" anchor="t"/>
          <a:lstStyle/>
          <a:p>
            <a:pPr indent="0" marL="0">
              <a:buNone/>
            </a:pPr>
            <a:r>
              <a:rPr lang="en-US" sz="900" dirty="0">
                <a:solidFill>
                  <a:srgbClr val="7C7E90"/>
                </a:solidFill>
                <a:latin typeface="Meiryo UI" pitchFamily="34" charset="0"/>
                <a:ea typeface="Meiryo UI" pitchFamily="34" charset="-122"/>
                <a:cs typeface="Meiryo UI" pitchFamily="34" charset="-120"/>
              </a:rPr>
              <a:t>株式会社アイドマ・ホールディングス｜MiTok</a:t>
            </a:r>
            <a:endParaRPr lang="en-US" sz="900" dirty="0"/>
          </a:p>
        </p:txBody>
      </p:sp>
      <p:sp>
        <p:nvSpPr>
          <p:cNvPr id="7" name="Shape 5"/>
          <p:cNvSpPr/>
          <p:nvPr/>
        </p:nvSpPr>
        <p:spPr>
          <a:xfrm>
            <a:off x="548640" y="1737360"/>
            <a:ext cx="3515258" cy="2103120"/>
          </a:xfrm>
          <a:prstGeom prst="roundRect">
            <a:avLst>
              <a:gd name="adj" fmla="val 5217"/>
            </a:avLst>
          </a:prstGeom>
          <a:solidFill>
            <a:srgbClr val="FFFFFF"/>
          </a:solidFill>
          <a:ln w="12700">
            <a:solidFill>
              <a:srgbClr val="FFFFFF"/>
            </a:solidFill>
            <a:prstDash val="solid"/>
          </a:ln>
          <a:effectLst>
            <a:outerShdw sx="100000" sy="100000" kx="0" ky="0" algn="bl" rotWithShape="0" blurRad="76200" dist="25400" dir="5400000">
              <a:srgbClr val="000000">
                <a:alpha val="12000"/>
              </a:srgbClr>
            </a:outerShdw>
          </a:effectLst>
        </p:spPr>
      </p:sp>
      <p:sp>
        <p:nvSpPr>
          <p:cNvPr id="8" name="Shape 6"/>
          <p:cNvSpPr/>
          <p:nvPr/>
        </p:nvSpPr>
        <p:spPr>
          <a:xfrm>
            <a:off x="777240" y="1938528"/>
            <a:ext cx="457200" cy="457200"/>
          </a:xfrm>
          <a:prstGeom prst="ellipse">
            <a:avLst/>
          </a:prstGeom>
          <a:solidFill>
            <a:srgbClr val="3A3F73"/>
          </a:solidFill>
          <a:ln w="12700">
            <a:solidFill>
              <a:srgbClr val="3A3F73"/>
            </a:solidFill>
            <a:prstDash val="solid"/>
          </a:ln>
        </p:spPr>
      </p:sp>
      <p:sp>
        <p:nvSpPr>
          <p:cNvPr id="9" name="Text 7"/>
          <p:cNvSpPr txBox="1"/>
          <p:nvPr/>
        </p:nvSpPr>
        <p:spPr>
          <a:xfrm>
            <a:off x="777240" y="1938528"/>
            <a:ext cx="457200" cy="457200"/>
          </a:xfrm>
          <a:prstGeom prst="rect">
            <a:avLst/>
          </a:prstGeom>
          <a:noFill/>
          <a:ln/>
        </p:spPr>
        <p:txBody>
          <a:bodyPr wrap="square" lIns="0" tIns="0" rIns="0" bIns="0" rtlCol="0" anchor="ctr"/>
          <a:lstStyle/>
          <a:p>
            <a:pPr algn="ctr" indent="0" marL="0">
              <a:buNone/>
            </a:pPr>
            <a:r>
              <a:rPr lang="en-US" sz="1500" b="1" dirty="0">
                <a:solidFill>
                  <a:srgbClr val="FFFFFF"/>
                </a:solidFill>
                <a:latin typeface="Meiryo UI" pitchFamily="34" charset="0"/>
                <a:ea typeface="Meiryo UI" pitchFamily="34" charset="-122"/>
                <a:cs typeface="Meiryo UI" pitchFamily="34" charset="-120"/>
              </a:rPr>
              <a:t>1</a:t>
            </a:r>
            <a:endParaRPr lang="en-US" sz="1500" dirty="0"/>
          </a:p>
        </p:txBody>
      </p:sp>
      <p:sp>
        <p:nvSpPr>
          <p:cNvPr id="10" name="Text 8"/>
          <p:cNvSpPr txBox="1"/>
          <p:nvPr/>
        </p:nvSpPr>
        <p:spPr>
          <a:xfrm>
            <a:off x="1371600" y="1938528"/>
            <a:ext cx="2509418" cy="457200"/>
          </a:xfrm>
          <a:prstGeom prst="rect">
            <a:avLst/>
          </a:prstGeom>
          <a:noFill/>
          <a:ln/>
        </p:spPr>
        <p:txBody>
          <a:bodyPr wrap="square" lIns="0" tIns="0" rIns="0" bIns="0" rtlCol="0" anchor="ctr"/>
          <a:lstStyle/>
          <a:p>
            <a:pPr indent="0" marL="0">
              <a:buNone/>
            </a:pPr>
            <a:r>
              <a:rPr lang="en-US" sz="1400" b="1" dirty="0">
                <a:solidFill>
                  <a:srgbClr val="3A3F73"/>
                </a:solidFill>
                <a:latin typeface="Meiryo UI" pitchFamily="34" charset="0"/>
                <a:ea typeface="Meiryo UI" pitchFamily="34" charset="-122"/>
                <a:cs typeface="Meiryo UI" pitchFamily="34" charset="-120"/>
              </a:rPr>
              <a:t>紹介ほぼ100%への依存</a:t>
            </a:r>
            <a:endParaRPr lang="en-US" sz="1400" dirty="0"/>
          </a:p>
        </p:txBody>
      </p:sp>
      <p:sp>
        <p:nvSpPr>
          <p:cNvPr id="11" name="Text 9"/>
          <p:cNvSpPr txBox="1"/>
          <p:nvPr/>
        </p:nvSpPr>
        <p:spPr>
          <a:xfrm>
            <a:off x="777240" y="2514600"/>
            <a:ext cx="548640" cy="274320"/>
          </a:xfrm>
          <a:prstGeom prst="rect">
            <a:avLst/>
          </a:prstGeom>
          <a:noFill/>
          <a:ln/>
        </p:spPr>
        <p:txBody>
          <a:bodyPr wrap="square" lIns="0" tIns="0" rIns="0" bIns="0" rtlCol="0" anchor="t"/>
          <a:lstStyle/>
          <a:p>
            <a:pPr indent="0" marL="0">
              <a:buNone/>
            </a:pPr>
            <a:r>
              <a:rPr lang="en-US" sz="1050" b="1" dirty="0">
                <a:solidFill>
                  <a:srgbClr val="686A82"/>
                </a:solidFill>
                <a:latin typeface="Meiryo UI" pitchFamily="34" charset="0"/>
                <a:ea typeface="Meiryo UI" pitchFamily="34" charset="-122"/>
                <a:cs typeface="Meiryo UI" pitchFamily="34" charset="-120"/>
              </a:rPr>
              <a:t>現象</a:t>
            </a:r>
            <a:endParaRPr lang="en-US" sz="1050" dirty="0"/>
          </a:p>
        </p:txBody>
      </p:sp>
      <p:sp>
        <p:nvSpPr>
          <p:cNvPr id="12" name="Text 10"/>
          <p:cNvSpPr txBox="1"/>
          <p:nvPr/>
        </p:nvSpPr>
        <p:spPr>
          <a:xfrm>
            <a:off x="1325880" y="2496312"/>
            <a:ext cx="2509418" cy="640080"/>
          </a:xfrm>
          <a:prstGeom prst="rect">
            <a:avLst/>
          </a:prstGeom>
          <a:noFill/>
          <a:ln/>
        </p:spPr>
        <p:txBody>
          <a:bodyPr wrap="square" lIns="0" tIns="0" rIns="0" bIns="0" rtlCol="0" anchor="t"/>
          <a:lstStyle/>
          <a:p>
            <a:pPr indent="0" marL="0">
              <a:buNone/>
            </a:pPr>
            <a:r>
              <a:rPr lang="en-US" sz="1200" dirty="0">
                <a:solidFill>
                  <a:srgbClr val="2A2B38"/>
                </a:solidFill>
                <a:latin typeface="Meiryo UI" pitchFamily="34" charset="0"/>
                <a:ea typeface="Meiryo UI" pitchFamily="34" charset="-122"/>
                <a:cs typeface="Meiryo UI" pitchFamily="34" charset="-120"/>
              </a:rPr>
              <a:t>新規は紹介のみで、自ら集客する経路がない</a:t>
            </a:r>
            <a:endParaRPr lang="en-US" sz="1200" dirty="0"/>
          </a:p>
        </p:txBody>
      </p:sp>
      <p:sp>
        <p:nvSpPr>
          <p:cNvPr id="13" name="Text 11"/>
          <p:cNvSpPr txBox="1"/>
          <p:nvPr/>
        </p:nvSpPr>
        <p:spPr>
          <a:xfrm>
            <a:off x="777240" y="3154680"/>
            <a:ext cx="548640" cy="274320"/>
          </a:xfrm>
          <a:prstGeom prst="rect">
            <a:avLst/>
          </a:prstGeom>
          <a:noFill/>
          <a:ln/>
        </p:spPr>
        <p:txBody>
          <a:bodyPr wrap="square" lIns="0" tIns="0" rIns="0" bIns="0" rtlCol="0" anchor="t"/>
          <a:lstStyle/>
          <a:p>
            <a:pPr indent="0" marL="0">
              <a:buNone/>
            </a:pPr>
            <a:r>
              <a:rPr lang="en-US" sz="1050" b="1" dirty="0">
                <a:solidFill>
                  <a:srgbClr val="A87A1C"/>
                </a:solidFill>
                <a:latin typeface="Meiryo UI" pitchFamily="34" charset="0"/>
                <a:ea typeface="Meiryo UI" pitchFamily="34" charset="-122"/>
                <a:cs typeface="Meiryo UI" pitchFamily="34" charset="-120"/>
              </a:rPr>
              <a:t>リスク</a:t>
            </a:r>
            <a:endParaRPr lang="en-US" sz="1050" dirty="0"/>
          </a:p>
        </p:txBody>
      </p:sp>
      <p:sp>
        <p:nvSpPr>
          <p:cNvPr id="14" name="Text 12"/>
          <p:cNvSpPr txBox="1"/>
          <p:nvPr/>
        </p:nvSpPr>
        <p:spPr>
          <a:xfrm>
            <a:off x="1325880" y="3136392"/>
            <a:ext cx="2509418" cy="640080"/>
          </a:xfrm>
          <a:prstGeom prst="rect">
            <a:avLst/>
          </a:prstGeom>
          <a:noFill/>
          <a:ln/>
        </p:spPr>
        <p:txBody>
          <a:bodyPr wrap="square" lIns="0" tIns="0" rIns="0" bIns="0" rtlCol="0" anchor="t"/>
          <a:lstStyle/>
          <a:p>
            <a:pPr indent="0" marL="0">
              <a:buNone/>
            </a:pPr>
            <a:r>
              <a:rPr lang="en-US" sz="1200" b="1" dirty="0">
                <a:solidFill>
                  <a:srgbClr val="2A2B38"/>
                </a:solidFill>
                <a:latin typeface="Meiryo UI" pitchFamily="34" charset="0"/>
                <a:ea typeface="Meiryo UI" pitchFamily="34" charset="-122"/>
                <a:cs typeface="Meiryo UI" pitchFamily="34" charset="-120"/>
              </a:rPr>
              <a:t>紹介元の状況次第で新規が止まる</a:t>
            </a:r>
            <a:endParaRPr lang="en-US" sz="1200" dirty="0"/>
          </a:p>
        </p:txBody>
      </p:sp>
      <p:sp>
        <p:nvSpPr>
          <p:cNvPr id="15" name="Shape 13"/>
          <p:cNvSpPr/>
          <p:nvPr/>
        </p:nvSpPr>
        <p:spPr>
          <a:xfrm>
            <a:off x="4338218" y="1737360"/>
            <a:ext cx="3515258" cy="2103120"/>
          </a:xfrm>
          <a:prstGeom prst="roundRect">
            <a:avLst>
              <a:gd name="adj" fmla="val 5217"/>
            </a:avLst>
          </a:prstGeom>
          <a:solidFill>
            <a:srgbClr val="FFFFFF"/>
          </a:solidFill>
          <a:ln w="12700">
            <a:solidFill>
              <a:srgbClr val="FFFFFF"/>
            </a:solidFill>
            <a:prstDash val="solid"/>
          </a:ln>
          <a:effectLst>
            <a:outerShdw sx="100000" sy="100000" kx="0" ky="0" algn="bl" rotWithShape="0" blurRad="76200" dist="25400" dir="5400000">
              <a:srgbClr val="000000">
                <a:alpha val="12000"/>
              </a:srgbClr>
            </a:outerShdw>
          </a:effectLst>
        </p:spPr>
      </p:sp>
      <p:sp>
        <p:nvSpPr>
          <p:cNvPr id="16" name="Shape 14"/>
          <p:cNvSpPr/>
          <p:nvPr/>
        </p:nvSpPr>
        <p:spPr>
          <a:xfrm>
            <a:off x="4566818" y="1938528"/>
            <a:ext cx="457200" cy="457200"/>
          </a:xfrm>
          <a:prstGeom prst="ellipse">
            <a:avLst/>
          </a:prstGeom>
          <a:solidFill>
            <a:srgbClr val="3A3F73"/>
          </a:solidFill>
          <a:ln w="12700">
            <a:solidFill>
              <a:srgbClr val="3A3F73"/>
            </a:solidFill>
            <a:prstDash val="solid"/>
          </a:ln>
        </p:spPr>
      </p:sp>
      <p:sp>
        <p:nvSpPr>
          <p:cNvPr id="17" name="Text 15"/>
          <p:cNvSpPr txBox="1"/>
          <p:nvPr/>
        </p:nvSpPr>
        <p:spPr>
          <a:xfrm>
            <a:off x="4566818" y="1938528"/>
            <a:ext cx="457200" cy="457200"/>
          </a:xfrm>
          <a:prstGeom prst="rect">
            <a:avLst/>
          </a:prstGeom>
          <a:noFill/>
          <a:ln/>
        </p:spPr>
        <p:txBody>
          <a:bodyPr wrap="square" lIns="0" tIns="0" rIns="0" bIns="0" rtlCol="0" anchor="ctr"/>
          <a:lstStyle/>
          <a:p>
            <a:pPr algn="ctr" indent="0" marL="0">
              <a:buNone/>
            </a:pPr>
            <a:r>
              <a:rPr lang="en-US" sz="1500" b="1" dirty="0">
                <a:solidFill>
                  <a:srgbClr val="FFFFFF"/>
                </a:solidFill>
                <a:latin typeface="Meiryo UI" pitchFamily="34" charset="0"/>
                <a:ea typeface="Meiryo UI" pitchFamily="34" charset="-122"/>
                <a:cs typeface="Meiryo UI" pitchFamily="34" charset="-120"/>
              </a:rPr>
              <a:t>2</a:t>
            </a:r>
            <a:endParaRPr lang="en-US" sz="1500" dirty="0"/>
          </a:p>
        </p:txBody>
      </p:sp>
      <p:sp>
        <p:nvSpPr>
          <p:cNvPr id="18" name="Text 16"/>
          <p:cNvSpPr txBox="1"/>
          <p:nvPr/>
        </p:nvSpPr>
        <p:spPr>
          <a:xfrm>
            <a:off x="5161178" y="1938528"/>
            <a:ext cx="2509418" cy="457200"/>
          </a:xfrm>
          <a:prstGeom prst="rect">
            <a:avLst/>
          </a:prstGeom>
          <a:noFill/>
          <a:ln/>
        </p:spPr>
        <p:txBody>
          <a:bodyPr wrap="square" lIns="0" tIns="0" rIns="0" bIns="0" rtlCol="0" anchor="ctr"/>
          <a:lstStyle/>
          <a:p>
            <a:pPr indent="0" marL="0">
              <a:buNone/>
            </a:pPr>
            <a:r>
              <a:rPr lang="en-US" sz="1400" b="1" dirty="0">
                <a:solidFill>
                  <a:srgbClr val="3A3F73"/>
                </a:solidFill>
                <a:latin typeface="Meiryo UI" pitchFamily="34" charset="0"/>
                <a:ea typeface="Meiryo UI" pitchFamily="34" charset="-122"/>
                <a:cs typeface="Meiryo UI" pitchFamily="34" charset="-120"/>
              </a:rPr>
              <a:t>HPが問い合わせにつながらない</a:t>
            </a:r>
            <a:endParaRPr lang="en-US" sz="1400" dirty="0"/>
          </a:p>
        </p:txBody>
      </p:sp>
      <p:sp>
        <p:nvSpPr>
          <p:cNvPr id="19" name="Text 17"/>
          <p:cNvSpPr txBox="1"/>
          <p:nvPr/>
        </p:nvSpPr>
        <p:spPr>
          <a:xfrm>
            <a:off x="4566818" y="2514600"/>
            <a:ext cx="548640" cy="274320"/>
          </a:xfrm>
          <a:prstGeom prst="rect">
            <a:avLst/>
          </a:prstGeom>
          <a:noFill/>
          <a:ln/>
        </p:spPr>
        <p:txBody>
          <a:bodyPr wrap="square" lIns="0" tIns="0" rIns="0" bIns="0" rtlCol="0" anchor="t"/>
          <a:lstStyle/>
          <a:p>
            <a:pPr indent="0" marL="0">
              <a:buNone/>
            </a:pPr>
            <a:r>
              <a:rPr lang="en-US" sz="1050" b="1" dirty="0">
                <a:solidFill>
                  <a:srgbClr val="686A82"/>
                </a:solidFill>
                <a:latin typeface="Meiryo UI" pitchFamily="34" charset="0"/>
                <a:ea typeface="Meiryo UI" pitchFamily="34" charset="-122"/>
                <a:cs typeface="Meiryo UI" pitchFamily="34" charset="-120"/>
              </a:rPr>
              <a:t>現象</a:t>
            </a:r>
            <a:endParaRPr lang="en-US" sz="1050" dirty="0"/>
          </a:p>
        </p:txBody>
      </p:sp>
      <p:sp>
        <p:nvSpPr>
          <p:cNvPr id="20" name="Text 18"/>
          <p:cNvSpPr txBox="1"/>
          <p:nvPr/>
        </p:nvSpPr>
        <p:spPr>
          <a:xfrm>
            <a:off x="5115458" y="2496312"/>
            <a:ext cx="2509418" cy="640080"/>
          </a:xfrm>
          <a:prstGeom prst="rect">
            <a:avLst/>
          </a:prstGeom>
          <a:noFill/>
          <a:ln/>
        </p:spPr>
        <p:txBody>
          <a:bodyPr wrap="square" lIns="0" tIns="0" rIns="0" bIns="0" rtlCol="0" anchor="t"/>
          <a:lstStyle/>
          <a:p>
            <a:pPr indent="0" marL="0">
              <a:buNone/>
            </a:pPr>
            <a:r>
              <a:rPr lang="en-US" sz="1200" dirty="0">
                <a:solidFill>
                  <a:srgbClr val="2A2B38"/>
                </a:solidFill>
                <a:latin typeface="Meiryo UI" pitchFamily="34" charset="0"/>
                <a:ea typeface="Meiryo UI" pitchFamily="34" charset="-122"/>
                <a:cs typeface="Meiryo UI" pitchFamily="34" charset="-120"/>
              </a:rPr>
              <a:t>HPはあるが、問い合わせはほとんど来ていない</a:t>
            </a:r>
            <a:endParaRPr lang="en-US" sz="1200" dirty="0"/>
          </a:p>
        </p:txBody>
      </p:sp>
      <p:sp>
        <p:nvSpPr>
          <p:cNvPr id="21" name="Text 19"/>
          <p:cNvSpPr txBox="1"/>
          <p:nvPr/>
        </p:nvSpPr>
        <p:spPr>
          <a:xfrm>
            <a:off x="4566818" y="3154680"/>
            <a:ext cx="548640" cy="274320"/>
          </a:xfrm>
          <a:prstGeom prst="rect">
            <a:avLst/>
          </a:prstGeom>
          <a:noFill/>
          <a:ln/>
        </p:spPr>
        <p:txBody>
          <a:bodyPr wrap="square" lIns="0" tIns="0" rIns="0" bIns="0" rtlCol="0" anchor="t"/>
          <a:lstStyle/>
          <a:p>
            <a:pPr indent="0" marL="0">
              <a:buNone/>
            </a:pPr>
            <a:r>
              <a:rPr lang="en-US" sz="1050" b="1" dirty="0">
                <a:solidFill>
                  <a:srgbClr val="A87A1C"/>
                </a:solidFill>
                <a:latin typeface="Meiryo UI" pitchFamily="34" charset="0"/>
                <a:ea typeface="Meiryo UI" pitchFamily="34" charset="-122"/>
                <a:cs typeface="Meiryo UI" pitchFamily="34" charset="-120"/>
              </a:rPr>
              <a:t>リスク</a:t>
            </a:r>
            <a:endParaRPr lang="en-US" sz="1050" dirty="0"/>
          </a:p>
        </p:txBody>
      </p:sp>
      <p:sp>
        <p:nvSpPr>
          <p:cNvPr id="22" name="Text 20"/>
          <p:cNvSpPr txBox="1"/>
          <p:nvPr/>
        </p:nvSpPr>
        <p:spPr>
          <a:xfrm>
            <a:off x="5115458" y="3136392"/>
            <a:ext cx="2509418" cy="640080"/>
          </a:xfrm>
          <a:prstGeom prst="rect">
            <a:avLst/>
          </a:prstGeom>
          <a:noFill/>
          <a:ln/>
        </p:spPr>
        <p:txBody>
          <a:bodyPr wrap="square" lIns="0" tIns="0" rIns="0" bIns="0" rtlCol="0" anchor="t"/>
          <a:lstStyle/>
          <a:p>
            <a:pPr indent="0" marL="0">
              <a:buNone/>
            </a:pPr>
            <a:r>
              <a:rPr lang="en-US" sz="1200" b="1" dirty="0">
                <a:solidFill>
                  <a:srgbClr val="2A2B38"/>
                </a:solidFill>
                <a:latin typeface="Meiryo UI" pitchFamily="34" charset="0"/>
                <a:ea typeface="Meiryo UI" pitchFamily="34" charset="-122"/>
                <a:cs typeface="Meiryo UI" pitchFamily="34" charset="-120"/>
              </a:rPr>
              <a:t>検索している個人の見込み客を取りこぼす</a:t>
            </a:r>
            <a:endParaRPr lang="en-US" sz="1200" dirty="0"/>
          </a:p>
        </p:txBody>
      </p:sp>
      <p:sp>
        <p:nvSpPr>
          <p:cNvPr id="23" name="Shape 21"/>
          <p:cNvSpPr/>
          <p:nvPr/>
        </p:nvSpPr>
        <p:spPr>
          <a:xfrm>
            <a:off x="8127797" y="1737360"/>
            <a:ext cx="3515258" cy="2103120"/>
          </a:xfrm>
          <a:prstGeom prst="roundRect">
            <a:avLst>
              <a:gd name="adj" fmla="val 5217"/>
            </a:avLst>
          </a:prstGeom>
          <a:solidFill>
            <a:srgbClr val="FFFFFF"/>
          </a:solidFill>
          <a:ln w="12700">
            <a:solidFill>
              <a:srgbClr val="FFFFFF"/>
            </a:solidFill>
            <a:prstDash val="solid"/>
          </a:ln>
          <a:effectLst>
            <a:outerShdw sx="100000" sy="100000" kx="0" ky="0" algn="bl" rotWithShape="0" blurRad="76200" dist="25400" dir="5400000">
              <a:srgbClr val="000000">
                <a:alpha val="12000"/>
              </a:srgbClr>
            </a:outerShdw>
          </a:effectLst>
        </p:spPr>
      </p:sp>
      <p:sp>
        <p:nvSpPr>
          <p:cNvPr id="24" name="Shape 22"/>
          <p:cNvSpPr/>
          <p:nvPr/>
        </p:nvSpPr>
        <p:spPr>
          <a:xfrm>
            <a:off x="8356397" y="1938528"/>
            <a:ext cx="457200" cy="457200"/>
          </a:xfrm>
          <a:prstGeom prst="ellipse">
            <a:avLst/>
          </a:prstGeom>
          <a:solidFill>
            <a:srgbClr val="3A3F73"/>
          </a:solidFill>
          <a:ln w="12700">
            <a:solidFill>
              <a:srgbClr val="3A3F73"/>
            </a:solidFill>
            <a:prstDash val="solid"/>
          </a:ln>
        </p:spPr>
      </p:sp>
      <p:sp>
        <p:nvSpPr>
          <p:cNvPr id="25" name="Text 23"/>
          <p:cNvSpPr txBox="1"/>
          <p:nvPr/>
        </p:nvSpPr>
        <p:spPr>
          <a:xfrm>
            <a:off x="8356397" y="1938528"/>
            <a:ext cx="457200" cy="457200"/>
          </a:xfrm>
          <a:prstGeom prst="rect">
            <a:avLst/>
          </a:prstGeom>
          <a:noFill/>
          <a:ln/>
        </p:spPr>
        <p:txBody>
          <a:bodyPr wrap="square" lIns="0" tIns="0" rIns="0" bIns="0" rtlCol="0" anchor="ctr"/>
          <a:lstStyle/>
          <a:p>
            <a:pPr algn="ctr" indent="0" marL="0">
              <a:buNone/>
            </a:pPr>
            <a:r>
              <a:rPr lang="en-US" sz="1500" b="1" dirty="0">
                <a:solidFill>
                  <a:srgbClr val="FFFFFF"/>
                </a:solidFill>
                <a:latin typeface="Meiryo UI" pitchFamily="34" charset="0"/>
                <a:ea typeface="Meiryo UI" pitchFamily="34" charset="-122"/>
                <a:cs typeface="Meiryo UI" pitchFamily="34" charset="-120"/>
              </a:rPr>
              <a:t>3</a:t>
            </a:r>
            <a:endParaRPr lang="en-US" sz="1500" dirty="0"/>
          </a:p>
        </p:txBody>
      </p:sp>
      <p:sp>
        <p:nvSpPr>
          <p:cNvPr id="26" name="Text 24"/>
          <p:cNvSpPr txBox="1"/>
          <p:nvPr/>
        </p:nvSpPr>
        <p:spPr>
          <a:xfrm>
            <a:off x="8950757" y="1938528"/>
            <a:ext cx="2509418" cy="457200"/>
          </a:xfrm>
          <a:prstGeom prst="rect">
            <a:avLst/>
          </a:prstGeom>
          <a:noFill/>
          <a:ln/>
        </p:spPr>
        <p:txBody>
          <a:bodyPr wrap="square" lIns="0" tIns="0" rIns="0" bIns="0" rtlCol="0" anchor="ctr"/>
          <a:lstStyle/>
          <a:p>
            <a:pPr indent="0" marL="0">
              <a:buNone/>
            </a:pPr>
            <a:r>
              <a:rPr lang="en-US" sz="1400" b="1" dirty="0">
                <a:solidFill>
                  <a:srgbClr val="3A3F73"/>
                </a:solidFill>
                <a:latin typeface="Meiryo UI" pitchFamily="34" charset="0"/>
                <a:ea typeface="Meiryo UI" pitchFamily="34" charset="-122"/>
                <a:cs typeface="Meiryo UI" pitchFamily="34" charset="-120"/>
              </a:rPr>
              <a:t>個人向けの情報発信が不足</a:t>
            </a:r>
            <a:endParaRPr lang="en-US" sz="1400" dirty="0"/>
          </a:p>
        </p:txBody>
      </p:sp>
      <p:sp>
        <p:nvSpPr>
          <p:cNvPr id="27" name="Text 25"/>
          <p:cNvSpPr txBox="1"/>
          <p:nvPr/>
        </p:nvSpPr>
        <p:spPr>
          <a:xfrm>
            <a:off x="8356397" y="2514600"/>
            <a:ext cx="548640" cy="274320"/>
          </a:xfrm>
          <a:prstGeom prst="rect">
            <a:avLst/>
          </a:prstGeom>
          <a:noFill/>
          <a:ln/>
        </p:spPr>
        <p:txBody>
          <a:bodyPr wrap="square" lIns="0" tIns="0" rIns="0" bIns="0" rtlCol="0" anchor="t"/>
          <a:lstStyle/>
          <a:p>
            <a:pPr indent="0" marL="0">
              <a:buNone/>
            </a:pPr>
            <a:r>
              <a:rPr lang="en-US" sz="1050" b="1" dirty="0">
                <a:solidFill>
                  <a:srgbClr val="686A82"/>
                </a:solidFill>
                <a:latin typeface="Meiryo UI" pitchFamily="34" charset="0"/>
                <a:ea typeface="Meiryo UI" pitchFamily="34" charset="-122"/>
                <a:cs typeface="Meiryo UI" pitchFamily="34" charset="-120"/>
              </a:rPr>
              <a:t>現象</a:t>
            </a:r>
            <a:endParaRPr lang="en-US" sz="1050" dirty="0"/>
          </a:p>
        </p:txBody>
      </p:sp>
      <p:sp>
        <p:nvSpPr>
          <p:cNvPr id="28" name="Text 26"/>
          <p:cNvSpPr txBox="1"/>
          <p:nvPr/>
        </p:nvSpPr>
        <p:spPr>
          <a:xfrm>
            <a:off x="8905037" y="2496312"/>
            <a:ext cx="2509418" cy="640080"/>
          </a:xfrm>
          <a:prstGeom prst="rect">
            <a:avLst/>
          </a:prstGeom>
          <a:noFill/>
          <a:ln/>
        </p:spPr>
        <p:txBody>
          <a:bodyPr wrap="square" lIns="0" tIns="0" rIns="0" bIns="0" rtlCol="0" anchor="t"/>
          <a:lstStyle/>
          <a:p>
            <a:pPr indent="0" marL="0">
              <a:buNone/>
            </a:pPr>
            <a:r>
              <a:rPr lang="en-US" sz="1200" dirty="0">
                <a:solidFill>
                  <a:srgbClr val="2A2B38"/>
                </a:solidFill>
                <a:latin typeface="Meiryo UI" pitchFamily="34" charset="0"/>
                <a:ea typeface="Meiryo UI" pitchFamily="34" charset="-122"/>
                <a:cs typeface="Meiryo UI" pitchFamily="34" charset="-120"/>
              </a:rPr>
              <a:t>個人向けサービスの内容が外から見えにくい</a:t>
            </a:r>
            <a:endParaRPr lang="en-US" sz="1200" dirty="0"/>
          </a:p>
        </p:txBody>
      </p:sp>
      <p:sp>
        <p:nvSpPr>
          <p:cNvPr id="29" name="Text 27"/>
          <p:cNvSpPr txBox="1"/>
          <p:nvPr/>
        </p:nvSpPr>
        <p:spPr>
          <a:xfrm>
            <a:off x="8356397" y="3154680"/>
            <a:ext cx="548640" cy="274320"/>
          </a:xfrm>
          <a:prstGeom prst="rect">
            <a:avLst/>
          </a:prstGeom>
          <a:noFill/>
          <a:ln/>
        </p:spPr>
        <p:txBody>
          <a:bodyPr wrap="square" lIns="0" tIns="0" rIns="0" bIns="0" rtlCol="0" anchor="t"/>
          <a:lstStyle/>
          <a:p>
            <a:pPr indent="0" marL="0">
              <a:buNone/>
            </a:pPr>
            <a:r>
              <a:rPr lang="en-US" sz="1050" b="1" dirty="0">
                <a:solidFill>
                  <a:srgbClr val="A87A1C"/>
                </a:solidFill>
                <a:latin typeface="Meiryo UI" pitchFamily="34" charset="0"/>
                <a:ea typeface="Meiryo UI" pitchFamily="34" charset="-122"/>
                <a:cs typeface="Meiryo UI" pitchFamily="34" charset="-120"/>
              </a:rPr>
              <a:t>リスク</a:t>
            </a:r>
            <a:endParaRPr lang="en-US" sz="1050" dirty="0"/>
          </a:p>
        </p:txBody>
      </p:sp>
      <p:sp>
        <p:nvSpPr>
          <p:cNvPr id="30" name="Text 28"/>
          <p:cNvSpPr txBox="1"/>
          <p:nvPr/>
        </p:nvSpPr>
        <p:spPr>
          <a:xfrm>
            <a:off x="8905037" y="3136392"/>
            <a:ext cx="2509418" cy="640080"/>
          </a:xfrm>
          <a:prstGeom prst="rect">
            <a:avLst/>
          </a:prstGeom>
          <a:noFill/>
          <a:ln/>
        </p:spPr>
        <p:txBody>
          <a:bodyPr wrap="square" lIns="0" tIns="0" rIns="0" bIns="0" rtlCol="0" anchor="t"/>
          <a:lstStyle/>
          <a:p>
            <a:pPr indent="0" marL="0">
              <a:buNone/>
            </a:pPr>
            <a:r>
              <a:rPr lang="en-US" sz="1200" b="1" dirty="0">
                <a:solidFill>
                  <a:srgbClr val="2A2B38"/>
                </a:solidFill>
                <a:latin typeface="Meiryo UI" pitchFamily="34" charset="0"/>
                <a:ea typeface="Meiryo UI" pitchFamily="34" charset="-122"/>
                <a:cs typeface="Meiryo UI" pitchFamily="34" charset="-120"/>
              </a:rPr>
              <a:t>「法人向けの事務所」と思われ、相談されない</a:t>
            </a:r>
            <a:endParaRPr lang="en-US" sz="1200" dirty="0"/>
          </a:p>
        </p:txBody>
      </p:sp>
      <p:sp>
        <p:nvSpPr>
          <p:cNvPr id="31" name="Shape 29"/>
          <p:cNvSpPr/>
          <p:nvPr/>
        </p:nvSpPr>
        <p:spPr>
          <a:xfrm>
            <a:off x="548640" y="4041648"/>
            <a:ext cx="3515258" cy="2103120"/>
          </a:xfrm>
          <a:prstGeom prst="roundRect">
            <a:avLst>
              <a:gd name="adj" fmla="val 5217"/>
            </a:avLst>
          </a:prstGeom>
          <a:solidFill>
            <a:srgbClr val="FFFFFF"/>
          </a:solidFill>
          <a:ln w="12700">
            <a:solidFill>
              <a:srgbClr val="FFFFFF"/>
            </a:solidFill>
            <a:prstDash val="solid"/>
          </a:ln>
          <a:effectLst>
            <a:outerShdw sx="100000" sy="100000" kx="0" ky="0" algn="bl" rotWithShape="0" blurRad="76200" dist="25400" dir="5400000">
              <a:srgbClr val="000000">
                <a:alpha val="12000"/>
              </a:srgbClr>
            </a:outerShdw>
          </a:effectLst>
        </p:spPr>
      </p:sp>
      <p:sp>
        <p:nvSpPr>
          <p:cNvPr id="32" name="Shape 30"/>
          <p:cNvSpPr/>
          <p:nvPr/>
        </p:nvSpPr>
        <p:spPr>
          <a:xfrm>
            <a:off x="777240" y="4242816"/>
            <a:ext cx="457200" cy="457200"/>
          </a:xfrm>
          <a:prstGeom prst="ellipse">
            <a:avLst/>
          </a:prstGeom>
          <a:solidFill>
            <a:srgbClr val="3A3F73"/>
          </a:solidFill>
          <a:ln w="12700">
            <a:solidFill>
              <a:srgbClr val="3A3F73"/>
            </a:solidFill>
            <a:prstDash val="solid"/>
          </a:ln>
        </p:spPr>
      </p:sp>
      <p:sp>
        <p:nvSpPr>
          <p:cNvPr id="33" name="Text 31"/>
          <p:cNvSpPr txBox="1"/>
          <p:nvPr/>
        </p:nvSpPr>
        <p:spPr>
          <a:xfrm>
            <a:off x="777240" y="4242816"/>
            <a:ext cx="457200" cy="457200"/>
          </a:xfrm>
          <a:prstGeom prst="rect">
            <a:avLst/>
          </a:prstGeom>
          <a:noFill/>
          <a:ln/>
        </p:spPr>
        <p:txBody>
          <a:bodyPr wrap="square" lIns="0" tIns="0" rIns="0" bIns="0" rtlCol="0" anchor="ctr"/>
          <a:lstStyle/>
          <a:p>
            <a:pPr algn="ctr" indent="0" marL="0">
              <a:buNone/>
            </a:pPr>
            <a:r>
              <a:rPr lang="en-US" sz="1500" b="1" dirty="0">
                <a:solidFill>
                  <a:srgbClr val="FFFFFF"/>
                </a:solidFill>
                <a:latin typeface="Meiryo UI" pitchFamily="34" charset="0"/>
                <a:ea typeface="Meiryo UI" pitchFamily="34" charset="-122"/>
                <a:cs typeface="Meiryo UI" pitchFamily="34" charset="-120"/>
              </a:rPr>
              <a:t>4</a:t>
            </a:r>
            <a:endParaRPr lang="en-US" sz="1500" dirty="0"/>
          </a:p>
        </p:txBody>
      </p:sp>
      <p:sp>
        <p:nvSpPr>
          <p:cNvPr id="34" name="Text 32"/>
          <p:cNvSpPr txBox="1"/>
          <p:nvPr/>
        </p:nvSpPr>
        <p:spPr>
          <a:xfrm>
            <a:off x="1371600" y="4242816"/>
            <a:ext cx="2509418" cy="457200"/>
          </a:xfrm>
          <a:prstGeom prst="rect">
            <a:avLst/>
          </a:prstGeom>
          <a:noFill/>
          <a:ln/>
        </p:spPr>
        <p:txBody>
          <a:bodyPr wrap="square" lIns="0" tIns="0" rIns="0" bIns="0" rtlCol="0" anchor="ctr"/>
          <a:lstStyle/>
          <a:p>
            <a:pPr indent="0" marL="0">
              <a:buNone/>
            </a:pPr>
            <a:r>
              <a:rPr lang="en-US" sz="1400" b="1" dirty="0">
                <a:solidFill>
                  <a:srgbClr val="3A3F73"/>
                </a:solidFill>
                <a:latin typeface="Meiryo UI" pitchFamily="34" charset="0"/>
                <a:ea typeface="Meiryo UI" pitchFamily="34" charset="-122"/>
                <a:cs typeface="Meiryo UI" pitchFamily="34" charset="-120"/>
              </a:rPr>
              <a:t>発信する時間・人手がない</a:t>
            </a:r>
            <a:endParaRPr lang="en-US" sz="1400" dirty="0"/>
          </a:p>
        </p:txBody>
      </p:sp>
      <p:sp>
        <p:nvSpPr>
          <p:cNvPr id="35" name="Text 33"/>
          <p:cNvSpPr txBox="1"/>
          <p:nvPr/>
        </p:nvSpPr>
        <p:spPr>
          <a:xfrm>
            <a:off x="777240" y="4818888"/>
            <a:ext cx="548640" cy="274320"/>
          </a:xfrm>
          <a:prstGeom prst="rect">
            <a:avLst/>
          </a:prstGeom>
          <a:noFill/>
          <a:ln/>
        </p:spPr>
        <p:txBody>
          <a:bodyPr wrap="square" lIns="0" tIns="0" rIns="0" bIns="0" rtlCol="0" anchor="t"/>
          <a:lstStyle/>
          <a:p>
            <a:pPr indent="0" marL="0">
              <a:buNone/>
            </a:pPr>
            <a:r>
              <a:rPr lang="en-US" sz="1050" b="1" dirty="0">
                <a:solidFill>
                  <a:srgbClr val="686A82"/>
                </a:solidFill>
                <a:latin typeface="Meiryo UI" pitchFamily="34" charset="0"/>
                <a:ea typeface="Meiryo UI" pitchFamily="34" charset="-122"/>
                <a:cs typeface="Meiryo UI" pitchFamily="34" charset="-120"/>
              </a:rPr>
              <a:t>現象</a:t>
            </a:r>
            <a:endParaRPr lang="en-US" sz="1050" dirty="0"/>
          </a:p>
        </p:txBody>
      </p:sp>
      <p:sp>
        <p:nvSpPr>
          <p:cNvPr id="36" name="Text 34"/>
          <p:cNvSpPr txBox="1"/>
          <p:nvPr/>
        </p:nvSpPr>
        <p:spPr>
          <a:xfrm>
            <a:off x="1325880" y="4800600"/>
            <a:ext cx="2509418" cy="640080"/>
          </a:xfrm>
          <a:prstGeom prst="rect">
            <a:avLst/>
          </a:prstGeom>
          <a:noFill/>
          <a:ln/>
        </p:spPr>
        <p:txBody>
          <a:bodyPr wrap="square" lIns="0" tIns="0" rIns="0" bIns="0" rtlCol="0" anchor="t"/>
          <a:lstStyle/>
          <a:p>
            <a:pPr indent="0" marL="0">
              <a:buNone/>
            </a:pPr>
            <a:r>
              <a:rPr lang="en-US" sz="1200" dirty="0">
                <a:solidFill>
                  <a:srgbClr val="2A2B38"/>
                </a:solidFill>
                <a:latin typeface="Meiryo UI" pitchFamily="34" charset="0"/>
                <a:ea typeface="Meiryo UI" pitchFamily="34" charset="-122"/>
                <a:cs typeface="Meiryo UI" pitchFamily="34" charset="-120"/>
              </a:rPr>
              <a:t>業務が忙しく、PRや資料作成に時間を割けない</a:t>
            </a:r>
            <a:endParaRPr lang="en-US" sz="1200" dirty="0"/>
          </a:p>
        </p:txBody>
      </p:sp>
      <p:sp>
        <p:nvSpPr>
          <p:cNvPr id="37" name="Text 35"/>
          <p:cNvSpPr txBox="1"/>
          <p:nvPr/>
        </p:nvSpPr>
        <p:spPr>
          <a:xfrm>
            <a:off x="777240" y="5458968"/>
            <a:ext cx="548640" cy="274320"/>
          </a:xfrm>
          <a:prstGeom prst="rect">
            <a:avLst/>
          </a:prstGeom>
          <a:noFill/>
          <a:ln/>
        </p:spPr>
        <p:txBody>
          <a:bodyPr wrap="square" lIns="0" tIns="0" rIns="0" bIns="0" rtlCol="0" anchor="t"/>
          <a:lstStyle/>
          <a:p>
            <a:pPr indent="0" marL="0">
              <a:buNone/>
            </a:pPr>
            <a:r>
              <a:rPr lang="en-US" sz="1050" b="1" dirty="0">
                <a:solidFill>
                  <a:srgbClr val="A87A1C"/>
                </a:solidFill>
                <a:latin typeface="Meiryo UI" pitchFamily="34" charset="0"/>
                <a:ea typeface="Meiryo UI" pitchFamily="34" charset="-122"/>
                <a:cs typeface="Meiryo UI" pitchFamily="34" charset="-120"/>
              </a:rPr>
              <a:t>リスク</a:t>
            </a:r>
            <a:endParaRPr lang="en-US" sz="1050" dirty="0"/>
          </a:p>
        </p:txBody>
      </p:sp>
      <p:sp>
        <p:nvSpPr>
          <p:cNvPr id="38" name="Text 36"/>
          <p:cNvSpPr txBox="1"/>
          <p:nvPr/>
        </p:nvSpPr>
        <p:spPr>
          <a:xfrm>
            <a:off x="1325880" y="5440680"/>
            <a:ext cx="2509418" cy="640080"/>
          </a:xfrm>
          <a:prstGeom prst="rect">
            <a:avLst/>
          </a:prstGeom>
          <a:noFill/>
          <a:ln/>
        </p:spPr>
        <p:txBody>
          <a:bodyPr wrap="square" lIns="0" tIns="0" rIns="0" bIns="0" rtlCol="0" anchor="t"/>
          <a:lstStyle/>
          <a:p>
            <a:pPr indent="0" marL="0">
              <a:buNone/>
            </a:pPr>
            <a:r>
              <a:rPr lang="en-US" sz="1200" b="1" dirty="0">
                <a:solidFill>
                  <a:srgbClr val="2A2B38"/>
                </a:solidFill>
                <a:latin typeface="Meiryo UI" pitchFamily="34" charset="0"/>
                <a:ea typeface="Meiryo UI" pitchFamily="34" charset="-122"/>
                <a:cs typeface="Meiryo UI" pitchFamily="34" charset="-120"/>
              </a:rPr>
              <a:t>発信が後回しになり続ける</a:t>
            </a:r>
            <a:endParaRPr lang="en-US" sz="1200" dirty="0"/>
          </a:p>
        </p:txBody>
      </p:sp>
      <p:sp>
        <p:nvSpPr>
          <p:cNvPr id="39" name="Shape 37"/>
          <p:cNvSpPr/>
          <p:nvPr/>
        </p:nvSpPr>
        <p:spPr>
          <a:xfrm>
            <a:off x="4338218" y="4041648"/>
            <a:ext cx="3515258" cy="2103120"/>
          </a:xfrm>
          <a:prstGeom prst="roundRect">
            <a:avLst>
              <a:gd name="adj" fmla="val 5217"/>
            </a:avLst>
          </a:prstGeom>
          <a:solidFill>
            <a:srgbClr val="FFFFFF"/>
          </a:solidFill>
          <a:ln w="12700">
            <a:solidFill>
              <a:srgbClr val="FFFFFF"/>
            </a:solidFill>
            <a:prstDash val="solid"/>
          </a:ln>
          <a:effectLst>
            <a:outerShdw sx="100000" sy="100000" kx="0" ky="0" algn="bl" rotWithShape="0" blurRad="76200" dist="25400" dir="5400000">
              <a:srgbClr val="000000">
                <a:alpha val="12000"/>
              </a:srgbClr>
            </a:outerShdw>
          </a:effectLst>
        </p:spPr>
      </p:sp>
      <p:sp>
        <p:nvSpPr>
          <p:cNvPr id="40" name="Shape 38"/>
          <p:cNvSpPr/>
          <p:nvPr/>
        </p:nvSpPr>
        <p:spPr>
          <a:xfrm>
            <a:off x="4566818" y="4242816"/>
            <a:ext cx="457200" cy="457200"/>
          </a:xfrm>
          <a:prstGeom prst="ellipse">
            <a:avLst/>
          </a:prstGeom>
          <a:solidFill>
            <a:srgbClr val="3A3F73"/>
          </a:solidFill>
          <a:ln w="12700">
            <a:solidFill>
              <a:srgbClr val="3A3F73"/>
            </a:solidFill>
            <a:prstDash val="solid"/>
          </a:ln>
        </p:spPr>
      </p:sp>
      <p:sp>
        <p:nvSpPr>
          <p:cNvPr id="41" name="Text 39"/>
          <p:cNvSpPr txBox="1"/>
          <p:nvPr/>
        </p:nvSpPr>
        <p:spPr>
          <a:xfrm>
            <a:off x="4566818" y="4242816"/>
            <a:ext cx="457200" cy="457200"/>
          </a:xfrm>
          <a:prstGeom prst="rect">
            <a:avLst/>
          </a:prstGeom>
          <a:noFill/>
          <a:ln/>
        </p:spPr>
        <p:txBody>
          <a:bodyPr wrap="square" lIns="0" tIns="0" rIns="0" bIns="0" rtlCol="0" anchor="ctr"/>
          <a:lstStyle/>
          <a:p>
            <a:pPr algn="ctr" indent="0" marL="0">
              <a:buNone/>
            </a:pPr>
            <a:r>
              <a:rPr lang="en-US" sz="1500" b="1" dirty="0">
                <a:solidFill>
                  <a:srgbClr val="FFFFFF"/>
                </a:solidFill>
                <a:latin typeface="Meiryo UI" pitchFamily="34" charset="0"/>
                <a:ea typeface="Meiryo UI" pitchFamily="34" charset="-122"/>
                <a:cs typeface="Meiryo UI" pitchFamily="34" charset="-120"/>
              </a:rPr>
              <a:t>5</a:t>
            </a:r>
            <a:endParaRPr lang="en-US" sz="1500" dirty="0"/>
          </a:p>
        </p:txBody>
      </p:sp>
      <p:sp>
        <p:nvSpPr>
          <p:cNvPr id="42" name="Text 40"/>
          <p:cNvSpPr txBox="1"/>
          <p:nvPr/>
        </p:nvSpPr>
        <p:spPr>
          <a:xfrm>
            <a:off x="5161178" y="4242816"/>
            <a:ext cx="2509418" cy="457200"/>
          </a:xfrm>
          <a:prstGeom prst="rect">
            <a:avLst/>
          </a:prstGeom>
          <a:noFill/>
          <a:ln/>
        </p:spPr>
        <p:txBody>
          <a:bodyPr wrap="square" lIns="0" tIns="0" rIns="0" bIns="0" rtlCol="0" anchor="ctr"/>
          <a:lstStyle/>
          <a:p>
            <a:pPr indent="0" marL="0">
              <a:buNone/>
            </a:pPr>
            <a:r>
              <a:rPr lang="en-US" sz="1400" b="1" dirty="0">
                <a:solidFill>
                  <a:srgbClr val="3A3F73"/>
                </a:solidFill>
                <a:latin typeface="Meiryo UI" pitchFamily="34" charset="0"/>
                <a:ea typeface="Meiryo UI" pitchFamily="34" charset="-122"/>
                <a:cs typeface="Meiryo UI" pitchFamily="34" charset="-120"/>
              </a:rPr>
              <a:t>PRの意識が組織に根付いていない</a:t>
            </a:r>
            <a:endParaRPr lang="en-US" sz="1400" dirty="0"/>
          </a:p>
        </p:txBody>
      </p:sp>
      <p:sp>
        <p:nvSpPr>
          <p:cNvPr id="43" name="Text 41"/>
          <p:cNvSpPr txBox="1"/>
          <p:nvPr/>
        </p:nvSpPr>
        <p:spPr>
          <a:xfrm>
            <a:off x="4566818" y="4818888"/>
            <a:ext cx="548640" cy="274320"/>
          </a:xfrm>
          <a:prstGeom prst="rect">
            <a:avLst/>
          </a:prstGeom>
          <a:noFill/>
          <a:ln/>
        </p:spPr>
        <p:txBody>
          <a:bodyPr wrap="square" lIns="0" tIns="0" rIns="0" bIns="0" rtlCol="0" anchor="t"/>
          <a:lstStyle/>
          <a:p>
            <a:pPr indent="0" marL="0">
              <a:buNone/>
            </a:pPr>
            <a:r>
              <a:rPr lang="en-US" sz="1050" b="1" dirty="0">
                <a:solidFill>
                  <a:srgbClr val="686A82"/>
                </a:solidFill>
                <a:latin typeface="Meiryo UI" pitchFamily="34" charset="0"/>
                <a:ea typeface="Meiryo UI" pitchFamily="34" charset="-122"/>
                <a:cs typeface="Meiryo UI" pitchFamily="34" charset="-120"/>
              </a:rPr>
              <a:t>現象</a:t>
            </a:r>
            <a:endParaRPr lang="en-US" sz="1050" dirty="0"/>
          </a:p>
        </p:txBody>
      </p:sp>
      <p:sp>
        <p:nvSpPr>
          <p:cNvPr id="44" name="Text 42"/>
          <p:cNvSpPr txBox="1"/>
          <p:nvPr/>
        </p:nvSpPr>
        <p:spPr>
          <a:xfrm>
            <a:off x="5115458" y="4800600"/>
            <a:ext cx="2509418" cy="640080"/>
          </a:xfrm>
          <a:prstGeom prst="rect">
            <a:avLst/>
          </a:prstGeom>
          <a:noFill/>
          <a:ln/>
        </p:spPr>
        <p:txBody>
          <a:bodyPr wrap="square" lIns="0" tIns="0" rIns="0" bIns="0" rtlCol="0" anchor="t"/>
          <a:lstStyle/>
          <a:p>
            <a:pPr indent="0" marL="0">
              <a:buNone/>
            </a:pPr>
            <a:r>
              <a:rPr lang="en-US" sz="1200" dirty="0">
                <a:solidFill>
                  <a:srgbClr val="2A2B38"/>
                </a:solidFill>
                <a:latin typeface="Meiryo UI" pitchFamily="34" charset="0"/>
                <a:ea typeface="Meiryo UI" pitchFamily="34" charset="-122"/>
                <a:cs typeface="Meiryo UI" pitchFamily="34" charset="-120"/>
              </a:rPr>
              <a:t>PRは「サービスの一環」で、スタッフも受け身</a:t>
            </a:r>
            <a:endParaRPr lang="en-US" sz="1200" dirty="0"/>
          </a:p>
        </p:txBody>
      </p:sp>
      <p:sp>
        <p:nvSpPr>
          <p:cNvPr id="45" name="Text 43"/>
          <p:cNvSpPr txBox="1"/>
          <p:nvPr/>
        </p:nvSpPr>
        <p:spPr>
          <a:xfrm>
            <a:off x="4566818" y="5458968"/>
            <a:ext cx="548640" cy="274320"/>
          </a:xfrm>
          <a:prstGeom prst="rect">
            <a:avLst/>
          </a:prstGeom>
          <a:noFill/>
          <a:ln/>
        </p:spPr>
        <p:txBody>
          <a:bodyPr wrap="square" lIns="0" tIns="0" rIns="0" bIns="0" rtlCol="0" anchor="t"/>
          <a:lstStyle/>
          <a:p>
            <a:pPr indent="0" marL="0">
              <a:buNone/>
            </a:pPr>
            <a:r>
              <a:rPr lang="en-US" sz="1050" b="1" dirty="0">
                <a:solidFill>
                  <a:srgbClr val="A87A1C"/>
                </a:solidFill>
                <a:latin typeface="Meiryo UI" pitchFamily="34" charset="0"/>
                <a:ea typeface="Meiryo UI" pitchFamily="34" charset="-122"/>
                <a:cs typeface="Meiryo UI" pitchFamily="34" charset="-120"/>
              </a:rPr>
              <a:t>リスク</a:t>
            </a:r>
            <a:endParaRPr lang="en-US" sz="1050" dirty="0"/>
          </a:p>
        </p:txBody>
      </p:sp>
      <p:sp>
        <p:nvSpPr>
          <p:cNvPr id="46" name="Text 44"/>
          <p:cNvSpPr txBox="1"/>
          <p:nvPr/>
        </p:nvSpPr>
        <p:spPr>
          <a:xfrm>
            <a:off x="5115458" y="5440680"/>
            <a:ext cx="2509418" cy="640080"/>
          </a:xfrm>
          <a:prstGeom prst="rect">
            <a:avLst/>
          </a:prstGeom>
          <a:noFill/>
          <a:ln/>
        </p:spPr>
        <p:txBody>
          <a:bodyPr wrap="square" lIns="0" tIns="0" rIns="0" bIns="0" rtlCol="0" anchor="t"/>
          <a:lstStyle/>
          <a:p>
            <a:pPr indent="0" marL="0">
              <a:buNone/>
            </a:pPr>
            <a:r>
              <a:rPr lang="en-US" sz="1200" b="1" dirty="0">
                <a:solidFill>
                  <a:srgbClr val="2A2B38"/>
                </a:solidFill>
                <a:latin typeface="Meiryo UI" pitchFamily="34" charset="0"/>
                <a:ea typeface="Meiryo UI" pitchFamily="34" charset="-122"/>
                <a:cs typeface="Meiryo UI" pitchFamily="34" charset="-120"/>
              </a:rPr>
              <a:t>代表の頑張りに頼り、続かない</a:t>
            </a:r>
            <a:endParaRPr lang="en-US" sz="1200" dirty="0"/>
          </a:p>
        </p:txBody>
      </p:sp>
      <p:sp>
        <p:nvSpPr>
          <p:cNvPr id="47" name="Shape 45"/>
          <p:cNvSpPr/>
          <p:nvPr/>
        </p:nvSpPr>
        <p:spPr>
          <a:xfrm>
            <a:off x="8127797" y="4041648"/>
            <a:ext cx="3515258" cy="2103120"/>
          </a:xfrm>
          <a:prstGeom prst="roundRect">
            <a:avLst>
              <a:gd name="adj" fmla="val 5217"/>
            </a:avLst>
          </a:prstGeom>
          <a:solidFill>
            <a:srgbClr val="FFFFFF"/>
          </a:solidFill>
          <a:ln w="12700">
            <a:solidFill>
              <a:srgbClr val="FFFFFF"/>
            </a:solidFill>
            <a:prstDash val="solid"/>
          </a:ln>
          <a:effectLst>
            <a:outerShdw sx="100000" sy="100000" kx="0" ky="0" algn="bl" rotWithShape="0" blurRad="76200" dist="25400" dir="5400000">
              <a:srgbClr val="000000">
                <a:alpha val="12000"/>
              </a:srgbClr>
            </a:outerShdw>
          </a:effectLst>
        </p:spPr>
      </p:sp>
      <p:sp>
        <p:nvSpPr>
          <p:cNvPr id="48" name="Shape 46"/>
          <p:cNvSpPr/>
          <p:nvPr/>
        </p:nvSpPr>
        <p:spPr>
          <a:xfrm>
            <a:off x="8356397" y="4242816"/>
            <a:ext cx="457200" cy="457200"/>
          </a:xfrm>
          <a:prstGeom prst="ellipse">
            <a:avLst/>
          </a:prstGeom>
          <a:solidFill>
            <a:srgbClr val="3A3F73"/>
          </a:solidFill>
          <a:ln w="12700">
            <a:solidFill>
              <a:srgbClr val="3A3F73"/>
            </a:solidFill>
            <a:prstDash val="solid"/>
          </a:ln>
        </p:spPr>
      </p:sp>
      <p:sp>
        <p:nvSpPr>
          <p:cNvPr id="49" name="Text 47"/>
          <p:cNvSpPr txBox="1"/>
          <p:nvPr/>
        </p:nvSpPr>
        <p:spPr>
          <a:xfrm>
            <a:off x="8356397" y="4242816"/>
            <a:ext cx="457200" cy="457200"/>
          </a:xfrm>
          <a:prstGeom prst="rect">
            <a:avLst/>
          </a:prstGeom>
          <a:noFill/>
          <a:ln/>
        </p:spPr>
        <p:txBody>
          <a:bodyPr wrap="square" lIns="0" tIns="0" rIns="0" bIns="0" rtlCol="0" anchor="ctr"/>
          <a:lstStyle/>
          <a:p>
            <a:pPr algn="ctr" indent="0" marL="0">
              <a:buNone/>
            </a:pPr>
            <a:r>
              <a:rPr lang="en-US" sz="1500" b="1" dirty="0">
                <a:solidFill>
                  <a:srgbClr val="FFFFFF"/>
                </a:solidFill>
                <a:latin typeface="Meiryo UI" pitchFamily="34" charset="0"/>
                <a:ea typeface="Meiryo UI" pitchFamily="34" charset="-122"/>
                <a:cs typeface="Meiryo UI" pitchFamily="34" charset="-120"/>
              </a:rPr>
              <a:t>6</a:t>
            </a:r>
            <a:endParaRPr lang="en-US" sz="1500" dirty="0"/>
          </a:p>
        </p:txBody>
      </p:sp>
      <p:sp>
        <p:nvSpPr>
          <p:cNvPr id="50" name="Text 48"/>
          <p:cNvSpPr txBox="1"/>
          <p:nvPr/>
        </p:nvSpPr>
        <p:spPr>
          <a:xfrm>
            <a:off x="8950757" y="4242816"/>
            <a:ext cx="2509418" cy="457200"/>
          </a:xfrm>
          <a:prstGeom prst="rect">
            <a:avLst/>
          </a:prstGeom>
          <a:noFill/>
          <a:ln/>
        </p:spPr>
        <p:txBody>
          <a:bodyPr wrap="square" lIns="0" tIns="0" rIns="0" bIns="0" rtlCol="0" anchor="ctr"/>
          <a:lstStyle/>
          <a:p>
            <a:pPr indent="0" marL="0">
              <a:buNone/>
            </a:pPr>
            <a:r>
              <a:rPr lang="en-US" sz="1400" b="1" dirty="0">
                <a:solidFill>
                  <a:srgbClr val="3A3F73"/>
                </a:solidFill>
                <a:latin typeface="Meiryo UI" pitchFamily="34" charset="0"/>
                <a:ea typeface="Meiryo UI" pitchFamily="34" charset="-122"/>
                <a:cs typeface="Meiryo UI" pitchFamily="34" charset="-120"/>
              </a:rPr>
              <a:t>強みが言葉になっていない</a:t>
            </a:r>
            <a:endParaRPr lang="en-US" sz="1400" dirty="0"/>
          </a:p>
        </p:txBody>
      </p:sp>
      <p:sp>
        <p:nvSpPr>
          <p:cNvPr id="51" name="Text 49"/>
          <p:cNvSpPr txBox="1"/>
          <p:nvPr/>
        </p:nvSpPr>
        <p:spPr>
          <a:xfrm>
            <a:off x="8356397" y="4818888"/>
            <a:ext cx="548640" cy="274320"/>
          </a:xfrm>
          <a:prstGeom prst="rect">
            <a:avLst/>
          </a:prstGeom>
          <a:noFill/>
          <a:ln/>
        </p:spPr>
        <p:txBody>
          <a:bodyPr wrap="square" lIns="0" tIns="0" rIns="0" bIns="0" rtlCol="0" anchor="t"/>
          <a:lstStyle/>
          <a:p>
            <a:pPr indent="0" marL="0">
              <a:buNone/>
            </a:pPr>
            <a:r>
              <a:rPr lang="en-US" sz="1050" b="1" dirty="0">
                <a:solidFill>
                  <a:srgbClr val="686A82"/>
                </a:solidFill>
                <a:latin typeface="Meiryo UI" pitchFamily="34" charset="0"/>
                <a:ea typeface="Meiryo UI" pitchFamily="34" charset="-122"/>
                <a:cs typeface="Meiryo UI" pitchFamily="34" charset="-120"/>
              </a:rPr>
              <a:t>現象</a:t>
            </a:r>
            <a:endParaRPr lang="en-US" sz="1050" dirty="0"/>
          </a:p>
        </p:txBody>
      </p:sp>
      <p:sp>
        <p:nvSpPr>
          <p:cNvPr id="52" name="Text 50"/>
          <p:cNvSpPr txBox="1"/>
          <p:nvPr/>
        </p:nvSpPr>
        <p:spPr>
          <a:xfrm>
            <a:off x="8905037" y="4800600"/>
            <a:ext cx="2509418" cy="640080"/>
          </a:xfrm>
          <a:prstGeom prst="rect">
            <a:avLst/>
          </a:prstGeom>
          <a:noFill/>
          <a:ln/>
        </p:spPr>
        <p:txBody>
          <a:bodyPr wrap="square" lIns="0" tIns="0" rIns="0" bIns="0" rtlCol="0" anchor="t"/>
          <a:lstStyle/>
          <a:p>
            <a:pPr indent="0" marL="0">
              <a:buNone/>
            </a:pPr>
            <a:r>
              <a:rPr lang="en-US" sz="1200" dirty="0">
                <a:solidFill>
                  <a:srgbClr val="2A2B38"/>
                </a:solidFill>
                <a:latin typeface="Meiryo UI" pitchFamily="34" charset="0"/>
                <a:ea typeface="Meiryo UI" pitchFamily="34" charset="-122"/>
                <a:cs typeface="Meiryo UI" pitchFamily="34" charset="-120"/>
              </a:rPr>
              <a:t>顧問先の満足度は高いが、その理由が外に伝わっていない</a:t>
            </a:r>
            <a:endParaRPr lang="en-US" sz="1200" dirty="0"/>
          </a:p>
        </p:txBody>
      </p:sp>
      <p:sp>
        <p:nvSpPr>
          <p:cNvPr id="53" name="Text 51"/>
          <p:cNvSpPr txBox="1"/>
          <p:nvPr/>
        </p:nvSpPr>
        <p:spPr>
          <a:xfrm>
            <a:off x="8356397" y="5458968"/>
            <a:ext cx="548640" cy="274320"/>
          </a:xfrm>
          <a:prstGeom prst="rect">
            <a:avLst/>
          </a:prstGeom>
          <a:noFill/>
          <a:ln/>
        </p:spPr>
        <p:txBody>
          <a:bodyPr wrap="square" lIns="0" tIns="0" rIns="0" bIns="0" rtlCol="0" anchor="t"/>
          <a:lstStyle/>
          <a:p>
            <a:pPr indent="0" marL="0">
              <a:buNone/>
            </a:pPr>
            <a:r>
              <a:rPr lang="en-US" sz="1050" b="1" dirty="0">
                <a:solidFill>
                  <a:srgbClr val="A87A1C"/>
                </a:solidFill>
                <a:latin typeface="Meiryo UI" pitchFamily="34" charset="0"/>
                <a:ea typeface="Meiryo UI" pitchFamily="34" charset="-122"/>
                <a:cs typeface="Meiryo UI" pitchFamily="34" charset="-120"/>
              </a:rPr>
              <a:t>リスク</a:t>
            </a:r>
            <a:endParaRPr lang="en-US" sz="1050" dirty="0"/>
          </a:p>
        </p:txBody>
      </p:sp>
      <p:sp>
        <p:nvSpPr>
          <p:cNvPr id="54" name="Text 52"/>
          <p:cNvSpPr txBox="1"/>
          <p:nvPr/>
        </p:nvSpPr>
        <p:spPr>
          <a:xfrm>
            <a:off x="8905037" y="5440680"/>
            <a:ext cx="2509418" cy="640080"/>
          </a:xfrm>
          <a:prstGeom prst="rect">
            <a:avLst/>
          </a:prstGeom>
          <a:noFill/>
          <a:ln/>
        </p:spPr>
        <p:txBody>
          <a:bodyPr wrap="square" lIns="0" tIns="0" rIns="0" bIns="0" rtlCol="0" anchor="t"/>
          <a:lstStyle/>
          <a:p>
            <a:pPr indent="0" marL="0">
              <a:buNone/>
            </a:pPr>
            <a:r>
              <a:rPr lang="en-US" sz="1200" b="1" dirty="0">
                <a:solidFill>
                  <a:srgbClr val="2A2B38"/>
                </a:solidFill>
                <a:latin typeface="Meiryo UI" pitchFamily="34" charset="0"/>
                <a:ea typeface="Meiryo UI" pitchFamily="34" charset="-122"/>
                <a:cs typeface="Meiryo UI" pitchFamily="34" charset="-120"/>
              </a:rPr>
              <a:t>紹介されても事務所の良さが伝わりにくい</a:t>
            </a:r>
            <a:endParaRPr lang="en-US" sz="1200" dirty="0"/>
          </a:p>
        </p:txBody>
      </p:sp>
    </p:spTree>
  </p:cSld>
  <p:clrMapOvr>
    <a:masterClrMapping/>
  </p:clrMapOvr>
</p:sld>
</file>

<file path=ppt/slides/slide6.xml><?xml version="1.0" encoding="utf-8"?>
<p:sld xmlns:a="http://schemas.openxmlformats.org/drawingml/2006/main" xmlns:r="http://schemas.openxmlformats.org/officeDocument/2006/relationships" xmlns:p="http://schemas.openxmlformats.org/presentationml/2006/main">
  <p:cSld name="Slide 6">
    <p:bg>
      <p:bgPr>
        <a:solidFill>
          <a:srgbClr val="FFFFFF"/>
        </a:solidFill>
      </p:bgPr>
    </p:bg>
    <p:spTree>
      <p:nvGrpSpPr>
        <p:cNvPr id="1" name=""/>
        <p:cNvGrpSpPr/>
        <p:nvPr/>
      </p:nvGrpSpPr>
      <p:grpSpPr>
        <a:xfrm>
          <a:off x="0" y="0"/>
          <a:ext cx="0" cy="0"/>
          <a:chOff x="0" y="0"/>
          <a:chExt cx="0" cy="0"/>
        </a:xfrm>
      </p:grpSpPr>
      <p:sp>
        <p:nvSpPr>
          <p:cNvPr id="2" name="Text 0"/>
          <p:cNvSpPr txBox="1"/>
          <p:nvPr/>
        </p:nvSpPr>
        <p:spPr>
          <a:xfrm>
            <a:off x="548640" y="347472"/>
            <a:ext cx="7315200" cy="274320"/>
          </a:xfrm>
          <a:prstGeom prst="rect">
            <a:avLst/>
          </a:prstGeom>
          <a:noFill/>
          <a:ln/>
        </p:spPr>
        <p:txBody>
          <a:bodyPr wrap="square" lIns="0" tIns="0" rIns="0" bIns="0" rtlCol="0" anchor="t"/>
          <a:lstStyle/>
          <a:p>
            <a:pPr indent="0" marL="0">
              <a:buNone/>
            </a:pPr>
            <a:r>
              <a:rPr lang="en-US" sz="1100" b="1" spc="200" kern="0" dirty="0">
                <a:solidFill>
                  <a:srgbClr val="A87A1C"/>
                </a:solidFill>
                <a:latin typeface="Meiryo UI" pitchFamily="34" charset="0"/>
                <a:ea typeface="Meiryo UI" pitchFamily="34" charset="-122"/>
                <a:cs typeface="Meiryo UI" pitchFamily="34" charset="-120"/>
              </a:rPr>
              <a:t>02｜WHY NOW</a:t>
            </a:r>
            <a:endParaRPr lang="en-US" sz="1100" dirty="0"/>
          </a:p>
        </p:txBody>
      </p:sp>
      <p:sp>
        <p:nvSpPr>
          <p:cNvPr id="3" name="Text 1"/>
          <p:cNvSpPr txBox="1"/>
          <p:nvPr/>
        </p:nvSpPr>
        <p:spPr>
          <a:xfrm>
            <a:off x="548640" y="621792"/>
            <a:ext cx="11094415" cy="566928"/>
          </a:xfrm>
          <a:prstGeom prst="rect">
            <a:avLst/>
          </a:prstGeom>
          <a:noFill/>
          <a:ln/>
        </p:spPr>
        <p:txBody>
          <a:bodyPr wrap="square" lIns="0" tIns="0" rIns="0" bIns="0" rtlCol="0" anchor="ctr"/>
          <a:lstStyle/>
          <a:p>
            <a:pPr indent="0" marL="0">
              <a:buNone/>
            </a:pPr>
            <a:r>
              <a:rPr lang="en-US" sz="2600" b="1" dirty="0">
                <a:solidFill>
                  <a:srgbClr val="3A3F73"/>
                </a:solidFill>
                <a:latin typeface="Meiryo UI" pitchFamily="34" charset="0"/>
                <a:ea typeface="Meiryo UI" pitchFamily="34" charset="-122"/>
                <a:cs typeface="Meiryo UI" pitchFamily="34" charset="-120"/>
              </a:rPr>
              <a:t>「動画を作って放置する（反応待ち）」では成果が出ない理由</a:t>
            </a:r>
            <a:endParaRPr lang="en-US" sz="2600" dirty="0"/>
          </a:p>
        </p:txBody>
      </p:sp>
      <p:sp>
        <p:nvSpPr>
          <p:cNvPr id="4" name="Text 2"/>
          <p:cNvSpPr txBox="1"/>
          <p:nvPr/>
        </p:nvSpPr>
        <p:spPr>
          <a:xfrm>
            <a:off x="11094415" y="6419088"/>
            <a:ext cx="548640" cy="256032"/>
          </a:xfrm>
          <a:prstGeom prst="rect">
            <a:avLst/>
          </a:prstGeom>
          <a:noFill/>
          <a:ln/>
        </p:spPr>
        <p:txBody>
          <a:bodyPr wrap="square" lIns="0" tIns="0" rIns="0" bIns="0" rtlCol="0" anchor="t"/>
          <a:lstStyle/>
          <a:p>
            <a:pPr algn="r" indent="0" marL="0">
              <a:buNone/>
            </a:pPr>
            <a:r>
              <a:rPr lang="en-US" sz="1000" dirty="0">
                <a:solidFill>
                  <a:srgbClr val="7C7E90"/>
                </a:solidFill>
                <a:latin typeface="Meiryo UI" pitchFamily="34" charset="0"/>
                <a:ea typeface="Meiryo UI" pitchFamily="34" charset="-122"/>
                <a:cs typeface="Meiryo UI" pitchFamily="34" charset="-120"/>
              </a:rPr>
              <a:t>6</a:t>
            </a:r>
            <a:endParaRPr lang="en-US" sz="1000" dirty="0"/>
          </a:p>
        </p:txBody>
      </p:sp>
      <p:sp>
        <p:nvSpPr>
          <p:cNvPr id="5" name="Text 3"/>
          <p:cNvSpPr txBox="1"/>
          <p:nvPr/>
        </p:nvSpPr>
        <p:spPr>
          <a:xfrm>
            <a:off x="548640" y="6419088"/>
            <a:ext cx="4572000" cy="256032"/>
          </a:xfrm>
          <a:prstGeom prst="rect">
            <a:avLst/>
          </a:prstGeom>
          <a:noFill/>
          <a:ln/>
        </p:spPr>
        <p:txBody>
          <a:bodyPr wrap="square" lIns="0" tIns="0" rIns="0" bIns="0" rtlCol="0" anchor="t"/>
          <a:lstStyle/>
          <a:p>
            <a:pPr indent="0" marL="0">
              <a:buNone/>
            </a:pPr>
            <a:r>
              <a:rPr lang="en-US" sz="900" dirty="0">
                <a:solidFill>
                  <a:srgbClr val="7C7E90"/>
                </a:solidFill>
                <a:latin typeface="Meiryo UI" pitchFamily="34" charset="0"/>
                <a:ea typeface="Meiryo UI" pitchFamily="34" charset="-122"/>
                <a:cs typeface="Meiryo UI" pitchFamily="34" charset="-120"/>
              </a:rPr>
              <a:t>株式会社アイドマ・ホールディングス｜MiTok</a:t>
            </a:r>
            <a:endParaRPr lang="en-US" sz="900" dirty="0"/>
          </a:p>
        </p:txBody>
      </p:sp>
      <p:sp>
        <p:nvSpPr>
          <p:cNvPr id="6" name="Shape 4"/>
          <p:cNvSpPr/>
          <p:nvPr/>
        </p:nvSpPr>
        <p:spPr>
          <a:xfrm>
            <a:off x="2286000" y="1417320"/>
            <a:ext cx="4526280" cy="548640"/>
          </a:xfrm>
          <a:prstGeom prst="roundRect">
            <a:avLst>
              <a:gd name="adj" fmla="val 20000"/>
            </a:avLst>
          </a:prstGeom>
          <a:solidFill>
            <a:srgbClr val="EFEFF3"/>
          </a:solidFill>
          <a:ln w="12700">
            <a:solidFill>
              <a:srgbClr val="EFEFF3"/>
            </a:solidFill>
            <a:prstDash val="solid"/>
          </a:ln>
        </p:spPr>
      </p:sp>
      <p:sp>
        <p:nvSpPr>
          <p:cNvPr id="7" name="Text 5"/>
          <p:cNvSpPr txBox="1"/>
          <p:nvPr/>
        </p:nvSpPr>
        <p:spPr>
          <a:xfrm>
            <a:off x="2286000" y="1417320"/>
            <a:ext cx="4526280" cy="548640"/>
          </a:xfrm>
          <a:prstGeom prst="rect">
            <a:avLst/>
          </a:prstGeom>
          <a:noFill/>
          <a:ln/>
        </p:spPr>
        <p:txBody>
          <a:bodyPr wrap="square" lIns="0" tIns="0" rIns="0" bIns="0" rtlCol="0" anchor="ctr"/>
          <a:lstStyle/>
          <a:p>
            <a:pPr algn="ctr" indent="0" marL="0">
              <a:buNone/>
            </a:pPr>
            <a:r>
              <a:rPr lang="en-US" sz="1500" b="1" dirty="0">
                <a:solidFill>
                  <a:srgbClr val="7C7E90"/>
                </a:solidFill>
                <a:latin typeface="Meiryo UI" pitchFamily="34" charset="0"/>
                <a:ea typeface="Meiryo UI" pitchFamily="34" charset="-122"/>
                <a:cs typeface="Meiryo UI" pitchFamily="34" charset="-120"/>
              </a:rPr>
              <a:t>作って放置（反応待ち）</a:t>
            </a:r>
            <a:endParaRPr lang="en-US" sz="1500" dirty="0"/>
          </a:p>
        </p:txBody>
      </p:sp>
      <p:sp>
        <p:nvSpPr>
          <p:cNvPr id="8" name="Shape 6"/>
          <p:cNvSpPr/>
          <p:nvPr/>
        </p:nvSpPr>
        <p:spPr>
          <a:xfrm>
            <a:off x="7086600" y="1417320"/>
            <a:ext cx="4526280" cy="548640"/>
          </a:xfrm>
          <a:prstGeom prst="roundRect">
            <a:avLst>
              <a:gd name="adj" fmla="val 20000"/>
            </a:avLst>
          </a:prstGeom>
          <a:solidFill>
            <a:srgbClr val="3A3F73"/>
          </a:solidFill>
          <a:ln w="12700">
            <a:solidFill>
              <a:srgbClr val="3A3F73"/>
            </a:solidFill>
            <a:prstDash val="solid"/>
          </a:ln>
        </p:spPr>
      </p:sp>
      <p:sp>
        <p:nvSpPr>
          <p:cNvPr id="9" name="Text 7"/>
          <p:cNvSpPr txBox="1"/>
          <p:nvPr/>
        </p:nvSpPr>
        <p:spPr>
          <a:xfrm>
            <a:off x="7086600" y="1417320"/>
            <a:ext cx="4526280" cy="548640"/>
          </a:xfrm>
          <a:prstGeom prst="rect">
            <a:avLst/>
          </a:prstGeom>
          <a:noFill/>
          <a:ln/>
        </p:spPr>
        <p:txBody>
          <a:bodyPr wrap="square" lIns="0" tIns="0" rIns="0" bIns="0" rtlCol="0" anchor="ctr"/>
          <a:lstStyle/>
          <a:p>
            <a:pPr algn="ctr" indent="0" marL="0">
              <a:buNone/>
            </a:pPr>
            <a:r>
              <a:rPr lang="en-US" sz="1500" b="1" dirty="0">
                <a:solidFill>
                  <a:srgbClr val="FFFFFF"/>
                </a:solidFill>
                <a:latin typeface="Meiryo UI" pitchFamily="34" charset="0"/>
                <a:ea typeface="Meiryo UI" pitchFamily="34" charset="-122"/>
                <a:cs typeface="Meiryo UI" pitchFamily="34" charset="-120"/>
              </a:rPr>
              <a:t>戦略設計 ＋ 運用</a:t>
            </a:r>
            <a:endParaRPr lang="en-US" sz="1500" dirty="0"/>
          </a:p>
        </p:txBody>
      </p:sp>
      <p:sp>
        <p:nvSpPr>
          <p:cNvPr id="10" name="Text 8"/>
          <p:cNvSpPr txBox="1"/>
          <p:nvPr/>
        </p:nvSpPr>
        <p:spPr>
          <a:xfrm>
            <a:off x="548640" y="2103120"/>
            <a:ext cx="1645920" cy="603504"/>
          </a:xfrm>
          <a:prstGeom prst="rect">
            <a:avLst/>
          </a:prstGeom>
          <a:noFill/>
          <a:ln/>
        </p:spPr>
        <p:txBody>
          <a:bodyPr wrap="square" lIns="0" tIns="0" rIns="0" bIns="0" rtlCol="0" anchor="ctr"/>
          <a:lstStyle/>
          <a:p>
            <a:pPr indent="0" marL="0">
              <a:buNone/>
            </a:pPr>
            <a:r>
              <a:rPr lang="en-US" sz="1300" b="1" dirty="0">
                <a:solidFill>
                  <a:srgbClr val="3A3F73"/>
                </a:solidFill>
                <a:latin typeface="Meiryo UI" pitchFamily="34" charset="0"/>
                <a:ea typeface="Meiryo UI" pitchFamily="34" charset="-122"/>
                <a:cs typeface="Meiryo UI" pitchFamily="34" charset="-120"/>
              </a:rPr>
              <a:t>届く人数</a:t>
            </a:r>
            <a:endParaRPr lang="en-US" sz="1300" dirty="0"/>
          </a:p>
        </p:txBody>
      </p:sp>
      <p:sp>
        <p:nvSpPr>
          <p:cNvPr id="11" name="Shape 9"/>
          <p:cNvSpPr/>
          <p:nvPr/>
        </p:nvSpPr>
        <p:spPr>
          <a:xfrm>
            <a:off x="2286000" y="2103120"/>
            <a:ext cx="4526280" cy="603504"/>
          </a:xfrm>
          <a:prstGeom prst="roundRect">
            <a:avLst>
              <a:gd name="adj" fmla="val 18182"/>
            </a:avLst>
          </a:prstGeom>
          <a:solidFill>
            <a:srgbClr val="F6F7FB"/>
          </a:solidFill>
          <a:ln w="12700">
            <a:solidFill>
              <a:srgbClr val="F6F7FB"/>
            </a:solidFill>
            <a:prstDash val="solid"/>
          </a:ln>
        </p:spPr>
      </p:sp>
      <p:sp>
        <p:nvSpPr>
          <p:cNvPr id="12" name="Shape 10"/>
          <p:cNvSpPr/>
          <p:nvPr/>
        </p:nvSpPr>
        <p:spPr>
          <a:xfrm>
            <a:off x="2423160" y="2249424"/>
            <a:ext cx="310896" cy="310896"/>
          </a:xfrm>
          <a:prstGeom prst="ellipse">
            <a:avLst/>
          </a:prstGeom>
          <a:solidFill>
            <a:srgbClr val="DDDEE6"/>
          </a:solidFill>
          <a:ln w="12700">
            <a:solidFill>
              <a:srgbClr val="DDDEE6"/>
            </a:solidFill>
            <a:prstDash val="solid"/>
          </a:ln>
        </p:spPr>
      </p:sp>
      <p:pic>
        <p:nvPicPr>
          <p:cNvPr id="13" name="Image 0" descr="preencoded.png">    </p:cNvPr>
          <p:cNvPicPr>
            <a:picLocks noChangeAspect="1"/>
          </p:cNvPicPr>
          <p:nvPr/>
        </p:nvPicPr>
        <p:blipFill>
          <a:blip r:embed="rId1"/>
          <a:stretch>
            <a:fillRect/>
          </a:stretch>
        </p:blipFill>
        <p:spPr>
          <a:xfrm>
            <a:off x="2503993" y="2330257"/>
            <a:ext cx="149230" cy="149230"/>
          </a:xfrm>
          <a:prstGeom prst="rect">
            <a:avLst/>
          </a:prstGeom>
        </p:spPr>
      </p:pic>
      <p:sp>
        <p:nvSpPr>
          <p:cNvPr id="14" name="Text 11"/>
          <p:cNvSpPr txBox="1"/>
          <p:nvPr/>
        </p:nvSpPr>
        <p:spPr>
          <a:xfrm>
            <a:off x="2852928" y="2103120"/>
            <a:ext cx="3840480" cy="603504"/>
          </a:xfrm>
          <a:prstGeom prst="rect">
            <a:avLst/>
          </a:prstGeom>
          <a:noFill/>
          <a:ln/>
        </p:spPr>
        <p:txBody>
          <a:bodyPr wrap="square" lIns="0" tIns="0" rIns="0" bIns="0" rtlCol="0" anchor="ctr"/>
          <a:lstStyle/>
          <a:p>
            <a:pPr indent="0" marL="0">
              <a:buNone/>
            </a:pPr>
            <a:r>
              <a:rPr lang="en-US" sz="1200" dirty="0">
                <a:solidFill>
                  <a:srgbClr val="7C7E90"/>
                </a:solidFill>
                <a:latin typeface="Meiryo UI" pitchFamily="34" charset="0"/>
                <a:ea typeface="Meiryo UI" pitchFamily="34" charset="-122"/>
                <a:cs typeface="Meiryo UI" pitchFamily="34" charset="-120"/>
              </a:rPr>
              <a:t>HPを見に来た人しか見ない</a:t>
            </a:r>
            <a:endParaRPr lang="en-US" sz="1200" dirty="0"/>
          </a:p>
        </p:txBody>
      </p:sp>
      <p:sp>
        <p:nvSpPr>
          <p:cNvPr id="15" name="Shape 12"/>
          <p:cNvSpPr/>
          <p:nvPr/>
        </p:nvSpPr>
        <p:spPr>
          <a:xfrm>
            <a:off x="7086600" y="2103120"/>
            <a:ext cx="4526280" cy="603504"/>
          </a:xfrm>
          <a:prstGeom prst="roundRect">
            <a:avLst>
              <a:gd name="adj" fmla="val 18182"/>
            </a:avLst>
          </a:prstGeom>
          <a:solidFill>
            <a:srgbClr val="EEEFF7"/>
          </a:solidFill>
          <a:ln w="12700">
            <a:solidFill>
              <a:srgbClr val="EEEFF7"/>
            </a:solidFill>
            <a:prstDash val="solid"/>
          </a:ln>
        </p:spPr>
      </p:sp>
      <p:sp>
        <p:nvSpPr>
          <p:cNvPr id="16" name="Shape 13"/>
          <p:cNvSpPr/>
          <p:nvPr/>
        </p:nvSpPr>
        <p:spPr>
          <a:xfrm>
            <a:off x="7223760" y="2249424"/>
            <a:ext cx="310896" cy="310896"/>
          </a:xfrm>
          <a:prstGeom prst="ellipse">
            <a:avLst/>
          </a:prstGeom>
          <a:solidFill>
            <a:srgbClr val="3A3F73"/>
          </a:solidFill>
          <a:ln w="12700">
            <a:solidFill>
              <a:srgbClr val="3A3F73"/>
            </a:solidFill>
            <a:prstDash val="solid"/>
          </a:ln>
        </p:spPr>
      </p:sp>
      <p:pic>
        <p:nvPicPr>
          <p:cNvPr id="17" name="Image 1" descr="preencoded.png">    </p:cNvPr>
          <p:cNvPicPr>
            <a:picLocks noChangeAspect="1"/>
          </p:cNvPicPr>
          <p:nvPr/>
        </p:nvPicPr>
        <p:blipFill>
          <a:blip r:embed="rId2"/>
          <a:stretch>
            <a:fillRect/>
          </a:stretch>
        </p:blipFill>
        <p:spPr>
          <a:xfrm>
            <a:off x="7304593" y="2330257"/>
            <a:ext cx="149230" cy="149230"/>
          </a:xfrm>
          <a:prstGeom prst="rect">
            <a:avLst/>
          </a:prstGeom>
        </p:spPr>
      </p:pic>
      <p:sp>
        <p:nvSpPr>
          <p:cNvPr id="18" name="Text 14"/>
          <p:cNvSpPr txBox="1"/>
          <p:nvPr/>
        </p:nvSpPr>
        <p:spPr>
          <a:xfrm>
            <a:off x="7653528" y="2103120"/>
            <a:ext cx="3840480" cy="603504"/>
          </a:xfrm>
          <a:prstGeom prst="rect">
            <a:avLst/>
          </a:prstGeom>
          <a:noFill/>
          <a:ln/>
        </p:spPr>
        <p:txBody>
          <a:bodyPr wrap="square" lIns="0" tIns="0" rIns="0" bIns="0" rtlCol="0" anchor="ctr"/>
          <a:lstStyle/>
          <a:p>
            <a:pPr indent="0" marL="0">
              <a:buNone/>
            </a:pPr>
            <a:r>
              <a:rPr lang="en-US" sz="1200" b="1" dirty="0">
                <a:solidFill>
                  <a:srgbClr val="262A52"/>
                </a:solidFill>
                <a:latin typeface="Meiryo UI" pitchFamily="34" charset="0"/>
                <a:ea typeface="Meiryo UI" pitchFamily="34" charset="-122"/>
                <a:cs typeface="Meiryo UI" pitchFamily="34" charset="-120"/>
              </a:rPr>
              <a:t>顧問先・紹介者・面談予定者・SNSへ能動的に届ける</a:t>
            </a:r>
            <a:endParaRPr lang="en-US" sz="1200" dirty="0"/>
          </a:p>
        </p:txBody>
      </p:sp>
      <p:sp>
        <p:nvSpPr>
          <p:cNvPr id="19" name="Text 15"/>
          <p:cNvSpPr txBox="1"/>
          <p:nvPr/>
        </p:nvSpPr>
        <p:spPr>
          <a:xfrm>
            <a:off x="548640" y="2816352"/>
            <a:ext cx="1645920" cy="603504"/>
          </a:xfrm>
          <a:prstGeom prst="rect">
            <a:avLst/>
          </a:prstGeom>
          <a:noFill/>
          <a:ln/>
        </p:spPr>
        <p:txBody>
          <a:bodyPr wrap="square" lIns="0" tIns="0" rIns="0" bIns="0" rtlCol="0" anchor="ctr"/>
          <a:lstStyle/>
          <a:p>
            <a:pPr indent="0" marL="0">
              <a:buNone/>
            </a:pPr>
            <a:r>
              <a:rPr lang="en-US" sz="1300" b="1" dirty="0">
                <a:solidFill>
                  <a:srgbClr val="3A3F73"/>
                </a:solidFill>
                <a:latin typeface="Meiryo UI" pitchFamily="34" charset="0"/>
                <a:ea typeface="Meiryo UI" pitchFamily="34" charset="-122"/>
                <a:cs typeface="Meiryo UI" pitchFamily="34" charset="-120"/>
              </a:rPr>
              <a:t>判断材料</a:t>
            </a:r>
            <a:endParaRPr lang="en-US" sz="1300" dirty="0"/>
          </a:p>
        </p:txBody>
      </p:sp>
      <p:sp>
        <p:nvSpPr>
          <p:cNvPr id="20" name="Shape 16"/>
          <p:cNvSpPr/>
          <p:nvPr/>
        </p:nvSpPr>
        <p:spPr>
          <a:xfrm>
            <a:off x="2286000" y="2816352"/>
            <a:ext cx="4526280" cy="603504"/>
          </a:xfrm>
          <a:prstGeom prst="roundRect">
            <a:avLst>
              <a:gd name="adj" fmla="val 18182"/>
            </a:avLst>
          </a:prstGeom>
          <a:solidFill>
            <a:srgbClr val="F6F7FB"/>
          </a:solidFill>
          <a:ln w="12700">
            <a:solidFill>
              <a:srgbClr val="F6F7FB"/>
            </a:solidFill>
            <a:prstDash val="solid"/>
          </a:ln>
        </p:spPr>
      </p:sp>
      <p:sp>
        <p:nvSpPr>
          <p:cNvPr id="21" name="Shape 17"/>
          <p:cNvSpPr/>
          <p:nvPr/>
        </p:nvSpPr>
        <p:spPr>
          <a:xfrm>
            <a:off x="2423160" y="2962656"/>
            <a:ext cx="310896" cy="310896"/>
          </a:xfrm>
          <a:prstGeom prst="ellipse">
            <a:avLst/>
          </a:prstGeom>
          <a:solidFill>
            <a:srgbClr val="DDDEE6"/>
          </a:solidFill>
          <a:ln w="12700">
            <a:solidFill>
              <a:srgbClr val="DDDEE6"/>
            </a:solidFill>
            <a:prstDash val="solid"/>
          </a:ln>
        </p:spPr>
      </p:sp>
      <p:pic>
        <p:nvPicPr>
          <p:cNvPr id="22" name="Image 2" descr="preencoded.png">    </p:cNvPr>
          <p:cNvPicPr>
            <a:picLocks noChangeAspect="1"/>
          </p:cNvPicPr>
          <p:nvPr/>
        </p:nvPicPr>
        <p:blipFill>
          <a:blip r:embed="rId3"/>
          <a:stretch>
            <a:fillRect/>
          </a:stretch>
        </p:blipFill>
        <p:spPr>
          <a:xfrm>
            <a:off x="2503993" y="3043489"/>
            <a:ext cx="149230" cy="149230"/>
          </a:xfrm>
          <a:prstGeom prst="rect">
            <a:avLst/>
          </a:prstGeom>
        </p:spPr>
      </p:pic>
      <p:sp>
        <p:nvSpPr>
          <p:cNvPr id="23" name="Text 18"/>
          <p:cNvSpPr txBox="1"/>
          <p:nvPr/>
        </p:nvSpPr>
        <p:spPr>
          <a:xfrm>
            <a:off x="2852928" y="2816352"/>
            <a:ext cx="3840480" cy="603504"/>
          </a:xfrm>
          <a:prstGeom prst="rect">
            <a:avLst/>
          </a:prstGeom>
          <a:noFill/>
          <a:ln/>
        </p:spPr>
        <p:txBody>
          <a:bodyPr wrap="square" lIns="0" tIns="0" rIns="0" bIns="0" rtlCol="0" anchor="ctr"/>
          <a:lstStyle/>
          <a:p>
            <a:pPr indent="0" marL="0">
              <a:buNone/>
            </a:pPr>
            <a:r>
              <a:rPr lang="en-US" sz="1200" dirty="0">
                <a:solidFill>
                  <a:srgbClr val="7C7E90"/>
                </a:solidFill>
                <a:latin typeface="Meiryo UI" pitchFamily="34" charset="0"/>
                <a:ea typeface="Meiryo UI" pitchFamily="34" charset="-122"/>
                <a:cs typeface="Meiryo UI" pitchFamily="34" charset="-120"/>
              </a:rPr>
              <a:t>再生数が少なく「効果があるのか分からない」まま終わる</a:t>
            </a:r>
            <a:endParaRPr lang="en-US" sz="1200" dirty="0"/>
          </a:p>
        </p:txBody>
      </p:sp>
      <p:sp>
        <p:nvSpPr>
          <p:cNvPr id="24" name="Shape 19"/>
          <p:cNvSpPr/>
          <p:nvPr/>
        </p:nvSpPr>
        <p:spPr>
          <a:xfrm>
            <a:off x="7086600" y="2816352"/>
            <a:ext cx="4526280" cy="603504"/>
          </a:xfrm>
          <a:prstGeom prst="roundRect">
            <a:avLst>
              <a:gd name="adj" fmla="val 18182"/>
            </a:avLst>
          </a:prstGeom>
          <a:solidFill>
            <a:srgbClr val="EEEFF7"/>
          </a:solidFill>
          <a:ln w="12700">
            <a:solidFill>
              <a:srgbClr val="EEEFF7"/>
            </a:solidFill>
            <a:prstDash val="solid"/>
          </a:ln>
        </p:spPr>
      </p:sp>
      <p:sp>
        <p:nvSpPr>
          <p:cNvPr id="25" name="Shape 20"/>
          <p:cNvSpPr/>
          <p:nvPr/>
        </p:nvSpPr>
        <p:spPr>
          <a:xfrm>
            <a:off x="7223760" y="2962656"/>
            <a:ext cx="310896" cy="310896"/>
          </a:xfrm>
          <a:prstGeom prst="ellipse">
            <a:avLst/>
          </a:prstGeom>
          <a:solidFill>
            <a:srgbClr val="3A3F73"/>
          </a:solidFill>
          <a:ln w="12700">
            <a:solidFill>
              <a:srgbClr val="3A3F73"/>
            </a:solidFill>
            <a:prstDash val="solid"/>
          </a:ln>
        </p:spPr>
      </p:sp>
      <p:pic>
        <p:nvPicPr>
          <p:cNvPr id="26" name="Image 3" descr="preencoded.png">    </p:cNvPr>
          <p:cNvPicPr>
            <a:picLocks noChangeAspect="1"/>
          </p:cNvPicPr>
          <p:nvPr/>
        </p:nvPicPr>
        <p:blipFill>
          <a:blip r:embed="rId4"/>
          <a:stretch>
            <a:fillRect/>
          </a:stretch>
        </p:blipFill>
        <p:spPr>
          <a:xfrm>
            <a:off x="7304593" y="3043489"/>
            <a:ext cx="149230" cy="149230"/>
          </a:xfrm>
          <a:prstGeom prst="rect">
            <a:avLst/>
          </a:prstGeom>
        </p:spPr>
      </p:pic>
      <p:sp>
        <p:nvSpPr>
          <p:cNvPr id="27" name="Text 21"/>
          <p:cNvSpPr txBox="1"/>
          <p:nvPr/>
        </p:nvSpPr>
        <p:spPr>
          <a:xfrm>
            <a:off x="7653528" y="2816352"/>
            <a:ext cx="3840480" cy="603504"/>
          </a:xfrm>
          <a:prstGeom prst="rect">
            <a:avLst/>
          </a:prstGeom>
          <a:noFill/>
          <a:ln/>
        </p:spPr>
        <p:txBody>
          <a:bodyPr wrap="square" lIns="0" tIns="0" rIns="0" bIns="0" rtlCol="0" anchor="ctr"/>
          <a:lstStyle/>
          <a:p>
            <a:pPr indent="0" marL="0">
              <a:buNone/>
            </a:pPr>
            <a:r>
              <a:rPr lang="en-US" sz="1200" b="1" dirty="0">
                <a:solidFill>
                  <a:srgbClr val="262A52"/>
                </a:solidFill>
                <a:latin typeface="Meiryo UI" pitchFamily="34" charset="0"/>
                <a:ea typeface="Meiryo UI" pitchFamily="34" charset="-122"/>
                <a:cs typeface="Meiryo UI" pitchFamily="34" charset="-120"/>
              </a:rPr>
              <a:t>視聴数・問い合わせ・紹介件数を数値で比較できる</a:t>
            </a:r>
            <a:endParaRPr lang="en-US" sz="1200" dirty="0"/>
          </a:p>
        </p:txBody>
      </p:sp>
      <p:sp>
        <p:nvSpPr>
          <p:cNvPr id="28" name="Text 22"/>
          <p:cNvSpPr txBox="1"/>
          <p:nvPr/>
        </p:nvSpPr>
        <p:spPr>
          <a:xfrm>
            <a:off x="548640" y="3529584"/>
            <a:ext cx="1645920" cy="603504"/>
          </a:xfrm>
          <a:prstGeom prst="rect">
            <a:avLst/>
          </a:prstGeom>
          <a:noFill/>
          <a:ln/>
        </p:spPr>
        <p:txBody>
          <a:bodyPr wrap="square" lIns="0" tIns="0" rIns="0" bIns="0" rtlCol="0" anchor="ctr"/>
          <a:lstStyle/>
          <a:p>
            <a:pPr indent="0" marL="0">
              <a:buNone/>
            </a:pPr>
            <a:r>
              <a:rPr lang="en-US" sz="1300" b="1" dirty="0">
                <a:solidFill>
                  <a:srgbClr val="3A3F73"/>
                </a:solidFill>
                <a:latin typeface="Meiryo UI" pitchFamily="34" charset="0"/>
                <a:ea typeface="Meiryo UI" pitchFamily="34" charset="-122"/>
                <a:cs typeface="Meiryo UI" pitchFamily="34" charset="-120"/>
              </a:rPr>
              <a:t>改善</a:t>
            </a:r>
            <a:endParaRPr lang="en-US" sz="1300" dirty="0"/>
          </a:p>
        </p:txBody>
      </p:sp>
      <p:sp>
        <p:nvSpPr>
          <p:cNvPr id="29" name="Shape 23"/>
          <p:cNvSpPr/>
          <p:nvPr/>
        </p:nvSpPr>
        <p:spPr>
          <a:xfrm>
            <a:off x="2286000" y="3529584"/>
            <a:ext cx="4526280" cy="603504"/>
          </a:xfrm>
          <a:prstGeom prst="roundRect">
            <a:avLst>
              <a:gd name="adj" fmla="val 18182"/>
            </a:avLst>
          </a:prstGeom>
          <a:solidFill>
            <a:srgbClr val="F6F7FB"/>
          </a:solidFill>
          <a:ln w="12700">
            <a:solidFill>
              <a:srgbClr val="F6F7FB"/>
            </a:solidFill>
            <a:prstDash val="solid"/>
          </a:ln>
        </p:spPr>
      </p:sp>
      <p:sp>
        <p:nvSpPr>
          <p:cNvPr id="30" name="Shape 24"/>
          <p:cNvSpPr/>
          <p:nvPr/>
        </p:nvSpPr>
        <p:spPr>
          <a:xfrm>
            <a:off x="2423160" y="3675888"/>
            <a:ext cx="310896" cy="310896"/>
          </a:xfrm>
          <a:prstGeom prst="ellipse">
            <a:avLst/>
          </a:prstGeom>
          <a:solidFill>
            <a:srgbClr val="DDDEE6"/>
          </a:solidFill>
          <a:ln w="12700">
            <a:solidFill>
              <a:srgbClr val="DDDEE6"/>
            </a:solidFill>
            <a:prstDash val="solid"/>
          </a:ln>
        </p:spPr>
      </p:sp>
      <p:pic>
        <p:nvPicPr>
          <p:cNvPr id="31" name="Image 4" descr="preencoded.png">    </p:cNvPr>
          <p:cNvPicPr>
            <a:picLocks noChangeAspect="1"/>
          </p:cNvPicPr>
          <p:nvPr/>
        </p:nvPicPr>
        <p:blipFill>
          <a:blip r:embed="rId5"/>
          <a:stretch>
            <a:fillRect/>
          </a:stretch>
        </p:blipFill>
        <p:spPr>
          <a:xfrm>
            <a:off x="2503993" y="3756721"/>
            <a:ext cx="149230" cy="149230"/>
          </a:xfrm>
          <a:prstGeom prst="rect">
            <a:avLst/>
          </a:prstGeom>
        </p:spPr>
      </p:pic>
      <p:sp>
        <p:nvSpPr>
          <p:cNvPr id="32" name="Text 25"/>
          <p:cNvSpPr txBox="1"/>
          <p:nvPr/>
        </p:nvSpPr>
        <p:spPr>
          <a:xfrm>
            <a:off x="2852928" y="3529584"/>
            <a:ext cx="3840480" cy="603504"/>
          </a:xfrm>
          <a:prstGeom prst="rect">
            <a:avLst/>
          </a:prstGeom>
          <a:noFill/>
          <a:ln/>
        </p:spPr>
        <p:txBody>
          <a:bodyPr wrap="square" lIns="0" tIns="0" rIns="0" bIns="0" rtlCol="0" anchor="ctr"/>
          <a:lstStyle/>
          <a:p>
            <a:pPr indent="0" marL="0">
              <a:buNone/>
            </a:pPr>
            <a:r>
              <a:rPr lang="en-US" sz="1200" dirty="0">
                <a:solidFill>
                  <a:srgbClr val="7C7E90"/>
                </a:solidFill>
                <a:latin typeface="Meiryo UI" pitchFamily="34" charset="0"/>
                <a:ea typeface="Meiryo UI" pitchFamily="34" charset="-122"/>
                <a:cs typeface="Meiryo UI" pitchFamily="34" charset="-120"/>
              </a:rPr>
              <a:t>1本で終わり、何が良く何が悪かったか学べない</a:t>
            </a:r>
            <a:endParaRPr lang="en-US" sz="1200" dirty="0"/>
          </a:p>
        </p:txBody>
      </p:sp>
      <p:sp>
        <p:nvSpPr>
          <p:cNvPr id="33" name="Shape 26"/>
          <p:cNvSpPr/>
          <p:nvPr/>
        </p:nvSpPr>
        <p:spPr>
          <a:xfrm>
            <a:off x="7086600" y="3529584"/>
            <a:ext cx="4526280" cy="603504"/>
          </a:xfrm>
          <a:prstGeom prst="roundRect">
            <a:avLst>
              <a:gd name="adj" fmla="val 18182"/>
            </a:avLst>
          </a:prstGeom>
          <a:solidFill>
            <a:srgbClr val="EEEFF7"/>
          </a:solidFill>
          <a:ln w="12700">
            <a:solidFill>
              <a:srgbClr val="EEEFF7"/>
            </a:solidFill>
            <a:prstDash val="solid"/>
          </a:ln>
        </p:spPr>
      </p:sp>
      <p:sp>
        <p:nvSpPr>
          <p:cNvPr id="34" name="Shape 27"/>
          <p:cNvSpPr/>
          <p:nvPr/>
        </p:nvSpPr>
        <p:spPr>
          <a:xfrm>
            <a:off x="7223760" y="3675888"/>
            <a:ext cx="310896" cy="310896"/>
          </a:xfrm>
          <a:prstGeom prst="ellipse">
            <a:avLst/>
          </a:prstGeom>
          <a:solidFill>
            <a:srgbClr val="3A3F73"/>
          </a:solidFill>
          <a:ln w="12700">
            <a:solidFill>
              <a:srgbClr val="3A3F73"/>
            </a:solidFill>
            <a:prstDash val="solid"/>
          </a:ln>
        </p:spPr>
      </p:sp>
      <p:pic>
        <p:nvPicPr>
          <p:cNvPr id="35" name="Image 5" descr="preencoded.png">    </p:cNvPr>
          <p:cNvPicPr>
            <a:picLocks noChangeAspect="1"/>
          </p:cNvPicPr>
          <p:nvPr/>
        </p:nvPicPr>
        <p:blipFill>
          <a:blip r:embed="rId6"/>
          <a:stretch>
            <a:fillRect/>
          </a:stretch>
        </p:blipFill>
        <p:spPr>
          <a:xfrm>
            <a:off x="7304593" y="3756721"/>
            <a:ext cx="149230" cy="149230"/>
          </a:xfrm>
          <a:prstGeom prst="rect">
            <a:avLst/>
          </a:prstGeom>
        </p:spPr>
      </p:pic>
      <p:sp>
        <p:nvSpPr>
          <p:cNvPr id="36" name="Text 28"/>
          <p:cNvSpPr txBox="1"/>
          <p:nvPr/>
        </p:nvSpPr>
        <p:spPr>
          <a:xfrm>
            <a:off x="7653528" y="3529584"/>
            <a:ext cx="3840480" cy="603504"/>
          </a:xfrm>
          <a:prstGeom prst="rect">
            <a:avLst/>
          </a:prstGeom>
          <a:noFill/>
          <a:ln/>
        </p:spPr>
        <p:txBody>
          <a:bodyPr wrap="square" lIns="0" tIns="0" rIns="0" bIns="0" rtlCol="0" anchor="ctr"/>
          <a:lstStyle/>
          <a:p>
            <a:pPr indent="0" marL="0">
              <a:buNone/>
            </a:pPr>
            <a:r>
              <a:rPr lang="en-US" sz="1200" b="1" dirty="0">
                <a:solidFill>
                  <a:srgbClr val="262A52"/>
                </a:solidFill>
                <a:latin typeface="Meiryo UI" pitchFamily="34" charset="0"/>
                <a:ea typeface="Meiryo UI" pitchFamily="34" charset="-122"/>
                <a:cs typeface="Meiryo UI" pitchFamily="34" charset="-120"/>
              </a:rPr>
              <a:t>検証結果から台本・尺・テーマを改善し続ける</a:t>
            </a:r>
            <a:endParaRPr lang="en-US" sz="1200" dirty="0"/>
          </a:p>
        </p:txBody>
      </p:sp>
      <p:sp>
        <p:nvSpPr>
          <p:cNvPr id="37" name="Text 29"/>
          <p:cNvSpPr txBox="1"/>
          <p:nvPr/>
        </p:nvSpPr>
        <p:spPr>
          <a:xfrm>
            <a:off x="548640" y="4242816"/>
            <a:ext cx="1645920" cy="603504"/>
          </a:xfrm>
          <a:prstGeom prst="rect">
            <a:avLst/>
          </a:prstGeom>
          <a:noFill/>
          <a:ln/>
        </p:spPr>
        <p:txBody>
          <a:bodyPr wrap="square" lIns="0" tIns="0" rIns="0" bIns="0" rtlCol="0" anchor="ctr"/>
          <a:lstStyle/>
          <a:p>
            <a:pPr indent="0" marL="0">
              <a:buNone/>
            </a:pPr>
            <a:r>
              <a:rPr lang="en-US" sz="1300" b="1" dirty="0">
                <a:solidFill>
                  <a:srgbClr val="3A3F73"/>
                </a:solidFill>
                <a:latin typeface="Meiryo UI" pitchFamily="34" charset="0"/>
                <a:ea typeface="Meiryo UI" pitchFamily="34" charset="-122"/>
                <a:cs typeface="Meiryo UI" pitchFamily="34" charset="-120"/>
              </a:rPr>
              <a:t>業務との接続</a:t>
            </a:r>
            <a:endParaRPr lang="en-US" sz="1300" dirty="0"/>
          </a:p>
        </p:txBody>
      </p:sp>
      <p:sp>
        <p:nvSpPr>
          <p:cNvPr id="38" name="Shape 30"/>
          <p:cNvSpPr/>
          <p:nvPr/>
        </p:nvSpPr>
        <p:spPr>
          <a:xfrm>
            <a:off x="2286000" y="4242816"/>
            <a:ext cx="4526280" cy="603504"/>
          </a:xfrm>
          <a:prstGeom prst="roundRect">
            <a:avLst>
              <a:gd name="adj" fmla="val 18182"/>
            </a:avLst>
          </a:prstGeom>
          <a:solidFill>
            <a:srgbClr val="F6F7FB"/>
          </a:solidFill>
          <a:ln w="12700">
            <a:solidFill>
              <a:srgbClr val="F6F7FB"/>
            </a:solidFill>
            <a:prstDash val="solid"/>
          </a:ln>
        </p:spPr>
      </p:sp>
      <p:sp>
        <p:nvSpPr>
          <p:cNvPr id="39" name="Shape 31"/>
          <p:cNvSpPr/>
          <p:nvPr/>
        </p:nvSpPr>
        <p:spPr>
          <a:xfrm>
            <a:off x="2423160" y="4389120"/>
            <a:ext cx="310896" cy="310896"/>
          </a:xfrm>
          <a:prstGeom prst="ellipse">
            <a:avLst/>
          </a:prstGeom>
          <a:solidFill>
            <a:srgbClr val="DDDEE6"/>
          </a:solidFill>
          <a:ln w="12700">
            <a:solidFill>
              <a:srgbClr val="DDDEE6"/>
            </a:solidFill>
            <a:prstDash val="solid"/>
          </a:ln>
        </p:spPr>
      </p:sp>
      <p:pic>
        <p:nvPicPr>
          <p:cNvPr id="40" name="Image 6" descr="preencoded.png">    </p:cNvPr>
          <p:cNvPicPr>
            <a:picLocks noChangeAspect="1"/>
          </p:cNvPicPr>
          <p:nvPr/>
        </p:nvPicPr>
        <p:blipFill>
          <a:blip r:embed="rId7"/>
          <a:stretch>
            <a:fillRect/>
          </a:stretch>
        </p:blipFill>
        <p:spPr>
          <a:xfrm>
            <a:off x="2503993" y="4469953"/>
            <a:ext cx="149230" cy="149230"/>
          </a:xfrm>
          <a:prstGeom prst="rect">
            <a:avLst/>
          </a:prstGeom>
        </p:spPr>
      </p:pic>
      <p:sp>
        <p:nvSpPr>
          <p:cNvPr id="41" name="Text 32"/>
          <p:cNvSpPr txBox="1"/>
          <p:nvPr/>
        </p:nvSpPr>
        <p:spPr>
          <a:xfrm>
            <a:off x="2852928" y="4242816"/>
            <a:ext cx="3840480" cy="603504"/>
          </a:xfrm>
          <a:prstGeom prst="rect">
            <a:avLst/>
          </a:prstGeom>
          <a:noFill/>
          <a:ln/>
        </p:spPr>
        <p:txBody>
          <a:bodyPr wrap="square" lIns="0" tIns="0" rIns="0" bIns="0" rtlCol="0" anchor="ctr"/>
          <a:lstStyle/>
          <a:p>
            <a:pPr indent="0" marL="0">
              <a:buNone/>
            </a:pPr>
            <a:r>
              <a:rPr lang="en-US" sz="1200" dirty="0">
                <a:solidFill>
                  <a:srgbClr val="7C7E90"/>
                </a:solidFill>
                <a:latin typeface="Meiryo UI" pitchFamily="34" charset="0"/>
                <a:ea typeface="Meiryo UI" pitchFamily="34" charset="-122"/>
                <a:cs typeface="Meiryo UI" pitchFamily="34" charset="-120"/>
              </a:rPr>
              <a:t>日々の面談や顧問先対応で使われず、説明の手間も減らない</a:t>
            </a:r>
            <a:endParaRPr lang="en-US" sz="1200" dirty="0"/>
          </a:p>
        </p:txBody>
      </p:sp>
      <p:sp>
        <p:nvSpPr>
          <p:cNvPr id="42" name="Shape 33"/>
          <p:cNvSpPr/>
          <p:nvPr/>
        </p:nvSpPr>
        <p:spPr>
          <a:xfrm>
            <a:off x="7086600" y="4242816"/>
            <a:ext cx="4526280" cy="603504"/>
          </a:xfrm>
          <a:prstGeom prst="roundRect">
            <a:avLst>
              <a:gd name="adj" fmla="val 18182"/>
            </a:avLst>
          </a:prstGeom>
          <a:solidFill>
            <a:srgbClr val="EEEFF7"/>
          </a:solidFill>
          <a:ln w="12700">
            <a:solidFill>
              <a:srgbClr val="EEEFF7"/>
            </a:solidFill>
            <a:prstDash val="solid"/>
          </a:ln>
        </p:spPr>
      </p:sp>
      <p:sp>
        <p:nvSpPr>
          <p:cNvPr id="43" name="Shape 34"/>
          <p:cNvSpPr/>
          <p:nvPr/>
        </p:nvSpPr>
        <p:spPr>
          <a:xfrm>
            <a:off x="7223760" y="4389120"/>
            <a:ext cx="310896" cy="310896"/>
          </a:xfrm>
          <a:prstGeom prst="ellipse">
            <a:avLst/>
          </a:prstGeom>
          <a:solidFill>
            <a:srgbClr val="3A3F73"/>
          </a:solidFill>
          <a:ln w="12700">
            <a:solidFill>
              <a:srgbClr val="3A3F73"/>
            </a:solidFill>
            <a:prstDash val="solid"/>
          </a:ln>
        </p:spPr>
      </p:sp>
      <p:pic>
        <p:nvPicPr>
          <p:cNvPr id="44" name="Image 7" descr="preencoded.png">    </p:cNvPr>
          <p:cNvPicPr>
            <a:picLocks noChangeAspect="1"/>
          </p:cNvPicPr>
          <p:nvPr/>
        </p:nvPicPr>
        <p:blipFill>
          <a:blip r:embed="rId8"/>
          <a:stretch>
            <a:fillRect/>
          </a:stretch>
        </p:blipFill>
        <p:spPr>
          <a:xfrm>
            <a:off x="7304593" y="4469953"/>
            <a:ext cx="149230" cy="149230"/>
          </a:xfrm>
          <a:prstGeom prst="rect">
            <a:avLst/>
          </a:prstGeom>
        </p:spPr>
      </p:pic>
      <p:sp>
        <p:nvSpPr>
          <p:cNvPr id="45" name="Text 35"/>
          <p:cNvSpPr txBox="1"/>
          <p:nvPr/>
        </p:nvSpPr>
        <p:spPr>
          <a:xfrm>
            <a:off x="7653528" y="4242816"/>
            <a:ext cx="3840480" cy="603504"/>
          </a:xfrm>
          <a:prstGeom prst="rect">
            <a:avLst/>
          </a:prstGeom>
          <a:noFill/>
          <a:ln/>
        </p:spPr>
        <p:txBody>
          <a:bodyPr wrap="square" lIns="0" tIns="0" rIns="0" bIns="0" rtlCol="0" anchor="ctr"/>
          <a:lstStyle/>
          <a:p>
            <a:pPr indent="0" marL="0">
              <a:buNone/>
            </a:pPr>
            <a:r>
              <a:rPr lang="en-US" sz="1200" b="1" dirty="0">
                <a:solidFill>
                  <a:srgbClr val="262A52"/>
                </a:solidFill>
                <a:latin typeface="Meiryo UI" pitchFamily="34" charset="0"/>
                <a:ea typeface="Meiryo UI" pitchFamily="34" charset="-122"/>
                <a:cs typeface="Meiryo UI" pitchFamily="34" charset="-120"/>
              </a:rPr>
              <a:t>面談前の送付・顧問先への定期連絡に組み込まれ、型になる</a:t>
            </a:r>
            <a:endParaRPr lang="en-US" sz="1200" dirty="0"/>
          </a:p>
        </p:txBody>
      </p:sp>
      <p:sp>
        <p:nvSpPr>
          <p:cNvPr id="46" name="Text 36"/>
          <p:cNvSpPr txBox="1"/>
          <p:nvPr/>
        </p:nvSpPr>
        <p:spPr>
          <a:xfrm>
            <a:off x="548640" y="4956048"/>
            <a:ext cx="1645920" cy="603504"/>
          </a:xfrm>
          <a:prstGeom prst="rect">
            <a:avLst/>
          </a:prstGeom>
          <a:noFill/>
          <a:ln/>
        </p:spPr>
        <p:txBody>
          <a:bodyPr wrap="square" lIns="0" tIns="0" rIns="0" bIns="0" rtlCol="0" anchor="ctr"/>
          <a:lstStyle/>
          <a:p>
            <a:pPr indent="0" marL="0">
              <a:buNone/>
            </a:pPr>
            <a:r>
              <a:rPr lang="en-US" sz="1300" b="1" dirty="0">
                <a:solidFill>
                  <a:srgbClr val="3A3F73"/>
                </a:solidFill>
                <a:latin typeface="Meiryo UI" pitchFamily="34" charset="0"/>
                <a:ea typeface="Meiryo UI" pitchFamily="34" charset="-122"/>
                <a:cs typeface="Meiryo UI" pitchFamily="34" charset="-120"/>
              </a:rPr>
              <a:t>結論</a:t>
            </a:r>
            <a:endParaRPr lang="en-US" sz="1300" dirty="0"/>
          </a:p>
        </p:txBody>
      </p:sp>
      <p:sp>
        <p:nvSpPr>
          <p:cNvPr id="47" name="Shape 37"/>
          <p:cNvSpPr/>
          <p:nvPr/>
        </p:nvSpPr>
        <p:spPr>
          <a:xfrm>
            <a:off x="2286000" y="4956048"/>
            <a:ext cx="4526280" cy="603504"/>
          </a:xfrm>
          <a:prstGeom prst="roundRect">
            <a:avLst>
              <a:gd name="adj" fmla="val 18182"/>
            </a:avLst>
          </a:prstGeom>
          <a:solidFill>
            <a:srgbClr val="F6F7FB"/>
          </a:solidFill>
          <a:ln w="12700">
            <a:solidFill>
              <a:srgbClr val="F6F7FB"/>
            </a:solidFill>
            <a:prstDash val="solid"/>
          </a:ln>
        </p:spPr>
      </p:sp>
      <p:sp>
        <p:nvSpPr>
          <p:cNvPr id="48" name="Shape 38"/>
          <p:cNvSpPr/>
          <p:nvPr/>
        </p:nvSpPr>
        <p:spPr>
          <a:xfrm>
            <a:off x="2423160" y="5102352"/>
            <a:ext cx="310896" cy="310896"/>
          </a:xfrm>
          <a:prstGeom prst="ellipse">
            <a:avLst/>
          </a:prstGeom>
          <a:solidFill>
            <a:srgbClr val="DDDEE6"/>
          </a:solidFill>
          <a:ln w="12700">
            <a:solidFill>
              <a:srgbClr val="DDDEE6"/>
            </a:solidFill>
            <a:prstDash val="solid"/>
          </a:ln>
        </p:spPr>
      </p:sp>
      <p:pic>
        <p:nvPicPr>
          <p:cNvPr id="49" name="Image 8" descr="preencoded.png">    </p:cNvPr>
          <p:cNvPicPr>
            <a:picLocks noChangeAspect="1"/>
          </p:cNvPicPr>
          <p:nvPr/>
        </p:nvPicPr>
        <p:blipFill>
          <a:blip r:embed="rId9"/>
          <a:stretch>
            <a:fillRect/>
          </a:stretch>
        </p:blipFill>
        <p:spPr>
          <a:xfrm>
            <a:off x="2503993" y="5183185"/>
            <a:ext cx="149230" cy="149230"/>
          </a:xfrm>
          <a:prstGeom prst="rect">
            <a:avLst/>
          </a:prstGeom>
        </p:spPr>
      </p:pic>
      <p:sp>
        <p:nvSpPr>
          <p:cNvPr id="50" name="Text 39"/>
          <p:cNvSpPr txBox="1"/>
          <p:nvPr/>
        </p:nvSpPr>
        <p:spPr>
          <a:xfrm>
            <a:off x="2852928" y="4956048"/>
            <a:ext cx="3840480" cy="603504"/>
          </a:xfrm>
          <a:prstGeom prst="rect">
            <a:avLst/>
          </a:prstGeom>
          <a:noFill/>
          <a:ln/>
        </p:spPr>
        <p:txBody>
          <a:bodyPr wrap="square" lIns="0" tIns="0" rIns="0" bIns="0" rtlCol="0" anchor="ctr"/>
          <a:lstStyle/>
          <a:p>
            <a:pPr indent="0" marL="0">
              <a:buNone/>
            </a:pPr>
            <a:r>
              <a:rPr lang="en-US" sz="1200" b="1" dirty="0">
                <a:solidFill>
                  <a:srgbClr val="2A2B38"/>
                </a:solidFill>
                <a:latin typeface="Meiryo UI" pitchFamily="34" charset="0"/>
                <a:ea typeface="Meiryo UI" pitchFamily="34" charset="-122"/>
                <a:cs typeface="Meiryo UI" pitchFamily="34" charset="-120"/>
              </a:rPr>
              <a:t>「動画は効果がなかった」という誤った判断に至る</a:t>
            </a:r>
            <a:endParaRPr lang="en-US" sz="1200" dirty="0"/>
          </a:p>
        </p:txBody>
      </p:sp>
      <p:sp>
        <p:nvSpPr>
          <p:cNvPr id="51" name="Shape 40"/>
          <p:cNvSpPr/>
          <p:nvPr/>
        </p:nvSpPr>
        <p:spPr>
          <a:xfrm>
            <a:off x="7086600" y="4956048"/>
            <a:ext cx="4526280" cy="603504"/>
          </a:xfrm>
          <a:prstGeom prst="roundRect">
            <a:avLst>
              <a:gd name="adj" fmla="val 18182"/>
            </a:avLst>
          </a:prstGeom>
          <a:solidFill>
            <a:srgbClr val="FBF3E1"/>
          </a:solidFill>
          <a:ln w="12700">
            <a:solidFill>
              <a:srgbClr val="FBF3E1"/>
            </a:solidFill>
            <a:prstDash val="solid"/>
          </a:ln>
        </p:spPr>
      </p:sp>
      <p:sp>
        <p:nvSpPr>
          <p:cNvPr id="52" name="Shape 41"/>
          <p:cNvSpPr/>
          <p:nvPr/>
        </p:nvSpPr>
        <p:spPr>
          <a:xfrm>
            <a:off x="7223760" y="5102352"/>
            <a:ext cx="310896" cy="310896"/>
          </a:xfrm>
          <a:prstGeom prst="ellipse">
            <a:avLst/>
          </a:prstGeom>
          <a:solidFill>
            <a:srgbClr val="A87A1C"/>
          </a:solidFill>
          <a:ln w="12700">
            <a:solidFill>
              <a:srgbClr val="A87A1C"/>
            </a:solidFill>
            <a:prstDash val="solid"/>
          </a:ln>
        </p:spPr>
      </p:sp>
      <p:pic>
        <p:nvPicPr>
          <p:cNvPr id="53" name="Image 9" descr="preencoded.png">    </p:cNvPr>
          <p:cNvPicPr>
            <a:picLocks noChangeAspect="1"/>
          </p:cNvPicPr>
          <p:nvPr/>
        </p:nvPicPr>
        <p:blipFill>
          <a:blip r:embed="rId10"/>
          <a:stretch>
            <a:fillRect/>
          </a:stretch>
        </p:blipFill>
        <p:spPr>
          <a:xfrm>
            <a:off x="7304593" y="5183185"/>
            <a:ext cx="149230" cy="149230"/>
          </a:xfrm>
          <a:prstGeom prst="rect">
            <a:avLst/>
          </a:prstGeom>
        </p:spPr>
      </p:pic>
      <p:sp>
        <p:nvSpPr>
          <p:cNvPr id="54" name="Text 42"/>
          <p:cNvSpPr txBox="1"/>
          <p:nvPr/>
        </p:nvSpPr>
        <p:spPr>
          <a:xfrm>
            <a:off x="7653528" y="4956048"/>
            <a:ext cx="3840480" cy="603504"/>
          </a:xfrm>
          <a:prstGeom prst="rect">
            <a:avLst/>
          </a:prstGeom>
          <a:noFill/>
          <a:ln/>
        </p:spPr>
        <p:txBody>
          <a:bodyPr wrap="square" lIns="0" tIns="0" rIns="0" bIns="0" rtlCol="0" anchor="ctr"/>
          <a:lstStyle/>
          <a:p>
            <a:pPr indent="0" marL="0">
              <a:buNone/>
            </a:pPr>
            <a:r>
              <a:rPr lang="en-US" sz="1200" b="1" dirty="0">
                <a:solidFill>
                  <a:srgbClr val="262A52"/>
                </a:solidFill>
                <a:latin typeface="Meiryo UI" pitchFamily="34" charset="0"/>
                <a:ea typeface="Meiryo UI" pitchFamily="34" charset="-122"/>
                <a:cs typeface="Meiryo UI" pitchFamily="34" charset="-120"/>
              </a:rPr>
              <a:t>紹介とWebの両方から相談が届く“仕組み”が残る</a:t>
            </a:r>
            <a:endParaRPr lang="en-US" sz="1200" dirty="0"/>
          </a:p>
        </p:txBody>
      </p:sp>
      <p:sp>
        <p:nvSpPr>
          <p:cNvPr id="55" name="Text 43"/>
          <p:cNvSpPr txBox="1"/>
          <p:nvPr/>
        </p:nvSpPr>
        <p:spPr>
          <a:xfrm>
            <a:off x="548640" y="5715000"/>
            <a:ext cx="11094415" cy="640080"/>
          </a:xfrm>
          <a:prstGeom prst="rect">
            <a:avLst/>
          </a:prstGeom>
          <a:noFill/>
          <a:ln/>
        </p:spPr>
        <p:txBody>
          <a:bodyPr wrap="square" lIns="0" tIns="0" rIns="0" bIns="0" rtlCol="0" anchor="ctr"/>
          <a:lstStyle/>
          <a:p>
            <a:pPr algn="ctr" indent="0" marL="0">
              <a:buNone/>
            </a:pPr>
            <a:r>
              <a:rPr lang="en-US" sz="1400" b="1" dirty="0">
                <a:solidFill>
                  <a:srgbClr val="A87A1C"/>
                </a:solidFill>
                <a:latin typeface="Meiryo UI" pitchFamily="34" charset="0"/>
                <a:ea typeface="Meiryo UI" pitchFamily="34" charset="-122"/>
                <a:cs typeface="Meiryo UI" pitchFamily="34" charset="-120"/>
              </a:rPr>
              <a:t>動画は“置く”ものではなく“使う”もの。</a:t>
            </a:r>
            <a:endParaRPr lang="en-US" sz="1400" dirty="0"/>
          </a:p>
          <a:p>
            <a:pPr algn="ctr" indent="0" marL="0">
              <a:buNone/>
            </a:pPr>
            <a:r>
              <a:rPr lang="en-US" sz="1400" dirty="0">
                <a:solidFill>
                  <a:srgbClr val="2A2B38"/>
                </a:solidFill>
                <a:latin typeface="Meiryo UI" pitchFamily="34" charset="0"/>
                <a:ea typeface="Meiryo UI" pitchFamily="34" charset="-122"/>
                <a:cs typeface="Meiryo UI" pitchFamily="34" charset="-120"/>
              </a:rPr>
              <a:t>成果を分けるのは出来栄えではなく、「誰に・いつ・どう届け・どう改善するか」という運用設計です。</a:t>
            </a:r>
            <a:endParaRPr lang="en-US" sz="1400" dirty="0"/>
          </a:p>
        </p:txBody>
      </p:sp>
    </p:spTree>
  </p:cSld>
  <p:clrMapOvr>
    <a:masterClrMapping/>
  </p:clrMapOvr>
</p:sld>
</file>

<file path=ppt/slides/slide7.xml><?xml version="1.0" encoding="utf-8"?>
<p:sld xmlns:a="http://schemas.openxmlformats.org/drawingml/2006/main" xmlns:r="http://schemas.openxmlformats.org/officeDocument/2006/relationships" xmlns:p="http://schemas.openxmlformats.org/presentationml/2006/main">
  <p:cSld name="Slide 7">
    <p:bg>
      <p:bgPr>
        <a:solidFill>
          <a:srgbClr val="FFFFFF"/>
        </a:solidFill>
      </p:bgPr>
    </p:bg>
    <p:spTree>
      <p:nvGrpSpPr>
        <p:cNvPr id="1" name=""/>
        <p:cNvGrpSpPr/>
        <p:nvPr/>
      </p:nvGrpSpPr>
      <p:grpSpPr>
        <a:xfrm>
          <a:off x="0" y="0"/>
          <a:ext cx="0" cy="0"/>
          <a:chOff x="0" y="0"/>
          <a:chExt cx="0" cy="0"/>
        </a:xfrm>
      </p:grpSpPr>
      <p:sp>
        <p:nvSpPr>
          <p:cNvPr id="2" name="Text 0"/>
          <p:cNvSpPr txBox="1"/>
          <p:nvPr/>
        </p:nvSpPr>
        <p:spPr>
          <a:xfrm>
            <a:off x="548640" y="347472"/>
            <a:ext cx="7315200" cy="274320"/>
          </a:xfrm>
          <a:prstGeom prst="rect">
            <a:avLst/>
          </a:prstGeom>
          <a:noFill/>
          <a:ln/>
        </p:spPr>
        <p:txBody>
          <a:bodyPr wrap="square" lIns="0" tIns="0" rIns="0" bIns="0" rtlCol="0" anchor="t"/>
          <a:lstStyle/>
          <a:p>
            <a:pPr indent="0" marL="0">
              <a:buNone/>
            </a:pPr>
            <a:r>
              <a:rPr lang="en-US" sz="1100" b="1" spc="200" kern="0" dirty="0">
                <a:solidFill>
                  <a:srgbClr val="A87A1C"/>
                </a:solidFill>
                <a:latin typeface="Meiryo UI" pitchFamily="34" charset="0"/>
                <a:ea typeface="Meiryo UI" pitchFamily="34" charset="-122"/>
                <a:cs typeface="Meiryo UI" pitchFamily="34" charset="-120"/>
              </a:rPr>
              <a:t>02｜WHY MiTok / WHY US</a:t>
            </a:r>
            <a:endParaRPr lang="en-US" sz="1100" dirty="0"/>
          </a:p>
        </p:txBody>
      </p:sp>
      <p:sp>
        <p:nvSpPr>
          <p:cNvPr id="3" name="Text 1"/>
          <p:cNvSpPr txBox="1"/>
          <p:nvPr/>
        </p:nvSpPr>
        <p:spPr>
          <a:xfrm>
            <a:off x="548640" y="621792"/>
            <a:ext cx="11094415" cy="566928"/>
          </a:xfrm>
          <a:prstGeom prst="rect">
            <a:avLst/>
          </a:prstGeom>
          <a:noFill/>
          <a:ln/>
        </p:spPr>
        <p:txBody>
          <a:bodyPr wrap="square" lIns="0" tIns="0" rIns="0" bIns="0" rtlCol="0" anchor="ctr"/>
          <a:lstStyle/>
          <a:p>
            <a:pPr indent="0" marL="0">
              <a:buNone/>
            </a:pPr>
            <a:r>
              <a:rPr lang="en-US" sz="2600" b="1" dirty="0">
                <a:solidFill>
                  <a:srgbClr val="3A3F73"/>
                </a:solidFill>
                <a:latin typeface="Meiryo UI" pitchFamily="34" charset="0"/>
                <a:ea typeface="Meiryo UI" pitchFamily="34" charset="-122"/>
                <a:cs typeface="Meiryo UI" pitchFamily="34" charset="-120"/>
              </a:rPr>
              <a:t>なぜ「動画 × 生成AI（MiTok）」で、なぜアイドマなのか</a:t>
            </a:r>
            <a:endParaRPr lang="en-US" sz="2600" dirty="0"/>
          </a:p>
        </p:txBody>
      </p:sp>
      <p:sp>
        <p:nvSpPr>
          <p:cNvPr id="4" name="Text 2"/>
          <p:cNvSpPr txBox="1"/>
          <p:nvPr/>
        </p:nvSpPr>
        <p:spPr>
          <a:xfrm>
            <a:off x="11094415" y="6419088"/>
            <a:ext cx="548640" cy="256032"/>
          </a:xfrm>
          <a:prstGeom prst="rect">
            <a:avLst/>
          </a:prstGeom>
          <a:noFill/>
          <a:ln/>
        </p:spPr>
        <p:txBody>
          <a:bodyPr wrap="square" lIns="0" tIns="0" rIns="0" bIns="0" rtlCol="0" anchor="t"/>
          <a:lstStyle/>
          <a:p>
            <a:pPr algn="r" indent="0" marL="0">
              <a:buNone/>
            </a:pPr>
            <a:r>
              <a:rPr lang="en-US" sz="1000" dirty="0">
                <a:solidFill>
                  <a:srgbClr val="7C7E90"/>
                </a:solidFill>
                <a:latin typeface="Meiryo UI" pitchFamily="34" charset="0"/>
                <a:ea typeface="Meiryo UI" pitchFamily="34" charset="-122"/>
                <a:cs typeface="Meiryo UI" pitchFamily="34" charset="-120"/>
              </a:rPr>
              <a:t>7</a:t>
            </a:r>
            <a:endParaRPr lang="en-US" sz="1000" dirty="0"/>
          </a:p>
        </p:txBody>
      </p:sp>
      <p:sp>
        <p:nvSpPr>
          <p:cNvPr id="5" name="Text 3"/>
          <p:cNvSpPr txBox="1"/>
          <p:nvPr/>
        </p:nvSpPr>
        <p:spPr>
          <a:xfrm>
            <a:off x="548640" y="6419088"/>
            <a:ext cx="4572000" cy="256032"/>
          </a:xfrm>
          <a:prstGeom prst="rect">
            <a:avLst/>
          </a:prstGeom>
          <a:noFill/>
          <a:ln/>
        </p:spPr>
        <p:txBody>
          <a:bodyPr wrap="square" lIns="0" tIns="0" rIns="0" bIns="0" rtlCol="0" anchor="t"/>
          <a:lstStyle/>
          <a:p>
            <a:pPr indent="0" marL="0">
              <a:buNone/>
            </a:pPr>
            <a:r>
              <a:rPr lang="en-US" sz="900" dirty="0">
                <a:solidFill>
                  <a:srgbClr val="7C7E90"/>
                </a:solidFill>
                <a:latin typeface="Meiryo UI" pitchFamily="34" charset="0"/>
                <a:ea typeface="Meiryo UI" pitchFamily="34" charset="-122"/>
                <a:cs typeface="Meiryo UI" pitchFamily="34" charset="-120"/>
              </a:rPr>
              <a:t>株式会社アイドマ・ホールディングス｜MiTok</a:t>
            </a:r>
            <a:endParaRPr lang="en-US" sz="900" dirty="0"/>
          </a:p>
        </p:txBody>
      </p:sp>
      <p:sp>
        <p:nvSpPr>
          <p:cNvPr id="6" name="Text 4"/>
          <p:cNvSpPr txBox="1"/>
          <p:nvPr/>
        </p:nvSpPr>
        <p:spPr>
          <a:xfrm>
            <a:off x="548640" y="1371600"/>
            <a:ext cx="3657600" cy="365760"/>
          </a:xfrm>
          <a:prstGeom prst="rect">
            <a:avLst/>
          </a:prstGeom>
          <a:noFill/>
          <a:ln/>
        </p:spPr>
        <p:txBody>
          <a:bodyPr wrap="square" lIns="0" tIns="0" rIns="0" bIns="0" rtlCol="0" anchor="t"/>
          <a:lstStyle/>
          <a:p>
            <a:pPr indent="0" marL="0">
              <a:buNone/>
            </a:pPr>
            <a:r>
              <a:rPr lang="en-US" sz="1600" b="1" dirty="0">
                <a:solidFill>
                  <a:srgbClr val="A87A1C"/>
                </a:solidFill>
                <a:latin typeface="Meiryo UI" pitchFamily="34" charset="0"/>
                <a:ea typeface="Meiryo UI" pitchFamily="34" charset="-122"/>
                <a:cs typeface="Meiryo UI" pitchFamily="34" charset="-120"/>
              </a:rPr>
              <a:t>Why MiTok</a:t>
            </a:r>
            <a:endParaRPr lang="en-US" sz="1600" dirty="0"/>
          </a:p>
        </p:txBody>
      </p:sp>
      <p:sp>
        <p:nvSpPr>
          <p:cNvPr id="7" name="Shape 5"/>
          <p:cNvSpPr/>
          <p:nvPr/>
        </p:nvSpPr>
        <p:spPr>
          <a:xfrm>
            <a:off x="548640" y="1874520"/>
            <a:ext cx="548640" cy="548640"/>
          </a:xfrm>
          <a:prstGeom prst="ellipse">
            <a:avLst/>
          </a:prstGeom>
          <a:solidFill>
            <a:srgbClr val="EEEFF7"/>
          </a:solidFill>
          <a:ln w="12700">
            <a:solidFill>
              <a:srgbClr val="EEEFF7"/>
            </a:solidFill>
            <a:prstDash val="solid"/>
          </a:ln>
        </p:spPr>
      </p:sp>
      <p:pic>
        <p:nvPicPr>
          <p:cNvPr id="8" name="Image 0" descr="preencoded.png">    </p:cNvPr>
          <p:cNvPicPr>
            <a:picLocks noChangeAspect="1"/>
          </p:cNvPicPr>
          <p:nvPr/>
        </p:nvPicPr>
        <p:blipFill>
          <a:blip r:embed="rId1"/>
          <a:stretch>
            <a:fillRect/>
          </a:stretch>
        </p:blipFill>
        <p:spPr>
          <a:xfrm>
            <a:off x="691286" y="2017166"/>
            <a:ext cx="263347" cy="263347"/>
          </a:xfrm>
          <a:prstGeom prst="rect">
            <a:avLst/>
          </a:prstGeom>
        </p:spPr>
      </p:pic>
      <p:sp>
        <p:nvSpPr>
          <p:cNvPr id="9" name="Text 6"/>
          <p:cNvSpPr txBox="1"/>
          <p:nvPr/>
        </p:nvSpPr>
        <p:spPr>
          <a:xfrm>
            <a:off x="1280160" y="1828800"/>
            <a:ext cx="6035040" cy="320040"/>
          </a:xfrm>
          <a:prstGeom prst="rect">
            <a:avLst/>
          </a:prstGeom>
          <a:noFill/>
          <a:ln/>
        </p:spPr>
        <p:txBody>
          <a:bodyPr wrap="square" lIns="0" tIns="0" rIns="0" bIns="0" rtlCol="0" anchor="t"/>
          <a:lstStyle/>
          <a:p>
            <a:pPr indent="0" marL="0">
              <a:buNone/>
            </a:pPr>
            <a:r>
              <a:rPr lang="en-US" sz="1400" b="1" dirty="0">
                <a:solidFill>
                  <a:srgbClr val="3A3F73"/>
                </a:solidFill>
                <a:latin typeface="Meiryo UI" pitchFamily="34" charset="0"/>
                <a:ea typeface="Meiryo UI" pitchFamily="34" charset="-122"/>
                <a:cs typeface="Meiryo UI" pitchFamily="34" charset="-120"/>
              </a:rPr>
              <a:t>AI掛け合い（対話型）の動画</a:t>
            </a:r>
            <a:endParaRPr lang="en-US" sz="1400" dirty="0"/>
          </a:p>
        </p:txBody>
      </p:sp>
      <p:sp>
        <p:nvSpPr>
          <p:cNvPr id="10" name="Text 7"/>
          <p:cNvSpPr txBox="1"/>
          <p:nvPr/>
        </p:nvSpPr>
        <p:spPr>
          <a:xfrm>
            <a:off x="1280160" y="2157984"/>
            <a:ext cx="6035040" cy="475488"/>
          </a:xfrm>
          <a:prstGeom prst="rect">
            <a:avLst/>
          </a:prstGeom>
          <a:noFill/>
          <a:ln/>
        </p:spPr>
        <p:txBody>
          <a:bodyPr wrap="square" lIns="0" tIns="0" rIns="0" bIns="0" rtlCol="0" anchor="t"/>
          <a:lstStyle/>
          <a:p>
            <a:pPr indent="0" marL="0">
              <a:buNone/>
            </a:pPr>
            <a:r>
              <a:rPr lang="en-US" sz="1150" dirty="0">
                <a:solidFill>
                  <a:srgbClr val="2A2B38"/>
                </a:solidFill>
                <a:latin typeface="Meiryo UI" pitchFamily="34" charset="0"/>
                <a:ea typeface="Meiryo UI" pitchFamily="34" charset="-122"/>
                <a:cs typeface="Meiryo UI" pitchFamily="34" charset="-120"/>
              </a:rPr>
              <a:t>「相談者の疑問」×「税理士の回答」の形式で、難しい税金の話も分かりやすく伝わる</a:t>
            </a:r>
            <a:endParaRPr lang="en-US" sz="1150" dirty="0"/>
          </a:p>
        </p:txBody>
      </p:sp>
      <p:sp>
        <p:nvSpPr>
          <p:cNvPr id="11" name="Shape 8"/>
          <p:cNvSpPr/>
          <p:nvPr/>
        </p:nvSpPr>
        <p:spPr>
          <a:xfrm>
            <a:off x="548640" y="2743200"/>
            <a:ext cx="548640" cy="548640"/>
          </a:xfrm>
          <a:prstGeom prst="ellipse">
            <a:avLst/>
          </a:prstGeom>
          <a:solidFill>
            <a:srgbClr val="EEEFF7"/>
          </a:solidFill>
          <a:ln w="12700">
            <a:solidFill>
              <a:srgbClr val="EEEFF7"/>
            </a:solidFill>
            <a:prstDash val="solid"/>
          </a:ln>
        </p:spPr>
      </p:sp>
      <p:pic>
        <p:nvPicPr>
          <p:cNvPr id="12" name="Image 1" descr="preencoded.png">    </p:cNvPr>
          <p:cNvPicPr>
            <a:picLocks noChangeAspect="1"/>
          </p:cNvPicPr>
          <p:nvPr/>
        </p:nvPicPr>
        <p:blipFill>
          <a:blip r:embed="rId2"/>
          <a:stretch>
            <a:fillRect/>
          </a:stretch>
        </p:blipFill>
        <p:spPr>
          <a:xfrm>
            <a:off x="691286" y="2885846"/>
            <a:ext cx="263347" cy="263347"/>
          </a:xfrm>
          <a:prstGeom prst="rect">
            <a:avLst/>
          </a:prstGeom>
        </p:spPr>
      </p:pic>
      <p:sp>
        <p:nvSpPr>
          <p:cNvPr id="13" name="Text 9"/>
          <p:cNvSpPr txBox="1"/>
          <p:nvPr/>
        </p:nvSpPr>
        <p:spPr>
          <a:xfrm>
            <a:off x="1280160" y="2697480"/>
            <a:ext cx="6035040" cy="320040"/>
          </a:xfrm>
          <a:prstGeom prst="rect">
            <a:avLst/>
          </a:prstGeom>
          <a:noFill/>
          <a:ln/>
        </p:spPr>
        <p:txBody>
          <a:bodyPr wrap="square" lIns="0" tIns="0" rIns="0" bIns="0" rtlCol="0" anchor="t"/>
          <a:lstStyle/>
          <a:p>
            <a:pPr indent="0" marL="0">
              <a:buNone/>
            </a:pPr>
            <a:r>
              <a:rPr lang="en-US" sz="1400" b="1" dirty="0">
                <a:solidFill>
                  <a:srgbClr val="3A3F73"/>
                </a:solidFill>
                <a:latin typeface="Meiryo UI" pitchFamily="34" charset="0"/>
                <a:ea typeface="Meiryo UI" pitchFamily="34" charset="-122"/>
                <a:cs typeface="Meiryo UI" pitchFamily="34" charset="-120"/>
              </a:rPr>
              <a:t>撮影・出演の負担がない</a:t>
            </a:r>
            <a:endParaRPr lang="en-US" sz="1400" dirty="0"/>
          </a:p>
        </p:txBody>
      </p:sp>
      <p:sp>
        <p:nvSpPr>
          <p:cNvPr id="14" name="Text 10"/>
          <p:cNvSpPr txBox="1"/>
          <p:nvPr/>
        </p:nvSpPr>
        <p:spPr>
          <a:xfrm>
            <a:off x="1280160" y="3026664"/>
            <a:ext cx="6035040" cy="475488"/>
          </a:xfrm>
          <a:prstGeom prst="rect">
            <a:avLst/>
          </a:prstGeom>
          <a:noFill/>
          <a:ln/>
        </p:spPr>
        <p:txBody>
          <a:bodyPr wrap="square" lIns="0" tIns="0" rIns="0" bIns="0" rtlCol="0" anchor="t"/>
          <a:lstStyle/>
          <a:p>
            <a:pPr indent="0" marL="0">
              <a:buNone/>
            </a:pPr>
            <a:r>
              <a:rPr lang="en-US" sz="1150" dirty="0">
                <a:solidFill>
                  <a:srgbClr val="2A2B38"/>
                </a:solidFill>
                <a:latin typeface="Meiryo UI" pitchFamily="34" charset="0"/>
                <a:ea typeface="Meiryo UI" pitchFamily="34" charset="-122"/>
                <a:cs typeface="Meiryo UI" pitchFamily="34" charset="-120"/>
              </a:rPr>
              <a:t>多忙な代表やスタッフが撮影に時間を取られずに、動画をそろえられる</a:t>
            </a:r>
            <a:endParaRPr lang="en-US" sz="1150" dirty="0"/>
          </a:p>
        </p:txBody>
      </p:sp>
      <p:sp>
        <p:nvSpPr>
          <p:cNvPr id="15" name="Shape 11"/>
          <p:cNvSpPr/>
          <p:nvPr/>
        </p:nvSpPr>
        <p:spPr>
          <a:xfrm>
            <a:off x="548640" y="3611880"/>
            <a:ext cx="548640" cy="548640"/>
          </a:xfrm>
          <a:prstGeom prst="ellipse">
            <a:avLst/>
          </a:prstGeom>
          <a:solidFill>
            <a:srgbClr val="EEEFF7"/>
          </a:solidFill>
          <a:ln w="12700">
            <a:solidFill>
              <a:srgbClr val="EEEFF7"/>
            </a:solidFill>
            <a:prstDash val="solid"/>
          </a:ln>
        </p:spPr>
      </p:sp>
      <p:pic>
        <p:nvPicPr>
          <p:cNvPr id="16" name="Image 2" descr="preencoded.png">    </p:cNvPr>
          <p:cNvPicPr>
            <a:picLocks noChangeAspect="1"/>
          </p:cNvPicPr>
          <p:nvPr/>
        </p:nvPicPr>
        <p:blipFill>
          <a:blip r:embed="rId3"/>
          <a:stretch>
            <a:fillRect/>
          </a:stretch>
        </p:blipFill>
        <p:spPr>
          <a:xfrm>
            <a:off x="691286" y="3754526"/>
            <a:ext cx="263347" cy="263347"/>
          </a:xfrm>
          <a:prstGeom prst="rect">
            <a:avLst/>
          </a:prstGeom>
        </p:spPr>
      </p:pic>
      <p:sp>
        <p:nvSpPr>
          <p:cNvPr id="17" name="Text 12"/>
          <p:cNvSpPr txBox="1"/>
          <p:nvPr/>
        </p:nvSpPr>
        <p:spPr>
          <a:xfrm>
            <a:off x="1280160" y="3566160"/>
            <a:ext cx="6035040" cy="320040"/>
          </a:xfrm>
          <a:prstGeom prst="rect">
            <a:avLst/>
          </a:prstGeom>
          <a:noFill/>
          <a:ln/>
        </p:spPr>
        <p:txBody>
          <a:bodyPr wrap="square" lIns="0" tIns="0" rIns="0" bIns="0" rtlCol="0" anchor="t"/>
          <a:lstStyle/>
          <a:p>
            <a:pPr indent="0" marL="0">
              <a:buNone/>
            </a:pPr>
            <a:r>
              <a:rPr lang="en-US" sz="1400" b="1" dirty="0">
                <a:solidFill>
                  <a:srgbClr val="3A3F73"/>
                </a:solidFill>
                <a:latin typeface="Meiryo UI" pitchFamily="34" charset="0"/>
                <a:ea typeface="Meiryo UI" pitchFamily="34" charset="-122"/>
                <a:cs typeface="Meiryo UI" pitchFamily="34" charset="-120"/>
              </a:rPr>
              <a:t>制度の変更にもすぐ対応</a:t>
            </a:r>
            <a:endParaRPr lang="en-US" sz="1400" dirty="0"/>
          </a:p>
        </p:txBody>
      </p:sp>
      <p:sp>
        <p:nvSpPr>
          <p:cNvPr id="18" name="Text 13"/>
          <p:cNvSpPr txBox="1"/>
          <p:nvPr/>
        </p:nvSpPr>
        <p:spPr>
          <a:xfrm>
            <a:off x="1280160" y="3895344"/>
            <a:ext cx="6035040" cy="475488"/>
          </a:xfrm>
          <a:prstGeom prst="rect">
            <a:avLst/>
          </a:prstGeom>
          <a:noFill/>
          <a:ln/>
        </p:spPr>
        <p:txBody>
          <a:bodyPr wrap="square" lIns="0" tIns="0" rIns="0" bIns="0" rtlCol="0" anchor="t"/>
          <a:lstStyle/>
          <a:p>
            <a:pPr indent="0" marL="0">
              <a:buNone/>
            </a:pPr>
            <a:r>
              <a:rPr lang="en-US" sz="1150" dirty="0">
                <a:solidFill>
                  <a:srgbClr val="2A2B38"/>
                </a:solidFill>
                <a:latin typeface="Meiryo UI" pitchFamily="34" charset="0"/>
                <a:ea typeface="Meiryo UI" pitchFamily="34" charset="-122"/>
                <a:cs typeface="Meiryo UI" pitchFamily="34" charset="-120"/>
              </a:rPr>
              <a:t>税制改正や期限の変更に合わせて、内容を手早く修正・差し替えできる</a:t>
            </a:r>
            <a:endParaRPr lang="en-US" sz="1150" dirty="0"/>
          </a:p>
        </p:txBody>
      </p:sp>
      <p:sp>
        <p:nvSpPr>
          <p:cNvPr id="19" name="Shape 14"/>
          <p:cNvSpPr/>
          <p:nvPr/>
        </p:nvSpPr>
        <p:spPr>
          <a:xfrm>
            <a:off x="548640" y="4480560"/>
            <a:ext cx="548640" cy="548640"/>
          </a:xfrm>
          <a:prstGeom prst="ellipse">
            <a:avLst/>
          </a:prstGeom>
          <a:solidFill>
            <a:srgbClr val="EEEFF7"/>
          </a:solidFill>
          <a:ln w="12700">
            <a:solidFill>
              <a:srgbClr val="EEEFF7"/>
            </a:solidFill>
            <a:prstDash val="solid"/>
          </a:ln>
        </p:spPr>
      </p:sp>
      <p:pic>
        <p:nvPicPr>
          <p:cNvPr id="20" name="Image 3" descr="preencoded.png">    </p:cNvPr>
          <p:cNvPicPr>
            <a:picLocks noChangeAspect="1"/>
          </p:cNvPicPr>
          <p:nvPr/>
        </p:nvPicPr>
        <p:blipFill>
          <a:blip r:embed="rId4"/>
          <a:stretch>
            <a:fillRect/>
          </a:stretch>
        </p:blipFill>
        <p:spPr>
          <a:xfrm>
            <a:off x="691286" y="4623206"/>
            <a:ext cx="263347" cy="263347"/>
          </a:xfrm>
          <a:prstGeom prst="rect">
            <a:avLst/>
          </a:prstGeom>
        </p:spPr>
      </p:pic>
      <p:sp>
        <p:nvSpPr>
          <p:cNvPr id="21" name="Text 15"/>
          <p:cNvSpPr txBox="1"/>
          <p:nvPr/>
        </p:nvSpPr>
        <p:spPr>
          <a:xfrm>
            <a:off x="1280160" y="4434840"/>
            <a:ext cx="6035040" cy="320040"/>
          </a:xfrm>
          <a:prstGeom prst="rect">
            <a:avLst/>
          </a:prstGeom>
          <a:noFill/>
          <a:ln/>
        </p:spPr>
        <p:txBody>
          <a:bodyPr wrap="square" lIns="0" tIns="0" rIns="0" bIns="0" rtlCol="0" anchor="t"/>
          <a:lstStyle/>
          <a:p>
            <a:pPr indent="0" marL="0">
              <a:buNone/>
            </a:pPr>
            <a:r>
              <a:rPr lang="en-US" sz="1400" b="1" dirty="0">
                <a:solidFill>
                  <a:srgbClr val="3A3F73"/>
                </a:solidFill>
                <a:latin typeface="Meiryo UI" pitchFamily="34" charset="0"/>
                <a:ea typeface="Meiryo UI" pitchFamily="34" charset="-122"/>
                <a:cs typeface="Meiryo UI" pitchFamily="34" charset="-120"/>
              </a:rPr>
              <a:t>テーマ別に量産できる</a:t>
            </a:r>
            <a:endParaRPr lang="en-US" sz="1400" dirty="0"/>
          </a:p>
        </p:txBody>
      </p:sp>
      <p:sp>
        <p:nvSpPr>
          <p:cNvPr id="22" name="Text 16"/>
          <p:cNvSpPr txBox="1"/>
          <p:nvPr/>
        </p:nvSpPr>
        <p:spPr>
          <a:xfrm>
            <a:off x="1280160" y="4764024"/>
            <a:ext cx="6035040" cy="475488"/>
          </a:xfrm>
          <a:prstGeom prst="rect">
            <a:avLst/>
          </a:prstGeom>
          <a:noFill/>
          <a:ln/>
        </p:spPr>
        <p:txBody>
          <a:bodyPr wrap="square" lIns="0" tIns="0" rIns="0" bIns="0" rtlCol="0" anchor="t"/>
          <a:lstStyle/>
          <a:p>
            <a:pPr indent="0" marL="0">
              <a:buNone/>
            </a:pPr>
            <a:r>
              <a:rPr lang="en-US" sz="1150" dirty="0">
                <a:solidFill>
                  <a:srgbClr val="2A2B38"/>
                </a:solidFill>
                <a:latin typeface="Meiryo UI" pitchFamily="34" charset="0"/>
                <a:ea typeface="Meiryo UI" pitchFamily="34" charset="-122"/>
                <a:cs typeface="Meiryo UI" pitchFamily="34" charset="-120"/>
              </a:rPr>
              <a:t>法人設立・相続・確定申告・インボイスなど、相談内容別に作り分けられる</a:t>
            </a:r>
            <a:endParaRPr lang="en-US" sz="1150" dirty="0"/>
          </a:p>
        </p:txBody>
      </p:sp>
      <p:sp>
        <p:nvSpPr>
          <p:cNvPr id="23" name="Shape 17"/>
          <p:cNvSpPr/>
          <p:nvPr/>
        </p:nvSpPr>
        <p:spPr>
          <a:xfrm>
            <a:off x="548640" y="5349240"/>
            <a:ext cx="548640" cy="548640"/>
          </a:xfrm>
          <a:prstGeom prst="ellipse">
            <a:avLst/>
          </a:prstGeom>
          <a:solidFill>
            <a:srgbClr val="EEEFF7"/>
          </a:solidFill>
          <a:ln w="12700">
            <a:solidFill>
              <a:srgbClr val="EEEFF7"/>
            </a:solidFill>
            <a:prstDash val="solid"/>
          </a:ln>
        </p:spPr>
      </p:sp>
      <p:pic>
        <p:nvPicPr>
          <p:cNvPr id="24" name="Image 4" descr="preencoded.png">    </p:cNvPr>
          <p:cNvPicPr>
            <a:picLocks noChangeAspect="1"/>
          </p:cNvPicPr>
          <p:nvPr/>
        </p:nvPicPr>
        <p:blipFill>
          <a:blip r:embed="rId5"/>
          <a:stretch>
            <a:fillRect/>
          </a:stretch>
        </p:blipFill>
        <p:spPr>
          <a:xfrm>
            <a:off x="691286" y="5491886"/>
            <a:ext cx="263347" cy="263347"/>
          </a:xfrm>
          <a:prstGeom prst="rect">
            <a:avLst/>
          </a:prstGeom>
        </p:spPr>
      </p:pic>
      <p:sp>
        <p:nvSpPr>
          <p:cNvPr id="25" name="Text 18"/>
          <p:cNvSpPr txBox="1"/>
          <p:nvPr/>
        </p:nvSpPr>
        <p:spPr>
          <a:xfrm>
            <a:off x="1280160" y="5303520"/>
            <a:ext cx="6035040" cy="320040"/>
          </a:xfrm>
          <a:prstGeom prst="rect">
            <a:avLst/>
          </a:prstGeom>
          <a:noFill/>
          <a:ln/>
        </p:spPr>
        <p:txBody>
          <a:bodyPr wrap="square" lIns="0" tIns="0" rIns="0" bIns="0" rtlCol="0" anchor="t"/>
          <a:lstStyle/>
          <a:p>
            <a:pPr indent="0" marL="0">
              <a:buNone/>
            </a:pPr>
            <a:r>
              <a:rPr lang="en-US" sz="1400" b="1" dirty="0">
                <a:solidFill>
                  <a:srgbClr val="3A3F73"/>
                </a:solidFill>
                <a:latin typeface="Meiryo UI" pitchFamily="34" charset="0"/>
                <a:ea typeface="Meiryo UI" pitchFamily="34" charset="-122"/>
                <a:cs typeface="Meiryo UI" pitchFamily="34" charset="-120"/>
              </a:rPr>
              <a:t>二次利用しやすい</a:t>
            </a:r>
            <a:endParaRPr lang="en-US" sz="1400" dirty="0"/>
          </a:p>
        </p:txBody>
      </p:sp>
      <p:sp>
        <p:nvSpPr>
          <p:cNvPr id="26" name="Text 19"/>
          <p:cNvSpPr txBox="1"/>
          <p:nvPr/>
        </p:nvSpPr>
        <p:spPr>
          <a:xfrm>
            <a:off x="1280160" y="5632704"/>
            <a:ext cx="6035040" cy="475488"/>
          </a:xfrm>
          <a:prstGeom prst="rect">
            <a:avLst/>
          </a:prstGeom>
          <a:noFill/>
          <a:ln/>
        </p:spPr>
        <p:txBody>
          <a:bodyPr wrap="square" lIns="0" tIns="0" rIns="0" bIns="0" rtlCol="0" anchor="t"/>
          <a:lstStyle/>
          <a:p>
            <a:pPr indent="0" marL="0">
              <a:buNone/>
            </a:pPr>
            <a:r>
              <a:rPr lang="en-US" sz="1150" dirty="0">
                <a:solidFill>
                  <a:srgbClr val="2A2B38"/>
                </a:solidFill>
                <a:latin typeface="Meiryo UI" pitchFamily="34" charset="0"/>
                <a:ea typeface="Meiryo UI" pitchFamily="34" charset="-122"/>
                <a:cs typeface="Meiryo UI" pitchFamily="34" charset="-120"/>
              </a:rPr>
              <a:t>HP・顧問先へのメール・セミナー・紹介カードのQRにそのまま使える</a:t>
            </a:r>
            <a:endParaRPr lang="en-US" sz="1150" dirty="0"/>
          </a:p>
        </p:txBody>
      </p:sp>
      <p:sp>
        <p:nvSpPr>
          <p:cNvPr id="27" name="Shape 20"/>
          <p:cNvSpPr/>
          <p:nvPr/>
        </p:nvSpPr>
        <p:spPr>
          <a:xfrm>
            <a:off x="7680960" y="1371600"/>
            <a:ext cx="3962095" cy="4892040"/>
          </a:xfrm>
          <a:prstGeom prst="roundRect">
            <a:avLst>
              <a:gd name="adj" fmla="val 2769"/>
            </a:avLst>
          </a:prstGeom>
          <a:solidFill>
            <a:srgbClr val="262A52"/>
          </a:solidFill>
          <a:ln w="12700">
            <a:solidFill>
              <a:srgbClr val="262A52"/>
            </a:solidFill>
            <a:prstDash val="solid"/>
          </a:ln>
        </p:spPr>
      </p:sp>
      <p:sp>
        <p:nvSpPr>
          <p:cNvPr id="28" name="Text 21"/>
          <p:cNvSpPr txBox="1"/>
          <p:nvPr/>
        </p:nvSpPr>
        <p:spPr>
          <a:xfrm>
            <a:off x="8001000" y="1600200"/>
            <a:ext cx="3322015" cy="365760"/>
          </a:xfrm>
          <a:prstGeom prst="rect">
            <a:avLst/>
          </a:prstGeom>
          <a:noFill/>
          <a:ln/>
        </p:spPr>
        <p:txBody>
          <a:bodyPr wrap="square" lIns="0" tIns="0" rIns="0" bIns="0" rtlCol="0" anchor="t"/>
          <a:lstStyle/>
          <a:p>
            <a:pPr indent="0" marL="0">
              <a:buNone/>
            </a:pPr>
            <a:r>
              <a:rPr lang="en-US" sz="1600" b="1" dirty="0">
                <a:solidFill>
                  <a:srgbClr val="E8CD85"/>
                </a:solidFill>
                <a:latin typeface="Meiryo UI" pitchFamily="34" charset="0"/>
                <a:ea typeface="Meiryo UI" pitchFamily="34" charset="-122"/>
                <a:cs typeface="Meiryo UI" pitchFamily="34" charset="-120"/>
              </a:rPr>
              <a:t>Why アイドマ</a:t>
            </a:r>
            <a:endParaRPr lang="en-US" sz="1600" dirty="0"/>
          </a:p>
        </p:txBody>
      </p:sp>
      <p:sp>
        <p:nvSpPr>
          <p:cNvPr id="29" name="Shape 22"/>
          <p:cNvSpPr/>
          <p:nvPr/>
        </p:nvSpPr>
        <p:spPr>
          <a:xfrm>
            <a:off x="8001000" y="2148840"/>
            <a:ext cx="411480" cy="411480"/>
          </a:xfrm>
          <a:prstGeom prst="ellipse">
            <a:avLst/>
          </a:prstGeom>
          <a:solidFill>
            <a:srgbClr val="A87A1C"/>
          </a:solidFill>
          <a:ln w="12700">
            <a:solidFill>
              <a:srgbClr val="A87A1C"/>
            </a:solidFill>
            <a:prstDash val="solid"/>
          </a:ln>
        </p:spPr>
      </p:sp>
      <p:sp>
        <p:nvSpPr>
          <p:cNvPr id="30" name="Text 23"/>
          <p:cNvSpPr txBox="1"/>
          <p:nvPr/>
        </p:nvSpPr>
        <p:spPr>
          <a:xfrm>
            <a:off x="8001000" y="2148840"/>
            <a:ext cx="411480" cy="411480"/>
          </a:xfrm>
          <a:prstGeom prst="rect">
            <a:avLst/>
          </a:prstGeom>
          <a:noFill/>
          <a:ln/>
        </p:spPr>
        <p:txBody>
          <a:bodyPr wrap="square" lIns="0" tIns="0" rIns="0" bIns="0" rtlCol="0" anchor="ctr"/>
          <a:lstStyle/>
          <a:p>
            <a:pPr algn="ctr" indent="0" marL="0">
              <a:buNone/>
            </a:pPr>
            <a:r>
              <a:rPr lang="en-US" sz="1300" b="1" dirty="0">
                <a:solidFill>
                  <a:srgbClr val="FFFFFF"/>
                </a:solidFill>
                <a:latin typeface="Meiryo UI" pitchFamily="34" charset="0"/>
                <a:ea typeface="Meiryo UI" pitchFamily="34" charset="-122"/>
                <a:cs typeface="Meiryo UI" pitchFamily="34" charset="-120"/>
              </a:rPr>
              <a:t>1</a:t>
            </a:r>
            <a:endParaRPr lang="en-US" sz="1300" dirty="0"/>
          </a:p>
        </p:txBody>
      </p:sp>
      <p:sp>
        <p:nvSpPr>
          <p:cNvPr id="31" name="Text 24"/>
          <p:cNvSpPr txBox="1"/>
          <p:nvPr/>
        </p:nvSpPr>
        <p:spPr>
          <a:xfrm>
            <a:off x="8549640" y="2148840"/>
            <a:ext cx="2819095" cy="411480"/>
          </a:xfrm>
          <a:prstGeom prst="rect">
            <a:avLst/>
          </a:prstGeom>
          <a:noFill/>
          <a:ln/>
        </p:spPr>
        <p:txBody>
          <a:bodyPr wrap="square" lIns="0" tIns="0" rIns="0" bIns="0" rtlCol="0" anchor="ctr"/>
          <a:lstStyle/>
          <a:p>
            <a:pPr indent="0" marL="0">
              <a:buNone/>
            </a:pPr>
            <a:r>
              <a:rPr lang="en-US" sz="1400" b="1" dirty="0">
                <a:solidFill>
                  <a:srgbClr val="FFFFFF"/>
                </a:solidFill>
                <a:latin typeface="Meiryo UI" pitchFamily="34" charset="0"/>
                <a:ea typeface="Meiryo UI" pitchFamily="34" charset="-122"/>
                <a:cs typeface="Meiryo UI" pitchFamily="34" charset="-120"/>
              </a:rPr>
              <a:t>“選ばれる導線”の設計力</a:t>
            </a:r>
            <a:endParaRPr lang="en-US" sz="1400" dirty="0"/>
          </a:p>
        </p:txBody>
      </p:sp>
      <p:sp>
        <p:nvSpPr>
          <p:cNvPr id="32" name="Text 25"/>
          <p:cNvSpPr txBox="1"/>
          <p:nvPr/>
        </p:nvSpPr>
        <p:spPr>
          <a:xfrm>
            <a:off x="8549640" y="2606040"/>
            <a:ext cx="2819095" cy="777240"/>
          </a:xfrm>
          <a:prstGeom prst="rect">
            <a:avLst/>
          </a:prstGeom>
          <a:noFill/>
          <a:ln/>
        </p:spPr>
        <p:txBody>
          <a:bodyPr wrap="square" lIns="0" tIns="0" rIns="0" bIns="0" rtlCol="0" anchor="t"/>
          <a:lstStyle/>
          <a:p>
            <a:pPr indent="0" marL="0">
              <a:buNone/>
            </a:pPr>
            <a:r>
              <a:rPr lang="en-US" sz="1150" dirty="0">
                <a:solidFill>
                  <a:srgbClr val="DADCEE"/>
                </a:solidFill>
                <a:latin typeface="Meiryo UI" pitchFamily="34" charset="0"/>
                <a:ea typeface="Meiryo UI" pitchFamily="34" charset="-122"/>
                <a:cs typeface="Meiryo UI" pitchFamily="34" charset="-120"/>
              </a:rPr>
              <a:t>営業・マーケティング支援を本業とする会社として、動画を「問い合わせ・契約」につなげる設計からご支援</a:t>
            </a:r>
            <a:endParaRPr lang="en-US" sz="1150" dirty="0"/>
          </a:p>
        </p:txBody>
      </p:sp>
      <p:sp>
        <p:nvSpPr>
          <p:cNvPr id="33" name="Shape 26"/>
          <p:cNvSpPr/>
          <p:nvPr/>
        </p:nvSpPr>
        <p:spPr>
          <a:xfrm>
            <a:off x="8001000" y="3474720"/>
            <a:ext cx="411480" cy="411480"/>
          </a:xfrm>
          <a:prstGeom prst="ellipse">
            <a:avLst/>
          </a:prstGeom>
          <a:solidFill>
            <a:srgbClr val="A87A1C"/>
          </a:solidFill>
          <a:ln w="12700">
            <a:solidFill>
              <a:srgbClr val="A87A1C"/>
            </a:solidFill>
            <a:prstDash val="solid"/>
          </a:ln>
        </p:spPr>
      </p:sp>
      <p:sp>
        <p:nvSpPr>
          <p:cNvPr id="34" name="Text 27"/>
          <p:cNvSpPr txBox="1"/>
          <p:nvPr/>
        </p:nvSpPr>
        <p:spPr>
          <a:xfrm>
            <a:off x="8001000" y="3474720"/>
            <a:ext cx="411480" cy="411480"/>
          </a:xfrm>
          <a:prstGeom prst="rect">
            <a:avLst/>
          </a:prstGeom>
          <a:noFill/>
          <a:ln/>
        </p:spPr>
        <p:txBody>
          <a:bodyPr wrap="square" lIns="0" tIns="0" rIns="0" bIns="0" rtlCol="0" anchor="ctr"/>
          <a:lstStyle/>
          <a:p>
            <a:pPr algn="ctr" indent="0" marL="0">
              <a:buNone/>
            </a:pPr>
            <a:r>
              <a:rPr lang="en-US" sz="1300" b="1" dirty="0">
                <a:solidFill>
                  <a:srgbClr val="FFFFFF"/>
                </a:solidFill>
                <a:latin typeface="Meiryo UI" pitchFamily="34" charset="0"/>
                <a:ea typeface="Meiryo UI" pitchFamily="34" charset="-122"/>
                <a:cs typeface="Meiryo UI" pitchFamily="34" charset="-120"/>
              </a:rPr>
              <a:t>2</a:t>
            </a:r>
            <a:endParaRPr lang="en-US" sz="1300" dirty="0"/>
          </a:p>
        </p:txBody>
      </p:sp>
      <p:sp>
        <p:nvSpPr>
          <p:cNvPr id="35" name="Text 28"/>
          <p:cNvSpPr txBox="1"/>
          <p:nvPr/>
        </p:nvSpPr>
        <p:spPr>
          <a:xfrm>
            <a:off x="8549640" y="3474720"/>
            <a:ext cx="2819095" cy="411480"/>
          </a:xfrm>
          <a:prstGeom prst="rect">
            <a:avLst/>
          </a:prstGeom>
          <a:noFill/>
          <a:ln/>
        </p:spPr>
        <p:txBody>
          <a:bodyPr wrap="square" lIns="0" tIns="0" rIns="0" bIns="0" rtlCol="0" anchor="ctr"/>
          <a:lstStyle/>
          <a:p>
            <a:pPr indent="0" marL="0">
              <a:buNone/>
            </a:pPr>
            <a:r>
              <a:rPr lang="en-US" sz="1400" b="1" dirty="0">
                <a:solidFill>
                  <a:srgbClr val="FFFFFF"/>
                </a:solidFill>
                <a:latin typeface="Meiryo UI" pitchFamily="34" charset="0"/>
                <a:ea typeface="Meiryo UI" pitchFamily="34" charset="-122"/>
                <a:cs typeface="Meiryo UI" pitchFamily="34" charset="-120"/>
              </a:rPr>
              <a:t>プッシュ×プルをワンストップ</a:t>
            </a:r>
            <a:endParaRPr lang="en-US" sz="1400" dirty="0"/>
          </a:p>
        </p:txBody>
      </p:sp>
      <p:sp>
        <p:nvSpPr>
          <p:cNvPr id="36" name="Text 29"/>
          <p:cNvSpPr txBox="1"/>
          <p:nvPr/>
        </p:nvSpPr>
        <p:spPr>
          <a:xfrm>
            <a:off x="8549640" y="3931920"/>
            <a:ext cx="2819095" cy="777240"/>
          </a:xfrm>
          <a:prstGeom prst="rect">
            <a:avLst/>
          </a:prstGeom>
          <a:noFill/>
          <a:ln/>
        </p:spPr>
        <p:txBody>
          <a:bodyPr wrap="square" lIns="0" tIns="0" rIns="0" bIns="0" rtlCol="0" anchor="t"/>
          <a:lstStyle/>
          <a:p>
            <a:pPr indent="0" marL="0">
              <a:buNone/>
            </a:pPr>
            <a:r>
              <a:rPr lang="en-US" sz="1150" dirty="0">
                <a:solidFill>
                  <a:srgbClr val="DADCEE"/>
                </a:solidFill>
                <a:latin typeface="Meiryo UI" pitchFamily="34" charset="0"/>
                <a:ea typeface="Meiryo UI" pitchFamily="34" charset="-122"/>
                <a:cs typeface="Meiryo UI" pitchFamily="34" charset="-120"/>
              </a:rPr>
              <a:t>顧問先・紹介者への発信と、個人向けのWeb集客を分断せず、一体で設計・運用</a:t>
            </a:r>
            <a:endParaRPr lang="en-US" sz="1150" dirty="0"/>
          </a:p>
        </p:txBody>
      </p:sp>
      <p:sp>
        <p:nvSpPr>
          <p:cNvPr id="37" name="Shape 30"/>
          <p:cNvSpPr/>
          <p:nvPr/>
        </p:nvSpPr>
        <p:spPr>
          <a:xfrm>
            <a:off x="8001000" y="4800600"/>
            <a:ext cx="411480" cy="411480"/>
          </a:xfrm>
          <a:prstGeom prst="ellipse">
            <a:avLst/>
          </a:prstGeom>
          <a:solidFill>
            <a:srgbClr val="A87A1C"/>
          </a:solidFill>
          <a:ln w="12700">
            <a:solidFill>
              <a:srgbClr val="A87A1C"/>
            </a:solidFill>
            <a:prstDash val="solid"/>
          </a:ln>
        </p:spPr>
      </p:sp>
      <p:sp>
        <p:nvSpPr>
          <p:cNvPr id="38" name="Text 31"/>
          <p:cNvSpPr txBox="1"/>
          <p:nvPr/>
        </p:nvSpPr>
        <p:spPr>
          <a:xfrm>
            <a:off x="8001000" y="4800600"/>
            <a:ext cx="411480" cy="411480"/>
          </a:xfrm>
          <a:prstGeom prst="rect">
            <a:avLst/>
          </a:prstGeom>
          <a:noFill/>
          <a:ln/>
        </p:spPr>
        <p:txBody>
          <a:bodyPr wrap="square" lIns="0" tIns="0" rIns="0" bIns="0" rtlCol="0" anchor="ctr"/>
          <a:lstStyle/>
          <a:p>
            <a:pPr algn="ctr" indent="0" marL="0">
              <a:buNone/>
            </a:pPr>
            <a:r>
              <a:rPr lang="en-US" sz="1300" b="1" dirty="0">
                <a:solidFill>
                  <a:srgbClr val="FFFFFF"/>
                </a:solidFill>
                <a:latin typeface="Meiryo UI" pitchFamily="34" charset="0"/>
                <a:ea typeface="Meiryo UI" pitchFamily="34" charset="-122"/>
                <a:cs typeface="Meiryo UI" pitchFamily="34" charset="-120"/>
              </a:rPr>
              <a:t>3</a:t>
            </a:r>
            <a:endParaRPr lang="en-US" sz="1300" dirty="0"/>
          </a:p>
        </p:txBody>
      </p:sp>
      <p:sp>
        <p:nvSpPr>
          <p:cNvPr id="39" name="Text 32"/>
          <p:cNvSpPr txBox="1"/>
          <p:nvPr/>
        </p:nvSpPr>
        <p:spPr>
          <a:xfrm>
            <a:off x="8549640" y="4800600"/>
            <a:ext cx="2819095" cy="411480"/>
          </a:xfrm>
          <a:prstGeom prst="rect">
            <a:avLst/>
          </a:prstGeom>
          <a:noFill/>
          <a:ln/>
        </p:spPr>
        <p:txBody>
          <a:bodyPr wrap="square" lIns="0" tIns="0" rIns="0" bIns="0" rtlCol="0" anchor="ctr"/>
          <a:lstStyle/>
          <a:p>
            <a:pPr indent="0" marL="0">
              <a:buNone/>
            </a:pPr>
            <a:r>
              <a:rPr lang="en-US" sz="1400" b="1" dirty="0">
                <a:solidFill>
                  <a:srgbClr val="FFFFFF"/>
                </a:solidFill>
                <a:latin typeface="Meiryo UI" pitchFamily="34" charset="0"/>
                <a:ea typeface="Meiryo UI" pitchFamily="34" charset="-122"/>
                <a:cs typeface="Meiryo UI" pitchFamily="34" charset="-120"/>
              </a:rPr>
              <a:t>Web強化・マンパワー補強</a:t>
            </a:r>
            <a:endParaRPr lang="en-US" sz="1400" dirty="0"/>
          </a:p>
        </p:txBody>
      </p:sp>
      <p:sp>
        <p:nvSpPr>
          <p:cNvPr id="40" name="Text 33"/>
          <p:cNvSpPr txBox="1"/>
          <p:nvPr/>
        </p:nvSpPr>
        <p:spPr>
          <a:xfrm>
            <a:off x="8549640" y="5257800"/>
            <a:ext cx="2819095" cy="777240"/>
          </a:xfrm>
          <a:prstGeom prst="rect">
            <a:avLst/>
          </a:prstGeom>
          <a:noFill/>
          <a:ln/>
        </p:spPr>
        <p:txBody>
          <a:bodyPr wrap="square" lIns="0" tIns="0" rIns="0" bIns="0" rtlCol="0" anchor="t"/>
          <a:lstStyle/>
          <a:p>
            <a:pPr indent="0" marL="0">
              <a:buNone/>
            </a:pPr>
            <a:r>
              <a:rPr lang="en-US" sz="1150" dirty="0">
                <a:solidFill>
                  <a:srgbClr val="DADCEE"/>
                </a:solidFill>
                <a:latin typeface="Meiryo UI" pitchFamily="34" charset="0"/>
                <a:ea typeface="Meiryo UI" pitchFamily="34" charset="-122"/>
                <a:cs typeface="Meiryo UI" pitchFamily="34" charset="-120"/>
              </a:rPr>
              <a:t>HPの導線改善や、在宅スタッフによる運用支援で、事務所の手を止めずに発信を継続</a:t>
            </a:r>
            <a:endParaRPr lang="en-US" sz="1150" dirty="0"/>
          </a:p>
        </p:txBody>
      </p:sp>
    </p:spTree>
  </p:cSld>
  <p:clrMapOvr>
    <a:masterClrMapping/>
  </p:clrMapOvr>
</p:sld>
</file>

<file path=ppt/slides/slide8.xml><?xml version="1.0" encoding="utf-8"?>
<p:sld xmlns:a="http://schemas.openxmlformats.org/drawingml/2006/main" xmlns:r="http://schemas.openxmlformats.org/officeDocument/2006/relationships" xmlns:p="http://schemas.openxmlformats.org/presentationml/2006/main">
  <p:cSld name="Slide 8">
    <p:bg>
      <p:bgPr>
        <a:solidFill>
          <a:srgbClr val="FFFFFF"/>
        </a:solidFill>
      </p:bgPr>
    </p:bg>
    <p:spTree>
      <p:nvGrpSpPr>
        <p:cNvPr id="1" name=""/>
        <p:cNvGrpSpPr/>
        <p:nvPr/>
      </p:nvGrpSpPr>
      <p:grpSpPr>
        <a:xfrm>
          <a:off x="0" y="0"/>
          <a:ext cx="0" cy="0"/>
          <a:chOff x="0" y="0"/>
          <a:chExt cx="0" cy="0"/>
        </a:xfrm>
      </p:grpSpPr>
      <p:sp>
        <p:nvSpPr>
          <p:cNvPr id="2" name="Text 0"/>
          <p:cNvSpPr txBox="1"/>
          <p:nvPr/>
        </p:nvSpPr>
        <p:spPr>
          <a:xfrm>
            <a:off x="548640" y="347472"/>
            <a:ext cx="7315200" cy="274320"/>
          </a:xfrm>
          <a:prstGeom prst="rect">
            <a:avLst/>
          </a:prstGeom>
          <a:noFill/>
          <a:ln/>
        </p:spPr>
        <p:txBody>
          <a:bodyPr wrap="square" lIns="0" tIns="0" rIns="0" bIns="0" rtlCol="0" anchor="t"/>
          <a:lstStyle/>
          <a:p>
            <a:pPr indent="0" marL="0">
              <a:buNone/>
            </a:pPr>
            <a:r>
              <a:rPr lang="en-US" sz="1100" b="1" spc="200" kern="0" dirty="0">
                <a:solidFill>
                  <a:srgbClr val="A87A1C"/>
                </a:solidFill>
                <a:latin typeface="Meiryo UI" pitchFamily="34" charset="0"/>
                <a:ea typeface="Meiryo UI" pitchFamily="34" charset="-122"/>
                <a:cs typeface="Meiryo UI" pitchFamily="34" charset="-120"/>
              </a:rPr>
              <a:t>03｜PUSH STRATEGY</a:t>
            </a:r>
            <a:endParaRPr lang="en-US" sz="1100" dirty="0"/>
          </a:p>
        </p:txBody>
      </p:sp>
      <p:sp>
        <p:nvSpPr>
          <p:cNvPr id="3" name="Text 1"/>
          <p:cNvSpPr txBox="1"/>
          <p:nvPr/>
        </p:nvSpPr>
        <p:spPr>
          <a:xfrm>
            <a:off x="548640" y="621792"/>
            <a:ext cx="11094415" cy="566928"/>
          </a:xfrm>
          <a:prstGeom prst="rect">
            <a:avLst/>
          </a:prstGeom>
          <a:noFill/>
          <a:ln/>
        </p:spPr>
        <p:txBody>
          <a:bodyPr wrap="square" lIns="0" tIns="0" rIns="0" bIns="0" rtlCol="0" anchor="ctr"/>
          <a:lstStyle/>
          <a:p>
            <a:pPr indent="0" marL="0">
              <a:buNone/>
            </a:pPr>
            <a:r>
              <a:rPr lang="en-US" sz="2600" b="1" dirty="0">
                <a:solidFill>
                  <a:srgbClr val="3A3F73"/>
                </a:solidFill>
                <a:latin typeface="Meiryo UI" pitchFamily="34" charset="0"/>
                <a:ea typeface="Meiryo UI" pitchFamily="34" charset="-122"/>
                <a:cs typeface="Meiryo UI" pitchFamily="34" charset="-120"/>
              </a:rPr>
              <a:t>プッシュ型営業：「紹介」を偶然から“仕組み”に変える</a:t>
            </a:r>
            <a:endParaRPr lang="en-US" sz="2600" dirty="0"/>
          </a:p>
        </p:txBody>
      </p:sp>
      <p:sp>
        <p:nvSpPr>
          <p:cNvPr id="4" name="Text 2"/>
          <p:cNvSpPr txBox="1"/>
          <p:nvPr/>
        </p:nvSpPr>
        <p:spPr>
          <a:xfrm>
            <a:off x="548640" y="1207008"/>
            <a:ext cx="11094415" cy="365760"/>
          </a:xfrm>
          <a:prstGeom prst="rect">
            <a:avLst/>
          </a:prstGeom>
          <a:noFill/>
          <a:ln/>
        </p:spPr>
        <p:txBody>
          <a:bodyPr wrap="square" lIns="0" tIns="0" rIns="0" bIns="0" rtlCol="0" anchor="ctr"/>
          <a:lstStyle/>
          <a:p>
            <a:pPr indent="0" marL="0">
              <a:buNone/>
            </a:pPr>
            <a:r>
              <a:rPr lang="en-US" sz="1300" dirty="0">
                <a:solidFill>
                  <a:srgbClr val="686A82"/>
                </a:solidFill>
                <a:latin typeface="Meiryo UI" pitchFamily="34" charset="0"/>
                <a:ea typeface="Meiryo UI" pitchFamily="34" charset="-122"/>
                <a:cs typeface="Meiryo UI" pitchFamily="34" charset="-120"/>
              </a:rPr>
              <a:t>貴事務所の新規は、顧問先と紹介者からの紹介で生まれています。その流れに、先回りして動画を置きます。</a:t>
            </a:r>
            <a:endParaRPr lang="en-US" sz="1300" dirty="0"/>
          </a:p>
        </p:txBody>
      </p:sp>
      <p:sp>
        <p:nvSpPr>
          <p:cNvPr id="5" name="Text 3"/>
          <p:cNvSpPr txBox="1"/>
          <p:nvPr/>
        </p:nvSpPr>
        <p:spPr>
          <a:xfrm>
            <a:off x="11094415" y="6419088"/>
            <a:ext cx="548640" cy="256032"/>
          </a:xfrm>
          <a:prstGeom prst="rect">
            <a:avLst/>
          </a:prstGeom>
          <a:noFill/>
          <a:ln/>
        </p:spPr>
        <p:txBody>
          <a:bodyPr wrap="square" lIns="0" tIns="0" rIns="0" bIns="0" rtlCol="0" anchor="t"/>
          <a:lstStyle/>
          <a:p>
            <a:pPr algn="r" indent="0" marL="0">
              <a:buNone/>
            </a:pPr>
            <a:r>
              <a:rPr lang="en-US" sz="1000" dirty="0">
                <a:solidFill>
                  <a:srgbClr val="7C7E90"/>
                </a:solidFill>
                <a:latin typeface="Meiryo UI" pitchFamily="34" charset="0"/>
                <a:ea typeface="Meiryo UI" pitchFamily="34" charset="-122"/>
                <a:cs typeface="Meiryo UI" pitchFamily="34" charset="-120"/>
              </a:rPr>
              <a:t>8</a:t>
            </a:r>
            <a:endParaRPr lang="en-US" sz="1000" dirty="0"/>
          </a:p>
        </p:txBody>
      </p:sp>
      <p:sp>
        <p:nvSpPr>
          <p:cNvPr id="6" name="Text 4"/>
          <p:cNvSpPr txBox="1"/>
          <p:nvPr/>
        </p:nvSpPr>
        <p:spPr>
          <a:xfrm>
            <a:off x="548640" y="6419088"/>
            <a:ext cx="4572000" cy="256032"/>
          </a:xfrm>
          <a:prstGeom prst="rect">
            <a:avLst/>
          </a:prstGeom>
          <a:noFill/>
          <a:ln/>
        </p:spPr>
        <p:txBody>
          <a:bodyPr wrap="square" lIns="0" tIns="0" rIns="0" bIns="0" rtlCol="0" anchor="t"/>
          <a:lstStyle/>
          <a:p>
            <a:pPr indent="0" marL="0">
              <a:buNone/>
            </a:pPr>
            <a:r>
              <a:rPr lang="en-US" sz="900" dirty="0">
                <a:solidFill>
                  <a:srgbClr val="7C7E90"/>
                </a:solidFill>
                <a:latin typeface="Meiryo UI" pitchFamily="34" charset="0"/>
                <a:ea typeface="Meiryo UI" pitchFamily="34" charset="-122"/>
                <a:cs typeface="Meiryo UI" pitchFamily="34" charset="-120"/>
              </a:rPr>
              <a:t>株式会社アイドマ・ホールディングス｜MiTok</a:t>
            </a:r>
            <a:endParaRPr lang="en-US" sz="900" dirty="0"/>
          </a:p>
        </p:txBody>
      </p:sp>
      <p:graphicFrame>
        <p:nvGraphicFramePr>
          <p:cNvPr id="9" name="Table 0"/>
          <p:cNvGraphicFramePr>
            <a:graphicFrameLocks noGrp="1"/>
          </p:cNvGraphicFramePr>
          <p:nvPr>
            <p:extLst>
              <p:ext uri="{D42A27DB-BD31-4B8C-83A1-F6EECF244321}">
                <p14:modId xmlns:p14="http://schemas.microsoft.com/office/powerpoint/2010/main" val="1579011935"/>
              </p:ext>
            </p:extLst>
          </p:nvPr>
        </p:nvGraphicFramePr>
        <p:xfrm>
          <a:off x="548640" y="1645920"/>
          <a:ext cx="11094415" cy="914400"/>
        </p:xfrm>
        <a:graphic>
          <a:graphicData uri="http://schemas.openxmlformats.org/drawingml/2006/table">
            <a:tbl>
              <a:tblPr/>
              <a:tblGrid>
                <a:gridCol w="2651760"/>
                <a:gridCol w="2834640"/>
                <a:gridCol w="3108960"/>
                <a:gridCol w="2496312"/>
              </a:tblGrid>
              <a:tr h="411480">
                <a:tc>
                  <a:txBody>
                    <a:bodyPr/>
                    <a:lstStyle/>
                    <a:p>
                      <a:pPr indent="0" marL="0">
                        <a:buNone/>
                      </a:pPr>
                      <a:r>
                        <a:rPr lang="en-US" sz="1150" b="1" dirty="0">
                          <a:solidFill>
                            <a:srgbClr val="FFFFFF"/>
                          </a:solidFill>
                          <a:latin typeface="Meiryo UI" pitchFamily="34" charset="0"/>
                          <a:ea typeface="Meiryo UI" pitchFamily="34" charset="-122"/>
                          <a:cs typeface="Meiryo UI" pitchFamily="34" charset="-120"/>
                        </a:rPr>
                        <a:t>ターゲット</a:t>
                      </a:r>
                      <a:endParaRPr lang="en-US" sz="1150" dirty="0">
                        <a:latin typeface="Meiryo UI" charset="0"/>
                        <a:ea typeface="Meiryo UI" charset="0"/>
                        <a:cs typeface="Meiryo UI" charset="0"/>
                      </a:endParaRPr>
                    </a:p>
                  </a:txBody>
                  <a:tcPr marL="91440" marR="91440" marT="45720" marB="45720" anchor="ctr">
                    <a:lnL w="9525" cap="flat" cmpd="sng" algn="ctr">
                      <a:solidFill>
                        <a:srgbClr val="D9DBEA"/>
                      </a:solidFill>
                      <a:prstDash val="solid"/>
                      <a:round/>
                      <a:headEnd type="none" w="med" len="med"/>
                      <a:tailEnd type="none" w="med" len="med"/>
                    </a:lnL>
                    <a:lnR w="9525" cap="flat" cmpd="sng" algn="ctr">
                      <a:solidFill>
                        <a:srgbClr val="D9DBEA"/>
                      </a:solidFill>
                      <a:prstDash val="solid"/>
                      <a:round/>
                      <a:headEnd type="none" w="med" len="med"/>
                      <a:tailEnd type="none" w="med" len="med"/>
                    </a:lnR>
                    <a:lnT w="9525" cap="flat" cmpd="sng" algn="ctr">
                      <a:solidFill>
                        <a:srgbClr val="D9DBEA"/>
                      </a:solidFill>
                      <a:prstDash val="solid"/>
                      <a:round/>
                      <a:headEnd type="none" w="med" len="med"/>
                      <a:tailEnd type="none" w="med" len="med"/>
                    </a:lnT>
                    <a:lnB w="9525" cap="flat" cmpd="sng" algn="ctr">
                      <a:solidFill>
                        <a:srgbClr val="D9DBEA"/>
                      </a:solidFill>
                      <a:prstDash val="solid"/>
                      <a:round/>
                      <a:headEnd type="none" w="med" len="med"/>
                      <a:tailEnd type="none" w="med" len="med"/>
                    </a:lnB>
                    <a:solidFill>
                      <a:srgbClr val="3A3F73"/>
                    </a:solidFill>
                  </a:tcPr>
                </a:tc>
                <a:tc>
                  <a:txBody>
                    <a:bodyPr/>
                    <a:lstStyle/>
                    <a:p>
                      <a:pPr indent="0" marL="0">
                        <a:buNone/>
                      </a:pPr>
                      <a:r>
                        <a:rPr lang="en-US" sz="1150" b="1" dirty="0">
                          <a:solidFill>
                            <a:srgbClr val="FFFFFF"/>
                          </a:solidFill>
                          <a:latin typeface="Meiryo UI" pitchFamily="34" charset="0"/>
                          <a:ea typeface="Meiryo UI" pitchFamily="34" charset="-122"/>
                          <a:cs typeface="Meiryo UI" pitchFamily="34" charset="-120"/>
                        </a:rPr>
                        <a:t>相手の本音・関心</a:t>
                      </a:r>
                      <a:endParaRPr lang="en-US" sz="1150" dirty="0">
                        <a:latin typeface="Meiryo UI" charset="0"/>
                        <a:ea typeface="Meiryo UI" charset="0"/>
                        <a:cs typeface="Meiryo UI" charset="0"/>
                      </a:endParaRPr>
                    </a:p>
                  </a:txBody>
                  <a:tcPr marL="91440" marR="91440" marT="45720" marB="45720" anchor="ctr">
                    <a:lnL w="9525" cap="flat" cmpd="sng" algn="ctr">
                      <a:solidFill>
                        <a:srgbClr val="D9DBEA"/>
                      </a:solidFill>
                      <a:prstDash val="solid"/>
                      <a:round/>
                      <a:headEnd type="none" w="med" len="med"/>
                      <a:tailEnd type="none" w="med" len="med"/>
                    </a:lnL>
                    <a:lnR w="9525" cap="flat" cmpd="sng" algn="ctr">
                      <a:solidFill>
                        <a:srgbClr val="D9DBEA"/>
                      </a:solidFill>
                      <a:prstDash val="solid"/>
                      <a:round/>
                      <a:headEnd type="none" w="med" len="med"/>
                      <a:tailEnd type="none" w="med" len="med"/>
                    </a:lnR>
                    <a:lnT w="9525" cap="flat" cmpd="sng" algn="ctr">
                      <a:solidFill>
                        <a:srgbClr val="D9DBEA"/>
                      </a:solidFill>
                      <a:prstDash val="solid"/>
                      <a:round/>
                      <a:headEnd type="none" w="med" len="med"/>
                      <a:tailEnd type="none" w="med" len="med"/>
                    </a:lnT>
                    <a:lnB w="9525" cap="flat" cmpd="sng" algn="ctr">
                      <a:solidFill>
                        <a:srgbClr val="D9DBEA"/>
                      </a:solidFill>
                      <a:prstDash val="solid"/>
                      <a:round/>
                      <a:headEnd type="none" w="med" len="med"/>
                      <a:tailEnd type="none" w="med" len="med"/>
                    </a:lnB>
                    <a:solidFill>
                      <a:srgbClr val="3A3F73"/>
                    </a:solidFill>
                  </a:tcPr>
                </a:tc>
                <a:tc>
                  <a:txBody>
                    <a:bodyPr/>
                    <a:lstStyle/>
                    <a:p>
                      <a:pPr indent="0" marL="0">
                        <a:buNone/>
                      </a:pPr>
                      <a:r>
                        <a:rPr lang="en-US" sz="1150" b="1" dirty="0">
                          <a:solidFill>
                            <a:srgbClr val="FFFFFF"/>
                          </a:solidFill>
                          <a:latin typeface="Meiryo UI" pitchFamily="34" charset="0"/>
                          <a:ea typeface="Meiryo UI" pitchFamily="34" charset="-122"/>
                          <a:cs typeface="Meiryo UI" pitchFamily="34" charset="-120"/>
                        </a:rPr>
                        <a:t>届ける動画テーマ（例）</a:t>
                      </a:r>
                      <a:endParaRPr lang="en-US" sz="1150" dirty="0">
                        <a:latin typeface="Meiryo UI" charset="0"/>
                        <a:ea typeface="Meiryo UI" charset="0"/>
                        <a:cs typeface="Meiryo UI" charset="0"/>
                      </a:endParaRPr>
                    </a:p>
                  </a:txBody>
                  <a:tcPr marL="91440" marR="91440" marT="45720" marB="45720" anchor="ctr">
                    <a:lnL w="9525" cap="flat" cmpd="sng" algn="ctr">
                      <a:solidFill>
                        <a:srgbClr val="D9DBEA"/>
                      </a:solidFill>
                      <a:prstDash val="solid"/>
                      <a:round/>
                      <a:headEnd type="none" w="med" len="med"/>
                      <a:tailEnd type="none" w="med" len="med"/>
                    </a:lnL>
                    <a:lnR w="9525" cap="flat" cmpd="sng" algn="ctr">
                      <a:solidFill>
                        <a:srgbClr val="D9DBEA"/>
                      </a:solidFill>
                      <a:prstDash val="solid"/>
                      <a:round/>
                      <a:headEnd type="none" w="med" len="med"/>
                      <a:tailEnd type="none" w="med" len="med"/>
                    </a:lnR>
                    <a:lnT w="9525" cap="flat" cmpd="sng" algn="ctr">
                      <a:solidFill>
                        <a:srgbClr val="D9DBEA"/>
                      </a:solidFill>
                      <a:prstDash val="solid"/>
                      <a:round/>
                      <a:headEnd type="none" w="med" len="med"/>
                      <a:tailEnd type="none" w="med" len="med"/>
                    </a:lnT>
                    <a:lnB w="9525" cap="flat" cmpd="sng" algn="ctr">
                      <a:solidFill>
                        <a:srgbClr val="D9DBEA"/>
                      </a:solidFill>
                      <a:prstDash val="solid"/>
                      <a:round/>
                      <a:headEnd type="none" w="med" len="med"/>
                      <a:tailEnd type="none" w="med" len="med"/>
                    </a:lnB>
                    <a:solidFill>
                      <a:srgbClr val="3A3F73"/>
                    </a:solidFill>
                  </a:tcPr>
                </a:tc>
                <a:tc>
                  <a:txBody>
                    <a:bodyPr/>
                    <a:lstStyle/>
                    <a:p>
                      <a:pPr indent="0" marL="0">
                        <a:buNone/>
                      </a:pPr>
                      <a:r>
                        <a:rPr lang="en-US" sz="1150" b="1" dirty="0">
                          <a:solidFill>
                            <a:srgbClr val="FFFFFF"/>
                          </a:solidFill>
                          <a:latin typeface="Meiryo UI" pitchFamily="34" charset="0"/>
                          <a:ea typeface="Meiryo UI" pitchFamily="34" charset="-122"/>
                          <a:cs typeface="Meiryo UI" pitchFamily="34" charset="-120"/>
                        </a:rPr>
                        <a:t>主なチャネル</a:t>
                      </a:r>
                      <a:endParaRPr lang="en-US" sz="1150" dirty="0">
                        <a:latin typeface="Meiryo UI" charset="0"/>
                        <a:ea typeface="Meiryo UI" charset="0"/>
                        <a:cs typeface="Meiryo UI" charset="0"/>
                      </a:endParaRPr>
                    </a:p>
                  </a:txBody>
                  <a:tcPr marL="91440" marR="91440" marT="45720" marB="45720" anchor="ctr">
                    <a:lnL w="9525" cap="flat" cmpd="sng" algn="ctr">
                      <a:solidFill>
                        <a:srgbClr val="D9DBEA"/>
                      </a:solidFill>
                      <a:prstDash val="solid"/>
                      <a:round/>
                      <a:headEnd type="none" w="med" len="med"/>
                      <a:tailEnd type="none" w="med" len="med"/>
                    </a:lnL>
                    <a:lnR w="9525" cap="flat" cmpd="sng" algn="ctr">
                      <a:solidFill>
                        <a:srgbClr val="D9DBEA"/>
                      </a:solidFill>
                      <a:prstDash val="solid"/>
                      <a:round/>
                      <a:headEnd type="none" w="med" len="med"/>
                      <a:tailEnd type="none" w="med" len="med"/>
                    </a:lnR>
                    <a:lnT w="9525" cap="flat" cmpd="sng" algn="ctr">
                      <a:solidFill>
                        <a:srgbClr val="D9DBEA"/>
                      </a:solidFill>
                      <a:prstDash val="solid"/>
                      <a:round/>
                      <a:headEnd type="none" w="med" len="med"/>
                      <a:tailEnd type="none" w="med" len="med"/>
                    </a:lnT>
                    <a:lnB w="9525" cap="flat" cmpd="sng" algn="ctr">
                      <a:solidFill>
                        <a:srgbClr val="D9DBEA"/>
                      </a:solidFill>
                      <a:prstDash val="solid"/>
                      <a:round/>
                      <a:headEnd type="none" w="med" len="med"/>
                      <a:tailEnd type="none" w="med" len="med"/>
                    </a:lnB>
                    <a:solidFill>
                      <a:srgbClr val="3A3F73"/>
                    </a:solidFill>
                  </a:tcPr>
                </a:tc>
              </a:tr>
              <a:tr h="658368">
                <a:tc>
                  <a:txBody>
                    <a:bodyPr/>
                    <a:lstStyle/>
                    <a:p>
                      <a:pPr indent="0" marL="0">
                        <a:buNone/>
                      </a:pPr>
                      <a:r>
                        <a:rPr lang="en-US" sz="1100" b="1" dirty="0">
                          <a:solidFill>
                            <a:srgbClr val="3A3F73"/>
                          </a:solidFill>
                          <a:latin typeface="Meiryo UI" pitchFamily="34" charset="0"/>
                          <a:ea typeface="Meiryo UI" pitchFamily="34" charset="-122"/>
                          <a:cs typeface="Meiryo UI" pitchFamily="34" charset="-120"/>
                        </a:rPr>
                        <a:t>既存の顧問先</a:t>
                      </a:r>
                      <a:endParaRPr lang="en-US" sz="1100" dirty="0">
                        <a:latin typeface="Meiryo UI" charset="0"/>
                        <a:ea typeface="Meiryo UI" charset="0"/>
                        <a:cs typeface="Meiryo UI" charset="0"/>
                      </a:endParaRPr>
                    </a:p>
                  </a:txBody>
                  <a:tcPr marL="91440" marR="91440" marT="45720" marB="45720" anchor="ctr">
                    <a:lnL w="9525" cap="flat" cmpd="sng" algn="ctr">
                      <a:solidFill>
                        <a:srgbClr val="D9DBEA"/>
                      </a:solidFill>
                      <a:prstDash val="solid"/>
                      <a:round/>
                      <a:headEnd type="none" w="med" len="med"/>
                      <a:tailEnd type="none" w="med" len="med"/>
                    </a:lnL>
                    <a:lnR w="9525" cap="flat" cmpd="sng" algn="ctr">
                      <a:solidFill>
                        <a:srgbClr val="D9DBEA"/>
                      </a:solidFill>
                      <a:prstDash val="solid"/>
                      <a:round/>
                      <a:headEnd type="none" w="med" len="med"/>
                      <a:tailEnd type="none" w="med" len="med"/>
                    </a:lnR>
                    <a:lnT w="9525" cap="flat" cmpd="sng" algn="ctr">
                      <a:solidFill>
                        <a:srgbClr val="D9DBEA"/>
                      </a:solidFill>
                      <a:prstDash val="solid"/>
                      <a:round/>
                      <a:headEnd type="none" w="med" len="med"/>
                      <a:tailEnd type="none" w="med" len="med"/>
                    </a:lnT>
                    <a:lnB w="9525" cap="flat" cmpd="sng" algn="ctr">
                      <a:solidFill>
                        <a:srgbClr val="D9DBEA"/>
                      </a:solidFill>
                      <a:prstDash val="solid"/>
                      <a:round/>
                      <a:headEnd type="none" w="med" len="med"/>
                      <a:tailEnd type="none" w="med" len="med"/>
                    </a:lnB>
                    <a:solidFill>
                      <a:srgbClr val="FBF3E1"/>
                    </a:solidFill>
                  </a:tcPr>
                </a:tc>
                <a:tc>
                  <a:txBody>
                    <a:bodyPr/>
                    <a:lstStyle/>
                    <a:p>
                      <a:pPr indent="0" marL="0">
                        <a:buNone/>
                      </a:pPr>
                      <a:r>
                        <a:rPr lang="en-US" sz="1100" dirty="0">
                          <a:solidFill>
                            <a:srgbClr val="2A2B38"/>
                          </a:solidFill>
                          <a:latin typeface="Meiryo UI" pitchFamily="34" charset="0"/>
                          <a:ea typeface="Meiryo UI" pitchFamily="34" charset="-122"/>
                          <a:cs typeface="Meiryo UI" pitchFamily="34" charset="-120"/>
                        </a:rPr>
                        <a:t>知人に紹介したいが、うまく説明できない</a:t>
                      </a:r>
                      <a:endParaRPr lang="en-US" sz="1100" dirty="0">
                        <a:latin typeface="Meiryo UI" charset="0"/>
                        <a:ea typeface="Meiryo UI" charset="0"/>
                        <a:cs typeface="Meiryo UI" charset="0"/>
                      </a:endParaRPr>
                    </a:p>
                  </a:txBody>
                  <a:tcPr marL="91440" marR="91440" marT="45720" marB="45720" anchor="ctr">
                    <a:lnL w="9525" cap="flat" cmpd="sng" algn="ctr">
                      <a:solidFill>
                        <a:srgbClr val="D9DBEA"/>
                      </a:solidFill>
                      <a:prstDash val="solid"/>
                      <a:round/>
                      <a:headEnd type="none" w="med" len="med"/>
                      <a:tailEnd type="none" w="med" len="med"/>
                    </a:lnL>
                    <a:lnR w="9525" cap="flat" cmpd="sng" algn="ctr">
                      <a:solidFill>
                        <a:srgbClr val="D9DBEA"/>
                      </a:solidFill>
                      <a:prstDash val="solid"/>
                      <a:round/>
                      <a:headEnd type="none" w="med" len="med"/>
                      <a:tailEnd type="none" w="med" len="med"/>
                    </a:lnR>
                    <a:lnT w="9525" cap="flat" cmpd="sng" algn="ctr">
                      <a:solidFill>
                        <a:srgbClr val="D9DBEA"/>
                      </a:solidFill>
                      <a:prstDash val="solid"/>
                      <a:round/>
                      <a:headEnd type="none" w="med" len="med"/>
                      <a:tailEnd type="none" w="med" len="med"/>
                    </a:lnT>
                    <a:lnB w="9525" cap="flat" cmpd="sng" algn="ctr">
                      <a:solidFill>
                        <a:srgbClr val="D9DBEA"/>
                      </a:solidFill>
                      <a:prstDash val="solid"/>
                      <a:round/>
                      <a:headEnd type="none" w="med" len="med"/>
                      <a:tailEnd type="none" w="med" len="med"/>
                    </a:lnB>
                    <a:solidFill>
                      <a:srgbClr val="FBF3E1"/>
                    </a:solidFill>
                  </a:tcPr>
                </a:tc>
                <a:tc>
                  <a:txBody>
                    <a:bodyPr/>
                    <a:lstStyle/>
                    <a:p>
                      <a:pPr indent="0" marL="0">
                        <a:buNone/>
                      </a:pPr>
                      <a:r>
                        <a:rPr lang="en-US" sz="1100" dirty="0">
                          <a:solidFill>
                            <a:srgbClr val="2A2B38"/>
                          </a:solidFill>
                          <a:latin typeface="Meiryo UI" pitchFamily="34" charset="0"/>
                          <a:ea typeface="Meiryo UI" pitchFamily="34" charset="-122"/>
                          <a:cs typeface="Meiryo UI" pitchFamily="34" charset="-120"/>
                        </a:rPr>
                        <a:t>事務所紹介動画（考え方・対応できるご相談・担当者）</a:t>
                      </a:r>
                      <a:endParaRPr lang="en-US" sz="1100" dirty="0">
                        <a:latin typeface="Meiryo UI" charset="0"/>
                        <a:ea typeface="Meiryo UI" charset="0"/>
                        <a:cs typeface="Meiryo UI" charset="0"/>
                      </a:endParaRPr>
                    </a:p>
                  </a:txBody>
                  <a:tcPr marL="91440" marR="91440" marT="45720" marB="45720" anchor="ctr">
                    <a:lnL w="9525" cap="flat" cmpd="sng" algn="ctr">
                      <a:solidFill>
                        <a:srgbClr val="D9DBEA"/>
                      </a:solidFill>
                      <a:prstDash val="solid"/>
                      <a:round/>
                      <a:headEnd type="none" w="med" len="med"/>
                      <a:tailEnd type="none" w="med" len="med"/>
                    </a:lnL>
                    <a:lnR w="9525" cap="flat" cmpd="sng" algn="ctr">
                      <a:solidFill>
                        <a:srgbClr val="D9DBEA"/>
                      </a:solidFill>
                      <a:prstDash val="solid"/>
                      <a:round/>
                      <a:headEnd type="none" w="med" len="med"/>
                      <a:tailEnd type="none" w="med" len="med"/>
                    </a:lnR>
                    <a:lnT w="9525" cap="flat" cmpd="sng" algn="ctr">
                      <a:solidFill>
                        <a:srgbClr val="D9DBEA"/>
                      </a:solidFill>
                      <a:prstDash val="solid"/>
                      <a:round/>
                      <a:headEnd type="none" w="med" len="med"/>
                      <a:tailEnd type="none" w="med" len="med"/>
                    </a:lnT>
                    <a:lnB w="9525" cap="flat" cmpd="sng" algn="ctr">
                      <a:solidFill>
                        <a:srgbClr val="D9DBEA"/>
                      </a:solidFill>
                      <a:prstDash val="solid"/>
                      <a:round/>
                      <a:headEnd type="none" w="med" len="med"/>
                      <a:tailEnd type="none" w="med" len="med"/>
                    </a:lnB>
                    <a:solidFill>
                      <a:srgbClr val="FBF3E1"/>
                    </a:solidFill>
                  </a:tcPr>
                </a:tc>
                <a:tc>
                  <a:txBody>
                    <a:bodyPr/>
                    <a:lstStyle/>
                    <a:p>
                      <a:pPr indent="0" marL="0">
                        <a:buNone/>
                      </a:pPr>
                      <a:r>
                        <a:rPr lang="en-US" sz="1100" dirty="0">
                          <a:solidFill>
                            <a:srgbClr val="2A2B38"/>
                          </a:solidFill>
                          <a:latin typeface="Meiryo UI" pitchFamily="34" charset="0"/>
                          <a:ea typeface="Meiryo UI" pitchFamily="34" charset="-122"/>
                          <a:cs typeface="Meiryo UI" pitchFamily="34" charset="-120"/>
                        </a:rPr>
                        <a:t>月次の連絡メール／面談時に共有</a:t>
                      </a:r>
                      <a:endParaRPr lang="en-US" sz="1100" dirty="0">
                        <a:latin typeface="Meiryo UI" charset="0"/>
                        <a:ea typeface="Meiryo UI" charset="0"/>
                        <a:cs typeface="Meiryo UI" charset="0"/>
                      </a:endParaRPr>
                    </a:p>
                  </a:txBody>
                  <a:tcPr marL="91440" marR="91440" marT="45720" marB="45720" anchor="ctr">
                    <a:lnL w="9525" cap="flat" cmpd="sng" algn="ctr">
                      <a:solidFill>
                        <a:srgbClr val="D9DBEA"/>
                      </a:solidFill>
                      <a:prstDash val="solid"/>
                      <a:round/>
                      <a:headEnd type="none" w="med" len="med"/>
                      <a:tailEnd type="none" w="med" len="med"/>
                    </a:lnL>
                    <a:lnR w="9525" cap="flat" cmpd="sng" algn="ctr">
                      <a:solidFill>
                        <a:srgbClr val="D9DBEA"/>
                      </a:solidFill>
                      <a:prstDash val="solid"/>
                      <a:round/>
                      <a:headEnd type="none" w="med" len="med"/>
                      <a:tailEnd type="none" w="med" len="med"/>
                    </a:lnR>
                    <a:lnT w="9525" cap="flat" cmpd="sng" algn="ctr">
                      <a:solidFill>
                        <a:srgbClr val="D9DBEA"/>
                      </a:solidFill>
                      <a:prstDash val="solid"/>
                      <a:round/>
                      <a:headEnd type="none" w="med" len="med"/>
                      <a:tailEnd type="none" w="med" len="med"/>
                    </a:lnT>
                    <a:lnB w="9525" cap="flat" cmpd="sng" algn="ctr">
                      <a:solidFill>
                        <a:srgbClr val="D9DBEA"/>
                      </a:solidFill>
                      <a:prstDash val="solid"/>
                      <a:round/>
                      <a:headEnd type="none" w="med" len="med"/>
                      <a:tailEnd type="none" w="med" len="med"/>
                    </a:lnB>
                    <a:solidFill>
                      <a:srgbClr val="FBF3E1"/>
                    </a:solidFill>
                  </a:tcPr>
                </a:tc>
              </a:tr>
              <a:tr h="658368">
                <a:tc>
                  <a:txBody>
                    <a:bodyPr/>
                    <a:lstStyle/>
                    <a:p>
                      <a:pPr indent="0" marL="0">
                        <a:buNone/>
                      </a:pPr>
                      <a:r>
                        <a:rPr lang="en-US" sz="1100" b="1" dirty="0">
                          <a:solidFill>
                            <a:srgbClr val="3A3F73"/>
                          </a:solidFill>
                          <a:latin typeface="Meiryo UI" pitchFamily="34" charset="0"/>
                          <a:ea typeface="Meiryo UI" pitchFamily="34" charset="-122"/>
                          <a:cs typeface="Meiryo UI" pitchFamily="34" charset="-120"/>
                        </a:rPr>
                        <a:t>紹介者</a:t>
                      </a:r>
                      <a:endParaRPr lang="en-US" sz="1100" dirty="0">
                        <a:latin typeface="Meiryo UI" charset="0"/>
                        <a:ea typeface="Meiryo UI" charset="0"/>
                        <a:cs typeface="Meiryo UI" charset="0"/>
                      </a:endParaRPr>
                    </a:p>
                    <a:p>
                      <a:pPr indent="0" marL="0">
                        <a:buNone/>
                      </a:pPr>
                      <a:r>
                        <a:rPr lang="en-US" sz="1100" b="1" dirty="0">
                          <a:solidFill>
                            <a:srgbClr val="3A3F73"/>
                          </a:solidFill>
                          <a:latin typeface="Meiryo UI" pitchFamily="34" charset="0"/>
                          <a:ea typeface="Meiryo UI" pitchFamily="34" charset="-122"/>
                          <a:cs typeface="Meiryo UI" pitchFamily="34" charset="-120"/>
                        </a:rPr>
                        <a:t>（金融機関・不動産会社・保険代理店など）</a:t>
                      </a:r>
                      <a:endParaRPr lang="en-US" sz="1100" dirty="0">
                        <a:latin typeface="Meiryo UI" charset="0"/>
                        <a:ea typeface="Meiryo UI" charset="0"/>
                        <a:cs typeface="Meiryo UI" charset="0"/>
                      </a:endParaRPr>
                    </a:p>
                  </a:txBody>
                  <a:tcPr marL="91440" marR="91440" marT="45720" marB="45720" anchor="ctr">
                    <a:lnL w="9525" cap="flat" cmpd="sng" algn="ctr">
                      <a:solidFill>
                        <a:srgbClr val="D9DBEA"/>
                      </a:solidFill>
                      <a:prstDash val="solid"/>
                      <a:round/>
                      <a:headEnd type="none" w="med" len="med"/>
                      <a:tailEnd type="none" w="med" len="med"/>
                    </a:lnL>
                    <a:lnR w="9525" cap="flat" cmpd="sng" algn="ctr">
                      <a:solidFill>
                        <a:srgbClr val="D9DBEA"/>
                      </a:solidFill>
                      <a:prstDash val="solid"/>
                      <a:round/>
                      <a:headEnd type="none" w="med" len="med"/>
                      <a:tailEnd type="none" w="med" len="med"/>
                    </a:lnR>
                    <a:lnT w="9525" cap="flat" cmpd="sng" algn="ctr">
                      <a:solidFill>
                        <a:srgbClr val="D9DBEA"/>
                      </a:solidFill>
                      <a:prstDash val="solid"/>
                      <a:round/>
                      <a:headEnd type="none" w="med" len="med"/>
                      <a:tailEnd type="none" w="med" len="med"/>
                    </a:lnT>
                    <a:lnB w="9525" cap="flat" cmpd="sng" algn="ctr">
                      <a:solidFill>
                        <a:srgbClr val="D9DBEA"/>
                      </a:solidFill>
                      <a:prstDash val="solid"/>
                      <a:round/>
                      <a:headEnd type="none" w="med" len="med"/>
                      <a:tailEnd type="none" w="med" len="med"/>
                    </a:lnB>
                    <a:solidFill>
                      <a:srgbClr val="F6F7FB"/>
                    </a:solidFill>
                  </a:tcPr>
                </a:tc>
                <a:tc>
                  <a:txBody>
                    <a:bodyPr/>
                    <a:lstStyle/>
                    <a:p>
                      <a:pPr indent="0" marL="0">
                        <a:buNone/>
                      </a:pPr>
                      <a:r>
                        <a:rPr lang="en-US" sz="1100" dirty="0">
                          <a:solidFill>
                            <a:srgbClr val="2A2B38"/>
                          </a:solidFill>
                          <a:latin typeface="Meiryo UI" pitchFamily="34" charset="0"/>
                          <a:ea typeface="Meiryo UI" pitchFamily="34" charset="-122"/>
                          <a:cs typeface="Meiryo UI" pitchFamily="34" charset="-120"/>
                        </a:rPr>
                        <a:t>安心して紹介できる事務所か／何が得意か</a:t>
                      </a:r>
                      <a:endParaRPr lang="en-US" sz="1100" dirty="0">
                        <a:latin typeface="Meiryo UI" charset="0"/>
                        <a:ea typeface="Meiryo UI" charset="0"/>
                        <a:cs typeface="Meiryo UI" charset="0"/>
                      </a:endParaRPr>
                    </a:p>
                  </a:txBody>
                  <a:tcPr marL="91440" marR="91440" marT="45720" marB="45720" anchor="ctr">
                    <a:lnL w="9525" cap="flat" cmpd="sng" algn="ctr">
                      <a:solidFill>
                        <a:srgbClr val="D9DBEA"/>
                      </a:solidFill>
                      <a:prstDash val="solid"/>
                      <a:round/>
                      <a:headEnd type="none" w="med" len="med"/>
                      <a:tailEnd type="none" w="med" len="med"/>
                    </a:lnL>
                    <a:lnR w="9525" cap="flat" cmpd="sng" algn="ctr">
                      <a:solidFill>
                        <a:srgbClr val="D9DBEA"/>
                      </a:solidFill>
                      <a:prstDash val="solid"/>
                      <a:round/>
                      <a:headEnd type="none" w="med" len="med"/>
                      <a:tailEnd type="none" w="med" len="med"/>
                    </a:lnR>
                    <a:lnT w="9525" cap="flat" cmpd="sng" algn="ctr">
                      <a:solidFill>
                        <a:srgbClr val="D9DBEA"/>
                      </a:solidFill>
                      <a:prstDash val="solid"/>
                      <a:round/>
                      <a:headEnd type="none" w="med" len="med"/>
                      <a:tailEnd type="none" w="med" len="med"/>
                    </a:lnT>
                    <a:lnB w="9525" cap="flat" cmpd="sng" algn="ctr">
                      <a:solidFill>
                        <a:srgbClr val="D9DBEA"/>
                      </a:solidFill>
                      <a:prstDash val="solid"/>
                      <a:round/>
                      <a:headEnd type="none" w="med" len="med"/>
                      <a:tailEnd type="none" w="med" len="med"/>
                    </a:lnB>
                    <a:solidFill>
                      <a:srgbClr val="F6F7FB"/>
                    </a:solidFill>
                  </a:tcPr>
                </a:tc>
                <a:tc>
                  <a:txBody>
                    <a:bodyPr/>
                    <a:lstStyle/>
                    <a:p>
                      <a:pPr indent="0" marL="0">
                        <a:buNone/>
                      </a:pPr>
                      <a:r>
                        <a:rPr lang="en-US" sz="1100" dirty="0">
                          <a:solidFill>
                            <a:srgbClr val="2A2B38"/>
                          </a:solidFill>
                          <a:latin typeface="Meiryo UI" pitchFamily="34" charset="0"/>
                          <a:ea typeface="Meiryo UI" pitchFamily="34" charset="-122"/>
                          <a:cs typeface="Meiryo UI" pitchFamily="34" charset="-120"/>
                        </a:rPr>
                        <a:t>法人設立・相続など、得意分野の紹介動画</a:t>
                      </a:r>
                      <a:endParaRPr lang="en-US" sz="1100" dirty="0">
                        <a:latin typeface="Meiryo UI" charset="0"/>
                        <a:ea typeface="Meiryo UI" charset="0"/>
                        <a:cs typeface="Meiryo UI" charset="0"/>
                      </a:endParaRPr>
                    </a:p>
                  </a:txBody>
                  <a:tcPr marL="91440" marR="91440" marT="45720" marB="45720" anchor="ctr">
                    <a:lnL w="9525" cap="flat" cmpd="sng" algn="ctr">
                      <a:solidFill>
                        <a:srgbClr val="D9DBEA"/>
                      </a:solidFill>
                      <a:prstDash val="solid"/>
                      <a:round/>
                      <a:headEnd type="none" w="med" len="med"/>
                      <a:tailEnd type="none" w="med" len="med"/>
                    </a:lnL>
                    <a:lnR w="9525" cap="flat" cmpd="sng" algn="ctr">
                      <a:solidFill>
                        <a:srgbClr val="D9DBEA"/>
                      </a:solidFill>
                      <a:prstDash val="solid"/>
                      <a:round/>
                      <a:headEnd type="none" w="med" len="med"/>
                      <a:tailEnd type="none" w="med" len="med"/>
                    </a:lnR>
                    <a:lnT w="9525" cap="flat" cmpd="sng" algn="ctr">
                      <a:solidFill>
                        <a:srgbClr val="D9DBEA"/>
                      </a:solidFill>
                      <a:prstDash val="solid"/>
                      <a:round/>
                      <a:headEnd type="none" w="med" len="med"/>
                      <a:tailEnd type="none" w="med" len="med"/>
                    </a:lnT>
                    <a:lnB w="9525" cap="flat" cmpd="sng" algn="ctr">
                      <a:solidFill>
                        <a:srgbClr val="D9DBEA"/>
                      </a:solidFill>
                      <a:prstDash val="solid"/>
                      <a:round/>
                      <a:headEnd type="none" w="med" len="med"/>
                      <a:tailEnd type="none" w="med" len="med"/>
                    </a:lnB>
                    <a:solidFill>
                      <a:srgbClr val="F6F7FB"/>
                    </a:solidFill>
                  </a:tcPr>
                </a:tc>
                <a:tc>
                  <a:txBody>
                    <a:bodyPr/>
                    <a:lstStyle/>
                    <a:p>
                      <a:pPr indent="0" marL="0">
                        <a:buNone/>
                      </a:pPr>
                      <a:r>
                        <a:rPr lang="en-US" sz="1100" dirty="0">
                          <a:solidFill>
                            <a:srgbClr val="2A2B38"/>
                          </a:solidFill>
                          <a:latin typeface="Meiryo UI" pitchFamily="34" charset="0"/>
                          <a:ea typeface="Meiryo UI" pitchFamily="34" charset="-122"/>
                          <a:cs typeface="Meiryo UI" pitchFamily="34" charset="-120"/>
                        </a:rPr>
                        <a:t>メール／訪問時の案内／紹介カードのQR</a:t>
                      </a:r>
                      <a:endParaRPr lang="en-US" sz="1100" dirty="0">
                        <a:latin typeface="Meiryo UI" charset="0"/>
                        <a:ea typeface="Meiryo UI" charset="0"/>
                        <a:cs typeface="Meiryo UI" charset="0"/>
                      </a:endParaRPr>
                    </a:p>
                  </a:txBody>
                  <a:tcPr marL="91440" marR="91440" marT="45720" marB="45720" anchor="ctr">
                    <a:lnL w="9525" cap="flat" cmpd="sng" algn="ctr">
                      <a:solidFill>
                        <a:srgbClr val="D9DBEA"/>
                      </a:solidFill>
                      <a:prstDash val="solid"/>
                      <a:round/>
                      <a:headEnd type="none" w="med" len="med"/>
                      <a:tailEnd type="none" w="med" len="med"/>
                    </a:lnL>
                    <a:lnR w="9525" cap="flat" cmpd="sng" algn="ctr">
                      <a:solidFill>
                        <a:srgbClr val="D9DBEA"/>
                      </a:solidFill>
                      <a:prstDash val="solid"/>
                      <a:round/>
                      <a:headEnd type="none" w="med" len="med"/>
                      <a:tailEnd type="none" w="med" len="med"/>
                    </a:lnR>
                    <a:lnT w="9525" cap="flat" cmpd="sng" algn="ctr">
                      <a:solidFill>
                        <a:srgbClr val="D9DBEA"/>
                      </a:solidFill>
                      <a:prstDash val="solid"/>
                      <a:round/>
                      <a:headEnd type="none" w="med" len="med"/>
                      <a:tailEnd type="none" w="med" len="med"/>
                    </a:lnT>
                    <a:lnB w="9525" cap="flat" cmpd="sng" algn="ctr">
                      <a:solidFill>
                        <a:srgbClr val="D9DBEA"/>
                      </a:solidFill>
                      <a:prstDash val="solid"/>
                      <a:round/>
                      <a:headEnd type="none" w="med" len="med"/>
                      <a:tailEnd type="none" w="med" len="med"/>
                    </a:lnB>
                    <a:solidFill>
                      <a:srgbClr val="F6F7FB"/>
                    </a:solidFill>
                  </a:tcPr>
                </a:tc>
              </a:tr>
              <a:tr h="658368">
                <a:tc>
                  <a:txBody>
                    <a:bodyPr/>
                    <a:lstStyle/>
                    <a:p>
                      <a:pPr indent="0" marL="0">
                        <a:buNone/>
                      </a:pPr>
                      <a:r>
                        <a:rPr lang="en-US" sz="1100" b="1" dirty="0">
                          <a:solidFill>
                            <a:srgbClr val="3A3F73"/>
                          </a:solidFill>
                          <a:latin typeface="Meiryo UI" pitchFamily="34" charset="0"/>
                          <a:ea typeface="Meiryo UI" pitchFamily="34" charset="-122"/>
                          <a:cs typeface="Meiryo UI" pitchFamily="34" charset="-120"/>
                        </a:rPr>
                        <a:t>HPからの問い合わせ者</a:t>
                      </a:r>
                      <a:endParaRPr lang="en-US" sz="1100" dirty="0">
                        <a:latin typeface="Meiryo UI" charset="0"/>
                        <a:ea typeface="Meiryo UI" charset="0"/>
                        <a:cs typeface="Meiryo UI" charset="0"/>
                      </a:endParaRPr>
                    </a:p>
                  </a:txBody>
                  <a:tcPr marL="91440" marR="91440" marT="45720" marB="45720" anchor="ctr">
                    <a:lnL w="9525" cap="flat" cmpd="sng" algn="ctr">
                      <a:solidFill>
                        <a:srgbClr val="D9DBEA"/>
                      </a:solidFill>
                      <a:prstDash val="solid"/>
                      <a:round/>
                      <a:headEnd type="none" w="med" len="med"/>
                      <a:tailEnd type="none" w="med" len="med"/>
                    </a:lnL>
                    <a:lnR w="9525" cap="flat" cmpd="sng" algn="ctr">
                      <a:solidFill>
                        <a:srgbClr val="D9DBEA"/>
                      </a:solidFill>
                      <a:prstDash val="solid"/>
                      <a:round/>
                      <a:headEnd type="none" w="med" len="med"/>
                      <a:tailEnd type="none" w="med" len="med"/>
                    </a:lnR>
                    <a:lnT w="9525" cap="flat" cmpd="sng" algn="ctr">
                      <a:solidFill>
                        <a:srgbClr val="D9DBEA"/>
                      </a:solidFill>
                      <a:prstDash val="solid"/>
                      <a:round/>
                      <a:headEnd type="none" w="med" len="med"/>
                      <a:tailEnd type="none" w="med" len="med"/>
                    </a:lnT>
                    <a:lnB w="9525" cap="flat" cmpd="sng" algn="ctr">
                      <a:solidFill>
                        <a:srgbClr val="D9DBEA"/>
                      </a:solidFill>
                      <a:prstDash val="solid"/>
                      <a:round/>
                      <a:headEnd type="none" w="med" len="med"/>
                      <a:tailEnd type="none" w="med" len="med"/>
                    </a:lnB>
                    <a:solidFill>
                      <a:srgbClr val="FFFFFF"/>
                    </a:solidFill>
                  </a:tcPr>
                </a:tc>
                <a:tc>
                  <a:txBody>
                    <a:bodyPr/>
                    <a:lstStyle/>
                    <a:p>
                      <a:pPr indent="0" marL="0">
                        <a:buNone/>
                      </a:pPr>
                      <a:r>
                        <a:rPr lang="en-US" sz="1100" dirty="0">
                          <a:solidFill>
                            <a:srgbClr val="2A2B38"/>
                          </a:solidFill>
                          <a:latin typeface="Meiryo UI" pitchFamily="34" charset="0"/>
                          <a:ea typeface="Meiryo UI" pitchFamily="34" charset="-122"/>
                          <a:cs typeface="Meiryo UI" pitchFamily="34" charset="-120"/>
                        </a:rPr>
                        <a:t>相談しても大丈夫？／費用はどのくらい？</a:t>
                      </a:r>
                      <a:endParaRPr lang="en-US" sz="1100" dirty="0">
                        <a:latin typeface="Meiryo UI" charset="0"/>
                        <a:ea typeface="Meiryo UI" charset="0"/>
                        <a:cs typeface="Meiryo UI" charset="0"/>
                      </a:endParaRPr>
                    </a:p>
                  </a:txBody>
                  <a:tcPr marL="91440" marR="91440" marT="45720" marB="45720" anchor="ctr">
                    <a:lnL w="9525" cap="flat" cmpd="sng" algn="ctr">
                      <a:solidFill>
                        <a:srgbClr val="D9DBEA"/>
                      </a:solidFill>
                      <a:prstDash val="solid"/>
                      <a:round/>
                      <a:headEnd type="none" w="med" len="med"/>
                      <a:tailEnd type="none" w="med" len="med"/>
                    </a:lnL>
                    <a:lnR w="9525" cap="flat" cmpd="sng" algn="ctr">
                      <a:solidFill>
                        <a:srgbClr val="D9DBEA"/>
                      </a:solidFill>
                      <a:prstDash val="solid"/>
                      <a:round/>
                      <a:headEnd type="none" w="med" len="med"/>
                      <a:tailEnd type="none" w="med" len="med"/>
                    </a:lnR>
                    <a:lnT w="9525" cap="flat" cmpd="sng" algn="ctr">
                      <a:solidFill>
                        <a:srgbClr val="D9DBEA"/>
                      </a:solidFill>
                      <a:prstDash val="solid"/>
                      <a:round/>
                      <a:headEnd type="none" w="med" len="med"/>
                      <a:tailEnd type="none" w="med" len="med"/>
                    </a:lnT>
                    <a:lnB w="9525" cap="flat" cmpd="sng" algn="ctr">
                      <a:solidFill>
                        <a:srgbClr val="D9DBEA"/>
                      </a:solidFill>
                      <a:prstDash val="solid"/>
                      <a:round/>
                      <a:headEnd type="none" w="med" len="med"/>
                      <a:tailEnd type="none" w="med" len="med"/>
                    </a:lnB>
                    <a:solidFill>
                      <a:srgbClr val="FFFFFF"/>
                    </a:solidFill>
                  </a:tcPr>
                </a:tc>
                <a:tc>
                  <a:txBody>
                    <a:bodyPr/>
                    <a:lstStyle/>
                    <a:p>
                      <a:pPr indent="0" marL="0">
                        <a:buNone/>
                      </a:pPr>
                      <a:r>
                        <a:rPr lang="en-US" sz="1100" dirty="0">
                          <a:solidFill>
                            <a:srgbClr val="2A2B38"/>
                          </a:solidFill>
                          <a:latin typeface="Meiryo UI" pitchFamily="34" charset="0"/>
                          <a:ea typeface="Meiryo UI" pitchFamily="34" charset="-122"/>
                          <a:cs typeface="Meiryo UI" pitchFamily="34" charset="-120"/>
                        </a:rPr>
                        <a:t>初回相談の流れと、よくある質問</a:t>
                      </a:r>
                      <a:endParaRPr lang="en-US" sz="1100" dirty="0">
                        <a:latin typeface="Meiryo UI" charset="0"/>
                        <a:ea typeface="Meiryo UI" charset="0"/>
                        <a:cs typeface="Meiryo UI" charset="0"/>
                      </a:endParaRPr>
                    </a:p>
                  </a:txBody>
                  <a:tcPr marL="91440" marR="91440" marT="45720" marB="45720" anchor="ctr">
                    <a:lnL w="9525" cap="flat" cmpd="sng" algn="ctr">
                      <a:solidFill>
                        <a:srgbClr val="D9DBEA"/>
                      </a:solidFill>
                      <a:prstDash val="solid"/>
                      <a:round/>
                      <a:headEnd type="none" w="med" len="med"/>
                      <a:tailEnd type="none" w="med" len="med"/>
                    </a:lnL>
                    <a:lnR w="9525" cap="flat" cmpd="sng" algn="ctr">
                      <a:solidFill>
                        <a:srgbClr val="D9DBEA"/>
                      </a:solidFill>
                      <a:prstDash val="solid"/>
                      <a:round/>
                      <a:headEnd type="none" w="med" len="med"/>
                      <a:tailEnd type="none" w="med" len="med"/>
                    </a:lnR>
                    <a:lnT w="9525" cap="flat" cmpd="sng" algn="ctr">
                      <a:solidFill>
                        <a:srgbClr val="D9DBEA"/>
                      </a:solidFill>
                      <a:prstDash val="solid"/>
                      <a:round/>
                      <a:headEnd type="none" w="med" len="med"/>
                      <a:tailEnd type="none" w="med" len="med"/>
                    </a:lnT>
                    <a:lnB w="9525" cap="flat" cmpd="sng" algn="ctr">
                      <a:solidFill>
                        <a:srgbClr val="D9DBEA"/>
                      </a:solidFill>
                      <a:prstDash val="solid"/>
                      <a:round/>
                      <a:headEnd type="none" w="med" len="med"/>
                      <a:tailEnd type="none" w="med" len="med"/>
                    </a:lnB>
                    <a:solidFill>
                      <a:srgbClr val="FFFFFF"/>
                    </a:solidFill>
                  </a:tcPr>
                </a:tc>
                <a:tc>
                  <a:txBody>
                    <a:bodyPr/>
                    <a:lstStyle/>
                    <a:p>
                      <a:pPr indent="0" marL="0">
                        <a:buNone/>
                      </a:pPr>
                      <a:r>
                        <a:rPr lang="en-US" sz="1100" dirty="0">
                          <a:solidFill>
                            <a:srgbClr val="2A2B38"/>
                          </a:solidFill>
                          <a:latin typeface="Meiryo UI" pitchFamily="34" charset="0"/>
                          <a:ea typeface="Meiryo UI" pitchFamily="34" charset="-122"/>
                          <a:cs typeface="Meiryo UI" pitchFamily="34" charset="-120"/>
                        </a:rPr>
                        <a:t>問い合わせ後の自動返信／面談前の事前送付</a:t>
                      </a:r>
                      <a:endParaRPr lang="en-US" sz="1100" dirty="0">
                        <a:latin typeface="Meiryo UI" charset="0"/>
                        <a:ea typeface="Meiryo UI" charset="0"/>
                        <a:cs typeface="Meiryo UI" charset="0"/>
                      </a:endParaRPr>
                    </a:p>
                  </a:txBody>
                  <a:tcPr marL="91440" marR="91440" marT="45720" marB="45720" anchor="ctr">
                    <a:lnL w="9525" cap="flat" cmpd="sng" algn="ctr">
                      <a:solidFill>
                        <a:srgbClr val="D9DBEA"/>
                      </a:solidFill>
                      <a:prstDash val="solid"/>
                      <a:round/>
                      <a:headEnd type="none" w="med" len="med"/>
                      <a:tailEnd type="none" w="med" len="med"/>
                    </a:lnL>
                    <a:lnR w="9525" cap="flat" cmpd="sng" algn="ctr">
                      <a:solidFill>
                        <a:srgbClr val="D9DBEA"/>
                      </a:solidFill>
                      <a:prstDash val="solid"/>
                      <a:round/>
                      <a:headEnd type="none" w="med" len="med"/>
                      <a:tailEnd type="none" w="med" len="med"/>
                    </a:lnR>
                    <a:lnT w="9525" cap="flat" cmpd="sng" algn="ctr">
                      <a:solidFill>
                        <a:srgbClr val="D9DBEA"/>
                      </a:solidFill>
                      <a:prstDash val="solid"/>
                      <a:round/>
                      <a:headEnd type="none" w="med" len="med"/>
                      <a:tailEnd type="none" w="med" len="med"/>
                    </a:lnT>
                    <a:lnB w="9525" cap="flat" cmpd="sng" algn="ctr">
                      <a:solidFill>
                        <a:srgbClr val="D9DBEA"/>
                      </a:solidFill>
                      <a:prstDash val="solid"/>
                      <a:round/>
                      <a:headEnd type="none" w="med" len="med"/>
                      <a:tailEnd type="none" w="med" len="med"/>
                    </a:lnB>
                    <a:solidFill>
                      <a:srgbClr val="FFFFFF"/>
                    </a:solidFill>
                  </a:tcPr>
                </a:tc>
              </a:tr>
              <a:tr h="658368">
                <a:tc>
                  <a:txBody>
                    <a:bodyPr/>
                    <a:lstStyle/>
                    <a:p>
                      <a:pPr indent="0" marL="0">
                        <a:buNone/>
                      </a:pPr>
                      <a:r>
                        <a:rPr lang="en-US" sz="1100" b="1" dirty="0">
                          <a:solidFill>
                            <a:srgbClr val="3A3F73"/>
                          </a:solidFill>
                          <a:latin typeface="Meiryo UI" pitchFamily="34" charset="0"/>
                          <a:ea typeface="Meiryo UI" pitchFamily="34" charset="-122"/>
                          <a:cs typeface="Meiryo UI" pitchFamily="34" charset="-120"/>
                        </a:rPr>
                        <a:t>個人事業主・フリーランス</a:t>
                      </a:r>
                      <a:endParaRPr lang="en-US" sz="1100" dirty="0">
                        <a:latin typeface="Meiryo UI" charset="0"/>
                        <a:ea typeface="Meiryo UI" charset="0"/>
                        <a:cs typeface="Meiryo UI" charset="0"/>
                      </a:endParaRPr>
                    </a:p>
                  </a:txBody>
                  <a:tcPr marL="91440" marR="91440" marT="45720" marB="45720" anchor="ctr">
                    <a:lnL w="9525" cap="flat" cmpd="sng" algn="ctr">
                      <a:solidFill>
                        <a:srgbClr val="D9DBEA"/>
                      </a:solidFill>
                      <a:prstDash val="solid"/>
                      <a:round/>
                      <a:headEnd type="none" w="med" len="med"/>
                      <a:tailEnd type="none" w="med" len="med"/>
                    </a:lnL>
                    <a:lnR w="9525" cap="flat" cmpd="sng" algn="ctr">
                      <a:solidFill>
                        <a:srgbClr val="D9DBEA"/>
                      </a:solidFill>
                      <a:prstDash val="solid"/>
                      <a:round/>
                      <a:headEnd type="none" w="med" len="med"/>
                      <a:tailEnd type="none" w="med" len="med"/>
                    </a:lnR>
                    <a:lnT w="9525" cap="flat" cmpd="sng" algn="ctr">
                      <a:solidFill>
                        <a:srgbClr val="D9DBEA"/>
                      </a:solidFill>
                      <a:prstDash val="solid"/>
                      <a:round/>
                      <a:headEnd type="none" w="med" len="med"/>
                      <a:tailEnd type="none" w="med" len="med"/>
                    </a:lnT>
                    <a:lnB w="9525" cap="flat" cmpd="sng" algn="ctr">
                      <a:solidFill>
                        <a:srgbClr val="D9DBEA"/>
                      </a:solidFill>
                      <a:prstDash val="solid"/>
                      <a:round/>
                      <a:headEnd type="none" w="med" len="med"/>
                      <a:tailEnd type="none" w="med" len="med"/>
                    </a:lnB>
                    <a:solidFill>
                      <a:srgbClr val="F6F7FB"/>
                    </a:solidFill>
                  </a:tcPr>
                </a:tc>
                <a:tc>
                  <a:txBody>
                    <a:bodyPr/>
                    <a:lstStyle/>
                    <a:p>
                      <a:pPr indent="0" marL="0">
                        <a:buNone/>
                      </a:pPr>
                      <a:r>
                        <a:rPr lang="en-US" sz="1100" dirty="0">
                          <a:solidFill>
                            <a:srgbClr val="2A2B38"/>
                          </a:solidFill>
                          <a:latin typeface="Meiryo UI" pitchFamily="34" charset="0"/>
                          <a:ea typeface="Meiryo UI" pitchFamily="34" charset="-122"/>
                          <a:cs typeface="Meiryo UI" pitchFamily="34" charset="-120"/>
                        </a:rPr>
                        <a:t>法人化のタイミングが分からない</a:t>
                      </a:r>
                      <a:endParaRPr lang="en-US" sz="1100" dirty="0">
                        <a:latin typeface="Meiryo UI" charset="0"/>
                        <a:ea typeface="Meiryo UI" charset="0"/>
                        <a:cs typeface="Meiryo UI" charset="0"/>
                      </a:endParaRPr>
                    </a:p>
                  </a:txBody>
                  <a:tcPr marL="91440" marR="91440" marT="45720" marB="45720" anchor="ctr">
                    <a:lnL w="9525" cap="flat" cmpd="sng" algn="ctr">
                      <a:solidFill>
                        <a:srgbClr val="D9DBEA"/>
                      </a:solidFill>
                      <a:prstDash val="solid"/>
                      <a:round/>
                      <a:headEnd type="none" w="med" len="med"/>
                      <a:tailEnd type="none" w="med" len="med"/>
                    </a:lnL>
                    <a:lnR w="9525" cap="flat" cmpd="sng" algn="ctr">
                      <a:solidFill>
                        <a:srgbClr val="D9DBEA"/>
                      </a:solidFill>
                      <a:prstDash val="solid"/>
                      <a:round/>
                      <a:headEnd type="none" w="med" len="med"/>
                      <a:tailEnd type="none" w="med" len="med"/>
                    </a:lnR>
                    <a:lnT w="9525" cap="flat" cmpd="sng" algn="ctr">
                      <a:solidFill>
                        <a:srgbClr val="D9DBEA"/>
                      </a:solidFill>
                      <a:prstDash val="solid"/>
                      <a:round/>
                      <a:headEnd type="none" w="med" len="med"/>
                      <a:tailEnd type="none" w="med" len="med"/>
                    </a:lnT>
                    <a:lnB w="9525" cap="flat" cmpd="sng" algn="ctr">
                      <a:solidFill>
                        <a:srgbClr val="D9DBEA"/>
                      </a:solidFill>
                      <a:prstDash val="solid"/>
                      <a:round/>
                      <a:headEnd type="none" w="med" len="med"/>
                      <a:tailEnd type="none" w="med" len="med"/>
                    </a:lnB>
                    <a:solidFill>
                      <a:srgbClr val="F6F7FB"/>
                    </a:solidFill>
                  </a:tcPr>
                </a:tc>
                <a:tc>
                  <a:txBody>
                    <a:bodyPr/>
                    <a:lstStyle/>
                    <a:p>
                      <a:pPr indent="0" marL="0">
                        <a:buNone/>
                      </a:pPr>
                      <a:r>
                        <a:rPr lang="en-US" sz="1100" dirty="0">
                          <a:solidFill>
                            <a:srgbClr val="2A2B38"/>
                          </a:solidFill>
                          <a:latin typeface="Meiryo UI" pitchFamily="34" charset="0"/>
                          <a:ea typeface="Meiryo UI" pitchFamily="34" charset="-122"/>
                          <a:cs typeface="Meiryo UI" pitchFamily="34" charset="-120"/>
                        </a:rPr>
                        <a:t>法人成りの判断のポイント</a:t>
                      </a:r>
                      <a:endParaRPr lang="en-US" sz="1100" dirty="0">
                        <a:latin typeface="Meiryo UI" charset="0"/>
                        <a:ea typeface="Meiryo UI" charset="0"/>
                        <a:cs typeface="Meiryo UI" charset="0"/>
                      </a:endParaRPr>
                    </a:p>
                  </a:txBody>
                  <a:tcPr marL="91440" marR="91440" marT="45720" marB="45720" anchor="ctr">
                    <a:lnL w="9525" cap="flat" cmpd="sng" algn="ctr">
                      <a:solidFill>
                        <a:srgbClr val="D9DBEA"/>
                      </a:solidFill>
                      <a:prstDash val="solid"/>
                      <a:round/>
                      <a:headEnd type="none" w="med" len="med"/>
                      <a:tailEnd type="none" w="med" len="med"/>
                    </a:lnL>
                    <a:lnR w="9525" cap="flat" cmpd="sng" algn="ctr">
                      <a:solidFill>
                        <a:srgbClr val="D9DBEA"/>
                      </a:solidFill>
                      <a:prstDash val="solid"/>
                      <a:round/>
                      <a:headEnd type="none" w="med" len="med"/>
                      <a:tailEnd type="none" w="med" len="med"/>
                    </a:lnR>
                    <a:lnT w="9525" cap="flat" cmpd="sng" algn="ctr">
                      <a:solidFill>
                        <a:srgbClr val="D9DBEA"/>
                      </a:solidFill>
                      <a:prstDash val="solid"/>
                      <a:round/>
                      <a:headEnd type="none" w="med" len="med"/>
                      <a:tailEnd type="none" w="med" len="med"/>
                    </a:lnT>
                    <a:lnB w="9525" cap="flat" cmpd="sng" algn="ctr">
                      <a:solidFill>
                        <a:srgbClr val="D9DBEA"/>
                      </a:solidFill>
                      <a:prstDash val="solid"/>
                      <a:round/>
                      <a:headEnd type="none" w="med" len="med"/>
                      <a:tailEnd type="none" w="med" len="med"/>
                    </a:lnB>
                    <a:solidFill>
                      <a:srgbClr val="F6F7FB"/>
                    </a:solidFill>
                  </a:tcPr>
                </a:tc>
                <a:tc>
                  <a:txBody>
                    <a:bodyPr/>
                    <a:lstStyle/>
                    <a:p>
                      <a:pPr indent="0" marL="0">
                        <a:buNone/>
                      </a:pPr>
                      <a:r>
                        <a:rPr lang="en-US" sz="1100" dirty="0">
                          <a:solidFill>
                            <a:srgbClr val="2A2B38"/>
                          </a:solidFill>
                          <a:latin typeface="Meiryo UI" pitchFamily="34" charset="0"/>
                          <a:ea typeface="Meiryo UI" pitchFamily="34" charset="-122"/>
                          <a:cs typeface="Meiryo UI" pitchFamily="34" charset="-120"/>
                        </a:rPr>
                        <a:t>メルマガ／セミナー／HPの資料請求</a:t>
                      </a:r>
                      <a:endParaRPr lang="en-US" sz="1100" dirty="0">
                        <a:latin typeface="Meiryo UI" charset="0"/>
                        <a:ea typeface="Meiryo UI" charset="0"/>
                        <a:cs typeface="Meiryo UI" charset="0"/>
                      </a:endParaRPr>
                    </a:p>
                  </a:txBody>
                  <a:tcPr marL="91440" marR="91440" marT="45720" marB="45720" anchor="ctr">
                    <a:lnL w="9525" cap="flat" cmpd="sng" algn="ctr">
                      <a:solidFill>
                        <a:srgbClr val="D9DBEA"/>
                      </a:solidFill>
                      <a:prstDash val="solid"/>
                      <a:round/>
                      <a:headEnd type="none" w="med" len="med"/>
                      <a:tailEnd type="none" w="med" len="med"/>
                    </a:lnL>
                    <a:lnR w="9525" cap="flat" cmpd="sng" algn="ctr">
                      <a:solidFill>
                        <a:srgbClr val="D9DBEA"/>
                      </a:solidFill>
                      <a:prstDash val="solid"/>
                      <a:round/>
                      <a:headEnd type="none" w="med" len="med"/>
                      <a:tailEnd type="none" w="med" len="med"/>
                    </a:lnR>
                    <a:lnT w="9525" cap="flat" cmpd="sng" algn="ctr">
                      <a:solidFill>
                        <a:srgbClr val="D9DBEA"/>
                      </a:solidFill>
                      <a:prstDash val="solid"/>
                      <a:round/>
                      <a:headEnd type="none" w="med" len="med"/>
                      <a:tailEnd type="none" w="med" len="med"/>
                    </a:lnT>
                    <a:lnB w="9525" cap="flat" cmpd="sng" algn="ctr">
                      <a:solidFill>
                        <a:srgbClr val="D9DBEA"/>
                      </a:solidFill>
                      <a:prstDash val="solid"/>
                      <a:round/>
                      <a:headEnd type="none" w="med" len="med"/>
                      <a:tailEnd type="none" w="med" len="med"/>
                    </a:lnB>
                    <a:solidFill>
                      <a:srgbClr val="F6F7FB"/>
                    </a:solidFill>
                  </a:tcPr>
                </a:tc>
              </a:tr>
              <a:tr h="658368">
                <a:tc>
                  <a:txBody>
                    <a:bodyPr/>
                    <a:lstStyle/>
                    <a:p>
                      <a:pPr indent="0" marL="0">
                        <a:buNone/>
                      </a:pPr>
                      <a:r>
                        <a:rPr lang="en-US" sz="1100" b="1" dirty="0">
                          <a:solidFill>
                            <a:srgbClr val="3A3F73"/>
                          </a:solidFill>
                          <a:latin typeface="Meiryo UI" pitchFamily="34" charset="0"/>
                          <a:ea typeface="Meiryo UI" pitchFamily="34" charset="-122"/>
                          <a:cs typeface="Meiryo UI" pitchFamily="34" charset="-120"/>
                        </a:rPr>
                        <a:t>相続を控えたご家族</a:t>
                      </a:r>
                      <a:endParaRPr lang="en-US" sz="1100" dirty="0">
                        <a:latin typeface="Meiryo UI" charset="0"/>
                        <a:ea typeface="Meiryo UI" charset="0"/>
                        <a:cs typeface="Meiryo UI" charset="0"/>
                      </a:endParaRPr>
                    </a:p>
                  </a:txBody>
                  <a:tcPr marL="91440" marR="91440" marT="45720" marB="45720" anchor="ctr">
                    <a:lnL w="9525" cap="flat" cmpd="sng" algn="ctr">
                      <a:solidFill>
                        <a:srgbClr val="D9DBEA"/>
                      </a:solidFill>
                      <a:prstDash val="solid"/>
                      <a:round/>
                      <a:headEnd type="none" w="med" len="med"/>
                      <a:tailEnd type="none" w="med" len="med"/>
                    </a:lnL>
                    <a:lnR w="9525" cap="flat" cmpd="sng" algn="ctr">
                      <a:solidFill>
                        <a:srgbClr val="D9DBEA"/>
                      </a:solidFill>
                      <a:prstDash val="solid"/>
                      <a:round/>
                      <a:headEnd type="none" w="med" len="med"/>
                      <a:tailEnd type="none" w="med" len="med"/>
                    </a:lnR>
                    <a:lnT w="9525" cap="flat" cmpd="sng" algn="ctr">
                      <a:solidFill>
                        <a:srgbClr val="D9DBEA"/>
                      </a:solidFill>
                      <a:prstDash val="solid"/>
                      <a:round/>
                      <a:headEnd type="none" w="med" len="med"/>
                      <a:tailEnd type="none" w="med" len="med"/>
                    </a:lnT>
                    <a:lnB w="9525" cap="flat" cmpd="sng" algn="ctr">
                      <a:solidFill>
                        <a:srgbClr val="D9DBEA"/>
                      </a:solidFill>
                      <a:prstDash val="solid"/>
                      <a:round/>
                      <a:headEnd type="none" w="med" len="med"/>
                      <a:tailEnd type="none" w="med" len="med"/>
                    </a:lnB>
                    <a:solidFill>
                      <a:srgbClr val="FFFFFF"/>
                    </a:solidFill>
                  </a:tcPr>
                </a:tc>
                <a:tc>
                  <a:txBody>
                    <a:bodyPr/>
                    <a:lstStyle/>
                    <a:p>
                      <a:pPr indent="0" marL="0">
                        <a:buNone/>
                      </a:pPr>
                      <a:r>
                        <a:rPr lang="en-US" sz="1100" dirty="0">
                          <a:solidFill>
                            <a:srgbClr val="2A2B38"/>
                          </a:solidFill>
                          <a:latin typeface="Meiryo UI" pitchFamily="34" charset="0"/>
                          <a:ea typeface="Meiryo UI" pitchFamily="34" charset="-122"/>
                          <a:cs typeface="Meiryo UI" pitchFamily="34" charset="-120"/>
                        </a:rPr>
                        <a:t>何から始めればいいか分からない</a:t>
                      </a:r>
                      <a:endParaRPr lang="en-US" sz="1100" dirty="0">
                        <a:latin typeface="Meiryo UI" charset="0"/>
                        <a:ea typeface="Meiryo UI" charset="0"/>
                        <a:cs typeface="Meiryo UI" charset="0"/>
                      </a:endParaRPr>
                    </a:p>
                  </a:txBody>
                  <a:tcPr marL="91440" marR="91440" marT="45720" marB="45720" anchor="ctr">
                    <a:lnL w="9525" cap="flat" cmpd="sng" algn="ctr">
                      <a:solidFill>
                        <a:srgbClr val="D9DBEA"/>
                      </a:solidFill>
                      <a:prstDash val="solid"/>
                      <a:round/>
                      <a:headEnd type="none" w="med" len="med"/>
                      <a:tailEnd type="none" w="med" len="med"/>
                    </a:lnL>
                    <a:lnR w="9525" cap="flat" cmpd="sng" algn="ctr">
                      <a:solidFill>
                        <a:srgbClr val="D9DBEA"/>
                      </a:solidFill>
                      <a:prstDash val="solid"/>
                      <a:round/>
                      <a:headEnd type="none" w="med" len="med"/>
                      <a:tailEnd type="none" w="med" len="med"/>
                    </a:lnR>
                    <a:lnT w="9525" cap="flat" cmpd="sng" algn="ctr">
                      <a:solidFill>
                        <a:srgbClr val="D9DBEA"/>
                      </a:solidFill>
                      <a:prstDash val="solid"/>
                      <a:round/>
                      <a:headEnd type="none" w="med" len="med"/>
                      <a:tailEnd type="none" w="med" len="med"/>
                    </a:lnT>
                    <a:lnB w="9525" cap="flat" cmpd="sng" algn="ctr">
                      <a:solidFill>
                        <a:srgbClr val="D9DBEA"/>
                      </a:solidFill>
                      <a:prstDash val="solid"/>
                      <a:round/>
                      <a:headEnd type="none" w="med" len="med"/>
                      <a:tailEnd type="none" w="med" len="med"/>
                    </a:lnB>
                    <a:solidFill>
                      <a:srgbClr val="FFFFFF"/>
                    </a:solidFill>
                  </a:tcPr>
                </a:tc>
                <a:tc>
                  <a:txBody>
                    <a:bodyPr/>
                    <a:lstStyle/>
                    <a:p>
                      <a:pPr indent="0" marL="0">
                        <a:buNone/>
                      </a:pPr>
                      <a:r>
                        <a:rPr lang="en-US" sz="1100" dirty="0">
                          <a:solidFill>
                            <a:srgbClr val="2A2B38"/>
                          </a:solidFill>
                          <a:latin typeface="Meiryo UI" pitchFamily="34" charset="0"/>
                          <a:ea typeface="Meiryo UI" pitchFamily="34" charset="-122"/>
                          <a:cs typeface="Meiryo UI" pitchFamily="34" charset="-120"/>
                        </a:rPr>
                        <a:t>相続の流れと、準備しておくこと</a:t>
                      </a:r>
                      <a:endParaRPr lang="en-US" sz="1100" dirty="0">
                        <a:latin typeface="Meiryo UI" charset="0"/>
                        <a:ea typeface="Meiryo UI" charset="0"/>
                        <a:cs typeface="Meiryo UI" charset="0"/>
                      </a:endParaRPr>
                    </a:p>
                  </a:txBody>
                  <a:tcPr marL="91440" marR="91440" marT="45720" marB="45720" anchor="ctr">
                    <a:lnL w="9525" cap="flat" cmpd="sng" algn="ctr">
                      <a:solidFill>
                        <a:srgbClr val="D9DBEA"/>
                      </a:solidFill>
                      <a:prstDash val="solid"/>
                      <a:round/>
                      <a:headEnd type="none" w="med" len="med"/>
                      <a:tailEnd type="none" w="med" len="med"/>
                    </a:lnL>
                    <a:lnR w="9525" cap="flat" cmpd="sng" algn="ctr">
                      <a:solidFill>
                        <a:srgbClr val="D9DBEA"/>
                      </a:solidFill>
                      <a:prstDash val="solid"/>
                      <a:round/>
                      <a:headEnd type="none" w="med" len="med"/>
                      <a:tailEnd type="none" w="med" len="med"/>
                    </a:lnR>
                    <a:lnT w="9525" cap="flat" cmpd="sng" algn="ctr">
                      <a:solidFill>
                        <a:srgbClr val="D9DBEA"/>
                      </a:solidFill>
                      <a:prstDash val="solid"/>
                      <a:round/>
                      <a:headEnd type="none" w="med" len="med"/>
                      <a:tailEnd type="none" w="med" len="med"/>
                    </a:lnT>
                    <a:lnB w="9525" cap="flat" cmpd="sng" algn="ctr">
                      <a:solidFill>
                        <a:srgbClr val="D9DBEA"/>
                      </a:solidFill>
                      <a:prstDash val="solid"/>
                      <a:round/>
                      <a:headEnd type="none" w="med" len="med"/>
                      <a:tailEnd type="none" w="med" len="med"/>
                    </a:lnB>
                    <a:solidFill>
                      <a:srgbClr val="FFFFFF"/>
                    </a:solidFill>
                  </a:tcPr>
                </a:tc>
                <a:tc>
                  <a:txBody>
                    <a:bodyPr/>
                    <a:lstStyle/>
                    <a:p>
                      <a:pPr indent="0" marL="0">
                        <a:buNone/>
                      </a:pPr>
                      <a:r>
                        <a:rPr lang="en-US" sz="1100" dirty="0">
                          <a:solidFill>
                            <a:srgbClr val="2A2B38"/>
                          </a:solidFill>
                          <a:latin typeface="Meiryo UI" pitchFamily="34" charset="0"/>
                          <a:ea typeface="Meiryo UI" pitchFamily="34" charset="-122"/>
                          <a:cs typeface="Meiryo UI" pitchFamily="34" charset="-120"/>
                        </a:rPr>
                        <a:t>顧問先経由の案内／メルマガ／セミナー</a:t>
                      </a:r>
                      <a:endParaRPr lang="en-US" sz="1100" dirty="0">
                        <a:latin typeface="Meiryo UI" charset="0"/>
                        <a:ea typeface="Meiryo UI" charset="0"/>
                        <a:cs typeface="Meiryo UI" charset="0"/>
                      </a:endParaRPr>
                    </a:p>
                  </a:txBody>
                  <a:tcPr marL="91440" marR="91440" marT="45720" marB="45720" anchor="ctr">
                    <a:lnL w="9525" cap="flat" cmpd="sng" algn="ctr">
                      <a:solidFill>
                        <a:srgbClr val="D9DBEA"/>
                      </a:solidFill>
                      <a:prstDash val="solid"/>
                      <a:round/>
                      <a:headEnd type="none" w="med" len="med"/>
                      <a:tailEnd type="none" w="med" len="med"/>
                    </a:lnL>
                    <a:lnR w="9525" cap="flat" cmpd="sng" algn="ctr">
                      <a:solidFill>
                        <a:srgbClr val="D9DBEA"/>
                      </a:solidFill>
                      <a:prstDash val="solid"/>
                      <a:round/>
                      <a:headEnd type="none" w="med" len="med"/>
                      <a:tailEnd type="none" w="med" len="med"/>
                    </a:lnR>
                    <a:lnT w="9525" cap="flat" cmpd="sng" algn="ctr">
                      <a:solidFill>
                        <a:srgbClr val="D9DBEA"/>
                      </a:solidFill>
                      <a:prstDash val="solid"/>
                      <a:round/>
                      <a:headEnd type="none" w="med" len="med"/>
                      <a:tailEnd type="none" w="med" len="med"/>
                    </a:lnT>
                    <a:lnB w="9525" cap="flat" cmpd="sng" algn="ctr">
                      <a:solidFill>
                        <a:srgbClr val="D9DBEA"/>
                      </a:solidFill>
                      <a:prstDash val="solid"/>
                      <a:round/>
                      <a:headEnd type="none" w="med" len="med"/>
                      <a:tailEnd type="none" w="med" len="med"/>
                    </a:lnB>
                    <a:solidFill>
                      <a:srgbClr val="FFFFFF"/>
                    </a:solidFill>
                  </a:tcPr>
                </a:tc>
              </a:tr>
            </a:tbl>
          </a:graphicData>
        </a:graphic>
      </p:graphicFrame>
      <p:sp>
        <p:nvSpPr>
          <p:cNvPr id="8" name="Shape 5"/>
          <p:cNvSpPr/>
          <p:nvPr/>
        </p:nvSpPr>
        <p:spPr>
          <a:xfrm>
            <a:off x="548640" y="5788152"/>
            <a:ext cx="457200" cy="457200"/>
          </a:xfrm>
          <a:prstGeom prst="ellipse">
            <a:avLst/>
          </a:prstGeom>
          <a:solidFill>
            <a:srgbClr val="A87A1C"/>
          </a:solidFill>
          <a:ln w="12700">
            <a:solidFill>
              <a:srgbClr val="A87A1C"/>
            </a:solidFill>
            <a:prstDash val="solid"/>
          </a:ln>
        </p:spPr>
      </p:sp>
      <p:pic>
        <p:nvPicPr>
          <p:cNvPr id="9" name="Image 0" descr="preencoded.png">    </p:cNvPr>
          <p:cNvPicPr>
            <a:picLocks noChangeAspect="1"/>
          </p:cNvPicPr>
          <p:nvPr/>
        </p:nvPicPr>
        <p:blipFill>
          <a:blip r:embed="rId1"/>
          <a:stretch>
            <a:fillRect/>
          </a:stretch>
        </p:blipFill>
        <p:spPr>
          <a:xfrm>
            <a:off x="667512" y="5907024"/>
            <a:ext cx="219456" cy="219456"/>
          </a:xfrm>
          <a:prstGeom prst="rect">
            <a:avLst/>
          </a:prstGeom>
        </p:spPr>
      </p:pic>
      <p:sp>
        <p:nvSpPr>
          <p:cNvPr id="10" name="Text 6"/>
          <p:cNvSpPr txBox="1"/>
          <p:nvPr/>
        </p:nvSpPr>
        <p:spPr>
          <a:xfrm>
            <a:off x="1143000" y="5715000"/>
            <a:ext cx="10500055" cy="603504"/>
          </a:xfrm>
          <a:prstGeom prst="rect">
            <a:avLst/>
          </a:prstGeom>
          <a:noFill/>
          <a:ln/>
        </p:spPr>
        <p:txBody>
          <a:bodyPr wrap="square" lIns="0" tIns="0" rIns="0" bIns="0" rtlCol="0" anchor="ctr"/>
          <a:lstStyle/>
          <a:p>
            <a:pPr indent="0" marL="0">
              <a:buNone/>
            </a:pPr>
            <a:r>
              <a:rPr lang="en-US" sz="1150" b="1" dirty="0">
                <a:solidFill>
                  <a:srgbClr val="A87A1C"/>
                </a:solidFill>
                <a:latin typeface="Meiryo UI" pitchFamily="34" charset="0"/>
                <a:ea typeface="Meiryo UI" pitchFamily="34" charset="-122"/>
                <a:cs typeface="Meiryo UI" pitchFamily="34" charset="-120"/>
              </a:rPr>
              <a:t>最大の差別化ポイント：</a:t>
            </a:r>
            <a:pPr indent="0" marL="0">
              <a:buNone/>
            </a:pPr>
            <a:r>
              <a:rPr lang="en-US" sz="1150" dirty="0">
                <a:solidFill>
                  <a:srgbClr val="2A2B38"/>
                </a:solidFill>
                <a:latin typeface="Meiryo UI" pitchFamily="34" charset="0"/>
                <a:ea typeface="Meiryo UI" pitchFamily="34" charset="-122"/>
                <a:cs typeface="Meiryo UI" pitchFamily="34" charset="-120"/>
              </a:rPr>
              <a:t>満足度の高い顧問先からの紹介という貴事務所の強みを、“紹介したくなる動画”でさらに加速できます。</a:t>
            </a:r>
            <a:endParaRPr lang="en-US" sz="1150" dirty="0"/>
          </a:p>
        </p:txBody>
      </p:sp>
    </p:spTree>
  </p:cSld>
  <p:clrMapOvr>
    <a:masterClrMapping/>
  </p:clrMapOvr>
</p:sld>
</file>

<file path=ppt/slides/slide9.xml><?xml version="1.0" encoding="utf-8"?>
<p:sld xmlns:a="http://schemas.openxmlformats.org/drawingml/2006/main" xmlns:r="http://schemas.openxmlformats.org/officeDocument/2006/relationships" xmlns:p="http://schemas.openxmlformats.org/presentationml/2006/main">
  <p:cSld name="Slide 9">
    <p:bg>
      <p:bgPr>
        <a:solidFill>
          <a:srgbClr val="FFFFFF"/>
        </a:solidFill>
      </p:bgPr>
    </p:bg>
    <p:spTree>
      <p:nvGrpSpPr>
        <p:cNvPr id="1" name=""/>
        <p:cNvGrpSpPr/>
        <p:nvPr/>
      </p:nvGrpSpPr>
      <p:grpSpPr>
        <a:xfrm>
          <a:off x="0" y="0"/>
          <a:ext cx="0" cy="0"/>
          <a:chOff x="0" y="0"/>
          <a:chExt cx="0" cy="0"/>
        </a:xfrm>
      </p:grpSpPr>
      <p:sp>
        <p:nvSpPr>
          <p:cNvPr id="2" name="Text 0"/>
          <p:cNvSpPr txBox="1"/>
          <p:nvPr/>
        </p:nvSpPr>
        <p:spPr>
          <a:xfrm>
            <a:off x="548640" y="347472"/>
            <a:ext cx="7315200" cy="274320"/>
          </a:xfrm>
          <a:prstGeom prst="rect">
            <a:avLst/>
          </a:prstGeom>
          <a:noFill/>
          <a:ln/>
        </p:spPr>
        <p:txBody>
          <a:bodyPr wrap="square" lIns="0" tIns="0" rIns="0" bIns="0" rtlCol="0" anchor="t"/>
          <a:lstStyle/>
          <a:p>
            <a:pPr indent="0" marL="0">
              <a:buNone/>
            </a:pPr>
            <a:r>
              <a:rPr lang="en-US" sz="1100" b="1" spc="200" kern="0" dirty="0">
                <a:solidFill>
                  <a:srgbClr val="A87A1C"/>
                </a:solidFill>
                <a:latin typeface="Meiryo UI" pitchFamily="34" charset="0"/>
                <a:ea typeface="Meiryo UI" pitchFamily="34" charset="-122"/>
                <a:cs typeface="Meiryo UI" pitchFamily="34" charset="-120"/>
              </a:rPr>
              <a:t>03｜PUSH STRATEGY</a:t>
            </a:r>
            <a:endParaRPr lang="en-US" sz="1100" dirty="0"/>
          </a:p>
        </p:txBody>
      </p:sp>
      <p:sp>
        <p:nvSpPr>
          <p:cNvPr id="3" name="Text 1"/>
          <p:cNvSpPr txBox="1"/>
          <p:nvPr/>
        </p:nvSpPr>
        <p:spPr>
          <a:xfrm>
            <a:off x="548640" y="621792"/>
            <a:ext cx="11094415" cy="566928"/>
          </a:xfrm>
          <a:prstGeom prst="rect">
            <a:avLst/>
          </a:prstGeom>
          <a:noFill/>
          <a:ln/>
        </p:spPr>
        <p:txBody>
          <a:bodyPr wrap="square" lIns="0" tIns="0" rIns="0" bIns="0" rtlCol="0" anchor="ctr"/>
          <a:lstStyle/>
          <a:p>
            <a:pPr indent="0" marL="0">
              <a:buNone/>
            </a:pPr>
            <a:r>
              <a:rPr lang="en-US" sz="2600" b="1" dirty="0">
                <a:solidFill>
                  <a:srgbClr val="3A3F73"/>
                </a:solidFill>
                <a:latin typeface="Meiryo UI" pitchFamily="34" charset="0"/>
                <a:ea typeface="Meiryo UI" pitchFamily="34" charset="-122"/>
                <a:cs typeface="Meiryo UI" pitchFamily="34" charset="-120"/>
              </a:rPr>
              <a:t>業務プロセスへの組み込み：6つの接点すべてに動画を置く</a:t>
            </a:r>
            <a:endParaRPr lang="en-US" sz="2600" dirty="0"/>
          </a:p>
        </p:txBody>
      </p:sp>
      <p:sp>
        <p:nvSpPr>
          <p:cNvPr id="4" name="Text 2"/>
          <p:cNvSpPr txBox="1"/>
          <p:nvPr/>
        </p:nvSpPr>
        <p:spPr>
          <a:xfrm>
            <a:off x="11094415" y="6419088"/>
            <a:ext cx="548640" cy="256032"/>
          </a:xfrm>
          <a:prstGeom prst="rect">
            <a:avLst/>
          </a:prstGeom>
          <a:noFill/>
          <a:ln/>
        </p:spPr>
        <p:txBody>
          <a:bodyPr wrap="square" lIns="0" tIns="0" rIns="0" bIns="0" rtlCol="0" anchor="t"/>
          <a:lstStyle/>
          <a:p>
            <a:pPr algn="r" indent="0" marL="0">
              <a:buNone/>
            </a:pPr>
            <a:r>
              <a:rPr lang="en-US" sz="1000" dirty="0">
                <a:solidFill>
                  <a:srgbClr val="7C7E90"/>
                </a:solidFill>
                <a:latin typeface="Meiryo UI" pitchFamily="34" charset="0"/>
                <a:ea typeface="Meiryo UI" pitchFamily="34" charset="-122"/>
                <a:cs typeface="Meiryo UI" pitchFamily="34" charset="-120"/>
              </a:rPr>
              <a:t>9</a:t>
            </a:r>
            <a:endParaRPr lang="en-US" sz="1000" dirty="0"/>
          </a:p>
        </p:txBody>
      </p:sp>
      <p:sp>
        <p:nvSpPr>
          <p:cNvPr id="5" name="Text 3"/>
          <p:cNvSpPr txBox="1"/>
          <p:nvPr/>
        </p:nvSpPr>
        <p:spPr>
          <a:xfrm>
            <a:off x="548640" y="6419088"/>
            <a:ext cx="4572000" cy="256032"/>
          </a:xfrm>
          <a:prstGeom prst="rect">
            <a:avLst/>
          </a:prstGeom>
          <a:noFill/>
          <a:ln/>
        </p:spPr>
        <p:txBody>
          <a:bodyPr wrap="square" lIns="0" tIns="0" rIns="0" bIns="0" rtlCol="0" anchor="t"/>
          <a:lstStyle/>
          <a:p>
            <a:pPr indent="0" marL="0">
              <a:buNone/>
            </a:pPr>
            <a:r>
              <a:rPr lang="en-US" sz="900" dirty="0">
                <a:solidFill>
                  <a:srgbClr val="7C7E90"/>
                </a:solidFill>
                <a:latin typeface="Meiryo UI" pitchFamily="34" charset="0"/>
                <a:ea typeface="Meiryo UI" pitchFamily="34" charset="-122"/>
                <a:cs typeface="Meiryo UI" pitchFamily="34" charset="-120"/>
              </a:rPr>
              <a:t>株式会社アイドマ・ホールディングス｜MiTok</a:t>
            </a:r>
            <a:endParaRPr lang="en-US" sz="900" dirty="0"/>
          </a:p>
        </p:txBody>
      </p:sp>
      <p:sp>
        <p:nvSpPr>
          <p:cNvPr id="6" name="Text 4"/>
          <p:cNvSpPr txBox="1"/>
          <p:nvPr/>
        </p:nvSpPr>
        <p:spPr>
          <a:xfrm>
            <a:off x="548640" y="2331720"/>
            <a:ext cx="914400" cy="274320"/>
          </a:xfrm>
          <a:prstGeom prst="rect">
            <a:avLst/>
          </a:prstGeom>
          <a:noFill/>
          <a:ln/>
        </p:spPr>
        <p:txBody>
          <a:bodyPr wrap="square" lIns="0" tIns="0" rIns="0" bIns="0" rtlCol="0" anchor="t"/>
          <a:lstStyle/>
          <a:p>
            <a:pPr indent="0" marL="0">
              <a:buNone/>
            </a:pPr>
            <a:r>
              <a:rPr lang="en-US" sz="1050" b="1" dirty="0">
                <a:solidFill>
                  <a:srgbClr val="7C7E90"/>
                </a:solidFill>
                <a:latin typeface="Meiryo UI" pitchFamily="34" charset="0"/>
                <a:ea typeface="Meiryo UI" pitchFamily="34" charset="-122"/>
                <a:cs typeface="Meiryo UI" pitchFamily="34" charset="-120"/>
              </a:rPr>
              <a:t>従来</a:t>
            </a:r>
            <a:endParaRPr lang="en-US" sz="1050" dirty="0"/>
          </a:p>
        </p:txBody>
      </p:sp>
      <p:sp>
        <p:nvSpPr>
          <p:cNvPr id="7" name="Shape 5"/>
          <p:cNvSpPr/>
          <p:nvPr/>
        </p:nvSpPr>
        <p:spPr>
          <a:xfrm>
            <a:off x="548640" y="1463040"/>
            <a:ext cx="1727149" cy="731520"/>
          </a:xfrm>
          <a:prstGeom prst="roundRect">
            <a:avLst>
              <a:gd name="adj" fmla="val 15000"/>
            </a:avLst>
          </a:prstGeom>
          <a:solidFill>
            <a:srgbClr val="3A3F73"/>
          </a:solidFill>
          <a:ln w="12700">
            <a:solidFill>
              <a:srgbClr val="3A3F73"/>
            </a:solidFill>
            <a:prstDash val="solid"/>
          </a:ln>
        </p:spPr>
      </p:sp>
      <p:sp>
        <p:nvSpPr>
          <p:cNvPr id="8" name="Text 6"/>
          <p:cNvSpPr txBox="1"/>
          <p:nvPr/>
        </p:nvSpPr>
        <p:spPr>
          <a:xfrm>
            <a:off x="548640" y="1508760"/>
            <a:ext cx="1727149" cy="274320"/>
          </a:xfrm>
          <a:prstGeom prst="rect">
            <a:avLst/>
          </a:prstGeom>
          <a:noFill/>
          <a:ln/>
        </p:spPr>
        <p:txBody>
          <a:bodyPr wrap="square" lIns="0" tIns="0" rIns="0" bIns="0" rtlCol="0" anchor="t"/>
          <a:lstStyle/>
          <a:p>
            <a:pPr algn="ctr" indent="0" marL="0">
              <a:buNone/>
            </a:pPr>
            <a:r>
              <a:rPr lang="en-US" sz="1000" b="1" dirty="0">
                <a:solidFill>
                  <a:srgbClr val="E8CD85"/>
                </a:solidFill>
                <a:latin typeface="Meiryo UI" pitchFamily="34" charset="0"/>
                <a:ea typeface="Meiryo UI" pitchFamily="34" charset="-122"/>
                <a:cs typeface="Meiryo UI" pitchFamily="34" charset="-120"/>
              </a:rPr>
              <a:t>STEP 1</a:t>
            </a:r>
            <a:endParaRPr lang="en-US" sz="1000" dirty="0"/>
          </a:p>
        </p:txBody>
      </p:sp>
      <p:sp>
        <p:nvSpPr>
          <p:cNvPr id="9" name="Text 7"/>
          <p:cNvSpPr txBox="1"/>
          <p:nvPr/>
        </p:nvSpPr>
        <p:spPr>
          <a:xfrm>
            <a:off x="548640" y="1764792"/>
            <a:ext cx="1727149" cy="384048"/>
          </a:xfrm>
          <a:prstGeom prst="rect">
            <a:avLst/>
          </a:prstGeom>
          <a:noFill/>
          <a:ln/>
        </p:spPr>
        <p:txBody>
          <a:bodyPr wrap="square" lIns="0" tIns="0" rIns="0" bIns="0" rtlCol="0" anchor="ctr"/>
          <a:lstStyle/>
          <a:p>
            <a:pPr algn="ctr" indent="0" marL="0">
              <a:buNone/>
            </a:pPr>
            <a:r>
              <a:rPr lang="en-US" sz="1350" b="1" dirty="0">
                <a:solidFill>
                  <a:srgbClr val="FFFFFF"/>
                </a:solidFill>
                <a:latin typeface="Meiryo UI" pitchFamily="34" charset="0"/>
                <a:ea typeface="Meiryo UI" pitchFamily="34" charset="-122"/>
                <a:cs typeface="Meiryo UI" pitchFamily="34" charset="-120"/>
              </a:rPr>
              <a:t>紹介の発生</a:t>
            </a:r>
            <a:endParaRPr lang="en-US" sz="1350" dirty="0"/>
          </a:p>
        </p:txBody>
      </p:sp>
      <p:sp>
        <p:nvSpPr>
          <p:cNvPr id="10" name="Shape 8"/>
          <p:cNvSpPr/>
          <p:nvPr/>
        </p:nvSpPr>
        <p:spPr>
          <a:xfrm>
            <a:off x="548640" y="2606040"/>
            <a:ext cx="1727149" cy="731520"/>
          </a:xfrm>
          <a:prstGeom prst="roundRect">
            <a:avLst>
              <a:gd name="adj" fmla="val 15000"/>
            </a:avLst>
          </a:prstGeom>
          <a:solidFill>
            <a:srgbClr val="EFEFF3"/>
          </a:solidFill>
          <a:ln w="12700">
            <a:solidFill>
              <a:srgbClr val="EFEFF3"/>
            </a:solidFill>
            <a:prstDash val="solid"/>
          </a:ln>
        </p:spPr>
      </p:sp>
      <p:sp>
        <p:nvSpPr>
          <p:cNvPr id="11" name="Text 9"/>
          <p:cNvSpPr txBox="1"/>
          <p:nvPr/>
        </p:nvSpPr>
        <p:spPr>
          <a:xfrm>
            <a:off x="658368" y="2606040"/>
            <a:ext cx="1507693" cy="731520"/>
          </a:xfrm>
          <a:prstGeom prst="rect">
            <a:avLst/>
          </a:prstGeom>
          <a:noFill/>
          <a:ln/>
        </p:spPr>
        <p:txBody>
          <a:bodyPr wrap="square" lIns="0" tIns="0" rIns="0" bIns="0" rtlCol="0" anchor="ctr"/>
          <a:lstStyle/>
          <a:p>
            <a:pPr algn="ctr" indent="0" marL="0">
              <a:buNone/>
            </a:pPr>
            <a:r>
              <a:rPr lang="en-US" sz="1150" dirty="0">
                <a:solidFill>
                  <a:srgbClr val="7C7E90"/>
                </a:solidFill>
                <a:latin typeface="Meiryo UI" pitchFamily="34" charset="0"/>
                <a:ea typeface="Meiryo UI" pitchFamily="34" charset="-122"/>
                <a:cs typeface="Meiryo UI" pitchFamily="34" charset="-120"/>
              </a:rPr>
              <a:t>顧問先が口頭で紹介</a:t>
            </a:r>
            <a:endParaRPr lang="en-US" sz="1150" dirty="0"/>
          </a:p>
        </p:txBody>
      </p:sp>
      <p:pic>
        <p:nvPicPr>
          <p:cNvPr id="12" name="Image 0" descr="preencoded.png">    </p:cNvPr>
          <p:cNvPicPr>
            <a:picLocks noChangeAspect="1"/>
          </p:cNvPicPr>
          <p:nvPr/>
        </p:nvPicPr>
        <p:blipFill>
          <a:blip r:embed="rId1"/>
          <a:stretch>
            <a:fillRect/>
          </a:stretch>
        </p:blipFill>
        <p:spPr>
          <a:xfrm>
            <a:off x="1864309" y="3456432"/>
            <a:ext cx="256032" cy="256032"/>
          </a:xfrm>
          <a:prstGeom prst="rect">
            <a:avLst/>
          </a:prstGeom>
        </p:spPr>
      </p:pic>
      <p:sp>
        <p:nvSpPr>
          <p:cNvPr id="13" name="Shape 10"/>
          <p:cNvSpPr/>
          <p:nvPr/>
        </p:nvSpPr>
        <p:spPr>
          <a:xfrm>
            <a:off x="548640" y="3794760"/>
            <a:ext cx="1727149" cy="1417320"/>
          </a:xfrm>
          <a:prstGeom prst="roundRect">
            <a:avLst>
              <a:gd name="adj" fmla="val 7742"/>
            </a:avLst>
          </a:prstGeom>
          <a:solidFill>
            <a:srgbClr val="EEEFF7"/>
          </a:solidFill>
          <a:ln w="12700">
            <a:solidFill>
              <a:srgbClr val="EEEFF7"/>
            </a:solidFill>
            <a:prstDash val="solid"/>
          </a:ln>
        </p:spPr>
      </p:sp>
      <p:sp>
        <p:nvSpPr>
          <p:cNvPr id="14" name="Text 11"/>
          <p:cNvSpPr txBox="1"/>
          <p:nvPr/>
        </p:nvSpPr>
        <p:spPr>
          <a:xfrm>
            <a:off x="676656" y="3858768"/>
            <a:ext cx="1471117" cy="1298448"/>
          </a:xfrm>
          <a:prstGeom prst="rect">
            <a:avLst/>
          </a:prstGeom>
          <a:noFill/>
          <a:ln/>
        </p:spPr>
        <p:txBody>
          <a:bodyPr wrap="square" lIns="0" tIns="0" rIns="0" bIns="0" rtlCol="0" anchor="ctr"/>
          <a:lstStyle/>
          <a:p>
            <a:pPr indent="0" marL="0">
              <a:buNone/>
            </a:pPr>
            <a:r>
              <a:rPr lang="en-US" sz="1200" b="1" dirty="0">
                <a:solidFill>
                  <a:srgbClr val="262A52"/>
                </a:solidFill>
                <a:latin typeface="Meiryo UI" pitchFamily="34" charset="0"/>
                <a:ea typeface="Meiryo UI" pitchFamily="34" charset="-122"/>
                <a:cs typeface="Meiryo UI" pitchFamily="34" charset="-120"/>
              </a:rPr>
              <a:t>顧問先がそのまま転送できる事務所紹介動画</a:t>
            </a:r>
            <a:endParaRPr lang="en-US" sz="1200" dirty="0"/>
          </a:p>
        </p:txBody>
      </p:sp>
      <p:sp>
        <p:nvSpPr>
          <p:cNvPr id="15" name="Shape 12"/>
          <p:cNvSpPr/>
          <p:nvPr/>
        </p:nvSpPr>
        <p:spPr>
          <a:xfrm>
            <a:off x="548640" y="5349240"/>
            <a:ext cx="1727149" cy="566928"/>
          </a:xfrm>
          <a:prstGeom prst="roundRect">
            <a:avLst>
              <a:gd name="adj" fmla="val 19355"/>
            </a:avLst>
          </a:prstGeom>
          <a:solidFill>
            <a:srgbClr val="FBF3E1"/>
          </a:solidFill>
          <a:ln w="12700">
            <a:solidFill>
              <a:srgbClr val="FBF3E1"/>
            </a:solidFill>
            <a:prstDash val="solid"/>
          </a:ln>
        </p:spPr>
      </p:sp>
      <p:sp>
        <p:nvSpPr>
          <p:cNvPr id="16" name="Text 13"/>
          <p:cNvSpPr txBox="1"/>
          <p:nvPr/>
        </p:nvSpPr>
        <p:spPr>
          <a:xfrm>
            <a:off x="621792" y="5349240"/>
            <a:ext cx="1580845" cy="566928"/>
          </a:xfrm>
          <a:prstGeom prst="rect">
            <a:avLst/>
          </a:prstGeom>
          <a:noFill/>
          <a:ln/>
        </p:spPr>
        <p:txBody>
          <a:bodyPr wrap="square" lIns="0" tIns="0" rIns="0" bIns="0" rtlCol="0" anchor="ctr"/>
          <a:lstStyle/>
          <a:p>
            <a:pPr algn="ctr" indent="0" marL="0">
              <a:buNone/>
            </a:pPr>
            <a:r>
              <a:rPr lang="en-US" sz="1200" b="1" dirty="0">
                <a:solidFill>
                  <a:srgbClr val="A87A1C"/>
                </a:solidFill>
                <a:latin typeface="Meiryo UI" pitchFamily="34" charset="0"/>
                <a:ea typeface="Meiryo UI" pitchFamily="34" charset="-122"/>
                <a:cs typeface="Meiryo UI" pitchFamily="34" charset="-120"/>
              </a:rPr>
              <a:t>紹介件数UP</a:t>
            </a:r>
            <a:endParaRPr lang="en-US" sz="1200" dirty="0"/>
          </a:p>
        </p:txBody>
      </p:sp>
      <p:sp>
        <p:nvSpPr>
          <p:cNvPr id="17" name="Shape 14"/>
          <p:cNvSpPr/>
          <p:nvPr/>
        </p:nvSpPr>
        <p:spPr>
          <a:xfrm>
            <a:off x="2422093" y="1463040"/>
            <a:ext cx="1727149" cy="731520"/>
          </a:xfrm>
          <a:prstGeom prst="roundRect">
            <a:avLst>
              <a:gd name="adj" fmla="val 15000"/>
            </a:avLst>
          </a:prstGeom>
          <a:solidFill>
            <a:srgbClr val="3A3F73"/>
          </a:solidFill>
          <a:ln w="12700">
            <a:solidFill>
              <a:srgbClr val="3A3F73"/>
            </a:solidFill>
            <a:prstDash val="solid"/>
          </a:ln>
        </p:spPr>
      </p:sp>
      <p:sp>
        <p:nvSpPr>
          <p:cNvPr id="18" name="Text 15"/>
          <p:cNvSpPr txBox="1"/>
          <p:nvPr/>
        </p:nvSpPr>
        <p:spPr>
          <a:xfrm>
            <a:off x="2422093" y="1508760"/>
            <a:ext cx="1727149" cy="274320"/>
          </a:xfrm>
          <a:prstGeom prst="rect">
            <a:avLst/>
          </a:prstGeom>
          <a:noFill/>
          <a:ln/>
        </p:spPr>
        <p:txBody>
          <a:bodyPr wrap="square" lIns="0" tIns="0" rIns="0" bIns="0" rtlCol="0" anchor="t"/>
          <a:lstStyle/>
          <a:p>
            <a:pPr algn="ctr" indent="0" marL="0">
              <a:buNone/>
            </a:pPr>
            <a:r>
              <a:rPr lang="en-US" sz="1000" b="1" dirty="0">
                <a:solidFill>
                  <a:srgbClr val="E8CD85"/>
                </a:solidFill>
                <a:latin typeface="Meiryo UI" pitchFamily="34" charset="0"/>
                <a:ea typeface="Meiryo UI" pitchFamily="34" charset="-122"/>
                <a:cs typeface="Meiryo UI" pitchFamily="34" charset="-120"/>
              </a:rPr>
              <a:t>STEP 2</a:t>
            </a:r>
            <a:endParaRPr lang="en-US" sz="1000" dirty="0"/>
          </a:p>
        </p:txBody>
      </p:sp>
      <p:sp>
        <p:nvSpPr>
          <p:cNvPr id="19" name="Text 16"/>
          <p:cNvSpPr txBox="1"/>
          <p:nvPr/>
        </p:nvSpPr>
        <p:spPr>
          <a:xfrm>
            <a:off x="2422093" y="1764792"/>
            <a:ext cx="1727149" cy="384048"/>
          </a:xfrm>
          <a:prstGeom prst="rect">
            <a:avLst/>
          </a:prstGeom>
          <a:noFill/>
          <a:ln/>
        </p:spPr>
        <p:txBody>
          <a:bodyPr wrap="square" lIns="0" tIns="0" rIns="0" bIns="0" rtlCol="0" anchor="ctr"/>
          <a:lstStyle/>
          <a:p>
            <a:pPr algn="ctr" indent="0" marL="0">
              <a:buNone/>
            </a:pPr>
            <a:r>
              <a:rPr lang="en-US" sz="1350" b="1" dirty="0">
                <a:solidFill>
                  <a:srgbClr val="FFFFFF"/>
                </a:solidFill>
                <a:latin typeface="Meiryo UI" pitchFamily="34" charset="0"/>
                <a:ea typeface="Meiryo UI" pitchFamily="34" charset="-122"/>
                <a:cs typeface="Meiryo UI" pitchFamily="34" charset="-120"/>
              </a:rPr>
              <a:t>問い合わせ直後</a:t>
            </a:r>
            <a:endParaRPr lang="en-US" sz="1350" dirty="0"/>
          </a:p>
        </p:txBody>
      </p:sp>
      <p:sp>
        <p:nvSpPr>
          <p:cNvPr id="20" name="Shape 17"/>
          <p:cNvSpPr/>
          <p:nvPr/>
        </p:nvSpPr>
        <p:spPr>
          <a:xfrm>
            <a:off x="2422093" y="2606040"/>
            <a:ext cx="1727149" cy="731520"/>
          </a:xfrm>
          <a:prstGeom prst="roundRect">
            <a:avLst>
              <a:gd name="adj" fmla="val 15000"/>
            </a:avLst>
          </a:prstGeom>
          <a:solidFill>
            <a:srgbClr val="EFEFF3"/>
          </a:solidFill>
          <a:ln w="12700">
            <a:solidFill>
              <a:srgbClr val="EFEFF3"/>
            </a:solidFill>
            <a:prstDash val="solid"/>
          </a:ln>
        </p:spPr>
      </p:sp>
      <p:sp>
        <p:nvSpPr>
          <p:cNvPr id="21" name="Text 18"/>
          <p:cNvSpPr txBox="1"/>
          <p:nvPr/>
        </p:nvSpPr>
        <p:spPr>
          <a:xfrm>
            <a:off x="2531821" y="2606040"/>
            <a:ext cx="1507693" cy="731520"/>
          </a:xfrm>
          <a:prstGeom prst="rect">
            <a:avLst/>
          </a:prstGeom>
          <a:noFill/>
          <a:ln/>
        </p:spPr>
        <p:txBody>
          <a:bodyPr wrap="square" lIns="0" tIns="0" rIns="0" bIns="0" rtlCol="0" anchor="ctr"/>
          <a:lstStyle/>
          <a:p>
            <a:pPr algn="ctr" indent="0" marL="0">
              <a:buNone/>
            </a:pPr>
            <a:r>
              <a:rPr lang="en-US" sz="1150" dirty="0">
                <a:solidFill>
                  <a:srgbClr val="7C7E90"/>
                </a:solidFill>
                <a:latin typeface="Meiryo UI" pitchFamily="34" charset="0"/>
                <a:ea typeface="Meiryo UI" pitchFamily="34" charset="-122"/>
                <a:cs typeface="Meiryo UI" pitchFamily="34" charset="-120"/>
              </a:rPr>
              <a:t>電話・メールで都度説明</a:t>
            </a:r>
            <a:endParaRPr lang="en-US" sz="1150" dirty="0"/>
          </a:p>
        </p:txBody>
      </p:sp>
      <p:pic>
        <p:nvPicPr>
          <p:cNvPr id="22" name="Image 1" descr="preencoded.png">    </p:cNvPr>
          <p:cNvPicPr>
            <a:picLocks noChangeAspect="1"/>
          </p:cNvPicPr>
          <p:nvPr/>
        </p:nvPicPr>
        <p:blipFill>
          <a:blip r:embed="rId2"/>
          <a:stretch>
            <a:fillRect/>
          </a:stretch>
        </p:blipFill>
        <p:spPr>
          <a:xfrm>
            <a:off x="3737762" y="3456432"/>
            <a:ext cx="256032" cy="256032"/>
          </a:xfrm>
          <a:prstGeom prst="rect">
            <a:avLst/>
          </a:prstGeom>
        </p:spPr>
      </p:pic>
      <p:sp>
        <p:nvSpPr>
          <p:cNvPr id="23" name="Shape 19"/>
          <p:cNvSpPr/>
          <p:nvPr/>
        </p:nvSpPr>
        <p:spPr>
          <a:xfrm>
            <a:off x="2422093" y="3794760"/>
            <a:ext cx="1727149" cy="1417320"/>
          </a:xfrm>
          <a:prstGeom prst="roundRect">
            <a:avLst>
              <a:gd name="adj" fmla="val 7742"/>
            </a:avLst>
          </a:prstGeom>
          <a:solidFill>
            <a:srgbClr val="EEEFF7"/>
          </a:solidFill>
          <a:ln w="12700">
            <a:solidFill>
              <a:srgbClr val="EEEFF7"/>
            </a:solidFill>
            <a:prstDash val="solid"/>
          </a:ln>
        </p:spPr>
      </p:sp>
      <p:sp>
        <p:nvSpPr>
          <p:cNvPr id="24" name="Text 20"/>
          <p:cNvSpPr txBox="1"/>
          <p:nvPr/>
        </p:nvSpPr>
        <p:spPr>
          <a:xfrm>
            <a:off x="2550109" y="3858768"/>
            <a:ext cx="1471117" cy="1298448"/>
          </a:xfrm>
          <a:prstGeom prst="rect">
            <a:avLst/>
          </a:prstGeom>
          <a:noFill/>
          <a:ln/>
        </p:spPr>
        <p:txBody>
          <a:bodyPr wrap="square" lIns="0" tIns="0" rIns="0" bIns="0" rtlCol="0" anchor="ctr"/>
          <a:lstStyle/>
          <a:p>
            <a:pPr indent="0" marL="0">
              <a:buNone/>
            </a:pPr>
            <a:r>
              <a:rPr lang="en-US" sz="1200" b="1" dirty="0">
                <a:solidFill>
                  <a:srgbClr val="262A52"/>
                </a:solidFill>
                <a:latin typeface="Meiryo UI" pitchFamily="34" charset="0"/>
                <a:ea typeface="Meiryo UI" pitchFamily="34" charset="-122"/>
                <a:cs typeface="Meiryo UI" pitchFamily="34" charset="-120"/>
              </a:rPr>
              <a:t>自動返信で「初回相談の流れ」動画を送る</a:t>
            </a:r>
            <a:endParaRPr lang="en-US" sz="1200" dirty="0"/>
          </a:p>
        </p:txBody>
      </p:sp>
      <p:sp>
        <p:nvSpPr>
          <p:cNvPr id="25" name="Shape 21"/>
          <p:cNvSpPr/>
          <p:nvPr/>
        </p:nvSpPr>
        <p:spPr>
          <a:xfrm>
            <a:off x="2422093" y="5349240"/>
            <a:ext cx="1727149" cy="566928"/>
          </a:xfrm>
          <a:prstGeom prst="roundRect">
            <a:avLst>
              <a:gd name="adj" fmla="val 19355"/>
            </a:avLst>
          </a:prstGeom>
          <a:solidFill>
            <a:srgbClr val="FBF3E1"/>
          </a:solidFill>
          <a:ln w="12700">
            <a:solidFill>
              <a:srgbClr val="FBF3E1"/>
            </a:solidFill>
            <a:prstDash val="solid"/>
          </a:ln>
        </p:spPr>
      </p:sp>
      <p:sp>
        <p:nvSpPr>
          <p:cNvPr id="26" name="Text 22"/>
          <p:cNvSpPr txBox="1"/>
          <p:nvPr/>
        </p:nvSpPr>
        <p:spPr>
          <a:xfrm>
            <a:off x="2495245" y="5349240"/>
            <a:ext cx="1580845" cy="566928"/>
          </a:xfrm>
          <a:prstGeom prst="rect">
            <a:avLst/>
          </a:prstGeom>
          <a:noFill/>
          <a:ln/>
        </p:spPr>
        <p:txBody>
          <a:bodyPr wrap="square" lIns="0" tIns="0" rIns="0" bIns="0" rtlCol="0" anchor="ctr"/>
          <a:lstStyle/>
          <a:p>
            <a:pPr algn="ctr" indent="0" marL="0">
              <a:buNone/>
            </a:pPr>
            <a:r>
              <a:rPr lang="en-US" sz="1200" b="1" dirty="0">
                <a:solidFill>
                  <a:srgbClr val="A87A1C"/>
                </a:solidFill>
                <a:latin typeface="Meiryo UI" pitchFamily="34" charset="0"/>
                <a:ea typeface="Meiryo UI" pitchFamily="34" charset="-122"/>
                <a:cs typeface="Meiryo UI" pitchFamily="34" charset="-120"/>
              </a:rPr>
              <a:t>面談化率UP</a:t>
            </a:r>
            <a:endParaRPr lang="en-US" sz="1200" dirty="0"/>
          </a:p>
        </p:txBody>
      </p:sp>
      <p:sp>
        <p:nvSpPr>
          <p:cNvPr id="27" name="Shape 23"/>
          <p:cNvSpPr/>
          <p:nvPr/>
        </p:nvSpPr>
        <p:spPr>
          <a:xfrm>
            <a:off x="4295546" y="1463040"/>
            <a:ext cx="1727149" cy="731520"/>
          </a:xfrm>
          <a:prstGeom prst="roundRect">
            <a:avLst>
              <a:gd name="adj" fmla="val 15000"/>
            </a:avLst>
          </a:prstGeom>
          <a:solidFill>
            <a:srgbClr val="3A3F73"/>
          </a:solidFill>
          <a:ln w="12700">
            <a:solidFill>
              <a:srgbClr val="3A3F73"/>
            </a:solidFill>
            <a:prstDash val="solid"/>
          </a:ln>
        </p:spPr>
      </p:sp>
      <p:sp>
        <p:nvSpPr>
          <p:cNvPr id="28" name="Text 24"/>
          <p:cNvSpPr txBox="1"/>
          <p:nvPr/>
        </p:nvSpPr>
        <p:spPr>
          <a:xfrm>
            <a:off x="4295546" y="1508760"/>
            <a:ext cx="1727149" cy="274320"/>
          </a:xfrm>
          <a:prstGeom prst="rect">
            <a:avLst/>
          </a:prstGeom>
          <a:noFill/>
          <a:ln/>
        </p:spPr>
        <p:txBody>
          <a:bodyPr wrap="square" lIns="0" tIns="0" rIns="0" bIns="0" rtlCol="0" anchor="t"/>
          <a:lstStyle/>
          <a:p>
            <a:pPr algn="ctr" indent="0" marL="0">
              <a:buNone/>
            </a:pPr>
            <a:r>
              <a:rPr lang="en-US" sz="1000" b="1" dirty="0">
                <a:solidFill>
                  <a:srgbClr val="E8CD85"/>
                </a:solidFill>
                <a:latin typeface="Meiryo UI" pitchFamily="34" charset="0"/>
                <a:ea typeface="Meiryo UI" pitchFamily="34" charset="-122"/>
                <a:cs typeface="Meiryo UI" pitchFamily="34" charset="-120"/>
              </a:rPr>
              <a:t>STEP 3</a:t>
            </a:r>
            <a:endParaRPr lang="en-US" sz="1000" dirty="0"/>
          </a:p>
        </p:txBody>
      </p:sp>
      <p:sp>
        <p:nvSpPr>
          <p:cNvPr id="29" name="Text 25"/>
          <p:cNvSpPr txBox="1"/>
          <p:nvPr/>
        </p:nvSpPr>
        <p:spPr>
          <a:xfrm>
            <a:off x="4295546" y="1764792"/>
            <a:ext cx="1727149" cy="384048"/>
          </a:xfrm>
          <a:prstGeom prst="rect">
            <a:avLst/>
          </a:prstGeom>
          <a:noFill/>
          <a:ln/>
        </p:spPr>
        <p:txBody>
          <a:bodyPr wrap="square" lIns="0" tIns="0" rIns="0" bIns="0" rtlCol="0" anchor="ctr"/>
          <a:lstStyle/>
          <a:p>
            <a:pPr algn="ctr" indent="0" marL="0">
              <a:buNone/>
            </a:pPr>
            <a:r>
              <a:rPr lang="en-US" sz="1350" b="1" dirty="0">
                <a:solidFill>
                  <a:srgbClr val="FFFFFF"/>
                </a:solidFill>
                <a:latin typeface="Meiryo UI" pitchFamily="34" charset="0"/>
                <a:ea typeface="Meiryo UI" pitchFamily="34" charset="-122"/>
                <a:cs typeface="Meiryo UI" pitchFamily="34" charset="-120"/>
              </a:rPr>
              <a:t>初回面談の前</a:t>
            </a:r>
            <a:endParaRPr lang="en-US" sz="1350" dirty="0"/>
          </a:p>
        </p:txBody>
      </p:sp>
      <p:sp>
        <p:nvSpPr>
          <p:cNvPr id="30" name="Shape 26"/>
          <p:cNvSpPr/>
          <p:nvPr/>
        </p:nvSpPr>
        <p:spPr>
          <a:xfrm>
            <a:off x="4295546" y="2606040"/>
            <a:ext cx="1727149" cy="731520"/>
          </a:xfrm>
          <a:prstGeom prst="roundRect">
            <a:avLst>
              <a:gd name="adj" fmla="val 15000"/>
            </a:avLst>
          </a:prstGeom>
          <a:solidFill>
            <a:srgbClr val="EFEFF3"/>
          </a:solidFill>
          <a:ln w="12700">
            <a:solidFill>
              <a:srgbClr val="EFEFF3"/>
            </a:solidFill>
            <a:prstDash val="solid"/>
          </a:ln>
        </p:spPr>
      </p:sp>
      <p:sp>
        <p:nvSpPr>
          <p:cNvPr id="31" name="Text 27"/>
          <p:cNvSpPr txBox="1"/>
          <p:nvPr/>
        </p:nvSpPr>
        <p:spPr>
          <a:xfrm>
            <a:off x="4405274" y="2606040"/>
            <a:ext cx="1507693" cy="731520"/>
          </a:xfrm>
          <a:prstGeom prst="rect">
            <a:avLst/>
          </a:prstGeom>
          <a:noFill/>
          <a:ln/>
        </p:spPr>
        <p:txBody>
          <a:bodyPr wrap="square" lIns="0" tIns="0" rIns="0" bIns="0" rtlCol="0" anchor="ctr"/>
          <a:lstStyle/>
          <a:p>
            <a:pPr algn="ctr" indent="0" marL="0">
              <a:buNone/>
            </a:pPr>
            <a:r>
              <a:rPr lang="en-US" sz="1150" dirty="0">
                <a:solidFill>
                  <a:srgbClr val="7C7E90"/>
                </a:solidFill>
                <a:latin typeface="Meiryo UI" pitchFamily="34" charset="0"/>
                <a:ea typeface="Meiryo UI" pitchFamily="34" charset="-122"/>
                <a:cs typeface="Meiryo UI" pitchFamily="34" charset="-120"/>
              </a:rPr>
              <a:t>当日に一から説明</a:t>
            </a:r>
            <a:endParaRPr lang="en-US" sz="1150" dirty="0"/>
          </a:p>
        </p:txBody>
      </p:sp>
      <p:pic>
        <p:nvPicPr>
          <p:cNvPr id="32" name="Image 2" descr="preencoded.png">    </p:cNvPr>
          <p:cNvPicPr>
            <a:picLocks noChangeAspect="1"/>
          </p:cNvPicPr>
          <p:nvPr/>
        </p:nvPicPr>
        <p:blipFill>
          <a:blip r:embed="rId3"/>
          <a:stretch>
            <a:fillRect/>
          </a:stretch>
        </p:blipFill>
        <p:spPr>
          <a:xfrm>
            <a:off x="5611216" y="3456432"/>
            <a:ext cx="256032" cy="256032"/>
          </a:xfrm>
          <a:prstGeom prst="rect">
            <a:avLst/>
          </a:prstGeom>
        </p:spPr>
      </p:pic>
      <p:sp>
        <p:nvSpPr>
          <p:cNvPr id="33" name="Shape 28"/>
          <p:cNvSpPr/>
          <p:nvPr/>
        </p:nvSpPr>
        <p:spPr>
          <a:xfrm>
            <a:off x="4295546" y="3794760"/>
            <a:ext cx="1727149" cy="1417320"/>
          </a:xfrm>
          <a:prstGeom prst="roundRect">
            <a:avLst>
              <a:gd name="adj" fmla="val 7742"/>
            </a:avLst>
          </a:prstGeom>
          <a:solidFill>
            <a:srgbClr val="EEEFF7"/>
          </a:solidFill>
          <a:ln w="12700">
            <a:solidFill>
              <a:srgbClr val="EEEFF7"/>
            </a:solidFill>
            <a:prstDash val="solid"/>
          </a:ln>
        </p:spPr>
      </p:sp>
      <p:sp>
        <p:nvSpPr>
          <p:cNvPr id="34" name="Text 29"/>
          <p:cNvSpPr txBox="1"/>
          <p:nvPr/>
        </p:nvSpPr>
        <p:spPr>
          <a:xfrm>
            <a:off x="4423562" y="3858768"/>
            <a:ext cx="1471117" cy="1298448"/>
          </a:xfrm>
          <a:prstGeom prst="rect">
            <a:avLst/>
          </a:prstGeom>
          <a:noFill/>
          <a:ln/>
        </p:spPr>
        <p:txBody>
          <a:bodyPr wrap="square" lIns="0" tIns="0" rIns="0" bIns="0" rtlCol="0" anchor="ctr"/>
          <a:lstStyle/>
          <a:p>
            <a:pPr indent="0" marL="0">
              <a:buNone/>
            </a:pPr>
            <a:r>
              <a:rPr lang="en-US" sz="1200" b="1" dirty="0">
                <a:solidFill>
                  <a:srgbClr val="262A52"/>
                </a:solidFill>
                <a:latin typeface="Meiryo UI" pitchFamily="34" charset="0"/>
                <a:ea typeface="Meiryo UI" pitchFamily="34" charset="-122"/>
                <a:cs typeface="Meiryo UI" pitchFamily="34" charset="-120"/>
              </a:rPr>
              <a:t>事務所の考え方と担当者を事前に紹介</a:t>
            </a:r>
            <a:endParaRPr lang="en-US" sz="1200" dirty="0"/>
          </a:p>
        </p:txBody>
      </p:sp>
      <p:sp>
        <p:nvSpPr>
          <p:cNvPr id="35" name="Shape 30"/>
          <p:cNvSpPr/>
          <p:nvPr/>
        </p:nvSpPr>
        <p:spPr>
          <a:xfrm>
            <a:off x="4295546" y="5349240"/>
            <a:ext cx="1727149" cy="566928"/>
          </a:xfrm>
          <a:prstGeom prst="roundRect">
            <a:avLst>
              <a:gd name="adj" fmla="val 19355"/>
            </a:avLst>
          </a:prstGeom>
          <a:solidFill>
            <a:srgbClr val="FBF3E1"/>
          </a:solidFill>
          <a:ln w="12700">
            <a:solidFill>
              <a:srgbClr val="FBF3E1"/>
            </a:solidFill>
            <a:prstDash val="solid"/>
          </a:ln>
        </p:spPr>
      </p:sp>
      <p:sp>
        <p:nvSpPr>
          <p:cNvPr id="36" name="Text 31"/>
          <p:cNvSpPr txBox="1"/>
          <p:nvPr/>
        </p:nvSpPr>
        <p:spPr>
          <a:xfrm>
            <a:off x="4368698" y="5349240"/>
            <a:ext cx="1580845" cy="566928"/>
          </a:xfrm>
          <a:prstGeom prst="rect">
            <a:avLst/>
          </a:prstGeom>
          <a:noFill/>
          <a:ln/>
        </p:spPr>
        <p:txBody>
          <a:bodyPr wrap="square" lIns="0" tIns="0" rIns="0" bIns="0" rtlCol="0" anchor="ctr"/>
          <a:lstStyle/>
          <a:p>
            <a:pPr algn="ctr" indent="0" marL="0">
              <a:buNone/>
            </a:pPr>
            <a:r>
              <a:rPr lang="en-US" sz="1200" b="1" dirty="0">
                <a:solidFill>
                  <a:srgbClr val="A87A1C"/>
                </a:solidFill>
                <a:latin typeface="Meiryo UI" pitchFamily="34" charset="0"/>
                <a:ea typeface="Meiryo UI" pitchFamily="34" charset="-122"/>
                <a:cs typeface="Meiryo UI" pitchFamily="34" charset="-120"/>
              </a:rPr>
              <a:t>面談の質UP</a:t>
            </a:r>
            <a:endParaRPr lang="en-US" sz="1200" dirty="0"/>
          </a:p>
        </p:txBody>
      </p:sp>
      <p:sp>
        <p:nvSpPr>
          <p:cNvPr id="37" name="Shape 32"/>
          <p:cNvSpPr/>
          <p:nvPr/>
        </p:nvSpPr>
        <p:spPr>
          <a:xfrm>
            <a:off x="6169000" y="1463040"/>
            <a:ext cx="1727149" cy="731520"/>
          </a:xfrm>
          <a:prstGeom prst="roundRect">
            <a:avLst>
              <a:gd name="adj" fmla="val 15000"/>
            </a:avLst>
          </a:prstGeom>
          <a:solidFill>
            <a:srgbClr val="3A3F73"/>
          </a:solidFill>
          <a:ln w="12700">
            <a:solidFill>
              <a:srgbClr val="3A3F73"/>
            </a:solidFill>
            <a:prstDash val="solid"/>
          </a:ln>
        </p:spPr>
      </p:sp>
      <p:sp>
        <p:nvSpPr>
          <p:cNvPr id="38" name="Text 33"/>
          <p:cNvSpPr txBox="1"/>
          <p:nvPr/>
        </p:nvSpPr>
        <p:spPr>
          <a:xfrm>
            <a:off x="6169000" y="1508760"/>
            <a:ext cx="1727149" cy="274320"/>
          </a:xfrm>
          <a:prstGeom prst="rect">
            <a:avLst/>
          </a:prstGeom>
          <a:noFill/>
          <a:ln/>
        </p:spPr>
        <p:txBody>
          <a:bodyPr wrap="square" lIns="0" tIns="0" rIns="0" bIns="0" rtlCol="0" anchor="t"/>
          <a:lstStyle/>
          <a:p>
            <a:pPr algn="ctr" indent="0" marL="0">
              <a:buNone/>
            </a:pPr>
            <a:r>
              <a:rPr lang="en-US" sz="1000" b="1" dirty="0">
                <a:solidFill>
                  <a:srgbClr val="E8CD85"/>
                </a:solidFill>
                <a:latin typeface="Meiryo UI" pitchFamily="34" charset="0"/>
                <a:ea typeface="Meiryo UI" pitchFamily="34" charset="-122"/>
                <a:cs typeface="Meiryo UI" pitchFamily="34" charset="-120"/>
              </a:rPr>
              <a:t>STEP 4</a:t>
            </a:r>
            <a:endParaRPr lang="en-US" sz="1000" dirty="0"/>
          </a:p>
        </p:txBody>
      </p:sp>
      <p:sp>
        <p:nvSpPr>
          <p:cNvPr id="39" name="Text 34"/>
          <p:cNvSpPr txBox="1"/>
          <p:nvPr/>
        </p:nvSpPr>
        <p:spPr>
          <a:xfrm>
            <a:off x="6169000" y="1764792"/>
            <a:ext cx="1727149" cy="384048"/>
          </a:xfrm>
          <a:prstGeom prst="rect">
            <a:avLst/>
          </a:prstGeom>
          <a:noFill/>
          <a:ln/>
        </p:spPr>
        <p:txBody>
          <a:bodyPr wrap="square" lIns="0" tIns="0" rIns="0" bIns="0" rtlCol="0" anchor="ctr"/>
          <a:lstStyle/>
          <a:p>
            <a:pPr algn="ctr" indent="0" marL="0">
              <a:buNone/>
            </a:pPr>
            <a:r>
              <a:rPr lang="en-US" sz="1350" b="1" dirty="0">
                <a:solidFill>
                  <a:srgbClr val="FFFFFF"/>
                </a:solidFill>
                <a:latin typeface="Meiryo UI" pitchFamily="34" charset="0"/>
                <a:ea typeface="Meiryo UI" pitchFamily="34" charset="-122"/>
                <a:cs typeface="Meiryo UI" pitchFamily="34" charset="-120"/>
              </a:rPr>
              <a:t>初回面談</a:t>
            </a:r>
            <a:endParaRPr lang="en-US" sz="1350" dirty="0"/>
          </a:p>
        </p:txBody>
      </p:sp>
      <p:sp>
        <p:nvSpPr>
          <p:cNvPr id="40" name="Shape 35"/>
          <p:cNvSpPr/>
          <p:nvPr/>
        </p:nvSpPr>
        <p:spPr>
          <a:xfrm>
            <a:off x="6169000" y="2606040"/>
            <a:ext cx="1727149" cy="731520"/>
          </a:xfrm>
          <a:prstGeom prst="roundRect">
            <a:avLst>
              <a:gd name="adj" fmla="val 15000"/>
            </a:avLst>
          </a:prstGeom>
          <a:solidFill>
            <a:srgbClr val="EFEFF3"/>
          </a:solidFill>
          <a:ln w="12700">
            <a:solidFill>
              <a:srgbClr val="EFEFF3"/>
            </a:solidFill>
            <a:prstDash val="solid"/>
          </a:ln>
        </p:spPr>
      </p:sp>
      <p:sp>
        <p:nvSpPr>
          <p:cNvPr id="41" name="Text 36"/>
          <p:cNvSpPr txBox="1"/>
          <p:nvPr/>
        </p:nvSpPr>
        <p:spPr>
          <a:xfrm>
            <a:off x="6278728" y="2606040"/>
            <a:ext cx="1507693" cy="731520"/>
          </a:xfrm>
          <a:prstGeom prst="rect">
            <a:avLst/>
          </a:prstGeom>
          <a:noFill/>
          <a:ln/>
        </p:spPr>
        <p:txBody>
          <a:bodyPr wrap="square" lIns="0" tIns="0" rIns="0" bIns="0" rtlCol="0" anchor="ctr"/>
          <a:lstStyle/>
          <a:p>
            <a:pPr algn="ctr" indent="0" marL="0">
              <a:buNone/>
            </a:pPr>
            <a:r>
              <a:rPr lang="en-US" sz="1150" dirty="0">
                <a:solidFill>
                  <a:srgbClr val="7C7E90"/>
                </a:solidFill>
                <a:latin typeface="Meiryo UI" pitchFamily="34" charset="0"/>
                <a:ea typeface="Meiryo UI" pitchFamily="34" charset="-122"/>
                <a:cs typeface="Meiryo UI" pitchFamily="34" charset="-120"/>
              </a:rPr>
              <a:t>代表が毎回同じ説明</a:t>
            </a:r>
            <a:endParaRPr lang="en-US" sz="1150" dirty="0"/>
          </a:p>
        </p:txBody>
      </p:sp>
      <p:pic>
        <p:nvPicPr>
          <p:cNvPr id="42" name="Image 3" descr="preencoded.png">    </p:cNvPr>
          <p:cNvPicPr>
            <a:picLocks noChangeAspect="1"/>
          </p:cNvPicPr>
          <p:nvPr/>
        </p:nvPicPr>
        <p:blipFill>
          <a:blip r:embed="rId4"/>
          <a:stretch>
            <a:fillRect/>
          </a:stretch>
        </p:blipFill>
        <p:spPr>
          <a:xfrm>
            <a:off x="7484669" y="3456432"/>
            <a:ext cx="256032" cy="256032"/>
          </a:xfrm>
          <a:prstGeom prst="rect">
            <a:avLst/>
          </a:prstGeom>
        </p:spPr>
      </p:pic>
      <p:sp>
        <p:nvSpPr>
          <p:cNvPr id="43" name="Shape 37"/>
          <p:cNvSpPr/>
          <p:nvPr/>
        </p:nvSpPr>
        <p:spPr>
          <a:xfrm>
            <a:off x="6169000" y="3794760"/>
            <a:ext cx="1727149" cy="1417320"/>
          </a:xfrm>
          <a:prstGeom prst="roundRect">
            <a:avLst>
              <a:gd name="adj" fmla="val 7742"/>
            </a:avLst>
          </a:prstGeom>
          <a:solidFill>
            <a:srgbClr val="EEEFF7"/>
          </a:solidFill>
          <a:ln w="12700">
            <a:solidFill>
              <a:srgbClr val="EEEFF7"/>
            </a:solidFill>
            <a:prstDash val="solid"/>
          </a:ln>
        </p:spPr>
      </p:sp>
      <p:sp>
        <p:nvSpPr>
          <p:cNvPr id="44" name="Text 38"/>
          <p:cNvSpPr txBox="1"/>
          <p:nvPr/>
        </p:nvSpPr>
        <p:spPr>
          <a:xfrm>
            <a:off x="6297016" y="3858768"/>
            <a:ext cx="1471117" cy="1298448"/>
          </a:xfrm>
          <a:prstGeom prst="rect">
            <a:avLst/>
          </a:prstGeom>
          <a:noFill/>
          <a:ln/>
        </p:spPr>
        <p:txBody>
          <a:bodyPr wrap="square" lIns="0" tIns="0" rIns="0" bIns="0" rtlCol="0" anchor="ctr"/>
          <a:lstStyle/>
          <a:p>
            <a:pPr indent="0" marL="0">
              <a:buNone/>
            </a:pPr>
            <a:r>
              <a:rPr lang="en-US" sz="1200" b="1" dirty="0">
                <a:solidFill>
                  <a:srgbClr val="262A52"/>
                </a:solidFill>
                <a:latin typeface="Meiryo UI" pitchFamily="34" charset="0"/>
                <a:ea typeface="Meiryo UI" pitchFamily="34" charset="-122"/>
                <a:cs typeface="Meiryo UI" pitchFamily="34" charset="-120"/>
              </a:rPr>
              <a:t>共通の説明は動画に任せ、個別の論点に集中</a:t>
            </a:r>
            <a:endParaRPr lang="en-US" sz="1200" dirty="0"/>
          </a:p>
        </p:txBody>
      </p:sp>
      <p:sp>
        <p:nvSpPr>
          <p:cNvPr id="45" name="Shape 39"/>
          <p:cNvSpPr/>
          <p:nvPr/>
        </p:nvSpPr>
        <p:spPr>
          <a:xfrm>
            <a:off x="6169000" y="5349240"/>
            <a:ext cx="1727149" cy="566928"/>
          </a:xfrm>
          <a:prstGeom prst="roundRect">
            <a:avLst>
              <a:gd name="adj" fmla="val 19355"/>
            </a:avLst>
          </a:prstGeom>
          <a:solidFill>
            <a:srgbClr val="FBF3E1"/>
          </a:solidFill>
          <a:ln w="12700">
            <a:solidFill>
              <a:srgbClr val="FBF3E1"/>
            </a:solidFill>
            <a:prstDash val="solid"/>
          </a:ln>
        </p:spPr>
      </p:sp>
      <p:sp>
        <p:nvSpPr>
          <p:cNvPr id="46" name="Text 40"/>
          <p:cNvSpPr txBox="1"/>
          <p:nvPr/>
        </p:nvSpPr>
        <p:spPr>
          <a:xfrm>
            <a:off x="6242152" y="5349240"/>
            <a:ext cx="1580845" cy="566928"/>
          </a:xfrm>
          <a:prstGeom prst="rect">
            <a:avLst/>
          </a:prstGeom>
          <a:noFill/>
          <a:ln/>
        </p:spPr>
        <p:txBody>
          <a:bodyPr wrap="square" lIns="0" tIns="0" rIns="0" bIns="0" rtlCol="0" anchor="ctr"/>
          <a:lstStyle/>
          <a:p>
            <a:pPr algn="ctr" indent="0" marL="0">
              <a:buNone/>
            </a:pPr>
            <a:r>
              <a:rPr lang="en-US" sz="1200" b="1" dirty="0">
                <a:solidFill>
                  <a:srgbClr val="A87A1C"/>
                </a:solidFill>
                <a:latin typeface="Meiryo UI" pitchFamily="34" charset="0"/>
                <a:ea typeface="Meiryo UI" pitchFamily="34" charset="-122"/>
                <a:cs typeface="Meiryo UI" pitchFamily="34" charset="-120"/>
              </a:rPr>
              <a:t>契約率UP</a:t>
            </a:r>
            <a:endParaRPr lang="en-US" sz="1200" dirty="0"/>
          </a:p>
        </p:txBody>
      </p:sp>
      <p:sp>
        <p:nvSpPr>
          <p:cNvPr id="47" name="Shape 41"/>
          <p:cNvSpPr/>
          <p:nvPr/>
        </p:nvSpPr>
        <p:spPr>
          <a:xfrm>
            <a:off x="8042453" y="1463040"/>
            <a:ext cx="1727149" cy="731520"/>
          </a:xfrm>
          <a:prstGeom prst="roundRect">
            <a:avLst>
              <a:gd name="adj" fmla="val 15000"/>
            </a:avLst>
          </a:prstGeom>
          <a:solidFill>
            <a:srgbClr val="3A3F73"/>
          </a:solidFill>
          <a:ln w="12700">
            <a:solidFill>
              <a:srgbClr val="3A3F73"/>
            </a:solidFill>
            <a:prstDash val="solid"/>
          </a:ln>
        </p:spPr>
      </p:sp>
      <p:sp>
        <p:nvSpPr>
          <p:cNvPr id="48" name="Text 42"/>
          <p:cNvSpPr txBox="1"/>
          <p:nvPr/>
        </p:nvSpPr>
        <p:spPr>
          <a:xfrm>
            <a:off x="8042453" y="1508760"/>
            <a:ext cx="1727149" cy="274320"/>
          </a:xfrm>
          <a:prstGeom prst="rect">
            <a:avLst/>
          </a:prstGeom>
          <a:noFill/>
          <a:ln/>
        </p:spPr>
        <p:txBody>
          <a:bodyPr wrap="square" lIns="0" tIns="0" rIns="0" bIns="0" rtlCol="0" anchor="t"/>
          <a:lstStyle/>
          <a:p>
            <a:pPr algn="ctr" indent="0" marL="0">
              <a:buNone/>
            </a:pPr>
            <a:r>
              <a:rPr lang="en-US" sz="1000" b="1" dirty="0">
                <a:solidFill>
                  <a:srgbClr val="E8CD85"/>
                </a:solidFill>
                <a:latin typeface="Meiryo UI" pitchFamily="34" charset="0"/>
                <a:ea typeface="Meiryo UI" pitchFamily="34" charset="-122"/>
                <a:cs typeface="Meiryo UI" pitchFamily="34" charset="-120"/>
              </a:rPr>
              <a:t>STEP 5</a:t>
            </a:r>
            <a:endParaRPr lang="en-US" sz="1000" dirty="0"/>
          </a:p>
        </p:txBody>
      </p:sp>
      <p:sp>
        <p:nvSpPr>
          <p:cNvPr id="49" name="Text 43"/>
          <p:cNvSpPr txBox="1"/>
          <p:nvPr/>
        </p:nvSpPr>
        <p:spPr>
          <a:xfrm>
            <a:off x="8042453" y="1764792"/>
            <a:ext cx="1727149" cy="384048"/>
          </a:xfrm>
          <a:prstGeom prst="rect">
            <a:avLst/>
          </a:prstGeom>
          <a:noFill/>
          <a:ln/>
        </p:spPr>
        <p:txBody>
          <a:bodyPr wrap="square" lIns="0" tIns="0" rIns="0" bIns="0" rtlCol="0" anchor="ctr"/>
          <a:lstStyle/>
          <a:p>
            <a:pPr algn="ctr" indent="0" marL="0">
              <a:buNone/>
            </a:pPr>
            <a:r>
              <a:rPr lang="en-US" sz="1350" b="1" dirty="0">
                <a:solidFill>
                  <a:srgbClr val="FFFFFF"/>
                </a:solidFill>
                <a:latin typeface="Meiryo UI" pitchFamily="34" charset="0"/>
                <a:ea typeface="Meiryo UI" pitchFamily="34" charset="-122"/>
                <a:cs typeface="Meiryo UI" pitchFamily="34" charset="-120"/>
              </a:rPr>
              <a:t>面談後フォロー</a:t>
            </a:r>
            <a:endParaRPr lang="en-US" sz="1350" dirty="0"/>
          </a:p>
        </p:txBody>
      </p:sp>
      <p:sp>
        <p:nvSpPr>
          <p:cNvPr id="50" name="Shape 44"/>
          <p:cNvSpPr/>
          <p:nvPr/>
        </p:nvSpPr>
        <p:spPr>
          <a:xfrm>
            <a:off x="8042453" y="2606040"/>
            <a:ext cx="1727149" cy="731520"/>
          </a:xfrm>
          <a:prstGeom prst="roundRect">
            <a:avLst>
              <a:gd name="adj" fmla="val 15000"/>
            </a:avLst>
          </a:prstGeom>
          <a:solidFill>
            <a:srgbClr val="EFEFF3"/>
          </a:solidFill>
          <a:ln w="12700">
            <a:solidFill>
              <a:srgbClr val="EFEFF3"/>
            </a:solidFill>
            <a:prstDash val="solid"/>
          </a:ln>
        </p:spPr>
      </p:sp>
      <p:sp>
        <p:nvSpPr>
          <p:cNvPr id="51" name="Text 45"/>
          <p:cNvSpPr txBox="1"/>
          <p:nvPr/>
        </p:nvSpPr>
        <p:spPr>
          <a:xfrm>
            <a:off x="8152181" y="2606040"/>
            <a:ext cx="1507693" cy="731520"/>
          </a:xfrm>
          <a:prstGeom prst="rect">
            <a:avLst/>
          </a:prstGeom>
          <a:noFill/>
          <a:ln/>
        </p:spPr>
        <p:txBody>
          <a:bodyPr wrap="square" lIns="0" tIns="0" rIns="0" bIns="0" rtlCol="0" anchor="ctr"/>
          <a:lstStyle/>
          <a:p>
            <a:pPr algn="ctr" indent="0" marL="0">
              <a:buNone/>
            </a:pPr>
            <a:r>
              <a:rPr lang="en-US" sz="1150" dirty="0">
                <a:solidFill>
                  <a:srgbClr val="7C7E90"/>
                </a:solidFill>
                <a:latin typeface="Meiryo UI" pitchFamily="34" charset="0"/>
                <a:ea typeface="Meiryo UI" pitchFamily="34" charset="-122"/>
                <a:cs typeface="Meiryo UI" pitchFamily="34" charset="-120"/>
              </a:rPr>
              <a:t>検討中のまま連絡が途切れる</a:t>
            </a:r>
            <a:endParaRPr lang="en-US" sz="1150" dirty="0"/>
          </a:p>
        </p:txBody>
      </p:sp>
      <p:pic>
        <p:nvPicPr>
          <p:cNvPr id="52" name="Image 4" descr="preencoded.png">    </p:cNvPr>
          <p:cNvPicPr>
            <a:picLocks noChangeAspect="1"/>
          </p:cNvPicPr>
          <p:nvPr/>
        </p:nvPicPr>
        <p:blipFill>
          <a:blip r:embed="rId5"/>
          <a:stretch>
            <a:fillRect/>
          </a:stretch>
        </p:blipFill>
        <p:spPr>
          <a:xfrm>
            <a:off x="9358122" y="3456432"/>
            <a:ext cx="256032" cy="256032"/>
          </a:xfrm>
          <a:prstGeom prst="rect">
            <a:avLst/>
          </a:prstGeom>
        </p:spPr>
      </p:pic>
      <p:sp>
        <p:nvSpPr>
          <p:cNvPr id="53" name="Shape 46"/>
          <p:cNvSpPr/>
          <p:nvPr/>
        </p:nvSpPr>
        <p:spPr>
          <a:xfrm>
            <a:off x="8042453" y="3794760"/>
            <a:ext cx="1727149" cy="1417320"/>
          </a:xfrm>
          <a:prstGeom prst="roundRect">
            <a:avLst>
              <a:gd name="adj" fmla="val 7742"/>
            </a:avLst>
          </a:prstGeom>
          <a:solidFill>
            <a:srgbClr val="EEEFF7"/>
          </a:solidFill>
          <a:ln w="12700">
            <a:solidFill>
              <a:srgbClr val="EEEFF7"/>
            </a:solidFill>
            <a:prstDash val="solid"/>
          </a:ln>
        </p:spPr>
      </p:sp>
      <p:sp>
        <p:nvSpPr>
          <p:cNvPr id="54" name="Text 47"/>
          <p:cNvSpPr txBox="1"/>
          <p:nvPr/>
        </p:nvSpPr>
        <p:spPr>
          <a:xfrm>
            <a:off x="8170469" y="3858768"/>
            <a:ext cx="1471117" cy="1298448"/>
          </a:xfrm>
          <a:prstGeom prst="rect">
            <a:avLst/>
          </a:prstGeom>
          <a:noFill/>
          <a:ln/>
        </p:spPr>
        <p:txBody>
          <a:bodyPr wrap="square" lIns="0" tIns="0" rIns="0" bIns="0" rtlCol="0" anchor="ctr"/>
          <a:lstStyle/>
          <a:p>
            <a:pPr indent="0" marL="0">
              <a:buNone/>
            </a:pPr>
            <a:r>
              <a:rPr lang="en-US" sz="1200" b="1" dirty="0">
                <a:solidFill>
                  <a:srgbClr val="262A52"/>
                </a:solidFill>
                <a:latin typeface="Meiryo UI" pitchFamily="34" charset="0"/>
                <a:ea typeface="Meiryo UI" pitchFamily="34" charset="-122"/>
                <a:cs typeface="Meiryo UI" pitchFamily="34" charset="-120"/>
              </a:rPr>
              <a:t>「顧問契約でできること」動画で判断を後押し</a:t>
            </a:r>
            <a:endParaRPr lang="en-US" sz="1200" dirty="0"/>
          </a:p>
        </p:txBody>
      </p:sp>
      <p:sp>
        <p:nvSpPr>
          <p:cNvPr id="55" name="Shape 48"/>
          <p:cNvSpPr/>
          <p:nvPr/>
        </p:nvSpPr>
        <p:spPr>
          <a:xfrm>
            <a:off x="8042453" y="5349240"/>
            <a:ext cx="1727149" cy="566928"/>
          </a:xfrm>
          <a:prstGeom prst="roundRect">
            <a:avLst>
              <a:gd name="adj" fmla="val 19355"/>
            </a:avLst>
          </a:prstGeom>
          <a:solidFill>
            <a:srgbClr val="FBF3E1"/>
          </a:solidFill>
          <a:ln w="12700">
            <a:solidFill>
              <a:srgbClr val="FBF3E1"/>
            </a:solidFill>
            <a:prstDash val="solid"/>
          </a:ln>
        </p:spPr>
      </p:sp>
      <p:sp>
        <p:nvSpPr>
          <p:cNvPr id="56" name="Text 49"/>
          <p:cNvSpPr txBox="1"/>
          <p:nvPr/>
        </p:nvSpPr>
        <p:spPr>
          <a:xfrm>
            <a:off x="8115605" y="5349240"/>
            <a:ext cx="1580845" cy="566928"/>
          </a:xfrm>
          <a:prstGeom prst="rect">
            <a:avLst/>
          </a:prstGeom>
          <a:noFill/>
          <a:ln/>
        </p:spPr>
        <p:txBody>
          <a:bodyPr wrap="square" lIns="0" tIns="0" rIns="0" bIns="0" rtlCol="0" anchor="ctr"/>
          <a:lstStyle/>
          <a:p>
            <a:pPr algn="ctr" indent="0" marL="0">
              <a:buNone/>
            </a:pPr>
            <a:r>
              <a:rPr lang="en-US" sz="1200" b="1" dirty="0">
                <a:solidFill>
                  <a:srgbClr val="A87A1C"/>
                </a:solidFill>
                <a:latin typeface="Meiryo UI" pitchFamily="34" charset="0"/>
                <a:ea typeface="Meiryo UI" pitchFamily="34" charset="-122"/>
                <a:cs typeface="Meiryo UI" pitchFamily="34" charset="-120"/>
              </a:rPr>
              <a:t>取りこぼし防止</a:t>
            </a:r>
            <a:endParaRPr lang="en-US" sz="1200" dirty="0"/>
          </a:p>
        </p:txBody>
      </p:sp>
      <p:sp>
        <p:nvSpPr>
          <p:cNvPr id="57" name="Shape 50"/>
          <p:cNvSpPr/>
          <p:nvPr/>
        </p:nvSpPr>
        <p:spPr>
          <a:xfrm>
            <a:off x="9915906" y="1463040"/>
            <a:ext cx="1727149" cy="731520"/>
          </a:xfrm>
          <a:prstGeom prst="roundRect">
            <a:avLst>
              <a:gd name="adj" fmla="val 15000"/>
            </a:avLst>
          </a:prstGeom>
          <a:solidFill>
            <a:srgbClr val="3A3F73"/>
          </a:solidFill>
          <a:ln w="12700">
            <a:solidFill>
              <a:srgbClr val="3A3F73"/>
            </a:solidFill>
            <a:prstDash val="solid"/>
          </a:ln>
        </p:spPr>
      </p:sp>
      <p:sp>
        <p:nvSpPr>
          <p:cNvPr id="58" name="Text 51"/>
          <p:cNvSpPr txBox="1"/>
          <p:nvPr/>
        </p:nvSpPr>
        <p:spPr>
          <a:xfrm>
            <a:off x="9915906" y="1508760"/>
            <a:ext cx="1727149" cy="274320"/>
          </a:xfrm>
          <a:prstGeom prst="rect">
            <a:avLst/>
          </a:prstGeom>
          <a:noFill/>
          <a:ln/>
        </p:spPr>
        <p:txBody>
          <a:bodyPr wrap="square" lIns="0" tIns="0" rIns="0" bIns="0" rtlCol="0" anchor="t"/>
          <a:lstStyle/>
          <a:p>
            <a:pPr algn="ctr" indent="0" marL="0">
              <a:buNone/>
            </a:pPr>
            <a:r>
              <a:rPr lang="en-US" sz="1000" b="1" dirty="0">
                <a:solidFill>
                  <a:srgbClr val="E8CD85"/>
                </a:solidFill>
                <a:latin typeface="Meiryo UI" pitchFamily="34" charset="0"/>
                <a:ea typeface="Meiryo UI" pitchFamily="34" charset="-122"/>
                <a:cs typeface="Meiryo UI" pitchFamily="34" charset="-120"/>
              </a:rPr>
              <a:t>STEP 6</a:t>
            </a:r>
            <a:endParaRPr lang="en-US" sz="1000" dirty="0"/>
          </a:p>
        </p:txBody>
      </p:sp>
      <p:sp>
        <p:nvSpPr>
          <p:cNvPr id="59" name="Text 52"/>
          <p:cNvSpPr txBox="1"/>
          <p:nvPr/>
        </p:nvSpPr>
        <p:spPr>
          <a:xfrm>
            <a:off x="9915906" y="1764792"/>
            <a:ext cx="1727149" cy="384048"/>
          </a:xfrm>
          <a:prstGeom prst="rect">
            <a:avLst/>
          </a:prstGeom>
          <a:noFill/>
          <a:ln/>
        </p:spPr>
        <p:txBody>
          <a:bodyPr wrap="square" lIns="0" tIns="0" rIns="0" bIns="0" rtlCol="0" anchor="ctr"/>
          <a:lstStyle/>
          <a:p>
            <a:pPr algn="ctr" indent="0" marL="0">
              <a:buNone/>
            </a:pPr>
            <a:r>
              <a:rPr lang="en-US" sz="1350" b="1" dirty="0">
                <a:solidFill>
                  <a:srgbClr val="FFFFFF"/>
                </a:solidFill>
                <a:latin typeface="Meiryo UI" pitchFamily="34" charset="0"/>
                <a:ea typeface="Meiryo UI" pitchFamily="34" charset="-122"/>
                <a:cs typeface="Meiryo UI" pitchFamily="34" charset="-120"/>
              </a:rPr>
              <a:t>顧問先への発信</a:t>
            </a:r>
            <a:endParaRPr lang="en-US" sz="1350" dirty="0"/>
          </a:p>
        </p:txBody>
      </p:sp>
      <p:sp>
        <p:nvSpPr>
          <p:cNvPr id="60" name="Shape 53"/>
          <p:cNvSpPr/>
          <p:nvPr/>
        </p:nvSpPr>
        <p:spPr>
          <a:xfrm>
            <a:off x="9915906" y="2606040"/>
            <a:ext cx="1727149" cy="731520"/>
          </a:xfrm>
          <a:prstGeom prst="roundRect">
            <a:avLst>
              <a:gd name="adj" fmla="val 15000"/>
            </a:avLst>
          </a:prstGeom>
          <a:solidFill>
            <a:srgbClr val="EFEFF3"/>
          </a:solidFill>
          <a:ln w="12700">
            <a:solidFill>
              <a:srgbClr val="EFEFF3"/>
            </a:solidFill>
            <a:prstDash val="solid"/>
          </a:ln>
        </p:spPr>
      </p:sp>
      <p:sp>
        <p:nvSpPr>
          <p:cNvPr id="61" name="Text 54"/>
          <p:cNvSpPr txBox="1"/>
          <p:nvPr/>
        </p:nvSpPr>
        <p:spPr>
          <a:xfrm>
            <a:off x="10025634" y="2606040"/>
            <a:ext cx="1507693" cy="731520"/>
          </a:xfrm>
          <a:prstGeom prst="rect">
            <a:avLst/>
          </a:prstGeom>
          <a:noFill/>
          <a:ln/>
        </p:spPr>
        <p:txBody>
          <a:bodyPr wrap="square" lIns="0" tIns="0" rIns="0" bIns="0" rtlCol="0" anchor="ctr"/>
          <a:lstStyle/>
          <a:p>
            <a:pPr algn="ctr" indent="0" marL="0">
              <a:buNone/>
            </a:pPr>
            <a:r>
              <a:rPr lang="en-US" sz="1150" dirty="0">
                <a:solidFill>
                  <a:srgbClr val="7C7E90"/>
                </a:solidFill>
                <a:latin typeface="Meiryo UI" pitchFamily="34" charset="0"/>
                <a:ea typeface="Meiryo UI" pitchFamily="34" charset="-122"/>
                <a:cs typeface="Meiryo UI" pitchFamily="34" charset="-120"/>
              </a:rPr>
              <a:t>繁忙期は連絡が手薄に</a:t>
            </a:r>
            <a:endParaRPr lang="en-US" sz="1150" dirty="0"/>
          </a:p>
        </p:txBody>
      </p:sp>
      <p:pic>
        <p:nvPicPr>
          <p:cNvPr id="62" name="Image 5" descr="preencoded.png">    </p:cNvPr>
          <p:cNvPicPr>
            <a:picLocks noChangeAspect="1"/>
          </p:cNvPicPr>
          <p:nvPr/>
        </p:nvPicPr>
        <p:blipFill>
          <a:blip r:embed="rId6"/>
          <a:stretch>
            <a:fillRect/>
          </a:stretch>
        </p:blipFill>
        <p:spPr>
          <a:xfrm>
            <a:off x="11231575" y="3456432"/>
            <a:ext cx="256032" cy="256032"/>
          </a:xfrm>
          <a:prstGeom prst="rect">
            <a:avLst/>
          </a:prstGeom>
        </p:spPr>
      </p:pic>
      <p:sp>
        <p:nvSpPr>
          <p:cNvPr id="63" name="Shape 55"/>
          <p:cNvSpPr/>
          <p:nvPr/>
        </p:nvSpPr>
        <p:spPr>
          <a:xfrm>
            <a:off x="9915906" y="3794760"/>
            <a:ext cx="1727149" cy="1417320"/>
          </a:xfrm>
          <a:prstGeom prst="roundRect">
            <a:avLst>
              <a:gd name="adj" fmla="val 7742"/>
            </a:avLst>
          </a:prstGeom>
          <a:solidFill>
            <a:srgbClr val="EEEFF7"/>
          </a:solidFill>
          <a:ln w="12700">
            <a:solidFill>
              <a:srgbClr val="EEEFF7"/>
            </a:solidFill>
            <a:prstDash val="solid"/>
          </a:ln>
        </p:spPr>
      </p:sp>
      <p:sp>
        <p:nvSpPr>
          <p:cNvPr id="64" name="Text 56"/>
          <p:cNvSpPr txBox="1"/>
          <p:nvPr/>
        </p:nvSpPr>
        <p:spPr>
          <a:xfrm>
            <a:off x="10043922" y="3858768"/>
            <a:ext cx="1471117" cy="1298448"/>
          </a:xfrm>
          <a:prstGeom prst="rect">
            <a:avLst/>
          </a:prstGeom>
          <a:noFill/>
          <a:ln/>
        </p:spPr>
        <p:txBody>
          <a:bodyPr wrap="square" lIns="0" tIns="0" rIns="0" bIns="0" rtlCol="0" anchor="ctr"/>
          <a:lstStyle/>
          <a:p>
            <a:pPr indent="0" marL="0">
              <a:buNone/>
            </a:pPr>
            <a:r>
              <a:rPr lang="en-US" sz="1200" b="1" dirty="0">
                <a:solidFill>
                  <a:srgbClr val="262A52"/>
                </a:solidFill>
                <a:latin typeface="Meiryo UI" pitchFamily="34" charset="0"/>
                <a:ea typeface="Meiryo UI" pitchFamily="34" charset="-122"/>
                <a:cs typeface="Meiryo UI" pitchFamily="34" charset="-120"/>
              </a:rPr>
              <a:t>月1回の動画ニュース（制度改正・期限のお知らせ）</a:t>
            </a:r>
            <a:endParaRPr lang="en-US" sz="1200" dirty="0"/>
          </a:p>
        </p:txBody>
      </p:sp>
      <p:sp>
        <p:nvSpPr>
          <p:cNvPr id="65" name="Shape 57"/>
          <p:cNvSpPr/>
          <p:nvPr/>
        </p:nvSpPr>
        <p:spPr>
          <a:xfrm>
            <a:off x="9915906" y="5349240"/>
            <a:ext cx="1727149" cy="566928"/>
          </a:xfrm>
          <a:prstGeom prst="roundRect">
            <a:avLst>
              <a:gd name="adj" fmla="val 19355"/>
            </a:avLst>
          </a:prstGeom>
          <a:solidFill>
            <a:srgbClr val="FBF3E1"/>
          </a:solidFill>
          <a:ln w="12700">
            <a:solidFill>
              <a:srgbClr val="FBF3E1"/>
            </a:solidFill>
            <a:prstDash val="solid"/>
          </a:ln>
        </p:spPr>
      </p:sp>
      <p:sp>
        <p:nvSpPr>
          <p:cNvPr id="66" name="Text 58"/>
          <p:cNvSpPr txBox="1"/>
          <p:nvPr/>
        </p:nvSpPr>
        <p:spPr>
          <a:xfrm>
            <a:off x="9989058" y="5349240"/>
            <a:ext cx="1580845" cy="566928"/>
          </a:xfrm>
          <a:prstGeom prst="rect">
            <a:avLst/>
          </a:prstGeom>
          <a:noFill/>
          <a:ln/>
        </p:spPr>
        <p:txBody>
          <a:bodyPr wrap="square" lIns="0" tIns="0" rIns="0" bIns="0" rtlCol="0" anchor="ctr"/>
          <a:lstStyle/>
          <a:p>
            <a:pPr algn="ctr" indent="0" marL="0">
              <a:buNone/>
            </a:pPr>
            <a:r>
              <a:rPr lang="en-US" sz="1200" b="1" dirty="0">
                <a:solidFill>
                  <a:srgbClr val="A87A1C"/>
                </a:solidFill>
                <a:latin typeface="Meiryo UI" pitchFamily="34" charset="0"/>
                <a:ea typeface="Meiryo UI" pitchFamily="34" charset="-122"/>
                <a:cs typeface="Meiryo UI" pitchFamily="34" charset="-120"/>
              </a:rPr>
              <a:t>満足度・紹介の継続</a:t>
            </a:r>
            <a:endParaRPr lang="en-US" sz="1200" dirty="0"/>
          </a:p>
        </p:txBody>
      </p:sp>
      <p:sp>
        <p:nvSpPr>
          <p:cNvPr id="67" name="Text 59"/>
          <p:cNvSpPr txBox="1"/>
          <p:nvPr/>
        </p:nvSpPr>
        <p:spPr>
          <a:xfrm>
            <a:off x="548640" y="3474720"/>
            <a:ext cx="1828800" cy="274320"/>
          </a:xfrm>
          <a:prstGeom prst="rect">
            <a:avLst/>
          </a:prstGeom>
          <a:noFill/>
          <a:ln/>
        </p:spPr>
        <p:txBody>
          <a:bodyPr wrap="square" lIns="0" tIns="0" rIns="0" bIns="0" rtlCol="0" anchor="t"/>
          <a:lstStyle/>
          <a:p>
            <a:pPr indent="0" marL="0">
              <a:buNone/>
            </a:pPr>
            <a:r>
              <a:rPr lang="en-US" sz="1050" b="1" dirty="0">
                <a:solidFill>
                  <a:srgbClr val="3A3F73"/>
                </a:solidFill>
                <a:latin typeface="Meiryo UI" pitchFamily="34" charset="0"/>
                <a:ea typeface="Meiryo UI" pitchFamily="34" charset="-122"/>
                <a:cs typeface="Meiryo UI" pitchFamily="34" charset="-120"/>
              </a:rPr>
              <a:t>MiTok導入後</a:t>
            </a:r>
            <a:endParaRPr lang="en-US" sz="1050" dirty="0"/>
          </a:p>
        </p:txBody>
      </p:sp>
      <p:sp>
        <p:nvSpPr>
          <p:cNvPr id="68" name="Text 60"/>
          <p:cNvSpPr txBox="1"/>
          <p:nvPr/>
        </p:nvSpPr>
        <p:spPr>
          <a:xfrm>
            <a:off x="548640" y="5961888"/>
            <a:ext cx="1828800" cy="274320"/>
          </a:xfrm>
          <a:prstGeom prst="rect">
            <a:avLst/>
          </a:prstGeom>
          <a:noFill/>
          <a:ln/>
        </p:spPr>
        <p:txBody>
          <a:bodyPr wrap="square" lIns="0" tIns="0" rIns="0" bIns="0" rtlCol="0" anchor="t"/>
          <a:lstStyle/>
          <a:p>
            <a:pPr indent="0" marL="0">
              <a:buNone/>
            </a:pPr>
            <a:r>
              <a:rPr lang="en-US" sz="1050" b="1" dirty="0">
                <a:solidFill>
                  <a:srgbClr val="A87A1C"/>
                </a:solidFill>
                <a:latin typeface="Meiryo UI" pitchFamily="34" charset="0"/>
                <a:ea typeface="Meiryo UI" pitchFamily="34" charset="-122"/>
                <a:cs typeface="Meiryo UI" pitchFamily="34" charset="-120"/>
              </a:rPr>
              <a:t>期待効果</a:t>
            </a:r>
            <a:endParaRPr lang="en-US" sz="1050" dirty="0"/>
          </a:p>
        </p:txBody>
      </p:sp>
    </p:spTree>
  </p:cSld>
  <p:clrMapOvr>
    <a:masterClrMapping/>
  </p:clrMapOvr>
</p:sld>
</file>

<file path=ppt/slides/slide10.xml><?xml version="1.0" encoding="utf-8"?>
<p:sld xmlns:a="http://schemas.openxmlformats.org/drawingml/2006/main" xmlns:r="http://schemas.openxmlformats.org/officeDocument/2006/relationships" xmlns:p="http://schemas.openxmlformats.org/presentationml/2006/main">
  <p:cSld name="Slide 10">
    <p:bg>
      <p:bgPr>
        <a:solidFill>
          <a:srgbClr val="FFFFFF"/>
        </a:solidFill>
      </p:bgPr>
    </p:bg>
    <p:spTree>
      <p:nvGrpSpPr>
        <p:cNvPr id="1" name=""/>
        <p:cNvGrpSpPr/>
        <p:nvPr/>
      </p:nvGrpSpPr>
      <p:grpSpPr>
        <a:xfrm>
          <a:off x="0" y="0"/>
          <a:ext cx="0" cy="0"/>
          <a:chOff x="0" y="0"/>
          <a:chExt cx="0" cy="0"/>
        </a:xfrm>
      </p:grpSpPr>
      <p:sp>
        <p:nvSpPr>
          <p:cNvPr id="2" name="Text 0"/>
          <p:cNvSpPr txBox="1"/>
          <p:nvPr/>
        </p:nvSpPr>
        <p:spPr>
          <a:xfrm>
            <a:off x="548640" y="347472"/>
            <a:ext cx="7315200" cy="274320"/>
          </a:xfrm>
          <a:prstGeom prst="rect">
            <a:avLst/>
          </a:prstGeom>
          <a:noFill/>
          <a:ln/>
        </p:spPr>
        <p:txBody>
          <a:bodyPr wrap="square" lIns="0" tIns="0" rIns="0" bIns="0" rtlCol="0" anchor="t"/>
          <a:lstStyle/>
          <a:p>
            <a:pPr indent="0" marL="0">
              <a:buNone/>
            </a:pPr>
            <a:r>
              <a:rPr lang="en-US" sz="1100" b="1" spc="200" kern="0" dirty="0">
                <a:solidFill>
                  <a:srgbClr val="A87A1C"/>
                </a:solidFill>
                <a:latin typeface="Meiryo UI" pitchFamily="34" charset="0"/>
                <a:ea typeface="Meiryo UI" pitchFamily="34" charset="-122"/>
                <a:cs typeface="Meiryo UI" pitchFamily="34" charset="-120"/>
              </a:rPr>
              <a:t>03｜PUSH STRATEGY</a:t>
            </a:r>
            <a:endParaRPr lang="en-US" sz="1100" dirty="0"/>
          </a:p>
        </p:txBody>
      </p:sp>
      <p:sp>
        <p:nvSpPr>
          <p:cNvPr id="3" name="Text 1"/>
          <p:cNvSpPr txBox="1"/>
          <p:nvPr/>
        </p:nvSpPr>
        <p:spPr>
          <a:xfrm>
            <a:off x="548640" y="621792"/>
            <a:ext cx="11094415" cy="566928"/>
          </a:xfrm>
          <a:prstGeom prst="rect">
            <a:avLst/>
          </a:prstGeom>
          <a:noFill/>
          <a:ln/>
        </p:spPr>
        <p:txBody>
          <a:bodyPr wrap="square" lIns="0" tIns="0" rIns="0" bIns="0" rtlCol="0" anchor="ctr"/>
          <a:lstStyle/>
          <a:p>
            <a:pPr indent="0" marL="0">
              <a:buNone/>
            </a:pPr>
            <a:r>
              <a:rPr lang="en-US" sz="2600" b="1" dirty="0">
                <a:solidFill>
                  <a:srgbClr val="3A3F73"/>
                </a:solidFill>
                <a:latin typeface="Meiryo UI" pitchFamily="34" charset="0"/>
                <a:ea typeface="Meiryo UI" pitchFamily="34" charset="-122"/>
                <a:cs typeface="Meiryo UI" pitchFamily="34" charset="-120"/>
              </a:rPr>
              <a:t>事務所の負担を増やさずに、成果を上げる仕組み</a:t>
            </a:r>
            <a:endParaRPr lang="en-US" sz="2600" dirty="0"/>
          </a:p>
        </p:txBody>
      </p:sp>
      <p:sp>
        <p:nvSpPr>
          <p:cNvPr id="4" name="Text 2"/>
          <p:cNvSpPr txBox="1"/>
          <p:nvPr/>
        </p:nvSpPr>
        <p:spPr>
          <a:xfrm>
            <a:off x="11094415" y="6419088"/>
            <a:ext cx="548640" cy="256032"/>
          </a:xfrm>
          <a:prstGeom prst="rect">
            <a:avLst/>
          </a:prstGeom>
          <a:noFill/>
          <a:ln/>
        </p:spPr>
        <p:txBody>
          <a:bodyPr wrap="square" lIns="0" tIns="0" rIns="0" bIns="0" rtlCol="0" anchor="t"/>
          <a:lstStyle/>
          <a:p>
            <a:pPr algn="r" indent="0" marL="0">
              <a:buNone/>
            </a:pPr>
            <a:r>
              <a:rPr lang="en-US" sz="1000" dirty="0">
                <a:solidFill>
                  <a:srgbClr val="7C7E90"/>
                </a:solidFill>
                <a:latin typeface="Meiryo UI" pitchFamily="34" charset="0"/>
                <a:ea typeface="Meiryo UI" pitchFamily="34" charset="-122"/>
                <a:cs typeface="Meiryo UI" pitchFamily="34" charset="-120"/>
              </a:rPr>
              <a:t>10</a:t>
            </a:r>
            <a:endParaRPr lang="en-US" sz="1000" dirty="0"/>
          </a:p>
        </p:txBody>
      </p:sp>
      <p:sp>
        <p:nvSpPr>
          <p:cNvPr id="5" name="Text 3"/>
          <p:cNvSpPr txBox="1"/>
          <p:nvPr/>
        </p:nvSpPr>
        <p:spPr>
          <a:xfrm>
            <a:off x="548640" y="6419088"/>
            <a:ext cx="4572000" cy="256032"/>
          </a:xfrm>
          <a:prstGeom prst="rect">
            <a:avLst/>
          </a:prstGeom>
          <a:noFill/>
          <a:ln/>
        </p:spPr>
        <p:txBody>
          <a:bodyPr wrap="square" lIns="0" tIns="0" rIns="0" bIns="0" rtlCol="0" anchor="t"/>
          <a:lstStyle/>
          <a:p>
            <a:pPr indent="0" marL="0">
              <a:buNone/>
            </a:pPr>
            <a:r>
              <a:rPr lang="en-US" sz="900" dirty="0">
                <a:solidFill>
                  <a:srgbClr val="7C7E90"/>
                </a:solidFill>
                <a:latin typeface="Meiryo UI" pitchFamily="34" charset="0"/>
                <a:ea typeface="Meiryo UI" pitchFamily="34" charset="-122"/>
                <a:cs typeface="Meiryo UI" pitchFamily="34" charset="-120"/>
              </a:rPr>
              <a:t>株式会社アイドマ・ホールディングス｜MiTok</a:t>
            </a:r>
            <a:endParaRPr lang="en-US" sz="900" dirty="0"/>
          </a:p>
        </p:txBody>
      </p:sp>
      <p:sp>
        <p:nvSpPr>
          <p:cNvPr id="6" name="Shape 4"/>
          <p:cNvSpPr/>
          <p:nvPr/>
        </p:nvSpPr>
        <p:spPr>
          <a:xfrm>
            <a:off x="548640" y="1463040"/>
            <a:ext cx="5212080" cy="1024128"/>
          </a:xfrm>
          <a:prstGeom prst="roundRect">
            <a:avLst>
              <a:gd name="adj" fmla="val 10714"/>
            </a:avLst>
          </a:prstGeom>
          <a:solidFill>
            <a:srgbClr val="FFFFFF"/>
          </a:solidFill>
          <a:ln w="12700">
            <a:solidFill>
              <a:srgbClr val="FFFFFF"/>
            </a:solidFill>
            <a:prstDash val="solid"/>
          </a:ln>
          <a:effectLst>
            <a:outerShdw sx="100000" sy="100000" kx="0" ky="0" algn="bl" rotWithShape="0" blurRad="76200" dist="25400" dir="5400000">
              <a:srgbClr val="000000">
                <a:alpha val="12000"/>
              </a:srgbClr>
            </a:outerShdw>
          </a:effectLst>
        </p:spPr>
      </p:sp>
      <p:sp>
        <p:nvSpPr>
          <p:cNvPr id="7" name="Shape 5"/>
          <p:cNvSpPr/>
          <p:nvPr/>
        </p:nvSpPr>
        <p:spPr>
          <a:xfrm>
            <a:off x="749808" y="1664208"/>
            <a:ext cx="621792" cy="621792"/>
          </a:xfrm>
          <a:prstGeom prst="ellipse">
            <a:avLst/>
          </a:prstGeom>
          <a:solidFill>
            <a:srgbClr val="3A3F73"/>
          </a:solidFill>
          <a:ln w="12700">
            <a:solidFill>
              <a:srgbClr val="3A3F73"/>
            </a:solidFill>
            <a:prstDash val="solid"/>
          </a:ln>
        </p:spPr>
      </p:sp>
      <p:pic>
        <p:nvPicPr>
          <p:cNvPr id="8" name="Image 0" descr="preencoded.png">    </p:cNvPr>
          <p:cNvPicPr>
            <a:picLocks noChangeAspect="1"/>
          </p:cNvPicPr>
          <p:nvPr/>
        </p:nvPicPr>
        <p:blipFill>
          <a:blip r:embed="rId1"/>
          <a:stretch>
            <a:fillRect/>
          </a:stretch>
        </p:blipFill>
        <p:spPr>
          <a:xfrm>
            <a:off x="911474" y="1825874"/>
            <a:ext cx="298460" cy="298460"/>
          </a:xfrm>
          <a:prstGeom prst="rect">
            <a:avLst/>
          </a:prstGeom>
        </p:spPr>
      </p:pic>
      <p:sp>
        <p:nvSpPr>
          <p:cNvPr id="9" name="Text 6"/>
          <p:cNvSpPr txBox="1"/>
          <p:nvPr/>
        </p:nvSpPr>
        <p:spPr>
          <a:xfrm>
            <a:off x="1554480" y="1591056"/>
            <a:ext cx="4023360" cy="320040"/>
          </a:xfrm>
          <a:prstGeom prst="rect">
            <a:avLst/>
          </a:prstGeom>
          <a:noFill/>
          <a:ln/>
        </p:spPr>
        <p:txBody>
          <a:bodyPr wrap="square" lIns="0" tIns="0" rIns="0" bIns="0" rtlCol="0" anchor="t"/>
          <a:lstStyle/>
          <a:p>
            <a:pPr indent="0" marL="0">
              <a:buNone/>
            </a:pPr>
            <a:r>
              <a:rPr lang="en-US" sz="1400" b="1" dirty="0">
                <a:solidFill>
                  <a:srgbClr val="3A3F73"/>
                </a:solidFill>
                <a:latin typeface="Meiryo UI" pitchFamily="34" charset="0"/>
                <a:ea typeface="Meiryo UI" pitchFamily="34" charset="-122"/>
                <a:cs typeface="Meiryo UI" pitchFamily="34" charset="-120"/>
              </a:rPr>
              <a:t>説明の自動化</a:t>
            </a:r>
            <a:endParaRPr lang="en-US" sz="1400" dirty="0"/>
          </a:p>
        </p:txBody>
      </p:sp>
      <p:sp>
        <p:nvSpPr>
          <p:cNvPr id="10" name="Text 7"/>
          <p:cNvSpPr txBox="1"/>
          <p:nvPr/>
        </p:nvSpPr>
        <p:spPr>
          <a:xfrm>
            <a:off x="1554480" y="1920240"/>
            <a:ext cx="4069080" cy="502920"/>
          </a:xfrm>
          <a:prstGeom prst="rect">
            <a:avLst/>
          </a:prstGeom>
          <a:noFill/>
          <a:ln/>
        </p:spPr>
        <p:txBody>
          <a:bodyPr wrap="square" lIns="0" tIns="0" rIns="0" bIns="0" rtlCol="0" anchor="t"/>
          <a:lstStyle/>
          <a:p>
            <a:pPr indent="0" marL="0">
              <a:buNone/>
            </a:pPr>
            <a:r>
              <a:rPr lang="en-US" sz="1150" dirty="0">
                <a:solidFill>
                  <a:srgbClr val="2A2B38"/>
                </a:solidFill>
                <a:latin typeface="Meiryo UI" pitchFamily="34" charset="0"/>
                <a:ea typeface="Meiryo UI" pitchFamily="34" charset="-122"/>
                <a:cs typeface="Meiryo UI" pitchFamily="34" charset="-120"/>
              </a:rPr>
              <a:t>面談のたびに繰り返す「事務所の考え方」「相談の流れ」は動画に任せ、面談は個別の論点に集中</a:t>
            </a:r>
            <a:endParaRPr lang="en-US" sz="1150" dirty="0"/>
          </a:p>
        </p:txBody>
      </p:sp>
      <p:sp>
        <p:nvSpPr>
          <p:cNvPr id="11" name="Shape 8"/>
          <p:cNvSpPr/>
          <p:nvPr/>
        </p:nvSpPr>
        <p:spPr>
          <a:xfrm>
            <a:off x="548640" y="2633472"/>
            <a:ext cx="5212080" cy="1024128"/>
          </a:xfrm>
          <a:prstGeom prst="roundRect">
            <a:avLst>
              <a:gd name="adj" fmla="val 10714"/>
            </a:avLst>
          </a:prstGeom>
          <a:solidFill>
            <a:srgbClr val="FFFFFF"/>
          </a:solidFill>
          <a:ln w="12700">
            <a:solidFill>
              <a:srgbClr val="FFFFFF"/>
            </a:solidFill>
            <a:prstDash val="solid"/>
          </a:ln>
          <a:effectLst>
            <a:outerShdw sx="100000" sy="100000" kx="0" ky="0" algn="bl" rotWithShape="0" blurRad="76200" dist="25400" dir="5400000">
              <a:srgbClr val="000000">
                <a:alpha val="12000"/>
              </a:srgbClr>
            </a:outerShdw>
          </a:effectLst>
        </p:spPr>
      </p:sp>
      <p:sp>
        <p:nvSpPr>
          <p:cNvPr id="12" name="Shape 9"/>
          <p:cNvSpPr/>
          <p:nvPr/>
        </p:nvSpPr>
        <p:spPr>
          <a:xfrm>
            <a:off x="749808" y="2834640"/>
            <a:ext cx="621792" cy="621792"/>
          </a:xfrm>
          <a:prstGeom prst="ellipse">
            <a:avLst/>
          </a:prstGeom>
          <a:solidFill>
            <a:srgbClr val="3A3F73"/>
          </a:solidFill>
          <a:ln w="12700">
            <a:solidFill>
              <a:srgbClr val="3A3F73"/>
            </a:solidFill>
            <a:prstDash val="solid"/>
          </a:ln>
        </p:spPr>
      </p:sp>
      <p:pic>
        <p:nvPicPr>
          <p:cNvPr id="13" name="Image 1" descr="preencoded.png">    </p:cNvPr>
          <p:cNvPicPr>
            <a:picLocks noChangeAspect="1"/>
          </p:cNvPicPr>
          <p:nvPr/>
        </p:nvPicPr>
        <p:blipFill>
          <a:blip r:embed="rId2"/>
          <a:stretch>
            <a:fillRect/>
          </a:stretch>
        </p:blipFill>
        <p:spPr>
          <a:xfrm>
            <a:off x="911474" y="2996306"/>
            <a:ext cx="298460" cy="298460"/>
          </a:xfrm>
          <a:prstGeom prst="rect">
            <a:avLst/>
          </a:prstGeom>
        </p:spPr>
      </p:pic>
      <p:sp>
        <p:nvSpPr>
          <p:cNvPr id="14" name="Text 10"/>
          <p:cNvSpPr txBox="1"/>
          <p:nvPr/>
        </p:nvSpPr>
        <p:spPr>
          <a:xfrm>
            <a:off x="1554480" y="2761488"/>
            <a:ext cx="4023360" cy="320040"/>
          </a:xfrm>
          <a:prstGeom prst="rect">
            <a:avLst/>
          </a:prstGeom>
          <a:noFill/>
          <a:ln/>
        </p:spPr>
        <p:txBody>
          <a:bodyPr wrap="square" lIns="0" tIns="0" rIns="0" bIns="0" rtlCol="0" anchor="t"/>
          <a:lstStyle/>
          <a:p>
            <a:pPr indent="0" marL="0">
              <a:buNone/>
            </a:pPr>
            <a:r>
              <a:rPr lang="en-US" sz="1400" b="1" dirty="0">
                <a:solidFill>
                  <a:srgbClr val="3A3F73"/>
                </a:solidFill>
                <a:latin typeface="Meiryo UI" pitchFamily="34" charset="0"/>
                <a:ea typeface="Meiryo UI" pitchFamily="34" charset="-122"/>
                <a:cs typeface="Meiryo UI" pitchFamily="34" charset="-120"/>
              </a:rPr>
              <a:t>発信の仕組み化</a:t>
            </a:r>
            <a:endParaRPr lang="en-US" sz="1400" dirty="0"/>
          </a:p>
        </p:txBody>
      </p:sp>
      <p:sp>
        <p:nvSpPr>
          <p:cNvPr id="15" name="Text 11"/>
          <p:cNvSpPr txBox="1"/>
          <p:nvPr/>
        </p:nvSpPr>
        <p:spPr>
          <a:xfrm>
            <a:off x="1554480" y="3090672"/>
            <a:ext cx="4069080" cy="502920"/>
          </a:xfrm>
          <a:prstGeom prst="rect">
            <a:avLst/>
          </a:prstGeom>
          <a:noFill/>
          <a:ln/>
        </p:spPr>
        <p:txBody>
          <a:bodyPr wrap="square" lIns="0" tIns="0" rIns="0" bIns="0" rtlCol="0" anchor="t"/>
          <a:lstStyle/>
          <a:p>
            <a:pPr indent="0" marL="0">
              <a:buNone/>
            </a:pPr>
            <a:r>
              <a:rPr lang="en-US" sz="1150" dirty="0">
                <a:solidFill>
                  <a:srgbClr val="2A2B38"/>
                </a:solidFill>
                <a:latin typeface="Meiryo UI" pitchFamily="34" charset="0"/>
                <a:ea typeface="Meiryo UI" pitchFamily="34" charset="-122"/>
                <a:cs typeface="Meiryo UI" pitchFamily="34" charset="-120"/>
              </a:rPr>
              <a:t>繁忙期でも止まらないよう、配信カレンダーと在宅スタッフの運用で発信を続ける</a:t>
            </a:r>
            <a:endParaRPr lang="en-US" sz="1150" dirty="0"/>
          </a:p>
        </p:txBody>
      </p:sp>
      <p:sp>
        <p:nvSpPr>
          <p:cNvPr id="16" name="Shape 12"/>
          <p:cNvSpPr/>
          <p:nvPr/>
        </p:nvSpPr>
        <p:spPr>
          <a:xfrm>
            <a:off x="548640" y="3803904"/>
            <a:ext cx="5212080" cy="1024128"/>
          </a:xfrm>
          <a:prstGeom prst="roundRect">
            <a:avLst>
              <a:gd name="adj" fmla="val 10714"/>
            </a:avLst>
          </a:prstGeom>
          <a:solidFill>
            <a:srgbClr val="FFFFFF"/>
          </a:solidFill>
          <a:ln w="12700">
            <a:solidFill>
              <a:srgbClr val="FFFFFF"/>
            </a:solidFill>
            <a:prstDash val="solid"/>
          </a:ln>
          <a:effectLst>
            <a:outerShdw sx="100000" sy="100000" kx="0" ky="0" algn="bl" rotWithShape="0" blurRad="76200" dist="25400" dir="5400000">
              <a:srgbClr val="000000">
                <a:alpha val="12000"/>
              </a:srgbClr>
            </a:outerShdw>
          </a:effectLst>
        </p:spPr>
      </p:sp>
      <p:sp>
        <p:nvSpPr>
          <p:cNvPr id="17" name="Shape 13"/>
          <p:cNvSpPr/>
          <p:nvPr/>
        </p:nvSpPr>
        <p:spPr>
          <a:xfrm>
            <a:off x="749808" y="4005072"/>
            <a:ext cx="621792" cy="621792"/>
          </a:xfrm>
          <a:prstGeom prst="ellipse">
            <a:avLst/>
          </a:prstGeom>
          <a:solidFill>
            <a:srgbClr val="3A3F73"/>
          </a:solidFill>
          <a:ln w="12700">
            <a:solidFill>
              <a:srgbClr val="3A3F73"/>
            </a:solidFill>
            <a:prstDash val="solid"/>
          </a:ln>
        </p:spPr>
      </p:sp>
      <p:pic>
        <p:nvPicPr>
          <p:cNvPr id="18" name="Image 2" descr="preencoded.png">    </p:cNvPr>
          <p:cNvPicPr>
            <a:picLocks noChangeAspect="1"/>
          </p:cNvPicPr>
          <p:nvPr/>
        </p:nvPicPr>
        <p:blipFill>
          <a:blip r:embed="rId3"/>
          <a:stretch>
            <a:fillRect/>
          </a:stretch>
        </p:blipFill>
        <p:spPr>
          <a:xfrm>
            <a:off x="911474" y="4166738"/>
            <a:ext cx="298460" cy="298460"/>
          </a:xfrm>
          <a:prstGeom prst="rect">
            <a:avLst/>
          </a:prstGeom>
        </p:spPr>
      </p:pic>
      <p:sp>
        <p:nvSpPr>
          <p:cNvPr id="19" name="Text 14"/>
          <p:cNvSpPr txBox="1"/>
          <p:nvPr/>
        </p:nvSpPr>
        <p:spPr>
          <a:xfrm>
            <a:off x="1554480" y="3931920"/>
            <a:ext cx="4023360" cy="320040"/>
          </a:xfrm>
          <a:prstGeom prst="rect">
            <a:avLst/>
          </a:prstGeom>
          <a:noFill/>
          <a:ln/>
        </p:spPr>
        <p:txBody>
          <a:bodyPr wrap="square" lIns="0" tIns="0" rIns="0" bIns="0" rtlCol="0" anchor="t"/>
          <a:lstStyle/>
          <a:p>
            <a:pPr indent="0" marL="0">
              <a:buNone/>
            </a:pPr>
            <a:r>
              <a:rPr lang="en-US" sz="1400" b="1" dirty="0">
                <a:solidFill>
                  <a:srgbClr val="3A3F73"/>
                </a:solidFill>
                <a:latin typeface="Meiryo UI" pitchFamily="34" charset="0"/>
                <a:ea typeface="Meiryo UI" pitchFamily="34" charset="-122"/>
                <a:cs typeface="Meiryo UI" pitchFamily="34" charset="-120"/>
              </a:rPr>
              <a:t>反応の可視化</a:t>
            </a:r>
            <a:endParaRPr lang="en-US" sz="1400" dirty="0"/>
          </a:p>
        </p:txBody>
      </p:sp>
      <p:sp>
        <p:nvSpPr>
          <p:cNvPr id="20" name="Text 15"/>
          <p:cNvSpPr txBox="1"/>
          <p:nvPr/>
        </p:nvSpPr>
        <p:spPr>
          <a:xfrm>
            <a:off x="1554480" y="4261104"/>
            <a:ext cx="4069080" cy="502920"/>
          </a:xfrm>
          <a:prstGeom prst="rect">
            <a:avLst/>
          </a:prstGeom>
          <a:noFill/>
          <a:ln/>
        </p:spPr>
        <p:txBody>
          <a:bodyPr wrap="square" lIns="0" tIns="0" rIns="0" bIns="0" rtlCol="0" anchor="t"/>
          <a:lstStyle/>
          <a:p>
            <a:pPr indent="0" marL="0">
              <a:buNone/>
            </a:pPr>
            <a:r>
              <a:rPr lang="en-US" sz="1150" dirty="0">
                <a:solidFill>
                  <a:srgbClr val="2A2B38"/>
                </a:solidFill>
                <a:latin typeface="Meiryo UI" pitchFamily="34" charset="0"/>
                <a:ea typeface="Meiryo UI" pitchFamily="34" charset="-122"/>
                <a:cs typeface="Meiryo UI" pitchFamily="34" charset="-120"/>
              </a:rPr>
              <a:t>視聴状況と問い合わせの経路を把握し、反応の良いテーマの動画を増やす</a:t>
            </a:r>
            <a:endParaRPr lang="en-US" sz="1150" dirty="0"/>
          </a:p>
        </p:txBody>
      </p:sp>
      <p:sp>
        <p:nvSpPr>
          <p:cNvPr id="21" name="Shape 16"/>
          <p:cNvSpPr/>
          <p:nvPr/>
        </p:nvSpPr>
        <p:spPr>
          <a:xfrm>
            <a:off x="548640" y="4974336"/>
            <a:ext cx="5212080" cy="1024128"/>
          </a:xfrm>
          <a:prstGeom prst="roundRect">
            <a:avLst>
              <a:gd name="adj" fmla="val 10714"/>
            </a:avLst>
          </a:prstGeom>
          <a:solidFill>
            <a:srgbClr val="FFFFFF"/>
          </a:solidFill>
          <a:ln w="12700">
            <a:solidFill>
              <a:srgbClr val="FFFFFF"/>
            </a:solidFill>
            <a:prstDash val="solid"/>
          </a:ln>
          <a:effectLst>
            <a:outerShdw sx="100000" sy="100000" kx="0" ky="0" algn="bl" rotWithShape="0" blurRad="76200" dist="25400" dir="5400000">
              <a:srgbClr val="000000">
                <a:alpha val="12000"/>
              </a:srgbClr>
            </a:outerShdw>
          </a:effectLst>
        </p:spPr>
      </p:sp>
      <p:sp>
        <p:nvSpPr>
          <p:cNvPr id="22" name="Shape 17"/>
          <p:cNvSpPr/>
          <p:nvPr/>
        </p:nvSpPr>
        <p:spPr>
          <a:xfrm>
            <a:off x="749808" y="5175504"/>
            <a:ext cx="621792" cy="621792"/>
          </a:xfrm>
          <a:prstGeom prst="ellipse">
            <a:avLst/>
          </a:prstGeom>
          <a:solidFill>
            <a:srgbClr val="3A3F73"/>
          </a:solidFill>
          <a:ln w="12700">
            <a:solidFill>
              <a:srgbClr val="3A3F73"/>
            </a:solidFill>
            <a:prstDash val="solid"/>
          </a:ln>
        </p:spPr>
      </p:sp>
      <p:pic>
        <p:nvPicPr>
          <p:cNvPr id="23" name="Image 3" descr="preencoded.png">    </p:cNvPr>
          <p:cNvPicPr>
            <a:picLocks noChangeAspect="1"/>
          </p:cNvPicPr>
          <p:nvPr/>
        </p:nvPicPr>
        <p:blipFill>
          <a:blip r:embed="rId4"/>
          <a:stretch>
            <a:fillRect/>
          </a:stretch>
        </p:blipFill>
        <p:spPr>
          <a:xfrm>
            <a:off x="911474" y="5337170"/>
            <a:ext cx="298460" cy="298460"/>
          </a:xfrm>
          <a:prstGeom prst="rect">
            <a:avLst/>
          </a:prstGeom>
        </p:spPr>
      </p:pic>
      <p:sp>
        <p:nvSpPr>
          <p:cNvPr id="24" name="Text 18"/>
          <p:cNvSpPr txBox="1"/>
          <p:nvPr/>
        </p:nvSpPr>
        <p:spPr>
          <a:xfrm>
            <a:off x="1554480" y="5102352"/>
            <a:ext cx="4023360" cy="320040"/>
          </a:xfrm>
          <a:prstGeom prst="rect">
            <a:avLst/>
          </a:prstGeom>
          <a:noFill/>
          <a:ln/>
        </p:spPr>
        <p:txBody>
          <a:bodyPr wrap="square" lIns="0" tIns="0" rIns="0" bIns="0" rtlCol="0" anchor="t"/>
          <a:lstStyle/>
          <a:p>
            <a:pPr indent="0" marL="0">
              <a:buNone/>
            </a:pPr>
            <a:r>
              <a:rPr lang="en-US" sz="1400" b="1" dirty="0">
                <a:solidFill>
                  <a:srgbClr val="3A3F73"/>
                </a:solidFill>
                <a:latin typeface="Meiryo UI" pitchFamily="34" charset="0"/>
                <a:ea typeface="Meiryo UI" pitchFamily="34" charset="-122"/>
                <a:cs typeface="Meiryo UI" pitchFamily="34" charset="-120"/>
              </a:rPr>
              <a:t>紹介の“バトン”化</a:t>
            </a:r>
            <a:endParaRPr lang="en-US" sz="1400" dirty="0"/>
          </a:p>
        </p:txBody>
      </p:sp>
      <p:sp>
        <p:nvSpPr>
          <p:cNvPr id="25" name="Text 19"/>
          <p:cNvSpPr txBox="1"/>
          <p:nvPr/>
        </p:nvSpPr>
        <p:spPr>
          <a:xfrm>
            <a:off x="1554480" y="5431536"/>
            <a:ext cx="4069080" cy="502920"/>
          </a:xfrm>
          <a:prstGeom prst="rect">
            <a:avLst/>
          </a:prstGeom>
          <a:noFill/>
          <a:ln/>
        </p:spPr>
        <p:txBody>
          <a:bodyPr wrap="square" lIns="0" tIns="0" rIns="0" bIns="0" rtlCol="0" anchor="t"/>
          <a:lstStyle/>
          <a:p>
            <a:pPr indent="0" marL="0">
              <a:buNone/>
            </a:pPr>
            <a:r>
              <a:rPr lang="en-US" sz="1150" dirty="0">
                <a:solidFill>
                  <a:srgbClr val="2A2B38"/>
                </a:solidFill>
                <a:latin typeface="Meiryo UI" pitchFamily="34" charset="0"/>
                <a:ea typeface="Meiryo UI" pitchFamily="34" charset="-122"/>
                <a:cs typeface="Meiryo UI" pitchFamily="34" charset="-120"/>
              </a:rPr>
              <a:t>顧問先や紹介者が転送しやすい動画で、紹介時の説明を肩代わり</a:t>
            </a:r>
            <a:endParaRPr lang="en-US" sz="1150" dirty="0"/>
          </a:p>
        </p:txBody>
      </p:sp>
      <p:sp>
        <p:nvSpPr>
          <p:cNvPr id="26" name="Text 20"/>
          <p:cNvSpPr txBox="1"/>
          <p:nvPr/>
        </p:nvSpPr>
        <p:spPr>
          <a:xfrm>
            <a:off x="6172200" y="1463040"/>
            <a:ext cx="4572000" cy="365760"/>
          </a:xfrm>
          <a:prstGeom prst="rect">
            <a:avLst/>
          </a:prstGeom>
          <a:noFill/>
          <a:ln/>
        </p:spPr>
        <p:txBody>
          <a:bodyPr wrap="square" lIns="0" tIns="0" rIns="0" bIns="0" rtlCol="0" anchor="t"/>
          <a:lstStyle/>
          <a:p>
            <a:pPr indent="0" marL="0">
              <a:buNone/>
            </a:pPr>
            <a:r>
              <a:rPr lang="en-US" sz="1500" b="1" dirty="0">
                <a:solidFill>
                  <a:srgbClr val="A87A1C"/>
                </a:solidFill>
                <a:latin typeface="Meiryo UI" pitchFamily="34" charset="0"/>
                <a:ea typeface="Meiryo UI" pitchFamily="34" charset="-122"/>
                <a:cs typeface="Meiryo UI" pitchFamily="34" charset="-120"/>
              </a:rPr>
              <a:t>プッシュ施策のKPI（例）</a:t>
            </a:r>
            <a:endParaRPr lang="en-US" sz="1500" dirty="0"/>
          </a:p>
        </p:txBody>
      </p:sp>
      <p:graphicFrame>
        <p:nvGraphicFramePr>
          <p:cNvPr id="11" name="Table 0"/>
          <p:cNvGraphicFramePr>
            <a:graphicFrameLocks noGrp="1"/>
          </p:cNvGraphicFramePr>
          <p:nvPr>
            <p:extLst>
              <p:ext uri="{D42A27DB-BD31-4B8C-83A1-F6EECF244321}">
                <p14:modId xmlns:p14="http://schemas.microsoft.com/office/powerpoint/2010/main" val="1579011935"/>
              </p:ext>
            </p:extLst>
          </p:nvPr>
        </p:nvGraphicFramePr>
        <p:xfrm>
          <a:off x="6172200" y="1920240"/>
          <a:ext cx="5468112" cy="914400"/>
        </p:xfrm>
        <a:graphic>
          <a:graphicData uri="http://schemas.openxmlformats.org/drawingml/2006/table">
            <a:tbl>
              <a:tblPr/>
              <a:tblGrid>
                <a:gridCol w="1600200"/>
                <a:gridCol w="2468880"/>
                <a:gridCol w="1399032"/>
              </a:tblGrid>
              <a:tr h="566928">
                <a:tc>
                  <a:txBody>
                    <a:bodyPr/>
                    <a:lstStyle/>
                    <a:p>
                      <a:pPr indent="0" marL="0">
                        <a:buNone/>
                      </a:pPr>
                      <a:r>
                        <a:rPr lang="en-US" sz="1200" b="1" dirty="0">
                          <a:solidFill>
                            <a:srgbClr val="FFFFFF"/>
                          </a:solidFill>
                          <a:latin typeface="Meiryo UI" pitchFamily="34" charset="0"/>
                          <a:ea typeface="Meiryo UI" pitchFamily="34" charset="-122"/>
                          <a:cs typeface="Meiryo UI" pitchFamily="34" charset="-120"/>
                        </a:rPr>
                        <a:t>指標</a:t>
                      </a:r>
                      <a:endParaRPr lang="en-US" sz="1200" dirty="0">
                        <a:latin typeface="Meiryo UI" charset="0"/>
                        <a:ea typeface="Meiryo UI" charset="0"/>
                        <a:cs typeface="Meiryo UI" charset="0"/>
                      </a:endParaRPr>
                    </a:p>
                  </a:txBody>
                  <a:tcPr marL="91440" marR="91440" marT="45720" marB="45720" anchor="ctr">
                    <a:lnL w="9525" cap="flat" cmpd="sng" algn="ctr">
                      <a:solidFill>
                        <a:srgbClr val="D9DBEA"/>
                      </a:solidFill>
                      <a:prstDash val="solid"/>
                      <a:round/>
                      <a:headEnd type="none" w="med" len="med"/>
                      <a:tailEnd type="none" w="med" len="med"/>
                    </a:lnL>
                    <a:lnR w="9525" cap="flat" cmpd="sng" algn="ctr">
                      <a:solidFill>
                        <a:srgbClr val="D9DBEA"/>
                      </a:solidFill>
                      <a:prstDash val="solid"/>
                      <a:round/>
                      <a:headEnd type="none" w="med" len="med"/>
                      <a:tailEnd type="none" w="med" len="med"/>
                    </a:lnR>
                    <a:lnT w="9525" cap="flat" cmpd="sng" algn="ctr">
                      <a:solidFill>
                        <a:srgbClr val="D9DBEA"/>
                      </a:solidFill>
                      <a:prstDash val="solid"/>
                      <a:round/>
                      <a:headEnd type="none" w="med" len="med"/>
                      <a:tailEnd type="none" w="med" len="med"/>
                    </a:lnT>
                    <a:lnB w="9525" cap="flat" cmpd="sng" algn="ctr">
                      <a:solidFill>
                        <a:srgbClr val="D9DBEA"/>
                      </a:solidFill>
                      <a:prstDash val="solid"/>
                      <a:round/>
                      <a:headEnd type="none" w="med" len="med"/>
                      <a:tailEnd type="none" w="med" len="med"/>
                    </a:lnB>
                    <a:solidFill>
                      <a:srgbClr val="3A3F73"/>
                    </a:solidFill>
                  </a:tcPr>
                </a:tc>
                <a:tc>
                  <a:txBody>
                    <a:bodyPr/>
                    <a:lstStyle/>
                    <a:p>
                      <a:pPr indent="0" marL="0">
                        <a:buNone/>
                      </a:pPr>
                      <a:r>
                        <a:rPr lang="en-US" sz="1200" b="1" dirty="0">
                          <a:solidFill>
                            <a:srgbClr val="FFFFFF"/>
                          </a:solidFill>
                          <a:latin typeface="Meiryo UI" pitchFamily="34" charset="0"/>
                          <a:ea typeface="Meiryo UI" pitchFamily="34" charset="-122"/>
                          <a:cs typeface="Meiryo UI" pitchFamily="34" charset="-120"/>
                        </a:rPr>
                        <a:t>定義</a:t>
                      </a:r>
                      <a:endParaRPr lang="en-US" sz="1200" dirty="0">
                        <a:latin typeface="Meiryo UI" charset="0"/>
                        <a:ea typeface="Meiryo UI" charset="0"/>
                        <a:cs typeface="Meiryo UI" charset="0"/>
                      </a:endParaRPr>
                    </a:p>
                  </a:txBody>
                  <a:tcPr marL="91440" marR="91440" marT="45720" marB="45720" anchor="ctr">
                    <a:lnL w="9525" cap="flat" cmpd="sng" algn="ctr">
                      <a:solidFill>
                        <a:srgbClr val="D9DBEA"/>
                      </a:solidFill>
                      <a:prstDash val="solid"/>
                      <a:round/>
                      <a:headEnd type="none" w="med" len="med"/>
                      <a:tailEnd type="none" w="med" len="med"/>
                    </a:lnL>
                    <a:lnR w="9525" cap="flat" cmpd="sng" algn="ctr">
                      <a:solidFill>
                        <a:srgbClr val="D9DBEA"/>
                      </a:solidFill>
                      <a:prstDash val="solid"/>
                      <a:round/>
                      <a:headEnd type="none" w="med" len="med"/>
                      <a:tailEnd type="none" w="med" len="med"/>
                    </a:lnR>
                    <a:lnT w="9525" cap="flat" cmpd="sng" algn="ctr">
                      <a:solidFill>
                        <a:srgbClr val="D9DBEA"/>
                      </a:solidFill>
                      <a:prstDash val="solid"/>
                      <a:round/>
                      <a:headEnd type="none" w="med" len="med"/>
                      <a:tailEnd type="none" w="med" len="med"/>
                    </a:lnT>
                    <a:lnB w="9525" cap="flat" cmpd="sng" algn="ctr">
                      <a:solidFill>
                        <a:srgbClr val="D9DBEA"/>
                      </a:solidFill>
                      <a:prstDash val="solid"/>
                      <a:round/>
                      <a:headEnd type="none" w="med" len="med"/>
                      <a:tailEnd type="none" w="med" len="med"/>
                    </a:lnB>
                    <a:solidFill>
                      <a:srgbClr val="3A3F73"/>
                    </a:solidFill>
                  </a:tcPr>
                </a:tc>
                <a:tc>
                  <a:txBody>
                    <a:bodyPr/>
                    <a:lstStyle/>
                    <a:p>
                      <a:pPr indent="0" marL="0">
                        <a:buNone/>
                      </a:pPr>
                      <a:r>
                        <a:rPr lang="en-US" sz="1200" b="1" dirty="0">
                          <a:solidFill>
                            <a:srgbClr val="FFFFFF"/>
                          </a:solidFill>
                          <a:latin typeface="Meiryo UI" pitchFamily="34" charset="0"/>
                          <a:ea typeface="Meiryo UI" pitchFamily="34" charset="-122"/>
                          <a:cs typeface="Meiryo UI" pitchFamily="34" charset="-120"/>
                        </a:rPr>
                        <a:t>測定方法</a:t>
                      </a:r>
                      <a:endParaRPr lang="en-US" sz="1200" dirty="0">
                        <a:latin typeface="Meiryo UI" charset="0"/>
                        <a:ea typeface="Meiryo UI" charset="0"/>
                        <a:cs typeface="Meiryo UI" charset="0"/>
                      </a:endParaRPr>
                    </a:p>
                  </a:txBody>
                  <a:tcPr marL="91440" marR="91440" marT="45720" marB="45720" anchor="ctr">
                    <a:lnL w="9525" cap="flat" cmpd="sng" algn="ctr">
                      <a:solidFill>
                        <a:srgbClr val="D9DBEA"/>
                      </a:solidFill>
                      <a:prstDash val="solid"/>
                      <a:round/>
                      <a:headEnd type="none" w="med" len="med"/>
                      <a:tailEnd type="none" w="med" len="med"/>
                    </a:lnL>
                    <a:lnR w="9525" cap="flat" cmpd="sng" algn="ctr">
                      <a:solidFill>
                        <a:srgbClr val="D9DBEA"/>
                      </a:solidFill>
                      <a:prstDash val="solid"/>
                      <a:round/>
                      <a:headEnd type="none" w="med" len="med"/>
                      <a:tailEnd type="none" w="med" len="med"/>
                    </a:lnR>
                    <a:lnT w="9525" cap="flat" cmpd="sng" algn="ctr">
                      <a:solidFill>
                        <a:srgbClr val="D9DBEA"/>
                      </a:solidFill>
                      <a:prstDash val="solid"/>
                      <a:round/>
                      <a:headEnd type="none" w="med" len="med"/>
                      <a:tailEnd type="none" w="med" len="med"/>
                    </a:lnT>
                    <a:lnB w="9525" cap="flat" cmpd="sng" algn="ctr">
                      <a:solidFill>
                        <a:srgbClr val="D9DBEA"/>
                      </a:solidFill>
                      <a:prstDash val="solid"/>
                      <a:round/>
                      <a:headEnd type="none" w="med" len="med"/>
                      <a:tailEnd type="none" w="med" len="med"/>
                    </a:lnB>
                    <a:solidFill>
                      <a:srgbClr val="3A3F73"/>
                    </a:solidFill>
                  </a:tcPr>
                </a:tc>
              </a:tr>
              <a:tr h="566928">
                <a:tc>
                  <a:txBody>
                    <a:bodyPr/>
                    <a:lstStyle/>
                    <a:p>
                      <a:pPr indent="0" marL="0">
                        <a:buNone/>
                      </a:pPr>
                      <a:r>
                        <a:rPr lang="en-US" sz="1150" b="1" dirty="0">
                          <a:solidFill>
                            <a:srgbClr val="3A3F73"/>
                          </a:solidFill>
                          <a:latin typeface="Meiryo UI" pitchFamily="34" charset="0"/>
                          <a:ea typeface="Meiryo UI" pitchFamily="34" charset="-122"/>
                          <a:cs typeface="Meiryo UI" pitchFamily="34" charset="-120"/>
                        </a:rPr>
                        <a:t>紹介件数</a:t>
                      </a:r>
                      <a:endParaRPr lang="en-US" sz="1150" dirty="0">
                        <a:latin typeface="Meiryo UI" charset="0"/>
                        <a:ea typeface="Meiryo UI" charset="0"/>
                        <a:cs typeface="Meiryo UI" charset="0"/>
                      </a:endParaRPr>
                    </a:p>
                  </a:txBody>
                  <a:tcPr marL="91440" marR="91440" marT="45720" marB="45720" anchor="ctr">
                    <a:lnL w="9525" cap="flat" cmpd="sng" algn="ctr">
                      <a:solidFill>
                        <a:srgbClr val="D9DBEA"/>
                      </a:solidFill>
                      <a:prstDash val="solid"/>
                      <a:round/>
                      <a:headEnd type="none" w="med" len="med"/>
                      <a:tailEnd type="none" w="med" len="med"/>
                    </a:lnL>
                    <a:lnR w="9525" cap="flat" cmpd="sng" algn="ctr">
                      <a:solidFill>
                        <a:srgbClr val="D9DBEA"/>
                      </a:solidFill>
                      <a:prstDash val="solid"/>
                      <a:round/>
                      <a:headEnd type="none" w="med" len="med"/>
                      <a:tailEnd type="none" w="med" len="med"/>
                    </a:lnR>
                    <a:lnT w="9525" cap="flat" cmpd="sng" algn="ctr">
                      <a:solidFill>
                        <a:srgbClr val="D9DBEA"/>
                      </a:solidFill>
                      <a:prstDash val="solid"/>
                      <a:round/>
                      <a:headEnd type="none" w="med" len="med"/>
                      <a:tailEnd type="none" w="med" len="med"/>
                    </a:lnT>
                    <a:lnB w="9525" cap="flat" cmpd="sng" algn="ctr">
                      <a:solidFill>
                        <a:srgbClr val="D9DBEA"/>
                      </a:solidFill>
                      <a:prstDash val="solid"/>
                      <a:round/>
                      <a:headEnd type="none" w="med" len="med"/>
                      <a:tailEnd type="none" w="med" len="med"/>
                    </a:lnB>
                    <a:solidFill>
                      <a:srgbClr val="FFFFFF"/>
                    </a:solidFill>
                  </a:tcPr>
                </a:tc>
                <a:tc>
                  <a:txBody>
                    <a:bodyPr/>
                    <a:lstStyle/>
                    <a:p>
                      <a:pPr indent="0" marL="0">
                        <a:buNone/>
                      </a:pPr>
                      <a:r>
                        <a:rPr lang="en-US" sz="1150" dirty="0">
                          <a:solidFill>
                            <a:srgbClr val="2A2B38"/>
                          </a:solidFill>
                          <a:latin typeface="Meiryo UI" pitchFamily="34" charset="0"/>
                          <a:ea typeface="Meiryo UI" pitchFamily="34" charset="-122"/>
                          <a:cs typeface="Meiryo UI" pitchFamily="34" charset="-120"/>
                        </a:rPr>
                        <a:t>顧問先・紹介者からの新規相談数</a:t>
                      </a:r>
                      <a:endParaRPr lang="en-US" sz="1150" dirty="0">
                        <a:latin typeface="Meiryo UI" charset="0"/>
                        <a:ea typeface="Meiryo UI" charset="0"/>
                        <a:cs typeface="Meiryo UI" charset="0"/>
                      </a:endParaRPr>
                    </a:p>
                  </a:txBody>
                  <a:tcPr marL="91440" marR="91440" marT="45720" marB="45720" anchor="ctr">
                    <a:lnL w="9525" cap="flat" cmpd="sng" algn="ctr">
                      <a:solidFill>
                        <a:srgbClr val="D9DBEA"/>
                      </a:solidFill>
                      <a:prstDash val="solid"/>
                      <a:round/>
                      <a:headEnd type="none" w="med" len="med"/>
                      <a:tailEnd type="none" w="med" len="med"/>
                    </a:lnL>
                    <a:lnR w="9525" cap="flat" cmpd="sng" algn="ctr">
                      <a:solidFill>
                        <a:srgbClr val="D9DBEA"/>
                      </a:solidFill>
                      <a:prstDash val="solid"/>
                      <a:round/>
                      <a:headEnd type="none" w="med" len="med"/>
                      <a:tailEnd type="none" w="med" len="med"/>
                    </a:lnR>
                    <a:lnT w="9525" cap="flat" cmpd="sng" algn="ctr">
                      <a:solidFill>
                        <a:srgbClr val="D9DBEA"/>
                      </a:solidFill>
                      <a:prstDash val="solid"/>
                      <a:round/>
                      <a:headEnd type="none" w="med" len="med"/>
                      <a:tailEnd type="none" w="med" len="med"/>
                    </a:lnT>
                    <a:lnB w="9525" cap="flat" cmpd="sng" algn="ctr">
                      <a:solidFill>
                        <a:srgbClr val="D9DBEA"/>
                      </a:solidFill>
                      <a:prstDash val="solid"/>
                      <a:round/>
                      <a:headEnd type="none" w="med" len="med"/>
                      <a:tailEnd type="none" w="med" len="med"/>
                    </a:lnB>
                    <a:solidFill>
                      <a:srgbClr val="FFFFFF"/>
                    </a:solidFill>
                  </a:tcPr>
                </a:tc>
                <a:tc>
                  <a:txBody>
                    <a:bodyPr/>
                    <a:lstStyle/>
                    <a:p>
                      <a:pPr indent="0" marL="0">
                        <a:buNone/>
                      </a:pPr>
                      <a:r>
                        <a:rPr lang="en-US" sz="1150" dirty="0">
                          <a:solidFill>
                            <a:srgbClr val="2A2B38"/>
                          </a:solidFill>
                          <a:latin typeface="Meiryo UI" pitchFamily="34" charset="0"/>
                          <a:ea typeface="Meiryo UI" pitchFamily="34" charset="-122"/>
                          <a:cs typeface="Meiryo UI" pitchFamily="34" charset="-120"/>
                        </a:rPr>
                        <a:t>相談経路の記録</a:t>
                      </a:r>
                      <a:endParaRPr lang="en-US" sz="1150" dirty="0">
                        <a:latin typeface="Meiryo UI" charset="0"/>
                        <a:ea typeface="Meiryo UI" charset="0"/>
                        <a:cs typeface="Meiryo UI" charset="0"/>
                      </a:endParaRPr>
                    </a:p>
                  </a:txBody>
                  <a:tcPr marL="91440" marR="91440" marT="45720" marB="45720" anchor="ctr">
                    <a:lnL w="9525" cap="flat" cmpd="sng" algn="ctr">
                      <a:solidFill>
                        <a:srgbClr val="D9DBEA"/>
                      </a:solidFill>
                      <a:prstDash val="solid"/>
                      <a:round/>
                      <a:headEnd type="none" w="med" len="med"/>
                      <a:tailEnd type="none" w="med" len="med"/>
                    </a:lnL>
                    <a:lnR w="9525" cap="flat" cmpd="sng" algn="ctr">
                      <a:solidFill>
                        <a:srgbClr val="D9DBEA"/>
                      </a:solidFill>
                      <a:prstDash val="solid"/>
                      <a:round/>
                      <a:headEnd type="none" w="med" len="med"/>
                      <a:tailEnd type="none" w="med" len="med"/>
                    </a:lnR>
                    <a:lnT w="9525" cap="flat" cmpd="sng" algn="ctr">
                      <a:solidFill>
                        <a:srgbClr val="D9DBEA"/>
                      </a:solidFill>
                      <a:prstDash val="solid"/>
                      <a:round/>
                      <a:headEnd type="none" w="med" len="med"/>
                      <a:tailEnd type="none" w="med" len="med"/>
                    </a:lnT>
                    <a:lnB w="9525" cap="flat" cmpd="sng" algn="ctr">
                      <a:solidFill>
                        <a:srgbClr val="D9DBEA"/>
                      </a:solidFill>
                      <a:prstDash val="solid"/>
                      <a:round/>
                      <a:headEnd type="none" w="med" len="med"/>
                      <a:tailEnd type="none" w="med" len="med"/>
                    </a:lnB>
                    <a:solidFill>
                      <a:srgbClr val="FFFFFF"/>
                    </a:solidFill>
                  </a:tcPr>
                </a:tc>
              </a:tr>
              <a:tr h="566928">
                <a:tc>
                  <a:txBody>
                    <a:bodyPr/>
                    <a:lstStyle/>
                    <a:p>
                      <a:pPr indent="0" marL="0">
                        <a:buNone/>
                      </a:pPr>
                      <a:r>
                        <a:rPr lang="en-US" sz="1150" b="1" dirty="0">
                          <a:solidFill>
                            <a:srgbClr val="3A3F73"/>
                          </a:solidFill>
                          <a:latin typeface="Meiryo UI" pitchFamily="34" charset="0"/>
                          <a:ea typeface="Meiryo UI" pitchFamily="34" charset="-122"/>
                          <a:cs typeface="Meiryo UI" pitchFamily="34" charset="-120"/>
                        </a:rPr>
                        <a:t>HP問い合わせ数</a:t>
                      </a:r>
                      <a:endParaRPr lang="en-US" sz="1150" dirty="0">
                        <a:latin typeface="Meiryo UI" charset="0"/>
                        <a:ea typeface="Meiryo UI" charset="0"/>
                        <a:cs typeface="Meiryo UI" charset="0"/>
                      </a:endParaRPr>
                    </a:p>
                  </a:txBody>
                  <a:tcPr marL="91440" marR="91440" marT="45720" marB="45720" anchor="ctr">
                    <a:lnL w="9525" cap="flat" cmpd="sng" algn="ctr">
                      <a:solidFill>
                        <a:srgbClr val="D9DBEA"/>
                      </a:solidFill>
                      <a:prstDash val="solid"/>
                      <a:round/>
                      <a:headEnd type="none" w="med" len="med"/>
                      <a:tailEnd type="none" w="med" len="med"/>
                    </a:lnL>
                    <a:lnR w="9525" cap="flat" cmpd="sng" algn="ctr">
                      <a:solidFill>
                        <a:srgbClr val="D9DBEA"/>
                      </a:solidFill>
                      <a:prstDash val="solid"/>
                      <a:round/>
                      <a:headEnd type="none" w="med" len="med"/>
                      <a:tailEnd type="none" w="med" len="med"/>
                    </a:lnR>
                    <a:lnT w="9525" cap="flat" cmpd="sng" algn="ctr">
                      <a:solidFill>
                        <a:srgbClr val="D9DBEA"/>
                      </a:solidFill>
                      <a:prstDash val="solid"/>
                      <a:round/>
                      <a:headEnd type="none" w="med" len="med"/>
                      <a:tailEnd type="none" w="med" len="med"/>
                    </a:lnT>
                    <a:lnB w="9525" cap="flat" cmpd="sng" algn="ctr">
                      <a:solidFill>
                        <a:srgbClr val="D9DBEA"/>
                      </a:solidFill>
                      <a:prstDash val="solid"/>
                      <a:round/>
                      <a:headEnd type="none" w="med" len="med"/>
                      <a:tailEnd type="none" w="med" len="med"/>
                    </a:lnB>
                    <a:solidFill>
                      <a:srgbClr val="F6F7FB"/>
                    </a:solidFill>
                  </a:tcPr>
                </a:tc>
                <a:tc>
                  <a:txBody>
                    <a:bodyPr/>
                    <a:lstStyle/>
                    <a:p>
                      <a:pPr indent="0" marL="0">
                        <a:buNone/>
                      </a:pPr>
                      <a:r>
                        <a:rPr lang="en-US" sz="1150" dirty="0">
                          <a:solidFill>
                            <a:srgbClr val="2A2B38"/>
                          </a:solidFill>
                          <a:latin typeface="Meiryo UI" pitchFamily="34" charset="0"/>
                          <a:ea typeface="Meiryo UI" pitchFamily="34" charset="-122"/>
                          <a:cs typeface="Meiryo UI" pitchFamily="34" charset="-120"/>
                        </a:rPr>
                        <a:t>HP・フォーム経由の問い合わせ</a:t>
                      </a:r>
                      <a:endParaRPr lang="en-US" sz="1150" dirty="0">
                        <a:latin typeface="Meiryo UI" charset="0"/>
                        <a:ea typeface="Meiryo UI" charset="0"/>
                        <a:cs typeface="Meiryo UI" charset="0"/>
                      </a:endParaRPr>
                    </a:p>
                  </a:txBody>
                  <a:tcPr marL="91440" marR="91440" marT="45720" marB="45720" anchor="ctr">
                    <a:lnL w="9525" cap="flat" cmpd="sng" algn="ctr">
                      <a:solidFill>
                        <a:srgbClr val="D9DBEA"/>
                      </a:solidFill>
                      <a:prstDash val="solid"/>
                      <a:round/>
                      <a:headEnd type="none" w="med" len="med"/>
                      <a:tailEnd type="none" w="med" len="med"/>
                    </a:lnL>
                    <a:lnR w="9525" cap="flat" cmpd="sng" algn="ctr">
                      <a:solidFill>
                        <a:srgbClr val="D9DBEA"/>
                      </a:solidFill>
                      <a:prstDash val="solid"/>
                      <a:round/>
                      <a:headEnd type="none" w="med" len="med"/>
                      <a:tailEnd type="none" w="med" len="med"/>
                    </a:lnR>
                    <a:lnT w="9525" cap="flat" cmpd="sng" algn="ctr">
                      <a:solidFill>
                        <a:srgbClr val="D9DBEA"/>
                      </a:solidFill>
                      <a:prstDash val="solid"/>
                      <a:round/>
                      <a:headEnd type="none" w="med" len="med"/>
                      <a:tailEnd type="none" w="med" len="med"/>
                    </a:lnT>
                    <a:lnB w="9525" cap="flat" cmpd="sng" algn="ctr">
                      <a:solidFill>
                        <a:srgbClr val="D9DBEA"/>
                      </a:solidFill>
                      <a:prstDash val="solid"/>
                      <a:round/>
                      <a:headEnd type="none" w="med" len="med"/>
                      <a:tailEnd type="none" w="med" len="med"/>
                    </a:lnB>
                    <a:solidFill>
                      <a:srgbClr val="F6F7FB"/>
                    </a:solidFill>
                  </a:tcPr>
                </a:tc>
                <a:tc>
                  <a:txBody>
                    <a:bodyPr/>
                    <a:lstStyle/>
                    <a:p>
                      <a:pPr indent="0" marL="0">
                        <a:buNone/>
                      </a:pPr>
                      <a:r>
                        <a:rPr lang="en-US" sz="1150" dirty="0">
                          <a:solidFill>
                            <a:srgbClr val="2A2B38"/>
                          </a:solidFill>
                          <a:latin typeface="Meiryo UI" pitchFamily="34" charset="0"/>
                          <a:ea typeface="Meiryo UI" pitchFamily="34" charset="-122"/>
                          <a:cs typeface="Meiryo UI" pitchFamily="34" charset="-120"/>
                        </a:rPr>
                        <a:t>フォーム・電話の記録</a:t>
                      </a:r>
                      <a:endParaRPr lang="en-US" sz="1150" dirty="0">
                        <a:latin typeface="Meiryo UI" charset="0"/>
                        <a:ea typeface="Meiryo UI" charset="0"/>
                        <a:cs typeface="Meiryo UI" charset="0"/>
                      </a:endParaRPr>
                    </a:p>
                  </a:txBody>
                  <a:tcPr marL="91440" marR="91440" marT="45720" marB="45720" anchor="ctr">
                    <a:lnL w="9525" cap="flat" cmpd="sng" algn="ctr">
                      <a:solidFill>
                        <a:srgbClr val="D9DBEA"/>
                      </a:solidFill>
                      <a:prstDash val="solid"/>
                      <a:round/>
                      <a:headEnd type="none" w="med" len="med"/>
                      <a:tailEnd type="none" w="med" len="med"/>
                    </a:lnL>
                    <a:lnR w="9525" cap="flat" cmpd="sng" algn="ctr">
                      <a:solidFill>
                        <a:srgbClr val="D9DBEA"/>
                      </a:solidFill>
                      <a:prstDash val="solid"/>
                      <a:round/>
                      <a:headEnd type="none" w="med" len="med"/>
                      <a:tailEnd type="none" w="med" len="med"/>
                    </a:lnR>
                    <a:lnT w="9525" cap="flat" cmpd="sng" algn="ctr">
                      <a:solidFill>
                        <a:srgbClr val="D9DBEA"/>
                      </a:solidFill>
                      <a:prstDash val="solid"/>
                      <a:round/>
                      <a:headEnd type="none" w="med" len="med"/>
                      <a:tailEnd type="none" w="med" len="med"/>
                    </a:lnT>
                    <a:lnB w="9525" cap="flat" cmpd="sng" algn="ctr">
                      <a:solidFill>
                        <a:srgbClr val="D9DBEA"/>
                      </a:solidFill>
                      <a:prstDash val="solid"/>
                      <a:round/>
                      <a:headEnd type="none" w="med" len="med"/>
                      <a:tailEnd type="none" w="med" len="med"/>
                    </a:lnB>
                    <a:solidFill>
                      <a:srgbClr val="F6F7FB"/>
                    </a:solidFill>
                  </a:tcPr>
                </a:tc>
              </a:tr>
              <a:tr h="566928">
                <a:tc>
                  <a:txBody>
                    <a:bodyPr/>
                    <a:lstStyle/>
                    <a:p>
                      <a:pPr indent="0" marL="0">
                        <a:buNone/>
                      </a:pPr>
                      <a:r>
                        <a:rPr lang="en-US" sz="1150" b="1" dirty="0">
                          <a:solidFill>
                            <a:srgbClr val="3A3F73"/>
                          </a:solidFill>
                          <a:latin typeface="Meiryo UI" pitchFamily="34" charset="0"/>
                          <a:ea typeface="Meiryo UI" pitchFamily="34" charset="-122"/>
                          <a:cs typeface="Meiryo UI" pitchFamily="34" charset="-120"/>
                        </a:rPr>
                        <a:t>面談化率</a:t>
                      </a:r>
                      <a:endParaRPr lang="en-US" sz="1150" dirty="0">
                        <a:latin typeface="Meiryo UI" charset="0"/>
                        <a:ea typeface="Meiryo UI" charset="0"/>
                        <a:cs typeface="Meiryo UI" charset="0"/>
                      </a:endParaRPr>
                    </a:p>
                  </a:txBody>
                  <a:tcPr marL="91440" marR="91440" marT="45720" marB="45720" anchor="ctr">
                    <a:lnL w="9525" cap="flat" cmpd="sng" algn="ctr">
                      <a:solidFill>
                        <a:srgbClr val="D9DBEA"/>
                      </a:solidFill>
                      <a:prstDash val="solid"/>
                      <a:round/>
                      <a:headEnd type="none" w="med" len="med"/>
                      <a:tailEnd type="none" w="med" len="med"/>
                    </a:lnL>
                    <a:lnR w="9525" cap="flat" cmpd="sng" algn="ctr">
                      <a:solidFill>
                        <a:srgbClr val="D9DBEA"/>
                      </a:solidFill>
                      <a:prstDash val="solid"/>
                      <a:round/>
                      <a:headEnd type="none" w="med" len="med"/>
                      <a:tailEnd type="none" w="med" len="med"/>
                    </a:lnR>
                    <a:lnT w="9525" cap="flat" cmpd="sng" algn="ctr">
                      <a:solidFill>
                        <a:srgbClr val="D9DBEA"/>
                      </a:solidFill>
                      <a:prstDash val="solid"/>
                      <a:round/>
                      <a:headEnd type="none" w="med" len="med"/>
                      <a:tailEnd type="none" w="med" len="med"/>
                    </a:lnT>
                    <a:lnB w="9525" cap="flat" cmpd="sng" algn="ctr">
                      <a:solidFill>
                        <a:srgbClr val="D9DBEA"/>
                      </a:solidFill>
                      <a:prstDash val="solid"/>
                      <a:round/>
                      <a:headEnd type="none" w="med" len="med"/>
                      <a:tailEnd type="none" w="med" len="med"/>
                    </a:lnB>
                    <a:solidFill>
                      <a:srgbClr val="FFFFFF"/>
                    </a:solidFill>
                  </a:tcPr>
                </a:tc>
                <a:tc>
                  <a:txBody>
                    <a:bodyPr/>
                    <a:lstStyle/>
                    <a:p>
                      <a:pPr indent="0" marL="0">
                        <a:buNone/>
                      </a:pPr>
                      <a:r>
                        <a:rPr lang="en-US" sz="1150" dirty="0">
                          <a:solidFill>
                            <a:srgbClr val="2A2B38"/>
                          </a:solidFill>
                          <a:latin typeface="Meiryo UI" pitchFamily="34" charset="0"/>
                          <a:ea typeface="Meiryo UI" pitchFamily="34" charset="-122"/>
                          <a:cs typeface="Meiryo UI" pitchFamily="34" charset="-120"/>
                        </a:rPr>
                        <a:t>問い合わせのうち初回面談に至った割合</a:t>
                      </a:r>
                      <a:endParaRPr lang="en-US" sz="1150" dirty="0">
                        <a:latin typeface="Meiryo UI" charset="0"/>
                        <a:ea typeface="Meiryo UI" charset="0"/>
                        <a:cs typeface="Meiryo UI" charset="0"/>
                      </a:endParaRPr>
                    </a:p>
                  </a:txBody>
                  <a:tcPr marL="91440" marR="91440" marT="45720" marB="45720" anchor="ctr">
                    <a:lnL w="9525" cap="flat" cmpd="sng" algn="ctr">
                      <a:solidFill>
                        <a:srgbClr val="D9DBEA"/>
                      </a:solidFill>
                      <a:prstDash val="solid"/>
                      <a:round/>
                      <a:headEnd type="none" w="med" len="med"/>
                      <a:tailEnd type="none" w="med" len="med"/>
                    </a:lnL>
                    <a:lnR w="9525" cap="flat" cmpd="sng" algn="ctr">
                      <a:solidFill>
                        <a:srgbClr val="D9DBEA"/>
                      </a:solidFill>
                      <a:prstDash val="solid"/>
                      <a:round/>
                      <a:headEnd type="none" w="med" len="med"/>
                      <a:tailEnd type="none" w="med" len="med"/>
                    </a:lnR>
                    <a:lnT w="9525" cap="flat" cmpd="sng" algn="ctr">
                      <a:solidFill>
                        <a:srgbClr val="D9DBEA"/>
                      </a:solidFill>
                      <a:prstDash val="solid"/>
                      <a:round/>
                      <a:headEnd type="none" w="med" len="med"/>
                      <a:tailEnd type="none" w="med" len="med"/>
                    </a:lnT>
                    <a:lnB w="9525" cap="flat" cmpd="sng" algn="ctr">
                      <a:solidFill>
                        <a:srgbClr val="D9DBEA"/>
                      </a:solidFill>
                      <a:prstDash val="solid"/>
                      <a:round/>
                      <a:headEnd type="none" w="med" len="med"/>
                      <a:tailEnd type="none" w="med" len="med"/>
                    </a:lnB>
                    <a:solidFill>
                      <a:srgbClr val="FFFFFF"/>
                    </a:solidFill>
                  </a:tcPr>
                </a:tc>
                <a:tc>
                  <a:txBody>
                    <a:bodyPr/>
                    <a:lstStyle/>
                    <a:p>
                      <a:pPr indent="0" marL="0">
                        <a:buNone/>
                      </a:pPr>
                      <a:r>
                        <a:rPr lang="en-US" sz="1150" dirty="0">
                          <a:solidFill>
                            <a:srgbClr val="2A2B38"/>
                          </a:solidFill>
                          <a:latin typeface="Meiryo UI" pitchFamily="34" charset="0"/>
                          <a:ea typeface="Meiryo UI" pitchFamily="34" charset="-122"/>
                          <a:cs typeface="Meiryo UI" pitchFamily="34" charset="-120"/>
                        </a:rPr>
                        <a:t>案件管理表</a:t>
                      </a:r>
                      <a:endParaRPr lang="en-US" sz="1150" dirty="0">
                        <a:latin typeface="Meiryo UI" charset="0"/>
                        <a:ea typeface="Meiryo UI" charset="0"/>
                        <a:cs typeface="Meiryo UI" charset="0"/>
                      </a:endParaRPr>
                    </a:p>
                  </a:txBody>
                  <a:tcPr marL="91440" marR="91440" marT="45720" marB="45720" anchor="ctr">
                    <a:lnL w="9525" cap="flat" cmpd="sng" algn="ctr">
                      <a:solidFill>
                        <a:srgbClr val="D9DBEA"/>
                      </a:solidFill>
                      <a:prstDash val="solid"/>
                      <a:round/>
                      <a:headEnd type="none" w="med" len="med"/>
                      <a:tailEnd type="none" w="med" len="med"/>
                    </a:lnL>
                    <a:lnR w="9525" cap="flat" cmpd="sng" algn="ctr">
                      <a:solidFill>
                        <a:srgbClr val="D9DBEA"/>
                      </a:solidFill>
                      <a:prstDash val="solid"/>
                      <a:round/>
                      <a:headEnd type="none" w="med" len="med"/>
                      <a:tailEnd type="none" w="med" len="med"/>
                    </a:lnR>
                    <a:lnT w="9525" cap="flat" cmpd="sng" algn="ctr">
                      <a:solidFill>
                        <a:srgbClr val="D9DBEA"/>
                      </a:solidFill>
                      <a:prstDash val="solid"/>
                      <a:round/>
                      <a:headEnd type="none" w="med" len="med"/>
                      <a:tailEnd type="none" w="med" len="med"/>
                    </a:lnT>
                    <a:lnB w="9525" cap="flat" cmpd="sng" algn="ctr">
                      <a:solidFill>
                        <a:srgbClr val="D9DBEA"/>
                      </a:solidFill>
                      <a:prstDash val="solid"/>
                      <a:round/>
                      <a:headEnd type="none" w="med" len="med"/>
                      <a:tailEnd type="none" w="med" len="med"/>
                    </a:lnB>
                    <a:solidFill>
                      <a:srgbClr val="FFFFFF"/>
                    </a:solidFill>
                  </a:tcPr>
                </a:tc>
              </a:tr>
              <a:tr h="566928">
                <a:tc>
                  <a:txBody>
                    <a:bodyPr/>
                    <a:lstStyle/>
                    <a:p>
                      <a:pPr indent="0" marL="0">
                        <a:buNone/>
                      </a:pPr>
                      <a:r>
                        <a:rPr lang="en-US" sz="1150" b="1" dirty="0">
                          <a:solidFill>
                            <a:srgbClr val="3A3F73"/>
                          </a:solidFill>
                          <a:latin typeface="Meiryo UI" pitchFamily="34" charset="0"/>
                          <a:ea typeface="Meiryo UI" pitchFamily="34" charset="-122"/>
                          <a:cs typeface="Meiryo UI" pitchFamily="34" charset="-120"/>
                        </a:rPr>
                        <a:t>契約率</a:t>
                      </a:r>
                      <a:endParaRPr lang="en-US" sz="1150" dirty="0">
                        <a:latin typeface="Meiryo UI" charset="0"/>
                        <a:ea typeface="Meiryo UI" charset="0"/>
                        <a:cs typeface="Meiryo UI" charset="0"/>
                      </a:endParaRPr>
                    </a:p>
                  </a:txBody>
                  <a:tcPr marL="91440" marR="91440" marT="45720" marB="45720" anchor="ctr">
                    <a:lnL w="9525" cap="flat" cmpd="sng" algn="ctr">
                      <a:solidFill>
                        <a:srgbClr val="D9DBEA"/>
                      </a:solidFill>
                      <a:prstDash val="solid"/>
                      <a:round/>
                      <a:headEnd type="none" w="med" len="med"/>
                      <a:tailEnd type="none" w="med" len="med"/>
                    </a:lnL>
                    <a:lnR w="9525" cap="flat" cmpd="sng" algn="ctr">
                      <a:solidFill>
                        <a:srgbClr val="D9DBEA"/>
                      </a:solidFill>
                      <a:prstDash val="solid"/>
                      <a:round/>
                      <a:headEnd type="none" w="med" len="med"/>
                      <a:tailEnd type="none" w="med" len="med"/>
                    </a:lnR>
                    <a:lnT w="9525" cap="flat" cmpd="sng" algn="ctr">
                      <a:solidFill>
                        <a:srgbClr val="D9DBEA"/>
                      </a:solidFill>
                      <a:prstDash val="solid"/>
                      <a:round/>
                      <a:headEnd type="none" w="med" len="med"/>
                      <a:tailEnd type="none" w="med" len="med"/>
                    </a:lnT>
                    <a:lnB w="9525" cap="flat" cmpd="sng" algn="ctr">
                      <a:solidFill>
                        <a:srgbClr val="D9DBEA"/>
                      </a:solidFill>
                      <a:prstDash val="solid"/>
                      <a:round/>
                      <a:headEnd type="none" w="med" len="med"/>
                      <a:tailEnd type="none" w="med" len="med"/>
                    </a:lnB>
                    <a:solidFill>
                      <a:srgbClr val="F6F7FB"/>
                    </a:solidFill>
                  </a:tcPr>
                </a:tc>
                <a:tc>
                  <a:txBody>
                    <a:bodyPr/>
                    <a:lstStyle/>
                    <a:p>
                      <a:pPr indent="0" marL="0">
                        <a:buNone/>
                      </a:pPr>
                      <a:r>
                        <a:rPr lang="en-US" sz="1150" dirty="0">
                          <a:solidFill>
                            <a:srgbClr val="2A2B38"/>
                          </a:solidFill>
                          <a:latin typeface="Meiryo UI" pitchFamily="34" charset="0"/>
                          <a:ea typeface="Meiryo UI" pitchFamily="34" charset="-122"/>
                          <a:cs typeface="Meiryo UI" pitchFamily="34" charset="-120"/>
                        </a:rPr>
                        <a:t>初回面談のうち契約に至った割合</a:t>
                      </a:r>
                      <a:endParaRPr lang="en-US" sz="1150" dirty="0">
                        <a:latin typeface="Meiryo UI" charset="0"/>
                        <a:ea typeface="Meiryo UI" charset="0"/>
                        <a:cs typeface="Meiryo UI" charset="0"/>
                      </a:endParaRPr>
                    </a:p>
                  </a:txBody>
                  <a:tcPr marL="91440" marR="91440" marT="45720" marB="45720" anchor="ctr">
                    <a:lnL w="9525" cap="flat" cmpd="sng" algn="ctr">
                      <a:solidFill>
                        <a:srgbClr val="D9DBEA"/>
                      </a:solidFill>
                      <a:prstDash val="solid"/>
                      <a:round/>
                      <a:headEnd type="none" w="med" len="med"/>
                      <a:tailEnd type="none" w="med" len="med"/>
                    </a:lnL>
                    <a:lnR w="9525" cap="flat" cmpd="sng" algn="ctr">
                      <a:solidFill>
                        <a:srgbClr val="D9DBEA"/>
                      </a:solidFill>
                      <a:prstDash val="solid"/>
                      <a:round/>
                      <a:headEnd type="none" w="med" len="med"/>
                      <a:tailEnd type="none" w="med" len="med"/>
                    </a:lnR>
                    <a:lnT w="9525" cap="flat" cmpd="sng" algn="ctr">
                      <a:solidFill>
                        <a:srgbClr val="D9DBEA"/>
                      </a:solidFill>
                      <a:prstDash val="solid"/>
                      <a:round/>
                      <a:headEnd type="none" w="med" len="med"/>
                      <a:tailEnd type="none" w="med" len="med"/>
                    </a:lnT>
                    <a:lnB w="9525" cap="flat" cmpd="sng" algn="ctr">
                      <a:solidFill>
                        <a:srgbClr val="D9DBEA"/>
                      </a:solidFill>
                      <a:prstDash val="solid"/>
                      <a:round/>
                      <a:headEnd type="none" w="med" len="med"/>
                      <a:tailEnd type="none" w="med" len="med"/>
                    </a:lnB>
                    <a:solidFill>
                      <a:srgbClr val="F6F7FB"/>
                    </a:solidFill>
                  </a:tcPr>
                </a:tc>
                <a:tc>
                  <a:txBody>
                    <a:bodyPr/>
                    <a:lstStyle/>
                    <a:p>
                      <a:pPr indent="0" marL="0">
                        <a:buNone/>
                      </a:pPr>
                      <a:r>
                        <a:rPr lang="en-US" sz="1150" dirty="0">
                          <a:solidFill>
                            <a:srgbClr val="2A2B38"/>
                          </a:solidFill>
                          <a:latin typeface="Meiryo UI" pitchFamily="34" charset="0"/>
                          <a:ea typeface="Meiryo UI" pitchFamily="34" charset="-122"/>
                          <a:cs typeface="Meiryo UI" pitchFamily="34" charset="-120"/>
                        </a:rPr>
                        <a:t>案件管理表</a:t>
                      </a:r>
                      <a:endParaRPr lang="en-US" sz="1150" dirty="0">
                        <a:latin typeface="Meiryo UI" charset="0"/>
                        <a:ea typeface="Meiryo UI" charset="0"/>
                        <a:cs typeface="Meiryo UI" charset="0"/>
                      </a:endParaRPr>
                    </a:p>
                  </a:txBody>
                  <a:tcPr marL="91440" marR="91440" marT="45720" marB="45720" anchor="ctr">
                    <a:lnL w="9525" cap="flat" cmpd="sng" algn="ctr">
                      <a:solidFill>
                        <a:srgbClr val="D9DBEA"/>
                      </a:solidFill>
                      <a:prstDash val="solid"/>
                      <a:round/>
                      <a:headEnd type="none" w="med" len="med"/>
                      <a:tailEnd type="none" w="med" len="med"/>
                    </a:lnL>
                    <a:lnR w="9525" cap="flat" cmpd="sng" algn="ctr">
                      <a:solidFill>
                        <a:srgbClr val="D9DBEA"/>
                      </a:solidFill>
                      <a:prstDash val="solid"/>
                      <a:round/>
                      <a:headEnd type="none" w="med" len="med"/>
                      <a:tailEnd type="none" w="med" len="med"/>
                    </a:lnR>
                    <a:lnT w="9525" cap="flat" cmpd="sng" algn="ctr">
                      <a:solidFill>
                        <a:srgbClr val="D9DBEA"/>
                      </a:solidFill>
                      <a:prstDash val="solid"/>
                      <a:round/>
                      <a:headEnd type="none" w="med" len="med"/>
                      <a:tailEnd type="none" w="med" len="med"/>
                    </a:lnT>
                    <a:lnB w="9525" cap="flat" cmpd="sng" algn="ctr">
                      <a:solidFill>
                        <a:srgbClr val="D9DBEA"/>
                      </a:solidFill>
                      <a:prstDash val="solid"/>
                      <a:round/>
                      <a:headEnd type="none" w="med" len="med"/>
                      <a:tailEnd type="none" w="med" len="med"/>
                    </a:lnB>
                    <a:solidFill>
                      <a:srgbClr val="F6F7FB"/>
                    </a:solidFill>
                  </a:tcPr>
                </a:tc>
              </a:tr>
              <a:tr h="566928">
                <a:tc>
                  <a:txBody>
                    <a:bodyPr/>
                    <a:lstStyle/>
                    <a:p>
                      <a:pPr indent="0" marL="0">
                        <a:buNone/>
                      </a:pPr>
                      <a:r>
                        <a:rPr lang="en-US" sz="1150" b="1" dirty="0">
                          <a:solidFill>
                            <a:srgbClr val="3A3F73"/>
                          </a:solidFill>
                          <a:latin typeface="Meiryo UI" pitchFamily="34" charset="0"/>
                          <a:ea typeface="Meiryo UI" pitchFamily="34" charset="-122"/>
                          <a:cs typeface="Meiryo UI" pitchFamily="34" charset="-120"/>
                        </a:rPr>
                        <a:t>顧問先の視聴率</a:t>
                      </a:r>
                      <a:endParaRPr lang="en-US" sz="1150" dirty="0">
                        <a:latin typeface="Meiryo UI" charset="0"/>
                        <a:ea typeface="Meiryo UI" charset="0"/>
                        <a:cs typeface="Meiryo UI" charset="0"/>
                      </a:endParaRPr>
                    </a:p>
                  </a:txBody>
                  <a:tcPr marL="91440" marR="91440" marT="45720" marB="45720" anchor="ctr">
                    <a:lnL w="9525" cap="flat" cmpd="sng" algn="ctr">
                      <a:solidFill>
                        <a:srgbClr val="D9DBEA"/>
                      </a:solidFill>
                      <a:prstDash val="solid"/>
                      <a:round/>
                      <a:headEnd type="none" w="med" len="med"/>
                      <a:tailEnd type="none" w="med" len="med"/>
                    </a:lnL>
                    <a:lnR w="9525" cap="flat" cmpd="sng" algn="ctr">
                      <a:solidFill>
                        <a:srgbClr val="D9DBEA"/>
                      </a:solidFill>
                      <a:prstDash val="solid"/>
                      <a:round/>
                      <a:headEnd type="none" w="med" len="med"/>
                      <a:tailEnd type="none" w="med" len="med"/>
                    </a:lnR>
                    <a:lnT w="9525" cap="flat" cmpd="sng" algn="ctr">
                      <a:solidFill>
                        <a:srgbClr val="D9DBEA"/>
                      </a:solidFill>
                      <a:prstDash val="solid"/>
                      <a:round/>
                      <a:headEnd type="none" w="med" len="med"/>
                      <a:tailEnd type="none" w="med" len="med"/>
                    </a:lnT>
                    <a:lnB w="9525" cap="flat" cmpd="sng" algn="ctr">
                      <a:solidFill>
                        <a:srgbClr val="D9DBEA"/>
                      </a:solidFill>
                      <a:prstDash val="solid"/>
                      <a:round/>
                      <a:headEnd type="none" w="med" len="med"/>
                      <a:tailEnd type="none" w="med" len="med"/>
                    </a:lnB>
                    <a:solidFill>
                      <a:srgbClr val="FFFFFF"/>
                    </a:solidFill>
                  </a:tcPr>
                </a:tc>
                <a:tc>
                  <a:txBody>
                    <a:bodyPr/>
                    <a:lstStyle/>
                    <a:p>
                      <a:pPr indent="0" marL="0">
                        <a:buNone/>
                      </a:pPr>
                      <a:r>
                        <a:rPr lang="en-US" sz="1150" dirty="0">
                          <a:solidFill>
                            <a:srgbClr val="2A2B38"/>
                          </a:solidFill>
                          <a:latin typeface="Meiryo UI" pitchFamily="34" charset="0"/>
                          <a:ea typeface="Meiryo UI" pitchFamily="34" charset="-122"/>
                          <a:cs typeface="Meiryo UI" pitchFamily="34" charset="-120"/>
                        </a:rPr>
                        <a:t>動画ニュースを配信した顧問先の視聴割合</a:t>
                      </a:r>
                      <a:endParaRPr lang="en-US" sz="1150" dirty="0">
                        <a:latin typeface="Meiryo UI" charset="0"/>
                        <a:ea typeface="Meiryo UI" charset="0"/>
                        <a:cs typeface="Meiryo UI" charset="0"/>
                      </a:endParaRPr>
                    </a:p>
                  </a:txBody>
                  <a:tcPr marL="91440" marR="91440" marT="45720" marB="45720" anchor="ctr">
                    <a:lnL w="9525" cap="flat" cmpd="sng" algn="ctr">
                      <a:solidFill>
                        <a:srgbClr val="D9DBEA"/>
                      </a:solidFill>
                      <a:prstDash val="solid"/>
                      <a:round/>
                      <a:headEnd type="none" w="med" len="med"/>
                      <a:tailEnd type="none" w="med" len="med"/>
                    </a:lnL>
                    <a:lnR w="9525" cap="flat" cmpd="sng" algn="ctr">
                      <a:solidFill>
                        <a:srgbClr val="D9DBEA"/>
                      </a:solidFill>
                      <a:prstDash val="solid"/>
                      <a:round/>
                      <a:headEnd type="none" w="med" len="med"/>
                      <a:tailEnd type="none" w="med" len="med"/>
                    </a:lnR>
                    <a:lnT w="9525" cap="flat" cmpd="sng" algn="ctr">
                      <a:solidFill>
                        <a:srgbClr val="D9DBEA"/>
                      </a:solidFill>
                      <a:prstDash val="solid"/>
                      <a:round/>
                      <a:headEnd type="none" w="med" len="med"/>
                      <a:tailEnd type="none" w="med" len="med"/>
                    </a:lnT>
                    <a:lnB w="9525" cap="flat" cmpd="sng" algn="ctr">
                      <a:solidFill>
                        <a:srgbClr val="D9DBEA"/>
                      </a:solidFill>
                      <a:prstDash val="solid"/>
                      <a:round/>
                      <a:headEnd type="none" w="med" len="med"/>
                      <a:tailEnd type="none" w="med" len="med"/>
                    </a:lnB>
                    <a:solidFill>
                      <a:srgbClr val="FFFFFF"/>
                    </a:solidFill>
                  </a:tcPr>
                </a:tc>
                <a:tc>
                  <a:txBody>
                    <a:bodyPr/>
                    <a:lstStyle/>
                    <a:p>
                      <a:pPr indent="0" marL="0">
                        <a:buNone/>
                      </a:pPr>
                      <a:r>
                        <a:rPr lang="en-US" sz="1150" dirty="0">
                          <a:solidFill>
                            <a:srgbClr val="2A2B38"/>
                          </a:solidFill>
                          <a:latin typeface="Meiryo UI" pitchFamily="34" charset="0"/>
                          <a:ea typeface="Meiryo UI" pitchFamily="34" charset="-122"/>
                          <a:cs typeface="Meiryo UI" pitchFamily="34" charset="-120"/>
                        </a:rPr>
                        <a:t>URL別アクセス数</a:t>
                      </a:r>
                      <a:endParaRPr lang="en-US" sz="1150" dirty="0">
                        <a:latin typeface="Meiryo UI" charset="0"/>
                        <a:ea typeface="Meiryo UI" charset="0"/>
                        <a:cs typeface="Meiryo UI" charset="0"/>
                      </a:endParaRPr>
                    </a:p>
                  </a:txBody>
                  <a:tcPr marL="91440" marR="91440" marT="45720" marB="45720" anchor="ctr">
                    <a:lnL w="9525" cap="flat" cmpd="sng" algn="ctr">
                      <a:solidFill>
                        <a:srgbClr val="D9DBEA"/>
                      </a:solidFill>
                      <a:prstDash val="solid"/>
                      <a:round/>
                      <a:headEnd type="none" w="med" len="med"/>
                      <a:tailEnd type="none" w="med" len="med"/>
                    </a:lnL>
                    <a:lnR w="9525" cap="flat" cmpd="sng" algn="ctr">
                      <a:solidFill>
                        <a:srgbClr val="D9DBEA"/>
                      </a:solidFill>
                      <a:prstDash val="solid"/>
                      <a:round/>
                      <a:headEnd type="none" w="med" len="med"/>
                      <a:tailEnd type="none" w="med" len="med"/>
                    </a:lnR>
                    <a:lnT w="9525" cap="flat" cmpd="sng" algn="ctr">
                      <a:solidFill>
                        <a:srgbClr val="D9DBEA"/>
                      </a:solidFill>
                      <a:prstDash val="solid"/>
                      <a:round/>
                      <a:headEnd type="none" w="med" len="med"/>
                      <a:tailEnd type="none" w="med" len="med"/>
                    </a:lnT>
                    <a:lnB w="9525" cap="flat" cmpd="sng" algn="ctr">
                      <a:solidFill>
                        <a:srgbClr val="D9DBEA"/>
                      </a:solidFill>
                      <a:prstDash val="solid"/>
                      <a:round/>
                      <a:headEnd type="none" w="med" len="med"/>
                      <a:tailEnd type="none" w="med" len="med"/>
                    </a:lnB>
                    <a:solidFill>
                      <a:srgbClr val="FFFFFF"/>
                    </a:solidFill>
                  </a:tcPr>
                </a:tc>
              </a:tr>
            </a:tbl>
          </a:graphicData>
        </a:graphic>
      </p:graphicFrame>
      <p:sp>
        <p:nvSpPr>
          <p:cNvPr id="28" name="Text 21"/>
          <p:cNvSpPr txBox="1"/>
          <p:nvPr/>
        </p:nvSpPr>
        <p:spPr>
          <a:xfrm>
            <a:off x="6172200" y="5486400"/>
            <a:ext cx="5468112" cy="548640"/>
          </a:xfrm>
          <a:prstGeom prst="rect">
            <a:avLst/>
          </a:prstGeom>
          <a:noFill/>
          <a:ln/>
        </p:spPr>
        <p:txBody>
          <a:bodyPr wrap="square" lIns="0" tIns="0" rIns="0" bIns="0" rtlCol="0" anchor="t"/>
          <a:lstStyle/>
          <a:p>
            <a:pPr indent="0" marL="0">
              <a:buNone/>
            </a:pPr>
            <a:r>
              <a:rPr lang="en-US" sz="1050" dirty="0">
                <a:solidFill>
                  <a:srgbClr val="686A82"/>
                </a:solidFill>
                <a:latin typeface="Meiryo UI" pitchFamily="34" charset="0"/>
                <a:ea typeface="Meiryo UI" pitchFamily="34" charset="-122"/>
                <a:cs typeface="Meiryo UI" pitchFamily="34" charset="-120"/>
              </a:rPr>
              <a:t>※具体的な目標値は、本日伺う現状数値（顧問先数・相談件数・報酬の目安など）をもとにフェーズ1開始時に設定します。</a:t>
            </a:r>
            <a:endParaRPr lang="en-US" sz="1050" dirty="0"/>
          </a:p>
        </p:txBody>
      </p:sp>
    </p:spTree>
  </p:cSld>
  <p:clrMapOvr>
    <a:masterClrMapping/>
  </p:clrMapOvr>
</p:sld>
</file>

<file path=ppt/slides/slide11.xml><?xml version="1.0" encoding="utf-8"?>
<p:sld xmlns:a="http://schemas.openxmlformats.org/drawingml/2006/main" xmlns:r="http://schemas.openxmlformats.org/officeDocument/2006/relationships" xmlns:p="http://schemas.openxmlformats.org/presentationml/2006/main">
  <p:cSld name="Slide 11">
    <p:bg>
      <p:bgPr>
        <a:solidFill>
          <a:srgbClr val="FFFFFF"/>
        </a:solidFill>
      </p:bgPr>
    </p:bg>
    <p:spTree>
      <p:nvGrpSpPr>
        <p:cNvPr id="1" name=""/>
        <p:cNvGrpSpPr/>
        <p:nvPr/>
      </p:nvGrpSpPr>
      <p:grpSpPr>
        <a:xfrm>
          <a:off x="0" y="0"/>
          <a:ext cx="0" cy="0"/>
          <a:chOff x="0" y="0"/>
          <a:chExt cx="0" cy="0"/>
        </a:xfrm>
      </p:grpSpPr>
      <p:sp>
        <p:nvSpPr>
          <p:cNvPr id="2" name="Text 0"/>
          <p:cNvSpPr txBox="1"/>
          <p:nvPr/>
        </p:nvSpPr>
        <p:spPr>
          <a:xfrm>
            <a:off x="548640" y="347472"/>
            <a:ext cx="7315200" cy="274320"/>
          </a:xfrm>
          <a:prstGeom prst="rect">
            <a:avLst/>
          </a:prstGeom>
          <a:noFill/>
          <a:ln/>
        </p:spPr>
        <p:txBody>
          <a:bodyPr wrap="square" lIns="0" tIns="0" rIns="0" bIns="0" rtlCol="0" anchor="t"/>
          <a:lstStyle/>
          <a:p>
            <a:pPr indent="0" marL="0">
              <a:buNone/>
            </a:pPr>
            <a:r>
              <a:rPr lang="en-US" sz="1100" b="1" spc="200" kern="0" dirty="0">
                <a:solidFill>
                  <a:srgbClr val="A87A1C"/>
                </a:solidFill>
                <a:latin typeface="Meiryo UI" pitchFamily="34" charset="0"/>
                <a:ea typeface="Meiryo UI" pitchFamily="34" charset="-122"/>
                <a:cs typeface="Meiryo UI" pitchFamily="34" charset="-120"/>
              </a:rPr>
              <a:t>04｜PULL STRATEGY</a:t>
            </a:r>
            <a:endParaRPr lang="en-US" sz="1100" dirty="0"/>
          </a:p>
        </p:txBody>
      </p:sp>
      <p:sp>
        <p:nvSpPr>
          <p:cNvPr id="3" name="Text 1"/>
          <p:cNvSpPr txBox="1"/>
          <p:nvPr/>
        </p:nvSpPr>
        <p:spPr>
          <a:xfrm>
            <a:off x="548640" y="621792"/>
            <a:ext cx="11094415" cy="566928"/>
          </a:xfrm>
          <a:prstGeom prst="rect">
            <a:avLst/>
          </a:prstGeom>
          <a:noFill/>
          <a:ln/>
        </p:spPr>
        <p:txBody>
          <a:bodyPr wrap="square" lIns="0" tIns="0" rIns="0" bIns="0" rtlCol="0" anchor="ctr"/>
          <a:lstStyle/>
          <a:p>
            <a:pPr indent="0" marL="0">
              <a:buNone/>
            </a:pPr>
            <a:r>
              <a:rPr lang="en-US" sz="2600" b="1" dirty="0">
                <a:solidFill>
                  <a:srgbClr val="3A3F73"/>
                </a:solidFill>
                <a:latin typeface="Meiryo UI" pitchFamily="34" charset="0"/>
                <a:ea typeface="Meiryo UI" pitchFamily="34" charset="-122"/>
                <a:cs typeface="Meiryo UI" pitchFamily="34" charset="-120"/>
              </a:rPr>
              <a:t>プル型Webマーケティング：媒体ごとに役割を分ける</a:t>
            </a:r>
            <a:endParaRPr lang="en-US" sz="2600" dirty="0"/>
          </a:p>
        </p:txBody>
      </p:sp>
      <p:sp>
        <p:nvSpPr>
          <p:cNvPr id="4" name="Text 2"/>
          <p:cNvSpPr txBox="1"/>
          <p:nvPr/>
        </p:nvSpPr>
        <p:spPr>
          <a:xfrm>
            <a:off x="11094415" y="6419088"/>
            <a:ext cx="548640" cy="256032"/>
          </a:xfrm>
          <a:prstGeom prst="rect">
            <a:avLst/>
          </a:prstGeom>
          <a:noFill/>
          <a:ln/>
        </p:spPr>
        <p:txBody>
          <a:bodyPr wrap="square" lIns="0" tIns="0" rIns="0" bIns="0" rtlCol="0" anchor="t"/>
          <a:lstStyle/>
          <a:p>
            <a:pPr algn="r" indent="0" marL="0">
              <a:buNone/>
            </a:pPr>
            <a:r>
              <a:rPr lang="en-US" sz="1000" dirty="0">
                <a:solidFill>
                  <a:srgbClr val="7C7E90"/>
                </a:solidFill>
                <a:latin typeface="Meiryo UI" pitchFamily="34" charset="0"/>
                <a:ea typeface="Meiryo UI" pitchFamily="34" charset="-122"/>
                <a:cs typeface="Meiryo UI" pitchFamily="34" charset="-120"/>
              </a:rPr>
              <a:t>11</a:t>
            </a:r>
            <a:endParaRPr lang="en-US" sz="1000" dirty="0"/>
          </a:p>
        </p:txBody>
      </p:sp>
      <p:sp>
        <p:nvSpPr>
          <p:cNvPr id="5" name="Text 3"/>
          <p:cNvSpPr txBox="1"/>
          <p:nvPr/>
        </p:nvSpPr>
        <p:spPr>
          <a:xfrm>
            <a:off x="548640" y="6419088"/>
            <a:ext cx="4572000" cy="256032"/>
          </a:xfrm>
          <a:prstGeom prst="rect">
            <a:avLst/>
          </a:prstGeom>
          <a:noFill/>
          <a:ln/>
        </p:spPr>
        <p:txBody>
          <a:bodyPr wrap="square" lIns="0" tIns="0" rIns="0" bIns="0" rtlCol="0" anchor="t"/>
          <a:lstStyle/>
          <a:p>
            <a:pPr indent="0" marL="0">
              <a:buNone/>
            </a:pPr>
            <a:r>
              <a:rPr lang="en-US" sz="900" dirty="0">
                <a:solidFill>
                  <a:srgbClr val="7C7E90"/>
                </a:solidFill>
                <a:latin typeface="Meiryo UI" pitchFamily="34" charset="0"/>
                <a:ea typeface="Meiryo UI" pitchFamily="34" charset="-122"/>
                <a:cs typeface="Meiryo UI" pitchFamily="34" charset="-120"/>
              </a:rPr>
              <a:t>株式会社アイドマ・ホールディングス｜MiTok</a:t>
            </a:r>
            <a:endParaRPr lang="en-US" sz="900" dirty="0"/>
          </a:p>
        </p:txBody>
      </p:sp>
      <p:sp>
        <p:nvSpPr>
          <p:cNvPr id="6" name="Shape 4"/>
          <p:cNvSpPr/>
          <p:nvPr/>
        </p:nvSpPr>
        <p:spPr>
          <a:xfrm>
            <a:off x="548640" y="1417320"/>
            <a:ext cx="3515258" cy="4846320"/>
          </a:xfrm>
          <a:prstGeom prst="roundRect">
            <a:avLst>
              <a:gd name="adj" fmla="val 3121"/>
            </a:avLst>
          </a:prstGeom>
          <a:solidFill>
            <a:srgbClr val="FFFFFF"/>
          </a:solidFill>
          <a:ln w="12700">
            <a:solidFill>
              <a:srgbClr val="FFFFFF"/>
            </a:solidFill>
            <a:prstDash val="solid"/>
          </a:ln>
          <a:effectLst>
            <a:outerShdw sx="100000" sy="100000" kx="0" ky="0" algn="bl" rotWithShape="0" blurRad="76200" dist="25400" dir="5400000">
              <a:srgbClr val="000000">
                <a:alpha val="12000"/>
              </a:srgbClr>
            </a:outerShdw>
          </a:effectLst>
        </p:spPr>
      </p:sp>
      <p:sp>
        <p:nvSpPr>
          <p:cNvPr id="7" name="Shape 5"/>
          <p:cNvSpPr/>
          <p:nvPr/>
        </p:nvSpPr>
        <p:spPr>
          <a:xfrm>
            <a:off x="822960" y="1691640"/>
            <a:ext cx="685800" cy="685800"/>
          </a:xfrm>
          <a:prstGeom prst="ellipse">
            <a:avLst/>
          </a:prstGeom>
          <a:solidFill>
            <a:srgbClr val="3A3F73"/>
          </a:solidFill>
          <a:ln w="12700">
            <a:solidFill>
              <a:srgbClr val="3A3F73"/>
            </a:solidFill>
            <a:prstDash val="solid"/>
          </a:ln>
        </p:spPr>
      </p:sp>
      <p:pic>
        <p:nvPicPr>
          <p:cNvPr id="8" name="Image 0" descr="preencoded.png">    </p:cNvPr>
          <p:cNvPicPr>
            <a:picLocks noChangeAspect="1"/>
          </p:cNvPicPr>
          <p:nvPr/>
        </p:nvPicPr>
        <p:blipFill>
          <a:blip r:embed="rId1"/>
          <a:stretch>
            <a:fillRect/>
          </a:stretch>
        </p:blipFill>
        <p:spPr>
          <a:xfrm>
            <a:off x="1001268" y="1869948"/>
            <a:ext cx="329184" cy="329184"/>
          </a:xfrm>
          <a:prstGeom prst="rect">
            <a:avLst/>
          </a:prstGeom>
        </p:spPr>
      </p:pic>
      <p:sp>
        <p:nvSpPr>
          <p:cNvPr id="9" name="Text 6"/>
          <p:cNvSpPr txBox="1"/>
          <p:nvPr/>
        </p:nvSpPr>
        <p:spPr>
          <a:xfrm>
            <a:off x="1645920" y="1673352"/>
            <a:ext cx="2235098" cy="411480"/>
          </a:xfrm>
          <a:prstGeom prst="rect">
            <a:avLst/>
          </a:prstGeom>
          <a:noFill/>
          <a:ln/>
        </p:spPr>
        <p:txBody>
          <a:bodyPr wrap="square" lIns="0" tIns="0" rIns="0" bIns="0" rtlCol="0" anchor="t"/>
          <a:lstStyle/>
          <a:p>
            <a:pPr indent="0" marL="0">
              <a:buNone/>
            </a:pPr>
            <a:r>
              <a:rPr lang="en-US" sz="1800" b="1" dirty="0">
                <a:solidFill>
                  <a:srgbClr val="3A3F73"/>
                </a:solidFill>
                <a:latin typeface="Meiryo UI" pitchFamily="34" charset="0"/>
                <a:ea typeface="Meiryo UI" pitchFamily="34" charset="-122"/>
                <a:cs typeface="Meiryo UI" pitchFamily="34" charset="-120"/>
              </a:rPr>
              <a:t>YouTube</a:t>
            </a:r>
            <a:endParaRPr lang="en-US" sz="1800" dirty="0"/>
          </a:p>
        </p:txBody>
      </p:sp>
      <p:sp>
        <p:nvSpPr>
          <p:cNvPr id="10" name="Text 7"/>
          <p:cNvSpPr txBox="1"/>
          <p:nvPr/>
        </p:nvSpPr>
        <p:spPr>
          <a:xfrm>
            <a:off x="1645920" y="2075688"/>
            <a:ext cx="2235098" cy="320040"/>
          </a:xfrm>
          <a:prstGeom prst="rect">
            <a:avLst/>
          </a:prstGeom>
          <a:noFill/>
          <a:ln/>
        </p:spPr>
        <p:txBody>
          <a:bodyPr wrap="square" lIns="0" tIns="0" rIns="0" bIns="0" rtlCol="0" anchor="t"/>
          <a:lstStyle/>
          <a:p>
            <a:pPr indent="0" marL="0">
              <a:buNone/>
            </a:pPr>
            <a:r>
              <a:rPr lang="en-US" sz="1250" b="1" dirty="0">
                <a:solidFill>
                  <a:srgbClr val="A87A1C"/>
                </a:solidFill>
                <a:latin typeface="Meiryo UI" pitchFamily="34" charset="0"/>
                <a:ea typeface="Meiryo UI" pitchFamily="34" charset="-122"/>
                <a:cs typeface="Meiryo UI" pitchFamily="34" charset="-120"/>
              </a:rPr>
              <a:t>役割：理解・信頼</a:t>
            </a:r>
            <a:endParaRPr lang="en-US" sz="1250" dirty="0"/>
          </a:p>
        </p:txBody>
      </p:sp>
      <p:sp>
        <p:nvSpPr>
          <p:cNvPr id="11" name="Text 8"/>
          <p:cNvSpPr txBox="1"/>
          <p:nvPr/>
        </p:nvSpPr>
        <p:spPr>
          <a:xfrm>
            <a:off x="822960" y="2606040"/>
            <a:ext cx="2966618" cy="256032"/>
          </a:xfrm>
          <a:prstGeom prst="rect">
            <a:avLst/>
          </a:prstGeom>
          <a:noFill/>
          <a:ln/>
        </p:spPr>
        <p:txBody>
          <a:bodyPr wrap="square" lIns="0" tIns="0" rIns="0" bIns="0" rtlCol="0" anchor="t"/>
          <a:lstStyle/>
          <a:p>
            <a:pPr indent="0" marL="0">
              <a:buNone/>
            </a:pPr>
            <a:r>
              <a:rPr lang="en-US" sz="1050" b="1" dirty="0">
                <a:solidFill>
                  <a:srgbClr val="686A82"/>
                </a:solidFill>
                <a:latin typeface="Meiryo UI" pitchFamily="34" charset="0"/>
                <a:ea typeface="Meiryo UI" pitchFamily="34" charset="-122"/>
                <a:cs typeface="Meiryo UI" pitchFamily="34" charset="-120"/>
              </a:rPr>
              <a:t>動画の型</a:t>
            </a:r>
            <a:endParaRPr lang="en-US" sz="1050" dirty="0"/>
          </a:p>
        </p:txBody>
      </p:sp>
      <p:sp>
        <p:nvSpPr>
          <p:cNvPr id="12" name="Text 9"/>
          <p:cNvSpPr txBox="1"/>
          <p:nvPr/>
        </p:nvSpPr>
        <p:spPr>
          <a:xfrm>
            <a:off x="822960" y="2862072"/>
            <a:ext cx="2966618" cy="320040"/>
          </a:xfrm>
          <a:prstGeom prst="rect">
            <a:avLst/>
          </a:prstGeom>
          <a:noFill/>
          <a:ln/>
        </p:spPr>
        <p:txBody>
          <a:bodyPr wrap="square" lIns="0" tIns="0" rIns="0" bIns="0" rtlCol="0" anchor="t"/>
          <a:lstStyle/>
          <a:p>
            <a:pPr indent="0" marL="0">
              <a:buNone/>
            </a:pPr>
            <a:r>
              <a:rPr lang="en-US" sz="1300" b="1" dirty="0">
                <a:solidFill>
                  <a:srgbClr val="2A2B38"/>
                </a:solidFill>
                <a:latin typeface="Meiryo UI" pitchFamily="34" charset="0"/>
                <a:ea typeface="Meiryo UI" pitchFamily="34" charset="-122"/>
                <a:cs typeface="Meiryo UI" pitchFamily="34" charset="-120"/>
              </a:rPr>
              <a:t>長尺解説（5〜10分）</a:t>
            </a:r>
            <a:endParaRPr lang="en-US" sz="1300" dirty="0"/>
          </a:p>
        </p:txBody>
      </p:sp>
      <p:sp>
        <p:nvSpPr>
          <p:cNvPr id="13" name="Text 10"/>
          <p:cNvSpPr txBox="1"/>
          <p:nvPr/>
        </p:nvSpPr>
        <p:spPr>
          <a:xfrm>
            <a:off x="822960" y="3291840"/>
            <a:ext cx="2966618" cy="256032"/>
          </a:xfrm>
          <a:prstGeom prst="rect">
            <a:avLst/>
          </a:prstGeom>
          <a:noFill/>
          <a:ln/>
        </p:spPr>
        <p:txBody>
          <a:bodyPr wrap="square" lIns="0" tIns="0" rIns="0" bIns="0" rtlCol="0" anchor="t"/>
          <a:lstStyle/>
          <a:p>
            <a:pPr indent="0" marL="0">
              <a:buNone/>
            </a:pPr>
            <a:r>
              <a:rPr lang="en-US" sz="1050" b="1" dirty="0">
                <a:solidFill>
                  <a:srgbClr val="686A82"/>
                </a:solidFill>
                <a:latin typeface="Meiryo UI" pitchFamily="34" charset="0"/>
                <a:ea typeface="Meiryo UI" pitchFamily="34" charset="-122"/>
                <a:cs typeface="Meiryo UI" pitchFamily="34" charset="-120"/>
              </a:rPr>
              <a:t>主な視聴者</a:t>
            </a:r>
            <a:endParaRPr lang="en-US" sz="1050" dirty="0"/>
          </a:p>
        </p:txBody>
      </p:sp>
      <p:sp>
        <p:nvSpPr>
          <p:cNvPr id="14" name="Text 11"/>
          <p:cNvSpPr txBox="1"/>
          <p:nvPr/>
        </p:nvSpPr>
        <p:spPr>
          <a:xfrm>
            <a:off x="822960" y="3547872"/>
            <a:ext cx="2966618" cy="548640"/>
          </a:xfrm>
          <a:prstGeom prst="rect">
            <a:avLst/>
          </a:prstGeom>
          <a:noFill/>
          <a:ln/>
        </p:spPr>
        <p:txBody>
          <a:bodyPr wrap="square" lIns="0" tIns="0" rIns="0" bIns="0" rtlCol="0" anchor="t"/>
          <a:lstStyle/>
          <a:p>
            <a:pPr indent="0" marL="0">
              <a:buNone/>
            </a:pPr>
            <a:r>
              <a:rPr lang="en-US" sz="1200" dirty="0">
                <a:solidFill>
                  <a:srgbClr val="2A2B38"/>
                </a:solidFill>
                <a:latin typeface="Meiryo UI" pitchFamily="34" charset="0"/>
                <a:ea typeface="Meiryo UI" pitchFamily="34" charset="-122"/>
                <a:cs typeface="Meiryo UI" pitchFamily="34" charset="-120"/>
              </a:rPr>
              <a:t>法人化・相続・確定申告について検索している個人</a:t>
            </a:r>
            <a:endParaRPr lang="en-US" sz="1200" dirty="0"/>
          </a:p>
        </p:txBody>
      </p:sp>
      <p:sp>
        <p:nvSpPr>
          <p:cNvPr id="15" name="Shape 12"/>
          <p:cNvSpPr/>
          <p:nvPr/>
        </p:nvSpPr>
        <p:spPr>
          <a:xfrm>
            <a:off x="731520" y="4206240"/>
            <a:ext cx="3149498" cy="1874520"/>
          </a:xfrm>
          <a:prstGeom prst="roundRect">
            <a:avLst>
              <a:gd name="adj" fmla="val 5854"/>
            </a:avLst>
          </a:prstGeom>
          <a:solidFill>
            <a:srgbClr val="EEEFF7"/>
          </a:solidFill>
          <a:ln w="12700">
            <a:solidFill>
              <a:srgbClr val="EEEFF7"/>
            </a:solidFill>
            <a:prstDash val="solid"/>
          </a:ln>
        </p:spPr>
      </p:sp>
      <p:sp>
        <p:nvSpPr>
          <p:cNvPr id="16" name="Text 13"/>
          <p:cNvSpPr txBox="1"/>
          <p:nvPr/>
        </p:nvSpPr>
        <p:spPr>
          <a:xfrm>
            <a:off x="914400" y="4297680"/>
            <a:ext cx="2783738" cy="274320"/>
          </a:xfrm>
          <a:prstGeom prst="rect">
            <a:avLst/>
          </a:prstGeom>
          <a:noFill/>
          <a:ln/>
        </p:spPr>
        <p:txBody>
          <a:bodyPr wrap="square" lIns="0" tIns="0" rIns="0" bIns="0" rtlCol="0" anchor="t"/>
          <a:lstStyle/>
          <a:p>
            <a:pPr indent="0" marL="0">
              <a:buNone/>
            </a:pPr>
            <a:r>
              <a:rPr lang="en-US" sz="1050" b="1" dirty="0">
                <a:solidFill>
                  <a:srgbClr val="3A3F73"/>
                </a:solidFill>
                <a:latin typeface="Meiryo UI" pitchFamily="34" charset="0"/>
                <a:ea typeface="Meiryo UI" pitchFamily="34" charset="-122"/>
                <a:cs typeface="Meiryo UI" pitchFamily="34" charset="-120"/>
              </a:rPr>
              <a:t>コンテンツ例</a:t>
            </a:r>
            <a:endParaRPr lang="en-US" sz="1050" dirty="0"/>
          </a:p>
        </p:txBody>
      </p:sp>
      <p:sp>
        <p:nvSpPr>
          <p:cNvPr id="17" name="Text 14"/>
          <p:cNvSpPr txBox="1"/>
          <p:nvPr/>
        </p:nvSpPr>
        <p:spPr>
          <a:xfrm>
            <a:off x="914400" y="4572000"/>
            <a:ext cx="2783738" cy="1417320"/>
          </a:xfrm>
          <a:prstGeom prst="rect">
            <a:avLst/>
          </a:prstGeom>
          <a:noFill/>
          <a:ln/>
        </p:spPr>
        <p:txBody>
          <a:bodyPr wrap="square" lIns="0" tIns="0" rIns="0" bIns="0" rtlCol="0" anchor="t"/>
          <a:lstStyle/>
          <a:p>
            <a:pPr marL="342900" indent="-342900">
              <a:spcAft>
                <a:spcPts val="400"/>
              </a:spcAft>
              <a:buSzPct val="100000"/>
              <a:buChar char="•"/>
            </a:pPr>
            <a:r>
              <a:rPr lang="en-US" sz="1150" dirty="0">
                <a:solidFill>
                  <a:srgbClr val="2A2B38"/>
                </a:solidFill>
                <a:latin typeface="Meiryo UI" pitchFamily="34" charset="0"/>
                <a:ea typeface="Meiryo UI" pitchFamily="34" charset="-122"/>
                <a:cs typeface="Meiryo UI" pitchFamily="34" charset="-120"/>
              </a:rPr>
              <a:t>法人成りはいつ？判断のポイント</a:t>
            </a:r>
            <a:endParaRPr lang="en-US" sz="1150" dirty="0"/>
          </a:p>
          <a:p>
            <a:pPr marL="342900" indent="-342900">
              <a:spcAft>
                <a:spcPts val="400"/>
              </a:spcAft>
              <a:buSzPct val="100000"/>
              <a:buChar char="•"/>
            </a:pPr>
            <a:r>
              <a:rPr lang="en-US" sz="1150" dirty="0">
                <a:solidFill>
                  <a:srgbClr val="2A2B38"/>
                </a:solidFill>
                <a:latin typeface="Meiryo UI" pitchFamily="34" charset="0"/>
                <a:ea typeface="Meiryo UI" pitchFamily="34" charset="-122"/>
                <a:cs typeface="Meiryo UI" pitchFamily="34" charset="-120"/>
              </a:rPr>
              <a:t>相続税がかかる人・かからない人</a:t>
            </a:r>
            <a:endParaRPr lang="en-US" sz="1150" dirty="0"/>
          </a:p>
          <a:p>
            <a:pPr marL="342900" indent="-342900">
              <a:spcAft>
                <a:spcPts val="400"/>
              </a:spcAft>
              <a:buSzPct val="100000"/>
              <a:buChar char="•"/>
            </a:pPr>
            <a:r>
              <a:rPr lang="en-US" sz="1150" dirty="0">
                <a:solidFill>
                  <a:srgbClr val="2A2B38"/>
                </a:solidFill>
                <a:latin typeface="Meiryo UI" pitchFamily="34" charset="0"/>
                <a:ea typeface="Meiryo UI" pitchFamily="34" charset="-122"/>
                <a:cs typeface="Meiryo UI" pitchFamily="34" charset="-120"/>
              </a:rPr>
              <a:t>確定申告の前に確認したいこと</a:t>
            </a:r>
            <a:endParaRPr lang="en-US" sz="1150" dirty="0"/>
          </a:p>
        </p:txBody>
      </p:sp>
      <p:sp>
        <p:nvSpPr>
          <p:cNvPr id="18" name="Shape 15"/>
          <p:cNvSpPr/>
          <p:nvPr/>
        </p:nvSpPr>
        <p:spPr>
          <a:xfrm>
            <a:off x="4338218" y="1417320"/>
            <a:ext cx="3515258" cy="4846320"/>
          </a:xfrm>
          <a:prstGeom prst="roundRect">
            <a:avLst>
              <a:gd name="adj" fmla="val 3121"/>
            </a:avLst>
          </a:prstGeom>
          <a:solidFill>
            <a:srgbClr val="FFFFFF"/>
          </a:solidFill>
          <a:ln w="12700">
            <a:solidFill>
              <a:srgbClr val="FFFFFF"/>
            </a:solidFill>
            <a:prstDash val="solid"/>
          </a:ln>
          <a:effectLst>
            <a:outerShdw sx="100000" sy="100000" kx="0" ky="0" algn="bl" rotWithShape="0" blurRad="76200" dist="25400" dir="5400000">
              <a:srgbClr val="000000">
                <a:alpha val="12000"/>
              </a:srgbClr>
            </a:outerShdw>
          </a:effectLst>
        </p:spPr>
      </p:sp>
      <p:sp>
        <p:nvSpPr>
          <p:cNvPr id="19" name="Shape 16"/>
          <p:cNvSpPr/>
          <p:nvPr/>
        </p:nvSpPr>
        <p:spPr>
          <a:xfrm>
            <a:off x="4612538" y="1691640"/>
            <a:ext cx="685800" cy="685800"/>
          </a:xfrm>
          <a:prstGeom prst="ellipse">
            <a:avLst/>
          </a:prstGeom>
          <a:solidFill>
            <a:srgbClr val="3A3F73"/>
          </a:solidFill>
          <a:ln w="12700">
            <a:solidFill>
              <a:srgbClr val="3A3F73"/>
            </a:solidFill>
            <a:prstDash val="solid"/>
          </a:ln>
        </p:spPr>
      </p:sp>
      <p:pic>
        <p:nvPicPr>
          <p:cNvPr id="20" name="Image 1" descr="preencoded.png">    </p:cNvPr>
          <p:cNvPicPr>
            <a:picLocks noChangeAspect="1"/>
          </p:cNvPicPr>
          <p:nvPr/>
        </p:nvPicPr>
        <p:blipFill>
          <a:blip r:embed="rId2"/>
          <a:stretch>
            <a:fillRect/>
          </a:stretch>
        </p:blipFill>
        <p:spPr>
          <a:xfrm>
            <a:off x="4790846" y="1869948"/>
            <a:ext cx="329184" cy="329184"/>
          </a:xfrm>
          <a:prstGeom prst="rect">
            <a:avLst/>
          </a:prstGeom>
        </p:spPr>
      </p:pic>
      <p:sp>
        <p:nvSpPr>
          <p:cNvPr id="21" name="Text 17"/>
          <p:cNvSpPr txBox="1"/>
          <p:nvPr/>
        </p:nvSpPr>
        <p:spPr>
          <a:xfrm>
            <a:off x="5435498" y="1673352"/>
            <a:ext cx="2235098" cy="411480"/>
          </a:xfrm>
          <a:prstGeom prst="rect">
            <a:avLst/>
          </a:prstGeom>
          <a:noFill/>
          <a:ln/>
        </p:spPr>
        <p:txBody>
          <a:bodyPr wrap="square" lIns="0" tIns="0" rIns="0" bIns="0" rtlCol="0" anchor="t"/>
          <a:lstStyle/>
          <a:p>
            <a:pPr indent="0" marL="0">
              <a:buNone/>
            </a:pPr>
            <a:r>
              <a:rPr lang="en-US" sz="1800" b="1" dirty="0">
                <a:solidFill>
                  <a:srgbClr val="3A3F73"/>
                </a:solidFill>
                <a:latin typeface="Meiryo UI" pitchFamily="34" charset="0"/>
                <a:ea typeface="Meiryo UI" pitchFamily="34" charset="-122"/>
                <a:cs typeface="Meiryo UI" pitchFamily="34" charset="-120"/>
              </a:rPr>
              <a:t>Instagram</a:t>
            </a:r>
            <a:endParaRPr lang="en-US" sz="1800" dirty="0"/>
          </a:p>
        </p:txBody>
      </p:sp>
      <p:sp>
        <p:nvSpPr>
          <p:cNvPr id="22" name="Text 18"/>
          <p:cNvSpPr txBox="1"/>
          <p:nvPr/>
        </p:nvSpPr>
        <p:spPr>
          <a:xfrm>
            <a:off x="5435498" y="2075688"/>
            <a:ext cx="2235098" cy="320040"/>
          </a:xfrm>
          <a:prstGeom prst="rect">
            <a:avLst/>
          </a:prstGeom>
          <a:noFill/>
          <a:ln/>
        </p:spPr>
        <p:txBody>
          <a:bodyPr wrap="square" lIns="0" tIns="0" rIns="0" bIns="0" rtlCol="0" anchor="t"/>
          <a:lstStyle/>
          <a:p>
            <a:pPr indent="0" marL="0">
              <a:buNone/>
            </a:pPr>
            <a:r>
              <a:rPr lang="en-US" sz="1250" b="1" dirty="0">
                <a:solidFill>
                  <a:srgbClr val="A87A1C"/>
                </a:solidFill>
                <a:latin typeface="Meiryo UI" pitchFamily="34" charset="0"/>
                <a:ea typeface="Meiryo UI" pitchFamily="34" charset="-122"/>
                <a:cs typeface="Meiryo UI" pitchFamily="34" charset="-120"/>
              </a:rPr>
              <a:t>役割：親しみ・人柄</a:t>
            </a:r>
            <a:endParaRPr lang="en-US" sz="1250" dirty="0"/>
          </a:p>
        </p:txBody>
      </p:sp>
      <p:sp>
        <p:nvSpPr>
          <p:cNvPr id="23" name="Text 19"/>
          <p:cNvSpPr txBox="1"/>
          <p:nvPr/>
        </p:nvSpPr>
        <p:spPr>
          <a:xfrm>
            <a:off x="4612538" y="2606040"/>
            <a:ext cx="2966618" cy="256032"/>
          </a:xfrm>
          <a:prstGeom prst="rect">
            <a:avLst/>
          </a:prstGeom>
          <a:noFill/>
          <a:ln/>
        </p:spPr>
        <p:txBody>
          <a:bodyPr wrap="square" lIns="0" tIns="0" rIns="0" bIns="0" rtlCol="0" anchor="t"/>
          <a:lstStyle/>
          <a:p>
            <a:pPr indent="0" marL="0">
              <a:buNone/>
            </a:pPr>
            <a:r>
              <a:rPr lang="en-US" sz="1050" b="1" dirty="0">
                <a:solidFill>
                  <a:srgbClr val="686A82"/>
                </a:solidFill>
                <a:latin typeface="Meiryo UI" pitchFamily="34" charset="0"/>
                <a:ea typeface="Meiryo UI" pitchFamily="34" charset="-122"/>
                <a:cs typeface="Meiryo UI" pitchFamily="34" charset="-120"/>
              </a:rPr>
              <a:t>動画の型</a:t>
            </a:r>
            <a:endParaRPr lang="en-US" sz="1050" dirty="0"/>
          </a:p>
        </p:txBody>
      </p:sp>
      <p:sp>
        <p:nvSpPr>
          <p:cNvPr id="24" name="Text 20"/>
          <p:cNvSpPr txBox="1"/>
          <p:nvPr/>
        </p:nvSpPr>
        <p:spPr>
          <a:xfrm>
            <a:off x="4612538" y="2862072"/>
            <a:ext cx="2966618" cy="320040"/>
          </a:xfrm>
          <a:prstGeom prst="rect">
            <a:avLst/>
          </a:prstGeom>
          <a:noFill/>
          <a:ln/>
        </p:spPr>
        <p:txBody>
          <a:bodyPr wrap="square" lIns="0" tIns="0" rIns="0" bIns="0" rtlCol="0" anchor="t"/>
          <a:lstStyle/>
          <a:p>
            <a:pPr indent="0" marL="0">
              <a:buNone/>
            </a:pPr>
            <a:r>
              <a:rPr lang="en-US" sz="1300" b="1" dirty="0">
                <a:solidFill>
                  <a:srgbClr val="2A2B38"/>
                </a:solidFill>
                <a:latin typeface="Meiryo UI" pitchFamily="34" charset="0"/>
                <a:ea typeface="Meiryo UI" pitchFamily="34" charset="-122"/>
                <a:cs typeface="Meiryo UI" pitchFamily="34" charset="-120"/>
              </a:rPr>
              <a:t>デザイン重視（フィード・リール）</a:t>
            </a:r>
            <a:endParaRPr lang="en-US" sz="1300" dirty="0"/>
          </a:p>
        </p:txBody>
      </p:sp>
      <p:sp>
        <p:nvSpPr>
          <p:cNvPr id="25" name="Text 21"/>
          <p:cNvSpPr txBox="1"/>
          <p:nvPr/>
        </p:nvSpPr>
        <p:spPr>
          <a:xfrm>
            <a:off x="4612538" y="3291840"/>
            <a:ext cx="2966618" cy="256032"/>
          </a:xfrm>
          <a:prstGeom prst="rect">
            <a:avLst/>
          </a:prstGeom>
          <a:noFill/>
          <a:ln/>
        </p:spPr>
        <p:txBody>
          <a:bodyPr wrap="square" lIns="0" tIns="0" rIns="0" bIns="0" rtlCol="0" anchor="t"/>
          <a:lstStyle/>
          <a:p>
            <a:pPr indent="0" marL="0">
              <a:buNone/>
            </a:pPr>
            <a:r>
              <a:rPr lang="en-US" sz="1050" b="1" dirty="0">
                <a:solidFill>
                  <a:srgbClr val="686A82"/>
                </a:solidFill>
                <a:latin typeface="Meiryo UI" pitchFamily="34" charset="0"/>
                <a:ea typeface="Meiryo UI" pitchFamily="34" charset="-122"/>
                <a:cs typeface="Meiryo UI" pitchFamily="34" charset="-120"/>
              </a:rPr>
              <a:t>主な視聴者</a:t>
            </a:r>
            <a:endParaRPr lang="en-US" sz="1050" dirty="0"/>
          </a:p>
        </p:txBody>
      </p:sp>
      <p:sp>
        <p:nvSpPr>
          <p:cNvPr id="26" name="Text 22"/>
          <p:cNvSpPr txBox="1"/>
          <p:nvPr/>
        </p:nvSpPr>
        <p:spPr>
          <a:xfrm>
            <a:off x="4612538" y="3547872"/>
            <a:ext cx="2966618" cy="548640"/>
          </a:xfrm>
          <a:prstGeom prst="rect">
            <a:avLst/>
          </a:prstGeom>
          <a:noFill/>
          <a:ln/>
        </p:spPr>
        <p:txBody>
          <a:bodyPr wrap="square" lIns="0" tIns="0" rIns="0" bIns="0" rtlCol="0" anchor="t"/>
          <a:lstStyle/>
          <a:p>
            <a:pPr indent="0" marL="0">
              <a:buNone/>
            </a:pPr>
            <a:r>
              <a:rPr lang="en-US" sz="1200" dirty="0">
                <a:solidFill>
                  <a:srgbClr val="2A2B38"/>
                </a:solidFill>
                <a:latin typeface="Meiryo UI" pitchFamily="34" charset="0"/>
                <a:ea typeface="Meiryo UI" pitchFamily="34" charset="-122"/>
                <a:cs typeface="Meiryo UI" pitchFamily="34" charset="-120"/>
              </a:rPr>
              <a:t>個人事業主・フリーランス、女性の起業家</a:t>
            </a:r>
            <a:endParaRPr lang="en-US" sz="1200" dirty="0"/>
          </a:p>
        </p:txBody>
      </p:sp>
      <p:sp>
        <p:nvSpPr>
          <p:cNvPr id="27" name="Shape 23"/>
          <p:cNvSpPr/>
          <p:nvPr/>
        </p:nvSpPr>
        <p:spPr>
          <a:xfrm>
            <a:off x="4521098" y="4206240"/>
            <a:ext cx="3149498" cy="1874520"/>
          </a:xfrm>
          <a:prstGeom prst="roundRect">
            <a:avLst>
              <a:gd name="adj" fmla="val 5854"/>
            </a:avLst>
          </a:prstGeom>
          <a:solidFill>
            <a:srgbClr val="EEEFF7"/>
          </a:solidFill>
          <a:ln w="12700">
            <a:solidFill>
              <a:srgbClr val="EEEFF7"/>
            </a:solidFill>
            <a:prstDash val="solid"/>
          </a:ln>
        </p:spPr>
      </p:sp>
      <p:sp>
        <p:nvSpPr>
          <p:cNvPr id="28" name="Text 24"/>
          <p:cNvSpPr txBox="1"/>
          <p:nvPr/>
        </p:nvSpPr>
        <p:spPr>
          <a:xfrm>
            <a:off x="4703978" y="4297680"/>
            <a:ext cx="2783738" cy="274320"/>
          </a:xfrm>
          <a:prstGeom prst="rect">
            <a:avLst/>
          </a:prstGeom>
          <a:noFill/>
          <a:ln/>
        </p:spPr>
        <p:txBody>
          <a:bodyPr wrap="square" lIns="0" tIns="0" rIns="0" bIns="0" rtlCol="0" anchor="t"/>
          <a:lstStyle/>
          <a:p>
            <a:pPr indent="0" marL="0">
              <a:buNone/>
            </a:pPr>
            <a:r>
              <a:rPr lang="en-US" sz="1050" b="1" dirty="0">
                <a:solidFill>
                  <a:srgbClr val="3A3F73"/>
                </a:solidFill>
                <a:latin typeface="Meiryo UI" pitchFamily="34" charset="0"/>
                <a:ea typeface="Meiryo UI" pitchFamily="34" charset="-122"/>
                <a:cs typeface="Meiryo UI" pitchFamily="34" charset="-120"/>
              </a:rPr>
              <a:t>コンテンツ例</a:t>
            </a:r>
            <a:endParaRPr lang="en-US" sz="1050" dirty="0"/>
          </a:p>
        </p:txBody>
      </p:sp>
      <p:sp>
        <p:nvSpPr>
          <p:cNvPr id="29" name="Text 25"/>
          <p:cNvSpPr txBox="1"/>
          <p:nvPr/>
        </p:nvSpPr>
        <p:spPr>
          <a:xfrm>
            <a:off x="4703978" y="4572000"/>
            <a:ext cx="2783738" cy="1417320"/>
          </a:xfrm>
          <a:prstGeom prst="rect">
            <a:avLst/>
          </a:prstGeom>
          <a:noFill/>
          <a:ln/>
        </p:spPr>
        <p:txBody>
          <a:bodyPr wrap="square" lIns="0" tIns="0" rIns="0" bIns="0" rtlCol="0" anchor="t"/>
          <a:lstStyle/>
          <a:p>
            <a:pPr marL="342900" indent="-342900">
              <a:spcAft>
                <a:spcPts val="400"/>
              </a:spcAft>
              <a:buSzPct val="100000"/>
              <a:buChar char="•"/>
            </a:pPr>
            <a:r>
              <a:rPr lang="en-US" sz="1150" dirty="0">
                <a:solidFill>
                  <a:srgbClr val="2A2B38"/>
                </a:solidFill>
                <a:latin typeface="Meiryo UI" pitchFamily="34" charset="0"/>
                <a:ea typeface="Meiryo UI" pitchFamily="34" charset="-122"/>
                <a:cs typeface="Meiryo UI" pitchFamily="34" charset="-120"/>
              </a:rPr>
              <a:t>事務所・スタッフの紹介</a:t>
            </a:r>
            <a:endParaRPr lang="en-US" sz="1150" dirty="0"/>
          </a:p>
          <a:p>
            <a:pPr marL="342900" indent="-342900">
              <a:spcAft>
                <a:spcPts val="400"/>
              </a:spcAft>
              <a:buSzPct val="100000"/>
              <a:buChar char="•"/>
            </a:pPr>
            <a:r>
              <a:rPr lang="en-US" sz="1150" dirty="0">
                <a:solidFill>
                  <a:srgbClr val="2A2B38"/>
                </a:solidFill>
                <a:latin typeface="Meiryo UI" pitchFamily="34" charset="0"/>
                <a:ea typeface="Meiryo UI" pitchFamily="34" charset="-122"/>
                <a:cs typeface="Meiryo UI" pitchFamily="34" charset="-120"/>
              </a:rPr>
              <a:t>今月の税務カレンダー（カルーセル）</a:t>
            </a:r>
            <a:endParaRPr lang="en-US" sz="1150" dirty="0"/>
          </a:p>
          <a:p>
            <a:pPr marL="342900" indent="-342900">
              <a:spcAft>
                <a:spcPts val="400"/>
              </a:spcAft>
              <a:buSzPct val="100000"/>
              <a:buChar char="•"/>
            </a:pPr>
            <a:r>
              <a:rPr lang="en-US" sz="1150" dirty="0">
                <a:solidFill>
                  <a:srgbClr val="2A2B38"/>
                </a:solidFill>
                <a:latin typeface="Meiryo UI" pitchFamily="34" charset="0"/>
                <a:ea typeface="Meiryo UI" pitchFamily="34" charset="-122"/>
                <a:cs typeface="Meiryo UI" pitchFamily="34" charset="-120"/>
              </a:rPr>
              <a:t>よくある質問にひと言で回答</a:t>
            </a:r>
            <a:endParaRPr lang="en-US" sz="1150" dirty="0"/>
          </a:p>
        </p:txBody>
      </p:sp>
      <p:sp>
        <p:nvSpPr>
          <p:cNvPr id="30" name="Shape 26"/>
          <p:cNvSpPr/>
          <p:nvPr/>
        </p:nvSpPr>
        <p:spPr>
          <a:xfrm>
            <a:off x="8127797" y="1417320"/>
            <a:ext cx="3515258" cy="4846320"/>
          </a:xfrm>
          <a:prstGeom prst="roundRect">
            <a:avLst>
              <a:gd name="adj" fmla="val 3121"/>
            </a:avLst>
          </a:prstGeom>
          <a:solidFill>
            <a:srgbClr val="FFFFFF"/>
          </a:solidFill>
          <a:ln w="12700">
            <a:solidFill>
              <a:srgbClr val="FFFFFF"/>
            </a:solidFill>
            <a:prstDash val="solid"/>
          </a:ln>
          <a:effectLst>
            <a:outerShdw sx="100000" sy="100000" kx="0" ky="0" algn="bl" rotWithShape="0" blurRad="76200" dist="25400" dir="5400000">
              <a:srgbClr val="000000">
                <a:alpha val="12000"/>
              </a:srgbClr>
            </a:outerShdw>
          </a:effectLst>
        </p:spPr>
      </p:sp>
      <p:sp>
        <p:nvSpPr>
          <p:cNvPr id="31" name="Shape 27"/>
          <p:cNvSpPr/>
          <p:nvPr/>
        </p:nvSpPr>
        <p:spPr>
          <a:xfrm>
            <a:off x="8402117" y="1691640"/>
            <a:ext cx="685800" cy="685800"/>
          </a:xfrm>
          <a:prstGeom prst="ellipse">
            <a:avLst/>
          </a:prstGeom>
          <a:solidFill>
            <a:srgbClr val="3A3F73"/>
          </a:solidFill>
          <a:ln w="12700">
            <a:solidFill>
              <a:srgbClr val="3A3F73"/>
            </a:solidFill>
            <a:prstDash val="solid"/>
          </a:ln>
        </p:spPr>
      </p:sp>
      <p:pic>
        <p:nvPicPr>
          <p:cNvPr id="32" name="Image 2" descr="preencoded.png">    </p:cNvPr>
          <p:cNvPicPr>
            <a:picLocks noChangeAspect="1"/>
          </p:cNvPicPr>
          <p:nvPr/>
        </p:nvPicPr>
        <p:blipFill>
          <a:blip r:embed="rId3"/>
          <a:stretch>
            <a:fillRect/>
          </a:stretch>
        </p:blipFill>
        <p:spPr>
          <a:xfrm>
            <a:off x="8580425" y="1869948"/>
            <a:ext cx="329184" cy="329184"/>
          </a:xfrm>
          <a:prstGeom prst="rect">
            <a:avLst/>
          </a:prstGeom>
        </p:spPr>
      </p:pic>
      <p:sp>
        <p:nvSpPr>
          <p:cNvPr id="33" name="Text 28"/>
          <p:cNvSpPr txBox="1"/>
          <p:nvPr/>
        </p:nvSpPr>
        <p:spPr>
          <a:xfrm>
            <a:off x="9225077" y="1673352"/>
            <a:ext cx="2235098" cy="411480"/>
          </a:xfrm>
          <a:prstGeom prst="rect">
            <a:avLst/>
          </a:prstGeom>
          <a:noFill/>
          <a:ln/>
        </p:spPr>
        <p:txBody>
          <a:bodyPr wrap="square" lIns="0" tIns="0" rIns="0" bIns="0" rtlCol="0" anchor="t"/>
          <a:lstStyle/>
          <a:p>
            <a:pPr indent="0" marL="0">
              <a:buNone/>
            </a:pPr>
            <a:r>
              <a:rPr lang="en-US" sz="1800" b="1" dirty="0">
                <a:solidFill>
                  <a:srgbClr val="3A3F73"/>
                </a:solidFill>
                <a:latin typeface="Meiryo UI" pitchFamily="34" charset="0"/>
                <a:ea typeface="Meiryo UI" pitchFamily="34" charset="-122"/>
                <a:cs typeface="Meiryo UI" pitchFamily="34" charset="-120"/>
              </a:rPr>
              <a:t>TikTok／ショート</a:t>
            </a:r>
            <a:endParaRPr lang="en-US" sz="1800" dirty="0"/>
          </a:p>
        </p:txBody>
      </p:sp>
      <p:sp>
        <p:nvSpPr>
          <p:cNvPr id="34" name="Text 29"/>
          <p:cNvSpPr txBox="1"/>
          <p:nvPr/>
        </p:nvSpPr>
        <p:spPr>
          <a:xfrm>
            <a:off x="9225077" y="2075688"/>
            <a:ext cx="2235098" cy="320040"/>
          </a:xfrm>
          <a:prstGeom prst="rect">
            <a:avLst/>
          </a:prstGeom>
          <a:noFill/>
          <a:ln/>
        </p:spPr>
        <p:txBody>
          <a:bodyPr wrap="square" lIns="0" tIns="0" rIns="0" bIns="0" rtlCol="0" anchor="t"/>
          <a:lstStyle/>
          <a:p>
            <a:pPr indent="0" marL="0">
              <a:buNone/>
            </a:pPr>
            <a:r>
              <a:rPr lang="en-US" sz="1250" b="1" dirty="0">
                <a:solidFill>
                  <a:srgbClr val="A87A1C"/>
                </a:solidFill>
                <a:latin typeface="Meiryo UI" pitchFamily="34" charset="0"/>
                <a:ea typeface="Meiryo UI" pitchFamily="34" charset="-122"/>
                <a:cs typeface="Meiryo UI" pitchFamily="34" charset="-120"/>
              </a:rPr>
              <a:t>役割：認知拡大</a:t>
            </a:r>
            <a:endParaRPr lang="en-US" sz="1250" dirty="0"/>
          </a:p>
        </p:txBody>
      </p:sp>
      <p:sp>
        <p:nvSpPr>
          <p:cNvPr id="35" name="Text 30"/>
          <p:cNvSpPr txBox="1"/>
          <p:nvPr/>
        </p:nvSpPr>
        <p:spPr>
          <a:xfrm>
            <a:off x="8402117" y="2606040"/>
            <a:ext cx="2966618" cy="256032"/>
          </a:xfrm>
          <a:prstGeom prst="rect">
            <a:avLst/>
          </a:prstGeom>
          <a:noFill/>
          <a:ln/>
        </p:spPr>
        <p:txBody>
          <a:bodyPr wrap="square" lIns="0" tIns="0" rIns="0" bIns="0" rtlCol="0" anchor="t"/>
          <a:lstStyle/>
          <a:p>
            <a:pPr indent="0" marL="0">
              <a:buNone/>
            </a:pPr>
            <a:r>
              <a:rPr lang="en-US" sz="1050" b="1" dirty="0">
                <a:solidFill>
                  <a:srgbClr val="686A82"/>
                </a:solidFill>
                <a:latin typeface="Meiryo UI" pitchFamily="34" charset="0"/>
                <a:ea typeface="Meiryo UI" pitchFamily="34" charset="-122"/>
                <a:cs typeface="Meiryo UI" pitchFamily="34" charset="-120"/>
              </a:rPr>
              <a:t>動画の型</a:t>
            </a:r>
            <a:endParaRPr lang="en-US" sz="1050" dirty="0"/>
          </a:p>
        </p:txBody>
      </p:sp>
      <p:sp>
        <p:nvSpPr>
          <p:cNvPr id="36" name="Text 31"/>
          <p:cNvSpPr txBox="1"/>
          <p:nvPr/>
        </p:nvSpPr>
        <p:spPr>
          <a:xfrm>
            <a:off x="8402117" y="2862072"/>
            <a:ext cx="2966618" cy="320040"/>
          </a:xfrm>
          <a:prstGeom prst="rect">
            <a:avLst/>
          </a:prstGeom>
          <a:noFill/>
          <a:ln/>
        </p:spPr>
        <p:txBody>
          <a:bodyPr wrap="square" lIns="0" tIns="0" rIns="0" bIns="0" rtlCol="0" anchor="t"/>
          <a:lstStyle/>
          <a:p>
            <a:pPr indent="0" marL="0">
              <a:buNone/>
            </a:pPr>
            <a:r>
              <a:rPr lang="en-US" sz="1300" b="1" dirty="0">
                <a:solidFill>
                  <a:srgbClr val="2A2B38"/>
                </a:solidFill>
                <a:latin typeface="Meiryo UI" pitchFamily="34" charset="0"/>
                <a:ea typeface="Meiryo UI" pitchFamily="34" charset="-122"/>
                <a:cs typeface="Meiryo UI" pitchFamily="34" charset="-120"/>
              </a:rPr>
              <a:t>縦型ショート（15〜60秒）</a:t>
            </a:r>
            <a:endParaRPr lang="en-US" sz="1300" dirty="0"/>
          </a:p>
        </p:txBody>
      </p:sp>
      <p:sp>
        <p:nvSpPr>
          <p:cNvPr id="37" name="Text 32"/>
          <p:cNvSpPr txBox="1"/>
          <p:nvPr/>
        </p:nvSpPr>
        <p:spPr>
          <a:xfrm>
            <a:off x="8402117" y="3291840"/>
            <a:ext cx="2966618" cy="256032"/>
          </a:xfrm>
          <a:prstGeom prst="rect">
            <a:avLst/>
          </a:prstGeom>
          <a:noFill/>
          <a:ln/>
        </p:spPr>
        <p:txBody>
          <a:bodyPr wrap="square" lIns="0" tIns="0" rIns="0" bIns="0" rtlCol="0" anchor="t"/>
          <a:lstStyle/>
          <a:p>
            <a:pPr indent="0" marL="0">
              <a:buNone/>
            </a:pPr>
            <a:r>
              <a:rPr lang="en-US" sz="1050" b="1" dirty="0">
                <a:solidFill>
                  <a:srgbClr val="686A82"/>
                </a:solidFill>
                <a:latin typeface="Meiryo UI" pitchFamily="34" charset="0"/>
                <a:ea typeface="Meiryo UI" pitchFamily="34" charset="-122"/>
                <a:cs typeface="Meiryo UI" pitchFamily="34" charset="-120"/>
              </a:rPr>
              <a:t>主な視聴者</a:t>
            </a:r>
            <a:endParaRPr lang="en-US" sz="1050" dirty="0"/>
          </a:p>
        </p:txBody>
      </p:sp>
      <p:sp>
        <p:nvSpPr>
          <p:cNvPr id="38" name="Text 33"/>
          <p:cNvSpPr txBox="1"/>
          <p:nvPr/>
        </p:nvSpPr>
        <p:spPr>
          <a:xfrm>
            <a:off x="8402117" y="3547872"/>
            <a:ext cx="2966618" cy="548640"/>
          </a:xfrm>
          <a:prstGeom prst="rect">
            <a:avLst/>
          </a:prstGeom>
          <a:noFill/>
          <a:ln/>
        </p:spPr>
        <p:txBody>
          <a:bodyPr wrap="square" lIns="0" tIns="0" rIns="0" bIns="0" rtlCol="0" anchor="t"/>
          <a:lstStyle/>
          <a:p>
            <a:pPr indent="0" marL="0">
              <a:buNone/>
            </a:pPr>
            <a:r>
              <a:rPr lang="en-US" sz="1200" dirty="0">
                <a:solidFill>
                  <a:srgbClr val="2A2B38"/>
                </a:solidFill>
                <a:latin typeface="Meiryo UI" pitchFamily="34" charset="0"/>
                <a:ea typeface="Meiryo UI" pitchFamily="34" charset="-122"/>
                <a:cs typeface="Meiryo UI" pitchFamily="34" charset="-120"/>
              </a:rPr>
              <a:t>まだ税理士に相談したことのない若い個人事業主・副業層</a:t>
            </a:r>
            <a:endParaRPr lang="en-US" sz="1200" dirty="0"/>
          </a:p>
        </p:txBody>
      </p:sp>
      <p:sp>
        <p:nvSpPr>
          <p:cNvPr id="39" name="Shape 34"/>
          <p:cNvSpPr/>
          <p:nvPr/>
        </p:nvSpPr>
        <p:spPr>
          <a:xfrm>
            <a:off x="8310677" y="4206240"/>
            <a:ext cx="3149498" cy="1874520"/>
          </a:xfrm>
          <a:prstGeom prst="roundRect">
            <a:avLst>
              <a:gd name="adj" fmla="val 5854"/>
            </a:avLst>
          </a:prstGeom>
          <a:solidFill>
            <a:srgbClr val="EEEFF7"/>
          </a:solidFill>
          <a:ln w="12700">
            <a:solidFill>
              <a:srgbClr val="EEEFF7"/>
            </a:solidFill>
            <a:prstDash val="solid"/>
          </a:ln>
        </p:spPr>
      </p:sp>
      <p:sp>
        <p:nvSpPr>
          <p:cNvPr id="40" name="Text 35"/>
          <p:cNvSpPr txBox="1"/>
          <p:nvPr/>
        </p:nvSpPr>
        <p:spPr>
          <a:xfrm>
            <a:off x="8493557" y="4297680"/>
            <a:ext cx="2783738" cy="274320"/>
          </a:xfrm>
          <a:prstGeom prst="rect">
            <a:avLst/>
          </a:prstGeom>
          <a:noFill/>
          <a:ln/>
        </p:spPr>
        <p:txBody>
          <a:bodyPr wrap="square" lIns="0" tIns="0" rIns="0" bIns="0" rtlCol="0" anchor="t"/>
          <a:lstStyle/>
          <a:p>
            <a:pPr indent="0" marL="0">
              <a:buNone/>
            </a:pPr>
            <a:r>
              <a:rPr lang="en-US" sz="1050" b="1" dirty="0">
                <a:solidFill>
                  <a:srgbClr val="3A3F73"/>
                </a:solidFill>
                <a:latin typeface="Meiryo UI" pitchFamily="34" charset="0"/>
                <a:ea typeface="Meiryo UI" pitchFamily="34" charset="-122"/>
                <a:cs typeface="Meiryo UI" pitchFamily="34" charset="-120"/>
              </a:rPr>
              <a:t>コンテンツ例</a:t>
            </a:r>
            <a:endParaRPr lang="en-US" sz="1050" dirty="0"/>
          </a:p>
        </p:txBody>
      </p:sp>
      <p:sp>
        <p:nvSpPr>
          <p:cNvPr id="41" name="Text 36"/>
          <p:cNvSpPr txBox="1"/>
          <p:nvPr/>
        </p:nvSpPr>
        <p:spPr>
          <a:xfrm>
            <a:off x="8493557" y="4572000"/>
            <a:ext cx="2783738" cy="1417320"/>
          </a:xfrm>
          <a:prstGeom prst="rect">
            <a:avLst/>
          </a:prstGeom>
          <a:noFill/>
          <a:ln/>
        </p:spPr>
        <p:txBody>
          <a:bodyPr wrap="square" lIns="0" tIns="0" rIns="0" bIns="0" rtlCol="0" anchor="t"/>
          <a:lstStyle/>
          <a:p>
            <a:pPr marL="342900" indent="-342900">
              <a:spcAft>
                <a:spcPts val="400"/>
              </a:spcAft>
              <a:buSzPct val="100000"/>
              <a:buChar char="•"/>
            </a:pPr>
            <a:r>
              <a:rPr lang="en-US" sz="1150" dirty="0">
                <a:solidFill>
                  <a:srgbClr val="2A2B38"/>
                </a:solidFill>
                <a:latin typeface="Meiryo UI" pitchFamily="34" charset="0"/>
                <a:ea typeface="Meiryo UI" pitchFamily="34" charset="-122"/>
                <a:cs typeface="Meiryo UI" pitchFamily="34" charset="-120"/>
              </a:rPr>
              <a:t>確定申告、3月に慌てる人の共通点</a:t>
            </a:r>
            <a:endParaRPr lang="en-US" sz="1150" dirty="0"/>
          </a:p>
          <a:p>
            <a:pPr marL="342900" indent="-342900">
              <a:spcAft>
                <a:spcPts val="400"/>
              </a:spcAft>
              <a:buSzPct val="100000"/>
              <a:buChar char="•"/>
            </a:pPr>
            <a:r>
              <a:rPr lang="en-US" sz="1150" dirty="0">
                <a:solidFill>
                  <a:srgbClr val="2A2B38"/>
                </a:solidFill>
                <a:latin typeface="Meiryo UI" pitchFamily="34" charset="0"/>
                <a:ea typeface="Meiryo UI" pitchFamily="34" charset="-122"/>
                <a:cs typeface="Meiryo UI" pitchFamily="34" charset="-120"/>
              </a:rPr>
              <a:t>副業の税金、まず知っておきたいこと</a:t>
            </a:r>
            <a:endParaRPr lang="en-US" sz="1150" dirty="0"/>
          </a:p>
          <a:p>
            <a:pPr marL="342900" indent="-342900">
              <a:spcAft>
                <a:spcPts val="400"/>
              </a:spcAft>
              <a:buSzPct val="100000"/>
              <a:buChar char="•"/>
            </a:pPr>
            <a:r>
              <a:rPr lang="en-US" sz="1150" dirty="0">
                <a:solidFill>
                  <a:srgbClr val="2A2B38"/>
                </a:solidFill>
                <a:latin typeface="Meiryo UI" pitchFamily="34" charset="0"/>
                <a:ea typeface="Meiryo UI" pitchFamily="34" charset="-122"/>
                <a:cs typeface="Meiryo UI" pitchFamily="34" charset="-120"/>
              </a:rPr>
              <a:t>税理士が答える1分Q&amp;A</a:t>
            </a:r>
            <a:endParaRPr lang="en-US" sz="1150" dirty="0"/>
          </a:p>
        </p:txBody>
      </p:sp>
    </p:spTree>
  </p:cSld>
  <p:clrMapOvr>
    <a:masterClrMapping/>
  </p:clrMapOvr>
</p:sld>
</file>

<file path=ppt/slides/slide12.xml><?xml version="1.0" encoding="utf-8"?>
<p:sld xmlns:a="http://schemas.openxmlformats.org/drawingml/2006/main" xmlns:r="http://schemas.openxmlformats.org/officeDocument/2006/relationships" xmlns:p="http://schemas.openxmlformats.org/presentationml/2006/main">
  <p:cSld name="Slide 12">
    <p:bg>
      <p:bgPr>
        <a:solidFill>
          <a:srgbClr val="FFFFFF"/>
        </a:solidFill>
      </p:bgPr>
    </p:bg>
    <p:spTree>
      <p:nvGrpSpPr>
        <p:cNvPr id="1" name=""/>
        <p:cNvGrpSpPr/>
        <p:nvPr/>
      </p:nvGrpSpPr>
      <p:grpSpPr>
        <a:xfrm>
          <a:off x="0" y="0"/>
          <a:ext cx="0" cy="0"/>
          <a:chOff x="0" y="0"/>
          <a:chExt cx="0" cy="0"/>
        </a:xfrm>
      </p:grpSpPr>
      <p:sp>
        <p:nvSpPr>
          <p:cNvPr id="2" name="Text 0"/>
          <p:cNvSpPr txBox="1"/>
          <p:nvPr/>
        </p:nvSpPr>
        <p:spPr>
          <a:xfrm>
            <a:off x="548640" y="347472"/>
            <a:ext cx="7315200" cy="274320"/>
          </a:xfrm>
          <a:prstGeom prst="rect">
            <a:avLst/>
          </a:prstGeom>
          <a:noFill/>
          <a:ln/>
        </p:spPr>
        <p:txBody>
          <a:bodyPr wrap="square" lIns="0" tIns="0" rIns="0" bIns="0" rtlCol="0" anchor="t"/>
          <a:lstStyle/>
          <a:p>
            <a:pPr indent="0" marL="0">
              <a:buNone/>
            </a:pPr>
            <a:r>
              <a:rPr lang="en-US" sz="1100" b="1" spc="200" kern="0" dirty="0">
                <a:solidFill>
                  <a:srgbClr val="A87A1C"/>
                </a:solidFill>
                <a:latin typeface="Meiryo UI" pitchFamily="34" charset="0"/>
                <a:ea typeface="Meiryo UI" pitchFamily="34" charset="-122"/>
                <a:cs typeface="Meiryo UI" pitchFamily="34" charset="-120"/>
              </a:rPr>
              <a:t>04｜PULL STRATEGY</a:t>
            </a:r>
            <a:endParaRPr lang="en-US" sz="1100" dirty="0"/>
          </a:p>
        </p:txBody>
      </p:sp>
      <p:sp>
        <p:nvSpPr>
          <p:cNvPr id="3" name="Text 1"/>
          <p:cNvSpPr txBox="1"/>
          <p:nvPr/>
        </p:nvSpPr>
        <p:spPr>
          <a:xfrm>
            <a:off x="548640" y="621792"/>
            <a:ext cx="11094415" cy="566928"/>
          </a:xfrm>
          <a:prstGeom prst="rect">
            <a:avLst/>
          </a:prstGeom>
          <a:noFill/>
          <a:ln/>
        </p:spPr>
        <p:txBody>
          <a:bodyPr wrap="square" lIns="0" tIns="0" rIns="0" bIns="0" rtlCol="0" anchor="ctr"/>
          <a:lstStyle/>
          <a:p>
            <a:pPr indent="0" marL="0">
              <a:buNone/>
            </a:pPr>
            <a:r>
              <a:rPr lang="en-US" sz="2600" b="1" dirty="0">
                <a:solidFill>
                  <a:srgbClr val="3A3F73"/>
                </a:solidFill>
                <a:latin typeface="Meiryo UI" pitchFamily="34" charset="0"/>
                <a:ea typeface="Meiryo UI" pitchFamily="34" charset="-122"/>
                <a:cs typeface="Meiryo UI" pitchFamily="34" charset="-120"/>
              </a:rPr>
              <a:t>動画ラフイメージの提示方針（3つの型）</a:t>
            </a:r>
            <a:endParaRPr lang="en-US" sz="2600" dirty="0"/>
          </a:p>
        </p:txBody>
      </p:sp>
      <p:sp>
        <p:nvSpPr>
          <p:cNvPr id="4" name="Text 2"/>
          <p:cNvSpPr txBox="1"/>
          <p:nvPr/>
        </p:nvSpPr>
        <p:spPr>
          <a:xfrm>
            <a:off x="11094415" y="6419088"/>
            <a:ext cx="548640" cy="256032"/>
          </a:xfrm>
          <a:prstGeom prst="rect">
            <a:avLst/>
          </a:prstGeom>
          <a:noFill/>
          <a:ln/>
        </p:spPr>
        <p:txBody>
          <a:bodyPr wrap="square" lIns="0" tIns="0" rIns="0" bIns="0" rtlCol="0" anchor="t"/>
          <a:lstStyle/>
          <a:p>
            <a:pPr algn="r" indent="0" marL="0">
              <a:buNone/>
            </a:pPr>
            <a:r>
              <a:rPr lang="en-US" sz="1000" dirty="0">
                <a:solidFill>
                  <a:srgbClr val="7C7E90"/>
                </a:solidFill>
                <a:latin typeface="Meiryo UI" pitchFamily="34" charset="0"/>
                <a:ea typeface="Meiryo UI" pitchFamily="34" charset="-122"/>
                <a:cs typeface="Meiryo UI" pitchFamily="34" charset="-120"/>
              </a:rPr>
              <a:t>12</a:t>
            </a:r>
            <a:endParaRPr lang="en-US" sz="1000" dirty="0"/>
          </a:p>
        </p:txBody>
      </p:sp>
      <p:sp>
        <p:nvSpPr>
          <p:cNvPr id="5" name="Text 3"/>
          <p:cNvSpPr txBox="1"/>
          <p:nvPr/>
        </p:nvSpPr>
        <p:spPr>
          <a:xfrm>
            <a:off x="548640" y="6419088"/>
            <a:ext cx="4572000" cy="256032"/>
          </a:xfrm>
          <a:prstGeom prst="rect">
            <a:avLst/>
          </a:prstGeom>
          <a:noFill/>
          <a:ln/>
        </p:spPr>
        <p:txBody>
          <a:bodyPr wrap="square" lIns="0" tIns="0" rIns="0" bIns="0" rtlCol="0" anchor="t"/>
          <a:lstStyle/>
          <a:p>
            <a:pPr indent="0" marL="0">
              <a:buNone/>
            </a:pPr>
            <a:r>
              <a:rPr lang="en-US" sz="900" dirty="0">
                <a:solidFill>
                  <a:srgbClr val="7C7E90"/>
                </a:solidFill>
                <a:latin typeface="Meiryo UI" pitchFamily="34" charset="0"/>
                <a:ea typeface="Meiryo UI" pitchFamily="34" charset="-122"/>
                <a:cs typeface="Meiryo UI" pitchFamily="34" charset="-120"/>
              </a:rPr>
              <a:t>株式会社アイドマ・ホールディングス｜MiTok</a:t>
            </a:r>
            <a:endParaRPr lang="en-US" sz="900" dirty="0"/>
          </a:p>
        </p:txBody>
      </p:sp>
      <p:sp>
        <p:nvSpPr>
          <p:cNvPr id="6" name="Shape 4"/>
          <p:cNvSpPr/>
          <p:nvPr/>
        </p:nvSpPr>
        <p:spPr>
          <a:xfrm>
            <a:off x="548640" y="1371600"/>
            <a:ext cx="3515258" cy="1920240"/>
          </a:xfrm>
          <a:prstGeom prst="roundRect">
            <a:avLst>
              <a:gd name="adj" fmla="val 5714"/>
            </a:avLst>
          </a:prstGeom>
          <a:solidFill>
            <a:srgbClr val="EEEFF7"/>
          </a:solidFill>
          <a:ln w="12700">
            <a:solidFill>
              <a:srgbClr val="EEEFF7"/>
            </a:solidFill>
            <a:prstDash val="solid"/>
          </a:ln>
        </p:spPr>
      </p:sp>
      <p:pic>
        <p:nvPicPr>
          <p:cNvPr id="7" name="Image 0" descr="/tmp/claude-0/-home-user-crow-dunit/6eea73a9-a861-533a-875b-45d20cf557b2/scratchpad/sawada/thumbs/youtube.png">    </p:cNvPr>
          <p:cNvPicPr>
            <a:picLocks noChangeAspect="1"/>
          </p:cNvPicPr>
          <p:nvPr/>
        </p:nvPicPr>
        <p:blipFill>
          <a:blip r:embed="rId1"/>
          <a:stretch>
            <a:fillRect/>
          </a:stretch>
        </p:blipFill>
        <p:spPr>
          <a:xfrm>
            <a:off x="761949" y="1463040"/>
            <a:ext cx="3088640" cy="1737360"/>
          </a:xfrm>
          <a:prstGeom prst="rect">
            <a:avLst/>
          </a:prstGeom>
          <a:effectLst>
            <a:outerShdw sx="100000" sy="100000" kx="0" ky="0" algn="bl" rotWithShape="0" blurRad="76200" dist="25400" dir="5400000">
              <a:srgbClr val="000000">
                <a:alpha val="12000"/>
              </a:srgbClr>
            </a:outerShdw>
          </a:effectLst>
        </p:spPr>
      </p:pic>
      <p:sp>
        <p:nvSpPr>
          <p:cNvPr id="8" name="Text 5"/>
          <p:cNvSpPr txBox="1"/>
          <p:nvPr/>
        </p:nvSpPr>
        <p:spPr>
          <a:xfrm>
            <a:off x="548640" y="3429000"/>
            <a:ext cx="3515258" cy="365760"/>
          </a:xfrm>
          <a:prstGeom prst="rect">
            <a:avLst/>
          </a:prstGeom>
          <a:noFill/>
          <a:ln/>
        </p:spPr>
        <p:txBody>
          <a:bodyPr wrap="square" lIns="0" tIns="0" rIns="0" bIns="0" rtlCol="0" anchor="t"/>
          <a:lstStyle/>
          <a:p>
            <a:pPr indent="0" marL="0">
              <a:buNone/>
            </a:pPr>
            <a:r>
              <a:rPr lang="en-US" sz="1600" b="1" dirty="0">
                <a:solidFill>
                  <a:srgbClr val="3A3F73"/>
                </a:solidFill>
                <a:latin typeface="Meiryo UI" pitchFamily="34" charset="0"/>
                <a:ea typeface="Meiryo UI" pitchFamily="34" charset="-122"/>
                <a:cs typeface="Meiryo UI" pitchFamily="34" charset="-120"/>
              </a:rPr>
              <a:t>① 長尺解説型</a:t>
            </a:r>
            <a:endParaRPr lang="en-US" sz="1600" dirty="0"/>
          </a:p>
        </p:txBody>
      </p:sp>
      <p:sp>
        <p:nvSpPr>
          <p:cNvPr id="9" name="Text 6"/>
          <p:cNvSpPr txBox="1"/>
          <p:nvPr/>
        </p:nvSpPr>
        <p:spPr>
          <a:xfrm>
            <a:off x="2875178" y="3474720"/>
            <a:ext cx="1188720" cy="274320"/>
          </a:xfrm>
          <a:prstGeom prst="rect">
            <a:avLst/>
          </a:prstGeom>
          <a:noFill/>
          <a:ln/>
        </p:spPr>
        <p:txBody>
          <a:bodyPr wrap="square" lIns="0" tIns="0" rIns="0" bIns="0" rtlCol="0" anchor="t"/>
          <a:lstStyle/>
          <a:p>
            <a:pPr algn="r" indent="0" marL="0">
              <a:buNone/>
            </a:pPr>
            <a:r>
              <a:rPr lang="en-US" sz="1100" b="1" dirty="0">
                <a:solidFill>
                  <a:srgbClr val="A87A1C"/>
                </a:solidFill>
                <a:latin typeface="Meiryo UI" pitchFamily="34" charset="0"/>
                <a:ea typeface="Meiryo UI" pitchFamily="34" charset="-122"/>
                <a:cs typeface="Meiryo UI" pitchFamily="34" charset="-120"/>
              </a:rPr>
              <a:t>尺：5〜10分</a:t>
            </a:r>
            <a:endParaRPr lang="en-US" sz="1100" dirty="0"/>
          </a:p>
        </p:txBody>
      </p:sp>
      <p:sp>
        <p:nvSpPr>
          <p:cNvPr id="10" name="Text 7"/>
          <p:cNvSpPr txBox="1"/>
          <p:nvPr/>
        </p:nvSpPr>
        <p:spPr>
          <a:xfrm>
            <a:off x="548640" y="3776472"/>
            <a:ext cx="3515258" cy="274320"/>
          </a:xfrm>
          <a:prstGeom prst="rect">
            <a:avLst/>
          </a:prstGeom>
          <a:noFill/>
          <a:ln/>
        </p:spPr>
        <p:txBody>
          <a:bodyPr wrap="square" lIns="0" tIns="0" rIns="0" bIns="0" rtlCol="0" anchor="t"/>
          <a:lstStyle/>
          <a:p>
            <a:pPr indent="0" marL="0">
              <a:buNone/>
            </a:pPr>
            <a:r>
              <a:rPr lang="en-US" sz="1100" dirty="0">
                <a:solidFill>
                  <a:srgbClr val="686A82"/>
                </a:solidFill>
                <a:latin typeface="Meiryo UI" pitchFamily="34" charset="0"/>
                <a:ea typeface="Meiryo UI" pitchFamily="34" charset="-122"/>
                <a:cs typeface="Meiryo UI" pitchFamily="34" charset="-120"/>
              </a:rPr>
              <a:t>YouTube／HP掲載／面談前の送付用</a:t>
            </a:r>
            <a:endParaRPr lang="en-US" sz="1100" dirty="0"/>
          </a:p>
        </p:txBody>
      </p:sp>
      <p:sp>
        <p:nvSpPr>
          <p:cNvPr id="11" name="Text 8"/>
          <p:cNvSpPr txBox="1"/>
          <p:nvPr/>
        </p:nvSpPr>
        <p:spPr>
          <a:xfrm>
            <a:off x="548640" y="4114800"/>
            <a:ext cx="3515258" cy="1325880"/>
          </a:xfrm>
          <a:prstGeom prst="rect">
            <a:avLst/>
          </a:prstGeom>
          <a:noFill/>
          <a:ln/>
        </p:spPr>
        <p:txBody>
          <a:bodyPr wrap="square" lIns="0" tIns="0" rIns="0" bIns="0" rtlCol="0" anchor="t"/>
          <a:lstStyle/>
          <a:p>
            <a:pPr marL="342900" indent="-342900">
              <a:spcAft>
                <a:spcPts val="100"/>
              </a:spcAft>
              <a:buSzPct val="100000"/>
              <a:buFont typeface="+mj-lt"/>
              <a:buAutoNum type="arabicPeriod" startAt="1"/>
            </a:pPr>
            <a:r>
              <a:rPr lang="en-US" sz="1100" dirty="0">
                <a:solidFill>
                  <a:srgbClr val="2A2B38"/>
                </a:solidFill>
                <a:latin typeface="Meiryo UI" pitchFamily="34" charset="0"/>
                <a:ea typeface="Meiryo UI" pitchFamily="34" charset="-122"/>
                <a:cs typeface="Meiryo UI" pitchFamily="34" charset="-120"/>
              </a:rPr>
              <a:t>よくある悩みの提示</a:t>
            </a:r>
            <a:endParaRPr lang="en-US" sz="1100" dirty="0"/>
          </a:p>
          <a:p>
            <a:pPr marL="342900" indent="-342900">
              <a:spcAft>
                <a:spcPts val="100"/>
              </a:spcAft>
              <a:buSzPct val="100000"/>
              <a:buFont typeface="+mj-lt"/>
              <a:buAutoNum type="arabicPeriod" startAt="1"/>
            </a:pPr>
            <a:r>
              <a:rPr lang="en-US" sz="1100" dirty="0">
                <a:solidFill>
                  <a:srgbClr val="2A2B38"/>
                </a:solidFill>
                <a:latin typeface="Meiryo UI" pitchFamily="34" charset="0"/>
                <a:ea typeface="Meiryo UI" pitchFamily="34" charset="-122"/>
                <a:cs typeface="Meiryo UI" pitchFamily="34" charset="-120"/>
              </a:rPr>
              <a:t>法人成りの判断のポイント</a:t>
            </a:r>
            <a:endParaRPr lang="en-US" sz="1100" dirty="0"/>
          </a:p>
          <a:p>
            <a:pPr marL="342900" indent="-342900">
              <a:spcAft>
                <a:spcPts val="100"/>
              </a:spcAft>
              <a:buSzPct val="100000"/>
              <a:buFont typeface="+mj-lt"/>
              <a:buAutoNum type="arabicPeriod" startAt="1"/>
            </a:pPr>
            <a:r>
              <a:rPr lang="en-US" sz="1100" dirty="0">
                <a:solidFill>
                  <a:srgbClr val="2A2B38"/>
                </a:solidFill>
                <a:latin typeface="Meiryo UI" pitchFamily="34" charset="0"/>
                <a:ea typeface="Meiryo UI" pitchFamily="34" charset="-122"/>
                <a:cs typeface="Meiryo UI" pitchFamily="34" charset="-120"/>
              </a:rPr>
              <a:t>設立までの流れ</a:t>
            </a:r>
            <a:endParaRPr lang="en-US" sz="1100" dirty="0"/>
          </a:p>
          <a:p>
            <a:pPr marL="342900" indent="-342900">
              <a:spcAft>
                <a:spcPts val="100"/>
              </a:spcAft>
              <a:buSzPct val="100000"/>
              <a:buFont typeface="+mj-lt"/>
              <a:buAutoNum type="arabicPeriod" startAt="1"/>
            </a:pPr>
            <a:r>
              <a:rPr lang="en-US" sz="1100" dirty="0">
                <a:solidFill>
                  <a:srgbClr val="2A2B38"/>
                </a:solidFill>
                <a:latin typeface="Meiryo UI" pitchFamily="34" charset="0"/>
                <a:ea typeface="Meiryo UI" pitchFamily="34" charset="-122"/>
                <a:cs typeface="Meiryo UI" pitchFamily="34" charset="-120"/>
              </a:rPr>
              <a:t>設立後に必要になること</a:t>
            </a:r>
            <a:endParaRPr lang="en-US" sz="1100" dirty="0"/>
          </a:p>
          <a:p>
            <a:pPr marL="342900" indent="-342900">
              <a:spcAft>
                <a:spcPts val="100"/>
              </a:spcAft>
              <a:buSzPct val="100000"/>
              <a:buFont typeface="+mj-lt"/>
              <a:buAutoNum type="arabicPeriod" startAt="1"/>
            </a:pPr>
            <a:r>
              <a:rPr lang="en-US" sz="1100" dirty="0">
                <a:solidFill>
                  <a:srgbClr val="2A2B38"/>
                </a:solidFill>
                <a:latin typeface="Meiryo UI" pitchFamily="34" charset="0"/>
                <a:ea typeface="Meiryo UI" pitchFamily="34" charset="-122"/>
                <a:cs typeface="Meiryo UI" pitchFamily="34" charset="-120"/>
              </a:rPr>
              <a:t>事務所が大切にしていること</a:t>
            </a:r>
            <a:endParaRPr lang="en-US" sz="1100" dirty="0"/>
          </a:p>
          <a:p>
            <a:pPr marL="342900" indent="-342900">
              <a:spcAft>
                <a:spcPts val="100"/>
              </a:spcAft>
              <a:buSzPct val="100000"/>
              <a:buFont typeface="+mj-lt"/>
              <a:buAutoNum type="arabicPeriod" startAt="1"/>
            </a:pPr>
            <a:r>
              <a:rPr lang="en-US" sz="1100" dirty="0">
                <a:solidFill>
                  <a:srgbClr val="2A2B38"/>
                </a:solidFill>
                <a:latin typeface="Meiryo UI" pitchFamily="34" charset="0"/>
                <a:ea typeface="Meiryo UI" pitchFamily="34" charset="-122"/>
                <a:cs typeface="Meiryo UI" pitchFamily="34" charset="-120"/>
              </a:rPr>
              <a:t>ご相談のご案内</a:t>
            </a:r>
            <a:endParaRPr lang="en-US" sz="1100" dirty="0"/>
          </a:p>
        </p:txBody>
      </p:sp>
      <p:sp>
        <p:nvSpPr>
          <p:cNvPr id="12" name="Text 9"/>
          <p:cNvSpPr txBox="1"/>
          <p:nvPr/>
        </p:nvSpPr>
        <p:spPr>
          <a:xfrm>
            <a:off x="548640" y="5486400"/>
            <a:ext cx="3515258" cy="777240"/>
          </a:xfrm>
          <a:prstGeom prst="rect">
            <a:avLst/>
          </a:prstGeom>
          <a:noFill/>
          <a:ln/>
        </p:spPr>
        <p:txBody>
          <a:bodyPr wrap="square" lIns="0" tIns="0" rIns="0" bIns="0" rtlCol="0" anchor="t"/>
          <a:lstStyle/>
          <a:p>
            <a:pPr indent="0" marL="0">
              <a:buNone/>
            </a:pPr>
            <a:r>
              <a:rPr lang="en-US" sz="1100" b="1" dirty="0">
                <a:solidFill>
                  <a:srgbClr val="3A3F73"/>
                </a:solidFill>
                <a:latin typeface="Meiryo UI" pitchFamily="34" charset="0"/>
                <a:ea typeface="Meiryo UI" pitchFamily="34" charset="-122"/>
                <a:cs typeface="Meiryo UI" pitchFamily="34" charset="-120"/>
              </a:rPr>
              <a:t>トーン：</a:t>
            </a:r>
            <a:pPr indent="0" marL="0">
              <a:buNone/>
            </a:pPr>
            <a:r>
              <a:rPr lang="en-US" sz="1100" dirty="0">
                <a:solidFill>
                  <a:srgbClr val="2A2B38"/>
                </a:solidFill>
                <a:latin typeface="Meiryo UI" pitchFamily="34" charset="0"/>
                <a:ea typeface="Meiryo UI" pitchFamily="34" charset="-122"/>
                <a:cs typeface="Meiryo UI" pitchFamily="34" charset="-120"/>
              </a:rPr>
              <a:t>信頼・分かりやすさ。専門用語は必ず言い換える</a:t>
            </a:r>
            <a:endParaRPr lang="en-US" sz="1100" dirty="0"/>
          </a:p>
          <a:p>
            <a:pPr indent="0" marL="0">
              <a:buNone/>
            </a:pPr>
            <a:r>
              <a:rPr lang="en-US" sz="1100" b="1" dirty="0">
                <a:solidFill>
                  <a:srgbClr val="A87A1C"/>
                </a:solidFill>
                <a:latin typeface="Meiryo UI" pitchFamily="34" charset="0"/>
                <a:ea typeface="Meiryo UI" pitchFamily="34" charset="-122"/>
                <a:cs typeface="Meiryo UI" pitchFamily="34" charset="-120"/>
              </a:rPr>
              <a:t>ゴール：</a:t>
            </a:r>
            <a:pPr indent="0" marL="0">
              <a:buNone/>
            </a:pPr>
            <a:r>
              <a:rPr lang="en-US" sz="1100" dirty="0">
                <a:solidFill>
                  <a:srgbClr val="2A2B38"/>
                </a:solidFill>
                <a:latin typeface="Meiryo UI" pitchFamily="34" charset="0"/>
                <a:ea typeface="Meiryo UI" pitchFamily="34" charset="-122"/>
                <a:cs typeface="Meiryo UI" pitchFamily="34" charset="-120"/>
              </a:rPr>
              <a:t>「ここなら相談しやすい」と感じ、問い合わせる</a:t>
            </a:r>
            <a:endParaRPr lang="en-US" sz="1100" dirty="0"/>
          </a:p>
        </p:txBody>
      </p:sp>
      <p:sp>
        <p:nvSpPr>
          <p:cNvPr id="13" name="Shape 10"/>
          <p:cNvSpPr/>
          <p:nvPr/>
        </p:nvSpPr>
        <p:spPr>
          <a:xfrm>
            <a:off x="4338218" y="1371600"/>
            <a:ext cx="3515258" cy="1920240"/>
          </a:xfrm>
          <a:prstGeom prst="roundRect">
            <a:avLst>
              <a:gd name="adj" fmla="val 5714"/>
            </a:avLst>
          </a:prstGeom>
          <a:solidFill>
            <a:srgbClr val="EEEFF7"/>
          </a:solidFill>
          <a:ln w="12700">
            <a:solidFill>
              <a:srgbClr val="EEEFF7"/>
            </a:solidFill>
            <a:prstDash val="solid"/>
          </a:ln>
        </p:spPr>
      </p:sp>
      <p:pic>
        <p:nvPicPr>
          <p:cNvPr id="14" name="Image 1" descr="/tmp/claude-0/-home-user-crow-dunit/6eea73a9-a861-533a-875b-45d20cf557b2/scratchpad/sawada/thumbs/instagram.png">    </p:cNvPr>
          <p:cNvPicPr>
            <a:picLocks noChangeAspect="1"/>
          </p:cNvPicPr>
          <p:nvPr/>
        </p:nvPicPr>
        <p:blipFill>
          <a:blip r:embed="rId2"/>
          <a:stretch>
            <a:fillRect/>
          </a:stretch>
        </p:blipFill>
        <p:spPr>
          <a:xfrm>
            <a:off x="5494454" y="1463040"/>
            <a:ext cx="1202788" cy="1737360"/>
          </a:xfrm>
          <a:prstGeom prst="rect">
            <a:avLst/>
          </a:prstGeom>
          <a:effectLst>
            <a:outerShdw sx="100000" sy="100000" kx="0" ky="0" algn="bl" rotWithShape="0" blurRad="76200" dist="25400" dir="5400000">
              <a:srgbClr val="000000">
                <a:alpha val="12000"/>
              </a:srgbClr>
            </a:outerShdw>
          </a:effectLst>
        </p:spPr>
      </p:pic>
      <p:sp>
        <p:nvSpPr>
          <p:cNvPr id="15" name="Text 11"/>
          <p:cNvSpPr txBox="1"/>
          <p:nvPr/>
        </p:nvSpPr>
        <p:spPr>
          <a:xfrm>
            <a:off x="4338218" y="3429000"/>
            <a:ext cx="3515258" cy="365760"/>
          </a:xfrm>
          <a:prstGeom prst="rect">
            <a:avLst/>
          </a:prstGeom>
          <a:noFill/>
          <a:ln/>
        </p:spPr>
        <p:txBody>
          <a:bodyPr wrap="square" lIns="0" tIns="0" rIns="0" bIns="0" rtlCol="0" anchor="t"/>
          <a:lstStyle/>
          <a:p>
            <a:pPr indent="0" marL="0">
              <a:buNone/>
            </a:pPr>
            <a:r>
              <a:rPr lang="en-US" sz="1600" b="1" dirty="0">
                <a:solidFill>
                  <a:srgbClr val="3A3F73"/>
                </a:solidFill>
                <a:latin typeface="Meiryo UI" pitchFamily="34" charset="0"/>
                <a:ea typeface="Meiryo UI" pitchFamily="34" charset="-122"/>
                <a:cs typeface="Meiryo UI" pitchFamily="34" charset="-120"/>
              </a:rPr>
              <a:t>② デザイン重視型</a:t>
            </a:r>
            <a:endParaRPr lang="en-US" sz="1600" dirty="0"/>
          </a:p>
        </p:txBody>
      </p:sp>
      <p:sp>
        <p:nvSpPr>
          <p:cNvPr id="16" name="Text 12"/>
          <p:cNvSpPr txBox="1"/>
          <p:nvPr/>
        </p:nvSpPr>
        <p:spPr>
          <a:xfrm>
            <a:off x="6664757" y="3474720"/>
            <a:ext cx="1188720" cy="274320"/>
          </a:xfrm>
          <a:prstGeom prst="rect">
            <a:avLst/>
          </a:prstGeom>
          <a:noFill/>
          <a:ln/>
        </p:spPr>
        <p:txBody>
          <a:bodyPr wrap="square" lIns="0" tIns="0" rIns="0" bIns="0" rtlCol="0" anchor="t"/>
          <a:lstStyle/>
          <a:p>
            <a:pPr algn="r" indent="0" marL="0">
              <a:buNone/>
            </a:pPr>
            <a:r>
              <a:rPr lang="en-US" sz="1100" b="1" dirty="0">
                <a:solidFill>
                  <a:srgbClr val="A87A1C"/>
                </a:solidFill>
                <a:latin typeface="Meiryo UI" pitchFamily="34" charset="0"/>
                <a:ea typeface="Meiryo UI" pitchFamily="34" charset="-122"/>
                <a:cs typeface="Meiryo UI" pitchFamily="34" charset="-120"/>
              </a:rPr>
              <a:t>尺：30〜90秒</a:t>
            </a:r>
            <a:endParaRPr lang="en-US" sz="1100" dirty="0"/>
          </a:p>
        </p:txBody>
      </p:sp>
      <p:sp>
        <p:nvSpPr>
          <p:cNvPr id="17" name="Text 13"/>
          <p:cNvSpPr txBox="1"/>
          <p:nvPr/>
        </p:nvSpPr>
        <p:spPr>
          <a:xfrm>
            <a:off x="4338218" y="3776472"/>
            <a:ext cx="3515258" cy="274320"/>
          </a:xfrm>
          <a:prstGeom prst="rect">
            <a:avLst/>
          </a:prstGeom>
          <a:noFill/>
          <a:ln/>
        </p:spPr>
        <p:txBody>
          <a:bodyPr wrap="square" lIns="0" tIns="0" rIns="0" bIns="0" rtlCol="0" anchor="t"/>
          <a:lstStyle/>
          <a:p>
            <a:pPr indent="0" marL="0">
              <a:buNone/>
            </a:pPr>
            <a:r>
              <a:rPr lang="en-US" sz="1100" dirty="0">
                <a:solidFill>
                  <a:srgbClr val="686A82"/>
                </a:solidFill>
                <a:latin typeface="Meiryo UI" pitchFamily="34" charset="0"/>
                <a:ea typeface="Meiryo UI" pitchFamily="34" charset="-122"/>
                <a:cs typeface="Meiryo UI" pitchFamily="34" charset="-120"/>
              </a:rPr>
              <a:t>Instagram／HP／顧問先へのメール</a:t>
            </a:r>
            <a:endParaRPr lang="en-US" sz="1100" dirty="0"/>
          </a:p>
        </p:txBody>
      </p:sp>
      <p:sp>
        <p:nvSpPr>
          <p:cNvPr id="18" name="Text 14"/>
          <p:cNvSpPr txBox="1"/>
          <p:nvPr/>
        </p:nvSpPr>
        <p:spPr>
          <a:xfrm>
            <a:off x="4338218" y="4114800"/>
            <a:ext cx="3515258" cy="1325880"/>
          </a:xfrm>
          <a:prstGeom prst="rect">
            <a:avLst/>
          </a:prstGeom>
          <a:noFill/>
          <a:ln/>
        </p:spPr>
        <p:txBody>
          <a:bodyPr wrap="square" lIns="0" tIns="0" rIns="0" bIns="0" rtlCol="0" anchor="t"/>
          <a:lstStyle/>
          <a:p>
            <a:pPr marL="342900" indent="-342900">
              <a:spcAft>
                <a:spcPts val="100"/>
              </a:spcAft>
              <a:buSzPct val="100000"/>
              <a:buFont typeface="+mj-lt"/>
              <a:buAutoNum type="arabicPeriod" startAt="1"/>
            </a:pPr>
            <a:r>
              <a:rPr lang="en-US" sz="1100" dirty="0">
                <a:solidFill>
                  <a:srgbClr val="2A2B38"/>
                </a:solidFill>
                <a:latin typeface="Meiryo UI" pitchFamily="34" charset="0"/>
                <a:ea typeface="Meiryo UI" pitchFamily="34" charset="-122"/>
                <a:cs typeface="Meiryo UI" pitchFamily="34" charset="-120"/>
              </a:rPr>
              <a:t>共感の一文「税金の悩み、ひとりで抱えないで。」</a:t>
            </a:r>
            <a:endParaRPr lang="en-US" sz="1100" dirty="0"/>
          </a:p>
          <a:p>
            <a:pPr marL="342900" indent="-342900">
              <a:spcAft>
                <a:spcPts val="100"/>
              </a:spcAft>
              <a:buSzPct val="100000"/>
              <a:buFont typeface="+mj-lt"/>
              <a:buAutoNum type="arabicPeriod" startAt="1"/>
            </a:pPr>
            <a:r>
              <a:rPr lang="en-US" sz="1100" dirty="0">
                <a:solidFill>
                  <a:srgbClr val="2A2B38"/>
                </a:solidFill>
                <a:latin typeface="Meiryo UI" pitchFamily="34" charset="0"/>
                <a:ea typeface="Meiryo UI" pitchFamily="34" charset="-122"/>
                <a:cs typeface="Meiryo UI" pitchFamily="34" charset="-120"/>
              </a:rPr>
              <a:t>対応できるご相談3つ</a:t>
            </a:r>
            <a:endParaRPr lang="en-US" sz="1100" dirty="0"/>
          </a:p>
          <a:p>
            <a:pPr marL="342900" indent="-342900">
              <a:spcAft>
                <a:spcPts val="100"/>
              </a:spcAft>
              <a:buSzPct val="100000"/>
              <a:buFont typeface="+mj-lt"/>
              <a:buAutoNum type="arabicPeriod" startAt="1"/>
            </a:pPr>
            <a:r>
              <a:rPr lang="en-US" sz="1100" dirty="0">
                <a:solidFill>
                  <a:srgbClr val="2A2B38"/>
                </a:solidFill>
                <a:latin typeface="Meiryo UI" pitchFamily="34" charset="0"/>
                <a:ea typeface="Meiryo UI" pitchFamily="34" charset="-122"/>
                <a:cs typeface="Meiryo UI" pitchFamily="34" charset="-120"/>
              </a:rPr>
              <a:t>事務所の考え方</a:t>
            </a:r>
            <a:endParaRPr lang="en-US" sz="1100" dirty="0"/>
          </a:p>
          <a:p>
            <a:pPr marL="342900" indent="-342900">
              <a:spcAft>
                <a:spcPts val="100"/>
              </a:spcAft>
              <a:buSzPct val="100000"/>
              <a:buFont typeface="+mj-lt"/>
              <a:buAutoNum type="arabicPeriod" startAt="1"/>
            </a:pPr>
            <a:r>
              <a:rPr lang="en-US" sz="1100" dirty="0">
                <a:solidFill>
                  <a:srgbClr val="2A2B38"/>
                </a:solidFill>
                <a:latin typeface="Meiryo UI" pitchFamily="34" charset="0"/>
                <a:ea typeface="Meiryo UI" pitchFamily="34" charset="-122"/>
                <a:cs typeface="Meiryo UI" pitchFamily="34" charset="-120"/>
              </a:rPr>
              <a:t>ご相談の案内</a:t>
            </a:r>
            <a:endParaRPr lang="en-US" sz="1100" dirty="0"/>
          </a:p>
          <a:p>
            <a:pPr marL="342900" indent="-342900">
              <a:spcAft>
                <a:spcPts val="100"/>
              </a:spcAft>
              <a:buSzPct val="100000"/>
              <a:buFont typeface="+mj-lt"/>
              <a:buAutoNum type="arabicPeriod" startAt="1"/>
            </a:pPr>
            <a:r>
              <a:rPr lang="en-US" sz="1100" dirty="0">
                <a:solidFill>
                  <a:srgbClr val="2A2B38"/>
                </a:solidFill>
                <a:latin typeface="Meiryo UI" pitchFamily="34" charset="0"/>
                <a:ea typeface="Meiryo UI" pitchFamily="34" charset="-122"/>
                <a:cs typeface="Meiryo UI" pitchFamily="34" charset="-120"/>
              </a:rPr>
              <a:t>プロフィールへ誘導</a:t>
            </a:r>
            <a:endParaRPr lang="en-US" sz="1100" dirty="0"/>
          </a:p>
        </p:txBody>
      </p:sp>
      <p:sp>
        <p:nvSpPr>
          <p:cNvPr id="19" name="Text 15"/>
          <p:cNvSpPr txBox="1"/>
          <p:nvPr/>
        </p:nvSpPr>
        <p:spPr>
          <a:xfrm>
            <a:off x="4338218" y="5486400"/>
            <a:ext cx="3515258" cy="777240"/>
          </a:xfrm>
          <a:prstGeom prst="rect">
            <a:avLst/>
          </a:prstGeom>
          <a:noFill/>
          <a:ln/>
        </p:spPr>
        <p:txBody>
          <a:bodyPr wrap="square" lIns="0" tIns="0" rIns="0" bIns="0" rtlCol="0" anchor="t"/>
          <a:lstStyle/>
          <a:p>
            <a:pPr indent="0" marL="0">
              <a:buNone/>
            </a:pPr>
            <a:r>
              <a:rPr lang="en-US" sz="1100" b="1" dirty="0">
                <a:solidFill>
                  <a:srgbClr val="3A3F73"/>
                </a:solidFill>
                <a:latin typeface="Meiryo UI" pitchFamily="34" charset="0"/>
                <a:ea typeface="Meiryo UI" pitchFamily="34" charset="-122"/>
                <a:cs typeface="Meiryo UI" pitchFamily="34" charset="-120"/>
              </a:rPr>
              <a:t>トーン：</a:t>
            </a:r>
            <a:pPr indent="0" marL="0">
              <a:buNone/>
            </a:pPr>
            <a:r>
              <a:rPr lang="en-US" sz="1100" dirty="0">
                <a:solidFill>
                  <a:srgbClr val="2A2B38"/>
                </a:solidFill>
                <a:latin typeface="Meiryo UI" pitchFamily="34" charset="0"/>
                <a:ea typeface="Meiryo UI" pitchFamily="34" charset="-122"/>
                <a:cs typeface="Meiryo UI" pitchFamily="34" charset="-120"/>
              </a:rPr>
              <a:t>親しみ・清潔感。“堅い事務所”の印象をやわらげる</a:t>
            </a:r>
            <a:endParaRPr lang="en-US" sz="1100" dirty="0"/>
          </a:p>
          <a:p>
            <a:pPr indent="0" marL="0">
              <a:buNone/>
            </a:pPr>
            <a:r>
              <a:rPr lang="en-US" sz="1100" b="1" dirty="0">
                <a:solidFill>
                  <a:srgbClr val="A87A1C"/>
                </a:solidFill>
                <a:latin typeface="Meiryo UI" pitchFamily="34" charset="0"/>
                <a:ea typeface="Meiryo UI" pitchFamily="34" charset="-122"/>
                <a:cs typeface="Meiryo UI" pitchFamily="34" charset="-120"/>
              </a:rPr>
              <a:t>ゴール：</a:t>
            </a:r>
            <a:pPr indent="0" marL="0">
              <a:buNone/>
            </a:pPr>
            <a:r>
              <a:rPr lang="en-US" sz="1100" dirty="0">
                <a:solidFill>
                  <a:srgbClr val="2A2B38"/>
                </a:solidFill>
                <a:latin typeface="Meiryo UI" pitchFamily="34" charset="0"/>
                <a:ea typeface="Meiryo UI" pitchFamily="34" charset="-122"/>
                <a:cs typeface="Meiryo UI" pitchFamily="34" charset="-120"/>
              </a:rPr>
              <a:t>保存・フォローされ、必要なときに相談される</a:t>
            </a:r>
            <a:endParaRPr lang="en-US" sz="1100" dirty="0"/>
          </a:p>
        </p:txBody>
      </p:sp>
      <p:sp>
        <p:nvSpPr>
          <p:cNvPr id="20" name="Shape 16"/>
          <p:cNvSpPr/>
          <p:nvPr/>
        </p:nvSpPr>
        <p:spPr>
          <a:xfrm>
            <a:off x="8127797" y="1371600"/>
            <a:ext cx="3515258" cy="1920240"/>
          </a:xfrm>
          <a:prstGeom prst="roundRect">
            <a:avLst>
              <a:gd name="adj" fmla="val 5714"/>
            </a:avLst>
          </a:prstGeom>
          <a:solidFill>
            <a:srgbClr val="EEEFF7"/>
          </a:solidFill>
          <a:ln w="12700">
            <a:solidFill>
              <a:srgbClr val="EEEFF7"/>
            </a:solidFill>
            <a:prstDash val="solid"/>
          </a:ln>
        </p:spPr>
      </p:sp>
      <p:pic>
        <p:nvPicPr>
          <p:cNvPr id="21" name="Image 2" descr="/tmp/claude-0/-home-user-crow-dunit/6eea73a9-a861-533a-875b-45d20cf557b2/scratchpad/sawada/thumbs/tiktok.png">    </p:cNvPr>
          <p:cNvPicPr>
            <a:picLocks noChangeAspect="1"/>
          </p:cNvPicPr>
          <p:nvPr/>
        </p:nvPicPr>
        <p:blipFill>
          <a:blip r:embed="rId3"/>
          <a:stretch>
            <a:fillRect/>
          </a:stretch>
        </p:blipFill>
        <p:spPr>
          <a:xfrm>
            <a:off x="9396794" y="1463040"/>
            <a:ext cx="977265" cy="1737360"/>
          </a:xfrm>
          <a:prstGeom prst="rect">
            <a:avLst/>
          </a:prstGeom>
          <a:effectLst>
            <a:outerShdw sx="100000" sy="100000" kx="0" ky="0" algn="bl" rotWithShape="0" blurRad="76200" dist="25400" dir="5400000">
              <a:srgbClr val="000000">
                <a:alpha val="12000"/>
              </a:srgbClr>
            </a:outerShdw>
          </a:effectLst>
        </p:spPr>
      </p:pic>
      <p:sp>
        <p:nvSpPr>
          <p:cNvPr id="22" name="Text 17"/>
          <p:cNvSpPr txBox="1"/>
          <p:nvPr/>
        </p:nvSpPr>
        <p:spPr>
          <a:xfrm>
            <a:off x="8127797" y="3429000"/>
            <a:ext cx="3515258" cy="365760"/>
          </a:xfrm>
          <a:prstGeom prst="rect">
            <a:avLst/>
          </a:prstGeom>
          <a:noFill/>
          <a:ln/>
        </p:spPr>
        <p:txBody>
          <a:bodyPr wrap="square" lIns="0" tIns="0" rIns="0" bIns="0" rtlCol="0" anchor="t"/>
          <a:lstStyle/>
          <a:p>
            <a:pPr indent="0" marL="0">
              <a:buNone/>
            </a:pPr>
            <a:r>
              <a:rPr lang="en-US" sz="1600" b="1" dirty="0">
                <a:solidFill>
                  <a:srgbClr val="3A3F73"/>
                </a:solidFill>
                <a:latin typeface="Meiryo UI" pitchFamily="34" charset="0"/>
                <a:ea typeface="Meiryo UI" pitchFamily="34" charset="-122"/>
                <a:cs typeface="Meiryo UI" pitchFamily="34" charset="-120"/>
              </a:rPr>
              <a:t>③ 縦型ショート型</a:t>
            </a:r>
            <a:endParaRPr lang="en-US" sz="1600" dirty="0"/>
          </a:p>
        </p:txBody>
      </p:sp>
      <p:sp>
        <p:nvSpPr>
          <p:cNvPr id="23" name="Text 18"/>
          <p:cNvSpPr txBox="1"/>
          <p:nvPr/>
        </p:nvSpPr>
        <p:spPr>
          <a:xfrm>
            <a:off x="10454335" y="3474720"/>
            <a:ext cx="1188720" cy="274320"/>
          </a:xfrm>
          <a:prstGeom prst="rect">
            <a:avLst/>
          </a:prstGeom>
          <a:noFill/>
          <a:ln/>
        </p:spPr>
        <p:txBody>
          <a:bodyPr wrap="square" lIns="0" tIns="0" rIns="0" bIns="0" rtlCol="0" anchor="t"/>
          <a:lstStyle/>
          <a:p>
            <a:pPr algn="r" indent="0" marL="0">
              <a:buNone/>
            </a:pPr>
            <a:r>
              <a:rPr lang="en-US" sz="1100" b="1" dirty="0">
                <a:solidFill>
                  <a:srgbClr val="A87A1C"/>
                </a:solidFill>
                <a:latin typeface="Meiryo UI" pitchFamily="34" charset="0"/>
                <a:ea typeface="Meiryo UI" pitchFamily="34" charset="-122"/>
                <a:cs typeface="Meiryo UI" pitchFamily="34" charset="-120"/>
              </a:rPr>
              <a:t>尺：15〜60秒</a:t>
            </a:r>
            <a:endParaRPr lang="en-US" sz="1100" dirty="0"/>
          </a:p>
        </p:txBody>
      </p:sp>
      <p:sp>
        <p:nvSpPr>
          <p:cNvPr id="24" name="Text 19"/>
          <p:cNvSpPr txBox="1"/>
          <p:nvPr/>
        </p:nvSpPr>
        <p:spPr>
          <a:xfrm>
            <a:off x="8127797" y="3776472"/>
            <a:ext cx="3515258" cy="274320"/>
          </a:xfrm>
          <a:prstGeom prst="rect">
            <a:avLst/>
          </a:prstGeom>
          <a:noFill/>
          <a:ln/>
        </p:spPr>
        <p:txBody>
          <a:bodyPr wrap="square" lIns="0" tIns="0" rIns="0" bIns="0" rtlCol="0" anchor="t"/>
          <a:lstStyle/>
          <a:p>
            <a:pPr indent="0" marL="0">
              <a:buNone/>
            </a:pPr>
            <a:r>
              <a:rPr lang="en-US" sz="1100" dirty="0">
                <a:solidFill>
                  <a:srgbClr val="686A82"/>
                </a:solidFill>
                <a:latin typeface="Meiryo UI" pitchFamily="34" charset="0"/>
                <a:ea typeface="Meiryo UI" pitchFamily="34" charset="-122"/>
                <a:cs typeface="Meiryo UI" pitchFamily="34" charset="-120"/>
              </a:rPr>
              <a:t>TikTok／YouTubeショート／リール</a:t>
            </a:r>
            <a:endParaRPr lang="en-US" sz="1100" dirty="0"/>
          </a:p>
        </p:txBody>
      </p:sp>
      <p:sp>
        <p:nvSpPr>
          <p:cNvPr id="25" name="Text 20"/>
          <p:cNvSpPr txBox="1"/>
          <p:nvPr/>
        </p:nvSpPr>
        <p:spPr>
          <a:xfrm>
            <a:off x="8127797" y="4114800"/>
            <a:ext cx="3515258" cy="1325880"/>
          </a:xfrm>
          <a:prstGeom prst="rect">
            <a:avLst/>
          </a:prstGeom>
          <a:noFill/>
          <a:ln/>
        </p:spPr>
        <p:txBody>
          <a:bodyPr wrap="square" lIns="0" tIns="0" rIns="0" bIns="0" rtlCol="0" anchor="t"/>
          <a:lstStyle/>
          <a:p>
            <a:pPr marL="342900" indent="-342900">
              <a:spcAft>
                <a:spcPts val="100"/>
              </a:spcAft>
              <a:buSzPct val="100000"/>
              <a:buFont typeface="+mj-lt"/>
              <a:buAutoNum type="arabicPeriod" startAt="1"/>
            </a:pPr>
            <a:r>
              <a:rPr lang="en-US" sz="1100" dirty="0">
                <a:solidFill>
                  <a:srgbClr val="2A2B38"/>
                </a:solidFill>
                <a:latin typeface="Meiryo UI" pitchFamily="34" charset="0"/>
                <a:ea typeface="Meiryo UI" pitchFamily="34" charset="-122"/>
                <a:cs typeface="Meiryo UI" pitchFamily="34" charset="-120"/>
              </a:rPr>
              <a:t>フック「確定申告、3月に慌てる人の共通点」</a:t>
            </a:r>
            <a:endParaRPr lang="en-US" sz="1100" dirty="0"/>
          </a:p>
          <a:p>
            <a:pPr marL="342900" indent="-342900">
              <a:spcAft>
                <a:spcPts val="100"/>
              </a:spcAft>
              <a:buSzPct val="100000"/>
              <a:buFont typeface="+mj-lt"/>
              <a:buAutoNum type="arabicPeriod" startAt="1"/>
            </a:pPr>
            <a:r>
              <a:rPr lang="en-US" sz="1100" dirty="0">
                <a:solidFill>
                  <a:srgbClr val="2A2B38"/>
                </a:solidFill>
                <a:latin typeface="Meiryo UI" pitchFamily="34" charset="0"/>
                <a:ea typeface="Meiryo UI" pitchFamily="34" charset="-122"/>
                <a:cs typeface="Meiryo UI" pitchFamily="34" charset="-120"/>
              </a:rPr>
              <a:t>答え（今からできることをひと言で）</a:t>
            </a:r>
            <a:endParaRPr lang="en-US" sz="1100" dirty="0"/>
          </a:p>
          <a:p>
            <a:pPr marL="342900" indent="-342900">
              <a:spcAft>
                <a:spcPts val="100"/>
              </a:spcAft>
              <a:buSzPct val="100000"/>
              <a:buFont typeface="+mj-lt"/>
              <a:buAutoNum type="arabicPeriod" startAt="1"/>
            </a:pPr>
            <a:r>
              <a:rPr lang="en-US" sz="1100" dirty="0">
                <a:solidFill>
                  <a:srgbClr val="2A2B38"/>
                </a:solidFill>
                <a:latin typeface="Meiryo UI" pitchFamily="34" charset="0"/>
                <a:ea typeface="Meiryo UI" pitchFamily="34" charset="-122"/>
                <a:cs typeface="Meiryo UI" pitchFamily="34" charset="-120"/>
              </a:rPr>
              <a:t>続きはプロフィールへ</a:t>
            </a:r>
            <a:endParaRPr lang="en-US" sz="1100" dirty="0"/>
          </a:p>
        </p:txBody>
      </p:sp>
      <p:sp>
        <p:nvSpPr>
          <p:cNvPr id="26" name="Text 21"/>
          <p:cNvSpPr txBox="1"/>
          <p:nvPr/>
        </p:nvSpPr>
        <p:spPr>
          <a:xfrm>
            <a:off x="8127797" y="5486400"/>
            <a:ext cx="3515258" cy="777240"/>
          </a:xfrm>
          <a:prstGeom prst="rect">
            <a:avLst/>
          </a:prstGeom>
          <a:noFill/>
          <a:ln/>
        </p:spPr>
        <p:txBody>
          <a:bodyPr wrap="square" lIns="0" tIns="0" rIns="0" bIns="0" rtlCol="0" anchor="t"/>
          <a:lstStyle/>
          <a:p>
            <a:pPr indent="0" marL="0">
              <a:buNone/>
            </a:pPr>
            <a:r>
              <a:rPr lang="en-US" sz="1100" b="1" dirty="0">
                <a:solidFill>
                  <a:srgbClr val="3A3F73"/>
                </a:solidFill>
                <a:latin typeface="Meiryo UI" pitchFamily="34" charset="0"/>
                <a:ea typeface="Meiryo UI" pitchFamily="34" charset="-122"/>
                <a:cs typeface="Meiryo UI" pitchFamily="34" charset="-120"/>
              </a:rPr>
              <a:t>トーン：</a:t>
            </a:r>
            <a:pPr indent="0" marL="0">
              <a:buNone/>
            </a:pPr>
            <a:r>
              <a:rPr lang="en-US" sz="1100" dirty="0">
                <a:solidFill>
                  <a:srgbClr val="2A2B38"/>
                </a:solidFill>
                <a:latin typeface="Meiryo UI" pitchFamily="34" charset="0"/>
                <a:ea typeface="Meiryo UI" pitchFamily="34" charset="-122"/>
                <a:cs typeface="Meiryo UI" pitchFamily="34" charset="-120"/>
              </a:rPr>
              <a:t>意外性・実用性。不安をあおらない</a:t>
            </a:r>
            <a:endParaRPr lang="en-US" sz="1100" dirty="0"/>
          </a:p>
          <a:p>
            <a:pPr indent="0" marL="0">
              <a:buNone/>
            </a:pPr>
            <a:r>
              <a:rPr lang="en-US" sz="1100" b="1" dirty="0">
                <a:solidFill>
                  <a:srgbClr val="A87A1C"/>
                </a:solidFill>
                <a:latin typeface="Meiryo UI" pitchFamily="34" charset="0"/>
                <a:ea typeface="Meiryo UI" pitchFamily="34" charset="-122"/>
                <a:cs typeface="Meiryo UI" pitchFamily="34" charset="-120"/>
              </a:rPr>
              <a:t>ゴール：</a:t>
            </a:r>
            <a:pPr indent="0" marL="0">
              <a:buNone/>
            </a:pPr>
            <a:r>
              <a:rPr lang="en-US" sz="1100" dirty="0">
                <a:solidFill>
                  <a:srgbClr val="2A2B38"/>
                </a:solidFill>
                <a:latin typeface="Meiryo UI" pitchFamily="34" charset="0"/>
                <a:ea typeface="Meiryo UI" pitchFamily="34" charset="-122"/>
                <a:cs typeface="Meiryo UI" pitchFamily="34" charset="-120"/>
              </a:rPr>
              <a:t>若い個人事業主層の認知拡大と、長尺動画・HPへの送客</a:t>
            </a:r>
            <a:endParaRPr lang="en-US" sz="1100" dirty="0"/>
          </a:p>
        </p:txBody>
      </p:sp>
    </p:spTree>
  </p:cSld>
  <p:clrMapOvr>
    <a:masterClrMapping/>
  </p:clrMapOvr>
</p:sld>
</file>

<file path=ppt/slides/slide13.xml><?xml version="1.0" encoding="utf-8"?>
<p:sld xmlns:a="http://schemas.openxmlformats.org/drawingml/2006/main" xmlns:r="http://schemas.openxmlformats.org/officeDocument/2006/relationships" xmlns:p="http://schemas.openxmlformats.org/presentationml/2006/main">
  <p:cSld name="Slide 13">
    <p:bg>
      <p:bgPr>
        <a:solidFill>
          <a:srgbClr val="FFFFFF"/>
        </a:solidFill>
      </p:bgPr>
    </p:bg>
    <p:spTree>
      <p:nvGrpSpPr>
        <p:cNvPr id="1" name=""/>
        <p:cNvGrpSpPr/>
        <p:nvPr/>
      </p:nvGrpSpPr>
      <p:grpSpPr>
        <a:xfrm>
          <a:off x="0" y="0"/>
          <a:ext cx="0" cy="0"/>
          <a:chOff x="0" y="0"/>
          <a:chExt cx="0" cy="0"/>
        </a:xfrm>
      </p:grpSpPr>
      <p:sp>
        <p:nvSpPr>
          <p:cNvPr id="2" name="Text 0"/>
          <p:cNvSpPr txBox="1"/>
          <p:nvPr/>
        </p:nvSpPr>
        <p:spPr>
          <a:xfrm>
            <a:off x="548640" y="347472"/>
            <a:ext cx="7315200" cy="274320"/>
          </a:xfrm>
          <a:prstGeom prst="rect">
            <a:avLst/>
          </a:prstGeom>
          <a:noFill/>
          <a:ln/>
        </p:spPr>
        <p:txBody>
          <a:bodyPr wrap="square" lIns="0" tIns="0" rIns="0" bIns="0" rtlCol="0" anchor="t"/>
          <a:lstStyle/>
          <a:p>
            <a:pPr indent="0" marL="0">
              <a:buNone/>
            </a:pPr>
            <a:r>
              <a:rPr lang="en-US" sz="1100" b="1" spc="200" kern="0" dirty="0">
                <a:solidFill>
                  <a:srgbClr val="A87A1C"/>
                </a:solidFill>
                <a:latin typeface="Meiryo UI" pitchFamily="34" charset="0"/>
                <a:ea typeface="Meiryo UI" pitchFamily="34" charset="-122"/>
                <a:cs typeface="Meiryo UI" pitchFamily="34" charset="-120"/>
              </a:rPr>
              <a:t>04｜PULL STRATEGY</a:t>
            </a:r>
            <a:endParaRPr lang="en-US" sz="1100" dirty="0"/>
          </a:p>
        </p:txBody>
      </p:sp>
      <p:sp>
        <p:nvSpPr>
          <p:cNvPr id="3" name="Text 1"/>
          <p:cNvSpPr txBox="1"/>
          <p:nvPr/>
        </p:nvSpPr>
        <p:spPr>
          <a:xfrm>
            <a:off x="548640" y="621792"/>
            <a:ext cx="11094415" cy="566928"/>
          </a:xfrm>
          <a:prstGeom prst="rect">
            <a:avLst/>
          </a:prstGeom>
          <a:noFill/>
          <a:ln/>
        </p:spPr>
        <p:txBody>
          <a:bodyPr wrap="square" lIns="0" tIns="0" rIns="0" bIns="0" rtlCol="0" anchor="ctr"/>
          <a:lstStyle/>
          <a:p>
            <a:pPr indent="0" marL="0">
              <a:buNone/>
            </a:pPr>
            <a:r>
              <a:rPr lang="en-US" sz="2600" b="1" dirty="0">
                <a:solidFill>
                  <a:srgbClr val="3A3F73"/>
                </a:solidFill>
                <a:latin typeface="Meiryo UI" pitchFamily="34" charset="0"/>
                <a:ea typeface="Meiryo UI" pitchFamily="34" charset="-122"/>
                <a:cs typeface="Meiryo UI" pitchFamily="34" charset="-120"/>
              </a:rPr>
              <a:t>サムネイル・画面イメージ（ラフ案）</a:t>
            </a:r>
            <a:endParaRPr lang="en-US" sz="2600" dirty="0"/>
          </a:p>
        </p:txBody>
      </p:sp>
      <p:sp>
        <p:nvSpPr>
          <p:cNvPr id="4" name="Text 2"/>
          <p:cNvSpPr txBox="1"/>
          <p:nvPr/>
        </p:nvSpPr>
        <p:spPr>
          <a:xfrm>
            <a:off x="548640" y="1207008"/>
            <a:ext cx="11094415" cy="365760"/>
          </a:xfrm>
          <a:prstGeom prst="rect">
            <a:avLst/>
          </a:prstGeom>
          <a:noFill/>
          <a:ln/>
        </p:spPr>
        <p:txBody>
          <a:bodyPr wrap="square" lIns="0" tIns="0" rIns="0" bIns="0" rtlCol="0" anchor="ctr"/>
          <a:lstStyle/>
          <a:p>
            <a:pPr indent="0" marL="0">
              <a:buNone/>
            </a:pPr>
            <a:r>
              <a:rPr lang="en-US" sz="1300" dirty="0">
                <a:solidFill>
                  <a:srgbClr val="686A82"/>
                </a:solidFill>
                <a:latin typeface="Meiryo UI" pitchFamily="34" charset="0"/>
                <a:ea typeface="Meiryo UI" pitchFamily="34" charset="-122"/>
                <a:cs typeface="Meiryo UI" pitchFamily="34" charset="-120"/>
              </a:rPr>
              <a:t>無料3本のうち、プル施策で活用する動画の“見え方”のイメージです。媒体ごとに、最初の1秒で伝えることを変えています。</a:t>
            </a:r>
            <a:endParaRPr lang="en-US" sz="1300" dirty="0"/>
          </a:p>
        </p:txBody>
      </p:sp>
      <p:sp>
        <p:nvSpPr>
          <p:cNvPr id="5" name="Text 3"/>
          <p:cNvSpPr txBox="1"/>
          <p:nvPr/>
        </p:nvSpPr>
        <p:spPr>
          <a:xfrm>
            <a:off x="11094415" y="6419088"/>
            <a:ext cx="548640" cy="256032"/>
          </a:xfrm>
          <a:prstGeom prst="rect">
            <a:avLst/>
          </a:prstGeom>
          <a:noFill/>
          <a:ln/>
        </p:spPr>
        <p:txBody>
          <a:bodyPr wrap="square" lIns="0" tIns="0" rIns="0" bIns="0" rtlCol="0" anchor="t"/>
          <a:lstStyle/>
          <a:p>
            <a:pPr algn="r" indent="0" marL="0">
              <a:buNone/>
            </a:pPr>
            <a:r>
              <a:rPr lang="en-US" sz="1000" dirty="0">
                <a:solidFill>
                  <a:srgbClr val="7C7E90"/>
                </a:solidFill>
                <a:latin typeface="Meiryo UI" pitchFamily="34" charset="0"/>
                <a:ea typeface="Meiryo UI" pitchFamily="34" charset="-122"/>
                <a:cs typeface="Meiryo UI" pitchFamily="34" charset="-120"/>
              </a:rPr>
              <a:t>13</a:t>
            </a:r>
            <a:endParaRPr lang="en-US" sz="1000" dirty="0"/>
          </a:p>
        </p:txBody>
      </p:sp>
      <p:sp>
        <p:nvSpPr>
          <p:cNvPr id="6" name="Text 4"/>
          <p:cNvSpPr txBox="1"/>
          <p:nvPr/>
        </p:nvSpPr>
        <p:spPr>
          <a:xfrm>
            <a:off x="548640" y="6419088"/>
            <a:ext cx="4572000" cy="256032"/>
          </a:xfrm>
          <a:prstGeom prst="rect">
            <a:avLst/>
          </a:prstGeom>
          <a:noFill/>
          <a:ln/>
        </p:spPr>
        <p:txBody>
          <a:bodyPr wrap="square" lIns="0" tIns="0" rIns="0" bIns="0" rtlCol="0" anchor="t"/>
          <a:lstStyle/>
          <a:p>
            <a:pPr indent="0" marL="0">
              <a:buNone/>
            </a:pPr>
            <a:r>
              <a:rPr lang="en-US" sz="900" dirty="0">
                <a:solidFill>
                  <a:srgbClr val="7C7E90"/>
                </a:solidFill>
                <a:latin typeface="Meiryo UI" pitchFamily="34" charset="0"/>
                <a:ea typeface="Meiryo UI" pitchFamily="34" charset="-122"/>
                <a:cs typeface="Meiryo UI" pitchFamily="34" charset="-120"/>
              </a:rPr>
              <a:t>株式会社アイドマ・ホールディングス｜MiTok</a:t>
            </a:r>
            <a:endParaRPr lang="en-US" sz="900" dirty="0"/>
          </a:p>
        </p:txBody>
      </p:sp>
      <p:pic>
        <p:nvPicPr>
          <p:cNvPr id="7" name="Image 0" descr="/tmp/claude-0/-home-user-crow-dunit/6eea73a9-a861-533a-875b-45d20cf557b2/scratchpad/sawada/thumbs/youtube.png">    </p:cNvPr>
          <p:cNvPicPr>
            <a:picLocks noChangeAspect="1"/>
          </p:cNvPicPr>
          <p:nvPr/>
        </p:nvPicPr>
        <p:blipFill>
          <a:blip r:embed="rId1"/>
          <a:stretch>
            <a:fillRect/>
          </a:stretch>
        </p:blipFill>
        <p:spPr>
          <a:xfrm>
            <a:off x="548640" y="1783080"/>
            <a:ext cx="4846320" cy="2726055"/>
          </a:xfrm>
          <a:prstGeom prst="rect">
            <a:avLst/>
          </a:prstGeom>
          <a:effectLst>
            <a:outerShdw sx="100000" sy="100000" kx="0" ky="0" algn="bl" rotWithShape="0" blurRad="76200" dist="25400" dir="5400000">
              <a:srgbClr val="000000">
                <a:alpha val="12000"/>
              </a:srgbClr>
            </a:outerShdw>
          </a:effectLst>
        </p:spPr>
      </p:pic>
      <p:pic>
        <p:nvPicPr>
          <p:cNvPr id="8" name="Image 1" descr="/tmp/claude-0/-home-user-crow-dunit/6eea73a9-a861-533a-875b-45d20cf557b2/scratchpad/sawada/thumbs/instagram.png">    </p:cNvPr>
          <p:cNvPicPr>
            <a:picLocks noChangeAspect="1"/>
          </p:cNvPicPr>
          <p:nvPr/>
        </p:nvPicPr>
        <p:blipFill>
          <a:blip r:embed="rId2"/>
          <a:stretch>
            <a:fillRect/>
          </a:stretch>
        </p:blipFill>
        <p:spPr>
          <a:xfrm>
            <a:off x="5897880" y="1783080"/>
            <a:ext cx="2627142" cy="3794760"/>
          </a:xfrm>
          <a:prstGeom prst="rect">
            <a:avLst/>
          </a:prstGeom>
          <a:effectLst>
            <a:outerShdw sx="100000" sy="100000" kx="0" ky="0" algn="bl" rotWithShape="0" blurRad="76200" dist="25400" dir="5400000">
              <a:srgbClr val="000000">
                <a:alpha val="12000"/>
              </a:srgbClr>
            </a:outerShdw>
          </a:effectLst>
        </p:spPr>
      </p:pic>
      <p:sp>
        <p:nvSpPr>
          <p:cNvPr id="9" name="Text 5"/>
          <p:cNvSpPr txBox="1"/>
          <p:nvPr/>
        </p:nvSpPr>
        <p:spPr>
          <a:xfrm>
            <a:off x="5715000" y="5650992"/>
            <a:ext cx="2992902" cy="274320"/>
          </a:xfrm>
          <a:prstGeom prst="rect">
            <a:avLst/>
          </a:prstGeom>
          <a:noFill/>
          <a:ln/>
        </p:spPr>
        <p:txBody>
          <a:bodyPr wrap="square" lIns="0" tIns="0" rIns="0" bIns="0" rtlCol="0" anchor="t"/>
          <a:lstStyle/>
          <a:p>
            <a:pPr algn="ctr" indent="0" marL="0">
              <a:buNone/>
            </a:pPr>
            <a:r>
              <a:rPr lang="en-US" sz="1100" b="1" dirty="0">
                <a:solidFill>
                  <a:srgbClr val="3A3F73"/>
                </a:solidFill>
                <a:latin typeface="Meiryo UI" pitchFamily="34" charset="0"/>
                <a:ea typeface="Meiryo UI" pitchFamily="34" charset="-122"/>
                <a:cs typeface="Meiryo UI" pitchFamily="34" charset="-120"/>
              </a:rPr>
              <a:t>Instagram｜フィード投稿</a:t>
            </a:r>
            <a:endParaRPr lang="en-US" sz="1100" dirty="0"/>
          </a:p>
        </p:txBody>
      </p:sp>
      <p:pic>
        <p:nvPicPr>
          <p:cNvPr id="10" name="Image 2" descr="/tmp/claude-0/-home-user-crow-dunit/6eea73a9-a861-533a-875b-45d20cf557b2/scratchpad/sawada/thumbs/tiktok.png">    </p:cNvPr>
          <p:cNvPicPr>
            <a:picLocks noChangeAspect="1"/>
          </p:cNvPicPr>
          <p:nvPr/>
        </p:nvPicPr>
        <p:blipFill>
          <a:blip r:embed="rId3"/>
          <a:stretch>
            <a:fillRect/>
          </a:stretch>
        </p:blipFill>
        <p:spPr>
          <a:xfrm>
            <a:off x="9052560" y="1783080"/>
            <a:ext cx="2134553" cy="3794760"/>
          </a:xfrm>
          <a:prstGeom prst="rect">
            <a:avLst/>
          </a:prstGeom>
          <a:effectLst>
            <a:outerShdw sx="100000" sy="100000" kx="0" ky="0" algn="bl" rotWithShape="0" blurRad="76200" dist="25400" dir="5400000">
              <a:srgbClr val="000000">
                <a:alpha val="12000"/>
              </a:srgbClr>
            </a:outerShdw>
          </a:effectLst>
        </p:spPr>
      </p:pic>
      <p:sp>
        <p:nvSpPr>
          <p:cNvPr id="11" name="Text 6"/>
          <p:cNvSpPr txBox="1"/>
          <p:nvPr/>
        </p:nvSpPr>
        <p:spPr>
          <a:xfrm>
            <a:off x="8869680" y="5650992"/>
            <a:ext cx="2500313" cy="274320"/>
          </a:xfrm>
          <a:prstGeom prst="rect">
            <a:avLst/>
          </a:prstGeom>
          <a:noFill/>
          <a:ln/>
        </p:spPr>
        <p:txBody>
          <a:bodyPr wrap="square" lIns="0" tIns="0" rIns="0" bIns="0" rtlCol="0" anchor="t"/>
          <a:lstStyle/>
          <a:p>
            <a:pPr algn="ctr" indent="0" marL="0">
              <a:buNone/>
            </a:pPr>
            <a:r>
              <a:rPr lang="en-US" sz="1100" b="1" dirty="0">
                <a:solidFill>
                  <a:srgbClr val="3A3F73"/>
                </a:solidFill>
                <a:latin typeface="Meiryo UI" pitchFamily="34" charset="0"/>
                <a:ea typeface="Meiryo UI" pitchFamily="34" charset="-122"/>
                <a:cs typeface="Meiryo UI" pitchFamily="34" charset="-120"/>
              </a:rPr>
              <a:t>TikTok／ショート｜冒頭画面</a:t>
            </a:r>
            <a:endParaRPr lang="en-US" sz="1100" dirty="0"/>
          </a:p>
        </p:txBody>
      </p:sp>
      <p:sp>
        <p:nvSpPr>
          <p:cNvPr id="12" name="Shape 7"/>
          <p:cNvSpPr/>
          <p:nvPr/>
        </p:nvSpPr>
        <p:spPr>
          <a:xfrm>
            <a:off x="548640" y="4681728"/>
            <a:ext cx="4846320" cy="365760"/>
          </a:xfrm>
          <a:prstGeom prst="roundRect">
            <a:avLst>
              <a:gd name="adj" fmla="val 30000"/>
            </a:avLst>
          </a:prstGeom>
          <a:solidFill>
            <a:srgbClr val="EEEFF7"/>
          </a:solidFill>
          <a:ln w="12700">
            <a:solidFill>
              <a:srgbClr val="EEEFF7"/>
            </a:solidFill>
            <a:prstDash val="solid"/>
          </a:ln>
        </p:spPr>
      </p:sp>
      <p:sp>
        <p:nvSpPr>
          <p:cNvPr id="13" name="Text 8"/>
          <p:cNvSpPr txBox="1"/>
          <p:nvPr/>
        </p:nvSpPr>
        <p:spPr>
          <a:xfrm>
            <a:off x="658368" y="4681728"/>
            <a:ext cx="960120" cy="365760"/>
          </a:xfrm>
          <a:prstGeom prst="rect">
            <a:avLst/>
          </a:prstGeom>
          <a:noFill/>
          <a:ln/>
        </p:spPr>
        <p:txBody>
          <a:bodyPr wrap="square" lIns="0" tIns="0" rIns="0" bIns="0" rtlCol="0" anchor="ctr"/>
          <a:lstStyle/>
          <a:p>
            <a:pPr indent="0" marL="0">
              <a:buNone/>
            </a:pPr>
            <a:r>
              <a:rPr lang="en-US" sz="1050" b="1" dirty="0">
                <a:solidFill>
                  <a:srgbClr val="A87A1C"/>
                </a:solidFill>
                <a:latin typeface="Meiryo UI" pitchFamily="34" charset="0"/>
                <a:ea typeface="Meiryo UI" pitchFamily="34" charset="-122"/>
                <a:cs typeface="Meiryo UI" pitchFamily="34" charset="-120"/>
              </a:rPr>
              <a:t>YouTube</a:t>
            </a:r>
            <a:endParaRPr lang="en-US" sz="1050" dirty="0"/>
          </a:p>
        </p:txBody>
      </p:sp>
      <p:sp>
        <p:nvSpPr>
          <p:cNvPr id="14" name="Text 9"/>
          <p:cNvSpPr txBox="1"/>
          <p:nvPr/>
        </p:nvSpPr>
        <p:spPr>
          <a:xfrm>
            <a:off x="1600200" y="4681728"/>
            <a:ext cx="3749040" cy="365760"/>
          </a:xfrm>
          <a:prstGeom prst="rect">
            <a:avLst/>
          </a:prstGeom>
          <a:noFill/>
          <a:ln/>
        </p:spPr>
        <p:txBody>
          <a:bodyPr wrap="square" lIns="0" tIns="0" rIns="0" bIns="0" rtlCol="0" anchor="ctr"/>
          <a:lstStyle/>
          <a:p>
            <a:pPr indent="0" marL="0">
              <a:buNone/>
            </a:pPr>
            <a:r>
              <a:rPr lang="en-US" sz="950" dirty="0">
                <a:solidFill>
                  <a:srgbClr val="2A2B38"/>
                </a:solidFill>
                <a:latin typeface="Meiryo UI" pitchFamily="34" charset="0"/>
                <a:ea typeface="Meiryo UI" pitchFamily="34" charset="-122"/>
                <a:cs typeface="Meiryo UI" pitchFamily="34" charset="-120"/>
              </a:rPr>
              <a:t>検索されやすいテーマ（法人成り）を大きく。対象（個人事業主）を明示してクリック率を高める</a:t>
            </a:r>
            <a:endParaRPr lang="en-US" sz="950" dirty="0"/>
          </a:p>
        </p:txBody>
      </p:sp>
      <p:sp>
        <p:nvSpPr>
          <p:cNvPr id="15" name="Shape 10"/>
          <p:cNvSpPr/>
          <p:nvPr/>
        </p:nvSpPr>
        <p:spPr>
          <a:xfrm>
            <a:off x="548640" y="5111496"/>
            <a:ext cx="4846320" cy="365760"/>
          </a:xfrm>
          <a:prstGeom prst="roundRect">
            <a:avLst>
              <a:gd name="adj" fmla="val 30000"/>
            </a:avLst>
          </a:prstGeom>
          <a:solidFill>
            <a:srgbClr val="F6F7FB"/>
          </a:solidFill>
          <a:ln w="12700">
            <a:solidFill>
              <a:srgbClr val="F6F7FB"/>
            </a:solidFill>
            <a:prstDash val="solid"/>
          </a:ln>
        </p:spPr>
      </p:sp>
      <p:sp>
        <p:nvSpPr>
          <p:cNvPr id="16" name="Text 11"/>
          <p:cNvSpPr txBox="1"/>
          <p:nvPr/>
        </p:nvSpPr>
        <p:spPr>
          <a:xfrm>
            <a:off x="658368" y="5111496"/>
            <a:ext cx="960120" cy="365760"/>
          </a:xfrm>
          <a:prstGeom prst="rect">
            <a:avLst/>
          </a:prstGeom>
          <a:noFill/>
          <a:ln/>
        </p:spPr>
        <p:txBody>
          <a:bodyPr wrap="square" lIns="0" tIns="0" rIns="0" bIns="0" rtlCol="0" anchor="ctr"/>
          <a:lstStyle/>
          <a:p>
            <a:pPr indent="0" marL="0">
              <a:buNone/>
            </a:pPr>
            <a:r>
              <a:rPr lang="en-US" sz="1050" b="1" dirty="0">
                <a:solidFill>
                  <a:srgbClr val="A87A1C"/>
                </a:solidFill>
                <a:latin typeface="Meiryo UI" pitchFamily="34" charset="0"/>
                <a:ea typeface="Meiryo UI" pitchFamily="34" charset="-122"/>
                <a:cs typeface="Meiryo UI" pitchFamily="34" charset="-120"/>
              </a:rPr>
              <a:t>Instagram</a:t>
            </a:r>
            <a:endParaRPr lang="en-US" sz="1050" dirty="0"/>
          </a:p>
        </p:txBody>
      </p:sp>
      <p:sp>
        <p:nvSpPr>
          <p:cNvPr id="17" name="Text 12"/>
          <p:cNvSpPr txBox="1"/>
          <p:nvPr/>
        </p:nvSpPr>
        <p:spPr>
          <a:xfrm>
            <a:off x="1600200" y="5111496"/>
            <a:ext cx="3749040" cy="365760"/>
          </a:xfrm>
          <a:prstGeom prst="rect">
            <a:avLst/>
          </a:prstGeom>
          <a:noFill/>
          <a:ln/>
        </p:spPr>
        <p:txBody>
          <a:bodyPr wrap="square" lIns="0" tIns="0" rIns="0" bIns="0" rtlCol="0" anchor="ctr"/>
          <a:lstStyle/>
          <a:p>
            <a:pPr indent="0" marL="0">
              <a:buNone/>
            </a:pPr>
            <a:r>
              <a:rPr lang="en-US" sz="950" dirty="0">
                <a:solidFill>
                  <a:srgbClr val="2A2B38"/>
                </a:solidFill>
                <a:latin typeface="Meiryo UI" pitchFamily="34" charset="0"/>
                <a:ea typeface="Meiryo UI" pitchFamily="34" charset="-122"/>
                <a:cs typeface="Meiryo UI" pitchFamily="34" charset="-120"/>
              </a:rPr>
              <a:t>“堅い事務所”の印象をやわらげる一文で共感をつくり、相談内容を3つに整理</a:t>
            </a:r>
            <a:endParaRPr lang="en-US" sz="950" dirty="0"/>
          </a:p>
        </p:txBody>
      </p:sp>
      <p:sp>
        <p:nvSpPr>
          <p:cNvPr id="18" name="Shape 13"/>
          <p:cNvSpPr/>
          <p:nvPr/>
        </p:nvSpPr>
        <p:spPr>
          <a:xfrm>
            <a:off x="548640" y="5541264"/>
            <a:ext cx="4846320" cy="365760"/>
          </a:xfrm>
          <a:prstGeom prst="roundRect">
            <a:avLst>
              <a:gd name="adj" fmla="val 30000"/>
            </a:avLst>
          </a:prstGeom>
          <a:solidFill>
            <a:srgbClr val="F6F7FB"/>
          </a:solidFill>
          <a:ln w="12700">
            <a:solidFill>
              <a:srgbClr val="F6F7FB"/>
            </a:solidFill>
            <a:prstDash val="solid"/>
          </a:ln>
        </p:spPr>
      </p:sp>
      <p:sp>
        <p:nvSpPr>
          <p:cNvPr id="19" name="Text 14"/>
          <p:cNvSpPr txBox="1"/>
          <p:nvPr/>
        </p:nvSpPr>
        <p:spPr>
          <a:xfrm>
            <a:off x="658368" y="5541264"/>
            <a:ext cx="960120" cy="365760"/>
          </a:xfrm>
          <a:prstGeom prst="rect">
            <a:avLst/>
          </a:prstGeom>
          <a:noFill/>
          <a:ln/>
        </p:spPr>
        <p:txBody>
          <a:bodyPr wrap="square" lIns="0" tIns="0" rIns="0" bIns="0" rtlCol="0" anchor="ctr"/>
          <a:lstStyle/>
          <a:p>
            <a:pPr indent="0" marL="0">
              <a:buNone/>
            </a:pPr>
            <a:r>
              <a:rPr lang="en-US" sz="1050" b="1" dirty="0">
                <a:solidFill>
                  <a:srgbClr val="A87A1C"/>
                </a:solidFill>
                <a:latin typeface="Meiryo UI" pitchFamily="34" charset="0"/>
                <a:ea typeface="Meiryo UI" pitchFamily="34" charset="-122"/>
                <a:cs typeface="Meiryo UI" pitchFamily="34" charset="-120"/>
              </a:rPr>
              <a:t>TikTok</a:t>
            </a:r>
            <a:endParaRPr lang="en-US" sz="1050" dirty="0"/>
          </a:p>
        </p:txBody>
      </p:sp>
      <p:sp>
        <p:nvSpPr>
          <p:cNvPr id="20" name="Text 15"/>
          <p:cNvSpPr txBox="1"/>
          <p:nvPr/>
        </p:nvSpPr>
        <p:spPr>
          <a:xfrm>
            <a:off x="1600200" y="5541264"/>
            <a:ext cx="3749040" cy="365760"/>
          </a:xfrm>
          <a:prstGeom prst="rect">
            <a:avLst/>
          </a:prstGeom>
          <a:noFill/>
          <a:ln/>
        </p:spPr>
        <p:txBody>
          <a:bodyPr wrap="square" lIns="0" tIns="0" rIns="0" bIns="0" rtlCol="0" anchor="ctr"/>
          <a:lstStyle/>
          <a:p>
            <a:pPr indent="0" marL="0">
              <a:buNone/>
            </a:pPr>
            <a:r>
              <a:rPr lang="en-US" sz="950" dirty="0">
                <a:solidFill>
                  <a:srgbClr val="2A2B38"/>
                </a:solidFill>
                <a:latin typeface="Meiryo UI" pitchFamily="34" charset="0"/>
                <a:ea typeface="Meiryo UI" pitchFamily="34" charset="-122"/>
                <a:cs typeface="Meiryo UI" pitchFamily="34" charset="-120"/>
              </a:rPr>
              <a:t>冒頭2秒の問いかけ＋MiTokの掛け合いで、スクロールを止める</a:t>
            </a:r>
            <a:endParaRPr lang="en-US" sz="950" dirty="0"/>
          </a:p>
        </p:txBody>
      </p:sp>
      <p:sp>
        <p:nvSpPr>
          <p:cNvPr id="21" name="Text 16"/>
          <p:cNvSpPr txBox="1"/>
          <p:nvPr/>
        </p:nvSpPr>
        <p:spPr>
          <a:xfrm>
            <a:off x="548640" y="5989320"/>
            <a:ext cx="11094415" cy="384048"/>
          </a:xfrm>
          <a:prstGeom prst="rect">
            <a:avLst/>
          </a:prstGeom>
          <a:noFill/>
          <a:ln/>
        </p:spPr>
        <p:txBody>
          <a:bodyPr wrap="square" lIns="0" tIns="0" rIns="0" bIns="0" rtlCol="0" anchor="t"/>
          <a:lstStyle/>
          <a:p>
            <a:pPr indent="0" marL="0">
              <a:buNone/>
            </a:pPr>
            <a:r>
              <a:rPr lang="en-US" sz="950" dirty="0">
                <a:solidFill>
                  <a:srgbClr val="686A82"/>
                </a:solidFill>
                <a:latin typeface="Meiryo UI" pitchFamily="34" charset="0"/>
                <a:ea typeface="Meiryo UI" pitchFamily="34" charset="-122"/>
                <a:cs typeface="Meiryo UI" pitchFamily="34" charset="-120"/>
              </a:rPr>
              <a:t>※イラスト・アカウント名・再生時間は仮のものです。本制作では貴事務所のロゴ・写真を使用します。顧問先の事例を使う場合は、同意を得たうえで個人や企業が特定されない形にします。</a:t>
            </a:r>
            <a:endParaRPr lang="en-US" sz="950" dirty="0"/>
          </a:p>
        </p:txBody>
      </p:sp>
    </p:spTree>
  </p:cSld>
  <p:clrMapOvr>
    <a:masterClrMapping/>
  </p:clrMapOvr>
</p:sld>
</file>

<file path=ppt/slides/slide14.xml><?xml version="1.0" encoding="utf-8"?>
<p:sld xmlns:a="http://schemas.openxmlformats.org/drawingml/2006/main" xmlns:r="http://schemas.openxmlformats.org/officeDocument/2006/relationships" xmlns:p="http://schemas.openxmlformats.org/presentationml/2006/main">
  <p:cSld name="Slide 14">
    <p:bg>
      <p:bgPr>
        <a:solidFill>
          <a:srgbClr val="FFFFFF"/>
        </a:solidFill>
      </p:bgPr>
    </p:bg>
    <p:spTree>
      <p:nvGrpSpPr>
        <p:cNvPr id="1" name=""/>
        <p:cNvGrpSpPr/>
        <p:nvPr/>
      </p:nvGrpSpPr>
      <p:grpSpPr>
        <a:xfrm>
          <a:off x="0" y="0"/>
          <a:ext cx="0" cy="0"/>
          <a:chOff x="0" y="0"/>
          <a:chExt cx="0" cy="0"/>
        </a:xfrm>
      </p:grpSpPr>
      <p:sp>
        <p:nvSpPr>
          <p:cNvPr id="2" name="Text 0"/>
          <p:cNvSpPr txBox="1"/>
          <p:nvPr/>
        </p:nvSpPr>
        <p:spPr>
          <a:xfrm>
            <a:off x="548640" y="347472"/>
            <a:ext cx="7315200" cy="274320"/>
          </a:xfrm>
          <a:prstGeom prst="rect">
            <a:avLst/>
          </a:prstGeom>
          <a:noFill/>
          <a:ln/>
        </p:spPr>
        <p:txBody>
          <a:bodyPr wrap="square" lIns="0" tIns="0" rIns="0" bIns="0" rtlCol="0" anchor="t"/>
          <a:lstStyle/>
          <a:p>
            <a:pPr indent="0" marL="0">
              <a:buNone/>
            </a:pPr>
            <a:r>
              <a:rPr lang="en-US" sz="1100" b="1" spc="200" kern="0" dirty="0">
                <a:solidFill>
                  <a:srgbClr val="A87A1C"/>
                </a:solidFill>
                <a:latin typeface="Meiryo UI" pitchFamily="34" charset="0"/>
                <a:ea typeface="Meiryo UI" pitchFamily="34" charset="-122"/>
                <a:cs typeface="Meiryo UI" pitchFamily="34" charset="-120"/>
              </a:rPr>
              <a:t>04｜PULL STRATEGY</a:t>
            </a:r>
            <a:endParaRPr lang="en-US" sz="1100" dirty="0"/>
          </a:p>
        </p:txBody>
      </p:sp>
      <p:sp>
        <p:nvSpPr>
          <p:cNvPr id="3" name="Text 1"/>
          <p:cNvSpPr txBox="1"/>
          <p:nvPr/>
        </p:nvSpPr>
        <p:spPr>
          <a:xfrm>
            <a:off x="548640" y="621792"/>
            <a:ext cx="11094415" cy="566928"/>
          </a:xfrm>
          <a:prstGeom prst="rect">
            <a:avLst/>
          </a:prstGeom>
          <a:noFill/>
          <a:ln/>
        </p:spPr>
        <p:txBody>
          <a:bodyPr wrap="square" lIns="0" tIns="0" rIns="0" bIns="0" rtlCol="0" anchor="ctr"/>
          <a:lstStyle/>
          <a:p>
            <a:pPr indent="0" marL="0">
              <a:buNone/>
            </a:pPr>
            <a:r>
              <a:rPr lang="en-US" sz="2600" b="1" dirty="0">
                <a:solidFill>
                  <a:srgbClr val="3A3F73"/>
                </a:solidFill>
                <a:latin typeface="Meiryo UI" pitchFamily="34" charset="0"/>
                <a:ea typeface="Meiryo UI" pitchFamily="34" charset="-122"/>
                <a:cs typeface="Meiryo UI" pitchFamily="34" charset="-120"/>
              </a:rPr>
              <a:t>長尺解説動画の絵コンテ（ラフ案）：MiTokの掛け合い構成</a:t>
            </a:r>
            <a:endParaRPr lang="en-US" sz="2600" dirty="0"/>
          </a:p>
        </p:txBody>
      </p:sp>
      <p:sp>
        <p:nvSpPr>
          <p:cNvPr id="4" name="Text 2"/>
          <p:cNvSpPr txBox="1"/>
          <p:nvPr/>
        </p:nvSpPr>
        <p:spPr>
          <a:xfrm>
            <a:off x="11094415" y="6419088"/>
            <a:ext cx="548640" cy="256032"/>
          </a:xfrm>
          <a:prstGeom prst="rect">
            <a:avLst/>
          </a:prstGeom>
          <a:noFill/>
          <a:ln/>
        </p:spPr>
        <p:txBody>
          <a:bodyPr wrap="square" lIns="0" tIns="0" rIns="0" bIns="0" rtlCol="0" anchor="t"/>
          <a:lstStyle/>
          <a:p>
            <a:pPr algn="r" indent="0" marL="0">
              <a:buNone/>
            </a:pPr>
            <a:r>
              <a:rPr lang="en-US" sz="1000" dirty="0">
                <a:solidFill>
                  <a:srgbClr val="7C7E90"/>
                </a:solidFill>
                <a:latin typeface="Meiryo UI" pitchFamily="34" charset="0"/>
                <a:ea typeface="Meiryo UI" pitchFamily="34" charset="-122"/>
                <a:cs typeface="Meiryo UI" pitchFamily="34" charset="-120"/>
              </a:rPr>
              <a:t>14</a:t>
            </a:r>
            <a:endParaRPr lang="en-US" sz="1000" dirty="0"/>
          </a:p>
        </p:txBody>
      </p:sp>
      <p:sp>
        <p:nvSpPr>
          <p:cNvPr id="5" name="Text 3"/>
          <p:cNvSpPr txBox="1"/>
          <p:nvPr/>
        </p:nvSpPr>
        <p:spPr>
          <a:xfrm>
            <a:off x="548640" y="6419088"/>
            <a:ext cx="4572000" cy="256032"/>
          </a:xfrm>
          <a:prstGeom prst="rect">
            <a:avLst/>
          </a:prstGeom>
          <a:noFill/>
          <a:ln/>
        </p:spPr>
        <p:txBody>
          <a:bodyPr wrap="square" lIns="0" tIns="0" rIns="0" bIns="0" rtlCol="0" anchor="t"/>
          <a:lstStyle/>
          <a:p>
            <a:pPr indent="0" marL="0">
              <a:buNone/>
            </a:pPr>
            <a:r>
              <a:rPr lang="en-US" sz="900" dirty="0">
                <a:solidFill>
                  <a:srgbClr val="7C7E90"/>
                </a:solidFill>
                <a:latin typeface="Meiryo UI" pitchFamily="34" charset="0"/>
                <a:ea typeface="Meiryo UI" pitchFamily="34" charset="-122"/>
                <a:cs typeface="Meiryo UI" pitchFamily="34" charset="-120"/>
              </a:rPr>
              <a:t>株式会社アイドマ・ホールディングス｜MiTok</a:t>
            </a:r>
            <a:endParaRPr lang="en-US" sz="900" dirty="0"/>
          </a:p>
        </p:txBody>
      </p:sp>
      <p:pic>
        <p:nvPicPr>
          <p:cNvPr id="6" name="Image 0" descr="/tmp/claude-0/-home-user-crow-dunit/6eea73a9-a861-533a-875b-45d20cf557b2/scratchpad/sawada/thumbs/story1.png">    </p:cNvPr>
          <p:cNvPicPr>
            <a:picLocks noChangeAspect="1"/>
          </p:cNvPicPr>
          <p:nvPr/>
        </p:nvPicPr>
        <p:blipFill>
          <a:blip r:embed="rId1"/>
          <a:stretch>
            <a:fillRect/>
          </a:stretch>
        </p:blipFill>
        <p:spPr>
          <a:xfrm>
            <a:off x="548640" y="1417320"/>
            <a:ext cx="3429000" cy="1928813"/>
          </a:xfrm>
          <a:prstGeom prst="rect">
            <a:avLst/>
          </a:prstGeom>
          <a:effectLst>
            <a:outerShdw sx="100000" sy="100000" kx="0" ky="0" algn="bl" rotWithShape="0" blurRad="76200" dist="25400" dir="5400000">
              <a:srgbClr val="000000">
                <a:alpha val="12000"/>
              </a:srgbClr>
            </a:outerShdw>
          </a:effectLst>
        </p:spPr>
      </p:pic>
      <p:sp>
        <p:nvSpPr>
          <p:cNvPr id="7" name="Text 4"/>
          <p:cNvSpPr txBox="1"/>
          <p:nvPr/>
        </p:nvSpPr>
        <p:spPr>
          <a:xfrm>
            <a:off x="548640" y="3419285"/>
            <a:ext cx="3429000" cy="457200"/>
          </a:xfrm>
          <a:prstGeom prst="rect">
            <a:avLst/>
          </a:prstGeom>
          <a:noFill/>
          <a:ln/>
        </p:spPr>
        <p:txBody>
          <a:bodyPr wrap="square" lIns="0" tIns="0" rIns="0" bIns="0" rtlCol="0" anchor="t"/>
          <a:lstStyle/>
          <a:p>
            <a:pPr indent="0" marL="0">
              <a:buNone/>
            </a:pPr>
            <a:r>
              <a:rPr lang="en-US" sz="1050" b="1" dirty="0">
                <a:solidFill>
                  <a:srgbClr val="3A3F73"/>
                </a:solidFill>
                <a:latin typeface="Meiryo UI" pitchFamily="34" charset="0"/>
                <a:ea typeface="Meiryo UI" pitchFamily="34" charset="-122"/>
                <a:cs typeface="Meiryo UI" pitchFamily="34" charset="-120"/>
              </a:rPr>
              <a:t>0:00｜悩みの提示　</a:t>
            </a:r>
            <a:pPr indent="0" marL="0">
              <a:buNone/>
            </a:pPr>
            <a:r>
              <a:rPr lang="en-US" sz="1050" dirty="0">
                <a:solidFill>
                  <a:srgbClr val="2A2B38"/>
                </a:solidFill>
                <a:latin typeface="Meiryo UI" pitchFamily="34" charset="0"/>
                <a:ea typeface="Meiryo UI" pitchFamily="34" charset="-122"/>
                <a:cs typeface="Meiryo UI" pitchFamily="34" charset="-120"/>
              </a:rPr>
              <a:t>相談者役の「法人にした方がいい？」が共感を呼ぶ</a:t>
            </a:r>
            <a:endParaRPr lang="en-US" sz="1050" dirty="0"/>
          </a:p>
        </p:txBody>
      </p:sp>
      <p:pic>
        <p:nvPicPr>
          <p:cNvPr id="8" name="Image 1" descr="/tmp/claude-0/-home-user-crow-dunit/6eea73a9-a861-533a-875b-45d20cf557b2/scratchpad/sawada/thumbs/story2.png">    </p:cNvPr>
          <p:cNvPicPr>
            <a:picLocks noChangeAspect="1"/>
          </p:cNvPicPr>
          <p:nvPr/>
        </p:nvPicPr>
        <p:blipFill>
          <a:blip r:embed="rId2"/>
          <a:stretch>
            <a:fillRect/>
          </a:stretch>
        </p:blipFill>
        <p:spPr>
          <a:xfrm>
            <a:off x="4251960" y="1417320"/>
            <a:ext cx="3429000" cy="1928813"/>
          </a:xfrm>
          <a:prstGeom prst="rect">
            <a:avLst/>
          </a:prstGeom>
          <a:effectLst>
            <a:outerShdw sx="100000" sy="100000" kx="0" ky="0" algn="bl" rotWithShape="0" blurRad="76200" dist="25400" dir="5400000">
              <a:srgbClr val="000000">
                <a:alpha val="12000"/>
              </a:srgbClr>
            </a:outerShdw>
          </a:effectLst>
        </p:spPr>
      </p:pic>
      <p:sp>
        <p:nvSpPr>
          <p:cNvPr id="9" name="Text 5"/>
          <p:cNvSpPr txBox="1"/>
          <p:nvPr/>
        </p:nvSpPr>
        <p:spPr>
          <a:xfrm>
            <a:off x="4251960" y="3419285"/>
            <a:ext cx="3429000" cy="457200"/>
          </a:xfrm>
          <a:prstGeom prst="rect">
            <a:avLst/>
          </a:prstGeom>
          <a:noFill/>
          <a:ln/>
        </p:spPr>
        <p:txBody>
          <a:bodyPr wrap="square" lIns="0" tIns="0" rIns="0" bIns="0" rtlCol="0" anchor="t"/>
          <a:lstStyle/>
          <a:p>
            <a:pPr indent="0" marL="0">
              <a:buNone/>
            </a:pPr>
            <a:r>
              <a:rPr lang="en-US" sz="1050" b="1" dirty="0">
                <a:solidFill>
                  <a:srgbClr val="3A3F73"/>
                </a:solidFill>
                <a:latin typeface="Meiryo UI" pitchFamily="34" charset="0"/>
                <a:ea typeface="Meiryo UI" pitchFamily="34" charset="-122"/>
                <a:cs typeface="Meiryo UI" pitchFamily="34" charset="-120"/>
              </a:rPr>
              <a:t>2:00｜大切にしていること　</a:t>
            </a:r>
            <a:pPr indent="0" marL="0">
              <a:buNone/>
            </a:pPr>
            <a:r>
              <a:rPr lang="en-US" sz="1050" dirty="0">
                <a:solidFill>
                  <a:srgbClr val="2A2B38"/>
                </a:solidFill>
                <a:latin typeface="Meiryo UI" pitchFamily="34" charset="0"/>
                <a:ea typeface="Meiryo UI" pitchFamily="34" charset="-122"/>
                <a:cs typeface="Meiryo UI" pitchFamily="34" charset="-120"/>
              </a:rPr>
              <a:t>代表役が事務所の考え方を3点で語る</a:t>
            </a:r>
            <a:endParaRPr lang="en-US" sz="1050" dirty="0"/>
          </a:p>
        </p:txBody>
      </p:sp>
      <p:pic>
        <p:nvPicPr>
          <p:cNvPr id="10" name="Image 2" descr="/tmp/claude-0/-home-user-crow-dunit/6eea73a9-a861-533a-875b-45d20cf557b2/scratchpad/sawada/thumbs/story3.png">    </p:cNvPr>
          <p:cNvPicPr>
            <a:picLocks noChangeAspect="1"/>
          </p:cNvPicPr>
          <p:nvPr/>
        </p:nvPicPr>
        <p:blipFill>
          <a:blip r:embed="rId3"/>
          <a:stretch>
            <a:fillRect/>
          </a:stretch>
        </p:blipFill>
        <p:spPr>
          <a:xfrm>
            <a:off x="548640" y="3913061"/>
            <a:ext cx="3429000" cy="1928813"/>
          </a:xfrm>
          <a:prstGeom prst="rect">
            <a:avLst/>
          </a:prstGeom>
          <a:effectLst>
            <a:outerShdw sx="100000" sy="100000" kx="0" ky="0" algn="bl" rotWithShape="0" blurRad="76200" dist="25400" dir="5400000">
              <a:srgbClr val="000000">
                <a:alpha val="12000"/>
              </a:srgbClr>
            </a:outerShdw>
          </a:effectLst>
        </p:spPr>
      </p:pic>
      <p:sp>
        <p:nvSpPr>
          <p:cNvPr id="11" name="Text 6"/>
          <p:cNvSpPr txBox="1"/>
          <p:nvPr/>
        </p:nvSpPr>
        <p:spPr>
          <a:xfrm>
            <a:off x="548640" y="5915025"/>
            <a:ext cx="3429000" cy="457200"/>
          </a:xfrm>
          <a:prstGeom prst="rect">
            <a:avLst/>
          </a:prstGeom>
          <a:noFill/>
          <a:ln/>
        </p:spPr>
        <p:txBody>
          <a:bodyPr wrap="square" lIns="0" tIns="0" rIns="0" bIns="0" rtlCol="0" anchor="t"/>
          <a:lstStyle/>
          <a:p>
            <a:pPr indent="0" marL="0">
              <a:buNone/>
            </a:pPr>
            <a:r>
              <a:rPr lang="en-US" sz="1050" b="1" dirty="0">
                <a:solidFill>
                  <a:srgbClr val="3A3F73"/>
                </a:solidFill>
                <a:latin typeface="Meiryo UI" pitchFamily="34" charset="0"/>
                <a:ea typeface="Meiryo UI" pitchFamily="34" charset="-122"/>
                <a:cs typeface="Meiryo UI" pitchFamily="34" charset="-120"/>
              </a:rPr>
              <a:t>4:30｜法人成りの流れ　</a:t>
            </a:r>
            <a:pPr indent="0" marL="0">
              <a:buNone/>
            </a:pPr>
            <a:r>
              <a:rPr lang="en-US" sz="1050" dirty="0">
                <a:solidFill>
                  <a:srgbClr val="2A2B38"/>
                </a:solidFill>
                <a:latin typeface="Meiryo UI" pitchFamily="34" charset="0"/>
                <a:ea typeface="Meiryo UI" pitchFamily="34" charset="-122"/>
                <a:cs typeface="Meiryo UI" pitchFamily="34" charset="-120"/>
              </a:rPr>
              <a:t>5ステップで全体像を示す</a:t>
            </a:r>
            <a:endParaRPr lang="en-US" sz="1050" dirty="0"/>
          </a:p>
        </p:txBody>
      </p:sp>
      <p:pic>
        <p:nvPicPr>
          <p:cNvPr id="12" name="Image 3" descr="/tmp/claude-0/-home-user-crow-dunit/6eea73a9-a861-533a-875b-45d20cf557b2/scratchpad/sawada/thumbs/story4.png">    </p:cNvPr>
          <p:cNvPicPr>
            <a:picLocks noChangeAspect="1"/>
          </p:cNvPicPr>
          <p:nvPr/>
        </p:nvPicPr>
        <p:blipFill>
          <a:blip r:embed="rId4"/>
          <a:stretch>
            <a:fillRect/>
          </a:stretch>
        </p:blipFill>
        <p:spPr>
          <a:xfrm>
            <a:off x="4251960" y="3913061"/>
            <a:ext cx="3429000" cy="1928813"/>
          </a:xfrm>
          <a:prstGeom prst="rect">
            <a:avLst/>
          </a:prstGeom>
          <a:effectLst>
            <a:outerShdw sx="100000" sy="100000" kx="0" ky="0" algn="bl" rotWithShape="0" blurRad="76200" dist="25400" dir="5400000">
              <a:srgbClr val="000000">
                <a:alpha val="12000"/>
              </a:srgbClr>
            </a:outerShdw>
          </a:effectLst>
        </p:spPr>
      </p:pic>
      <p:sp>
        <p:nvSpPr>
          <p:cNvPr id="13" name="Text 7"/>
          <p:cNvSpPr txBox="1"/>
          <p:nvPr/>
        </p:nvSpPr>
        <p:spPr>
          <a:xfrm>
            <a:off x="4251960" y="5915025"/>
            <a:ext cx="3429000" cy="457200"/>
          </a:xfrm>
          <a:prstGeom prst="rect">
            <a:avLst/>
          </a:prstGeom>
          <a:noFill/>
          <a:ln/>
        </p:spPr>
        <p:txBody>
          <a:bodyPr wrap="square" lIns="0" tIns="0" rIns="0" bIns="0" rtlCol="0" anchor="t"/>
          <a:lstStyle/>
          <a:p>
            <a:pPr indent="0" marL="0">
              <a:buNone/>
            </a:pPr>
            <a:r>
              <a:rPr lang="en-US" sz="1050" b="1" dirty="0">
                <a:solidFill>
                  <a:srgbClr val="3A3F73"/>
                </a:solidFill>
                <a:latin typeface="Meiryo UI" pitchFamily="34" charset="0"/>
                <a:ea typeface="Meiryo UI" pitchFamily="34" charset="-122"/>
                <a:cs typeface="Meiryo UI" pitchFamily="34" charset="-120"/>
              </a:rPr>
              <a:t>8:00｜お問い合わせ　</a:t>
            </a:r>
            <a:pPr indent="0" marL="0">
              <a:buNone/>
            </a:pPr>
            <a:r>
              <a:rPr lang="en-US" sz="1050" dirty="0">
                <a:solidFill>
                  <a:srgbClr val="2A2B38"/>
                </a:solidFill>
                <a:latin typeface="Meiryo UI" pitchFamily="34" charset="0"/>
                <a:ea typeface="Meiryo UI" pitchFamily="34" charset="-122"/>
                <a:cs typeface="Meiryo UI" pitchFamily="34" charset="-120"/>
              </a:rPr>
              <a:t>電話・フォームの2択で行動を促す</a:t>
            </a:r>
            <a:endParaRPr lang="en-US" sz="1050" dirty="0"/>
          </a:p>
        </p:txBody>
      </p:sp>
      <p:sp>
        <p:nvSpPr>
          <p:cNvPr id="14" name="Shape 8"/>
          <p:cNvSpPr/>
          <p:nvPr/>
        </p:nvSpPr>
        <p:spPr>
          <a:xfrm>
            <a:off x="8001000" y="1417320"/>
            <a:ext cx="3642055" cy="4846320"/>
          </a:xfrm>
          <a:prstGeom prst="roundRect">
            <a:avLst>
              <a:gd name="adj" fmla="val 3013"/>
            </a:avLst>
          </a:prstGeom>
          <a:solidFill>
            <a:srgbClr val="EEEFF7"/>
          </a:solidFill>
          <a:ln w="12700">
            <a:solidFill>
              <a:srgbClr val="EEEFF7"/>
            </a:solidFill>
            <a:prstDash val="solid"/>
          </a:ln>
        </p:spPr>
      </p:sp>
      <p:sp>
        <p:nvSpPr>
          <p:cNvPr id="15" name="Text 9"/>
          <p:cNvSpPr txBox="1"/>
          <p:nvPr/>
        </p:nvSpPr>
        <p:spPr>
          <a:xfrm>
            <a:off x="8275320" y="1600200"/>
            <a:ext cx="3093415" cy="365760"/>
          </a:xfrm>
          <a:prstGeom prst="rect">
            <a:avLst/>
          </a:prstGeom>
          <a:noFill/>
          <a:ln/>
        </p:spPr>
        <p:txBody>
          <a:bodyPr wrap="square" lIns="0" tIns="0" rIns="0" bIns="0" rtlCol="0" anchor="t"/>
          <a:lstStyle/>
          <a:p>
            <a:pPr indent="0" marL="0">
              <a:buNone/>
            </a:pPr>
            <a:r>
              <a:rPr lang="en-US" sz="1500" b="1" dirty="0">
                <a:solidFill>
                  <a:srgbClr val="3A3F73"/>
                </a:solidFill>
                <a:latin typeface="Meiryo UI" pitchFamily="34" charset="0"/>
                <a:ea typeface="Meiryo UI" pitchFamily="34" charset="-122"/>
                <a:cs typeface="Meiryo UI" pitchFamily="34" charset="-120"/>
              </a:rPr>
              <a:t>構成のポイント</a:t>
            </a:r>
            <a:endParaRPr lang="en-US" sz="1500" dirty="0"/>
          </a:p>
        </p:txBody>
      </p:sp>
      <p:sp>
        <p:nvSpPr>
          <p:cNvPr id="16" name="Shape 10"/>
          <p:cNvSpPr/>
          <p:nvPr/>
        </p:nvSpPr>
        <p:spPr>
          <a:xfrm>
            <a:off x="8275320" y="2103120"/>
            <a:ext cx="384048" cy="384048"/>
          </a:xfrm>
          <a:prstGeom prst="ellipse">
            <a:avLst/>
          </a:prstGeom>
          <a:solidFill>
            <a:srgbClr val="A87A1C"/>
          </a:solidFill>
          <a:ln w="12700">
            <a:solidFill>
              <a:srgbClr val="A87A1C"/>
            </a:solidFill>
            <a:prstDash val="solid"/>
          </a:ln>
        </p:spPr>
      </p:sp>
      <p:sp>
        <p:nvSpPr>
          <p:cNvPr id="17" name="Text 11"/>
          <p:cNvSpPr txBox="1"/>
          <p:nvPr/>
        </p:nvSpPr>
        <p:spPr>
          <a:xfrm>
            <a:off x="8275320" y="2103120"/>
            <a:ext cx="384048" cy="384048"/>
          </a:xfrm>
          <a:prstGeom prst="rect">
            <a:avLst/>
          </a:prstGeom>
          <a:noFill/>
          <a:ln/>
        </p:spPr>
        <p:txBody>
          <a:bodyPr wrap="square" lIns="0" tIns="0" rIns="0" bIns="0" rtlCol="0" anchor="ctr"/>
          <a:lstStyle/>
          <a:p>
            <a:pPr algn="ctr" indent="0" marL="0">
              <a:buNone/>
            </a:pPr>
            <a:r>
              <a:rPr lang="en-US" sz="1200" b="1" dirty="0">
                <a:solidFill>
                  <a:srgbClr val="FFFFFF"/>
                </a:solidFill>
                <a:latin typeface="Meiryo UI" pitchFamily="34" charset="0"/>
                <a:ea typeface="Meiryo UI" pitchFamily="34" charset="-122"/>
                <a:cs typeface="Meiryo UI" pitchFamily="34" charset="-120"/>
              </a:rPr>
              <a:t>1</a:t>
            </a:r>
            <a:endParaRPr lang="en-US" sz="1200" dirty="0"/>
          </a:p>
        </p:txBody>
      </p:sp>
      <p:sp>
        <p:nvSpPr>
          <p:cNvPr id="18" name="Text 12"/>
          <p:cNvSpPr txBox="1"/>
          <p:nvPr/>
        </p:nvSpPr>
        <p:spPr>
          <a:xfrm>
            <a:off x="8778240" y="2103120"/>
            <a:ext cx="2636215" cy="384048"/>
          </a:xfrm>
          <a:prstGeom prst="rect">
            <a:avLst/>
          </a:prstGeom>
          <a:noFill/>
          <a:ln/>
        </p:spPr>
        <p:txBody>
          <a:bodyPr wrap="square" lIns="0" tIns="0" rIns="0" bIns="0" rtlCol="0" anchor="ctr"/>
          <a:lstStyle/>
          <a:p>
            <a:pPr indent="0" marL="0">
              <a:buNone/>
            </a:pPr>
            <a:r>
              <a:rPr lang="en-US" sz="1300" b="1" dirty="0">
                <a:solidFill>
                  <a:srgbClr val="262A52"/>
                </a:solidFill>
                <a:latin typeface="Meiryo UI" pitchFamily="34" charset="0"/>
                <a:ea typeface="Meiryo UI" pitchFamily="34" charset="-122"/>
                <a:cs typeface="Meiryo UI" pitchFamily="34" charset="-120"/>
              </a:rPr>
              <a:t>難しい話を“会話”で</a:t>
            </a:r>
            <a:endParaRPr lang="en-US" sz="1300" dirty="0"/>
          </a:p>
        </p:txBody>
      </p:sp>
      <p:sp>
        <p:nvSpPr>
          <p:cNvPr id="19" name="Text 13"/>
          <p:cNvSpPr txBox="1"/>
          <p:nvPr/>
        </p:nvSpPr>
        <p:spPr>
          <a:xfrm>
            <a:off x="8778240" y="2514600"/>
            <a:ext cx="2636215" cy="822960"/>
          </a:xfrm>
          <a:prstGeom prst="rect">
            <a:avLst/>
          </a:prstGeom>
          <a:noFill/>
          <a:ln/>
        </p:spPr>
        <p:txBody>
          <a:bodyPr wrap="square" lIns="0" tIns="0" rIns="0" bIns="0" rtlCol="0" anchor="t"/>
          <a:lstStyle/>
          <a:p>
            <a:pPr indent="0" marL="0">
              <a:buNone/>
            </a:pPr>
            <a:r>
              <a:rPr lang="en-US" sz="1100" dirty="0">
                <a:solidFill>
                  <a:srgbClr val="2A2B38"/>
                </a:solidFill>
                <a:latin typeface="Meiryo UI" pitchFamily="34" charset="0"/>
                <a:ea typeface="Meiryo UI" pitchFamily="34" charset="-122"/>
                <a:cs typeface="Meiryo UI" pitchFamily="34" charset="-120"/>
              </a:rPr>
              <a:t>相談者役の疑問に税理士役が答える形式で、専門的な内容も自然に理解できる</a:t>
            </a:r>
            <a:endParaRPr lang="en-US" sz="1100" dirty="0"/>
          </a:p>
        </p:txBody>
      </p:sp>
      <p:sp>
        <p:nvSpPr>
          <p:cNvPr id="20" name="Shape 14"/>
          <p:cNvSpPr/>
          <p:nvPr/>
        </p:nvSpPr>
        <p:spPr>
          <a:xfrm>
            <a:off x="8275320" y="3429000"/>
            <a:ext cx="384048" cy="384048"/>
          </a:xfrm>
          <a:prstGeom prst="ellipse">
            <a:avLst/>
          </a:prstGeom>
          <a:solidFill>
            <a:srgbClr val="A87A1C"/>
          </a:solidFill>
          <a:ln w="12700">
            <a:solidFill>
              <a:srgbClr val="A87A1C"/>
            </a:solidFill>
            <a:prstDash val="solid"/>
          </a:ln>
        </p:spPr>
      </p:sp>
      <p:sp>
        <p:nvSpPr>
          <p:cNvPr id="21" name="Text 15"/>
          <p:cNvSpPr txBox="1"/>
          <p:nvPr/>
        </p:nvSpPr>
        <p:spPr>
          <a:xfrm>
            <a:off x="8275320" y="3429000"/>
            <a:ext cx="384048" cy="384048"/>
          </a:xfrm>
          <a:prstGeom prst="rect">
            <a:avLst/>
          </a:prstGeom>
          <a:noFill/>
          <a:ln/>
        </p:spPr>
        <p:txBody>
          <a:bodyPr wrap="square" lIns="0" tIns="0" rIns="0" bIns="0" rtlCol="0" anchor="ctr"/>
          <a:lstStyle/>
          <a:p>
            <a:pPr algn="ctr" indent="0" marL="0">
              <a:buNone/>
            </a:pPr>
            <a:r>
              <a:rPr lang="en-US" sz="1200" b="1" dirty="0">
                <a:solidFill>
                  <a:srgbClr val="FFFFFF"/>
                </a:solidFill>
                <a:latin typeface="Meiryo UI" pitchFamily="34" charset="0"/>
                <a:ea typeface="Meiryo UI" pitchFamily="34" charset="-122"/>
                <a:cs typeface="Meiryo UI" pitchFamily="34" charset="-120"/>
              </a:rPr>
              <a:t>2</a:t>
            </a:r>
            <a:endParaRPr lang="en-US" sz="1200" dirty="0"/>
          </a:p>
        </p:txBody>
      </p:sp>
      <p:sp>
        <p:nvSpPr>
          <p:cNvPr id="22" name="Text 16"/>
          <p:cNvSpPr txBox="1"/>
          <p:nvPr/>
        </p:nvSpPr>
        <p:spPr>
          <a:xfrm>
            <a:off x="8778240" y="3429000"/>
            <a:ext cx="2636215" cy="384048"/>
          </a:xfrm>
          <a:prstGeom prst="rect">
            <a:avLst/>
          </a:prstGeom>
          <a:noFill/>
          <a:ln/>
        </p:spPr>
        <p:txBody>
          <a:bodyPr wrap="square" lIns="0" tIns="0" rIns="0" bIns="0" rtlCol="0" anchor="ctr"/>
          <a:lstStyle/>
          <a:p>
            <a:pPr indent="0" marL="0">
              <a:buNone/>
            </a:pPr>
            <a:r>
              <a:rPr lang="en-US" sz="1300" b="1" dirty="0">
                <a:solidFill>
                  <a:srgbClr val="262A52"/>
                </a:solidFill>
                <a:latin typeface="Meiryo UI" pitchFamily="34" charset="0"/>
                <a:ea typeface="Meiryo UI" pitchFamily="34" charset="-122"/>
                <a:cs typeface="Meiryo UI" pitchFamily="34" charset="-120"/>
              </a:rPr>
              <a:t>テロップで要点を固定</a:t>
            </a:r>
            <a:endParaRPr lang="en-US" sz="1300" dirty="0"/>
          </a:p>
        </p:txBody>
      </p:sp>
      <p:sp>
        <p:nvSpPr>
          <p:cNvPr id="23" name="Text 17"/>
          <p:cNvSpPr txBox="1"/>
          <p:nvPr/>
        </p:nvSpPr>
        <p:spPr>
          <a:xfrm>
            <a:off x="8778240" y="3840480"/>
            <a:ext cx="2636215" cy="822960"/>
          </a:xfrm>
          <a:prstGeom prst="rect">
            <a:avLst/>
          </a:prstGeom>
          <a:noFill/>
          <a:ln/>
        </p:spPr>
        <p:txBody>
          <a:bodyPr wrap="square" lIns="0" tIns="0" rIns="0" bIns="0" rtlCol="0" anchor="t"/>
          <a:lstStyle/>
          <a:p>
            <a:pPr indent="0" marL="0">
              <a:buNone/>
            </a:pPr>
            <a:r>
              <a:rPr lang="en-US" sz="1100" dirty="0">
                <a:solidFill>
                  <a:srgbClr val="2A2B38"/>
                </a:solidFill>
                <a:latin typeface="Meiryo UI" pitchFamily="34" charset="0"/>
                <a:ea typeface="Meiryo UI" pitchFamily="34" charset="-122"/>
                <a:cs typeface="Meiryo UI" pitchFamily="34" charset="-120"/>
              </a:rPr>
              <a:t>音声なしで見られても伝わるよう、各シーンの結論を下部テロップに表示</a:t>
            </a:r>
            <a:endParaRPr lang="en-US" sz="1100" dirty="0"/>
          </a:p>
        </p:txBody>
      </p:sp>
      <p:sp>
        <p:nvSpPr>
          <p:cNvPr id="24" name="Shape 18"/>
          <p:cNvSpPr/>
          <p:nvPr/>
        </p:nvSpPr>
        <p:spPr>
          <a:xfrm>
            <a:off x="8275320" y="4754880"/>
            <a:ext cx="384048" cy="384048"/>
          </a:xfrm>
          <a:prstGeom prst="ellipse">
            <a:avLst/>
          </a:prstGeom>
          <a:solidFill>
            <a:srgbClr val="A87A1C"/>
          </a:solidFill>
          <a:ln w="12700">
            <a:solidFill>
              <a:srgbClr val="A87A1C"/>
            </a:solidFill>
            <a:prstDash val="solid"/>
          </a:ln>
        </p:spPr>
      </p:sp>
      <p:sp>
        <p:nvSpPr>
          <p:cNvPr id="25" name="Text 19"/>
          <p:cNvSpPr txBox="1"/>
          <p:nvPr/>
        </p:nvSpPr>
        <p:spPr>
          <a:xfrm>
            <a:off x="8275320" y="4754880"/>
            <a:ext cx="384048" cy="384048"/>
          </a:xfrm>
          <a:prstGeom prst="rect">
            <a:avLst/>
          </a:prstGeom>
          <a:noFill/>
          <a:ln/>
        </p:spPr>
        <p:txBody>
          <a:bodyPr wrap="square" lIns="0" tIns="0" rIns="0" bIns="0" rtlCol="0" anchor="ctr"/>
          <a:lstStyle/>
          <a:p>
            <a:pPr algn="ctr" indent="0" marL="0">
              <a:buNone/>
            </a:pPr>
            <a:r>
              <a:rPr lang="en-US" sz="1200" b="1" dirty="0">
                <a:solidFill>
                  <a:srgbClr val="FFFFFF"/>
                </a:solidFill>
                <a:latin typeface="Meiryo UI" pitchFamily="34" charset="0"/>
                <a:ea typeface="Meiryo UI" pitchFamily="34" charset="-122"/>
                <a:cs typeface="Meiryo UI" pitchFamily="34" charset="-120"/>
              </a:rPr>
              <a:t>3</a:t>
            </a:r>
            <a:endParaRPr lang="en-US" sz="1200" dirty="0"/>
          </a:p>
        </p:txBody>
      </p:sp>
      <p:sp>
        <p:nvSpPr>
          <p:cNvPr id="26" name="Text 20"/>
          <p:cNvSpPr txBox="1"/>
          <p:nvPr/>
        </p:nvSpPr>
        <p:spPr>
          <a:xfrm>
            <a:off x="8778240" y="4754880"/>
            <a:ext cx="2636215" cy="384048"/>
          </a:xfrm>
          <a:prstGeom prst="rect">
            <a:avLst/>
          </a:prstGeom>
          <a:noFill/>
          <a:ln/>
        </p:spPr>
        <p:txBody>
          <a:bodyPr wrap="square" lIns="0" tIns="0" rIns="0" bIns="0" rtlCol="0" anchor="ctr"/>
          <a:lstStyle/>
          <a:p>
            <a:pPr indent="0" marL="0">
              <a:buNone/>
            </a:pPr>
            <a:r>
              <a:rPr lang="en-US" sz="1300" b="1" dirty="0">
                <a:solidFill>
                  <a:srgbClr val="262A52"/>
                </a:solidFill>
                <a:latin typeface="Meiryo UI" pitchFamily="34" charset="0"/>
                <a:ea typeface="Meiryo UI" pitchFamily="34" charset="-122"/>
                <a:cs typeface="Meiryo UI" pitchFamily="34" charset="-120"/>
              </a:rPr>
              <a:t>1本で何度も使える</a:t>
            </a:r>
            <a:endParaRPr lang="en-US" sz="1300" dirty="0"/>
          </a:p>
        </p:txBody>
      </p:sp>
      <p:sp>
        <p:nvSpPr>
          <p:cNvPr id="27" name="Text 21"/>
          <p:cNvSpPr txBox="1"/>
          <p:nvPr/>
        </p:nvSpPr>
        <p:spPr>
          <a:xfrm>
            <a:off x="8778240" y="5166360"/>
            <a:ext cx="2636215" cy="822960"/>
          </a:xfrm>
          <a:prstGeom prst="rect">
            <a:avLst/>
          </a:prstGeom>
          <a:noFill/>
          <a:ln/>
        </p:spPr>
        <p:txBody>
          <a:bodyPr wrap="square" lIns="0" tIns="0" rIns="0" bIns="0" rtlCol="0" anchor="t"/>
          <a:lstStyle/>
          <a:p>
            <a:pPr indent="0" marL="0">
              <a:buNone/>
            </a:pPr>
            <a:r>
              <a:rPr lang="en-US" sz="1100" dirty="0">
                <a:solidFill>
                  <a:srgbClr val="2A2B38"/>
                </a:solidFill>
                <a:latin typeface="Meiryo UI" pitchFamily="34" charset="0"/>
                <a:ea typeface="Meiryo UI" pitchFamily="34" charset="-122"/>
                <a:cs typeface="Meiryo UI" pitchFamily="34" charset="-120"/>
              </a:rPr>
              <a:t>HPの法人設立ページ、面談前の送付、顧問先へのメールに同じ動画を使い回せる</a:t>
            </a:r>
            <a:endParaRPr lang="en-US" sz="1100" dirty="0"/>
          </a:p>
        </p:txBody>
      </p:sp>
    </p:spTree>
  </p:cSld>
  <p:clrMapOvr>
    <a:masterClrMapping/>
  </p:clrMapOvr>
</p:sld>
</file>

<file path=ppt/slides/slide15.xml><?xml version="1.0" encoding="utf-8"?>
<p:sld xmlns:a="http://schemas.openxmlformats.org/drawingml/2006/main" xmlns:r="http://schemas.openxmlformats.org/officeDocument/2006/relationships" xmlns:p="http://schemas.openxmlformats.org/presentationml/2006/main">
  <p:cSld name="Slide 15">
    <p:bg>
      <p:bgPr>
        <a:solidFill>
          <a:srgbClr val="FFFFFF"/>
        </a:solidFill>
      </p:bgPr>
    </p:bg>
    <p:spTree>
      <p:nvGrpSpPr>
        <p:cNvPr id="1" name=""/>
        <p:cNvGrpSpPr/>
        <p:nvPr/>
      </p:nvGrpSpPr>
      <p:grpSpPr>
        <a:xfrm>
          <a:off x="0" y="0"/>
          <a:ext cx="0" cy="0"/>
          <a:chOff x="0" y="0"/>
          <a:chExt cx="0" cy="0"/>
        </a:xfrm>
      </p:grpSpPr>
      <p:sp>
        <p:nvSpPr>
          <p:cNvPr id="2" name="Text 0"/>
          <p:cNvSpPr txBox="1"/>
          <p:nvPr/>
        </p:nvSpPr>
        <p:spPr>
          <a:xfrm>
            <a:off x="548640" y="347472"/>
            <a:ext cx="7315200" cy="274320"/>
          </a:xfrm>
          <a:prstGeom prst="rect">
            <a:avLst/>
          </a:prstGeom>
          <a:noFill/>
          <a:ln/>
        </p:spPr>
        <p:txBody>
          <a:bodyPr wrap="square" lIns="0" tIns="0" rIns="0" bIns="0" rtlCol="0" anchor="t"/>
          <a:lstStyle/>
          <a:p>
            <a:pPr indent="0" marL="0">
              <a:buNone/>
            </a:pPr>
            <a:r>
              <a:rPr lang="en-US" sz="1100" b="1" spc="200" kern="0" dirty="0">
                <a:solidFill>
                  <a:srgbClr val="A87A1C"/>
                </a:solidFill>
                <a:latin typeface="Meiryo UI" pitchFamily="34" charset="0"/>
                <a:ea typeface="Meiryo UI" pitchFamily="34" charset="-122"/>
                <a:cs typeface="Meiryo UI" pitchFamily="34" charset="-120"/>
              </a:rPr>
              <a:t>04｜PULL STRATEGY</a:t>
            </a:r>
            <a:endParaRPr lang="en-US" sz="1100" dirty="0"/>
          </a:p>
        </p:txBody>
      </p:sp>
      <p:sp>
        <p:nvSpPr>
          <p:cNvPr id="3" name="Text 1"/>
          <p:cNvSpPr txBox="1"/>
          <p:nvPr/>
        </p:nvSpPr>
        <p:spPr>
          <a:xfrm>
            <a:off x="548640" y="621792"/>
            <a:ext cx="11094415" cy="566928"/>
          </a:xfrm>
          <a:prstGeom prst="rect">
            <a:avLst/>
          </a:prstGeom>
          <a:noFill/>
          <a:ln/>
        </p:spPr>
        <p:txBody>
          <a:bodyPr wrap="square" lIns="0" tIns="0" rIns="0" bIns="0" rtlCol="0" anchor="ctr"/>
          <a:lstStyle/>
          <a:p>
            <a:pPr indent="0" marL="0">
              <a:buNone/>
            </a:pPr>
            <a:r>
              <a:rPr lang="en-US" sz="2600" b="1" dirty="0">
                <a:solidFill>
                  <a:srgbClr val="3A3F73"/>
                </a:solidFill>
                <a:latin typeface="Meiryo UI" pitchFamily="34" charset="0"/>
                <a:ea typeface="Meiryo UI" pitchFamily="34" charset="-122"/>
                <a:cs typeface="Meiryo UI" pitchFamily="34" charset="-120"/>
              </a:rPr>
              <a:t>認知から問い合わせ・契約までのファネル設計</a:t>
            </a:r>
            <a:endParaRPr lang="en-US" sz="2600" dirty="0"/>
          </a:p>
        </p:txBody>
      </p:sp>
      <p:sp>
        <p:nvSpPr>
          <p:cNvPr id="4" name="Text 2"/>
          <p:cNvSpPr txBox="1"/>
          <p:nvPr/>
        </p:nvSpPr>
        <p:spPr>
          <a:xfrm>
            <a:off x="11094415" y="6419088"/>
            <a:ext cx="548640" cy="256032"/>
          </a:xfrm>
          <a:prstGeom prst="rect">
            <a:avLst/>
          </a:prstGeom>
          <a:noFill/>
          <a:ln/>
        </p:spPr>
        <p:txBody>
          <a:bodyPr wrap="square" lIns="0" tIns="0" rIns="0" bIns="0" rtlCol="0" anchor="t"/>
          <a:lstStyle/>
          <a:p>
            <a:pPr algn="r" indent="0" marL="0">
              <a:buNone/>
            </a:pPr>
            <a:r>
              <a:rPr lang="en-US" sz="1000" dirty="0">
                <a:solidFill>
                  <a:srgbClr val="7C7E90"/>
                </a:solidFill>
                <a:latin typeface="Meiryo UI" pitchFamily="34" charset="0"/>
                <a:ea typeface="Meiryo UI" pitchFamily="34" charset="-122"/>
                <a:cs typeface="Meiryo UI" pitchFamily="34" charset="-120"/>
              </a:rPr>
              <a:t>15</a:t>
            </a:r>
            <a:endParaRPr lang="en-US" sz="1000" dirty="0"/>
          </a:p>
        </p:txBody>
      </p:sp>
      <p:sp>
        <p:nvSpPr>
          <p:cNvPr id="5" name="Text 3"/>
          <p:cNvSpPr txBox="1"/>
          <p:nvPr/>
        </p:nvSpPr>
        <p:spPr>
          <a:xfrm>
            <a:off x="548640" y="6419088"/>
            <a:ext cx="4572000" cy="256032"/>
          </a:xfrm>
          <a:prstGeom prst="rect">
            <a:avLst/>
          </a:prstGeom>
          <a:noFill/>
          <a:ln/>
        </p:spPr>
        <p:txBody>
          <a:bodyPr wrap="square" lIns="0" tIns="0" rIns="0" bIns="0" rtlCol="0" anchor="t"/>
          <a:lstStyle/>
          <a:p>
            <a:pPr indent="0" marL="0">
              <a:buNone/>
            </a:pPr>
            <a:r>
              <a:rPr lang="en-US" sz="900" dirty="0">
                <a:solidFill>
                  <a:srgbClr val="7C7E90"/>
                </a:solidFill>
                <a:latin typeface="Meiryo UI" pitchFamily="34" charset="0"/>
                <a:ea typeface="Meiryo UI" pitchFamily="34" charset="-122"/>
                <a:cs typeface="Meiryo UI" pitchFamily="34" charset="-120"/>
              </a:rPr>
              <a:t>株式会社アイドマ・ホールディングス｜MiTok</a:t>
            </a:r>
            <a:endParaRPr lang="en-US" sz="900" dirty="0"/>
          </a:p>
        </p:txBody>
      </p:sp>
      <p:sp>
        <p:nvSpPr>
          <p:cNvPr id="6" name="Text 4"/>
          <p:cNvSpPr txBox="1"/>
          <p:nvPr/>
        </p:nvSpPr>
        <p:spPr>
          <a:xfrm>
            <a:off x="3703320" y="1371600"/>
            <a:ext cx="2011680" cy="274320"/>
          </a:xfrm>
          <a:prstGeom prst="rect">
            <a:avLst/>
          </a:prstGeom>
          <a:noFill/>
          <a:ln/>
        </p:spPr>
        <p:txBody>
          <a:bodyPr wrap="square" lIns="0" tIns="0" rIns="0" bIns="0" rtlCol="0" anchor="t"/>
          <a:lstStyle/>
          <a:p>
            <a:pPr indent="0" marL="0">
              <a:buNone/>
            </a:pPr>
            <a:r>
              <a:rPr lang="en-US" sz="1100" b="1" dirty="0">
                <a:solidFill>
                  <a:srgbClr val="686A82"/>
                </a:solidFill>
                <a:latin typeface="Meiryo UI" pitchFamily="34" charset="0"/>
                <a:ea typeface="Meiryo UI" pitchFamily="34" charset="-122"/>
                <a:cs typeface="Meiryo UI" pitchFamily="34" charset="-120"/>
              </a:rPr>
              <a:t>主な接点</a:t>
            </a:r>
            <a:endParaRPr lang="en-US" sz="1100" dirty="0"/>
          </a:p>
        </p:txBody>
      </p:sp>
      <p:sp>
        <p:nvSpPr>
          <p:cNvPr id="7" name="Text 5"/>
          <p:cNvSpPr txBox="1"/>
          <p:nvPr/>
        </p:nvSpPr>
        <p:spPr>
          <a:xfrm>
            <a:off x="5806440" y="1371600"/>
            <a:ext cx="1965960" cy="274320"/>
          </a:xfrm>
          <a:prstGeom prst="rect">
            <a:avLst/>
          </a:prstGeom>
          <a:noFill/>
          <a:ln/>
        </p:spPr>
        <p:txBody>
          <a:bodyPr wrap="square" lIns="0" tIns="0" rIns="0" bIns="0" rtlCol="0" anchor="t"/>
          <a:lstStyle/>
          <a:p>
            <a:pPr indent="0" marL="0">
              <a:buNone/>
            </a:pPr>
            <a:r>
              <a:rPr lang="en-US" sz="1100" b="1" dirty="0">
                <a:solidFill>
                  <a:srgbClr val="686A82"/>
                </a:solidFill>
                <a:latin typeface="Meiryo UI" pitchFamily="34" charset="0"/>
                <a:ea typeface="Meiryo UI" pitchFamily="34" charset="-122"/>
                <a:cs typeface="Meiryo UI" pitchFamily="34" charset="-120"/>
              </a:rPr>
              <a:t>動画の型</a:t>
            </a:r>
            <a:endParaRPr lang="en-US" sz="1100" dirty="0"/>
          </a:p>
        </p:txBody>
      </p:sp>
      <p:sp>
        <p:nvSpPr>
          <p:cNvPr id="8" name="Text 6"/>
          <p:cNvSpPr txBox="1"/>
          <p:nvPr/>
        </p:nvSpPr>
        <p:spPr>
          <a:xfrm>
            <a:off x="7863840" y="1371600"/>
            <a:ext cx="2057400" cy="274320"/>
          </a:xfrm>
          <a:prstGeom prst="rect">
            <a:avLst/>
          </a:prstGeom>
          <a:noFill/>
          <a:ln/>
        </p:spPr>
        <p:txBody>
          <a:bodyPr wrap="square" lIns="0" tIns="0" rIns="0" bIns="0" rtlCol="0" anchor="t"/>
          <a:lstStyle/>
          <a:p>
            <a:pPr indent="0" marL="0">
              <a:buNone/>
            </a:pPr>
            <a:r>
              <a:rPr lang="en-US" sz="1100" b="1" dirty="0">
                <a:solidFill>
                  <a:srgbClr val="686A82"/>
                </a:solidFill>
                <a:latin typeface="Meiryo UI" pitchFamily="34" charset="0"/>
                <a:ea typeface="Meiryo UI" pitchFamily="34" charset="-122"/>
                <a:cs typeface="Meiryo UI" pitchFamily="34" charset="-120"/>
              </a:rPr>
              <a:t>次の行動への導線</a:t>
            </a:r>
            <a:endParaRPr lang="en-US" sz="1100" dirty="0"/>
          </a:p>
        </p:txBody>
      </p:sp>
      <p:sp>
        <p:nvSpPr>
          <p:cNvPr id="9" name="Text 7"/>
          <p:cNvSpPr txBox="1"/>
          <p:nvPr/>
        </p:nvSpPr>
        <p:spPr>
          <a:xfrm>
            <a:off x="10012680" y="1371600"/>
            <a:ext cx="1627632" cy="274320"/>
          </a:xfrm>
          <a:prstGeom prst="rect">
            <a:avLst/>
          </a:prstGeom>
          <a:noFill/>
          <a:ln/>
        </p:spPr>
        <p:txBody>
          <a:bodyPr wrap="square" lIns="0" tIns="0" rIns="0" bIns="0" rtlCol="0" anchor="t"/>
          <a:lstStyle/>
          <a:p>
            <a:pPr indent="0" marL="0">
              <a:buNone/>
            </a:pPr>
            <a:r>
              <a:rPr lang="en-US" sz="1100" b="1" dirty="0">
                <a:solidFill>
                  <a:srgbClr val="686A82"/>
                </a:solidFill>
                <a:latin typeface="Meiryo UI" pitchFamily="34" charset="0"/>
                <a:ea typeface="Meiryo UI" pitchFamily="34" charset="-122"/>
                <a:cs typeface="Meiryo UI" pitchFamily="34" charset="-120"/>
              </a:rPr>
              <a:t>測定指標</a:t>
            </a:r>
            <a:endParaRPr lang="en-US" sz="1100" dirty="0"/>
          </a:p>
        </p:txBody>
      </p:sp>
      <p:sp>
        <p:nvSpPr>
          <p:cNvPr id="10" name="Shape 8"/>
          <p:cNvSpPr/>
          <p:nvPr/>
        </p:nvSpPr>
        <p:spPr>
          <a:xfrm>
            <a:off x="594360" y="1719072"/>
            <a:ext cx="2926080" cy="640080"/>
          </a:xfrm>
          <a:prstGeom prst="roundRect">
            <a:avLst>
              <a:gd name="adj" fmla="val 14286"/>
            </a:avLst>
          </a:prstGeom>
          <a:solidFill>
            <a:srgbClr val="3A3F73"/>
          </a:solidFill>
          <a:ln w="12700">
            <a:solidFill>
              <a:srgbClr val="3A3F73"/>
            </a:solidFill>
            <a:prstDash val="solid"/>
          </a:ln>
        </p:spPr>
      </p:sp>
      <p:sp>
        <p:nvSpPr>
          <p:cNvPr id="11" name="Text 9"/>
          <p:cNvSpPr txBox="1"/>
          <p:nvPr/>
        </p:nvSpPr>
        <p:spPr>
          <a:xfrm>
            <a:off x="594360" y="1719072"/>
            <a:ext cx="2926080" cy="640080"/>
          </a:xfrm>
          <a:prstGeom prst="rect">
            <a:avLst/>
          </a:prstGeom>
          <a:noFill/>
          <a:ln/>
        </p:spPr>
        <p:txBody>
          <a:bodyPr wrap="square" lIns="0" tIns="0" rIns="0" bIns="0" rtlCol="0" anchor="ctr"/>
          <a:lstStyle/>
          <a:p>
            <a:pPr algn="ctr" indent="0" marL="0">
              <a:buNone/>
            </a:pPr>
            <a:r>
              <a:rPr lang="en-US" sz="1400" b="1" dirty="0">
                <a:solidFill>
                  <a:srgbClr val="FFFFFF"/>
                </a:solidFill>
                <a:latin typeface="Meiryo UI" pitchFamily="34" charset="0"/>
                <a:ea typeface="Meiryo UI" pitchFamily="34" charset="-122"/>
                <a:cs typeface="Meiryo UI" pitchFamily="34" charset="-120"/>
              </a:rPr>
              <a:t>認知</a:t>
            </a:r>
            <a:endParaRPr lang="en-US" sz="1400" dirty="0"/>
          </a:p>
        </p:txBody>
      </p:sp>
      <p:sp>
        <p:nvSpPr>
          <p:cNvPr id="12" name="Shape 10"/>
          <p:cNvSpPr/>
          <p:nvPr/>
        </p:nvSpPr>
        <p:spPr>
          <a:xfrm>
            <a:off x="3566160" y="1719072"/>
            <a:ext cx="8076895" cy="640080"/>
          </a:xfrm>
          <a:prstGeom prst="roundRect">
            <a:avLst>
              <a:gd name="adj" fmla="val 11429"/>
            </a:avLst>
          </a:prstGeom>
          <a:solidFill>
            <a:srgbClr val="F6F7FB"/>
          </a:solidFill>
          <a:ln w="9525">
            <a:solidFill>
              <a:srgbClr val="E0E1EE"/>
            </a:solidFill>
            <a:prstDash val="solid"/>
          </a:ln>
        </p:spPr>
      </p:sp>
      <p:sp>
        <p:nvSpPr>
          <p:cNvPr id="13" name="Text 11"/>
          <p:cNvSpPr txBox="1"/>
          <p:nvPr/>
        </p:nvSpPr>
        <p:spPr>
          <a:xfrm>
            <a:off x="3703320" y="1719072"/>
            <a:ext cx="2011680" cy="640080"/>
          </a:xfrm>
          <a:prstGeom prst="rect">
            <a:avLst/>
          </a:prstGeom>
          <a:noFill/>
          <a:ln/>
        </p:spPr>
        <p:txBody>
          <a:bodyPr wrap="square" lIns="0" tIns="0" rIns="0" bIns="0" rtlCol="0" anchor="ctr"/>
          <a:lstStyle/>
          <a:p>
            <a:pPr indent="0" marL="0">
              <a:buNone/>
            </a:pPr>
            <a:r>
              <a:rPr lang="en-US" sz="1150" dirty="0">
                <a:solidFill>
                  <a:srgbClr val="2A2B38"/>
                </a:solidFill>
                <a:latin typeface="Meiryo UI" pitchFamily="34" charset="0"/>
                <a:ea typeface="Meiryo UI" pitchFamily="34" charset="-122"/>
                <a:cs typeface="Meiryo UI" pitchFamily="34" charset="-120"/>
              </a:rPr>
              <a:t>TikTok／ショート／リール</a:t>
            </a:r>
            <a:endParaRPr lang="en-US" sz="1150" dirty="0"/>
          </a:p>
        </p:txBody>
      </p:sp>
      <p:sp>
        <p:nvSpPr>
          <p:cNvPr id="14" name="Text 12"/>
          <p:cNvSpPr txBox="1"/>
          <p:nvPr/>
        </p:nvSpPr>
        <p:spPr>
          <a:xfrm>
            <a:off x="5806440" y="1719072"/>
            <a:ext cx="1965960" cy="640080"/>
          </a:xfrm>
          <a:prstGeom prst="rect">
            <a:avLst/>
          </a:prstGeom>
          <a:noFill/>
          <a:ln/>
        </p:spPr>
        <p:txBody>
          <a:bodyPr wrap="square" lIns="0" tIns="0" rIns="0" bIns="0" rtlCol="0" anchor="ctr"/>
          <a:lstStyle/>
          <a:p>
            <a:pPr indent="0" marL="0">
              <a:buNone/>
            </a:pPr>
            <a:r>
              <a:rPr lang="en-US" sz="1150" dirty="0">
                <a:solidFill>
                  <a:srgbClr val="2A2B38"/>
                </a:solidFill>
                <a:latin typeface="Meiryo UI" pitchFamily="34" charset="0"/>
                <a:ea typeface="Meiryo UI" pitchFamily="34" charset="-122"/>
                <a:cs typeface="Meiryo UI" pitchFamily="34" charset="-120"/>
              </a:rPr>
              <a:t>縦型ショート</a:t>
            </a:r>
            <a:endParaRPr lang="en-US" sz="1150" dirty="0"/>
          </a:p>
        </p:txBody>
      </p:sp>
      <p:sp>
        <p:nvSpPr>
          <p:cNvPr id="15" name="Text 13"/>
          <p:cNvSpPr txBox="1"/>
          <p:nvPr/>
        </p:nvSpPr>
        <p:spPr>
          <a:xfrm>
            <a:off x="7863840" y="1719072"/>
            <a:ext cx="2057400" cy="640080"/>
          </a:xfrm>
          <a:prstGeom prst="rect">
            <a:avLst/>
          </a:prstGeom>
          <a:noFill/>
          <a:ln/>
        </p:spPr>
        <p:txBody>
          <a:bodyPr wrap="square" lIns="0" tIns="0" rIns="0" bIns="0" rtlCol="0" anchor="ctr"/>
          <a:lstStyle/>
          <a:p>
            <a:pPr indent="0" marL="0">
              <a:buNone/>
            </a:pPr>
            <a:r>
              <a:rPr lang="en-US" sz="1150" dirty="0">
                <a:solidFill>
                  <a:srgbClr val="2A2B38"/>
                </a:solidFill>
                <a:latin typeface="Meiryo UI" pitchFamily="34" charset="0"/>
                <a:ea typeface="Meiryo UI" pitchFamily="34" charset="-122"/>
                <a:cs typeface="Meiryo UI" pitchFamily="34" charset="-120"/>
              </a:rPr>
              <a:t>プロフィール→YouTube・HP</a:t>
            </a:r>
            <a:endParaRPr lang="en-US" sz="1150" dirty="0"/>
          </a:p>
        </p:txBody>
      </p:sp>
      <p:sp>
        <p:nvSpPr>
          <p:cNvPr id="16" name="Text 14"/>
          <p:cNvSpPr txBox="1"/>
          <p:nvPr/>
        </p:nvSpPr>
        <p:spPr>
          <a:xfrm>
            <a:off x="10012680" y="1719072"/>
            <a:ext cx="1627632" cy="640080"/>
          </a:xfrm>
          <a:prstGeom prst="rect">
            <a:avLst/>
          </a:prstGeom>
          <a:noFill/>
          <a:ln/>
        </p:spPr>
        <p:txBody>
          <a:bodyPr wrap="square" lIns="0" tIns="0" rIns="0" bIns="0" rtlCol="0" anchor="ctr"/>
          <a:lstStyle/>
          <a:p>
            <a:pPr indent="0" marL="0">
              <a:buNone/>
            </a:pPr>
            <a:r>
              <a:rPr lang="en-US" sz="1150" b="1" dirty="0">
                <a:solidFill>
                  <a:srgbClr val="3A3F73"/>
                </a:solidFill>
                <a:latin typeface="Meiryo UI" pitchFamily="34" charset="0"/>
                <a:ea typeface="Meiryo UI" pitchFamily="34" charset="-122"/>
                <a:cs typeface="Meiryo UI" pitchFamily="34" charset="-120"/>
              </a:rPr>
              <a:t>再生数・リーチ数</a:t>
            </a:r>
            <a:endParaRPr lang="en-US" sz="1150" dirty="0"/>
          </a:p>
        </p:txBody>
      </p:sp>
      <p:sp>
        <p:nvSpPr>
          <p:cNvPr id="17" name="Shape 15"/>
          <p:cNvSpPr/>
          <p:nvPr/>
        </p:nvSpPr>
        <p:spPr>
          <a:xfrm>
            <a:off x="758952" y="2478024"/>
            <a:ext cx="2596896" cy="640080"/>
          </a:xfrm>
          <a:prstGeom prst="roundRect">
            <a:avLst>
              <a:gd name="adj" fmla="val 14286"/>
            </a:avLst>
          </a:prstGeom>
          <a:solidFill>
            <a:srgbClr val="3A3F73">
              <a:alpha val="88000"/>
            </a:srgbClr>
          </a:solidFill>
          <a:ln w="12700">
            <a:solidFill>
              <a:srgbClr val="3A3F73"/>
            </a:solidFill>
            <a:prstDash val="solid"/>
          </a:ln>
        </p:spPr>
      </p:sp>
      <p:sp>
        <p:nvSpPr>
          <p:cNvPr id="18" name="Text 16"/>
          <p:cNvSpPr txBox="1"/>
          <p:nvPr/>
        </p:nvSpPr>
        <p:spPr>
          <a:xfrm>
            <a:off x="758952" y="2478024"/>
            <a:ext cx="2596896" cy="640080"/>
          </a:xfrm>
          <a:prstGeom prst="rect">
            <a:avLst/>
          </a:prstGeom>
          <a:noFill/>
          <a:ln/>
        </p:spPr>
        <p:txBody>
          <a:bodyPr wrap="square" lIns="0" tIns="0" rIns="0" bIns="0" rtlCol="0" anchor="ctr"/>
          <a:lstStyle/>
          <a:p>
            <a:pPr algn="ctr" indent="0" marL="0">
              <a:buNone/>
            </a:pPr>
            <a:r>
              <a:rPr lang="en-US" sz="1400" b="1" dirty="0">
                <a:solidFill>
                  <a:srgbClr val="FFFFFF"/>
                </a:solidFill>
                <a:latin typeface="Meiryo UI" pitchFamily="34" charset="0"/>
                <a:ea typeface="Meiryo UI" pitchFamily="34" charset="-122"/>
                <a:cs typeface="Meiryo UI" pitchFamily="34" charset="-120"/>
              </a:rPr>
              <a:t>興味・関心</a:t>
            </a:r>
            <a:endParaRPr lang="en-US" sz="1400" dirty="0"/>
          </a:p>
        </p:txBody>
      </p:sp>
      <p:sp>
        <p:nvSpPr>
          <p:cNvPr id="19" name="Shape 17"/>
          <p:cNvSpPr/>
          <p:nvPr/>
        </p:nvSpPr>
        <p:spPr>
          <a:xfrm>
            <a:off x="3566160" y="2478024"/>
            <a:ext cx="8076895" cy="640080"/>
          </a:xfrm>
          <a:prstGeom prst="roundRect">
            <a:avLst>
              <a:gd name="adj" fmla="val 11429"/>
            </a:avLst>
          </a:prstGeom>
          <a:solidFill>
            <a:srgbClr val="FFFFFF"/>
          </a:solidFill>
          <a:ln w="9525">
            <a:solidFill>
              <a:srgbClr val="E0E1EE"/>
            </a:solidFill>
            <a:prstDash val="solid"/>
          </a:ln>
        </p:spPr>
      </p:sp>
      <p:sp>
        <p:nvSpPr>
          <p:cNvPr id="20" name="Text 18"/>
          <p:cNvSpPr txBox="1"/>
          <p:nvPr/>
        </p:nvSpPr>
        <p:spPr>
          <a:xfrm>
            <a:off x="3703320" y="2478024"/>
            <a:ext cx="2011680" cy="640080"/>
          </a:xfrm>
          <a:prstGeom prst="rect">
            <a:avLst/>
          </a:prstGeom>
          <a:noFill/>
          <a:ln/>
        </p:spPr>
        <p:txBody>
          <a:bodyPr wrap="square" lIns="0" tIns="0" rIns="0" bIns="0" rtlCol="0" anchor="ctr"/>
          <a:lstStyle/>
          <a:p>
            <a:pPr indent="0" marL="0">
              <a:buNone/>
            </a:pPr>
            <a:r>
              <a:rPr lang="en-US" sz="1150" dirty="0">
                <a:solidFill>
                  <a:srgbClr val="2A2B38"/>
                </a:solidFill>
                <a:latin typeface="Meiryo UI" pitchFamily="34" charset="0"/>
                <a:ea typeface="Meiryo UI" pitchFamily="34" charset="-122"/>
                <a:cs typeface="Meiryo UI" pitchFamily="34" charset="-120"/>
              </a:rPr>
              <a:t>Instagram／YouTube</a:t>
            </a:r>
            <a:endParaRPr lang="en-US" sz="1150" dirty="0"/>
          </a:p>
        </p:txBody>
      </p:sp>
      <p:sp>
        <p:nvSpPr>
          <p:cNvPr id="21" name="Text 19"/>
          <p:cNvSpPr txBox="1"/>
          <p:nvPr/>
        </p:nvSpPr>
        <p:spPr>
          <a:xfrm>
            <a:off x="5806440" y="2478024"/>
            <a:ext cx="1965960" cy="640080"/>
          </a:xfrm>
          <a:prstGeom prst="rect">
            <a:avLst/>
          </a:prstGeom>
          <a:noFill/>
          <a:ln/>
        </p:spPr>
        <p:txBody>
          <a:bodyPr wrap="square" lIns="0" tIns="0" rIns="0" bIns="0" rtlCol="0" anchor="ctr"/>
          <a:lstStyle/>
          <a:p>
            <a:pPr indent="0" marL="0">
              <a:buNone/>
            </a:pPr>
            <a:r>
              <a:rPr lang="en-US" sz="1150" dirty="0">
                <a:solidFill>
                  <a:srgbClr val="2A2B38"/>
                </a:solidFill>
                <a:latin typeface="Meiryo UI" pitchFamily="34" charset="0"/>
                <a:ea typeface="Meiryo UI" pitchFamily="34" charset="-122"/>
                <a:cs typeface="Meiryo UI" pitchFamily="34" charset="-120"/>
              </a:rPr>
              <a:t>デザイン重視／長尺解説</a:t>
            </a:r>
            <a:endParaRPr lang="en-US" sz="1150" dirty="0"/>
          </a:p>
        </p:txBody>
      </p:sp>
      <p:sp>
        <p:nvSpPr>
          <p:cNvPr id="22" name="Text 20"/>
          <p:cNvSpPr txBox="1"/>
          <p:nvPr/>
        </p:nvSpPr>
        <p:spPr>
          <a:xfrm>
            <a:off x="7863840" y="2478024"/>
            <a:ext cx="2057400" cy="640080"/>
          </a:xfrm>
          <a:prstGeom prst="rect">
            <a:avLst/>
          </a:prstGeom>
          <a:noFill/>
          <a:ln/>
        </p:spPr>
        <p:txBody>
          <a:bodyPr wrap="square" lIns="0" tIns="0" rIns="0" bIns="0" rtlCol="0" anchor="ctr"/>
          <a:lstStyle/>
          <a:p>
            <a:pPr indent="0" marL="0">
              <a:buNone/>
            </a:pPr>
            <a:r>
              <a:rPr lang="en-US" sz="1150" dirty="0">
                <a:solidFill>
                  <a:srgbClr val="2A2B38"/>
                </a:solidFill>
                <a:latin typeface="Meiryo UI" pitchFamily="34" charset="0"/>
                <a:ea typeface="Meiryo UI" pitchFamily="34" charset="-122"/>
                <a:cs typeface="Meiryo UI" pitchFamily="34" charset="-120"/>
              </a:rPr>
              <a:t>フォロー・保存・登録</a:t>
            </a:r>
            <a:endParaRPr lang="en-US" sz="1150" dirty="0"/>
          </a:p>
        </p:txBody>
      </p:sp>
      <p:sp>
        <p:nvSpPr>
          <p:cNvPr id="23" name="Text 21"/>
          <p:cNvSpPr txBox="1"/>
          <p:nvPr/>
        </p:nvSpPr>
        <p:spPr>
          <a:xfrm>
            <a:off x="10012680" y="2478024"/>
            <a:ext cx="1627632" cy="640080"/>
          </a:xfrm>
          <a:prstGeom prst="rect">
            <a:avLst/>
          </a:prstGeom>
          <a:noFill/>
          <a:ln/>
        </p:spPr>
        <p:txBody>
          <a:bodyPr wrap="square" lIns="0" tIns="0" rIns="0" bIns="0" rtlCol="0" anchor="ctr"/>
          <a:lstStyle/>
          <a:p>
            <a:pPr indent="0" marL="0">
              <a:buNone/>
            </a:pPr>
            <a:r>
              <a:rPr lang="en-US" sz="1150" b="1" dirty="0">
                <a:solidFill>
                  <a:srgbClr val="3A3F73"/>
                </a:solidFill>
                <a:latin typeface="Meiryo UI" pitchFamily="34" charset="0"/>
                <a:ea typeface="Meiryo UI" pitchFamily="34" charset="-122"/>
                <a:cs typeface="Meiryo UI" pitchFamily="34" charset="-120"/>
              </a:rPr>
              <a:t>保存数・視聴維持率</a:t>
            </a:r>
            <a:endParaRPr lang="en-US" sz="1150" dirty="0"/>
          </a:p>
        </p:txBody>
      </p:sp>
      <p:sp>
        <p:nvSpPr>
          <p:cNvPr id="24" name="Shape 22"/>
          <p:cNvSpPr/>
          <p:nvPr/>
        </p:nvSpPr>
        <p:spPr>
          <a:xfrm>
            <a:off x="923544" y="3236976"/>
            <a:ext cx="2267712" cy="640080"/>
          </a:xfrm>
          <a:prstGeom prst="roundRect">
            <a:avLst>
              <a:gd name="adj" fmla="val 14286"/>
            </a:avLst>
          </a:prstGeom>
          <a:solidFill>
            <a:srgbClr val="3A3F73">
              <a:alpha val="76000"/>
            </a:srgbClr>
          </a:solidFill>
          <a:ln w="12700">
            <a:solidFill>
              <a:srgbClr val="3A3F73"/>
            </a:solidFill>
            <a:prstDash val="solid"/>
          </a:ln>
        </p:spPr>
      </p:sp>
      <p:sp>
        <p:nvSpPr>
          <p:cNvPr id="25" name="Text 23"/>
          <p:cNvSpPr txBox="1"/>
          <p:nvPr/>
        </p:nvSpPr>
        <p:spPr>
          <a:xfrm>
            <a:off x="923544" y="3236976"/>
            <a:ext cx="2267712" cy="640080"/>
          </a:xfrm>
          <a:prstGeom prst="rect">
            <a:avLst/>
          </a:prstGeom>
          <a:noFill/>
          <a:ln/>
        </p:spPr>
        <p:txBody>
          <a:bodyPr wrap="square" lIns="0" tIns="0" rIns="0" bIns="0" rtlCol="0" anchor="ctr"/>
          <a:lstStyle/>
          <a:p>
            <a:pPr algn="ctr" indent="0" marL="0">
              <a:buNone/>
            </a:pPr>
            <a:r>
              <a:rPr lang="en-US" sz="1400" b="1" dirty="0">
                <a:solidFill>
                  <a:srgbClr val="FFFFFF"/>
                </a:solidFill>
                <a:latin typeface="Meiryo UI" pitchFamily="34" charset="0"/>
                <a:ea typeface="Meiryo UI" pitchFamily="34" charset="-122"/>
                <a:cs typeface="Meiryo UI" pitchFamily="34" charset="-120"/>
              </a:rPr>
              <a:t>比較・検討</a:t>
            </a:r>
            <a:endParaRPr lang="en-US" sz="1400" dirty="0"/>
          </a:p>
        </p:txBody>
      </p:sp>
      <p:sp>
        <p:nvSpPr>
          <p:cNvPr id="26" name="Shape 24"/>
          <p:cNvSpPr/>
          <p:nvPr/>
        </p:nvSpPr>
        <p:spPr>
          <a:xfrm>
            <a:off x="3566160" y="3236976"/>
            <a:ext cx="8076895" cy="640080"/>
          </a:xfrm>
          <a:prstGeom prst="roundRect">
            <a:avLst>
              <a:gd name="adj" fmla="val 11429"/>
            </a:avLst>
          </a:prstGeom>
          <a:solidFill>
            <a:srgbClr val="F6F7FB"/>
          </a:solidFill>
          <a:ln w="9525">
            <a:solidFill>
              <a:srgbClr val="E0E1EE"/>
            </a:solidFill>
            <a:prstDash val="solid"/>
          </a:ln>
        </p:spPr>
      </p:sp>
      <p:sp>
        <p:nvSpPr>
          <p:cNvPr id="27" name="Text 25"/>
          <p:cNvSpPr txBox="1"/>
          <p:nvPr/>
        </p:nvSpPr>
        <p:spPr>
          <a:xfrm>
            <a:off x="3703320" y="3236976"/>
            <a:ext cx="2011680" cy="640080"/>
          </a:xfrm>
          <a:prstGeom prst="rect">
            <a:avLst/>
          </a:prstGeom>
          <a:noFill/>
          <a:ln/>
        </p:spPr>
        <p:txBody>
          <a:bodyPr wrap="square" lIns="0" tIns="0" rIns="0" bIns="0" rtlCol="0" anchor="ctr"/>
          <a:lstStyle/>
          <a:p>
            <a:pPr indent="0" marL="0">
              <a:buNone/>
            </a:pPr>
            <a:r>
              <a:rPr lang="en-US" sz="1150" dirty="0">
                <a:solidFill>
                  <a:srgbClr val="2A2B38"/>
                </a:solidFill>
                <a:latin typeface="Meiryo UI" pitchFamily="34" charset="0"/>
                <a:ea typeface="Meiryo UI" pitchFamily="34" charset="-122"/>
                <a:cs typeface="Meiryo UI" pitchFamily="34" charset="-120"/>
              </a:rPr>
              <a:t>YouTube／HP／Googleマップ</a:t>
            </a:r>
            <a:endParaRPr lang="en-US" sz="1150" dirty="0"/>
          </a:p>
        </p:txBody>
      </p:sp>
      <p:sp>
        <p:nvSpPr>
          <p:cNvPr id="28" name="Text 26"/>
          <p:cNvSpPr txBox="1"/>
          <p:nvPr/>
        </p:nvSpPr>
        <p:spPr>
          <a:xfrm>
            <a:off x="5806440" y="3236976"/>
            <a:ext cx="1965960" cy="640080"/>
          </a:xfrm>
          <a:prstGeom prst="rect">
            <a:avLst/>
          </a:prstGeom>
          <a:noFill/>
          <a:ln/>
        </p:spPr>
        <p:txBody>
          <a:bodyPr wrap="square" lIns="0" tIns="0" rIns="0" bIns="0" rtlCol="0" anchor="ctr"/>
          <a:lstStyle/>
          <a:p>
            <a:pPr indent="0" marL="0">
              <a:buNone/>
            </a:pPr>
            <a:r>
              <a:rPr lang="en-US" sz="1150" dirty="0">
                <a:solidFill>
                  <a:srgbClr val="2A2B38"/>
                </a:solidFill>
                <a:latin typeface="Meiryo UI" pitchFamily="34" charset="0"/>
                <a:ea typeface="Meiryo UI" pitchFamily="34" charset="-122"/>
                <a:cs typeface="Meiryo UI" pitchFamily="34" charset="-120"/>
              </a:rPr>
              <a:t>長尺解説・よくある質問</a:t>
            </a:r>
            <a:endParaRPr lang="en-US" sz="1150" dirty="0"/>
          </a:p>
        </p:txBody>
      </p:sp>
      <p:sp>
        <p:nvSpPr>
          <p:cNvPr id="29" name="Text 27"/>
          <p:cNvSpPr txBox="1"/>
          <p:nvPr/>
        </p:nvSpPr>
        <p:spPr>
          <a:xfrm>
            <a:off x="7863840" y="3236976"/>
            <a:ext cx="2057400" cy="640080"/>
          </a:xfrm>
          <a:prstGeom prst="rect">
            <a:avLst/>
          </a:prstGeom>
          <a:noFill/>
          <a:ln/>
        </p:spPr>
        <p:txBody>
          <a:bodyPr wrap="square" lIns="0" tIns="0" rIns="0" bIns="0" rtlCol="0" anchor="ctr"/>
          <a:lstStyle/>
          <a:p>
            <a:pPr indent="0" marL="0">
              <a:buNone/>
            </a:pPr>
            <a:r>
              <a:rPr lang="en-US" sz="1150" dirty="0">
                <a:solidFill>
                  <a:srgbClr val="2A2B38"/>
                </a:solidFill>
                <a:latin typeface="Meiryo UI" pitchFamily="34" charset="0"/>
                <a:ea typeface="Meiryo UI" pitchFamily="34" charset="-122"/>
                <a:cs typeface="Meiryo UI" pitchFamily="34" charset="-120"/>
              </a:rPr>
              <a:t>問い合わせフォーム・電話</a:t>
            </a:r>
            <a:endParaRPr lang="en-US" sz="1150" dirty="0"/>
          </a:p>
        </p:txBody>
      </p:sp>
      <p:sp>
        <p:nvSpPr>
          <p:cNvPr id="30" name="Text 28"/>
          <p:cNvSpPr txBox="1"/>
          <p:nvPr/>
        </p:nvSpPr>
        <p:spPr>
          <a:xfrm>
            <a:off x="10012680" y="3236976"/>
            <a:ext cx="1627632" cy="640080"/>
          </a:xfrm>
          <a:prstGeom prst="rect">
            <a:avLst/>
          </a:prstGeom>
          <a:noFill/>
          <a:ln/>
        </p:spPr>
        <p:txBody>
          <a:bodyPr wrap="square" lIns="0" tIns="0" rIns="0" bIns="0" rtlCol="0" anchor="ctr"/>
          <a:lstStyle/>
          <a:p>
            <a:pPr indent="0" marL="0">
              <a:buNone/>
            </a:pPr>
            <a:r>
              <a:rPr lang="en-US" sz="1150" b="1" dirty="0">
                <a:solidFill>
                  <a:srgbClr val="3A3F73"/>
                </a:solidFill>
                <a:latin typeface="Meiryo UI" pitchFamily="34" charset="0"/>
                <a:ea typeface="Meiryo UI" pitchFamily="34" charset="-122"/>
                <a:cs typeface="Meiryo UI" pitchFamily="34" charset="-120"/>
              </a:rPr>
              <a:t>問い合わせ数</a:t>
            </a:r>
            <a:endParaRPr lang="en-US" sz="1150" dirty="0"/>
          </a:p>
        </p:txBody>
      </p:sp>
      <p:sp>
        <p:nvSpPr>
          <p:cNvPr id="31" name="Shape 29"/>
          <p:cNvSpPr/>
          <p:nvPr/>
        </p:nvSpPr>
        <p:spPr>
          <a:xfrm>
            <a:off x="1088136" y="3995928"/>
            <a:ext cx="1938528" cy="640080"/>
          </a:xfrm>
          <a:prstGeom prst="roundRect">
            <a:avLst>
              <a:gd name="adj" fmla="val 14286"/>
            </a:avLst>
          </a:prstGeom>
          <a:solidFill>
            <a:srgbClr val="A87A1C"/>
          </a:solidFill>
          <a:ln w="12700">
            <a:solidFill>
              <a:srgbClr val="A87A1C"/>
            </a:solidFill>
            <a:prstDash val="solid"/>
          </a:ln>
        </p:spPr>
      </p:sp>
      <p:sp>
        <p:nvSpPr>
          <p:cNvPr id="32" name="Text 30"/>
          <p:cNvSpPr txBox="1"/>
          <p:nvPr/>
        </p:nvSpPr>
        <p:spPr>
          <a:xfrm>
            <a:off x="1088136" y="3995928"/>
            <a:ext cx="1938528" cy="640080"/>
          </a:xfrm>
          <a:prstGeom prst="rect">
            <a:avLst/>
          </a:prstGeom>
          <a:noFill/>
          <a:ln/>
        </p:spPr>
        <p:txBody>
          <a:bodyPr wrap="square" lIns="0" tIns="0" rIns="0" bIns="0" rtlCol="0" anchor="ctr"/>
          <a:lstStyle/>
          <a:p>
            <a:pPr algn="ctr" indent="0" marL="0">
              <a:buNone/>
            </a:pPr>
            <a:r>
              <a:rPr lang="en-US" sz="1400" b="1" dirty="0">
                <a:solidFill>
                  <a:srgbClr val="FFFFFF"/>
                </a:solidFill>
                <a:latin typeface="Meiryo UI" pitchFamily="34" charset="0"/>
                <a:ea typeface="Meiryo UI" pitchFamily="34" charset="-122"/>
                <a:cs typeface="Meiryo UI" pitchFamily="34" charset="-120"/>
              </a:rPr>
              <a:t>問い合わせ</a:t>
            </a:r>
            <a:endParaRPr lang="en-US" sz="1400" dirty="0"/>
          </a:p>
        </p:txBody>
      </p:sp>
      <p:sp>
        <p:nvSpPr>
          <p:cNvPr id="33" name="Shape 31"/>
          <p:cNvSpPr/>
          <p:nvPr/>
        </p:nvSpPr>
        <p:spPr>
          <a:xfrm>
            <a:off x="3566160" y="3995928"/>
            <a:ext cx="8076895" cy="640080"/>
          </a:xfrm>
          <a:prstGeom prst="roundRect">
            <a:avLst>
              <a:gd name="adj" fmla="val 11429"/>
            </a:avLst>
          </a:prstGeom>
          <a:solidFill>
            <a:srgbClr val="FFFFFF"/>
          </a:solidFill>
          <a:ln w="9525">
            <a:solidFill>
              <a:srgbClr val="E0E1EE"/>
            </a:solidFill>
            <a:prstDash val="solid"/>
          </a:ln>
        </p:spPr>
      </p:sp>
      <p:sp>
        <p:nvSpPr>
          <p:cNvPr id="34" name="Text 32"/>
          <p:cNvSpPr txBox="1"/>
          <p:nvPr/>
        </p:nvSpPr>
        <p:spPr>
          <a:xfrm>
            <a:off x="3703320" y="3995928"/>
            <a:ext cx="2011680" cy="640080"/>
          </a:xfrm>
          <a:prstGeom prst="rect">
            <a:avLst/>
          </a:prstGeom>
          <a:noFill/>
          <a:ln/>
        </p:spPr>
        <p:txBody>
          <a:bodyPr wrap="square" lIns="0" tIns="0" rIns="0" bIns="0" rtlCol="0" anchor="ctr"/>
          <a:lstStyle/>
          <a:p>
            <a:pPr indent="0" marL="0">
              <a:buNone/>
            </a:pPr>
            <a:r>
              <a:rPr lang="en-US" sz="1150" dirty="0">
                <a:solidFill>
                  <a:srgbClr val="2A2B38"/>
                </a:solidFill>
                <a:latin typeface="Meiryo UI" pitchFamily="34" charset="0"/>
                <a:ea typeface="Meiryo UI" pitchFamily="34" charset="-122"/>
                <a:cs typeface="Meiryo UI" pitchFamily="34" charset="-120"/>
              </a:rPr>
              <a:t>HP／電話</a:t>
            </a:r>
            <a:endParaRPr lang="en-US" sz="1150" dirty="0"/>
          </a:p>
        </p:txBody>
      </p:sp>
      <p:sp>
        <p:nvSpPr>
          <p:cNvPr id="35" name="Text 33"/>
          <p:cNvSpPr txBox="1"/>
          <p:nvPr/>
        </p:nvSpPr>
        <p:spPr>
          <a:xfrm>
            <a:off x="5806440" y="3995928"/>
            <a:ext cx="1965960" cy="640080"/>
          </a:xfrm>
          <a:prstGeom prst="rect">
            <a:avLst/>
          </a:prstGeom>
          <a:noFill/>
          <a:ln/>
        </p:spPr>
        <p:txBody>
          <a:bodyPr wrap="square" lIns="0" tIns="0" rIns="0" bIns="0" rtlCol="0" anchor="ctr"/>
          <a:lstStyle/>
          <a:p>
            <a:pPr indent="0" marL="0">
              <a:buNone/>
            </a:pPr>
            <a:r>
              <a:rPr lang="en-US" sz="1150" dirty="0">
                <a:solidFill>
                  <a:srgbClr val="2A2B38"/>
                </a:solidFill>
                <a:latin typeface="Meiryo UI" pitchFamily="34" charset="0"/>
                <a:ea typeface="Meiryo UI" pitchFamily="34" charset="-122"/>
                <a:cs typeface="Meiryo UI" pitchFamily="34" charset="-120"/>
              </a:rPr>
              <a:t>初回相談の案内動画</a:t>
            </a:r>
            <a:endParaRPr lang="en-US" sz="1150" dirty="0"/>
          </a:p>
        </p:txBody>
      </p:sp>
      <p:sp>
        <p:nvSpPr>
          <p:cNvPr id="36" name="Text 34"/>
          <p:cNvSpPr txBox="1"/>
          <p:nvPr/>
        </p:nvSpPr>
        <p:spPr>
          <a:xfrm>
            <a:off x="7863840" y="3995928"/>
            <a:ext cx="2057400" cy="640080"/>
          </a:xfrm>
          <a:prstGeom prst="rect">
            <a:avLst/>
          </a:prstGeom>
          <a:noFill/>
          <a:ln/>
        </p:spPr>
        <p:txBody>
          <a:bodyPr wrap="square" lIns="0" tIns="0" rIns="0" bIns="0" rtlCol="0" anchor="ctr"/>
          <a:lstStyle/>
          <a:p>
            <a:pPr indent="0" marL="0">
              <a:buNone/>
            </a:pPr>
            <a:r>
              <a:rPr lang="en-US" sz="1150" dirty="0">
                <a:solidFill>
                  <a:srgbClr val="2A2B38"/>
                </a:solidFill>
                <a:latin typeface="Meiryo UI" pitchFamily="34" charset="0"/>
                <a:ea typeface="Meiryo UI" pitchFamily="34" charset="-122"/>
                <a:cs typeface="Meiryo UI" pitchFamily="34" charset="-120"/>
              </a:rPr>
              <a:t>初回面談の予約</a:t>
            </a:r>
            <a:endParaRPr lang="en-US" sz="1150" dirty="0"/>
          </a:p>
        </p:txBody>
      </p:sp>
      <p:sp>
        <p:nvSpPr>
          <p:cNvPr id="37" name="Text 35"/>
          <p:cNvSpPr txBox="1"/>
          <p:nvPr/>
        </p:nvSpPr>
        <p:spPr>
          <a:xfrm>
            <a:off x="10012680" y="3995928"/>
            <a:ext cx="1627632" cy="640080"/>
          </a:xfrm>
          <a:prstGeom prst="rect">
            <a:avLst/>
          </a:prstGeom>
          <a:noFill/>
          <a:ln/>
        </p:spPr>
        <p:txBody>
          <a:bodyPr wrap="square" lIns="0" tIns="0" rIns="0" bIns="0" rtlCol="0" anchor="ctr"/>
          <a:lstStyle/>
          <a:p>
            <a:pPr indent="0" marL="0">
              <a:buNone/>
            </a:pPr>
            <a:r>
              <a:rPr lang="en-US" sz="1150" b="1" dirty="0">
                <a:solidFill>
                  <a:srgbClr val="3A3F73"/>
                </a:solidFill>
                <a:latin typeface="Meiryo UI" pitchFamily="34" charset="0"/>
                <a:ea typeface="Meiryo UI" pitchFamily="34" charset="-122"/>
                <a:cs typeface="Meiryo UI" pitchFamily="34" charset="-120"/>
              </a:rPr>
              <a:t>面談数</a:t>
            </a:r>
            <a:endParaRPr lang="en-US" sz="1150" dirty="0"/>
          </a:p>
        </p:txBody>
      </p:sp>
      <p:sp>
        <p:nvSpPr>
          <p:cNvPr id="38" name="Shape 36"/>
          <p:cNvSpPr/>
          <p:nvPr/>
        </p:nvSpPr>
        <p:spPr>
          <a:xfrm>
            <a:off x="1252728" y="4754880"/>
            <a:ext cx="1609344" cy="640080"/>
          </a:xfrm>
          <a:prstGeom prst="roundRect">
            <a:avLst>
              <a:gd name="adj" fmla="val 14286"/>
            </a:avLst>
          </a:prstGeom>
          <a:solidFill>
            <a:srgbClr val="A87A1C"/>
          </a:solidFill>
          <a:ln w="12700">
            <a:solidFill>
              <a:srgbClr val="A87A1C"/>
            </a:solidFill>
            <a:prstDash val="solid"/>
          </a:ln>
        </p:spPr>
      </p:sp>
      <p:sp>
        <p:nvSpPr>
          <p:cNvPr id="39" name="Text 37"/>
          <p:cNvSpPr txBox="1"/>
          <p:nvPr/>
        </p:nvSpPr>
        <p:spPr>
          <a:xfrm>
            <a:off x="1252728" y="4754880"/>
            <a:ext cx="1609344" cy="640080"/>
          </a:xfrm>
          <a:prstGeom prst="rect">
            <a:avLst/>
          </a:prstGeom>
          <a:noFill/>
          <a:ln/>
        </p:spPr>
        <p:txBody>
          <a:bodyPr wrap="square" lIns="0" tIns="0" rIns="0" bIns="0" rtlCol="0" anchor="ctr"/>
          <a:lstStyle/>
          <a:p>
            <a:pPr algn="ctr" indent="0" marL="0">
              <a:buNone/>
            </a:pPr>
            <a:r>
              <a:rPr lang="en-US" sz="1400" b="1" dirty="0">
                <a:solidFill>
                  <a:srgbClr val="FFFFFF"/>
                </a:solidFill>
                <a:latin typeface="Meiryo UI" pitchFamily="34" charset="0"/>
                <a:ea typeface="Meiryo UI" pitchFamily="34" charset="-122"/>
                <a:cs typeface="Meiryo UI" pitchFamily="34" charset="-120"/>
              </a:rPr>
              <a:t>契約</a:t>
            </a:r>
            <a:endParaRPr lang="en-US" sz="1400" dirty="0"/>
          </a:p>
        </p:txBody>
      </p:sp>
      <p:sp>
        <p:nvSpPr>
          <p:cNvPr id="40" name="Shape 38"/>
          <p:cNvSpPr/>
          <p:nvPr/>
        </p:nvSpPr>
        <p:spPr>
          <a:xfrm>
            <a:off x="3566160" y="4754880"/>
            <a:ext cx="8076895" cy="640080"/>
          </a:xfrm>
          <a:prstGeom prst="roundRect">
            <a:avLst>
              <a:gd name="adj" fmla="val 11429"/>
            </a:avLst>
          </a:prstGeom>
          <a:solidFill>
            <a:srgbClr val="F6F7FB"/>
          </a:solidFill>
          <a:ln w="9525">
            <a:solidFill>
              <a:srgbClr val="E0E1EE"/>
            </a:solidFill>
            <a:prstDash val="solid"/>
          </a:ln>
        </p:spPr>
      </p:sp>
      <p:sp>
        <p:nvSpPr>
          <p:cNvPr id="41" name="Text 39"/>
          <p:cNvSpPr txBox="1"/>
          <p:nvPr/>
        </p:nvSpPr>
        <p:spPr>
          <a:xfrm>
            <a:off x="3703320" y="4754880"/>
            <a:ext cx="2011680" cy="640080"/>
          </a:xfrm>
          <a:prstGeom prst="rect">
            <a:avLst/>
          </a:prstGeom>
          <a:noFill/>
          <a:ln/>
        </p:spPr>
        <p:txBody>
          <a:bodyPr wrap="square" lIns="0" tIns="0" rIns="0" bIns="0" rtlCol="0" anchor="ctr"/>
          <a:lstStyle/>
          <a:p>
            <a:pPr indent="0" marL="0">
              <a:buNone/>
            </a:pPr>
            <a:r>
              <a:rPr lang="en-US" sz="1150" dirty="0">
                <a:solidFill>
                  <a:srgbClr val="2A2B38"/>
                </a:solidFill>
                <a:latin typeface="Meiryo UI" pitchFamily="34" charset="0"/>
                <a:ea typeface="Meiryo UI" pitchFamily="34" charset="-122"/>
                <a:cs typeface="Meiryo UI" pitchFamily="34" charset="-120"/>
              </a:rPr>
              <a:t>初回面談</a:t>
            </a:r>
            <a:endParaRPr lang="en-US" sz="1150" dirty="0"/>
          </a:p>
        </p:txBody>
      </p:sp>
      <p:sp>
        <p:nvSpPr>
          <p:cNvPr id="42" name="Text 40"/>
          <p:cNvSpPr txBox="1"/>
          <p:nvPr/>
        </p:nvSpPr>
        <p:spPr>
          <a:xfrm>
            <a:off x="5806440" y="4754880"/>
            <a:ext cx="1965960" cy="640080"/>
          </a:xfrm>
          <a:prstGeom prst="rect">
            <a:avLst/>
          </a:prstGeom>
          <a:noFill/>
          <a:ln/>
        </p:spPr>
        <p:txBody>
          <a:bodyPr wrap="square" lIns="0" tIns="0" rIns="0" bIns="0" rtlCol="0" anchor="ctr"/>
          <a:lstStyle/>
          <a:p>
            <a:pPr indent="0" marL="0">
              <a:buNone/>
            </a:pPr>
            <a:r>
              <a:rPr lang="en-US" sz="1150" dirty="0">
                <a:solidFill>
                  <a:srgbClr val="2A2B38"/>
                </a:solidFill>
                <a:latin typeface="Meiryo UI" pitchFamily="34" charset="0"/>
                <a:ea typeface="Meiryo UI" pitchFamily="34" charset="-122"/>
                <a:cs typeface="Meiryo UI" pitchFamily="34" charset="-120"/>
              </a:rPr>
              <a:t>顧問契約でできること</a:t>
            </a:r>
            <a:endParaRPr lang="en-US" sz="1150" dirty="0"/>
          </a:p>
        </p:txBody>
      </p:sp>
      <p:sp>
        <p:nvSpPr>
          <p:cNvPr id="43" name="Text 41"/>
          <p:cNvSpPr txBox="1"/>
          <p:nvPr/>
        </p:nvSpPr>
        <p:spPr>
          <a:xfrm>
            <a:off x="7863840" y="4754880"/>
            <a:ext cx="2057400" cy="640080"/>
          </a:xfrm>
          <a:prstGeom prst="rect">
            <a:avLst/>
          </a:prstGeom>
          <a:noFill/>
          <a:ln/>
        </p:spPr>
        <p:txBody>
          <a:bodyPr wrap="square" lIns="0" tIns="0" rIns="0" bIns="0" rtlCol="0" anchor="ctr"/>
          <a:lstStyle/>
          <a:p>
            <a:pPr indent="0" marL="0">
              <a:buNone/>
            </a:pPr>
            <a:r>
              <a:rPr lang="en-US" sz="1150" dirty="0">
                <a:solidFill>
                  <a:srgbClr val="2A2B38"/>
                </a:solidFill>
                <a:latin typeface="Meiryo UI" pitchFamily="34" charset="0"/>
                <a:ea typeface="Meiryo UI" pitchFamily="34" charset="-122"/>
                <a:cs typeface="Meiryo UI" pitchFamily="34" charset="-120"/>
              </a:rPr>
              <a:t>顧問契約・スポットの依頼</a:t>
            </a:r>
            <a:endParaRPr lang="en-US" sz="1150" dirty="0"/>
          </a:p>
        </p:txBody>
      </p:sp>
      <p:sp>
        <p:nvSpPr>
          <p:cNvPr id="44" name="Text 42"/>
          <p:cNvSpPr txBox="1"/>
          <p:nvPr/>
        </p:nvSpPr>
        <p:spPr>
          <a:xfrm>
            <a:off x="10012680" y="4754880"/>
            <a:ext cx="1627632" cy="640080"/>
          </a:xfrm>
          <a:prstGeom prst="rect">
            <a:avLst/>
          </a:prstGeom>
          <a:noFill/>
          <a:ln/>
        </p:spPr>
        <p:txBody>
          <a:bodyPr wrap="square" lIns="0" tIns="0" rIns="0" bIns="0" rtlCol="0" anchor="ctr"/>
          <a:lstStyle/>
          <a:p>
            <a:pPr indent="0" marL="0">
              <a:buNone/>
            </a:pPr>
            <a:r>
              <a:rPr lang="en-US" sz="1150" b="1" dirty="0">
                <a:solidFill>
                  <a:srgbClr val="3A3F73"/>
                </a:solidFill>
                <a:latin typeface="Meiryo UI" pitchFamily="34" charset="0"/>
                <a:ea typeface="Meiryo UI" pitchFamily="34" charset="-122"/>
                <a:cs typeface="Meiryo UI" pitchFamily="34" charset="-120"/>
              </a:rPr>
              <a:t>契約数・契約率</a:t>
            </a:r>
            <a:endParaRPr lang="en-US" sz="1150" dirty="0"/>
          </a:p>
        </p:txBody>
      </p:sp>
      <p:sp>
        <p:nvSpPr>
          <p:cNvPr id="45" name="Shape 43"/>
          <p:cNvSpPr/>
          <p:nvPr/>
        </p:nvSpPr>
        <p:spPr>
          <a:xfrm>
            <a:off x="1417320" y="5513832"/>
            <a:ext cx="1280160" cy="640080"/>
          </a:xfrm>
          <a:prstGeom prst="roundRect">
            <a:avLst>
              <a:gd name="adj" fmla="val 14286"/>
            </a:avLst>
          </a:prstGeom>
          <a:solidFill>
            <a:srgbClr val="A87A1C"/>
          </a:solidFill>
          <a:ln w="12700">
            <a:solidFill>
              <a:srgbClr val="A87A1C"/>
            </a:solidFill>
            <a:prstDash val="solid"/>
          </a:ln>
        </p:spPr>
      </p:sp>
      <p:sp>
        <p:nvSpPr>
          <p:cNvPr id="46" name="Text 44"/>
          <p:cNvSpPr txBox="1"/>
          <p:nvPr/>
        </p:nvSpPr>
        <p:spPr>
          <a:xfrm>
            <a:off x="1417320" y="5513832"/>
            <a:ext cx="1280160" cy="640080"/>
          </a:xfrm>
          <a:prstGeom prst="rect">
            <a:avLst/>
          </a:prstGeom>
          <a:noFill/>
          <a:ln/>
        </p:spPr>
        <p:txBody>
          <a:bodyPr wrap="square" lIns="0" tIns="0" rIns="0" bIns="0" rtlCol="0" anchor="ctr"/>
          <a:lstStyle/>
          <a:p>
            <a:pPr algn="ctr" indent="0" marL="0">
              <a:buNone/>
            </a:pPr>
            <a:r>
              <a:rPr lang="en-US" sz="1400" b="1" dirty="0">
                <a:solidFill>
                  <a:srgbClr val="FFFFFF"/>
                </a:solidFill>
                <a:latin typeface="Meiryo UI" pitchFamily="34" charset="0"/>
                <a:ea typeface="Meiryo UI" pitchFamily="34" charset="-122"/>
                <a:cs typeface="Meiryo UI" pitchFamily="34" charset="-120"/>
              </a:rPr>
              <a:t>継続・紹介</a:t>
            </a:r>
            <a:endParaRPr lang="en-US" sz="1400" dirty="0"/>
          </a:p>
        </p:txBody>
      </p:sp>
      <p:sp>
        <p:nvSpPr>
          <p:cNvPr id="47" name="Shape 45"/>
          <p:cNvSpPr/>
          <p:nvPr/>
        </p:nvSpPr>
        <p:spPr>
          <a:xfrm>
            <a:off x="3566160" y="5513832"/>
            <a:ext cx="8076895" cy="640080"/>
          </a:xfrm>
          <a:prstGeom prst="roundRect">
            <a:avLst>
              <a:gd name="adj" fmla="val 11429"/>
            </a:avLst>
          </a:prstGeom>
          <a:solidFill>
            <a:srgbClr val="FFFFFF"/>
          </a:solidFill>
          <a:ln w="9525">
            <a:solidFill>
              <a:srgbClr val="E0E1EE"/>
            </a:solidFill>
            <a:prstDash val="solid"/>
          </a:ln>
        </p:spPr>
      </p:sp>
      <p:sp>
        <p:nvSpPr>
          <p:cNvPr id="48" name="Text 46"/>
          <p:cNvSpPr txBox="1"/>
          <p:nvPr/>
        </p:nvSpPr>
        <p:spPr>
          <a:xfrm>
            <a:off x="3703320" y="5513832"/>
            <a:ext cx="2011680" cy="640080"/>
          </a:xfrm>
          <a:prstGeom prst="rect">
            <a:avLst/>
          </a:prstGeom>
          <a:noFill/>
          <a:ln/>
        </p:spPr>
        <p:txBody>
          <a:bodyPr wrap="square" lIns="0" tIns="0" rIns="0" bIns="0" rtlCol="0" anchor="ctr"/>
          <a:lstStyle/>
          <a:p>
            <a:pPr indent="0" marL="0">
              <a:buNone/>
            </a:pPr>
            <a:r>
              <a:rPr lang="en-US" sz="1150" dirty="0">
                <a:solidFill>
                  <a:srgbClr val="2A2B38"/>
                </a:solidFill>
                <a:latin typeface="Meiryo UI" pitchFamily="34" charset="0"/>
                <a:ea typeface="Meiryo UI" pitchFamily="34" charset="-122"/>
                <a:cs typeface="Meiryo UI" pitchFamily="34" charset="-120"/>
              </a:rPr>
              <a:t>顧問先へのメール</a:t>
            </a:r>
            <a:endParaRPr lang="en-US" sz="1150" dirty="0"/>
          </a:p>
        </p:txBody>
      </p:sp>
      <p:sp>
        <p:nvSpPr>
          <p:cNvPr id="49" name="Text 47"/>
          <p:cNvSpPr txBox="1"/>
          <p:nvPr/>
        </p:nvSpPr>
        <p:spPr>
          <a:xfrm>
            <a:off x="5806440" y="5513832"/>
            <a:ext cx="1965960" cy="640080"/>
          </a:xfrm>
          <a:prstGeom prst="rect">
            <a:avLst/>
          </a:prstGeom>
          <a:noFill/>
          <a:ln/>
        </p:spPr>
        <p:txBody>
          <a:bodyPr wrap="square" lIns="0" tIns="0" rIns="0" bIns="0" rtlCol="0" anchor="ctr"/>
          <a:lstStyle/>
          <a:p>
            <a:pPr indent="0" marL="0">
              <a:buNone/>
            </a:pPr>
            <a:r>
              <a:rPr lang="en-US" sz="1150" dirty="0">
                <a:solidFill>
                  <a:srgbClr val="2A2B38"/>
                </a:solidFill>
                <a:latin typeface="Meiryo UI" pitchFamily="34" charset="0"/>
                <a:ea typeface="Meiryo UI" pitchFamily="34" charset="-122"/>
                <a:cs typeface="Meiryo UI" pitchFamily="34" charset="-120"/>
              </a:rPr>
              <a:t>制度改正・期限のお知らせ動画</a:t>
            </a:r>
            <a:endParaRPr lang="en-US" sz="1150" dirty="0"/>
          </a:p>
        </p:txBody>
      </p:sp>
      <p:sp>
        <p:nvSpPr>
          <p:cNvPr id="50" name="Text 48"/>
          <p:cNvSpPr txBox="1"/>
          <p:nvPr/>
        </p:nvSpPr>
        <p:spPr>
          <a:xfrm>
            <a:off x="7863840" y="5513832"/>
            <a:ext cx="2057400" cy="640080"/>
          </a:xfrm>
          <a:prstGeom prst="rect">
            <a:avLst/>
          </a:prstGeom>
          <a:noFill/>
          <a:ln/>
        </p:spPr>
        <p:txBody>
          <a:bodyPr wrap="square" lIns="0" tIns="0" rIns="0" bIns="0" rtlCol="0" anchor="ctr"/>
          <a:lstStyle/>
          <a:p>
            <a:pPr indent="0" marL="0">
              <a:buNone/>
            </a:pPr>
            <a:r>
              <a:rPr lang="en-US" sz="1150" dirty="0">
                <a:solidFill>
                  <a:srgbClr val="2A2B38"/>
                </a:solidFill>
                <a:latin typeface="Meiryo UI" pitchFamily="34" charset="0"/>
                <a:ea typeface="Meiryo UI" pitchFamily="34" charset="-122"/>
                <a:cs typeface="Meiryo UI" pitchFamily="34" charset="-120"/>
              </a:rPr>
              <a:t>継続・知人への紹介</a:t>
            </a:r>
            <a:endParaRPr lang="en-US" sz="1150" dirty="0"/>
          </a:p>
        </p:txBody>
      </p:sp>
      <p:sp>
        <p:nvSpPr>
          <p:cNvPr id="51" name="Text 49"/>
          <p:cNvSpPr txBox="1"/>
          <p:nvPr/>
        </p:nvSpPr>
        <p:spPr>
          <a:xfrm>
            <a:off x="10012680" y="5513832"/>
            <a:ext cx="1627632" cy="640080"/>
          </a:xfrm>
          <a:prstGeom prst="rect">
            <a:avLst/>
          </a:prstGeom>
          <a:noFill/>
          <a:ln/>
        </p:spPr>
        <p:txBody>
          <a:bodyPr wrap="square" lIns="0" tIns="0" rIns="0" bIns="0" rtlCol="0" anchor="ctr"/>
          <a:lstStyle/>
          <a:p>
            <a:pPr indent="0" marL="0">
              <a:buNone/>
            </a:pPr>
            <a:r>
              <a:rPr lang="en-US" sz="1150" b="1" dirty="0">
                <a:solidFill>
                  <a:srgbClr val="3A3F73"/>
                </a:solidFill>
                <a:latin typeface="Meiryo UI" pitchFamily="34" charset="0"/>
                <a:ea typeface="Meiryo UI" pitchFamily="34" charset="-122"/>
                <a:cs typeface="Meiryo UI" pitchFamily="34" charset="-120"/>
              </a:rPr>
              <a:t>継続率・紹介数</a:t>
            </a:r>
            <a:endParaRPr lang="en-US" sz="1150" dirty="0"/>
          </a:p>
        </p:txBody>
      </p:sp>
    </p:spTree>
  </p:cSld>
  <p:clrMapOvr>
    <a:masterClrMapping/>
  </p:clrMapOvr>
</p:sld>
</file>

<file path=ppt/slides/slide16.xml><?xml version="1.0" encoding="utf-8"?>
<p:sld xmlns:a="http://schemas.openxmlformats.org/drawingml/2006/main" xmlns:r="http://schemas.openxmlformats.org/officeDocument/2006/relationships" xmlns:p="http://schemas.openxmlformats.org/presentationml/2006/main">
  <p:cSld name="Slide 16">
    <p:bg>
      <p:bgPr>
        <a:solidFill>
          <a:srgbClr val="FFFFFF"/>
        </a:solidFill>
      </p:bgPr>
    </p:bg>
    <p:spTree>
      <p:nvGrpSpPr>
        <p:cNvPr id="1" name=""/>
        <p:cNvGrpSpPr/>
        <p:nvPr/>
      </p:nvGrpSpPr>
      <p:grpSpPr>
        <a:xfrm>
          <a:off x="0" y="0"/>
          <a:ext cx="0" cy="0"/>
          <a:chOff x="0" y="0"/>
          <a:chExt cx="0" cy="0"/>
        </a:xfrm>
      </p:grpSpPr>
      <p:sp>
        <p:nvSpPr>
          <p:cNvPr id="2" name="Text 0"/>
          <p:cNvSpPr txBox="1"/>
          <p:nvPr/>
        </p:nvSpPr>
        <p:spPr>
          <a:xfrm>
            <a:off x="548640" y="347472"/>
            <a:ext cx="7315200" cy="274320"/>
          </a:xfrm>
          <a:prstGeom prst="rect">
            <a:avLst/>
          </a:prstGeom>
          <a:noFill/>
          <a:ln/>
        </p:spPr>
        <p:txBody>
          <a:bodyPr wrap="square" lIns="0" tIns="0" rIns="0" bIns="0" rtlCol="0" anchor="t"/>
          <a:lstStyle/>
          <a:p>
            <a:pPr indent="0" marL="0">
              <a:buNone/>
            </a:pPr>
            <a:r>
              <a:rPr lang="en-US" sz="1100" b="1" spc="200" kern="0" dirty="0">
                <a:solidFill>
                  <a:srgbClr val="A87A1C"/>
                </a:solidFill>
                <a:latin typeface="Meiryo UI" pitchFamily="34" charset="0"/>
                <a:ea typeface="Meiryo UI" pitchFamily="34" charset="-122"/>
                <a:cs typeface="Meiryo UI" pitchFamily="34" charset="-120"/>
              </a:rPr>
              <a:t>04｜PULL STRATEGY</a:t>
            </a:r>
            <a:endParaRPr lang="en-US" sz="1100" dirty="0"/>
          </a:p>
        </p:txBody>
      </p:sp>
      <p:sp>
        <p:nvSpPr>
          <p:cNvPr id="3" name="Text 1"/>
          <p:cNvSpPr txBox="1"/>
          <p:nvPr/>
        </p:nvSpPr>
        <p:spPr>
          <a:xfrm>
            <a:off x="548640" y="621792"/>
            <a:ext cx="11094415" cy="566928"/>
          </a:xfrm>
          <a:prstGeom prst="rect">
            <a:avLst/>
          </a:prstGeom>
          <a:noFill/>
          <a:ln/>
        </p:spPr>
        <p:txBody>
          <a:bodyPr wrap="square" lIns="0" tIns="0" rIns="0" bIns="0" rtlCol="0" anchor="ctr"/>
          <a:lstStyle/>
          <a:p>
            <a:pPr indent="0" marL="0">
              <a:buNone/>
            </a:pPr>
            <a:r>
              <a:rPr lang="en-US" sz="2600" b="1" dirty="0">
                <a:solidFill>
                  <a:srgbClr val="3A3F73"/>
                </a:solidFill>
                <a:latin typeface="Meiryo UI" pitchFamily="34" charset="0"/>
                <a:ea typeface="Meiryo UI" pitchFamily="34" charset="-122"/>
                <a:cs typeface="Meiryo UI" pitchFamily="34" charset="-120"/>
              </a:rPr>
              <a:t>税理士の広告ルールに沿った発信設計</a:t>
            </a:r>
            <a:endParaRPr lang="en-US" sz="2600" dirty="0"/>
          </a:p>
        </p:txBody>
      </p:sp>
      <p:sp>
        <p:nvSpPr>
          <p:cNvPr id="4" name="Text 2"/>
          <p:cNvSpPr txBox="1"/>
          <p:nvPr/>
        </p:nvSpPr>
        <p:spPr>
          <a:xfrm>
            <a:off x="548640" y="1207008"/>
            <a:ext cx="11094415" cy="365760"/>
          </a:xfrm>
          <a:prstGeom prst="rect">
            <a:avLst/>
          </a:prstGeom>
          <a:noFill/>
          <a:ln/>
        </p:spPr>
        <p:txBody>
          <a:bodyPr wrap="square" lIns="0" tIns="0" rIns="0" bIns="0" rtlCol="0" anchor="ctr"/>
          <a:lstStyle/>
          <a:p>
            <a:pPr indent="0" marL="0">
              <a:buNone/>
            </a:pPr>
            <a:r>
              <a:rPr lang="en-US" sz="1300" dirty="0">
                <a:solidFill>
                  <a:srgbClr val="686A82"/>
                </a:solidFill>
                <a:latin typeface="Meiryo UI" pitchFamily="34" charset="0"/>
                <a:ea typeface="Meiryo UI" pitchFamily="34" charset="-122"/>
                <a:cs typeface="Meiryo UI" pitchFamily="34" charset="-120"/>
              </a:rPr>
              <a:t>税理士の広告は、品位の保持や誇大な表示の禁止などが求められています。ルールに沿った発信そのものが、信頼につながります。</a:t>
            </a:r>
            <a:endParaRPr lang="en-US" sz="1300" dirty="0"/>
          </a:p>
        </p:txBody>
      </p:sp>
      <p:sp>
        <p:nvSpPr>
          <p:cNvPr id="5" name="Text 3"/>
          <p:cNvSpPr txBox="1"/>
          <p:nvPr/>
        </p:nvSpPr>
        <p:spPr>
          <a:xfrm>
            <a:off x="11094415" y="6419088"/>
            <a:ext cx="548640" cy="256032"/>
          </a:xfrm>
          <a:prstGeom prst="rect">
            <a:avLst/>
          </a:prstGeom>
          <a:noFill/>
          <a:ln/>
        </p:spPr>
        <p:txBody>
          <a:bodyPr wrap="square" lIns="0" tIns="0" rIns="0" bIns="0" rtlCol="0" anchor="t"/>
          <a:lstStyle/>
          <a:p>
            <a:pPr algn="r" indent="0" marL="0">
              <a:buNone/>
            </a:pPr>
            <a:r>
              <a:rPr lang="en-US" sz="1000" dirty="0">
                <a:solidFill>
                  <a:srgbClr val="7C7E90"/>
                </a:solidFill>
                <a:latin typeface="Meiryo UI" pitchFamily="34" charset="0"/>
                <a:ea typeface="Meiryo UI" pitchFamily="34" charset="-122"/>
                <a:cs typeface="Meiryo UI" pitchFamily="34" charset="-120"/>
              </a:rPr>
              <a:t>16</a:t>
            </a:r>
            <a:endParaRPr lang="en-US" sz="1000" dirty="0"/>
          </a:p>
        </p:txBody>
      </p:sp>
      <p:sp>
        <p:nvSpPr>
          <p:cNvPr id="6" name="Text 4"/>
          <p:cNvSpPr txBox="1"/>
          <p:nvPr/>
        </p:nvSpPr>
        <p:spPr>
          <a:xfrm>
            <a:off x="548640" y="6419088"/>
            <a:ext cx="4572000" cy="256032"/>
          </a:xfrm>
          <a:prstGeom prst="rect">
            <a:avLst/>
          </a:prstGeom>
          <a:noFill/>
          <a:ln/>
        </p:spPr>
        <p:txBody>
          <a:bodyPr wrap="square" lIns="0" tIns="0" rIns="0" bIns="0" rtlCol="0" anchor="t"/>
          <a:lstStyle/>
          <a:p>
            <a:pPr indent="0" marL="0">
              <a:buNone/>
            </a:pPr>
            <a:r>
              <a:rPr lang="en-US" sz="900" dirty="0">
                <a:solidFill>
                  <a:srgbClr val="7C7E90"/>
                </a:solidFill>
                <a:latin typeface="Meiryo UI" pitchFamily="34" charset="0"/>
                <a:ea typeface="Meiryo UI" pitchFamily="34" charset="-122"/>
                <a:cs typeface="Meiryo UI" pitchFamily="34" charset="-120"/>
              </a:rPr>
              <a:t>株式会社アイドマ・ホールディングス｜MiTok</a:t>
            </a:r>
            <a:endParaRPr lang="en-US" sz="900" dirty="0"/>
          </a:p>
        </p:txBody>
      </p:sp>
      <p:sp>
        <p:nvSpPr>
          <p:cNvPr id="7" name="Shape 5"/>
          <p:cNvSpPr/>
          <p:nvPr/>
        </p:nvSpPr>
        <p:spPr>
          <a:xfrm>
            <a:off x="548640" y="1874520"/>
            <a:ext cx="5410048" cy="1737360"/>
          </a:xfrm>
          <a:prstGeom prst="roundRect">
            <a:avLst>
              <a:gd name="adj" fmla="val 6316"/>
            </a:avLst>
          </a:prstGeom>
          <a:solidFill>
            <a:srgbClr val="FFFFFF"/>
          </a:solidFill>
          <a:ln w="12700">
            <a:solidFill>
              <a:srgbClr val="FFFFFF"/>
            </a:solidFill>
            <a:prstDash val="solid"/>
          </a:ln>
          <a:effectLst>
            <a:outerShdw sx="100000" sy="100000" kx="0" ky="0" algn="bl" rotWithShape="0" blurRad="76200" dist="25400" dir="5400000">
              <a:srgbClr val="000000">
                <a:alpha val="12000"/>
              </a:srgbClr>
            </a:outerShdw>
          </a:effectLst>
        </p:spPr>
      </p:sp>
      <p:sp>
        <p:nvSpPr>
          <p:cNvPr id="8" name="Shape 6"/>
          <p:cNvSpPr/>
          <p:nvPr/>
        </p:nvSpPr>
        <p:spPr>
          <a:xfrm>
            <a:off x="868680" y="2194560"/>
            <a:ext cx="777240" cy="777240"/>
          </a:xfrm>
          <a:prstGeom prst="ellipse">
            <a:avLst/>
          </a:prstGeom>
          <a:solidFill>
            <a:srgbClr val="EEEFF7"/>
          </a:solidFill>
          <a:ln w="12700">
            <a:solidFill>
              <a:srgbClr val="EEEFF7"/>
            </a:solidFill>
            <a:prstDash val="solid"/>
          </a:ln>
        </p:spPr>
      </p:sp>
      <p:pic>
        <p:nvPicPr>
          <p:cNvPr id="9" name="Image 0" descr="preencoded.png">    </p:cNvPr>
          <p:cNvPicPr>
            <a:picLocks noChangeAspect="1"/>
          </p:cNvPicPr>
          <p:nvPr/>
        </p:nvPicPr>
        <p:blipFill>
          <a:blip r:embed="rId1"/>
          <a:stretch>
            <a:fillRect/>
          </a:stretch>
        </p:blipFill>
        <p:spPr>
          <a:xfrm>
            <a:off x="1070762" y="2396642"/>
            <a:ext cx="373075" cy="373075"/>
          </a:xfrm>
          <a:prstGeom prst="rect">
            <a:avLst/>
          </a:prstGeom>
        </p:spPr>
      </p:pic>
      <p:sp>
        <p:nvSpPr>
          <p:cNvPr id="10" name="Text 7"/>
          <p:cNvSpPr txBox="1"/>
          <p:nvPr/>
        </p:nvSpPr>
        <p:spPr>
          <a:xfrm>
            <a:off x="1920240" y="2194560"/>
            <a:ext cx="3764128" cy="411480"/>
          </a:xfrm>
          <a:prstGeom prst="rect">
            <a:avLst/>
          </a:prstGeom>
          <a:noFill/>
          <a:ln/>
        </p:spPr>
        <p:txBody>
          <a:bodyPr wrap="square" lIns="0" tIns="0" rIns="0" bIns="0" rtlCol="0" anchor="t"/>
          <a:lstStyle/>
          <a:p>
            <a:pPr indent="0" marL="0">
              <a:buNone/>
            </a:pPr>
            <a:r>
              <a:rPr lang="en-US" sz="1600" b="1" dirty="0">
                <a:solidFill>
                  <a:srgbClr val="3A3F73"/>
                </a:solidFill>
                <a:latin typeface="Meiryo UI" pitchFamily="34" charset="0"/>
                <a:ea typeface="Meiryo UI" pitchFamily="34" charset="-122"/>
                <a:cs typeface="Meiryo UI" pitchFamily="34" charset="-120"/>
              </a:rPr>
              <a:t>誇大・比較の表現を使わない</a:t>
            </a:r>
            <a:endParaRPr lang="en-US" sz="1600" dirty="0"/>
          </a:p>
        </p:txBody>
      </p:sp>
      <p:sp>
        <p:nvSpPr>
          <p:cNvPr id="11" name="Text 8"/>
          <p:cNvSpPr txBox="1"/>
          <p:nvPr/>
        </p:nvSpPr>
        <p:spPr>
          <a:xfrm>
            <a:off x="1920240" y="2651760"/>
            <a:ext cx="3764128" cy="868680"/>
          </a:xfrm>
          <a:prstGeom prst="rect">
            <a:avLst/>
          </a:prstGeom>
          <a:noFill/>
          <a:ln/>
        </p:spPr>
        <p:txBody>
          <a:bodyPr wrap="square" lIns="0" tIns="0" rIns="0" bIns="0" rtlCol="0" anchor="t"/>
          <a:lstStyle/>
          <a:p>
            <a:pPr indent="0" marL="0">
              <a:buNone/>
            </a:pPr>
            <a:r>
              <a:rPr lang="en-US" sz="1200" dirty="0">
                <a:solidFill>
                  <a:srgbClr val="2A2B38"/>
                </a:solidFill>
                <a:latin typeface="Meiryo UI" pitchFamily="34" charset="0"/>
                <a:ea typeface="Meiryo UI" pitchFamily="34" charset="-122"/>
                <a:cs typeface="Meiryo UI" pitchFamily="34" charset="-120"/>
              </a:rPr>
              <a:t>「必ず節税できる」「地域No.1」など、根拠のない表現や、他の事務所との比較は用いません。</a:t>
            </a:r>
            <a:endParaRPr lang="en-US" sz="1200" dirty="0"/>
          </a:p>
        </p:txBody>
      </p:sp>
      <p:sp>
        <p:nvSpPr>
          <p:cNvPr id="12" name="Shape 9"/>
          <p:cNvSpPr/>
          <p:nvPr/>
        </p:nvSpPr>
        <p:spPr>
          <a:xfrm>
            <a:off x="6233008" y="1874520"/>
            <a:ext cx="5410048" cy="1737360"/>
          </a:xfrm>
          <a:prstGeom prst="roundRect">
            <a:avLst>
              <a:gd name="adj" fmla="val 6316"/>
            </a:avLst>
          </a:prstGeom>
          <a:solidFill>
            <a:srgbClr val="FFFFFF"/>
          </a:solidFill>
          <a:ln w="12700">
            <a:solidFill>
              <a:srgbClr val="FFFFFF"/>
            </a:solidFill>
            <a:prstDash val="solid"/>
          </a:ln>
          <a:effectLst>
            <a:outerShdw sx="100000" sy="100000" kx="0" ky="0" algn="bl" rotWithShape="0" blurRad="76200" dist="25400" dir="5400000">
              <a:srgbClr val="000000">
                <a:alpha val="12000"/>
              </a:srgbClr>
            </a:outerShdw>
          </a:effectLst>
        </p:spPr>
      </p:sp>
      <p:sp>
        <p:nvSpPr>
          <p:cNvPr id="13" name="Shape 10"/>
          <p:cNvSpPr/>
          <p:nvPr/>
        </p:nvSpPr>
        <p:spPr>
          <a:xfrm>
            <a:off x="6553048" y="2194560"/>
            <a:ext cx="777240" cy="777240"/>
          </a:xfrm>
          <a:prstGeom prst="ellipse">
            <a:avLst/>
          </a:prstGeom>
          <a:solidFill>
            <a:srgbClr val="EEEFF7"/>
          </a:solidFill>
          <a:ln w="12700">
            <a:solidFill>
              <a:srgbClr val="EEEFF7"/>
            </a:solidFill>
            <a:prstDash val="solid"/>
          </a:ln>
        </p:spPr>
      </p:sp>
      <p:pic>
        <p:nvPicPr>
          <p:cNvPr id="14" name="Image 1" descr="preencoded.png">    </p:cNvPr>
          <p:cNvPicPr>
            <a:picLocks noChangeAspect="1"/>
          </p:cNvPicPr>
          <p:nvPr/>
        </p:nvPicPr>
        <p:blipFill>
          <a:blip r:embed="rId2"/>
          <a:stretch>
            <a:fillRect/>
          </a:stretch>
        </p:blipFill>
        <p:spPr>
          <a:xfrm>
            <a:off x="6755130" y="2396642"/>
            <a:ext cx="373075" cy="373075"/>
          </a:xfrm>
          <a:prstGeom prst="rect">
            <a:avLst/>
          </a:prstGeom>
        </p:spPr>
      </p:pic>
      <p:sp>
        <p:nvSpPr>
          <p:cNvPr id="15" name="Text 11"/>
          <p:cNvSpPr txBox="1"/>
          <p:nvPr/>
        </p:nvSpPr>
        <p:spPr>
          <a:xfrm>
            <a:off x="7604608" y="2194560"/>
            <a:ext cx="3764128" cy="411480"/>
          </a:xfrm>
          <a:prstGeom prst="rect">
            <a:avLst/>
          </a:prstGeom>
          <a:noFill/>
          <a:ln/>
        </p:spPr>
        <p:txBody>
          <a:bodyPr wrap="square" lIns="0" tIns="0" rIns="0" bIns="0" rtlCol="0" anchor="t"/>
          <a:lstStyle/>
          <a:p>
            <a:pPr indent="0" marL="0">
              <a:buNone/>
            </a:pPr>
            <a:r>
              <a:rPr lang="en-US" sz="1600" b="1" dirty="0">
                <a:solidFill>
                  <a:srgbClr val="3A3F73"/>
                </a:solidFill>
                <a:latin typeface="Meiryo UI" pitchFamily="34" charset="0"/>
                <a:ea typeface="Meiryo UI" pitchFamily="34" charset="-122"/>
                <a:cs typeface="Meiryo UI" pitchFamily="34" charset="-120"/>
              </a:rPr>
              <a:t>守秘義務・顧問先情報の保護</a:t>
            </a:r>
            <a:endParaRPr lang="en-US" sz="1600" dirty="0"/>
          </a:p>
        </p:txBody>
      </p:sp>
      <p:sp>
        <p:nvSpPr>
          <p:cNvPr id="16" name="Text 12"/>
          <p:cNvSpPr txBox="1"/>
          <p:nvPr/>
        </p:nvSpPr>
        <p:spPr>
          <a:xfrm>
            <a:off x="7604608" y="2651760"/>
            <a:ext cx="3764128" cy="868680"/>
          </a:xfrm>
          <a:prstGeom prst="rect">
            <a:avLst/>
          </a:prstGeom>
          <a:noFill/>
          <a:ln/>
        </p:spPr>
        <p:txBody>
          <a:bodyPr wrap="square" lIns="0" tIns="0" rIns="0" bIns="0" rtlCol="0" anchor="t"/>
          <a:lstStyle/>
          <a:p>
            <a:pPr indent="0" marL="0">
              <a:buNone/>
            </a:pPr>
            <a:r>
              <a:rPr lang="en-US" sz="1200" dirty="0">
                <a:solidFill>
                  <a:srgbClr val="2A2B38"/>
                </a:solidFill>
                <a:latin typeface="Meiryo UI" pitchFamily="34" charset="0"/>
                <a:ea typeface="Meiryo UI" pitchFamily="34" charset="-122"/>
                <a:cs typeface="Meiryo UI" pitchFamily="34" charset="-120"/>
              </a:rPr>
              <a:t>事例の紹介は顧問先の同意を得たうえで、個人や企業が特定されない形にします。</a:t>
            </a:r>
            <a:endParaRPr lang="en-US" sz="1200" dirty="0"/>
          </a:p>
        </p:txBody>
      </p:sp>
      <p:sp>
        <p:nvSpPr>
          <p:cNvPr id="17" name="Shape 13"/>
          <p:cNvSpPr/>
          <p:nvPr/>
        </p:nvSpPr>
        <p:spPr>
          <a:xfrm>
            <a:off x="548640" y="3886200"/>
            <a:ext cx="5410048" cy="1737360"/>
          </a:xfrm>
          <a:prstGeom prst="roundRect">
            <a:avLst>
              <a:gd name="adj" fmla="val 6316"/>
            </a:avLst>
          </a:prstGeom>
          <a:solidFill>
            <a:srgbClr val="FFFFFF"/>
          </a:solidFill>
          <a:ln w="12700">
            <a:solidFill>
              <a:srgbClr val="FFFFFF"/>
            </a:solidFill>
            <a:prstDash val="solid"/>
          </a:ln>
          <a:effectLst>
            <a:outerShdw sx="100000" sy="100000" kx="0" ky="0" algn="bl" rotWithShape="0" blurRad="76200" dist="25400" dir="5400000">
              <a:srgbClr val="000000">
                <a:alpha val="12000"/>
              </a:srgbClr>
            </a:outerShdw>
          </a:effectLst>
        </p:spPr>
      </p:sp>
      <p:sp>
        <p:nvSpPr>
          <p:cNvPr id="18" name="Shape 14"/>
          <p:cNvSpPr/>
          <p:nvPr/>
        </p:nvSpPr>
        <p:spPr>
          <a:xfrm>
            <a:off x="868680" y="4206240"/>
            <a:ext cx="777240" cy="777240"/>
          </a:xfrm>
          <a:prstGeom prst="ellipse">
            <a:avLst/>
          </a:prstGeom>
          <a:solidFill>
            <a:srgbClr val="EEEFF7"/>
          </a:solidFill>
          <a:ln w="12700">
            <a:solidFill>
              <a:srgbClr val="EEEFF7"/>
            </a:solidFill>
            <a:prstDash val="solid"/>
          </a:ln>
        </p:spPr>
      </p:sp>
      <p:pic>
        <p:nvPicPr>
          <p:cNvPr id="19" name="Image 2" descr="preencoded.png">    </p:cNvPr>
          <p:cNvPicPr>
            <a:picLocks noChangeAspect="1"/>
          </p:cNvPicPr>
          <p:nvPr/>
        </p:nvPicPr>
        <p:blipFill>
          <a:blip r:embed="rId3"/>
          <a:stretch>
            <a:fillRect/>
          </a:stretch>
        </p:blipFill>
        <p:spPr>
          <a:xfrm>
            <a:off x="1070762" y="4408322"/>
            <a:ext cx="373075" cy="373075"/>
          </a:xfrm>
          <a:prstGeom prst="rect">
            <a:avLst/>
          </a:prstGeom>
        </p:spPr>
      </p:pic>
      <p:sp>
        <p:nvSpPr>
          <p:cNvPr id="20" name="Text 15"/>
          <p:cNvSpPr txBox="1"/>
          <p:nvPr/>
        </p:nvSpPr>
        <p:spPr>
          <a:xfrm>
            <a:off x="1920240" y="4206240"/>
            <a:ext cx="3764128" cy="411480"/>
          </a:xfrm>
          <a:prstGeom prst="rect">
            <a:avLst/>
          </a:prstGeom>
          <a:noFill/>
          <a:ln/>
        </p:spPr>
        <p:txBody>
          <a:bodyPr wrap="square" lIns="0" tIns="0" rIns="0" bIns="0" rtlCol="0" anchor="t"/>
          <a:lstStyle/>
          <a:p>
            <a:pPr indent="0" marL="0">
              <a:buNone/>
            </a:pPr>
            <a:r>
              <a:rPr lang="en-US" sz="1600" b="1" dirty="0">
                <a:solidFill>
                  <a:srgbClr val="3A3F73"/>
                </a:solidFill>
                <a:latin typeface="Meiryo UI" pitchFamily="34" charset="0"/>
                <a:ea typeface="Meiryo UI" pitchFamily="34" charset="-122"/>
                <a:cs typeface="Meiryo UI" pitchFamily="34" charset="-120"/>
              </a:rPr>
              <a:t>報酬の表示は分かりやすく</a:t>
            </a:r>
            <a:endParaRPr lang="en-US" sz="1600" dirty="0"/>
          </a:p>
        </p:txBody>
      </p:sp>
      <p:sp>
        <p:nvSpPr>
          <p:cNvPr id="21" name="Text 16"/>
          <p:cNvSpPr txBox="1"/>
          <p:nvPr/>
        </p:nvSpPr>
        <p:spPr>
          <a:xfrm>
            <a:off x="1920240" y="4663440"/>
            <a:ext cx="3764128" cy="868680"/>
          </a:xfrm>
          <a:prstGeom prst="rect">
            <a:avLst/>
          </a:prstGeom>
          <a:noFill/>
          <a:ln/>
        </p:spPr>
        <p:txBody>
          <a:bodyPr wrap="square" lIns="0" tIns="0" rIns="0" bIns="0" rtlCol="0" anchor="t"/>
          <a:lstStyle/>
          <a:p>
            <a:pPr indent="0" marL="0">
              <a:buNone/>
            </a:pPr>
            <a:r>
              <a:rPr lang="en-US" sz="1200" dirty="0">
                <a:solidFill>
                  <a:srgbClr val="2A2B38"/>
                </a:solidFill>
                <a:latin typeface="Meiryo UI" pitchFamily="34" charset="0"/>
                <a:ea typeface="Meiryo UI" pitchFamily="34" charset="-122"/>
                <a:cs typeface="Meiryo UI" pitchFamily="34" charset="-120"/>
              </a:rPr>
              <a:t>報酬の目安を示す場合は、条件や範囲を明確にし、誤解のない形で表示します。</a:t>
            </a:r>
            <a:endParaRPr lang="en-US" sz="1200" dirty="0"/>
          </a:p>
        </p:txBody>
      </p:sp>
      <p:sp>
        <p:nvSpPr>
          <p:cNvPr id="22" name="Shape 17"/>
          <p:cNvSpPr/>
          <p:nvPr/>
        </p:nvSpPr>
        <p:spPr>
          <a:xfrm>
            <a:off x="6233008" y="3886200"/>
            <a:ext cx="5410048" cy="1737360"/>
          </a:xfrm>
          <a:prstGeom prst="roundRect">
            <a:avLst>
              <a:gd name="adj" fmla="val 6316"/>
            </a:avLst>
          </a:prstGeom>
          <a:solidFill>
            <a:srgbClr val="FFFFFF"/>
          </a:solidFill>
          <a:ln w="12700">
            <a:solidFill>
              <a:srgbClr val="FFFFFF"/>
            </a:solidFill>
            <a:prstDash val="solid"/>
          </a:ln>
          <a:effectLst>
            <a:outerShdw sx="100000" sy="100000" kx="0" ky="0" algn="bl" rotWithShape="0" blurRad="76200" dist="25400" dir="5400000">
              <a:srgbClr val="000000">
                <a:alpha val="12000"/>
              </a:srgbClr>
            </a:outerShdw>
          </a:effectLst>
        </p:spPr>
      </p:sp>
      <p:sp>
        <p:nvSpPr>
          <p:cNvPr id="23" name="Shape 18"/>
          <p:cNvSpPr/>
          <p:nvPr/>
        </p:nvSpPr>
        <p:spPr>
          <a:xfrm>
            <a:off x="6553048" y="4206240"/>
            <a:ext cx="777240" cy="777240"/>
          </a:xfrm>
          <a:prstGeom prst="ellipse">
            <a:avLst/>
          </a:prstGeom>
          <a:solidFill>
            <a:srgbClr val="EEEFF7"/>
          </a:solidFill>
          <a:ln w="12700">
            <a:solidFill>
              <a:srgbClr val="EEEFF7"/>
            </a:solidFill>
            <a:prstDash val="solid"/>
          </a:ln>
        </p:spPr>
      </p:sp>
      <p:pic>
        <p:nvPicPr>
          <p:cNvPr id="24" name="Image 3" descr="preencoded.png">    </p:cNvPr>
          <p:cNvPicPr>
            <a:picLocks noChangeAspect="1"/>
          </p:cNvPicPr>
          <p:nvPr/>
        </p:nvPicPr>
        <p:blipFill>
          <a:blip r:embed="rId4"/>
          <a:stretch>
            <a:fillRect/>
          </a:stretch>
        </p:blipFill>
        <p:spPr>
          <a:xfrm>
            <a:off x="6755130" y="4408322"/>
            <a:ext cx="373075" cy="373075"/>
          </a:xfrm>
          <a:prstGeom prst="rect">
            <a:avLst/>
          </a:prstGeom>
        </p:spPr>
      </p:pic>
      <p:sp>
        <p:nvSpPr>
          <p:cNvPr id="25" name="Text 19"/>
          <p:cNvSpPr txBox="1"/>
          <p:nvPr/>
        </p:nvSpPr>
        <p:spPr>
          <a:xfrm>
            <a:off x="7604608" y="4206240"/>
            <a:ext cx="3764128" cy="411480"/>
          </a:xfrm>
          <a:prstGeom prst="rect">
            <a:avLst/>
          </a:prstGeom>
          <a:noFill/>
          <a:ln/>
        </p:spPr>
        <p:txBody>
          <a:bodyPr wrap="square" lIns="0" tIns="0" rIns="0" bIns="0" rtlCol="0" anchor="t"/>
          <a:lstStyle/>
          <a:p>
            <a:pPr indent="0" marL="0">
              <a:buNone/>
            </a:pPr>
            <a:r>
              <a:rPr lang="en-US" sz="1600" b="1" dirty="0">
                <a:solidFill>
                  <a:srgbClr val="3A3F73"/>
                </a:solidFill>
                <a:latin typeface="Meiryo UI" pitchFamily="34" charset="0"/>
                <a:ea typeface="Meiryo UI" pitchFamily="34" charset="-122"/>
                <a:cs typeface="Meiryo UI" pitchFamily="34" charset="-120"/>
              </a:rPr>
              <a:t>最新の制度にもとづく解説</a:t>
            </a:r>
            <a:endParaRPr lang="en-US" sz="1600" dirty="0"/>
          </a:p>
        </p:txBody>
      </p:sp>
      <p:sp>
        <p:nvSpPr>
          <p:cNvPr id="26" name="Text 20"/>
          <p:cNvSpPr txBox="1"/>
          <p:nvPr/>
        </p:nvSpPr>
        <p:spPr>
          <a:xfrm>
            <a:off x="7604608" y="4663440"/>
            <a:ext cx="3764128" cy="868680"/>
          </a:xfrm>
          <a:prstGeom prst="rect">
            <a:avLst/>
          </a:prstGeom>
          <a:noFill/>
          <a:ln/>
        </p:spPr>
        <p:txBody>
          <a:bodyPr wrap="square" lIns="0" tIns="0" rIns="0" bIns="0" rtlCol="0" anchor="t"/>
          <a:lstStyle/>
          <a:p>
            <a:pPr indent="0" marL="0">
              <a:buNone/>
            </a:pPr>
            <a:r>
              <a:rPr lang="en-US" sz="1200" dirty="0">
                <a:solidFill>
                  <a:srgbClr val="2A2B38"/>
                </a:solidFill>
                <a:latin typeface="Meiryo UI" pitchFamily="34" charset="0"/>
                <a:ea typeface="Meiryo UI" pitchFamily="34" charset="-122"/>
                <a:cs typeface="Meiryo UI" pitchFamily="34" charset="-120"/>
              </a:rPr>
              <a:t>税制改正に合わせて動画を更新し、古い情報が残らないように管理します。</a:t>
            </a:r>
            <a:endParaRPr lang="en-US" sz="1200" dirty="0"/>
          </a:p>
        </p:txBody>
      </p:sp>
      <p:sp>
        <p:nvSpPr>
          <p:cNvPr id="27" name="Text 21"/>
          <p:cNvSpPr txBox="1"/>
          <p:nvPr/>
        </p:nvSpPr>
        <p:spPr>
          <a:xfrm>
            <a:off x="548640" y="5943600"/>
            <a:ext cx="11094415" cy="365760"/>
          </a:xfrm>
          <a:prstGeom prst="rect">
            <a:avLst/>
          </a:prstGeom>
          <a:noFill/>
          <a:ln/>
        </p:spPr>
        <p:txBody>
          <a:bodyPr wrap="square" lIns="0" tIns="0" rIns="0" bIns="0" rtlCol="0" anchor="t"/>
          <a:lstStyle/>
          <a:p>
            <a:pPr algn="ctr" indent="0" marL="0">
              <a:buNone/>
            </a:pPr>
            <a:r>
              <a:rPr lang="en-US" sz="1250" b="1" dirty="0">
                <a:solidFill>
                  <a:srgbClr val="A87A1C"/>
                </a:solidFill>
                <a:latin typeface="Meiryo UI" pitchFamily="34" charset="0"/>
                <a:ea typeface="Meiryo UI" pitchFamily="34" charset="-122"/>
                <a:cs typeface="Meiryo UI" pitchFamily="34" charset="-120"/>
              </a:rPr>
              <a:t>“品位”と“分かりやすさ”を両立する言葉選びを、台本の段階から徹底します。</a:t>
            </a:r>
            <a:endParaRPr lang="en-US" sz="1250" dirty="0"/>
          </a:p>
        </p:txBody>
      </p:sp>
    </p:spTree>
  </p:cSld>
  <p:clrMapOvr>
    <a:masterClrMapping/>
  </p:clrMapOvr>
</p:sld>
</file>

<file path=ppt/slides/slide17.xml><?xml version="1.0" encoding="utf-8"?>
<p:sld xmlns:a="http://schemas.openxmlformats.org/drawingml/2006/main" xmlns:r="http://schemas.openxmlformats.org/officeDocument/2006/relationships" xmlns:p="http://schemas.openxmlformats.org/presentationml/2006/main">
  <p:cSld name="Slide 17">
    <p:bg>
      <p:bgPr>
        <a:solidFill>
          <a:srgbClr val="FFFFFF"/>
        </a:solidFill>
      </p:bgPr>
    </p:bg>
    <p:spTree>
      <p:nvGrpSpPr>
        <p:cNvPr id="1" name=""/>
        <p:cNvGrpSpPr/>
        <p:nvPr/>
      </p:nvGrpSpPr>
      <p:grpSpPr>
        <a:xfrm>
          <a:off x="0" y="0"/>
          <a:ext cx="0" cy="0"/>
          <a:chOff x="0" y="0"/>
          <a:chExt cx="0" cy="0"/>
        </a:xfrm>
      </p:grpSpPr>
      <p:sp>
        <p:nvSpPr>
          <p:cNvPr id="2" name="Text 0"/>
          <p:cNvSpPr txBox="1"/>
          <p:nvPr/>
        </p:nvSpPr>
        <p:spPr>
          <a:xfrm>
            <a:off x="548640" y="347472"/>
            <a:ext cx="7315200" cy="274320"/>
          </a:xfrm>
          <a:prstGeom prst="rect">
            <a:avLst/>
          </a:prstGeom>
          <a:noFill/>
          <a:ln/>
        </p:spPr>
        <p:txBody>
          <a:bodyPr wrap="square" lIns="0" tIns="0" rIns="0" bIns="0" rtlCol="0" anchor="t"/>
          <a:lstStyle/>
          <a:p>
            <a:pPr indent="0" marL="0">
              <a:buNone/>
            </a:pPr>
            <a:r>
              <a:rPr lang="en-US" sz="1100" b="1" spc="200" kern="0" dirty="0">
                <a:solidFill>
                  <a:srgbClr val="A87A1C"/>
                </a:solidFill>
                <a:latin typeface="Meiryo UI" pitchFamily="34" charset="0"/>
                <a:ea typeface="Meiryo UI" pitchFamily="34" charset="-122"/>
                <a:cs typeface="Meiryo UI" pitchFamily="34" charset="-120"/>
              </a:rPr>
              <a:t>05｜PHASE 1</a:t>
            </a:r>
            <a:endParaRPr lang="en-US" sz="1100" dirty="0"/>
          </a:p>
        </p:txBody>
      </p:sp>
      <p:sp>
        <p:nvSpPr>
          <p:cNvPr id="3" name="Text 1"/>
          <p:cNvSpPr txBox="1"/>
          <p:nvPr/>
        </p:nvSpPr>
        <p:spPr>
          <a:xfrm>
            <a:off x="548640" y="621792"/>
            <a:ext cx="11094415" cy="566928"/>
          </a:xfrm>
          <a:prstGeom prst="rect">
            <a:avLst/>
          </a:prstGeom>
          <a:noFill/>
          <a:ln/>
        </p:spPr>
        <p:txBody>
          <a:bodyPr wrap="square" lIns="0" tIns="0" rIns="0" bIns="0" rtlCol="0" anchor="ctr"/>
          <a:lstStyle/>
          <a:p>
            <a:pPr indent="0" marL="0">
              <a:buNone/>
            </a:pPr>
            <a:r>
              <a:rPr lang="en-US" sz="2600" b="1" dirty="0">
                <a:solidFill>
                  <a:srgbClr val="3A3F73"/>
                </a:solidFill>
                <a:latin typeface="Meiryo UI" pitchFamily="34" charset="0"/>
                <a:ea typeface="Meiryo UI" pitchFamily="34" charset="-122"/>
                <a:cs typeface="Meiryo UI" pitchFamily="34" charset="-120"/>
              </a:rPr>
              <a:t>無料3本は「サービス紹介」ではなく「効果検証のプロトタイプ」</a:t>
            </a:r>
            <a:endParaRPr lang="en-US" sz="2600" dirty="0"/>
          </a:p>
        </p:txBody>
      </p:sp>
      <p:sp>
        <p:nvSpPr>
          <p:cNvPr id="4" name="Text 2"/>
          <p:cNvSpPr txBox="1"/>
          <p:nvPr/>
        </p:nvSpPr>
        <p:spPr>
          <a:xfrm>
            <a:off x="11094415" y="6419088"/>
            <a:ext cx="548640" cy="256032"/>
          </a:xfrm>
          <a:prstGeom prst="rect">
            <a:avLst/>
          </a:prstGeom>
          <a:noFill/>
          <a:ln/>
        </p:spPr>
        <p:txBody>
          <a:bodyPr wrap="square" lIns="0" tIns="0" rIns="0" bIns="0" rtlCol="0" anchor="t"/>
          <a:lstStyle/>
          <a:p>
            <a:pPr algn="r" indent="0" marL="0">
              <a:buNone/>
            </a:pPr>
            <a:r>
              <a:rPr lang="en-US" sz="1000" dirty="0">
                <a:solidFill>
                  <a:srgbClr val="7C7E90"/>
                </a:solidFill>
                <a:latin typeface="Meiryo UI" pitchFamily="34" charset="0"/>
                <a:ea typeface="Meiryo UI" pitchFamily="34" charset="-122"/>
                <a:cs typeface="Meiryo UI" pitchFamily="34" charset="-120"/>
              </a:rPr>
              <a:t>17</a:t>
            </a:r>
            <a:endParaRPr lang="en-US" sz="1000" dirty="0"/>
          </a:p>
        </p:txBody>
      </p:sp>
      <p:sp>
        <p:nvSpPr>
          <p:cNvPr id="5" name="Text 3"/>
          <p:cNvSpPr txBox="1"/>
          <p:nvPr/>
        </p:nvSpPr>
        <p:spPr>
          <a:xfrm>
            <a:off x="548640" y="6419088"/>
            <a:ext cx="4572000" cy="256032"/>
          </a:xfrm>
          <a:prstGeom prst="rect">
            <a:avLst/>
          </a:prstGeom>
          <a:noFill/>
          <a:ln/>
        </p:spPr>
        <p:txBody>
          <a:bodyPr wrap="square" lIns="0" tIns="0" rIns="0" bIns="0" rtlCol="0" anchor="t"/>
          <a:lstStyle/>
          <a:p>
            <a:pPr indent="0" marL="0">
              <a:buNone/>
            </a:pPr>
            <a:r>
              <a:rPr lang="en-US" sz="900" dirty="0">
                <a:solidFill>
                  <a:srgbClr val="7C7E90"/>
                </a:solidFill>
                <a:latin typeface="Meiryo UI" pitchFamily="34" charset="0"/>
                <a:ea typeface="Meiryo UI" pitchFamily="34" charset="-122"/>
                <a:cs typeface="Meiryo UI" pitchFamily="34" charset="-120"/>
              </a:rPr>
              <a:t>株式会社アイドマ・ホールディングス｜MiTok</a:t>
            </a:r>
            <a:endParaRPr lang="en-US" sz="900" dirty="0"/>
          </a:p>
        </p:txBody>
      </p:sp>
      <p:sp>
        <p:nvSpPr>
          <p:cNvPr id="6" name="Shape 4"/>
          <p:cNvSpPr/>
          <p:nvPr/>
        </p:nvSpPr>
        <p:spPr>
          <a:xfrm>
            <a:off x="548640" y="1371600"/>
            <a:ext cx="11094415" cy="822960"/>
          </a:xfrm>
          <a:prstGeom prst="roundRect">
            <a:avLst>
              <a:gd name="adj" fmla="val 13333"/>
            </a:avLst>
          </a:prstGeom>
          <a:solidFill>
            <a:srgbClr val="262A52"/>
          </a:solidFill>
          <a:ln w="12700">
            <a:solidFill>
              <a:srgbClr val="262A52"/>
            </a:solidFill>
            <a:prstDash val="solid"/>
          </a:ln>
        </p:spPr>
      </p:sp>
      <p:sp>
        <p:nvSpPr>
          <p:cNvPr id="7" name="Text 5"/>
          <p:cNvSpPr txBox="1"/>
          <p:nvPr/>
        </p:nvSpPr>
        <p:spPr>
          <a:xfrm>
            <a:off x="914400" y="1371600"/>
            <a:ext cx="10362895" cy="822960"/>
          </a:xfrm>
          <a:prstGeom prst="rect">
            <a:avLst/>
          </a:prstGeom>
          <a:noFill/>
          <a:ln/>
        </p:spPr>
        <p:txBody>
          <a:bodyPr wrap="square" lIns="0" tIns="0" rIns="0" bIns="0" rtlCol="0" anchor="ctr"/>
          <a:lstStyle/>
          <a:p>
            <a:pPr indent="0" marL="0">
              <a:buNone/>
            </a:pPr>
            <a:r>
              <a:rPr lang="en-US" sz="1500" b="1" dirty="0">
                <a:solidFill>
                  <a:srgbClr val="FFFFFF"/>
                </a:solidFill>
                <a:latin typeface="Meiryo UI" pitchFamily="34" charset="0"/>
                <a:ea typeface="Meiryo UI" pitchFamily="34" charset="-122"/>
                <a:cs typeface="Meiryo UI" pitchFamily="34" charset="-120"/>
              </a:rPr>
              <a:t>プッシュとプル、どの型・どのターゲット・どのチャネルが最も成果につながるかを、</a:t>
            </a:r>
            <a:endParaRPr lang="en-US" sz="1500" dirty="0"/>
          </a:p>
          <a:p>
            <a:pPr indent="0" marL="0">
              <a:buNone/>
            </a:pPr>
            <a:r>
              <a:rPr lang="en-US" sz="1500" b="1" dirty="0">
                <a:solidFill>
                  <a:srgbClr val="FFFFFF"/>
                </a:solidFill>
                <a:latin typeface="Meiryo UI" pitchFamily="34" charset="0"/>
                <a:ea typeface="Meiryo UI" pitchFamily="34" charset="-122"/>
                <a:cs typeface="Meiryo UI" pitchFamily="34" charset="-120"/>
              </a:rPr>
              <a:t>あえて条件を変えた3本で同時に比較検証します。</a:t>
            </a:r>
            <a:endParaRPr lang="en-US" sz="1500" dirty="0"/>
          </a:p>
        </p:txBody>
      </p:sp>
      <p:sp>
        <p:nvSpPr>
          <p:cNvPr id="8" name="Shape 6"/>
          <p:cNvSpPr/>
          <p:nvPr/>
        </p:nvSpPr>
        <p:spPr>
          <a:xfrm>
            <a:off x="548640" y="2423160"/>
            <a:ext cx="3515258" cy="3840480"/>
          </a:xfrm>
          <a:prstGeom prst="roundRect">
            <a:avLst>
              <a:gd name="adj" fmla="val 3121"/>
            </a:avLst>
          </a:prstGeom>
          <a:solidFill>
            <a:srgbClr val="FFFFFF"/>
          </a:solidFill>
          <a:ln w="12700">
            <a:solidFill>
              <a:srgbClr val="FFFFFF"/>
            </a:solidFill>
            <a:prstDash val="solid"/>
          </a:ln>
          <a:effectLst>
            <a:outerShdw sx="100000" sy="100000" kx="0" ky="0" algn="bl" rotWithShape="0" blurRad="76200" dist="25400" dir="5400000">
              <a:srgbClr val="000000">
                <a:alpha val="12000"/>
              </a:srgbClr>
            </a:outerShdw>
          </a:effectLst>
        </p:spPr>
      </p:sp>
      <p:sp>
        <p:nvSpPr>
          <p:cNvPr id="9" name="Shape 7"/>
          <p:cNvSpPr/>
          <p:nvPr/>
        </p:nvSpPr>
        <p:spPr>
          <a:xfrm>
            <a:off x="777240" y="2606040"/>
            <a:ext cx="502920" cy="502920"/>
          </a:xfrm>
          <a:prstGeom prst="ellipse">
            <a:avLst/>
          </a:prstGeom>
          <a:solidFill>
            <a:srgbClr val="A87A1C"/>
          </a:solidFill>
          <a:ln w="12700">
            <a:solidFill>
              <a:srgbClr val="A87A1C"/>
            </a:solidFill>
            <a:prstDash val="solid"/>
          </a:ln>
        </p:spPr>
      </p:sp>
      <p:sp>
        <p:nvSpPr>
          <p:cNvPr id="10" name="Text 8"/>
          <p:cNvSpPr txBox="1"/>
          <p:nvPr/>
        </p:nvSpPr>
        <p:spPr>
          <a:xfrm>
            <a:off x="777240" y="2606040"/>
            <a:ext cx="502920" cy="502920"/>
          </a:xfrm>
          <a:prstGeom prst="rect">
            <a:avLst/>
          </a:prstGeom>
          <a:noFill/>
          <a:ln/>
        </p:spPr>
        <p:txBody>
          <a:bodyPr wrap="square" lIns="0" tIns="0" rIns="0" bIns="0" rtlCol="0" anchor="ctr"/>
          <a:lstStyle/>
          <a:p>
            <a:pPr algn="ctr" indent="0" marL="0">
              <a:buNone/>
            </a:pPr>
            <a:r>
              <a:rPr lang="en-US" sz="1600" b="1" dirty="0">
                <a:solidFill>
                  <a:srgbClr val="FFFFFF"/>
                </a:solidFill>
                <a:latin typeface="Meiryo UI" pitchFamily="34" charset="0"/>
                <a:ea typeface="Meiryo UI" pitchFamily="34" charset="-122"/>
                <a:cs typeface="Meiryo UI" pitchFamily="34" charset="-120"/>
              </a:rPr>
              <a:t>1</a:t>
            </a:r>
            <a:endParaRPr lang="en-US" sz="1600" dirty="0"/>
          </a:p>
        </p:txBody>
      </p:sp>
      <p:sp>
        <p:nvSpPr>
          <p:cNvPr id="11" name="Text 9"/>
          <p:cNvSpPr txBox="1"/>
          <p:nvPr/>
        </p:nvSpPr>
        <p:spPr>
          <a:xfrm>
            <a:off x="1417320" y="2560320"/>
            <a:ext cx="2509418" cy="347472"/>
          </a:xfrm>
          <a:prstGeom prst="rect">
            <a:avLst/>
          </a:prstGeom>
          <a:noFill/>
          <a:ln/>
        </p:spPr>
        <p:txBody>
          <a:bodyPr wrap="square" lIns="0" tIns="0" rIns="0" bIns="0" rtlCol="0" anchor="t"/>
          <a:lstStyle/>
          <a:p>
            <a:pPr indent="0" marL="0">
              <a:buNone/>
            </a:pPr>
            <a:r>
              <a:rPr lang="en-US" sz="1500" b="1" dirty="0">
                <a:solidFill>
                  <a:srgbClr val="3A3F73"/>
                </a:solidFill>
                <a:latin typeface="Meiryo UI" pitchFamily="34" charset="0"/>
                <a:ea typeface="Meiryo UI" pitchFamily="34" charset="-122"/>
                <a:cs typeface="Meiryo UI" pitchFamily="34" charset="-120"/>
              </a:rPr>
              <a:t>プッシュ検証</a:t>
            </a:r>
            <a:endParaRPr lang="en-US" sz="1500" dirty="0"/>
          </a:p>
        </p:txBody>
      </p:sp>
      <p:sp>
        <p:nvSpPr>
          <p:cNvPr id="12" name="Text 10"/>
          <p:cNvSpPr txBox="1"/>
          <p:nvPr/>
        </p:nvSpPr>
        <p:spPr>
          <a:xfrm>
            <a:off x="1417320" y="2880360"/>
            <a:ext cx="2509418" cy="274320"/>
          </a:xfrm>
          <a:prstGeom prst="rect">
            <a:avLst/>
          </a:prstGeom>
          <a:noFill/>
          <a:ln/>
        </p:spPr>
        <p:txBody>
          <a:bodyPr wrap="square" lIns="0" tIns="0" rIns="0" bIns="0" rtlCol="0" anchor="t"/>
          <a:lstStyle/>
          <a:p>
            <a:pPr indent="0" marL="0">
              <a:buNone/>
            </a:pPr>
            <a:r>
              <a:rPr lang="en-US" sz="1150" b="1" dirty="0">
                <a:solidFill>
                  <a:srgbClr val="A87A1C"/>
                </a:solidFill>
                <a:latin typeface="Meiryo UI" pitchFamily="34" charset="0"/>
                <a:ea typeface="Meiryo UI" pitchFamily="34" charset="-122"/>
                <a:cs typeface="Meiryo UI" pitchFamily="34" charset="-120"/>
              </a:rPr>
              <a:t>長尺解説型</a:t>
            </a:r>
            <a:endParaRPr lang="en-US" sz="1150" dirty="0"/>
          </a:p>
        </p:txBody>
      </p:sp>
      <p:sp>
        <p:nvSpPr>
          <p:cNvPr id="13" name="Text 11"/>
          <p:cNvSpPr txBox="1"/>
          <p:nvPr/>
        </p:nvSpPr>
        <p:spPr>
          <a:xfrm>
            <a:off x="777240" y="3319272"/>
            <a:ext cx="1051560" cy="502920"/>
          </a:xfrm>
          <a:prstGeom prst="rect">
            <a:avLst/>
          </a:prstGeom>
          <a:noFill/>
          <a:ln/>
        </p:spPr>
        <p:txBody>
          <a:bodyPr wrap="square" lIns="0" tIns="0" rIns="0" bIns="0" rtlCol="0" anchor="t"/>
          <a:lstStyle/>
          <a:p>
            <a:pPr indent="0" marL="0">
              <a:buNone/>
            </a:pPr>
            <a:r>
              <a:rPr lang="en-US" sz="1050" b="1" dirty="0">
                <a:solidFill>
                  <a:srgbClr val="686A82"/>
                </a:solidFill>
                <a:latin typeface="Meiryo UI" pitchFamily="34" charset="0"/>
                <a:ea typeface="Meiryo UI" pitchFamily="34" charset="-122"/>
                <a:cs typeface="Meiryo UI" pitchFamily="34" charset="-120"/>
              </a:rPr>
              <a:t>ターゲット</a:t>
            </a:r>
            <a:endParaRPr lang="en-US" sz="1050" dirty="0"/>
          </a:p>
        </p:txBody>
      </p:sp>
      <p:sp>
        <p:nvSpPr>
          <p:cNvPr id="14" name="Text 12"/>
          <p:cNvSpPr txBox="1"/>
          <p:nvPr/>
        </p:nvSpPr>
        <p:spPr>
          <a:xfrm>
            <a:off x="1828800" y="3319272"/>
            <a:ext cx="2052218" cy="530352"/>
          </a:xfrm>
          <a:prstGeom prst="rect">
            <a:avLst/>
          </a:prstGeom>
          <a:noFill/>
          <a:ln/>
        </p:spPr>
        <p:txBody>
          <a:bodyPr wrap="square" lIns="0" tIns="0" rIns="0" bIns="0" rtlCol="0" anchor="t"/>
          <a:lstStyle/>
          <a:p>
            <a:pPr indent="0" marL="0">
              <a:buNone/>
            </a:pPr>
            <a:r>
              <a:rPr lang="en-US" sz="1100" dirty="0">
                <a:solidFill>
                  <a:srgbClr val="2A2B38"/>
                </a:solidFill>
                <a:latin typeface="Meiryo UI" pitchFamily="34" charset="0"/>
                <a:ea typeface="Meiryo UI" pitchFamily="34" charset="-122"/>
                <a:cs typeface="Meiryo UI" pitchFamily="34" charset="-120"/>
              </a:rPr>
              <a:t>既存の顧問先・紹介者（金融機関・不動産会社など）</a:t>
            </a:r>
            <a:endParaRPr lang="en-US" sz="1100" dirty="0"/>
          </a:p>
        </p:txBody>
      </p:sp>
      <p:sp>
        <p:nvSpPr>
          <p:cNvPr id="15" name="Text 13"/>
          <p:cNvSpPr txBox="1"/>
          <p:nvPr/>
        </p:nvSpPr>
        <p:spPr>
          <a:xfrm>
            <a:off x="777240" y="3895344"/>
            <a:ext cx="1051560" cy="502920"/>
          </a:xfrm>
          <a:prstGeom prst="rect">
            <a:avLst/>
          </a:prstGeom>
          <a:noFill/>
          <a:ln/>
        </p:spPr>
        <p:txBody>
          <a:bodyPr wrap="square" lIns="0" tIns="0" rIns="0" bIns="0" rtlCol="0" anchor="t"/>
          <a:lstStyle/>
          <a:p>
            <a:pPr indent="0" marL="0">
              <a:buNone/>
            </a:pPr>
            <a:r>
              <a:rPr lang="en-US" sz="1050" b="1" dirty="0">
                <a:solidFill>
                  <a:srgbClr val="686A82"/>
                </a:solidFill>
                <a:latin typeface="Meiryo UI" pitchFamily="34" charset="0"/>
                <a:ea typeface="Meiryo UI" pitchFamily="34" charset="-122"/>
                <a:cs typeface="Meiryo UI" pitchFamily="34" charset="-120"/>
              </a:rPr>
              <a:t>テーマ案</a:t>
            </a:r>
            <a:endParaRPr lang="en-US" sz="1050" dirty="0"/>
          </a:p>
        </p:txBody>
      </p:sp>
      <p:sp>
        <p:nvSpPr>
          <p:cNvPr id="16" name="Text 14"/>
          <p:cNvSpPr txBox="1"/>
          <p:nvPr/>
        </p:nvSpPr>
        <p:spPr>
          <a:xfrm>
            <a:off x="1828800" y="3895344"/>
            <a:ext cx="2052218" cy="530352"/>
          </a:xfrm>
          <a:prstGeom prst="rect">
            <a:avLst/>
          </a:prstGeom>
          <a:noFill/>
          <a:ln/>
        </p:spPr>
        <p:txBody>
          <a:bodyPr wrap="square" lIns="0" tIns="0" rIns="0" bIns="0" rtlCol="0" anchor="t"/>
          <a:lstStyle/>
          <a:p>
            <a:pPr indent="0" marL="0">
              <a:buNone/>
            </a:pPr>
            <a:r>
              <a:rPr lang="en-US" sz="1100" dirty="0">
                <a:solidFill>
                  <a:srgbClr val="2A2B38"/>
                </a:solidFill>
                <a:latin typeface="Meiryo UI" pitchFamily="34" charset="0"/>
                <a:ea typeface="Meiryo UI" pitchFamily="34" charset="-122"/>
                <a:cs typeface="Meiryo UI" pitchFamily="34" charset="-120"/>
              </a:rPr>
              <a:t>事務所のご紹介 ― 考え方と対応できるご相談</a:t>
            </a:r>
            <a:endParaRPr lang="en-US" sz="1100" dirty="0"/>
          </a:p>
        </p:txBody>
      </p:sp>
      <p:sp>
        <p:nvSpPr>
          <p:cNvPr id="17" name="Text 15"/>
          <p:cNvSpPr txBox="1"/>
          <p:nvPr/>
        </p:nvSpPr>
        <p:spPr>
          <a:xfrm>
            <a:off x="777240" y="4471416"/>
            <a:ext cx="1051560" cy="502920"/>
          </a:xfrm>
          <a:prstGeom prst="rect">
            <a:avLst/>
          </a:prstGeom>
          <a:noFill/>
          <a:ln/>
        </p:spPr>
        <p:txBody>
          <a:bodyPr wrap="square" lIns="0" tIns="0" rIns="0" bIns="0" rtlCol="0" anchor="t"/>
          <a:lstStyle/>
          <a:p>
            <a:pPr indent="0" marL="0">
              <a:buNone/>
            </a:pPr>
            <a:r>
              <a:rPr lang="en-US" sz="1050" b="1" dirty="0">
                <a:solidFill>
                  <a:srgbClr val="686A82"/>
                </a:solidFill>
                <a:latin typeface="Meiryo UI" pitchFamily="34" charset="0"/>
                <a:ea typeface="Meiryo UI" pitchFamily="34" charset="-122"/>
                <a:cs typeface="Meiryo UI" pitchFamily="34" charset="-120"/>
              </a:rPr>
              <a:t>配信先</a:t>
            </a:r>
            <a:endParaRPr lang="en-US" sz="1050" dirty="0"/>
          </a:p>
        </p:txBody>
      </p:sp>
      <p:sp>
        <p:nvSpPr>
          <p:cNvPr id="18" name="Text 16"/>
          <p:cNvSpPr txBox="1"/>
          <p:nvPr/>
        </p:nvSpPr>
        <p:spPr>
          <a:xfrm>
            <a:off x="1828800" y="4471416"/>
            <a:ext cx="2052218" cy="530352"/>
          </a:xfrm>
          <a:prstGeom prst="rect">
            <a:avLst/>
          </a:prstGeom>
          <a:noFill/>
          <a:ln/>
        </p:spPr>
        <p:txBody>
          <a:bodyPr wrap="square" lIns="0" tIns="0" rIns="0" bIns="0" rtlCol="0" anchor="t"/>
          <a:lstStyle/>
          <a:p>
            <a:pPr indent="0" marL="0">
              <a:buNone/>
            </a:pPr>
            <a:r>
              <a:rPr lang="en-US" sz="1100" dirty="0">
                <a:solidFill>
                  <a:srgbClr val="2A2B38"/>
                </a:solidFill>
                <a:latin typeface="Meiryo UI" pitchFamily="34" charset="0"/>
                <a:ea typeface="Meiryo UI" pitchFamily="34" charset="-122"/>
                <a:cs typeface="Meiryo UI" pitchFamily="34" charset="-120"/>
              </a:rPr>
              <a:t>顧問先へのメール、紹介者への案内、面談前の送付</a:t>
            </a:r>
            <a:endParaRPr lang="en-US" sz="1100" dirty="0"/>
          </a:p>
        </p:txBody>
      </p:sp>
      <p:sp>
        <p:nvSpPr>
          <p:cNvPr id="19" name="Text 17"/>
          <p:cNvSpPr txBox="1"/>
          <p:nvPr/>
        </p:nvSpPr>
        <p:spPr>
          <a:xfrm>
            <a:off x="777240" y="5047488"/>
            <a:ext cx="1051560" cy="502920"/>
          </a:xfrm>
          <a:prstGeom prst="rect">
            <a:avLst/>
          </a:prstGeom>
          <a:noFill/>
          <a:ln/>
        </p:spPr>
        <p:txBody>
          <a:bodyPr wrap="square" lIns="0" tIns="0" rIns="0" bIns="0" rtlCol="0" anchor="t"/>
          <a:lstStyle/>
          <a:p>
            <a:pPr indent="0" marL="0">
              <a:buNone/>
            </a:pPr>
            <a:r>
              <a:rPr lang="en-US" sz="1050" b="1" dirty="0">
                <a:solidFill>
                  <a:srgbClr val="686A82"/>
                </a:solidFill>
                <a:latin typeface="Meiryo UI" pitchFamily="34" charset="0"/>
                <a:ea typeface="Meiryo UI" pitchFamily="34" charset="-122"/>
                <a:cs typeface="Meiryo UI" pitchFamily="34" charset="-120"/>
              </a:rPr>
              <a:t>検証する仮説</a:t>
            </a:r>
            <a:endParaRPr lang="en-US" sz="1050" dirty="0"/>
          </a:p>
        </p:txBody>
      </p:sp>
      <p:sp>
        <p:nvSpPr>
          <p:cNvPr id="20" name="Text 18"/>
          <p:cNvSpPr txBox="1"/>
          <p:nvPr/>
        </p:nvSpPr>
        <p:spPr>
          <a:xfrm>
            <a:off x="1828800" y="5047488"/>
            <a:ext cx="2052218" cy="530352"/>
          </a:xfrm>
          <a:prstGeom prst="rect">
            <a:avLst/>
          </a:prstGeom>
          <a:noFill/>
          <a:ln/>
        </p:spPr>
        <p:txBody>
          <a:bodyPr wrap="square" lIns="0" tIns="0" rIns="0" bIns="0" rtlCol="0" anchor="t"/>
          <a:lstStyle/>
          <a:p>
            <a:pPr indent="0" marL="0">
              <a:buNone/>
            </a:pPr>
            <a:r>
              <a:rPr lang="en-US" sz="1100" b="1" dirty="0">
                <a:solidFill>
                  <a:srgbClr val="2A2B38"/>
                </a:solidFill>
                <a:latin typeface="Meiryo UI" pitchFamily="34" charset="0"/>
                <a:ea typeface="Meiryo UI" pitchFamily="34" charset="-122"/>
                <a:cs typeface="Meiryo UI" pitchFamily="34" charset="-120"/>
              </a:rPr>
              <a:t>“紹介したくなる動画”で紹介件数・面談化率は上がるか</a:t>
            </a:r>
            <a:endParaRPr lang="en-US" sz="1100" dirty="0"/>
          </a:p>
        </p:txBody>
      </p:sp>
      <p:sp>
        <p:nvSpPr>
          <p:cNvPr id="21" name="Text 19"/>
          <p:cNvSpPr txBox="1"/>
          <p:nvPr/>
        </p:nvSpPr>
        <p:spPr>
          <a:xfrm>
            <a:off x="777240" y="5623560"/>
            <a:ext cx="1051560" cy="502920"/>
          </a:xfrm>
          <a:prstGeom prst="rect">
            <a:avLst/>
          </a:prstGeom>
          <a:noFill/>
          <a:ln/>
        </p:spPr>
        <p:txBody>
          <a:bodyPr wrap="square" lIns="0" tIns="0" rIns="0" bIns="0" rtlCol="0" anchor="t"/>
          <a:lstStyle/>
          <a:p>
            <a:pPr indent="0" marL="0">
              <a:buNone/>
            </a:pPr>
            <a:r>
              <a:rPr lang="en-US" sz="1050" b="1" dirty="0">
                <a:solidFill>
                  <a:srgbClr val="686A82"/>
                </a:solidFill>
                <a:latin typeface="Meiryo UI" pitchFamily="34" charset="0"/>
                <a:ea typeface="Meiryo UI" pitchFamily="34" charset="-122"/>
                <a:cs typeface="Meiryo UI" pitchFamily="34" charset="-120"/>
              </a:rPr>
              <a:t>主なKPI</a:t>
            </a:r>
            <a:endParaRPr lang="en-US" sz="1050" dirty="0"/>
          </a:p>
        </p:txBody>
      </p:sp>
      <p:sp>
        <p:nvSpPr>
          <p:cNvPr id="22" name="Text 20"/>
          <p:cNvSpPr txBox="1"/>
          <p:nvPr/>
        </p:nvSpPr>
        <p:spPr>
          <a:xfrm>
            <a:off x="1828800" y="5623560"/>
            <a:ext cx="2052218" cy="530352"/>
          </a:xfrm>
          <a:prstGeom prst="rect">
            <a:avLst/>
          </a:prstGeom>
          <a:noFill/>
          <a:ln/>
        </p:spPr>
        <p:txBody>
          <a:bodyPr wrap="square" lIns="0" tIns="0" rIns="0" bIns="0" rtlCol="0" anchor="t"/>
          <a:lstStyle/>
          <a:p>
            <a:pPr indent="0" marL="0">
              <a:buNone/>
            </a:pPr>
            <a:r>
              <a:rPr lang="en-US" sz="1100" dirty="0">
                <a:solidFill>
                  <a:srgbClr val="2A2B38"/>
                </a:solidFill>
                <a:latin typeface="Meiryo UI" pitchFamily="34" charset="0"/>
                <a:ea typeface="Meiryo UI" pitchFamily="34" charset="-122"/>
                <a:cs typeface="Meiryo UI" pitchFamily="34" charset="-120"/>
              </a:rPr>
              <a:t>視聴率／紹介件数／面談化率</a:t>
            </a:r>
            <a:endParaRPr lang="en-US" sz="1100" dirty="0"/>
          </a:p>
        </p:txBody>
      </p:sp>
      <p:sp>
        <p:nvSpPr>
          <p:cNvPr id="23" name="Shape 21"/>
          <p:cNvSpPr/>
          <p:nvPr/>
        </p:nvSpPr>
        <p:spPr>
          <a:xfrm>
            <a:off x="4338218" y="2423160"/>
            <a:ext cx="3515258" cy="3840480"/>
          </a:xfrm>
          <a:prstGeom prst="roundRect">
            <a:avLst>
              <a:gd name="adj" fmla="val 3121"/>
            </a:avLst>
          </a:prstGeom>
          <a:solidFill>
            <a:srgbClr val="FFFFFF"/>
          </a:solidFill>
          <a:ln w="12700">
            <a:solidFill>
              <a:srgbClr val="FFFFFF"/>
            </a:solidFill>
            <a:prstDash val="solid"/>
          </a:ln>
          <a:effectLst>
            <a:outerShdw sx="100000" sy="100000" kx="0" ky="0" algn="bl" rotWithShape="0" blurRad="76200" dist="25400" dir="5400000">
              <a:srgbClr val="000000">
                <a:alpha val="12000"/>
              </a:srgbClr>
            </a:outerShdw>
          </a:effectLst>
        </p:spPr>
      </p:sp>
      <p:sp>
        <p:nvSpPr>
          <p:cNvPr id="24" name="Shape 22"/>
          <p:cNvSpPr/>
          <p:nvPr/>
        </p:nvSpPr>
        <p:spPr>
          <a:xfrm>
            <a:off x="4566818" y="2606040"/>
            <a:ext cx="502920" cy="502920"/>
          </a:xfrm>
          <a:prstGeom prst="ellipse">
            <a:avLst/>
          </a:prstGeom>
          <a:solidFill>
            <a:srgbClr val="A87A1C"/>
          </a:solidFill>
          <a:ln w="12700">
            <a:solidFill>
              <a:srgbClr val="A87A1C"/>
            </a:solidFill>
            <a:prstDash val="solid"/>
          </a:ln>
        </p:spPr>
      </p:sp>
      <p:sp>
        <p:nvSpPr>
          <p:cNvPr id="25" name="Text 23"/>
          <p:cNvSpPr txBox="1"/>
          <p:nvPr/>
        </p:nvSpPr>
        <p:spPr>
          <a:xfrm>
            <a:off x="4566818" y="2606040"/>
            <a:ext cx="502920" cy="502920"/>
          </a:xfrm>
          <a:prstGeom prst="rect">
            <a:avLst/>
          </a:prstGeom>
          <a:noFill/>
          <a:ln/>
        </p:spPr>
        <p:txBody>
          <a:bodyPr wrap="square" lIns="0" tIns="0" rIns="0" bIns="0" rtlCol="0" anchor="ctr"/>
          <a:lstStyle/>
          <a:p>
            <a:pPr algn="ctr" indent="0" marL="0">
              <a:buNone/>
            </a:pPr>
            <a:r>
              <a:rPr lang="en-US" sz="1600" b="1" dirty="0">
                <a:solidFill>
                  <a:srgbClr val="FFFFFF"/>
                </a:solidFill>
                <a:latin typeface="Meiryo UI" pitchFamily="34" charset="0"/>
                <a:ea typeface="Meiryo UI" pitchFamily="34" charset="-122"/>
                <a:cs typeface="Meiryo UI" pitchFamily="34" charset="-120"/>
              </a:rPr>
              <a:t>2</a:t>
            </a:r>
            <a:endParaRPr lang="en-US" sz="1600" dirty="0"/>
          </a:p>
        </p:txBody>
      </p:sp>
      <p:sp>
        <p:nvSpPr>
          <p:cNvPr id="26" name="Text 24"/>
          <p:cNvSpPr txBox="1"/>
          <p:nvPr/>
        </p:nvSpPr>
        <p:spPr>
          <a:xfrm>
            <a:off x="5206898" y="2560320"/>
            <a:ext cx="2509418" cy="347472"/>
          </a:xfrm>
          <a:prstGeom prst="rect">
            <a:avLst/>
          </a:prstGeom>
          <a:noFill/>
          <a:ln/>
        </p:spPr>
        <p:txBody>
          <a:bodyPr wrap="square" lIns="0" tIns="0" rIns="0" bIns="0" rtlCol="0" anchor="t"/>
          <a:lstStyle/>
          <a:p>
            <a:pPr indent="0" marL="0">
              <a:buNone/>
            </a:pPr>
            <a:r>
              <a:rPr lang="en-US" sz="1500" b="1" dirty="0">
                <a:solidFill>
                  <a:srgbClr val="3A3F73"/>
                </a:solidFill>
                <a:latin typeface="Meiryo UI" pitchFamily="34" charset="0"/>
                <a:ea typeface="Meiryo UI" pitchFamily="34" charset="-122"/>
                <a:cs typeface="Meiryo UI" pitchFamily="34" charset="-120"/>
              </a:rPr>
              <a:t>プル検証（信頼形成）</a:t>
            </a:r>
            <a:endParaRPr lang="en-US" sz="1500" dirty="0"/>
          </a:p>
        </p:txBody>
      </p:sp>
      <p:sp>
        <p:nvSpPr>
          <p:cNvPr id="27" name="Text 25"/>
          <p:cNvSpPr txBox="1"/>
          <p:nvPr/>
        </p:nvSpPr>
        <p:spPr>
          <a:xfrm>
            <a:off x="5206898" y="2880360"/>
            <a:ext cx="2509418" cy="274320"/>
          </a:xfrm>
          <a:prstGeom prst="rect">
            <a:avLst/>
          </a:prstGeom>
          <a:noFill/>
          <a:ln/>
        </p:spPr>
        <p:txBody>
          <a:bodyPr wrap="square" lIns="0" tIns="0" rIns="0" bIns="0" rtlCol="0" anchor="t"/>
          <a:lstStyle/>
          <a:p>
            <a:pPr indent="0" marL="0">
              <a:buNone/>
            </a:pPr>
            <a:r>
              <a:rPr lang="en-US" sz="1150" b="1" dirty="0">
                <a:solidFill>
                  <a:srgbClr val="A87A1C"/>
                </a:solidFill>
                <a:latin typeface="Meiryo UI" pitchFamily="34" charset="0"/>
                <a:ea typeface="Meiryo UI" pitchFamily="34" charset="-122"/>
                <a:cs typeface="Meiryo UI" pitchFamily="34" charset="-120"/>
              </a:rPr>
              <a:t>デザイン重視型</a:t>
            </a:r>
            <a:endParaRPr lang="en-US" sz="1150" dirty="0"/>
          </a:p>
        </p:txBody>
      </p:sp>
      <p:sp>
        <p:nvSpPr>
          <p:cNvPr id="28" name="Text 26"/>
          <p:cNvSpPr txBox="1"/>
          <p:nvPr/>
        </p:nvSpPr>
        <p:spPr>
          <a:xfrm>
            <a:off x="4566818" y="3319272"/>
            <a:ext cx="1051560" cy="502920"/>
          </a:xfrm>
          <a:prstGeom prst="rect">
            <a:avLst/>
          </a:prstGeom>
          <a:noFill/>
          <a:ln/>
        </p:spPr>
        <p:txBody>
          <a:bodyPr wrap="square" lIns="0" tIns="0" rIns="0" bIns="0" rtlCol="0" anchor="t"/>
          <a:lstStyle/>
          <a:p>
            <a:pPr indent="0" marL="0">
              <a:buNone/>
            </a:pPr>
            <a:r>
              <a:rPr lang="en-US" sz="1050" b="1" dirty="0">
                <a:solidFill>
                  <a:srgbClr val="686A82"/>
                </a:solidFill>
                <a:latin typeface="Meiryo UI" pitchFamily="34" charset="0"/>
                <a:ea typeface="Meiryo UI" pitchFamily="34" charset="-122"/>
                <a:cs typeface="Meiryo UI" pitchFamily="34" charset="-120"/>
              </a:rPr>
              <a:t>ターゲット</a:t>
            </a:r>
            <a:endParaRPr lang="en-US" sz="1050" dirty="0"/>
          </a:p>
        </p:txBody>
      </p:sp>
      <p:sp>
        <p:nvSpPr>
          <p:cNvPr id="29" name="Text 27"/>
          <p:cNvSpPr txBox="1"/>
          <p:nvPr/>
        </p:nvSpPr>
        <p:spPr>
          <a:xfrm>
            <a:off x="5618378" y="3319272"/>
            <a:ext cx="2052218" cy="530352"/>
          </a:xfrm>
          <a:prstGeom prst="rect">
            <a:avLst/>
          </a:prstGeom>
          <a:noFill/>
          <a:ln/>
        </p:spPr>
        <p:txBody>
          <a:bodyPr wrap="square" lIns="0" tIns="0" rIns="0" bIns="0" rtlCol="0" anchor="t"/>
          <a:lstStyle/>
          <a:p>
            <a:pPr indent="0" marL="0">
              <a:buNone/>
            </a:pPr>
            <a:r>
              <a:rPr lang="en-US" sz="1100" dirty="0">
                <a:solidFill>
                  <a:srgbClr val="2A2B38"/>
                </a:solidFill>
                <a:latin typeface="Meiryo UI" pitchFamily="34" charset="0"/>
                <a:ea typeface="Meiryo UI" pitchFamily="34" charset="-122"/>
                <a:cs typeface="Meiryo UI" pitchFamily="34" charset="-120"/>
              </a:rPr>
              <a:t>個人事業主・フリーランス</a:t>
            </a:r>
            <a:endParaRPr lang="en-US" sz="1100" dirty="0"/>
          </a:p>
        </p:txBody>
      </p:sp>
      <p:sp>
        <p:nvSpPr>
          <p:cNvPr id="30" name="Text 28"/>
          <p:cNvSpPr txBox="1"/>
          <p:nvPr/>
        </p:nvSpPr>
        <p:spPr>
          <a:xfrm>
            <a:off x="4566818" y="3895344"/>
            <a:ext cx="1051560" cy="502920"/>
          </a:xfrm>
          <a:prstGeom prst="rect">
            <a:avLst/>
          </a:prstGeom>
          <a:noFill/>
          <a:ln/>
        </p:spPr>
        <p:txBody>
          <a:bodyPr wrap="square" lIns="0" tIns="0" rIns="0" bIns="0" rtlCol="0" anchor="t"/>
          <a:lstStyle/>
          <a:p>
            <a:pPr indent="0" marL="0">
              <a:buNone/>
            </a:pPr>
            <a:r>
              <a:rPr lang="en-US" sz="1050" b="1" dirty="0">
                <a:solidFill>
                  <a:srgbClr val="686A82"/>
                </a:solidFill>
                <a:latin typeface="Meiryo UI" pitchFamily="34" charset="0"/>
                <a:ea typeface="Meiryo UI" pitchFamily="34" charset="-122"/>
                <a:cs typeface="Meiryo UI" pitchFamily="34" charset="-120"/>
              </a:rPr>
              <a:t>テーマ案</a:t>
            </a:r>
            <a:endParaRPr lang="en-US" sz="1050" dirty="0"/>
          </a:p>
        </p:txBody>
      </p:sp>
      <p:sp>
        <p:nvSpPr>
          <p:cNvPr id="31" name="Text 29"/>
          <p:cNvSpPr txBox="1"/>
          <p:nvPr/>
        </p:nvSpPr>
        <p:spPr>
          <a:xfrm>
            <a:off x="5618378" y="3895344"/>
            <a:ext cx="2052218" cy="530352"/>
          </a:xfrm>
          <a:prstGeom prst="rect">
            <a:avLst/>
          </a:prstGeom>
          <a:noFill/>
          <a:ln/>
        </p:spPr>
        <p:txBody>
          <a:bodyPr wrap="square" lIns="0" tIns="0" rIns="0" bIns="0" rtlCol="0" anchor="t"/>
          <a:lstStyle/>
          <a:p>
            <a:pPr indent="0" marL="0">
              <a:buNone/>
            </a:pPr>
            <a:r>
              <a:rPr lang="en-US" sz="1100" dirty="0">
                <a:solidFill>
                  <a:srgbClr val="2A2B38"/>
                </a:solidFill>
                <a:latin typeface="Meiryo UI" pitchFamily="34" charset="0"/>
                <a:ea typeface="Meiryo UI" pitchFamily="34" charset="-122"/>
                <a:cs typeface="Meiryo UI" pitchFamily="34" charset="-120"/>
              </a:rPr>
              <a:t>税金の悩み、ひとりで抱えないで。</a:t>
            </a:r>
            <a:endParaRPr lang="en-US" sz="1100" dirty="0"/>
          </a:p>
        </p:txBody>
      </p:sp>
      <p:sp>
        <p:nvSpPr>
          <p:cNvPr id="32" name="Text 30"/>
          <p:cNvSpPr txBox="1"/>
          <p:nvPr/>
        </p:nvSpPr>
        <p:spPr>
          <a:xfrm>
            <a:off x="4566818" y="4471416"/>
            <a:ext cx="1051560" cy="502920"/>
          </a:xfrm>
          <a:prstGeom prst="rect">
            <a:avLst/>
          </a:prstGeom>
          <a:noFill/>
          <a:ln/>
        </p:spPr>
        <p:txBody>
          <a:bodyPr wrap="square" lIns="0" tIns="0" rIns="0" bIns="0" rtlCol="0" anchor="t"/>
          <a:lstStyle/>
          <a:p>
            <a:pPr indent="0" marL="0">
              <a:buNone/>
            </a:pPr>
            <a:r>
              <a:rPr lang="en-US" sz="1050" b="1" dirty="0">
                <a:solidFill>
                  <a:srgbClr val="686A82"/>
                </a:solidFill>
                <a:latin typeface="Meiryo UI" pitchFamily="34" charset="0"/>
                <a:ea typeface="Meiryo UI" pitchFamily="34" charset="-122"/>
                <a:cs typeface="Meiryo UI" pitchFamily="34" charset="-120"/>
              </a:rPr>
              <a:t>配信先</a:t>
            </a:r>
            <a:endParaRPr lang="en-US" sz="1050" dirty="0"/>
          </a:p>
        </p:txBody>
      </p:sp>
      <p:sp>
        <p:nvSpPr>
          <p:cNvPr id="33" name="Text 31"/>
          <p:cNvSpPr txBox="1"/>
          <p:nvPr/>
        </p:nvSpPr>
        <p:spPr>
          <a:xfrm>
            <a:off x="5618378" y="4471416"/>
            <a:ext cx="2052218" cy="530352"/>
          </a:xfrm>
          <a:prstGeom prst="rect">
            <a:avLst/>
          </a:prstGeom>
          <a:noFill/>
          <a:ln/>
        </p:spPr>
        <p:txBody>
          <a:bodyPr wrap="square" lIns="0" tIns="0" rIns="0" bIns="0" rtlCol="0" anchor="t"/>
          <a:lstStyle/>
          <a:p>
            <a:pPr indent="0" marL="0">
              <a:buNone/>
            </a:pPr>
            <a:r>
              <a:rPr lang="en-US" sz="1100" dirty="0">
                <a:solidFill>
                  <a:srgbClr val="2A2B38"/>
                </a:solidFill>
                <a:latin typeface="Meiryo UI" pitchFamily="34" charset="0"/>
                <a:ea typeface="Meiryo UI" pitchFamily="34" charset="-122"/>
                <a:cs typeface="Meiryo UI" pitchFamily="34" charset="-120"/>
              </a:rPr>
              <a:t>Instagram、HP、Googleビジネスプロフィール</a:t>
            </a:r>
            <a:endParaRPr lang="en-US" sz="1100" dirty="0"/>
          </a:p>
        </p:txBody>
      </p:sp>
      <p:sp>
        <p:nvSpPr>
          <p:cNvPr id="34" name="Text 32"/>
          <p:cNvSpPr txBox="1"/>
          <p:nvPr/>
        </p:nvSpPr>
        <p:spPr>
          <a:xfrm>
            <a:off x="4566818" y="5047488"/>
            <a:ext cx="1051560" cy="502920"/>
          </a:xfrm>
          <a:prstGeom prst="rect">
            <a:avLst/>
          </a:prstGeom>
          <a:noFill/>
          <a:ln/>
        </p:spPr>
        <p:txBody>
          <a:bodyPr wrap="square" lIns="0" tIns="0" rIns="0" bIns="0" rtlCol="0" anchor="t"/>
          <a:lstStyle/>
          <a:p>
            <a:pPr indent="0" marL="0">
              <a:buNone/>
            </a:pPr>
            <a:r>
              <a:rPr lang="en-US" sz="1050" b="1" dirty="0">
                <a:solidFill>
                  <a:srgbClr val="686A82"/>
                </a:solidFill>
                <a:latin typeface="Meiryo UI" pitchFamily="34" charset="0"/>
                <a:ea typeface="Meiryo UI" pitchFamily="34" charset="-122"/>
                <a:cs typeface="Meiryo UI" pitchFamily="34" charset="-120"/>
              </a:rPr>
              <a:t>検証する仮説</a:t>
            </a:r>
            <a:endParaRPr lang="en-US" sz="1050" dirty="0"/>
          </a:p>
        </p:txBody>
      </p:sp>
      <p:sp>
        <p:nvSpPr>
          <p:cNvPr id="35" name="Text 33"/>
          <p:cNvSpPr txBox="1"/>
          <p:nvPr/>
        </p:nvSpPr>
        <p:spPr>
          <a:xfrm>
            <a:off x="5618378" y="5047488"/>
            <a:ext cx="2052218" cy="530352"/>
          </a:xfrm>
          <a:prstGeom prst="rect">
            <a:avLst/>
          </a:prstGeom>
          <a:noFill/>
          <a:ln/>
        </p:spPr>
        <p:txBody>
          <a:bodyPr wrap="square" lIns="0" tIns="0" rIns="0" bIns="0" rtlCol="0" anchor="t"/>
          <a:lstStyle/>
          <a:p>
            <a:pPr indent="0" marL="0">
              <a:buNone/>
            </a:pPr>
            <a:r>
              <a:rPr lang="en-US" sz="1100" b="1" dirty="0">
                <a:solidFill>
                  <a:srgbClr val="2A2B38"/>
                </a:solidFill>
                <a:latin typeface="Meiryo UI" pitchFamily="34" charset="0"/>
                <a:ea typeface="Meiryo UI" pitchFamily="34" charset="-122"/>
                <a:cs typeface="Meiryo UI" pitchFamily="34" charset="-120"/>
              </a:rPr>
              <a:t>親しみのある動画で個人からの問い合わせは発生するか</a:t>
            </a:r>
            <a:endParaRPr lang="en-US" sz="1100" dirty="0"/>
          </a:p>
        </p:txBody>
      </p:sp>
      <p:sp>
        <p:nvSpPr>
          <p:cNvPr id="36" name="Text 34"/>
          <p:cNvSpPr txBox="1"/>
          <p:nvPr/>
        </p:nvSpPr>
        <p:spPr>
          <a:xfrm>
            <a:off x="4566818" y="5623560"/>
            <a:ext cx="1051560" cy="502920"/>
          </a:xfrm>
          <a:prstGeom prst="rect">
            <a:avLst/>
          </a:prstGeom>
          <a:noFill/>
          <a:ln/>
        </p:spPr>
        <p:txBody>
          <a:bodyPr wrap="square" lIns="0" tIns="0" rIns="0" bIns="0" rtlCol="0" anchor="t"/>
          <a:lstStyle/>
          <a:p>
            <a:pPr indent="0" marL="0">
              <a:buNone/>
            </a:pPr>
            <a:r>
              <a:rPr lang="en-US" sz="1050" b="1" dirty="0">
                <a:solidFill>
                  <a:srgbClr val="686A82"/>
                </a:solidFill>
                <a:latin typeface="Meiryo UI" pitchFamily="34" charset="0"/>
                <a:ea typeface="Meiryo UI" pitchFamily="34" charset="-122"/>
                <a:cs typeface="Meiryo UI" pitchFamily="34" charset="-120"/>
              </a:rPr>
              <a:t>主なKPI</a:t>
            </a:r>
            <a:endParaRPr lang="en-US" sz="1050" dirty="0"/>
          </a:p>
        </p:txBody>
      </p:sp>
      <p:sp>
        <p:nvSpPr>
          <p:cNvPr id="37" name="Text 35"/>
          <p:cNvSpPr txBox="1"/>
          <p:nvPr/>
        </p:nvSpPr>
        <p:spPr>
          <a:xfrm>
            <a:off x="5618378" y="5623560"/>
            <a:ext cx="2052218" cy="530352"/>
          </a:xfrm>
          <a:prstGeom prst="rect">
            <a:avLst/>
          </a:prstGeom>
          <a:noFill/>
          <a:ln/>
        </p:spPr>
        <p:txBody>
          <a:bodyPr wrap="square" lIns="0" tIns="0" rIns="0" bIns="0" rtlCol="0" anchor="t"/>
          <a:lstStyle/>
          <a:p>
            <a:pPr indent="0" marL="0">
              <a:buNone/>
            </a:pPr>
            <a:r>
              <a:rPr lang="en-US" sz="1100" dirty="0">
                <a:solidFill>
                  <a:srgbClr val="2A2B38"/>
                </a:solidFill>
                <a:latin typeface="Meiryo UI" pitchFamily="34" charset="0"/>
                <a:ea typeface="Meiryo UI" pitchFamily="34" charset="-122"/>
                <a:cs typeface="Meiryo UI" pitchFamily="34" charset="-120"/>
              </a:rPr>
              <a:t>保存数／HP遷移／問い合わせ数</a:t>
            </a:r>
            <a:endParaRPr lang="en-US" sz="1100" dirty="0"/>
          </a:p>
        </p:txBody>
      </p:sp>
      <p:sp>
        <p:nvSpPr>
          <p:cNvPr id="38" name="Shape 36"/>
          <p:cNvSpPr/>
          <p:nvPr/>
        </p:nvSpPr>
        <p:spPr>
          <a:xfrm>
            <a:off x="8127797" y="2423160"/>
            <a:ext cx="3515258" cy="3840480"/>
          </a:xfrm>
          <a:prstGeom prst="roundRect">
            <a:avLst>
              <a:gd name="adj" fmla="val 3121"/>
            </a:avLst>
          </a:prstGeom>
          <a:solidFill>
            <a:srgbClr val="FFFFFF"/>
          </a:solidFill>
          <a:ln w="12700">
            <a:solidFill>
              <a:srgbClr val="FFFFFF"/>
            </a:solidFill>
            <a:prstDash val="solid"/>
          </a:ln>
          <a:effectLst>
            <a:outerShdw sx="100000" sy="100000" kx="0" ky="0" algn="bl" rotWithShape="0" blurRad="76200" dist="25400" dir="5400000">
              <a:srgbClr val="000000">
                <a:alpha val="12000"/>
              </a:srgbClr>
            </a:outerShdw>
          </a:effectLst>
        </p:spPr>
      </p:sp>
      <p:sp>
        <p:nvSpPr>
          <p:cNvPr id="39" name="Shape 37"/>
          <p:cNvSpPr/>
          <p:nvPr/>
        </p:nvSpPr>
        <p:spPr>
          <a:xfrm>
            <a:off x="8356397" y="2606040"/>
            <a:ext cx="502920" cy="502920"/>
          </a:xfrm>
          <a:prstGeom prst="ellipse">
            <a:avLst/>
          </a:prstGeom>
          <a:solidFill>
            <a:srgbClr val="A87A1C"/>
          </a:solidFill>
          <a:ln w="12700">
            <a:solidFill>
              <a:srgbClr val="A87A1C"/>
            </a:solidFill>
            <a:prstDash val="solid"/>
          </a:ln>
        </p:spPr>
      </p:sp>
      <p:sp>
        <p:nvSpPr>
          <p:cNvPr id="40" name="Text 38"/>
          <p:cNvSpPr txBox="1"/>
          <p:nvPr/>
        </p:nvSpPr>
        <p:spPr>
          <a:xfrm>
            <a:off x="8356397" y="2606040"/>
            <a:ext cx="502920" cy="502920"/>
          </a:xfrm>
          <a:prstGeom prst="rect">
            <a:avLst/>
          </a:prstGeom>
          <a:noFill/>
          <a:ln/>
        </p:spPr>
        <p:txBody>
          <a:bodyPr wrap="square" lIns="0" tIns="0" rIns="0" bIns="0" rtlCol="0" anchor="ctr"/>
          <a:lstStyle/>
          <a:p>
            <a:pPr algn="ctr" indent="0" marL="0">
              <a:buNone/>
            </a:pPr>
            <a:r>
              <a:rPr lang="en-US" sz="1600" b="1" dirty="0">
                <a:solidFill>
                  <a:srgbClr val="FFFFFF"/>
                </a:solidFill>
                <a:latin typeface="Meiryo UI" pitchFamily="34" charset="0"/>
                <a:ea typeface="Meiryo UI" pitchFamily="34" charset="-122"/>
                <a:cs typeface="Meiryo UI" pitchFamily="34" charset="-120"/>
              </a:rPr>
              <a:t>3</a:t>
            </a:r>
            <a:endParaRPr lang="en-US" sz="1600" dirty="0"/>
          </a:p>
        </p:txBody>
      </p:sp>
      <p:sp>
        <p:nvSpPr>
          <p:cNvPr id="41" name="Text 39"/>
          <p:cNvSpPr txBox="1"/>
          <p:nvPr/>
        </p:nvSpPr>
        <p:spPr>
          <a:xfrm>
            <a:off x="8996477" y="2560320"/>
            <a:ext cx="2509418" cy="347472"/>
          </a:xfrm>
          <a:prstGeom prst="rect">
            <a:avLst/>
          </a:prstGeom>
          <a:noFill/>
          <a:ln/>
        </p:spPr>
        <p:txBody>
          <a:bodyPr wrap="square" lIns="0" tIns="0" rIns="0" bIns="0" rtlCol="0" anchor="t"/>
          <a:lstStyle/>
          <a:p>
            <a:pPr indent="0" marL="0">
              <a:buNone/>
            </a:pPr>
            <a:r>
              <a:rPr lang="en-US" sz="1500" b="1" dirty="0">
                <a:solidFill>
                  <a:srgbClr val="3A3F73"/>
                </a:solidFill>
                <a:latin typeface="Meiryo UI" pitchFamily="34" charset="0"/>
                <a:ea typeface="Meiryo UI" pitchFamily="34" charset="-122"/>
                <a:cs typeface="Meiryo UI" pitchFamily="34" charset="-120"/>
              </a:rPr>
              <a:t>プル検証（認知拡大）</a:t>
            </a:r>
            <a:endParaRPr lang="en-US" sz="1500" dirty="0"/>
          </a:p>
        </p:txBody>
      </p:sp>
      <p:sp>
        <p:nvSpPr>
          <p:cNvPr id="42" name="Text 40"/>
          <p:cNvSpPr txBox="1"/>
          <p:nvPr/>
        </p:nvSpPr>
        <p:spPr>
          <a:xfrm>
            <a:off x="8996477" y="2880360"/>
            <a:ext cx="2509418" cy="274320"/>
          </a:xfrm>
          <a:prstGeom prst="rect">
            <a:avLst/>
          </a:prstGeom>
          <a:noFill/>
          <a:ln/>
        </p:spPr>
        <p:txBody>
          <a:bodyPr wrap="square" lIns="0" tIns="0" rIns="0" bIns="0" rtlCol="0" anchor="t"/>
          <a:lstStyle/>
          <a:p>
            <a:pPr indent="0" marL="0">
              <a:buNone/>
            </a:pPr>
            <a:r>
              <a:rPr lang="en-US" sz="1150" b="1" dirty="0">
                <a:solidFill>
                  <a:srgbClr val="A87A1C"/>
                </a:solidFill>
                <a:latin typeface="Meiryo UI" pitchFamily="34" charset="0"/>
                <a:ea typeface="Meiryo UI" pitchFamily="34" charset="-122"/>
                <a:cs typeface="Meiryo UI" pitchFamily="34" charset="-120"/>
              </a:rPr>
              <a:t>縦型ショート型</a:t>
            </a:r>
            <a:endParaRPr lang="en-US" sz="1150" dirty="0"/>
          </a:p>
        </p:txBody>
      </p:sp>
      <p:sp>
        <p:nvSpPr>
          <p:cNvPr id="43" name="Text 41"/>
          <p:cNvSpPr txBox="1"/>
          <p:nvPr/>
        </p:nvSpPr>
        <p:spPr>
          <a:xfrm>
            <a:off x="8356397" y="3319272"/>
            <a:ext cx="1051560" cy="502920"/>
          </a:xfrm>
          <a:prstGeom prst="rect">
            <a:avLst/>
          </a:prstGeom>
          <a:noFill/>
          <a:ln/>
        </p:spPr>
        <p:txBody>
          <a:bodyPr wrap="square" lIns="0" tIns="0" rIns="0" bIns="0" rtlCol="0" anchor="t"/>
          <a:lstStyle/>
          <a:p>
            <a:pPr indent="0" marL="0">
              <a:buNone/>
            </a:pPr>
            <a:r>
              <a:rPr lang="en-US" sz="1050" b="1" dirty="0">
                <a:solidFill>
                  <a:srgbClr val="686A82"/>
                </a:solidFill>
                <a:latin typeface="Meiryo UI" pitchFamily="34" charset="0"/>
                <a:ea typeface="Meiryo UI" pitchFamily="34" charset="-122"/>
                <a:cs typeface="Meiryo UI" pitchFamily="34" charset="-120"/>
              </a:rPr>
              <a:t>ターゲット</a:t>
            </a:r>
            <a:endParaRPr lang="en-US" sz="1050" dirty="0"/>
          </a:p>
        </p:txBody>
      </p:sp>
      <p:sp>
        <p:nvSpPr>
          <p:cNvPr id="44" name="Text 42"/>
          <p:cNvSpPr txBox="1"/>
          <p:nvPr/>
        </p:nvSpPr>
        <p:spPr>
          <a:xfrm>
            <a:off x="9407957" y="3319272"/>
            <a:ext cx="2052218" cy="530352"/>
          </a:xfrm>
          <a:prstGeom prst="rect">
            <a:avLst/>
          </a:prstGeom>
          <a:noFill/>
          <a:ln/>
        </p:spPr>
        <p:txBody>
          <a:bodyPr wrap="square" lIns="0" tIns="0" rIns="0" bIns="0" rtlCol="0" anchor="t"/>
          <a:lstStyle/>
          <a:p>
            <a:pPr indent="0" marL="0">
              <a:buNone/>
            </a:pPr>
            <a:r>
              <a:rPr lang="en-US" sz="1100" dirty="0">
                <a:solidFill>
                  <a:srgbClr val="2A2B38"/>
                </a:solidFill>
                <a:latin typeface="Meiryo UI" pitchFamily="34" charset="0"/>
                <a:ea typeface="Meiryo UI" pitchFamily="34" charset="-122"/>
                <a:cs typeface="Meiryo UI" pitchFamily="34" charset="-120"/>
              </a:rPr>
              <a:t>まだ税理士に相談したことのない個人</a:t>
            </a:r>
            <a:endParaRPr lang="en-US" sz="1100" dirty="0"/>
          </a:p>
        </p:txBody>
      </p:sp>
      <p:sp>
        <p:nvSpPr>
          <p:cNvPr id="45" name="Text 43"/>
          <p:cNvSpPr txBox="1"/>
          <p:nvPr/>
        </p:nvSpPr>
        <p:spPr>
          <a:xfrm>
            <a:off x="8356397" y="3895344"/>
            <a:ext cx="1051560" cy="502920"/>
          </a:xfrm>
          <a:prstGeom prst="rect">
            <a:avLst/>
          </a:prstGeom>
          <a:noFill/>
          <a:ln/>
        </p:spPr>
        <p:txBody>
          <a:bodyPr wrap="square" lIns="0" tIns="0" rIns="0" bIns="0" rtlCol="0" anchor="t"/>
          <a:lstStyle/>
          <a:p>
            <a:pPr indent="0" marL="0">
              <a:buNone/>
            </a:pPr>
            <a:r>
              <a:rPr lang="en-US" sz="1050" b="1" dirty="0">
                <a:solidFill>
                  <a:srgbClr val="686A82"/>
                </a:solidFill>
                <a:latin typeface="Meiryo UI" pitchFamily="34" charset="0"/>
                <a:ea typeface="Meiryo UI" pitchFamily="34" charset="-122"/>
                <a:cs typeface="Meiryo UI" pitchFamily="34" charset="-120"/>
              </a:rPr>
              <a:t>テーマ案</a:t>
            </a:r>
            <a:endParaRPr lang="en-US" sz="1050" dirty="0"/>
          </a:p>
        </p:txBody>
      </p:sp>
      <p:sp>
        <p:nvSpPr>
          <p:cNvPr id="46" name="Text 44"/>
          <p:cNvSpPr txBox="1"/>
          <p:nvPr/>
        </p:nvSpPr>
        <p:spPr>
          <a:xfrm>
            <a:off x="9407957" y="3895344"/>
            <a:ext cx="2052218" cy="530352"/>
          </a:xfrm>
          <a:prstGeom prst="rect">
            <a:avLst/>
          </a:prstGeom>
          <a:noFill/>
          <a:ln/>
        </p:spPr>
        <p:txBody>
          <a:bodyPr wrap="square" lIns="0" tIns="0" rIns="0" bIns="0" rtlCol="0" anchor="t"/>
          <a:lstStyle/>
          <a:p>
            <a:pPr indent="0" marL="0">
              <a:buNone/>
            </a:pPr>
            <a:r>
              <a:rPr lang="en-US" sz="1100" dirty="0">
                <a:solidFill>
                  <a:srgbClr val="2A2B38"/>
                </a:solidFill>
                <a:latin typeface="Meiryo UI" pitchFamily="34" charset="0"/>
                <a:ea typeface="Meiryo UI" pitchFamily="34" charset="-122"/>
                <a:cs typeface="Meiryo UI" pitchFamily="34" charset="-120"/>
              </a:rPr>
              <a:t>確定申告、3月に慌てる人の共通点</a:t>
            </a:r>
            <a:endParaRPr lang="en-US" sz="1100" dirty="0"/>
          </a:p>
        </p:txBody>
      </p:sp>
      <p:sp>
        <p:nvSpPr>
          <p:cNvPr id="47" name="Text 45"/>
          <p:cNvSpPr txBox="1"/>
          <p:nvPr/>
        </p:nvSpPr>
        <p:spPr>
          <a:xfrm>
            <a:off x="8356397" y="4471416"/>
            <a:ext cx="1051560" cy="502920"/>
          </a:xfrm>
          <a:prstGeom prst="rect">
            <a:avLst/>
          </a:prstGeom>
          <a:noFill/>
          <a:ln/>
        </p:spPr>
        <p:txBody>
          <a:bodyPr wrap="square" lIns="0" tIns="0" rIns="0" bIns="0" rtlCol="0" anchor="t"/>
          <a:lstStyle/>
          <a:p>
            <a:pPr indent="0" marL="0">
              <a:buNone/>
            </a:pPr>
            <a:r>
              <a:rPr lang="en-US" sz="1050" b="1" dirty="0">
                <a:solidFill>
                  <a:srgbClr val="686A82"/>
                </a:solidFill>
                <a:latin typeface="Meiryo UI" pitchFamily="34" charset="0"/>
                <a:ea typeface="Meiryo UI" pitchFamily="34" charset="-122"/>
                <a:cs typeface="Meiryo UI" pitchFamily="34" charset="-120"/>
              </a:rPr>
              <a:t>配信先</a:t>
            </a:r>
            <a:endParaRPr lang="en-US" sz="1050" dirty="0"/>
          </a:p>
        </p:txBody>
      </p:sp>
      <p:sp>
        <p:nvSpPr>
          <p:cNvPr id="48" name="Text 46"/>
          <p:cNvSpPr txBox="1"/>
          <p:nvPr/>
        </p:nvSpPr>
        <p:spPr>
          <a:xfrm>
            <a:off x="9407957" y="4471416"/>
            <a:ext cx="2052218" cy="530352"/>
          </a:xfrm>
          <a:prstGeom prst="rect">
            <a:avLst/>
          </a:prstGeom>
          <a:noFill/>
          <a:ln/>
        </p:spPr>
        <p:txBody>
          <a:bodyPr wrap="square" lIns="0" tIns="0" rIns="0" bIns="0" rtlCol="0" anchor="t"/>
          <a:lstStyle/>
          <a:p>
            <a:pPr indent="0" marL="0">
              <a:buNone/>
            </a:pPr>
            <a:r>
              <a:rPr lang="en-US" sz="1100" dirty="0">
                <a:solidFill>
                  <a:srgbClr val="2A2B38"/>
                </a:solidFill>
                <a:latin typeface="Meiryo UI" pitchFamily="34" charset="0"/>
                <a:ea typeface="Meiryo UI" pitchFamily="34" charset="-122"/>
                <a:cs typeface="Meiryo UI" pitchFamily="34" charset="-120"/>
              </a:rPr>
              <a:t>TikTok、YouTubeショート、リール</a:t>
            </a:r>
            <a:endParaRPr lang="en-US" sz="1100" dirty="0"/>
          </a:p>
        </p:txBody>
      </p:sp>
      <p:sp>
        <p:nvSpPr>
          <p:cNvPr id="49" name="Text 47"/>
          <p:cNvSpPr txBox="1"/>
          <p:nvPr/>
        </p:nvSpPr>
        <p:spPr>
          <a:xfrm>
            <a:off x="8356397" y="5047488"/>
            <a:ext cx="1051560" cy="502920"/>
          </a:xfrm>
          <a:prstGeom prst="rect">
            <a:avLst/>
          </a:prstGeom>
          <a:noFill/>
          <a:ln/>
        </p:spPr>
        <p:txBody>
          <a:bodyPr wrap="square" lIns="0" tIns="0" rIns="0" bIns="0" rtlCol="0" anchor="t"/>
          <a:lstStyle/>
          <a:p>
            <a:pPr indent="0" marL="0">
              <a:buNone/>
            </a:pPr>
            <a:r>
              <a:rPr lang="en-US" sz="1050" b="1" dirty="0">
                <a:solidFill>
                  <a:srgbClr val="686A82"/>
                </a:solidFill>
                <a:latin typeface="Meiryo UI" pitchFamily="34" charset="0"/>
                <a:ea typeface="Meiryo UI" pitchFamily="34" charset="-122"/>
                <a:cs typeface="Meiryo UI" pitchFamily="34" charset="-120"/>
              </a:rPr>
              <a:t>検証する仮説</a:t>
            </a:r>
            <a:endParaRPr lang="en-US" sz="1050" dirty="0"/>
          </a:p>
        </p:txBody>
      </p:sp>
      <p:sp>
        <p:nvSpPr>
          <p:cNvPr id="50" name="Text 48"/>
          <p:cNvSpPr txBox="1"/>
          <p:nvPr/>
        </p:nvSpPr>
        <p:spPr>
          <a:xfrm>
            <a:off x="9407957" y="5047488"/>
            <a:ext cx="2052218" cy="530352"/>
          </a:xfrm>
          <a:prstGeom prst="rect">
            <a:avLst/>
          </a:prstGeom>
          <a:noFill/>
          <a:ln/>
        </p:spPr>
        <p:txBody>
          <a:bodyPr wrap="square" lIns="0" tIns="0" rIns="0" bIns="0" rtlCol="0" anchor="t"/>
          <a:lstStyle/>
          <a:p>
            <a:pPr indent="0" marL="0">
              <a:buNone/>
            </a:pPr>
            <a:r>
              <a:rPr lang="en-US" sz="1100" b="1" dirty="0">
                <a:solidFill>
                  <a:srgbClr val="2A2B38"/>
                </a:solidFill>
                <a:latin typeface="Meiryo UI" pitchFamily="34" charset="0"/>
                <a:ea typeface="Meiryo UI" pitchFamily="34" charset="-122"/>
                <a:cs typeface="Meiryo UI" pitchFamily="34" charset="-120"/>
              </a:rPr>
              <a:t>どの税務テーマが個人に響くか</a:t>
            </a:r>
            <a:endParaRPr lang="en-US" sz="1100" dirty="0"/>
          </a:p>
        </p:txBody>
      </p:sp>
      <p:sp>
        <p:nvSpPr>
          <p:cNvPr id="51" name="Text 49"/>
          <p:cNvSpPr txBox="1"/>
          <p:nvPr/>
        </p:nvSpPr>
        <p:spPr>
          <a:xfrm>
            <a:off x="8356397" y="5623560"/>
            <a:ext cx="1051560" cy="502920"/>
          </a:xfrm>
          <a:prstGeom prst="rect">
            <a:avLst/>
          </a:prstGeom>
          <a:noFill/>
          <a:ln/>
        </p:spPr>
        <p:txBody>
          <a:bodyPr wrap="square" lIns="0" tIns="0" rIns="0" bIns="0" rtlCol="0" anchor="t"/>
          <a:lstStyle/>
          <a:p>
            <a:pPr indent="0" marL="0">
              <a:buNone/>
            </a:pPr>
            <a:r>
              <a:rPr lang="en-US" sz="1050" b="1" dirty="0">
                <a:solidFill>
                  <a:srgbClr val="686A82"/>
                </a:solidFill>
                <a:latin typeface="Meiryo UI" pitchFamily="34" charset="0"/>
                <a:ea typeface="Meiryo UI" pitchFamily="34" charset="-122"/>
                <a:cs typeface="Meiryo UI" pitchFamily="34" charset="-120"/>
              </a:rPr>
              <a:t>主なKPI</a:t>
            </a:r>
            <a:endParaRPr lang="en-US" sz="1050" dirty="0"/>
          </a:p>
        </p:txBody>
      </p:sp>
      <p:sp>
        <p:nvSpPr>
          <p:cNvPr id="52" name="Text 50"/>
          <p:cNvSpPr txBox="1"/>
          <p:nvPr/>
        </p:nvSpPr>
        <p:spPr>
          <a:xfrm>
            <a:off x="9407957" y="5623560"/>
            <a:ext cx="2052218" cy="530352"/>
          </a:xfrm>
          <a:prstGeom prst="rect">
            <a:avLst/>
          </a:prstGeom>
          <a:noFill/>
          <a:ln/>
        </p:spPr>
        <p:txBody>
          <a:bodyPr wrap="square" lIns="0" tIns="0" rIns="0" bIns="0" rtlCol="0" anchor="t"/>
          <a:lstStyle/>
          <a:p>
            <a:pPr indent="0" marL="0">
              <a:buNone/>
            </a:pPr>
            <a:r>
              <a:rPr lang="en-US" sz="1100" dirty="0">
                <a:solidFill>
                  <a:srgbClr val="2A2B38"/>
                </a:solidFill>
                <a:latin typeface="Meiryo UI" pitchFamily="34" charset="0"/>
                <a:ea typeface="Meiryo UI" pitchFamily="34" charset="-122"/>
                <a:cs typeface="Meiryo UI" pitchFamily="34" charset="-120"/>
              </a:rPr>
              <a:t>再生数／視聴維持率／プロフィール遷移数</a:t>
            </a:r>
            <a:endParaRPr lang="en-US" sz="1100" dirty="0"/>
          </a:p>
        </p:txBody>
      </p:sp>
    </p:spTree>
  </p:cSld>
  <p:clrMapOvr>
    <a:masterClrMapping/>
  </p:clrMapOvr>
</p:sld>
</file>

<file path=ppt/slides/slide18.xml><?xml version="1.0" encoding="utf-8"?>
<p:sld xmlns:a="http://schemas.openxmlformats.org/drawingml/2006/main" xmlns:r="http://schemas.openxmlformats.org/officeDocument/2006/relationships" xmlns:p="http://schemas.openxmlformats.org/presentationml/2006/main">
  <p:cSld name="Slide 18">
    <p:bg>
      <p:bgPr>
        <a:solidFill>
          <a:srgbClr val="FFFFFF"/>
        </a:solidFill>
      </p:bgPr>
    </p:bg>
    <p:spTree>
      <p:nvGrpSpPr>
        <p:cNvPr id="1" name=""/>
        <p:cNvGrpSpPr/>
        <p:nvPr/>
      </p:nvGrpSpPr>
      <p:grpSpPr>
        <a:xfrm>
          <a:off x="0" y="0"/>
          <a:ext cx="0" cy="0"/>
          <a:chOff x="0" y="0"/>
          <a:chExt cx="0" cy="0"/>
        </a:xfrm>
      </p:grpSpPr>
      <p:sp>
        <p:nvSpPr>
          <p:cNvPr id="2" name="Text 0"/>
          <p:cNvSpPr txBox="1"/>
          <p:nvPr/>
        </p:nvSpPr>
        <p:spPr>
          <a:xfrm>
            <a:off x="548640" y="347472"/>
            <a:ext cx="7315200" cy="274320"/>
          </a:xfrm>
          <a:prstGeom prst="rect">
            <a:avLst/>
          </a:prstGeom>
          <a:noFill/>
          <a:ln/>
        </p:spPr>
        <p:txBody>
          <a:bodyPr wrap="square" lIns="0" tIns="0" rIns="0" bIns="0" rtlCol="0" anchor="t"/>
          <a:lstStyle/>
          <a:p>
            <a:pPr indent="0" marL="0">
              <a:buNone/>
            </a:pPr>
            <a:r>
              <a:rPr lang="en-US" sz="1100" b="1" spc="200" kern="0" dirty="0">
                <a:solidFill>
                  <a:srgbClr val="A87A1C"/>
                </a:solidFill>
                <a:latin typeface="Meiryo UI" pitchFamily="34" charset="0"/>
                <a:ea typeface="Meiryo UI" pitchFamily="34" charset="-122"/>
                <a:cs typeface="Meiryo UI" pitchFamily="34" charset="-120"/>
              </a:rPr>
              <a:t>05｜PHASE 1</a:t>
            </a:r>
            <a:endParaRPr lang="en-US" sz="1100" dirty="0"/>
          </a:p>
        </p:txBody>
      </p:sp>
      <p:sp>
        <p:nvSpPr>
          <p:cNvPr id="3" name="Text 1"/>
          <p:cNvSpPr txBox="1"/>
          <p:nvPr/>
        </p:nvSpPr>
        <p:spPr>
          <a:xfrm>
            <a:off x="548640" y="621792"/>
            <a:ext cx="11094415" cy="566928"/>
          </a:xfrm>
          <a:prstGeom prst="rect">
            <a:avLst/>
          </a:prstGeom>
          <a:noFill/>
          <a:ln/>
        </p:spPr>
        <p:txBody>
          <a:bodyPr wrap="square" lIns="0" tIns="0" rIns="0" bIns="0" rtlCol="0" anchor="ctr"/>
          <a:lstStyle/>
          <a:p>
            <a:pPr indent="0" marL="0">
              <a:buNone/>
            </a:pPr>
            <a:r>
              <a:rPr lang="en-US" sz="2600" b="1" dirty="0">
                <a:solidFill>
                  <a:srgbClr val="3A3F73"/>
                </a:solidFill>
                <a:latin typeface="Meiryo UI" pitchFamily="34" charset="0"/>
                <a:ea typeface="Meiryo UI" pitchFamily="34" charset="-122"/>
                <a:cs typeface="Meiryo UI" pitchFamily="34" charset="-120"/>
              </a:rPr>
              <a:t>フェーズ1の進め方（約6週間）と、3本だけで終える限界</a:t>
            </a:r>
            <a:endParaRPr lang="en-US" sz="2600" dirty="0"/>
          </a:p>
        </p:txBody>
      </p:sp>
      <p:sp>
        <p:nvSpPr>
          <p:cNvPr id="4" name="Text 2"/>
          <p:cNvSpPr txBox="1"/>
          <p:nvPr/>
        </p:nvSpPr>
        <p:spPr>
          <a:xfrm>
            <a:off x="11094415" y="6419088"/>
            <a:ext cx="548640" cy="256032"/>
          </a:xfrm>
          <a:prstGeom prst="rect">
            <a:avLst/>
          </a:prstGeom>
          <a:noFill/>
          <a:ln/>
        </p:spPr>
        <p:txBody>
          <a:bodyPr wrap="square" lIns="0" tIns="0" rIns="0" bIns="0" rtlCol="0" anchor="t"/>
          <a:lstStyle/>
          <a:p>
            <a:pPr algn="r" indent="0" marL="0">
              <a:buNone/>
            </a:pPr>
            <a:r>
              <a:rPr lang="en-US" sz="1000" dirty="0">
                <a:solidFill>
                  <a:srgbClr val="7C7E90"/>
                </a:solidFill>
                <a:latin typeface="Meiryo UI" pitchFamily="34" charset="0"/>
                <a:ea typeface="Meiryo UI" pitchFamily="34" charset="-122"/>
                <a:cs typeface="Meiryo UI" pitchFamily="34" charset="-120"/>
              </a:rPr>
              <a:t>18</a:t>
            </a:r>
            <a:endParaRPr lang="en-US" sz="1000" dirty="0"/>
          </a:p>
        </p:txBody>
      </p:sp>
      <p:sp>
        <p:nvSpPr>
          <p:cNvPr id="5" name="Text 3"/>
          <p:cNvSpPr txBox="1"/>
          <p:nvPr/>
        </p:nvSpPr>
        <p:spPr>
          <a:xfrm>
            <a:off x="548640" y="6419088"/>
            <a:ext cx="4572000" cy="256032"/>
          </a:xfrm>
          <a:prstGeom prst="rect">
            <a:avLst/>
          </a:prstGeom>
          <a:noFill/>
          <a:ln/>
        </p:spPr>
        <p:txBody>
          <a:bodyPr wrap="square" lIns="0" tIns="0" rIns="0" bIns="0" rtlCol="0" anchor="t"/>
          <a:lstStyle/>
          <a:p>
            <a:pPr indent="0" marL="0">
              <a:buNone/>
            </a:pPr>
            <a:r>
              <a:rPr lang="en-US" sz="900" dirty="0">
                <a:solidFill>
                  <a:srgbClr val="7C7E90"/>
                </a:solidFill>
                <a:latin typeface="Meiryo UI" pitchFamily="34" charset="0"/>
                <a:ea typeface="Meiryo UI" pitchFamily="34" charset="-122"/>
                <a:cs typeface="Meiryo UI" pitchFamily="34" charset="-120"/>
              </a:rPr>
              <a:t>株式会社アイドマ・ホールディングス｜MiTok</a:t>
            </a:r>
            <a:endParaRPr lang="en-US" sz="900" dirty="0"/>
          </a:p>
        </p:txBody>
      </p:sp>
      <p:sp>
        <p:nvSpPr>
          <p:cNvPr id="6" name="Text 4"/>
          <p:cNvSpPr txBox="1"/>
          <p:nvPr/>
        </p:nvSpPr>
        <p:spPr>
          <a:xfrm>
            <a:off x="548640" y="1371600"/>
            <a:ext cx="2743200" cy="320040"/>
          </a:xfrm>
          <a:prstGeom prst="rect">
            <a:avLst/>
          </a:prstGeom>
          <a:noFill/>
          <a:ln/>
        </p:spPr>
        <p:txBody>
          <a:bodyPr wrap="square" lIns="0" tIns="0" rIns="0" bIns="0" rtlCol="0" anchor="t"/>
          <a:lstStyle/>
          <a:p>
            <a:pPr indent="0" marL="0">
              <a:buNone/>
            </a:pPr>
            <a:r>
              <a:rPr lang="en-US" sz="1400" b="1" dirty="0">
                <a:solidFill>
                  <a:srgbClr val="A87A1C"/>
                </a:solidFill>
                <a:latin typeface="Meiryo UI" pitchFamily="34" charset="0"/>
                <a:ea typeface="Meiryo UI" pitchFamily="34" charset="-122"/>
                <a:cs typeface="Meiryo UI" pitchFamily="34" charset="-120"/>
              </a:rPr>
              <a:t>スケジュール</a:t>
            </a:r>
            <a:endParaRPr lang="en-US" sz="1400" dirty="0"/>
          </a:p>
        </p:txBody>
      </p:sp>
      <p:sp>
        <p:nvSpPr>
          <p:cNvPr id="7" name="Shape 5"/>
          <p:cNvSpPr/>
          <p:nvPr/>
        </p:nvSpPr>
        <p:spPr>
          <a:xfrm>
            <a:off x="548640" y="1783080"/>
            <a:ext cx="1280160" cy="932688"/>
          </a:xfrm>
          <a:prstGeom prst="roundRect">
            <a:avLst>
              <a:gd name="adj" fmla="val 11765"/>
            </a:avLst>
          </a:prstGeom>
          <a:solidFill>
            <a:srgbClr val="3A3F73"/>
          </a:solidFill>
          <a:ln w="12700">
            <a:solidFill>
              <a:srgbClr val="3A3F73"/>
            </a:solidFill>
            <a:prstDash val="solid"/>
          </a:ln>
        </p:spPr>
      </p:sp>
      <p:sp>
        <p:nvSpPr>
          <p:cNvPr id="8" name="Text 6"/>
          <p:cNvSpPr txBox="1"/>
          <p:nvPr/>
        </p:nvSpPr>
        <p:spPr>
          <a:xfrm>
            <a:off x="548640" y="1874520"/>
            <a:ext cx="1280160" cy="365760"/>
          </a:xfrm>
          <a:prstGeom prst="rect">
            <a:avLst/>
          </a:prstGeom>
          <a:noFill/>
          <a:ln/>
        </p:spPr>
        <p:txBody>
          <a:bodyPr wrap="square" lIns="0" tIns="0" rIns="0" bIns="0" rtlCol="0" anchor="ctr"/>
          <a:lstStyle/>
          <a:p>
            <a:pPr algn="ctr" indent="0" marL="0">
              <a:buNone/>
            </a:pPr>
            <a:r>
              <a:rPr lang="en-US" sz="1400" b="1" dirty="0">
                <a:solidFill>
                  <a:srgbClr val="FFFFFF"/>
                </a:solidFill>
                <a:latin typeface="Meiryo UI" pitchFamily="34" charset="0"/>
                <a:ea typeface="Meiryo UI" pitchFamily="34" charset="-122"/>
                <a:cs typeface="Meiryo UI" pitchFamily="34" charset="-120"/>
              </a:rPr>
              <a:t>1週目</a:t>
            </a:r>
            <a:endParaRPr lang="en-US" sz="1400" dirty="0"/>
          </a:p>
        </p:txBody>
      </p:sp>
      <p:sp>
        <p:nvSpPr>
          <p:cNvPr id="9" name="Text 7"/>
          <p:cNvSpPr txBox="1"/>
          <p:nvPr/>
        </p:nvSpPr>
        <p:spPr>
          <a:xfrm>
            <a:off x="548640" y="2240280"/>
            <a:ext cx="1280160" cy="365760"/>
          </a:xfrm>
          <a:prstGeom prst="rect">
            <a:avLst/>
          </a:prstGeom>
          <a:noFill/>
          <a:ln/>
        </p:spPr>
        <p:txBody>
          <a:bodyPr wrap="square" lIns="0" tIns="0" rIns="0" bIns="0" rtlCol="0" anchor="ctr"/>
          <a:lstStyle/>
          <a:p>
            <a:pPr algn="ctr" indent="0" marL="0">
              <a:buNone/>
            </a:pPr>
            <a:r>
              <a:rPr lang="en-US" sz="1100" dirty="0">
                <a:solidFill>
                  <a:srgbClr val="FFFFFF"/>
                </a:solidFill>
                <a:latin typeface="Meiryo UI" pitchFamily="34" charset="0"/>
                <a:ea typeface="Meiryo UI" pitchFamily="34" charset="-122"/>
                <a:cs typeface="Meiryo UI" pitchFamily="34" charset="-120"/>
              </a:rPr>
              <a:t>キックオフ</a:t>
            </a:r>
            <a:endParaRPr lang="en-US" sz="1100" dirty="0"/>
          </a:p>
        </p:txBody>
      </p:sp>
      <p:sp>
        <p:nvSpPr>
          <p:cNvPr id="10" name="Shape 8"/>
          <p:cNvSpPr/>
          <p:nvPr/>
        </p:nvSpPr>
        <p:spPr>
          <a:xfrm>
            <a:off x="1965960" y="1783080"/>
            <a:ext cx="5257800" cy="932688"/>
          </a:xfrm>
          <a:prstGeom prst="roundRect">
            <a:avLst>
              <a:gd name="adj" fmla="val 11765"/>
            </a:avLst>
          </a:prstGeom>
          <a:solidFill>
            <a:srgbClr val="F6F7FB"/>
          </a:solidFill>
          <a:ln w="12700">
            <a:solidFill>
              <a:srgbClr val="F6F7FB"/>
            </a:solidFill>
            <a:prstDash val="solid"/>
          </a:ln>
        </p:spPr>
      </p:sp>
      <p:sp>
        <p:nvSpPr>
          <p:cNvPr id="11" name="Text 9"/>
          <p:cNvSpPr txBox="1"/>
          <p:nvPr/>
        </p:nvSpPr>
        <p:spPr>
          <a:xfrm>
            <a:off x="2148840" y="1874520"/>
            <a:ext cx="4892040" cy="411480"/>
          </a:xfrm>
          <a:prstGeom prst="rect">
            <a:avLst/>
          </a:prstGeom>
          <a:noFill/>
          <a:ln/>
        </p:spPr>
        <p:txBody>
          <a:bodyPr wrap="square" lIns="0" tIns="0" rIns="0" bIns="0" rtlCol="0" anchor="ctr"/>
          <a:lstStyle/>
          <a:p>
            <a:pPr indent="0" marL="0">
              <a:buNone/>
            </a:pPr>
            <a:r>
              <a:rPr lang="en-US" sz="1250" b="1" dirty="0">
                <a:solidFill>
                  <a:srgbClr val="262A52"/>
                </a:solidFill>
                <a:latin typeface="Meiryo UI" pitchFamily="34" charset="0"/>
                <a:ea typeface="Meiryo UI" pitchFamily="34" charset="-122"/>
                <a:cs typeface="Meiryo UI" pitchFamily="34" charset="-120"/>
              </a:rPr>
              <a:t>現状数値の確認／KPI設定／台本作成</a:t>
            </a:r>
            <a:endParaRPr lang="en-US" sz="1250" dirty="0"/>
          </a:p>
        </p:txBody>
      </p:sp>
      <p:sp>
        <p:nvSpPr>
          <p:cNvPr id="12" name="Text 10"/>
          <p:cNvSpPr txBox="1"/>
          <p:nvPr/>
        </p:nvSpPr>
        <p:spPr>
          <a:xfrm>
            <a:off x="2148840" y="2286000"/>
            <a:ext cx="4892040" cy="347472"/>
          </a:xfrm>
          <a:prstGeom prst="rect">
            <a:avLst/>
          </a:prstGeom>
          <a:noFill/>
          <a:ln/>
        </p:spPr>
        <p:txBody>
          <a:bodyPr wrap="square" lIns="0" tIns="0" rIns="0" bIns="0" rtlCol="0" anchor="ctr"/>
          <a:lstStyle/>
          <a:p>
            <a:pPr indent="0" marL="0">
              <a:buNone/>
            </a:pPr>
            <a:r>
              <a:rPr lang="en-US" sz="1100" dirty="0">
                <a:solidFill>
                  <a:srgbClr val="686A82"/>
                </a:solidFill>
                <a:latin typeface="Meiryo UI" pitchFamily="34" charset="0"/>
                <a:ea typeface="Meiryo UI" pitchFamily="34" charset="-122"/>
                <a:cs typeface="Meiryo UI" pitchFamily="34" charset="-120"/>
              </a:rPr>
              <a:t>貴事務所：動画に盛り込む要素の資料、現状数値のご共有</a:t>
            </a:r>
            <a:endParaRPr lang="en-US" sz="1100" dirty="0"/>
          </a:p>
        </p:txBody>
      </p:sp>
      <p:sp>
        <p:nvSpPr>
          <p:cNvPr id="13" name="Shape 11"/>
          <p:cNvSpPr/>
          <p:nvPr/>
        </p:nvSpPr>
        <p:spPr>
          <a:xfrm>
            <a:off x="548640" y="2898648"/>
            <a:ext cx="1280160" cy="932688"/>
          </a:xfrm>
          <a:prstGeom prst="roundRect">
            <a:avLst>
              <a:gd name="adj" fmla="val 11765"/>
            </a:avLst>
          </a:prstGeom>
          <a:solidFill>
            <a:srgbClr val="3A3F73"/>
          </a:solidFill>
          <a:ln w="12700">
            <a:solidFill>
              <a:srgbClr val="3A3F73"/>
            </a:solidFill>
            <a:prstDash val="solid"/>
          </a:ln>
        </p:spPr>
      </p:sp>
      <p:sp>
        <p:nvSpPr>
          <p:cNvPr id="14" name="Text 12"/>
          <p:cNvSpPr txBox="1"/>
          <p:nvPr/>
        </p:nvSpPr>
        <p:spPr>
          <a:xfrm>
            <a:off x="548640" y="2990088"/>
            <a:ext cx="1280160" cy="365760"/>
          </a:xfrm>
          <a:prstGeom prst="rect">
            <a:avLst/>
          </a:prstGeom>
          <a:noFill/>
          <a:ln/>
        </p:spPr>
        <p:txBody>
          <a:bodyPr wrap="square" lIns="0" tIns="0" rIns="0" bIns="0" rtlCol="0" anchor="ctr"/>
          <a:lstStyle/>
          <a:p>
            <a:pPr algn="ctr" indent="0" marL="0">
              <a:buNone/>
            </a:pPr>
            <a:r>
              <a:rPr lang="en-US" sz="1400" b="1" dirty="0">
                <a:solidFill>
                  <a:srgbClr val="FFFFFF"/>
                </a:solidFill>
                <a:latin typeface="Meiryo UI" pitchFamily="34" charset="0"/>
                <a:ea typeface="Meiryo UI" pitchFamily="34" charset="-122"/>
                <a:cs typeface="Meiryo UI" pitchFamily="34" charset="-120"/>
              </a:rPr>
              <a:t>2週目</a:t>
            </a:r>
            <a:endParaRPr lang="en-US" sz="1400" dirty="0"/>
          </a:p>
        </p:txBody>
      </p:sp>
      <p:sp>
        <p:nvSpPr>
          <p:cNvPr id="15" name="Text 13"/>
          <p:cNvSpPr txBox="1"/>
          <p:nvPr/>
        </p:nvSpPr>
        <p:spPr>
          <a:xfrm>
            <a:off x="548640" y="3355848"/>
            <a:ext cx="1280160" cy="365760"/>
          </a:xfrm>
          <a:prstGeom prst="rect">
            <a:avLst/>
          </a:prstGeom>
          <a:noFill/>
          <a:ln/>
        </p:spPr>
        <p:txBody>
          <a:bodyPr wrap="square" lIns="0" tIns="0" rIns="0" bIns="0" rtlCol="0" anchor="ctr"/>
          <a:lstStyle/>
          <a:p>
            <a:pPr algn="ctr" indent="0" marL="0">
              <a:buNone/>
            </a:pPr>
            <a:r>
              <a:rPr lang="en-US" sz="1100" dirty="0">
                <a:solidFill>
                  <a:srgbClr val="FFFFFF"/>
                </a:solidFill>
                <a:latin typeface="Meiryo UI" pitchFamily="34" charset="0"/>
                <a:ea typeface="Meiryo UI" pitchFamily="34" charset="-122"/>
                <a:cs typeface="Meiryo UI" pitchFamily="34" charset="-120"/>
              </a:rPr>
              <a:t>制作</a:t>
            </a:r>
            <a:endParaRPr lang="en-US" sz="1100" dirty="0"/>
          </a:p>
        </p:txBody>
      </p:sp>
      <p:sp>
        <p:nvSpPr>
          <p:cNvPr id="16" name="Shape 14"/>
          <p:cNvSpPr/>
          <p:nvPr/>
        </p:nvSpPr>
        <p:spPr>
          <a:xfrm>
            <a:off x="1965960" y="2898648"/>
            <a:ext cx="5257800" cy="932688"/>
          </a:xfrm>
          <a:prstGeom prst="roundRect">
            <a:avLst>
              <a:gd name="adj" fmla="val 11765"/>
            </a:avLst>
          </a:prstGeom>
          <a:solidFill>
            <a:srgbClr val="F6F7FB"/>
          </a:solidFill>
          <a:ln w="12700">
            <a:solidFill>
              <a:srgbClr val="F6F7FB"/>
            </a:solidFill>
            <a:prstDash val="solid"/>
          </a:ln>
        </p:spPr>
      </p:sp>
      <p:sp>
        <p:nvSpPr>
          <p:cNvPr id="17" name="Text 15"/>
          <p:cNvSpPr txBox="1"/>
          <p:nvPr/>
        </p:nvSpPr>
        <p:spPr>
          <a:xfrm>
            <a:off x="2148840" y="2990088"/>
            <a:ext cx="4892040" cy="411480"/>
          </a:xfrm>
          <a:prstGeom prst="rect">
            <a:avLst/>
          </a:prstGeom>
          <a:noFill/>
          <a:ln/>
        </p:spPr>
        <p:txBody>
          <a:bodyPr wrap="square" lIns="0" tIns="0" rIns="0" bIns="0" rtlCol="0" anchor="ctr"/>
          <a:lstStyle/>
          <a:p>
            <a:pPr indent="0" marL="0">
              <a:buNone/>
            </a:pPr>
            <a:r>
              <a:rPr lang="en-US" sz="1250" b="1" dirty="0">
                <a:solidFill>
                  <a:srgbClr val="262A52"/>
                </a:solidFill>
                <a:latin typeface="Meiryo UI" pitchFamily="34" charset="0"/>
                <a:ea typeface="Meiryo UI" pitchFamily="34" charset="-122"/>
                <a:cs typeface="Meiryo UI" pitchFamily="34" charset="-120"/>
              </a:rPr>
              <a:t>3本の制作・初稿確認・修正</a:t>
            </a:r>
            <a:endParaRPr lang="en-US" sz="1250" dirty="0"/>
          </a:p>
        </p:txBody>
      </p:sp>
      <p:sp>
        <p:nvSpPr>
          <p:cNvPr id="18" name="Text 16"/>
          <p:cNvSpPr txBox="1"/>
          <p:nvPr/>
        </p:nvSpPr>
        <p:spPr>
          <a:xfrm>
            <a:off x="2148840" y="3401568"/>
            <a:ext cx="4892040" cy="347472"/>
          </a:xfrm>
          <a:prstGeom prst="rect">
            <a:avLst/>
          </a:prstGeom>
          <a:noFill/>
          <a:ln/>
        </p:spPr>
        <p:txBody>
          <a:bodyPr wrap="square" lIns="0" tIns="0" rIns="0" bIns="0" rtlCol="0" anchor="ctr"/>
          <a:lstStyle/>
          <a:p>
            <a:pPr indent="0" marL="0">
              <a:buNone/>
            </a:pPr>
            <a:r>
              <a:rPr lang="en-US" sz="1100" dirty="0">
                <a:solidFill>
                  <a:srgbClr val="686A82"/>
                </a:solidFill>
                <a:latin typeface="Meiryo UI" pitchFamily="34" charset="0"/>
                <a:ea typeface="Meiryo UI" pitchFamily="34" charset="-122"/>
                <a:cs typeface="Meiryo UI" pitchFamily="34" charset="-120"/>
              </a:rPr>
              <a:t>貴事務所：初稿のご確認（30分程度）</a:t>
            </a:r>
            <a:endParaRPr lang="en-US" sz="1100" dirty="0"/>
          </a:p>
        </p:txBody>
      </p:sp>
      <p:sp>
        <p:nvSpPr>
          <p:cNvPr id="19" name="Shape 17"/>
          <p:cNvSpPr/>
          <p:nvPr/>
        </p:nvSpPr>
        <p:spPr>
          <a:xfrm>
            <a:off x="548640" y="4014216"/>
            <a:ext cx="1280160" cy="932688"/>
          </a:xfrm>
          <a:prstGeom prst="roundRect">
            <a:avLst>
              <a:gd name="adj" fmla="val 11765"/>
            </a:avLst>
          </a:prstGeom>
          <a:solidFill>
            <a:srgbClr val="3A3F73"/>
          </a:solidFill>
          <a:ln w="12700">
            <a:solidFill>
              <a:srgbClr val="3A3F73"/>
            </a:solidFill>
            <a:prstDash val="solid"/>
          </a:ln>
        </p:spPr>
      </p:sp>
      <p:sp>
        <p:nvSpPr>
          <p:cNvPr id="20" name="Text 18"/>
          <p:cNvSpPr txBox="1"/>
          <p:nvPr/>
        </p:nvSpPr>
        <p:spPr>
          <a:xfrm>
            <a:off x="548640" y="4105656"/>
            <a:ext cx="1280160" cy="365760"/>
          </a:xfrm>
          <a:prstGeom prst="rect">
            <a:avLst/>
          </a:prstGeom>
          <a:noFill/>
          <a:ln/>
        </p:spPr>
        <p:txBody>
          <a:bodyPr wrap="square" lIns="0" tIns="0" rIns="0" bIns="0" rtlCol="0" anchor="ctr"/>
          <a:lstStyle/>
          <a:p>
            <a:pPr algn="ctr" indent="0" marL="0">
              <a:buNone/>
            </a:pPr>
            <a:r>
              <a:rPr lang="en-US" sz="1400" b="1" dirty="0">
                <a:solidFill>
                  <a:srgbClr val="FFFFFF"/>
                </a:solidFill>
                <a:latin typeface="Meiryo UI" pitchFamily="34" charset="0"/>
                <a:ea typeface="Meiryo UI" pitchFamily="34" charset="-122"/>
                <a:cs typeface="Meiryo UI" pitchFamily="34" charset="-120"/>
              </a:rPr>
              <a:t>3〜5週目</a:t>
            </a:r>
            <a:endParaRPr lang="en-US" sz="1400" dirty="0"/>
          </a:p>
        </p:txBody>
      </p:sp>
      <p:sp>
        <p:nvSpPr>
          <p:cNvPr id="21" name="Text 19"/>
          <p:cNvSpPr txBox="1"/>
          <p:nvPr/>
        </p:nvSpPr>
        <p:spPr>
          <a:xfrm>
            <a:off x="548640" y="4471416"/>
            <a:ext cx="1280160" cy="365760"/>
          </a:xfrm>
          <a:prstGeom prst="rect">
            <a:avLst/>
          </a:prstGeom>
          <a:noFill/>
          <a:ln/>
        </p:spPr>
        <p:txBody>
          <a:bodyPr wrap="square" lIns="0" tIns="0" rIns="0" bIns="0" rtlCol="0" anchor="ctr"/>
          <a:lstStyle/>
          <a:p>
            <a:pPr algn="ctr" indent="0" marL="0">
              <a:buNone/>
            </a:pPr>
            <a:r>
              <a:rPr lang="en-US" sz="1100" dirty="0">
                <a:solidFill>
                  <a:srgbClr val="FFFFFF"/>
                </a:solidFill>
                <a:latin typeface="Meiryo UI" pitchFamily="34" charset="0"/>
                <a:ea typeface="Meiryo UI" pitchFamily="34" charset="-122"/>
                <a:cs typeface="Meiryo UI" pitchFamily="34" charset="-120"/>
              </a:rPr>
              <a:t>配信・送付</a:t>
            </a:r>
            <a:endParaRPr lang="en-US" sz="1100" dirty="0"/>
          </a:p>
        </p:txBody>
      </p:sp>
      <p:sp>
        <p:nvSpPr>
          <p:cNvPr id="22" name="Shape 20"/>
          <p:cNvSpPr/>
          <p:nvPr/>
        </p:nvSpPr>
        <p:spPr>
          <a:xfrm>
            <a:off x="1965960" y="4014216"/>
            <a:ext cx="5257800" cy="932688"/>
          </a:xfrm>
          <a:prstGeom prst="roundRect">
            <a:avLst>
              <a:gd name="adj" fmla="val 11765"/>
            </a:avLst>
          </a:prstGeom>
          <a:solidFill>
            <a:srgbClr val="F6F7FB"/>
          </a:solidFill>
          <a:ln w="12700">
            <a:solidFill>
              <a:srgbClr val="F6F7FB"/>
            </a:solidFill>
            <a:prstDash val="solid"/>
          </a:ln>
        </p:spPr>
      </p:sp>
      <p:sp>
        <p:nvSpPr>
          <p:cNvPr id="23" name="Text 21"/>
          <p:cNvSpPr txBox="1"/>
          <p:nvPr/>
        </p:nvSpPr>
        <p:spPr>
          <a:xfrm>
            <a:off x="2148840" y="4105656"/>
            <a:ext cx="4892040" cy="411480"/>
          </a:xfrm>
          <a:prstGeom prst="rect">
            <a:avLst/>
          </a:prstGeom>
          <a:noFill/>
          <a:ln/>
        </p:spPr>
        <p:txBody>
          <a:bodyPr wrap="square" lIns="0" tIns="0" rIns="0" bIns="0" rtlCol="0" anchor="ctr"/>
          <a:lstStyle/>
          <a:p>
            <a:pPr indent="0" marL="0">
              <a:buNone/>
            </a:pPr>
            <a:r>
              <a:rPr lang="en-US" sz="1250" b="1" dirty="0">
                <a:solidFill>
                  <a:srgbClr val="262A52"/>
                </a:solidFill>
                <a:latin typeface="Meiryo UI" pitchFamily="34" charset="0"/>
                <a:ea typeface="Meiryo UI" pitchFamily="34" charset="-122"/>
                <a:cs typeface="Meiryo UI" pitchFamily="34" charset="-120"/>
              </a:rPr>
              <a:t>プッシュ：顧問先・紹介者への配信／プル：SNS投稿・HP掲載</a:t>
            </a:r>
            <a:endParaRPr lang="en-US" sz="1250" dirty="0"/>
          </a:p>
        </p:txBody>
      </p:sp>
      <p:sp>
        <p:nvSpPr>
          <p:cNvPr id="24" name="Text 22"/>
          <p:cNvSpPr txBox="1"/>
          <p:nvPr/>
        </p:nvSpPr>
        <p:spPr>
          <a:xfrm>
            <a:off x="2148840" y="4517136"/>
            <a:ext cx="4892040" cy="347472"/>
          </a:xfrm>
          <a:prstGeom prst="rect">
            <a:avLst/>
          </a:prstGeom>
          <a:noFill/>
          <a:ln/>
        </p:spPr>
        <p:txBody>
          <a:bodyPr wrap="square" lIns="0" tIns="0" rIns="0" bIns="0" rtlCol="0" anchor="ctr"/>
          <a:lstStyle/>
          <a:p>
            <a:pPr indent="0" marL="0">
              <a:buNone/>
            </a:pPr>
            <a:r>
              <a:rPr lang="en-US" sz="1100" dirty="0">
                <a:solidFill>
                  <a:srgbClr val="686A82"/>
                </a:solidFill>
                <a:latin typeface="Meiryo UI" pitchFamily="34" charset="0"/>
                <a:ea typeface="Meiryo UI" pitchFamily="34" charset="-122"/>
                <a:cs typeface="Meiryo UI" pitchFamily="34" charset="-120"/>
              </a:rPr>
              <a:t>貴事務所：面談前の送付など、日々の業務での活用</a:t>
            </a:r>
            <a:endParaRPr lang="en-US" sz="1100" dirty="0"/>
          </a:p>
        </p:txBody>
      </p:sp>
      <p:sp>
        <p:nvSpPr>
          <p:cNvPr id="25" name="Shape 23"/>
          <p:cNvSpPr/>
          <p:nvPr/>
        </p:nvSpPr>
        <p:spPr>
          <a:xfrm>
            <a:off x="548640" y="5129784"/>
            <a:ext cx="1280160" cy="932688"/>
          </a:xfrm>
          <a:prstGeom prst="roundRect">
            <a:avLst>
              <a:gd name="adj" fmla="val 11765"/>
            </a:avLst>
          </a:prstGeom>
          <a:solidFill>
            <a:srgbClr val="A87A1C"/>
          </a:solidFill>
          <a:ln w="12700">
            <a:solidFill>
              <a:srgbClr val="A87A1C"/>
            </a:solidFill>
            <a:prstDash val="solid"/>
          </a:ln>
        </p:spPr>
      </p:sp>
      <p:sp>
        <p:nvSpPr>
          <p:cNvPr id="26" name="Text 24"/>
          <p:cNvSpPr txBox="1"/>
          <p:nvPr/>
        </p:nvSpPr>
        <p:spPr>
          <a:xfrm>
            <a:off x="548640" y="5221224"/>
            <a:ext cx="1280160" cy="365760"/>
          </a:xfrm>
          <a:prstGeom prst="rect">
            <a:avLst/>
          </a:prstGeom>
          <a:noFill/>
          <a:ln/>
        </p:spPr>
        <p:txBody>
          <a:bodyPr wrap="square" lIns="0" tIns="0" rIns="0" bIns="0" rtlCol="0" anchor="ctr"/>
          <a:lstStyle/>
          <a:p>
            <a:pPr algn="ctr" indent="0" marL="0">
              <a:buNone/>
            </a:pPr>
            <a:r>
              <a:rPr lang="en-US" sz="1400" b="1" dirty="0">
                <a:solidFill>
                  <a:srgbClr val="FFFFFF"/>
                </a:solidFill>
                <a:latin typeface="Meiryo UI" pitchFamily="34" charset="0"/>
                <a:ea typeface="Meiryo UI" pitchFamily="34" charset="-122"/>
                <a:cs typeface="Meiryo UI" pitchFamily="34" charset="-120"/>
              </a:rPr>
              <a:t>6週目</a:t>
            </a:r>
            <a:endParaRPr lang="en-US" sz="1400" dirty="0"/>
          </a:p>
        </p:txBody>
      </p:sp>
      <p:sp>
        <p:nvSpPr>
          <p:cNvPr id="27" name="Text 25"/>
          <p:cNvSpPr txBox="1"/>
          <p:nvPr/>
        </p:nvSpPr>
        <p:spPr>
          <a:xfrm>
            <a:off x="548640" y="5586984"/>
            <a:ext cx="1280160" cy="365760"/>
          </a:xfrm>
          <a:prstGeom prst="rect">
            <a:avLst/>
          </a:prstGeom>
          <a:noFill/>
          <a:ln/>
        </p:spPr>
        <p:txBody>
          <a:bodyPr wrap="square" lIns="0" tIns="0" rIns="0" bIns="0" rtlCol="0" anchor="ctr"/>
          <a:lstStyle/>
          <a:p>
            <a:pPr algn="ctr" indent="0" marL="0">
              <a:buNone/>
            </a:pPr>
            <a:r>
              <a:rPr lang="en-US" sz="1100" dirty="0">
                <a:solidFill>
                  <a:srgbClr val="FFFFFF"/>
                </a:solidFill>
                <a:latin typeface="Meiryo UI" pitchFamily="34" charset="0"/>
                <a:ea typeface="Meiryo UI" pitchFamily="34" charset="-122"/>
                <a:cs typeface="Meiryo UI" pitchFamily="34" charset="-120"/>
              </a:rPr>
              <a:t>検証レポート会</a:t>
            </a:r>
            <a:endParaRPr lang="en-US" sz="1100" dirty="0"/>
          </a:p>
        </p:txBody>
      </p:sp>
      <p:sp>
        <p:nvSpPr>
          <p:cNvPr id="28" name="Shape 26"/>
          <p:cNvSpPr/>
          <p:nvPr/>
        </p:nvSpPr>
        <p:spPr>
          <a:xfrm>
            <a:off x="1965960" y="5129784"/>
            <a:ext cx="5257800" cy="932688"/>
          </a:xfrm>
          <a:prstGeom prst="roundRect">
            <a:avLst>
              <a:gd name="adj" fmla="val 11765"/>
            </a:avLst>
          </a:prstGeom>
          <a:solidFill>
            <a:srgbClr val="F6F7FB"/>
          </a:solidFill>
          <a:ln w="12700">
            <a:solidFill>
              <a:srgbClr val="F6F7FB"/>
            </a:solidFill>
            <a:prstDash val="solid"/>
          </a:ln>
        </p:spPr>
      </p:sp>
      <p:sp>
        <p:nvSpPr>
          <p:cNvPr id="29" name="Text 27"/>
          <p:cNvSpPr txBox="1"/>
          <p:nvPr/>
        </p:nvSpPr>
        <p:spPr>
          <a:xfrm>
            <a:off x="2148840" y="5221224"/>
            <a:ext cx="4892040" cy="411480"/>
          </a:xfrm>
          <a:prstGeom prst="rect">
            <a:avLst/>
          </a:prstGeom>
          <a:noFill/>
          <a:ln/>
        </p:spPr>
        <p:txBody>
          <a:bodyPr wrap="square" lIns="0" tIns="0" rIns="0" bIns="0" rtlCol="0" anchor="ctr"/>
          <a:lstStyle/>
          <a:p>
            <a:pPr indent="0" marL="0">
              <a:buNone/>
            </a:pPr>
            <a:r>
              <a:rPr lang="en-US" sz="1250" b="1" dirty="0">
                <a:solidFill>
                  <a:srgbClr val="262A52"/>
                </a:solidFill>
                <a:latin typeface="Meiryo UI" pitchFamily="34" charset="0"/>
                <a:ea typeface="Meiryo UI" pitchFamily="34" charset="-122"/>
                <a:cs typeface="Meiryo UI" pitchFamily="34" charset="-120"/>
              </a:rPr>
              <a:t>効果検証レポート＆フェーズ2設計会</a:t>
            </a:r>
            <a:endParaRPr lang="en-US" sz="1250" dirty="0"/>
          </a:p>
        </p:txBody>
      </p:sp>
      <p:sp>
        <p:nvSpPr>
          <p:cNvPr id="30" name="Text 28"/>
          <p:cNvSpPr txBox="1"/>
          <p:nvPr/>
        </p:nvSpPr>
        <p:spPr>
          <a:xfrm>
            <a:off x="2148840" y="5632704"/>
            <a:ext cx="4892040" cy="347472"/>
          </a:xfrm>
          <a:prstGeom prst="rect">
            <a:avLst/>
          </a:prstGeom>
          <a:noFill/>
          <a:ln/>
        </p:spPr>
        <p:txBody>
          <a:bodyPr wrap="square" lIns="0" tIns="0" rIns="0" bIns="0" rtlCol="0" anchor="ctr"/>
          <a:lstStyle/>
          <a:p>
            <a:pPr indent="0" marL="0">
              <a:buNone/>
            </a:pPr>
            <a:r>
              <a:rPr lang="en-US" sz="1100" dirty="0">
                <a:solidFill>
                  <a:srgbClr val="686A82"/>
                </a:solidFill>
                <a:latin typeface="Meiryo UI" pitchFamily="34" charset="0"/>
                <a:ea typeface="Meiryo UI" pitchFamily="34" charset="-122"/>
                <a:cs typeface="Meiryo UI" pitchFamily="34" charset="-120"/>
              </a:rPr>
              <a:t>貴事務所：結果のご確認・次の打ち手の合意</a:t>
            </a:r>
            <a:endParaRPr lang="en-US" sz="1100" dirty="0"/>
          </a:p>
        </p:txBody>
      </p:sp>
      <p:sp>
        <p:nvSpPr>
          <p:cNvPr id="31" name="Shape 29"/>
          <p:cNvSpPr/>
          <p:nvPr/>
        </p:nvSpPr>
        <p:spPr>
          <a:xfrm>
            <a:off x="7589520" y="1371600"/>
            <a:ext cx="4053535" cy="4892040"/>
          </a:xfrm>
          <a:prstGeom prst="roundRect">
            <a:avLst>
              <a:gd name="adj" fmla="val 2707"/>
            </a:avLst>
          </a:prstGeom>
          <a:solidFill>
            <a:srgbClr val="FBF3E1"/>
          </a:solidFill>
          <a:ln w="12700">
            <a:solidFill>
              <a:srgbClr val="FBF3E1"/>
            </a:solidFill>
            <a:prstDash val="solid"/>
          </a:ln>
        </p:spPr>
      </p:sp>
      <p:sp>
        <p:nvSpPr>
          <p:cNvPr id="32" name="Shape 30"/>
          <p:cNvSpPr/>
          <p:nvPr/>
        </p:nvSpPr>
        <p:spPr>
          <a:xfrm>
            <a:off x="7863840" y="1600200"/>
            <a:ext cx="548640" cy="548640"/>
          </a:xfrm>
          <a:prstGeom prst="ellipse">
            <a:avLst/>
          </a:prstGeom>
          <a:solidFill>
            <a:srgbClr val="A87A1C"/>
          </a:solidFill>
          <a:ln w="12700">
            <a:solidFill>
              <a:srgbClr val="A87A1C"/>
            </a:solidFill>
            <a:prstDash val="solid"/>
          </a:ln>
        </p:spPr>
      </p:sp>
      <p:pic>
        <p:nvPicPr>
          <p:cNvPr id="33" name="Image 0" descr="preencoded.png">    </p:cNvPr>
          <p:cNvPicPr>
            <a:picLocks noChangeAspect="1"/>
          </p:cNvPicPr>
          <p:nvPr/>
        </p:nvPicPr>
        <p:blipFill>
          <a:blip r:embed="rId1"/>
          <a:stretch>
            <a:fillRect/>
          </a:stretch>
        </p:blipFill>
        <p:spPr>
          <a:xfrm>
            <a:off x="8006486" y="1742846"/>
            <a:ext cx="263347" cy="263347"/>
          </a:xfrm>
          <a:prstGeom prst="rect">
            <a:avLst/>
          </a:prstGeom>
        </p:spPr>
      </p:pic>
      <p:sp>
        <p:nvSpPr>
          <p:cNvPr id="34" name="Text 31"/>
          <p:cNvSpPr txBox="1"/>
          <p:nvPr/>
        </p:nvSpPr>
        <p:spPr>
          <a:xfrm>
            <a:off x="8549640" y="1600200"/>
            <a:ext cx="2910535" cy="548640"/>
          </a:xfrm>
          <a:prstGeom prst="rect">
            <a:avLst/>
          </a:prstGeom>
          <a:noFill/>
          <a:ln/>
        </p:spPr>
        <p:txBody>
          <a:bodyPr wrap="square" lIns="0" tIns="0" rIns="0" bIns="0" rtlCol="0" anchor="ctr"/>
          <a:lstStyle/>
          <a:p>
            <a:pPr indent="0" marL="0">
              <a:buNone/>
            </a:pPr>
            <a:r>
              <a:rPr lang="en-US" sz="1500" b="1" dirty="0">
                <a:solidFill>
                  <a:srgbClr val="A87A1C"/>
                </a:solidFill>
                <a:latin typeface="Meiryo UI" pitchFamily="34" charset="0"/>
                <a:ea typeface="Meiryo UI" pitchFamily="34" charset="-122"/>
                <a:cs typeface="Meiryo UI" pitchFamily="34" charset="-120"/>
              </a:rPr>
              <a:t>3本だけで終えた場合の限界</a:t>
            </a:r>
            <a:endParaRPr lang="en-US" sz="1500" dirty="0"/>
          </a:p>
        </p:txBody>
      </p:sp>
      <p:sp>
        <p:nvSpPr>
          <p:cNvPr id="35" name="Text 32"/>
          <p:cNvSpPr txBox="1"/>
          <p:nvPr/>
        </p:nvSpPr>
        <p:spPr>
          <a:xfrm>
            <a:off x="7863840" y="2377440"/>
            <a:ext cx="3504895" cy="320040"/>
          </a:xfrm>
          <a:prstGeom prst="rect">
            <a:avLst/>
          </a:prstGeom>
          <a:noFill/>
          <a:ln/>
        </p:spPr>
        <p:txBody>
          <a:bodyPr wrap="square" lIns="0" tIns="0" rIns="0" bIns="0" rtlCol="0" anchor="t"/>
          <a:lstStyle/>
          <a:p>
            <a:pPr indent="0" marL="0">
              <a:buNone/>
            </a:pPr>
            <a:r>
              <a:rPr lang="en-US" sz="1300" b="1" dirty="0">
                <a:solidFill>
                  <a:srgbClr val="262A52"/>
                </a:solidFill>
                <a:latin typeface="Meiryo UI" pitchFamily="34" charset="0"/>
                <a:ea typeface="Meiryo UI" pitchFamily="34" charset="-122"/>
                <a:cs typeface="Meiryo UI" pitchFamily="34" charset="-120"/>
              </a:rPr>
              <a:t>確定申告シーズンに間に合わない</a:t>
            </a:r>
            <a:endParaRPr lang="en-US" sz="1300" dirty="0"/>
          </a:p>
        </p:txBody>
      </p:sp>
      <p:sp>
        <p:nvSpPr>
          <p:cNvPr id="36" name="Text 33"/>
          <p:cNvSpPr txBox="1"/>
          <p:nvPr/>
        </p:nvSpPr>
        <p:spPr>
          <a:xfrm>
            <a:off x="7863840" y="2715768"/>
            <a:ext cx="3504895" cy="594360"/>
          </a:xfrm>
          <a:prstGeom prst="rect">
            <a:avLst/>
          </a:prstGeom>
          <a:noFill/>
          <a:ln/>
        </p:spPr>
        <p:txBody>
          <a:bodyPr wrap="square" lIns="0" tIns="0" rIns="0" bIns="0" rtlCol="0" anchor="t"/>
          <a:lstStyle/>
          <a:p>
            <a:pPr indent="0" marL="0">
              <a:buNone/>
            </a:pPr>
            <a:r>
              <a:rPr lang="en-US" sz="1150" dirty="0">
                <a:solidFill>
                  <a:srgbClr val="2A2B38"/>
                </a:solidFill>
                <a:latin typeface="Meiryo UI" pitchFamily="34" charset="0"/>
                <a:ea typeface="Meiryo UI" pitchFamily="34" charset="-122"/>
                <a:cs typeface="Meiryo UI" pitchFamily="34" charset="-120"/>
              </a:rPr>
              <a:t>3本で止めると、個人の相談が増える1〜3月までに集客の導線が整わない</a:t>
            </a:r>
            <a:endParaRPr lang="en-US" sz="1150" dirty="0"/>
          </a:p>
        </p:txBody>
      </p:sp>
      <p:sp>
        <p:nvSpPr>
          <p:cNvPr id="37" name="Text 34"/>
          <p:cNvSpPr txBox="1"/>
          <p:nvPr/>
        </p:nvSpPr>
        <p:spPr>
          <a:xfrm>
            <a:off x="7863840" y="3401568"/>
            <a:ext cx="3504895" cy="320040"/>
          </a:xfrm>
          <a:prstGeom prst="rect">
            <a:avLst/>
          </a:prstGeom>
          <a:noFill/>
          <a:ln/>
        </p:spPr>
        <p:txBody>
          <a:bodyPr wrap="square" lIns="0" tIns="0" rIns="0" bIns="0" rtlCol="0" anchor="t"/>
          <a:lstStyle/>
          <a:p>
            <a:pPr indent="0" marL="0">
              <a:buNone/>
            </a:pPr>
            <a:r>
              <a:rPr lang="en-US" sz="1300" b="1" dirty="0">
                <a:solidFill>
                  <a:srgbClr val="262A52"/>
                </a:solidFill>
                <a:latin typeface="Meiryo UI" pitchFamily="34" charset="0"/>
                <a:ea typeface="Meiryo UI" pitchFamily="34" charset="-122"/>
                <a:cs typeface="Meiryo UI" pitchFamily="34" charset="-120"/>
              </a:rPr>
              <a:t>SNS・HPの積み上げがリセット</a:t>
            </a:r>
            <a:endParaRPr lang="en-US" sz="1300" dirty="0"/>
          </a:p>
        </p:txBody>
      </p:sp>
      <p:sp>
        <p:nvSpPr>
          <p:cNvPr id="38" name="Text 35"/>
          <p:cNvSpPr txBox="1"/>
          <p:nvPr/>
        </p:nvSpPr>
        <p:spPr>
          <a:xfrm>
            <a:off x="7863840" y="3739896"/>
            <a:ext cx="3504895" cy="594360"/>
          </a:xfrm>
          <a:prstGeom prst="rect">
            <a:avLst/>
          </a:prstGeom>
          <a:noFill/>
          <a:ln/>
        </p:spPr>
        <p:txBody>
          <a:bodyPr wrap="square" lIns="0" tIns="0" rIns="0" bIns="0" rtlCol="0" anchor="t"/>
          <a:lstStyle/>
          <a:p>
            <a:pPr indent="0" marL="0">
              <a:buNone/>
            </a:pPr>
            <a:r>
              <a:rPr lang="en-US" sz="1150" dirty="0">
                <a:solidFill>
                  <a:srgbClr val="2A2B38"/>
                </a:solidFill>
                <a:latin typeface="Meiryo UI" pitchFamily="34" charset="0"/>
                <a:ea typeface="Meiryo UI" pitchFamily="34" charset="-122"/>
                <a:cs typeface="Meiryo UI" pitchFamily="34" charset="-120"/>
              </a:rPr>
              <a:t>発信は継続性が評価されるため、止めると積み上げが消える</a:t>
            </a:r>
            <a:endParaRPr lang="en-US" sz="1150" dirty="0"/>
          </a:p>
        </p:txBody>
      </p:sp>
      <p:sp>
        <p:nvSpPr>
          <p:cNvPr id="39" name="Text 36"/>
          <p:cNvSpPr txBox="1"/>
          <p:nvPr/>
        </p:nvSpPr>
        <p:spPr>
          <a:xfrm>
            <a:off x="7863840" y="4425696"/>
            <a:ext cx="3504895" cy="320040"/>
          </a:xfrm>
          <a:prstGeom prst="rect">
            <a:avLst/>
          </a:prstGeom>
          <a:noFill/>
          <a:ln/>
        </p:spPr>
        <p:txBody>
          <a:bodyPr wrap="square" lIns="0" tIns="0" rIns="0" bIns="0" rtlCol="0" anchor="t"/>
          <a:lstStyle/>
          <a:p>
            <a:pPr indent="0" marL="0">
              <a:buNone/>
            </a:pPr>
            <a:r>
              <a:rPr lang="en-US" sz="1300" b="1" dirty="0">
                <a:solidFill>
                  <a:srgbClr val="262A52"/>
                </a:solidFill>
                <a:latin typeface="Meiryo UI" pitchFamily="34" charset="0"/>
                <a:ea typeface="Meiryo UI" pitchFamily="34" charset="-122"/>
                <a:cs typeface="Meiryo UI" pitchFamily="34" charset="-120"/>
              </a:rPr>
              <a:t>顧問先への発信が途切れる</a:t>
            </a:r>
            <a:endParaRPr lang="en-US" sz="1300" dirty="0"/>
          </a:p>
        </p:txBody>
      </p:sp>
      <p:sp>
        <p:nvSpPr>
          <p:cNvPr id="40" name="Text 37"/>
          <p:cNvSpPr txBox="1"/>
          <p:nvPr/>
        </p:nvSpPr>
        <p:spPr>
          <a:xfrm>
            <a:off x="7863840" y="4764024"/>
            <a:ext cx="3504895" cy="594360"/>
          </a:xfrm>
          <a:prstGeom prst="rect">
            <a:avLst/>
          </a:prstGeom>
          <a:noFill/>
          <a:ln/>
        </p:spPr>
        <p:txBody>
          <a:bodyPr wrap="square" lIns="0" tIns="0" rIns="0" bIns="0" rtlCol="0" anchor="t"/>
          <a:lstStyle/>
          <a:p>
            <a:pPr indent="0" marL="0">
              <a:buNone/>
            </a:pPr>
            <a:r>
              <a:rPr lang="en-US" sz="1150" dirty="0">
                <a:solidFill>
                  <a:srgbClr val="2A2B38"/>
                </a:solidFill>
                <a:latin typeface="Meiryo UI" pitchFamily="34" charset="0"/>
                <a:ea typeface="Meiryo UI" pitchFamily="34" charset="-122"/>
                <a:cs typeface="Meiryo UI" pitchFamily="34" charset="-120"/>
              </a:rPr>
              <a:t>繁忙期に発信が止まると、紹介のきっかけも減ってしまう</a:t>
            </a:r>
            <a:endParaRPr lang="en-US" sz="1150" dirty="0"/>
          </a:p>
        </p:txBody>
      </p:sp>
      <p:sp>
        <p:nvSpPr>
          <p:cNvPr id="41" name="Text 38"/>
          <p:cNvSpPr txBox="1"/>
          <p:nvPr/>
        </p:nvSpPr>
        <p:spPr>
          <a:xfrm>
            <a:off x="7863840" y="5486400"/>
            <a:ext cx="3504895" cy="640080"/>
          </a:xfrm>
          <a:prstGeom prst="rect">
            <a:avLst/>
          </a:prstGeom>
          <a:noFill/>
          <a:ln/>
        </p:spPr>
        <p:txBody>
          <a:bodyPr wrap="square" lIns="0" tIns="0" rIns="0" bIns="0" rtlCol="0" anchor="ctr"/>
          <a:lstStyle/>
          <a:p>
            <a:pPr indent="0" marL="0">
              <a:buNone/>
            </a:pPr>
            <a:r>
              <a:rPr lang="en-US" sz="1250" b="1" dirty="0">
                <a:solidFill>
                  <a:srgbClr val="3A3F73"/>
                </a:solidFill>
                <a:latin typeface="Meiryo UI" pitchFamily="34" charset="0"/>
                <a:ea typeface="Meiryo UI" pitchFamily="34" charset="-122"/>
                <a:cs typeface="Meiryo UI" pitchFamily="34" charset="-120"/>
              </a:rPr>
              <a:t>だからこそ、フェーズ1は伴走プランの“初月”として設計します。</a:t>
            </a:r>
            <a:endParaRPr lang="en-US" sz="1250" dirty="0"/>
          </a:p>
        </p:txBody>
      </p:sp>
    </p:spTree>
  </p:cSld>
  <p:clrMapOvr>
    <a:masterClrMapping/>
  </p:clrMapOvr>
</p:sld>
</file>

<file path=ppt/slides/slide19.xml><?xml version="1.0" encoding="utf-8"?>
<p:sld xmlns:a="http://schemas.openxmlformats.org/drawingml/2006/main" xmlns:r="http://schemas.openxmlformats.org/officeDocument/2006/relationships" xmlns:p="http://schemas.openxmlformats.org/presentationml/2006/main">
  <p:cSld name="Slide 19">
    <p:bg>
      <p:bgPr>
        <a:solidFill>
          <a:srgbClr val="FFFFFF"/>
        </a:solidFill>
      </p:bgPr>
    </p:bg>
    <p:spTree>
      <p:nvGrpSpPr>
        <p:cNvPr id="1" name=""/>
        <p:cNvGrpSpPr/>
        <p:nvPr/>
      </p:nvGrpSpPr>
      <p:grpSpPr>
        <a:xfrm>
          <a:off x="0" y="0"/>
          <a:ext cx="0" cy="0"/>
          <a:chOff x="0" y="0"/>
          <a:chExt cx="0" cy="0"/>
        </a:xfrm>
      </p:grpSpPr>
      <p:sp>
        <p:nvSpPr>
          <p:cNvPr id="2" name="Text 0"/>
          <p:cNvSpPr txBox="1"/>
          <p:nvPr/>
        </p:nvSpPr>
        <p:spPr>
          <a:xfrm>
            <a:off x="548640" y="347472"/>
            <a:ext cx="7315200" cy="274320"/>
          </a:xfrm>
          <a:prstGeom prst="rect">
            <a:avLst/>
          </a:prstGeom>
          <a:noFill/>
          <a:ln/>
        </p:spPr>
        <p:txBody>
          <a:bodyPr wrap="square" lIns="0" tIns="0" rIns="0" bIns="0" rtlCol="0" anchor="t"/>
          <a:lstStyle/>
          <a:p>
            <a:pPr indent="0" marL="0">
              <a:buNone/>
            </a:pPr>
            <a:r>
              <a:rPr lang="en-US" sz="1100" b="1" spc="200" kern="0" dirty="0">
                <a:solidFill>
                  <a:srgbClr val="A87A1C"/>
                </a:solidFill>
                <a:latin typeface="Meiryo UI" pitchFamily="34" charset="0"/>
                <a:ea typeface="Meiryo UI" pitchFamily="34" charset="-122"/>
                <a:cs typeface="Meiryo UI" pitchFamily="34" charset="-120"/>
              </a:rPr>
              <a:t>06｜PHASE 2</a:t>
            </a:r>
            <a:endParaRPr lang="en-US" sz="1100" dirty="0"/>
          </a:p>
        </p:txBody>
      </p:sp>
      <p:sp>
        <p:nvSpPr>
          <p:cNvPr id="3" name="Text 1"/>
          <p:cNvSpPr txBox="1"/>
          <p:nvPr/>
        </p:nvSpPr>
        <p:spPr>
          <a:xfrm>
            <a:off x="548640" y="621792"/>
            <a:ext cx="11094415" cy="566928"/>
          </a:xfrm>
          <a:prstGeom prst="rect">
            <a:avLst/>
          </a:prstGeom>
          <a:noFill/>
          <a:ln/>
        </p:spPr>
        <p:txBody>
          <a:bodyPr wrap="square" lIns="0" tIns="0" rIns="0" bIns="0" rtlCol="0" anchor="ctr"/>
          <a:lstStyle/>
          <a:p>
            <a:pPr indent="0" marL="0">
              <a:buNone/>
            </a:pPr>
            <a:r>
              <a:rPr lang="en-US" sz="2600" b="1" dirty="0">
                <a:solidFill>
                  <a:srgbClr val="3A3F73"/>
                </a:solidFill>
                <a:latin typeface="Meiryo UI" pitchFamily="34" charset="0"/>
                <a:ea typeface="Meiryo UI" pitchFamily="34" charset="-122"/>
                <a:cs typeface="Meiryo UI" pitchFamily="34" charset="-120"/>
              </a:rPr>
              <a:t>有料伴走プランで実施すること：制作からWeb強化・人手まで一気通貫</a:t>
            </a:r>
            <a:endParaRPr lang="en-US" sz="2600" dirty="0"/>
          </a:p>
        </p:txBody>
      </p:sp>
      <p:sp>
        <p:nvSpPr>
          <p:cNvPr id="4" name="Text 2"/>
          <p:cNvSpPr txBox="1"/>
          <p:nvPr/>
        </p:nvSpPr>
        <p:spPr>
          <a:xfrm>
            <a:off x="11094415" y="6419088"/>
            <a:ext cx="548640" cy="256032"/>
          </a:xfrm>
          <a:prstGeom prst="rect">
            <a:avLst/>
          </a:prstGeom>
          <a:noFill/>
          <a:ln/>
        </p:spPr>
        <p:txBody>
          <a:bodyPr wrap="square" lIns="0" tIns="0" rIns="0" bIns="0" rtlCol="0" anchor="t"/>
          <a:lstStyle/>
          <a:p>
            <a:pPr algn="r" indent="0" marL="0">
              <a:buNone/>
            </a:pPr>
            <a:r>
              <a:rPr lang="en-US" sz="1000" dirty="0">
                <a:solidFill>
                  <a:srgbClr val="7C7E90"/>
                </a:solidFill>
                <a:latin typeface="Meiryo UI" pitchFamily="34" charset="0"/>
                <a:ea typeface="Meiryo UI" pitchFamily="34" charset="-122"/>
                <a:cs typeface="Meiryo UI" pitchFamily="34" charset="-120"/>
              </a:rPr>
              <a:t>19</a:t>
            </a:r>
            <a:endParaRPr lang="en-US" sz="1000" dirty="0"/>
          </a:p>
        </p:txBody>
      </p:sp>
      <p:sp>
        <p:nvSpPr>
          <p:cNvPr id="5" name="Text 3"/>
          <p:cNvSpPr txBox="1"/>
          <p:nvPr/>
        </p:nvSpPr>
        <p:spPr>
          <a:xfrm>
            <a:off x="548640" y="6419088"/>
            <a:ext cx="4572000" cy="256032"/>
          </a:xfrm>
          <a:prstGeom prst="rect">
            <a:avLst/>
          </a:prstGeom>
          <a:noFill/>
          <a:ln/>
        </p:spPr>
        <p:txBody>
          <a:bodyPr wrap="square" lIns="0" tIns="0" rIns="0" bIns="0" rtlCol="0" anchor="t"/>
          <a:lstStyle/>
          <a:p>
            <a:pPr indent="0" marL="0">
              <a:buNone/>
            </a:pPr>
            <a:r>
              <a:rPr lang="en-US" sz="900" dirty="0">
                <a:solidFill>
                  <a:srgbClr val="7C7E90"/>
                </a:solidFill>
                <a:latin typeface="Meiryo UI" pitchFamily="34" charset="0"/>
                <a:ea typeface="Meiryo UI" pitchFamily="34" charset="-122"/>
                <a:cs typeface="Meiryo UI" pitchFamily="34" charset="-120"/>
              </a:rPr>
              <a:t>株式会社アイドマ・ホールディングス｜MiTok</a:t>
            </a:r>
            <a:endParaRPr lang="en-US" sz="900" dirty="0"/>
          </a:p>
        </p:txBody>
      </p:sp>
      <p:sp>
        <p:nvSpPr>
          <p:cNvPr id="6" name="Shape 4"/>
          <p:cNvSpPr/>
          <p:nvPr/>
        </p:nvSpPr>
        <p:spPr>
          <a:xfrm>
            <a:off x="548640" y="1463040"/>
            <a:ext cx="3515258" cy="2148840"/>
          </a:xfrm>
          <a:prstGeom prst="roundRect">
            <a:avLst>
              <a:gd name="adj" fmla="val 5106"/>
            </a:avLst>
          </a:prstGeom>
          <a:solidFill>
            <a:srgbClr val="FFFFFF"/>
          </a:solidFill>
          <a:ln w="12700">
            <a:solidFill>
              <a:srgbClr val="FFFFFF"/>
            </a:solidFill>
            <a:prstDash val="solid"/>
          </a:ln>
          <a:effectLst>
            <a:outerShdw sx="100000" sy="100000" kx="0" ky="0" algn="bl" rotWithShape="0" blurRad="76200" dist="25400" dir="5400000">
              <a:srgbClr val="000000">
                <a:alpha val="12000"/>
              </a:srgbClr>
            </a:outerShdw>
          </a:effectLst>
        </p:spPr>
      </p:sp>
      <p:sp>
        <p:nvSpPr>
          <p:cNvPr id="7" name="Shape 5"/>
          <p:cNvSpPr/>
          <p:nvPr/>
        </p:nvSpPr>
        <p:spPr>
          <a:xfrm>
            <a:off x="822960" y="1737360"/>
            <a:ext cx="685800" cy="685800"/>
          </a:xfrm>
          <a:prstGeom prst="ellipse">
            <a:avLst/>
          </a:prstGeom>
          <a:solidFill>
            <a:srgbClr val="3A3F73"/>
          </a:solidFill>
          <a:ln w="12700">
            <a:solidFill>
              <a:srgbClr val="3A3F73"/>
            </a:solidFill>
            <a:prstDash val="solid"/>
          </a:ln>
        </p:spPr>
      </p:sp>
      <p:pic>
        <p:nvPicPr>
          <p:cNvPr id="8" name="Image 0" descr="preencoded.png">    </p:cNvPr>
          <p:cNvPicPr>
            <a:picLocks noChangeAspect="1"/>
          </p:cNvPicPr>
          <p:nvPr/>
        </p:nvPicPr>
        <p:blipFill>
          <a:blip r:embed="rId1"/>
          <a:stretch>
            <a:fillRect/>
          </a:stretch>
        </p:blipFill>
        <p:spPr>
          <a:xfrm>
            <a:off x="1001268" y="1915668"/>
            <a:ext cx="329184" cy="329184"/>
          </a:xfrm>
          <a:prstGeom prst="rect">
            <a:avLst/>
          </a:prstGeom>
        </p:spPr>
      </p:pic>
      <p:sp>
        <p:nvSpPr>
          <p:cNvPr id="9" name="Text 6"/>
          <p:cNvSpPr txBox="1"/>
          <p:nvPr/>
        </p:nvSpPr>
        <p:spPr>
          <a:xfrm>
            <a:off x="1645920" y="1737360"/>
            <a:ext cx="2235098" cy="685800"/>
          </a:xfrm>
          <a:prstGeom prst="rect">
            <a:avLst/>
          </a:prstGeom>
          <a:noFill/>
          <a:ln/>
        </p:spPr>
        <p:txBody>
          <a:bodyPr wrap="square" lIns="0" tIns="0" rIns="0" bIns="0" rtlCol="0" anchor="ctr"/>
          <a:lstStyle/>
          <a:p>
            <a:pPr indent="0" marL="0">
              <a:buNone/>
            </a:pPr>
            <a:r>
              <a:rPr lang="en-US" sz="1550" b="1" dirty="0">
                <a:solidFill>
                  <a:srgbClr val="3A3F73"/>
                </a:solidFill>
                <a:latin typeface="Meiryo UI" pitchFamily="34" charset="0"/>
                <a:ea typeface="Meiryo UI" pitchFamily="34" charset="-122"/>
                <a:cs typeface="Meiryo UI" pitchFamily="34" charset="-120"/>
              </a:rPr>
              <a:t>動画の追加生成</a:t>
            </a:r>
            <a:endParaRPr lang="en-US" sz="1550" dirty="0"/>
          </a:p>
        </p:txBody>
      </p:sp>
      <p:sp>
        <p:nvSpPr>
          <p:cNvPr id="10" name="Text 7"/>
          <p:cNvSpPr txBox="1"/>
          <p:nvPr/>
        </p:nvSpPr>
        <p:spPr>
          <a:xfrm>
            <a:off x="822960" y="2606040"/>
            <a:ext cx="2966618" cy="868680"/>
          </a:xfrm>
          <a:prstGeom prst="rect">
            <a:avLst/>
          </a:prstGeom>
          <a:noFill/>
          <a:ln/>
        </p:spPr>
        <p:txBody>
          <a:bodyPr wrap="square" lIns="0" tIns="0" rIns="0" bIns="0" rtlCol="0" anchor="t"/>
          <a:lstStyle/>
          <a:p>
            <a:pPr indent="0" marL="0">
              <a:lnSpc>
                <a:spcPct val="110000"/>
              </a:lnSpc>
              <a:buNone/>
            </a:pPr>
            <a:r>
              <a:rPr lang="en-US" sz="1250" dirty="0">
                <a:solidFill>
                  <a:srgbClr val="2A2B38"/>
                </a:solidFill>
                <a:latin typeface="Meiryo UI" pitchFamily="34" charset="0"/>
                <a:ea typeface="Meiryo UI" pitchFamily="34" charset="-122"/>
                <a:cs typeface="Meiryo UI" pitchFamily="34" charset="-120"/>
              </a:rPr>
              <a:t>成果の出た型を軸に、法人設立・相続・確定申告・インボイスなどテーマ別に継続制作</a:t>
            </a:r>
            <a:endParaRPr lang="en-US" sz="1250" dirty="0"/>
          </a:p>
        </p:txBody>
      </p:sp>
      <p:sp>
        <p:nvSpPr>
          <p:cNvPr id="11" name="Shape 8"/>
          <p:cNvSpPr/>
          <p:nvPr/>
        </p:nvSpPr>
        <p:spPr>
          <a:xfrm>
            <a:off x="4338218" y="1463040"/>
            <a:ext cx="3515258" cy="2148840"/>
          </a:xfrm>
          <a:prstGeom prst="roundRect">
            <a:avLst>
              <a:gd name="adj" fmla="val 5106"/>
            </a:avLst>
          </a:prstGeom>
          <a:solidFill>
            <a:srgbClr val="FFFFFF"/>
          </a:solidFill>
          <a:ln w="12700">
            <a:solidFill>
              <a:srgbClr val="FFFFFF"/>
            </a:solidFill>
            <a:prstDash val="solid"/>
          </a:ln>
          <a:effectLst>
            <a:outerShdw sx="100000" sy="100000" kx="0" ky="0" algn="bl" rotWithShape="0" blurRad="76200" dist="25400" dir="5400000">
              <a:srgbClr val="000000">
                <a:alpha val="12000"/>
              </a:srgbClr>
            </a:outerShdw>
          </a:effectLst>
        </p:spPr>
      </p:sp>
      <p:sp>
        <p:nvSpPr>
          <p:cNvPr id="12" name="Shape 9"/>
          <p:cNvSpPr/>
          <p:nvPr/>
        </p:nvSpPr>
        <p:spPr>
          <a:xfrm>
            <a:off x="4612538" y="1737360"/>
            <a:ext cx="685800" cy="685800"/>
          </a:xfrm>
          <a:prstGeom prst="ellipse">
            <a:avLst/>
          </a:prstGeom>
          <a:solidFill>
            <a:srgbClr val="3A3F73"/>
          </a:solidFill>
          <a:ln w="12700">
            <a:solidFill>
              <a:srgbClr val="3A3F73"/>
            </a:solidFill>
            <a:prstDash val="solid"/>
          </a:ln>
        </p:spPr>
      </p:sp>
      <p:pic>
        <p:nvPicPr>
          <p:cNvPr id="13" name="Image 1" descr="preencoded.png">    </p:cNvPr>
          <p:cNvPicPr>
            <a:picLocks noChangeAspect="1"/>
          </p:cNvPicPr>
          <p:nvPr/>
        </p:nvPicPr>
        <p:blipFill>
          <a:blip r:embed="rId2"/>
          <a:stretch>
            <a:fillRect/>
          </a:stretch>
        </p:blipFill>
        <p:spPr>
          <a:xfrm>
            <a:off x="4790846" y="1915668"/>
            <a:ext cx="329184" cy="329184"/>
          </a:xfrm>
          <a:prstGeom prst="rect">
            <a:avLst/>
          </a:prstGeom>
        </p:spPr>
      </p:pic>
      <p:sp>
        <p:nvSpPr>
          <p:cNvPr id="14" name="Text 10"/>
          <p:cNvSpPr txBox="1"/>
          <p:nvPr/>
        </p:nvSpPr>
        <p:spPr>
          <a:xfrm>
            <a:off x="5435498" y="1737360"/>
            <a:ext cx="2235098" cy="685800"/>
          </a:xfrm>
          <a:prstGeom prst="rect">
            <a:avLst/>
          </a:prstGeom>
          <a:noFill/>
          <a:ln/>
        </p:spPr>
        <p:txBody>
          <a:bodyPr wrap="square" lIns="0" tIns="0" rIns="0" bIns="0" rtlCol="0" anchor="ctr"/>
          <a:lstStyle/>
          <a:p>
            <a:pPr indent="0" marL="0">
              <a:buNone/>
            </a:pPr>
            <a:r>
              <a:rPr lang="en-US" sz="1550" b="1" dirty="0">
                <a:solidFill>
                  <a:srgbClr val="3A3F73"/>
                </a:solidFill>
                <a:latin typeface="Meiryo UI" pitchFamily="34" charset="0"/>
                <a:ea typeface="Meiryo UI" pitchFamily="34" charset="-122"/>
                <a:cs typeface="Meiryo UI" pitchFamily="34" charset="-120"/>
              </a:rPr>
              <a:t>Web強化</a:t>
            </a:r>
            <a:endParaRPr lang="en-US" sz="1550" dirty="0"/>
          </a:p>
        </p:txBody>
      </p:sp>
      <p:sp>
        <p:nvSpPr>
          <p:cNvPr id="15" name="Text 11"/>
          <p:cNvSpPr txBox="1"/>
          <p:nvPr/>
        </p:nvSpPr>
        <p:spPr>
          <a:xfrm>
            <a:off x="4612538" y="2606040"/>
            <a:ext cx="2966618" cy="868680"/>
          </a:xfrm>
          <a:prstGeom prst="rect">
            <a:avLst/>
          </a:prstGeom>
          <a:noFill/>
          <a:ln/>
        </p:spPr>
        <p:txBody>
          <a:bodyPr wrap="square" lIns="0" tIns="0" rIns="0" bIns="0" rtlCol="0" anchor="t"/>
          <a:lstStyle/>
          <a:p>
            <a:pPr indent="0" marL="0">
              <a:lnSpc>
                <a:spcPct val="110000"/>
              </a:lnSpc>
              <a:buNone/>
            </a:pPr>
            <a:r>
              <a:rPr lang="en-US" sz="1250" dirty="0">
                <a:solidFill>
                  <a:srgbClr val="2A2B38"/>
                </a:solidFill>
                <a:latin typeface="Meiryo UI" pitchFamily="34" charset="0"/>
                <a:ea typeface="Meiryo UI" pitchFamily="34" charset="-122"/>
                <a:cs typeface="Meiryo UI" pitchFamily="34" charset="-120"/>
              </a:rPr>
              <a:t>HPの導線改善、サービスページへの動画掲載、Googleビジネスプロフィールの整備</a:t>
            </a:r>
            <a:endParaRPr lang="en-US" sz="1250" dirty="0"/>
          </a:p>
        </p:txBody>
      </p:sp>
      <p:sp>
        <p:nvSpPr>
          <p:cNvPr id="16" name="Shape 12"/>
          <p:cNvSpPr/>
          <p:nvPr/>
        </p:nvSpPr>
        <p:spPr>
          <a:xfrm>
            <a:off x="8127797" y="1463040"/>
            <a:ext cx="3515258" cy="2148840"/>
          </a:xfrm>
          <a:prstGeom prst="roundRect">
            <a:avLst>
              <a:gd name="adj" fmla="val 5106"/>
            </a:avLst>
          </a:prstGeom>
          <a:solidFill>
            <a:srgbClr val="FFFFFF"/>
          </a:solidFill>
          <a:ln w="12700">
            <a:solidFill>
              <a:srgbClr val="FFFFFF"/>
            </a:solidFill>
            <a:prstDash val="solid"/>
          </a:ln>
          <a:effectLst>
            <a:outerShdw sx="100000" sy="100000" kx="0" ky="0" algn="bl" rotWithShape="0" blurRad="76200" dist="25400" dir="5400000">
              <a:srgbClr val="000000">
                <a:alpha val="12000"/>
              </a:srgbClr>
            </a:outerShdw>
          </a:effectLst>
        </p:spPr>
      </p:sp>
      <p:sp>
        <p:nvSpPr>
          <p:cNvPr id="17" name="Shape 13"/>
          <p:cNvSpPr/>
          <p:nvPr/>
        </p:nvSpPr>
        <p:spPr>
          <a:xfrm>
            <a:off x="8402117" y="1737360"/>
            <a:ext cx="685800" cy="685800"/>
          </a:xfrm>
          <a:prstGeom prst="ellipse">
            <a:avLst/>
          </a:prstGeom>
          <a:solidFill>
            <a:srgbClr val="3A3F73"/>
          </a:solidFill>
          <a:ln w="12700">
            <a:solidFill>
              <a:srgbClr val="3A3F73"/>
            </a:solidFill>
            <a:prstDash val="solid"/>
          </a:ln>
        </p:spPr>
      </p:sp>
      <p:pic>
        <p:nvPicPr>
          <p:cNvPr id="18" name="Image 2" descr="preencoded.png">    </p:cNvPr>
          <p:cNvPicPr>
            <a:picLocks noChangeAspect="1"/>
          </p:cNvPicPr>
          <p:nvPr/>
        </p:nvPicPr>
        <p:blipFill>
          <a:blip r:embed="rId3"/>
          <a:stretch>
            <a:fillRect/>
          </a:stretch>
        </p:blipFill>
        <p:spPr>
          <a:xfrm>
            <a:off x="8580425" y="1915668"/>
            <a:ext cx="329184" cy="329184"/>
          </a:xfrm>
          <a:prstGeom prst="rect">
            <a:avLst/>
          </a:prstGeom>
        </p:spPr>
      </p:pic>
      <p:sp>
        <p:nvSpPr>
          <p:cNvPr id="19" name="Text 14"/>
          <p:cNvSpPr txBox="1"/>
          <p:nvPr/>
        </p:nvSpPr>
        <p:spPr>
          <a:xfrm>
            <a:off x="9225077" y="1737360"/>
            <a:ext cx="2235098" cy="685800"/>
          </a:xfrm>
          <a:prstGeom prst="rect">
            <a:avLst/>
          </a:prstGeom>
          <a:noFill/>
          <a:ln/>
        </p:spPr>
        <p:txBody>
          <a:bodyPr wrap="square" lIns="0" tIns="0" rIns="0" bIns="0" rtlCol="0" anchor="ctr"/>
          <a:lstStyle/>
          <a:p>
            <a:pPr indent="0" marL="0">
              <a:buNone/>
            </a:pPr>
            <a:r>
              <a:rPr lang="en-US" sz="1550" b="1" dirty="0">
                <a:solidFill>
                  <a:srgbClr val="3A3F73"/>
                </a:solidFill>
                <a:latin typeface="Meiryo UI" pitchFamily="34" charset="0"/>
                <a:ea typeface="Meiryo UI" pitchFamily="34" charset="-122"/>
                <a:cs typeface="Meiryo UI" pitchFamily="34" charset="-120"/>
              </a:rPr>
              <a:t>マンパワー補強</a:t>
            </a:r>
            <a:endParaRPr lang="en-US" sz="1550" dirty="0"/>
          </a:p>
        </p:txBody>
      </p:sp>
      <p:sp>
        <p:nvSpPr>
          <p:cNvPr id="20" name="Text 15"/>
          <p:cNvSpPr txBox="1"/>
          <p:nvPr/>
        </p:nvSpPr>
        <p:spPr>
          <a:xfrm>
            <a:off x="8402117" y="2606040"/>
            <a:ext cx="2966618" cy="868680"/>
          </a:xfrm>
          <a:prstGeom prst="rect">
            <a:avLst/>
          </a:prstGeom>
          <a:noFill/>
          <a:ln/>
        </p:spPr>
        <p:txBody>
          <a:bodyPr wrap="square" lIns="0" tIns="0" rIns="0" bIns="0" rtlCol="0" anchor="t"/>
          <a:lstStyle/>
          <a:p>
            <a:pPr indent="0" marL="0">
              <a:lnSpc>
                <a:spcPct val="110000"/>
              </a:lnSpc>
              <a:buNone/>
            </a:pPr>
            <a:r>
              <a:rPr lang="en-US" sz="1250" dirty="0">
                <a:solidFill>
                  <a:srgbClr val="2A2B38"/>
                </a:solidFill>
                <a:latin typeface="Meiryo UI" pitchFamily="34" charset="0"/>
                <a:ea typeface="Meiryo UI" pitchFamily="34" charset="-122"/>
                <a:cs typeface="Meiryo UI" pitchFamily="34" charset="-120"/>
              </a:rPr>
              <a:t>在宅スタッフによるSNS投稿・資料作成・配信の運用支援で、事務所の手を止めない</a:t>
            </a:r>
            <a:endParaRPr lang="en-US" sz="1250" dirty="0"/>
          </a:p>
        </p:txBody>
      </p:sp>
      <p:sp>
        <p:nvSpPr>
          <p:cNvPr id="21" name="Shape 16"/>
          <p:cNvSpPr/>
          <p:nvPr/>
        </p:nvSpPr>
        <p:spPr>
          <a:xfrm>
            <a:off x="548640" y="3886200"/>
            <a:ext cx="3515258" cy="2148840"/>
          </a:xfrm>
          <a:prstGeom prst="roundRect">
            <a:avLst>
              <a:gd name="adj" fmla="val 5106"/>
            </a:avLst>
          </a:prstGeom>
          <a:solidFill>
            <a:srgbClr val="FFFFFF"/>
          </a:solidFill>
          <a:ln w="12700">
            <a:solidFill>
              <a:srgbClr val="FFFFFF"/>
            </a:solidFill>
            <a:prstDash val="solid"/>
          </a:ln>
          <a:effectLst>
            <a:outerShdw sx="100000" sy="100000" kx="0" ky="0" algn="bl" rotWithShape="0" blurRad="76200" dist="25400" dir="5400000">
              <a:srgbClr val="000000">
                <a:alpha val="12000"/>
              </a:srgbClr>
            </a:outerShdw>
          </a:effectLst>
        </p:spPr>
      </p:sp>
      <p:sp>
        <p:nvSpPr>
          <p:cNvPr id="22" name="Shape 17"/>
          <p:cNvSpPr/>
          <p:nvPr/>
        </p:nvSpPr>
        <p:spPr>
          <a:xfrm>
            <a:off x="822960" y="4160520"/>
            <a:ext cx="685800" cy="685800"/>
          </a:xfrm>
          <a:prstGeom prst="ellipse">
            <a:avLst/>
          </a:prstGeom>
          <a:solidFill>
            <a:srgbClr val="3A3F73"/>
          </a:solidFill>
          <a:ln w="12700">
            <a:solidFill>
              <a:srgbClr val="3A3F73"/>
            </a:solidFill>
            <a:prstDash val="solid"/>
          </a:ln>
        </p:spPr>
      </p:sp>
      <p:pic>
        <p:nvPicPr>
          <p:cNvPr id="23" name="Image 3" descr="preencoded.png">    </p:cNvPr>
          <p:cNvPicPr>
            <a:picLocks noChangeAspect="1"/>
          </p:cNvPicPr>
          <p:nvPr/>
        </p:nvPicPr>
        <p:blipFill>
          <a:blip r:embed="rId4"/>
          <a:stretch>
            <a:fillRect/>
          </a:stretch>
        </p:blipFill>
        <p:spPr>
          <a:xfrm>
            <a:off x="1001268" y="4338828"/>
            <a:ext cx="329184" cy="329184"/>
          </a:xfrm>
          <a:prstGeom prst="rect">
            <a:avLst/>
          </a:prstGeom>
        </p:spPr>
      </p:pic>
      <p:sp>
        <p:nvSpPr>
          <p:cNvPr id="24" name="Text 18"/>
          <p:cNvSpPr txBox="1"/>
          <p:nvPr/>
        </p:nvSpPr>
        <p:spPr>
          <a:xfrm>
            <a:off x="1645920" y="4160520"/>
            <a:ext cx="2235098" cy="685800"/>
          </a:xfrm>
          <a:prstGeom prst="rect">
            <a:avLst/>
          </a:prstGeom>
          <a:noFill/>
          <a:ln/>
        </p:spPr>
        <p:txBody>
          <a:bodyPr wrap="square" lIns="0" tIns="0" rIns="0" bIns="0" rtlCol="0" anchor="ctr"/>
          <a:lstStyle/>
          <a:p>
            <a:pPr indent="0" marL="0">
              <a:buNone/>
            </a:pPr>
            <a:r>
              <a:rPr lang="en-US" sz="1550" b="1" dirty="0">
                <a:solidFill>
                  <a:srgbClr val="3A3F73"/>
                </a:solidFill>
                <a:latin typeface="Meiryo UI" pitchFamily="34" charset="0"/>
                <a:ea typeface="Meiryo UI" pitchFamily="34" charset="-122"/>
                <a:cs typeface="Meiryo UI" pitchFamily="34" charset="-120"/>
              </a:rPr>
              <a:t>業務プロセスへの組み込み</a:t>
            </a:r>
            <a:endParaRPr lang="en-US" sz="1550" dirty="0"/>
          </a:p>
        </p:txBody>
      </p:sp>
      <p:sp>
        <p:nvSpPr>
          <p:cNvPr id="25" name="Text 19"/>
          <p:cNvSpPr txBox="1"/>
          <p:nvPr/>
        </p:nvSpPr>
        <p:spPr>
          <a:xfrm>
            <a:off x="822960" y="5029200"/>
            <a:ext cx="2966618" cy="868680"/>
          </a:xfrm>
          <a:prstGeom prst="rect">
            <a:avLst/>
          </a:prstGeom>
          <a:noFill/>
          <a:ln/>
        </p:spPr>
        <p:txBody>
          <a:bodyPr wrap="square" lIns="0" tIns="0" rIns="0" bIns="0" rtlCol="0" anchor="t"/>
          <a:lstStyle/>
          <a:p>
            <a:pPr indent="0" marL="0">
              <a:lnSpc>
                <a:spcPct val="110000"/>
              </a:lnSpc>
              <a:buNone/>
            </a:pPr>
            <a:r>
              <a:rPr lang="en-US" sz="1250" dirty="0">
                <a:solidFill>
                  <a:srgbClr val="2A2B38"/>
                </a:solidFill>
                <a:latin typeface="Meiryo UI" pitchFamily="34" charset="0"/>
                <a:ea typeface="Meiryo UI" pitchFamily="34" charset="-122"/>
                <a:cs typeface="Meiryo UI" pitchFamily="34" charset="-120"/>
              </a:rPr>
              <a:t>顧問先・紹介者への定期配信と、面談前後の送付フローの型化</a:t>
            </a:r>
            <a:endParaRPr lang="en-US" sz="1250" dirty="0"/>
          </a:p>
        </p:txBody>
      </p:sp>
      <p:sp>
        <p:nvSpPr>
          <p:cNvPr id="26" name="Shape 20"/>
          <p:cNvSpPr/>
          <p:nvPr/>
        </p:nvSpPr>
        <p:spPr>
          <a:xfrm>
            <a:off x="4338218" y="3886200"/>
            <a:ext cx="3515258" cy="2148840"/>
          </a:xfrm>
          <a:prstGeom prst="roundRect">
            <a:avLst>
              <a:gd name="adj" fmla="val 5106"/>
            </a:avLst>
          </a:prstGeom>
          <a:solidFill>
            <a:srgbClr val="FFFFFF"/>
          </a:solidFill>
          <a:ln w="12700">
            <a:solidFill>
              <a:srgbClr val="FFFFFF"/>
            </a:solidFill>
            <a:prstDash val="solid"/>
          </a:ln>
          <a:effectLst>
            <a:outerShdw sx="100000" sy="100000" kx="0" ky="0" algn="bl" rotWithShape="0" blurRad="76200" dist="25400" dir="5400000">
              <a:srgbClr val="000000">
                <a:alpha val="12000"/>
              </a:srgbClr>
            </a:outerShdw>
          </a:effectLst>
        </p:spPr>
      </p:sp>
      <p:sp>
        <p:nvSpPr>
          <p:cNvPr id="27" name="Shape 21"/>
          <p:cNvSpPr/>
          <p:nvPr/>
        </p:nvSpPr>
        <p:spPr>
          <a:xfrm>
            <a:off x="4612538" y="4160520"/>
            <a:ext cx="685800" cy="685800"/>
          </a:xfrm>
          <a:prstGeom prst="ellipse">
            <a:avLst/>
          </a:prstGeom>
          <a:solidFill>
            <a:srgbClr val="3A3F73"/>
          </a:solidFill>
          <a:ln w="12700">
            <a:solidFill>
              <a:srgbClr val="3A3F73"/>
            </a:solidFill>
            <a:prstDash val="solid"/>
          </a:ln>
        </p:spPr>
      </p:sp>
      <p:pic>
        <p:nvPicPr>
          <p:cNvPr id="28" name="Image 4" descr="preencoded.png">    </p:cNvPr>
          <p:cNvPicPr>
            <a:picLocks noChangeAspect="1"/>
          </p:cNvPicPr>
          <p:nvPr/>
        </p:nvPicPr>
        <p:blipFill>
          <a:blip r:embed="rId5"/>
          <a:stretch>
            <a:fillRect/>
          </a:stretch>
        </p:blipFill>
        <p:spPr>
          <a:xfrm>
            <a:off x="4790846" y="4338828"/>
            <a:ext cx="329184" cy="329184"/>
          </a:xfrm>
          <a:prstGeom prst="rect">
            <a:avLst/>
          </a:prstGeom>
        </p:spPr>
      </p:pic>
      <p:sp>
        <p:nvSpPr>
          <p:cNvPr id="29" name="Text 22"/>
          <p:cNvSpPr txBox="1"/>
          <p:nvPr/>
        </p:nvSpPr>
        <p:spPr>
          <a:xfrm>
            <a:off x="5435498" y="4160520"/>
            <a:ext cx="2235098" cy="685800"/>
          </a:xfrm>
          <a:prstGeom prst="rect">
            <a:avLst/>
          </a:prstGeom>
          <a:noFill/>
          <a:ln/>
        </p:spPr>
        <p:txBody>
          <a:bodyPr wrap="square" lIns="0" tIns="0" rIns="0" bIns="0" rtlCol="0" anchor="ctr"/>
          <a:lstStyle/>
          <a:p>
            <a:pPr indent="0" marL="0">
              <a:buNone/>
            </a:pPr>
            <a:r>
              <a:rPr lang="en-US" sz="1550" b="1" dirty="0">
                <a:solidFill>
                  <a:srgbClr val="3A3F73"/>
                </a:solidFill>
                <a:latin typeface="Meiryo UI" pitchFamily="34" charset="0"/>
                <a:ea typeface="Meiryo UI" pitchFamily="34" charset="-122"/>
                <a:cs typeface="Meiryo UI" pitchFamily="34" charset="-120"/>
              </a:rPr>
              <a:t>分析・改善</a:t>
            </a:r>
            <a:endParaRPr lang="en-US" sz="1550" dirty="0"/>
          </a:p>
        </p:txBody>
      </p:sp>
      <p:sp>
        <p:nvSpPr>
          <p:cNvPr id="30" name="Text 23"/>
          <p:cNvSpPr txBox="1"/>
          <p:nvPr/>
        </p:nvSpPr>
        <p:spPr>
          <a:xfrm>
            <a:off x="4612538" y="5029200"/>
            <a:ext cx="2966618" cy="868680"/>
          </a:xfrm>
          <a:prstGeom prst="rect">
            <a:avLst/>
          </a:prstGeom>
          <a:noFill/>
          <a:ln/>
        </p:spPr>
        <p:txBody>
          <a:bodyPr wrap="square" lIns="0" tIns="0" rIns="0" bIns="0" rtlCol="0" anchor="t"/>
          <a:lstStyle/>
          <a:p>
            <a:pPr indent="0" marL="0">
              <a:lnSpc>
                <a:spcPct val="110000"/>
              </a:lnSpc>
              <a:buNone/>
            </a:pPr>
            <a:r>
              <a:rPr lang="en-US" sz="1250" dirty="0">
                <a:solidFill>
                  <a:srgbClr val="2A2B38"/>
                </a:solidFill>
                <a:latin typeface="Meiryo UI" pitchFamily="34" charset="0"/>
                <a:ea typeface="Meiryo UI" pitchFamily="34" charset="-122"/>
                <a:cs typeface="Meiryo UI" pitchFamily="34" charset="-120"/>
              </a:rPr>
              <a:t>月次レポート（視聴・問い合わせ・紹介の経路分析）とA/Bテスト</a:t>
            </a:r>
            <a:endParaRPr lang="en-US" sz="1250" dirty="0"/>
          </a:p>
        </p:txBody>
      </p:sp>
      <p:sp>
        <p:nvSpPr>
          <p:cNvPr id="31" name="Shape 24"/>
          <p:cNvSpPr/>
          <p:nvPr/>
        </p:nvSpPr>
        <p:spPr>
          <a:xfrm>
            <a:off x="8127797" y="3886200"/>
            <a:ext cx="3515258" cy="2148840"/>
          </a:xfrm>
          <a:prstGeom prst="roundRect">
            <a:avLst>
              <a:gd name="adj" fmla="val 5106"/>
            </a:avLst>
          </a:prstGeom>
          <a:solidFill>
            <a:srgbClr val="FFFFFF"/>
          </a:solidFill>
          <a:ln w="12700">
            <a:solidFill>
              <a:srgbClr val="FFFFFF"/>
            </a:solidFill>
            <a:prstDash val="solid"/>
          </a:ln>
          <a:effectLst>
            <a:outerShdw sx="100000" sy="100000" kx="0" ky="0" algn="bl" rotWithShape="0" blurRad="76200" dist="25400" dir="5400000">
              <a:srgbClr val="000000">
                <a:alpha val="12000"/>
              </a:srgbClr>
            </a:outerShdw>
          </a:effectLst>
        </p:spPr>
      </p:sp>
      <p:sp>
        <p:nvSpPr>
          <p:cNvPr id="32" name="Shape 25"/>
          <p:cNvSpPr/>
          <p:nvPr/>
        </p:nvSpPr>
        <p:spPr>
          <a:xfrm>
            <a:off x="8402117" y="4160520"/>
            <a:ext cx="685800" cy="685800"/>
          </a:xfrm>
          <a:prstGeom prst="ellipse">
            <a:avLst/>
          </a:prstGeom>
          <a:solidFill>
            <a:srgbClr val="3A3F73"/>
          </a:solidFill>
          <a:ln w="12700">
            <a:solidFill>
              <a:srgbClr val="3A3F73"/>
            </a:solidFill>
            <a:prstDash val="solid"/>
          </a:ln>
        </p:spPr>
      </p:sp>
      <p:pic>
        <p:nvPicPr>
          <p:cNvPr id="33" name="Image 5" descr="preencoded.png">    </p:cNvPr>
          <p:cNvPicPr>
            <a:picLocks noChangeAspect="1"/>
          </p:cNvPicPr>
          <p:nvPr/>
        </p:nvPicPr>
        <p:blipFill>
          <a:blip r:embed="rId6"/>
          <a:stretch>
            <a:fillRect/>
          </a:stretch>
        </p:blipFill>
        <p:spPr>
          <a:xfrm>
            <a:off x="8580425" y="4338828"/>
            <a:ext cx="329184" cy="329184"/>
          </a:xfrm>
          <a:prstGeom prst="rect">
            <a:avLst/>
          </a:prstGeom>
        </p:spPr>
      </p:pic>
      <p:sp>
        <p:nvSpPr>
          <p:cNvPr id="34" name="Text 26"/>
          <p:cNvSpPr txBox="1"/>
          <p:nvPr/>
        </p:nvSpPr>
        <p:spPr>
          <a:xfrm>
            <a:off x="9225077" y="4160520"/>
            <a:ext cx="2235098" cy="685800"/>
          </a:xfrm>
          <a:prstGeom prst="rect">
            <a:avLst/>
          </a:prstGeom>
          <a:noFill/>
          <a:ln/>
        </p:spPr>
        <p:txBody>
          <a:bodyPr wrap="square" lIns="0" tIns="0" rIns="0" bIns="0" rtlCol="0" anchor="ctr"/>
          <a:lstStyle/>
          <a:p>
            <a:pPr indent="0" marL="0">
              <a:buNone/>
            </a:pPr>
            <a:r>
              <a:rPr lang="en-US" sz="1550" b="1" dirty="0">
                <a:solidFill>
                  <a:srgbClr val="3A3F73"/>
                </a:solidFill>
                <a:latin typeface="Meiryo UI" pitchFamily="34" charset="0"/>
                <a:ea typeface="Meiryo UI" pitchFamily="34" charset="-122"/>
                <a:cs typeface="Meiryo UI" pitchFamily="34" charset="-120"/>
              </a:rPr>
              <a:t>定例ミーティング</a:t>
            </a:r>
            <a:endParaRPr lang="en-US" sz="1550" dirty="0"/>
          </a:p>
        </p:txBody>
      </p:sp>
      <p:sp>
        <p:nvSpPr>
          <p:cNvPr id="35" name="Text 27"/>
          <p:cNvSpPr txBox="1"/>
          <p:nvPr/>
        </p:nvSpPr>
        <p:spPr>
          <a:xfrm>
            <a:off x="8402117" y="5029200"/>
            <a:ext cx="2966618" cy="868680"/>
          </a:xfrm>
          <a:prstGeom prst="rect">
            <a:avLst/>
          </a:prstGeom>
          <a:noFill/>
          <a:ln/>
        </p:spPr>
        <p:txBody>
          <a:bodyPr wrap="square" lIns="0" tIns="0" rIns="0" bIns="0" rtlCol="0" anchor="t"/>
          <a:lstStyle/>
          <a:p>
            <a:pPr indent="0" marL="0">
              <a:lnSpc>
                <a:spcPct val="110000"/>
              </a:lnSpc>
              <a:buNone/>
            </a:pPr>
            <a:r>
              <a:rPr lang="en-US" sz="1250" dirty="0">
                <a:solidFill>
                  <a:srgbClr val="2A2B38"/>
                </a:solidFill>
                <a:latin typeface="Meiryo UI" pitchFamily="34" charset="0"/>
                <a:ea typeface="Meiryo UI" pitchFamily="34" charset="-122"/>
                <a:cs typeface="Meiryo UI" pitchFamily="34" charset="-120"/>
              </a:rPr>
              <a:t>月1回（繁忙期は短時間でも）の定例で成果を確認し、翌月の施策を決定</a:t>
            </a:r>
            <a:endParaRPr lang="en-US" sz="1250" dirty="0"/>
          </a:p>
        </p:txBody>
      </p:sp>
    </p:spTree>
  </p:cSld>
  <p:clrMapOvr>
    <a:masterClrMapping/>
  </p:clrMapOvr>
</p:sld>
</file>

<file path=ppt/slides/slide20.xml><?xml version="1.0" encoding="utf-8"?>
<p:sld xmlns:a="http://schemas.openxmlformats.org/drawingml/2006/main" xmlns:r="http://schemas.openxmlformats.org/officeDocument/2006/relationships" xmlns:p="http://schemas.openxmlformats.org/presentationml/2006/main">
  <p:cSld name="Slide 20">
    <p:bg>
      <p:bgPr>
        <a:solidFill>
          <a:srgbClr val="FFFFFF"/>
        </a:solidFill>
      </p:bgPr>
    </p:bg>
    <p:spTree>
      <p:nvGrpSpPr>
        <p:cNvPr id="1" name=""/>
        <p:cNvGrpSpPr/>
        <p:nvPr/>
      </p:nvGrpSpPr>
      <p:grpSpPr>
        <a:xfrm>
          <a:off x="0" y="0"/>
          <a:ext cx="0" cy="0"/>
          <a:chOff x="0" y="0"/>
          <a:chExt cx="0" cy="0"/>
        </a:xfrm>
      </p:grpSpPr>
      <p:sp>
        <p:nvSpPr>
          <p:cNvPr id="2" name="Text 0"/>
          <p:cNvSpPr txBox="1"/>
          <p:nvPr/>
        </p:nvSpPr>
        <p:spPr>
          <a:xfrm>
            <a:off x="548640" y="347472"/>
            <a:ext cx="7315200" cy="274320"/>
          </a:xfrm>
          <a:prstGeom prst="rect">
            <a:avLst/>
          </a:prstGeom>
          <a:noFill/>
          <a:ln/>
        </p:spPr>
        <p:txBody>
          <a:bodyPr wrap="square" lIns="0" tIns="0" rIns="0" bIns="0" rtlCol="0" anchor="t"/>
          <a:lstStyle/>
          <a:p>
            <a:pPr indent="0" marL="0">
              <a:buNone/>
            </a:pPr>
            <a:r>
              <a:rPr lang="en-US" sz="1100" b="1" spc="200" kern="0" dirty="0">
                <a:solidFill>
                  <a:srgbClr val="A87A1C"/>
                </a:solidFill>
                <a:latin typeface="Meiryo UI" pitchFamily="34" charset="0"/>
                <a:ea typeface="Meiryo UI" pitchFamily="34" charset="-122"/>
                <a:cs typeface="Meiryo UI" pitchFamily="34" charset="-120"/>
              </a:rPr>
              <a:t>06｜PHASE 2</a:t>
            </a:r>
            <a:endParaRPr lang="en-US" sz="1100" dirty="0"/>
          </a:p>
        </p:txBody>
      </p:sp>
      <p:sp>
        <p:nvSpPr>
          <p:cNvPr id="3" name="Text 1"/>
          <p:cNvSpPr txBox="1"/>
          <p:nvPr/>
        </p:nvSpPr>
        <p:spPr>
          <a:xfrm>
            <a:off x="548640" y="621792"/>
            <a:ext cx="11094415" cy="566928"/>
          </a:xfrm>
          <a:prstGeom prst="rect">
            <a:avLst/>
          </a:prstGeom>
          <a:noFill/>
          <a:ln/>
        </p:spPr>
        <p:txBody>
          <a:bodyPr wrap="square" lIns="0" tIns="0" rIns="0" bIns="0" rtlCol="0" anchor="ctr"/>
          <a:lstStyle/>
          <a:p>
            <a:pPr indent="0" marL="0">
              <a:buNone/>
            </a:pPr>
            <a:r>
              <a:rPr lang="en-US" sz="2600" b="1" dirty="0">
                <a:solidFill>
                  <a:srgbClr val="3A3F73"/>
                </a:solidFill>
                <a:latin typeface="Meiryo UI" pitchFamily="34" charset="0"/>
                <a:ea typeface="Meiryo UI" pitchFamily="34" charset="-122"/>
                <a:cs typeface="Meiryo UI" pitchFamily="34" charset="-120"/>
              </a:rPr>
              <a:t>12ヶ月の伴走ロードマップ</a:t>
            </a:r>
            <a:endParaRPr lang="en-US" sz="2600" dirty="0"/>
          </a:p>
        </p:txBody>
      </p:sp>
      <p:sp>
        <p:nvSpPr>
          <p:cNvPr id="4" name="Text 2"/>
          <p:cNvSpPr txBox="1"/>
          <p:nvPr/>
        </p:nvSpPr>
        <p:spPr>
          <a:xfrm>
            <a:off x="11094415" y="6419088"/>
            <a:ext cx="548640" cy="256032"/>
          </a:xfrm>
          <a:prstGeom prst="rect">
            <a:avLst/>
          </a:prstGeom>
          <a:noFill/>
          <a:ln/>
        </p:spPr>
        <p:txBody>
          <a:bodyPr wrap="square" lIns="0" tIns="0" rIns="0" bIns="0" rtlCol="0" anchor="t"/>
          <a:lstStyle/>
          <a:p>
            <a:pPr algn="r" indent="0" marL="0">
              <a:buNone/>
            </a:pPr>
            <a:r>
              <a:rPr lang="en-US" sz="1000" dirty="0">
                <a:solidFill>
                  <a:srgbClr val="7C7E90"/>
                </a:solidFill>
                <a:latin typeface="Meiryo UI" pitchFamily="34" charset="0"/>
                <a:ea typeface="Meiryo UI" pitchFamily="34" charset="-122"/>
                <a:cs typeface="Meiryo UI" pitchFamily="34" charset="-120"/>
              </a:rPr>
              <a:t>20</a:t>
            </a:r>
            <a:endParaRPr lang="en-US" sz="1000" dirty="0"/>
          </a:p>
        </p:txBody>
      </p:sp>
      <p:sp>
        <p:nvSpPr>
          <p:cNvPr id="5" name="Text 3"/>
          <p:cNvSpPr txBox="1"/>
          <p:nvPr/>
        </p:nvSpPr>
        <p:spPr>
          <a:xfrm>
            <a:off x="548640" y="6419088"/>
            <a:ext cx="4572000" cy="256032"/>
          </a:xfrm>
          <a:prstGeom prst="rect">
            <a:avLst/>
          </a:prstGeom>
          <a:noFill/>
          <a:ln/>
        </p:spPr>
        <p:txBody>
          <a:bodyPr wrap="square" lIns="0" tIns="0" rIns="0" bIns="0" rtlCol="0" anchor="t"/>
          <a:lstStyle/>
          <a:p>
            <a:pPr indent="0" marL="0">
              <a:buNone/>
            </a:pPr>
            <a:r>
              <a:rPr lang="en-US" sz="900" dirty="0">
                <a:solidFill>
                  <a:srgbClr val="7C7E90"/>
                </a:solidFill>
                <a:latin typeface="Meiryo UI" pitchFamily="34" charset="0"/>
                <a:ea typeface="Meiryo UI" pitchFamily="34" charset="-122"/>
                <a:cs typeface="Meiryo UI" pitchFamily="34" charset="-120"/>
              </a:rPr>
              <a:t>株式会社アイドマ・ホールディングス｜MiTok</a:t>
            </a:r>
            <a:endParaRPr lang="en-US" sz="900" dirty="0"/>
          </a:p>
        </p:txBody>
      </p:sp>
      <p:sp>
        <p:nvSpPr>
          <p:cNvPr id="6" name="Shape 4"/>
          <p:cNvSpPr/>
          <p:nvPr/>
        </p:nvSpPr>
        <p:spPr>
          <a:xfrm>
            <a:off x="548640" y="1463040"/>
            <a:ext cx="2919908" cy="914400"/>
          </a:xfrm>
          <a:prstGeom prst="homePlate">
            <a:avLst/>
          </a:prstGeom>
          <a:solidFill>
            <a:srgbClr val="A87A1C"/>
          </a:solidFill>
          <a:ln w="12700">
            <a:solidFill>
              <a:srgbClr val="A87A1C"/>
            </a:solidFill>
            <a:prstDash val="solid"/>
          </a:ln>
        </p:spPr>
      </p:sp>
      <p:sp>
        <p:nvSpPr>
          <p:cNvPr id="7" name="Text 5"/>
          <p:cNvSpPr txBox="1"/>
          <p:nvPr/>
        </p:nvSpPr>
        <p:spPr>
          <a:xfrm>
            <a:off x="868680" y="1508760"/>
            <a:ext cx="2234108" cy="365760"/>
          </a:xfrm>
          <a:prstGeom prst="rect">
            <a:avLst/>
          </a:prstGeom>
          <a:noFill/>
          <a:ln/>
        </p:spPr>
        <p:txBody>
          <a:bodyPr wrap="square" lIns="0" tIns="0" rIns="0" bIns="0" rtlCol="0" anchor="t"/>
          <a:lstStyle/>
          <a:p>
            <a:pPr algn="ctr" indent="0" marL="0">
              <a:buNone/>
            </a:pPr>
            <a:r>
              <a:rPr lang="en-US" sz="1200" b="1" dirty="0">
                <a:solidFill>
                  <a:srgbClr val="FFFFFF"/>
                </a:solidFill>
                <a:latin typeface="Meiryo UI" pitchFamily="34" charset="0"/>
                <a:ea typeface="Meiryo UI" pitchFamily="34" charset="-122"/>
                <a:cs typeface="Meiryo UI" pitchFamily="34" charset="-120"/>
              </a:rPr>
              <a:t>1〜1.5ヶ月目</a:t>
            </a:r>
            <a:endParaRPr lang="en-US" sz="1200" dirty="0"/>
          </a:p>
        </p:txBody>
      </p:sp>
      <p:sp>
        <p:nvSpPr>
          <p:cNvPr id="8" name="Text 6"/>
          <p:cNvSpPr txBox="1"/>
          <p:nvPr/>
        </p:nvSpPr>
        <p:spPr>
          <a:xfrm>
            <a:off x="868680" y="1847088"/>
            <a:ext cx="2234108" cy="411480"/>
          </a:xfrm>
          <a:prstGeom prst="rect">
            <a:avLst/>
          </a:prstGeom>
          <a:noFill/>
          <a:ln/>
        </p:spPr>
        <p:txBody>
          <a:bodyPr wrap="square" lIns="0" tIns="0" rIns="0" bIns="0" rtlCol="0" anchor="t"/>
          <a:lstStyle/>
          <a:p>
            <a:pPr algn="ctr" indent="0" marL="0">
              <a:buNone/>
            </a:pPr>
            <a:r>
              <a:rPr lang="en-US" sz="1500" b="1" dirty="0">
                <a:solidFill>
                  <a:srgbClr val="FFFFFF"/>
                </a:solidFill>
                <a:latin typeface="Meiryo UI" pitchFamily="34" charset="0"/>
                <a:ea typeface="Meiryo UI" pitchFamily="34" charset="-122"/>
                <a:cs typeface="Meiryo UI" pitchFamily="34" charset="-120"/>
              </a:rPr>
              <a:t>助走期（フェーズ1）</a:t>
            </a:r>
            <a:endParaRPr lang="en-US" sz="1500" dirty="0"/>
          </a:p>
        </p:txBody>
      </p:sp>
      <p:sp>
        <p:nvSpPr>
          <p:cNvPr id="9" name="Shape 7"/>
          <p:cNvSpPr/>
          <p:nvPr/>
        </p:nvSpPr>
        <p:spPr>
          <a:xfrm>
            <a:off x="548640" y="2651760"/>
            <a:ext cx="2691308" cy="2148840"/>
          </a:xfrm>
          <a:prstGeom prst="roundRect">
            <a:avLst>
              <a:gd name="adj" fmla="val 5106"/>
            </a:avLst>
          </a:prstGeom>
          <a:solidFill>
            <a:srgbClr val="F6F7FB"/>
          </a:solidFill>
          <a:ln w="12700">
            <a:solidFill>
              <a:srgbClr val="F6F7FB"/>
            </a:solidFill>
            <a:prstDash val="solid"/>
          </a:ln>
        </p:spPr>
      </p:sp>
      <p:sp>
        <p:nvSpPr>
          <p:cNvPr id="10" name="Text 8"/>
          <p:cNvSpPr txBox="1"/>
          <p:nvPr/>
        </p:nvSpPr>
        <p:spPr>
          <a:xfrm>
            <a:off x="777240" y="2761488"/>
            <a:ext cx="2234108" cy="274320"/>
          </a:xfrm>
          <a:prstGeom prst="rect">
            <a:avLst/>
          </a:prstGeom>
          <a:noFill/>
          <a:ln/>
        </p:spPr>
        <p:txBody>
          <a:bodyPr wrap="square" lIns="0" tIns="0" rIns="0" bIns="0" rtlCol="0" anchor="t"/>
          <a:lstStyle/>
          <a:p>
            <a:pPr indent="0" marL="0">
              <a:buNone/>
            </a:pPr>
            <a:r>
              <a:rPr lang="en-US" sz="1050" b="1" dirty="0">
                <a:solidFill>
                  <a:srgbClr val="686A82"/>
                </a:solidFill>
                <a:latin typeface="Meiryo UI" pitchFamily="34" charset="0"/>
                <a:ea typeface="Meiryo UI" pitchFamily="34" charset="-122"/>
                <a:cs typeface="Meiryo UI" pitchFamily="34" charset="-120"/>
              </a:rPr>
              <a:t>主な実施内容</a:t>
            </a:r>
            <a:endParaRPr lang="en-US" sz="1050" dirty="0"/>
          </a:p>
        </p:txBody>
      </p:sp>
      <p:sp>
        <p:nvSpPr>
          <p:cNvPr id="11" name="Text 9"/>
          <p:cNvSpPr txBox="1"/>
          <p:nvPr/>
        </p:nvSpPr>
        <p:spPr>
          <a:xfrm>
            <a:off x="777240" y="3063240"/>
            <a:ext cx="2325548" cy="1645920"/>
          </a:xfrm>
          <a:prstGeom prst="rect">
            <a:avLst/>
          </a:prstGeom>
          <a:noFill/>
          <a:ln/>
        </p:spPr>
        <p:txBody>
          <a:bodyPr wrap="square" lIns="0" tIns="0" rIns="0" bIns="0" rtlCol="0" anchor="t"/>
          <a:lstStyle/>
          <a:p>
            <a:pPr marL="342900" indent="-342900">
              <a:spcAft>
                <a:spcPts val="500"/>
              </a:spcAft>
              <a:buSzPct val="100000"/>
              <a:buChar char="•"/>
            </a:pPr>
            <a:r>
              <a:rPr lang="en-US" sz="1150" dirty="0">
                <a:solidFill>
                  <a:srgbClr val="2A2B38"/>
                </a:solidFill>
                <a:latin typeface="Meiryo UI" pitchFamily="34" charset="0"/>
                <a:ea typeface="Meiryo UI" pitchFamily="34" charset="-122"/>
                <a:cs typeface="Meiryo UI" pitchFamily="34" charset="-120"/>
              </a:rPr>
              <a:t>無料3本の制作・配信</a:t>
            </a:r>
            <a:endParaRPr lang="en-US" sz="1150" dirty="0"/>
          </a:p>
          <a:p>
            <a:pPr marL="342900" indent="-342900">
              <a:spcAft>
                <a:spcPts val="500"/>
              </a:spcAft>
              <a:buSzPct val="100000"/>
              <a:buChar char="•"/>
            </a:pPr>
            <a:r>
              <a:rPr lang="en-US" sz="1150" dirty="0">
                <a:solidFill>
                  <a:srgbClr val="2A2B38"/>
                </a:solidFill>
                <a:latin typeface="Meiryo UI" pitchFamily="34" charset="0"/>
                <a:ea typeface="Meiryo UI" pitchFamily="34" charset="-122"/>
                <a:cs typeface="Meiryo UI" pitchFamily="34" charset="-120"/>
              </a:rPr>
              <a:t>効果検証</a:t>
            </a:r>
            <a:endParaRPr lang="en-US" sz="1150" dirty="0"/>
          </a:p>
        </p:txBody>
      </p:sp>
      <p:sp>
        <p:nvSpPr>
          <p:cNvPr id="12" name="Shape 10"/>
          <p:cNvSpPr/>
          <p:nvPr/>
        </p:nvSpPr>
        <p:spPr>
          <a:xfrm>
            <a:off x="548640" y="4983480"/>
            <a:ext cx="2691308" cy="1234440"/>
          </a:xfrm>
          <a:prstGeom prst="roundRect">
            <a:avLst>
              <a:gd name="adj" fmla="val 8889"/>
            </a:avLst>
          </a:prstGeom>
          <a:solidFill>
            <a:srgbClr val="EEEFF7"/>
          </a:solidFill>
          <a:ln w="12700">
            <a:solidFill>
              <a:srgbClr val="EEEFF7"/>
            </a:solidFill>
            <a:prstDash val="solid"/>
          </a:ln>
        </p:spPr>
      </p:sp>
      <p:sp>
        <p:nvSpPr>
          <p:cNvPr id="13" name="Text 11"/>
          <p:cNvSpPr txBox="1"/>
          <p:nvPr/>
        </p:nvSpPr>
        <p:spPr>
          <a:xfrm>
            <a:off x="777240" y="5074920"/>
            <a:ext cx="2234108" cy="274320"/>
          </a:xfrm>
          <a:prstGeom prst="rect">
            <a:avLst/>
          </a:prstGeom>
          <a:noFill/>
          <a:ln/>
        </p:spPr>
        <p:txBody>
          <a:bodyPr wrap="square" lIns="0" tIns="0" rIns="0" bIns="0" rtlCol="0" anchor="t"/>
          <a:lstStyle/>
          <a:p>
            <a:pPr indent="0" marL="0">
              <a:buNone/>
            </a:pPr>
            <a:r>
              <a:rPr lang="en-US" sz="1050" b="1" dirty="0">
                <a:solidFill>
                  <a:srgbClr val="A87A1C"/>
                </a:solidFill>
                <a:latin typeface="Meiryo UI" pitchFamily="34" charset="0"/>
                <a:ea typeface="Meiryo UI" pitchFamily="34" charset="-122"/>
                <a:cs typeface="Meiryo UI" pitchFamily="34" charset="-120"/>
              </a:rPr>
              <a:t>到達目標</a:t>
            </a:r>
            <a:endParaRPr lang="en-US" sz="1050" dirty="0"/>
          </a:p>
        </p:txBody>
      </p:sp>
      <p:sp>
        <p:nvSpPr>
          <p:cNvPr id="14" name="Text 12"/>
          <p:cNvSpPr txBox="1"/>
          <p:nvPr/>
        </p:nvSpPr>
        <p:spPr>
          <a:xfrm>
            <a:off x="777240" y="5349240"/>
            <a:ext cx="2234108" cy="777240"/>
          </a:xfrm>
          <a:prstGeom prst="rect">
            <a:avLst/>
          </a:prstGeom>
          <a:noFill/>
          <a:ln/>
        </p:spPr>
        <p:txBody>
          <a:bodyPr wrap="square" lIns="0" tIns="0" rIns="0" bIns="0" rtlCol="0" anchor="t"/>
          <a:lstStyle/>
          <a:p>
            <a:pPr indent="0" marL="0">
              <a:buNone/>
            </a:pPr>
            <a:r>
              <a:rPr lang="en-US" sz="1250" b="1" dirty="0">
                <a:solidFill>
                  <a:srgbClr val="262A52"/>
                </a:solidFill>
                <a:latin typeface="Meiryo UI" pitchFamily="34" charset="0"/>
                <a:ea typeface="Meiryo UI" pitchFamily="34" charset="-122"/>
                <a:cs typeface="Meiryo UI" pitchFamily="34" charset="-120"/>
              </a:rPr>
              <a:t>「勝ちパターン」の仮説特定</a:t>
            </a:r>
            <a:endParaRPr lang="en-US" sz="1250" dirty="0"/>
          </a:p>
        </p:txBody>
      </p:sp>
      <p:sp>
        <p:nvSpPr>
          <p:cNvPr id="15" name="Shape 13"/>
          <p:cNvSpPr/>
          <p:nvPr/>
        </p:nvSpPr>
        <p:spPr>
          <a:xfrm>
            <a:off x="3349676" y="1463040"/>
            <a:ext cx="2919908" cy="914400"/>
          </a:xfrm>
          <a:prstGeom prst="chevron">
            <a:avLst/>
          </a:prstGeom>
          <a:solidFill>
            <a:srgbClr val="3A3F73">
              <a:alpha val="80000"/>
            </a:srgbClr>
          </a:solidFill>
          <a:ln w="12700">
            <a:solidFill>
              <a:srgbClr val="3A3F73"/>
            </a:solidFill>
            <a:prstDash val="solid"/>
          </a:ln>
        </p:spPr>
      </p:sp>
      <p:sp>
        <p:nvSpPr>
          <p:cNvPr id="16" name="Text 14"/>
          <p:cNvSpPr txBox="1"/>
          <p:nvPr/>
        </p:nvSpPr>
        <p:spPr>
          <a:xfrm>
            <a:off x="3669716" y="1508760"/>
            <a:ext cx="2234108" cy="365760"/>
          </a:xfrm>
          <a:prstGeom prst="rect">
            <a:avLst/>
          </a:prstGeom>
          <a:noFill/>
          <a:ln/>
        </p:spPr>
        <p:txBody>
          <a:bodyPr wrap="square" lIns="0" tIns="0" rIns="0" bIns="0" rtlCol="0" anchor="t"/>
          <a:lstStyle/>
          <a:p>
            <a:pPr algn="ctr" indent="0" marL="0">
              <a:buNone/>
            </a:pPr>
            <a:r>
              <a:rPr lang="en-US" sz="1200" b="1" dirty="0">
                <a:solidFill>
                  <a:srgbClr val="FFFFFF"/>
                </a:solidFill>
                <a:latin typeface="Meiryo UI" pitchFamily="34" charset="0"/>
                <a:ea typeface="Meiryo UI" pitchFamily="34" charset="-122"/>
                <a:cs typeface="Meiryo UI" pitchFamily="34" charset="-120"/>
              </a:rPr>
              <a:t>2〜3ヶ月目</a:t>
            </a:r>
            <a:endParaRPr lang="en-US" sz="1200" dirty="0"/>
          </a:p>
        </p:txBody>
      </p:sp>
      <p:sp>
        <p:nvSpPr>
          <p:cNvPr id="17" name="Text 15"/>
          <p:cNvSpPr txBox="1"/>
          <p:nvPr/>
        </p:nvSpPr>
        <p:spPr>
          <a:xfrm>
            <a:off x="3669716" y="1847088"/>
            <a:ext cx="2234108" cy="411480"/>
          </a:xfrm>
          <a:prstGeom prst="rect">
            <a:avLst/>
          </a:prstGeom>
          <a:noFill/>
          <a:ln/>
        </p:spPr>
        <p:txBody>
          <a:bodyPr wrap="square" lIns="0" tIns="0" rIns="0" bIns="0" rtlCol="0" anchor="t"/>
          <a:lstStyle/>
          <a:p>
            <a:pPr algn="ctr" indent="0" marL="0">
              <a:buNone/>
            </a:pPr>
            <a:r>
              <a:rPr lang="en-US" sz="1500" b="1" dirty="0">
                <a:solidFill>
                  <a:srgbClr val="FFFFFF"/>
                </a:solidFill>
                <a:latin typeface="Meiryo UI" pitchFamily="34" charset="0"/>
                <a:ea typeface="Meiryo UI" pitchFamily="34" charset="-122"/>
                <a:cs typeface="Meiryo UI" pitchFamily="34" charset="-120"/>
              </a:rPr>
              <a:t>立ち上げ期</a:t>
            </a:r>
            <a:endParaRPr lang="en-US" sz="1500" dirty="0"/>
          </a:p>
        </p:txBody>
      </p:sp>
      <p:sp>
        <p:nvSpPr>
          <p:cNvPr id="18" name="Shape 16"/>
          <p:cNvSpPr/>
          <p:nvPr/>
        </p:nvSpPr>
        <p:spPr>
          <a:xfrm>
            <a:off x="3349676" y="2651760"/>
            <a:ext cx="2691308" cy="2148840"/>
          </a:xfrm>
          <a:prstGeom prst="roundRect">
            <a:avLst>
              <a:gd name="adj" fmla="val 5106"/>
            </a:avLst>
          </a:prstGeom>
          <a:solidFill>
            <a:srgbClr val="F6F7FB"/>
          </a:solidFill>
          <a:ln w="12700">
            <a:solidFill>
              <a:srgbClr val="F6F7FB"/>
            </a:solidFill>
            <a:prstDash val="solid"/>
          </a:ln>
        </p:spPr>
      </p:sp>
      <p:sp>
        <p:nvSpPr>
          <p:cNvPr id="19" name="Text 17"/>
          <p:cNvSpPr txBox="1"/>
          <p:nvPr/>
        </p:nvSpPr>
        <p:spPr>
          <a:xfrm>
            <a:off x="3578276" y="2761488"/>
            <a:ext cx="2234108" cy="274320"/>
          </a:xfrm>
          <a:prstGeom prst="rect">
            <a:avLst/>
          </a:prstGeom>
          <a:noFill/>
          <a:ln/>
        </p:spPr>
        <p:txBody>
          <a:bodyPr wrap="square" lIns="0" tIns="0" rIns="0" bIns="0" rtlCol="0" anchor="t"/>
          <a:lstStyle/>
          <a:p>
            <a:pPr indent="0" marL="0">
              <a:buNone/>
            </a:pPr>
            <a:r>
              <a:rPr lang="en-US" sz="1050" b="1" dirty="0">
                <a:solidFill>
                  <a:srgbClr val="686A82"/>
                </a:solidFill>
                <a:latin typeface="Meiryo UI" pitchFamily="34" charset="0"/>
                <a:ea typeface="Meiryo UI" pitchFamily="34" charset="-122"/>
                <a:cs typeface="Meiryo UI" pitchFamily="34" charset="-120"/>
              </a:rPr>
              <a:t>主な実施内容</a:t>
            </a:r>
            <a:endParaRPr lang="en-US" sz="1050" dirty="0"/>
          </a:p>
        </p:txBody>
      </p:sp>
      <p:sp>
        <p:nvSpPr>
          <p:cNvPr id="20" name="Text 18"/>
          <p:cNvSpPr txBox="1"/>
          <p:nvPr/>
        </p:nvSpPr>
        <p:spPr>
          <a:xfrm>
            <a:off x="3578276" y="3063240"/>
            <a:ext cx="2325548" cy="1645920"/>
          </a:xfrm>
          <a:prstGeom prst="rect">
            <a:avLst/>
          </a:prstGeom>
          <a:noFill/>
          <a:ln/>
        </p:spPr>
        <p:txBody>
          <a:bodyPr wrap="square" lIns="0" tIns="0" rIns="0" bIns="0" rtlCol="0" anchor="t"/>
          <a:lstStyle/>
          <a:p>
            <a:pPr marL="342900" indent="-342900">
              <a:spcAft>
                <a:spcPts val="500"/>
              </a:spcAft>
              <a:buSzPct val="100000"/>
              <a:buChar char="•"/>
            </a:pPr>
            <a:r>
              <a:rPr lang="en-US" sz="1150" dirty="0">
                <a:solidFill>
                  <a:srgbClr val="2A2B38"/>
                </a:solidFill>
                <a:latin typeface="Meiryo UI" pitchFamily="34" charset="0"/>
                <a:ea typeface="Meiryo UI" pitchFamily="34" charset="-122"/>
                <a:cs typeface="Meiryo UI" pitchFamily="34" charset="-120"/>
              </a:rPr>
              <a:t>勝ちパターンの横展開</a:t>
            </a:r>
            <a:endParaRPr lang="en-US" sz="1150" dirty="0"/>
          </a:p>
          <a:p>
            <a:pPr marL="342900" indent="-342900">
              <a:spcAft>
                <a:spcPts val="500"/>
              </a:spcAft>
              <a:buSzPct val="100000"/>
              <a:buChar char="•"/>
            </a:pPr>
            <a:r>
              <a:rPr lang="en-US" sz="1150" dirty="0">
                <a:solidFill>
                  <a:srgbClr val="2A2B38"/>
                </a:solidFill>
                <a:latin typeface="Meiryo UI" pitchFamily="34" charset="0"/>
                <a:ea typeface="Meiryo UI" pitchFamily="34" charset="-122"/>
                <a:cs typeface="Meiryo UI" pitchFamily="34" charset="-120"/>
              </a:rPr>
              <a:t>顧問先への月次の動画ニュース開始</a:t>
            </a:r>
            <a:endParaRPr lang="en-US" sz="1150" dirty="0"/>
          </a:p>
          <a:p>
            <a:pPr marL="342900" indent="-342900">
              <a:spcAft>
                <a:spcPts val="500"/>
              </a:spcAft>
              <a:buSzPct val="100000"/>
              <a:buChar char="•"/>
            </a:pPr>
            <a:r>
              <a:rPr lang="en-US" sz="1150" dirty="0">
                <a:solidFill>
                  <a:srgbClr val="2A2B38"/>
                </a:solidFill>
                <a:latin typeface="Meiryo UI" pitchFamily="34" charset="0"/>
                <a:ea typeface="Meiryo UI" pitchFamily="34" charset="-122"/>
                <a:cs typeface="Meiryo UI" pitchFamily="34" charset="-120"/>
              </a:rPr>
              <a:t>在宅スタッフによる運用開始</a:t>
            </a:r>
            <a:endParaRPr lang="en-US" sz="1150" dirty="0"/>
          </a:p>
        </p:txBody>
      </p:sp>
      <p:sp>
        <p:nvSpPr>
          <p:cNvPr id="21" name="Shape 19"/>
          <p:cNvSpPr/>
          <p:nvPr/>
        </p:nvSpPr>
        <p:spPr>
          <a:xfrm>
            <a:off x="3349676" y="4983480"/>
            <a:ext cx="2691308" cy="1234440"/>
          </a:xfrm>
          <a:prstGeom prst="roundRect">
            <a:avLst>
              <a:gd name="adj" fmla="val 8889"/>
            </a:avLst>
          </a:prstGeom>
          <a:solidFill>
            <a:srgbClr val="EEEFF7"/>
          </a:solidFill>
          <a:ln w="12700">
            <a:solidFill>
              <a:srgbClr val="EEEFF7"/>
            </a:solidFill>
            <a:prstDash val="solid"/>
          </a:ln>
        </p:spPr>
      </p:sp>
      <p:sp>
        <p:nvSpPr>
          <p:cNvPr id="22" name="Text 20"/>
          <p:cNvSpPr txBox="1"/>
          <p:nvPr/>
        </p:nvSpPr>
        <p:spPr>
          <a:xfrm>
            <a:off x="3578276" y="5074920"/>
            <a:ext cx="2234108" cy="274320"/>
          </a:xfrm>
          <a:prstGeom prst="rect">
            <a:avLst/>
          </a:prstGeom>
          <a:noFill/>
          <a:ln/>
        </p:spPr>
        <p:txBody>
          <a:bodyPr wrap="square" lIns="0" tIns="0" rIns="0" bIns="0" rtlCol="0" anchor="t"/>
          <a:lstStyle/>
          <a:p>
            <a:pPr indent="0" marL="0">
              <a:buNone/>
            </a:pPr>
            <a:r>
              <a:rPr lang="en-US" sz="1050" b="1" dirty="0">
                <a:solidFill>
                  <a:srgbClr val="A87A1C"/>
                </a:solidFill>
                <a:latin typeface="Meiryo UI" pitchFamily="34" charset="0"/>
                <a:ea typeface="Meiryo UI" pitchFamily="34" charset="-122"/>
                <a:cs typeface="Meiryo UI" pitchFamily="34" charset="-120"/>
              </a:rPr>
              <a:t>到達目標</a:t>
            </a:r>
            <a:endParaRPr lang="en-US" sz="1050" dirty="0"/>
          </a:p>
        </p:txBody>
      </p:sp>
      <p:sp>
        <p:nvSpPr>
          <p:cNvPr id="23" name="Text 21"/>
          <p:cNvSpPr txBox="1"/>
          <p:nvPr/>
        </p:nvSpPr>
        <p:spPr>
          <a:xfrm>
            <a:off x="3578276" y="5349240"/>
            <a:ext cx="2234108" cy="777240"/>
          </a:xfrm>
          <a:prstGeom prst="rect">
            <a:avLst/>
          </a:prstGeom>
          <a:noFill/>
          <a:ln/>
        </p:spPr>
        <p:txBody>
          <a:bodyPr wrap="square" lIns="0" tIns="0" rIns="0" bIns="0" rtlCol="0" anchor="t"/>
          <a:lstStyle/>
          <a:p>
            <a:pPr indent="0" marL="0">
              <a:buNone/>
            </a:pPr>
            <a:r>
              <a:rPr lang="en-US" sz="1250" b="1" dirty="0">
                <a:solidFill>
                  <a:srgbClr val="262A52"/>
                </a:solidFill>
                <a:latin typeface="Meiryo UI" pitchFamily="34" charset="0"/>
                <a:ea typeface="Meiryo UI" pitchFamily="34" charset="-122"/>
                <a:cs typeface="Meiryo UI" pitchFamily="34" charset="-120"/>
              </a:rPr>
              <a:t>年末調整の繁忙期でも発信が止まらない</a:t>
            </a:r>
            <a:endParaRPr lang="en-US" sz="1250" dirty="0"/>
          </a:p>
        </p:txBody>
      </p:sp>
      <p:sp>
        <p:nvSpPr>
          <p:cNvPr id="24" name="Shape 22"/>
          <p:cNvSpPr/>
          <p:nvPr/>
        </p:nvSpPr>
        <p:spPr>
          <a:xfrm>
            <a:off x="6150712" y="1463040"/>
            <a:ext cx="2919908" cy="914400"/>
          </a:xfrm>
          <a:prstGeom prst="chevron">
            <a:avLst/>
          </a:prstGeom>
          <a:solidFill>
            <a:srgbClr val="3A3F73">
              <a:alpha val="90000"/>
            </a:srgbClr>
          </a:solidFill>
          <a:ln w="12700">
            <a:solidFill>
              <a:srgbClr val="3A3F73"/>
            </a:solidFill>
            <a:prstDash val="solid"/>
          </a:ln>
        </p:spPr>
      </p:sp>
      <p:sp>
        <p:nvSpPr>
          <p:cNvPr id="25" name="Text 23"/>
          <p:cNvSpPr txBox="1"/>
          <p:nvPr/>
        </p:nvSpPr>
        <p:spPr>
          <a:xfrm>
            <a:off x="6470752" y="1508760"/>
            <a:ext cx="2234108" cy="365760"/>
          </a:xfrm>
          <a:prstGeom prst="rect">
            <a:avLst/>
          </a:prstGeom>
          <a:noFill/>
          <a:ln/>
        </p:spPr>
        <p:txBody>
          <a:bodyPr wrap="square" lIns="0" tIns="0" rIns="0" bIns="0" rtlCol="0" anchor="t"/>
          <a:lstStyle/>
          <a:p>
            <a:pPr algn="ctr" indent="0" marL="0">
              <a:buNone/>
            </a:pPr>
            <a:r>
              <a:rPr lang="en-US" sz="1200" b="1" dirty="0">
                <a:solidFill>
                  <a:srgbClr val="FFFFFF"/>
                </a:solidFill>
                <a:latin typeface="Meiryo UI" pitchFamily="34" charset="0"/>
                <a:ea typeface="Meiryo UI" pitchFamily="34" charset="-122"/>
                <a:cs typeface="Meiryo UI" pitchFamily="34" charset="-120"/>
              </a:rPr>
              <a:t>4〜6ヶ月目</a:t>
            </a:r>
            <a:endParaRPr lang="en-US" sz="1200" dirty="0"/>
          </a:p>
        </p:txBody>
      </p:sp>
      <p:sp>
        <p:nvSpPr>
          <p:cNvPr id="26" name="Text 24"/>
          <p:cNvSpPr txBox="1"/>
          <p:nvPr/>
        </p:nvSpPr>
        <p:spPr>
          <a:xfrm>
            <a:off x="6470752" y="1847088"/>
            <a:ext cx="2234108" cy="411480"/>
          </a:xfrm>
          <a:prstGeom prst="rect">
            <a:avLst/>
          </a:prstGeom>
          <a:noFill/>
          <a:ln/>
        </p:spPr>
        <p:txBody>
          <a:bodyPr wrap="square" lIns="0" tIns="0" rIns="0" bIns="0" rtlCol="0" anchor="t"/>
          <a:lstStyle/>
          <a:p>
            <a:pPr algn="ctr" indent="0" marL="0">
              <a:buNone/>
            </a:pPr>
            <a:r>
              <a:rPr lang="en-US" sz="1500" b="1" dirty="0">
                <a:solidFill>
                  <a:srgbClr val="FFFFFF"/>
                </a:solidFill>
                <a:latin typeface="Meiryo UI" pitchFamily="34" charset="0"/>
                <a:ea typeface="Meiryo UI" pitchFamily="34" charset="-122"/>
                <a:cs typeface="Meiryo UI" pitchFamily="34" charset="-120"/>
              </a:rPr>
              <a:t>拡大期</a:t>
            </a:r>
            <a:endParaRPr lang="en-US" sz="1500" dirty="0"/>
          </a:p>
        </p:txBody>
      </p:sp>
      <p:sp>
        <p:nvSpPr>
          <p:cNvPr id="27" name="Shape 25"/>
          <p:cNvSpPr/>
          <p:nvPr/>
        </p:nvSpPr>
        <p:spPr>
          <a:xfrm>
            <a:off x="6150712" y="2651760"/>
            <a:ext cx="2691308" cy="2148840"/>
          </a:xfrm>
          <a:prstGeom prst="roundRect">
            <a:avLst>
              <a:gd name="adj" fmla="val 5106"/>
            </a:avLst>
          </a:prstGeom>
          <a:solidFill>
            <a:srgbClr val="F6F7FB"/>
          </a:solidFill>
          <a:ln w="12700">
            <a:solidFill>
              <a:srgbClr val="F6F7FB"/>
            </a:solidFill>
            <a:prstDash val="solid"/>
          </a:ln>
        </p:spPr>
      </p:sp>
      <p:sp>
        <p:nvSpPr>
          <p:cNvPr id="28" name="Text 26"/>
          <p:cNvSpPr txBox="1"/>
          <p:nvPr/>
        </p:nvSpPr>
        <p:spPr>
          <a:xfrm>
            <a:off x="6379312" y="2761488"/>
            <a:ext cx="2234108" cy="274320"/>
          </a:xfrm>
          <a:prstGeom prst="rect">
            <a:avLst/>
          </a:prstGeom>
          <a:noFill/>
          <a:ln/>
        </p:spPr>
        <p:txBody>
          <a:bodyPr wrap="square" lIns="0" tIns="0" rIns="0" bIns="0" rtlCol="0" anchor="t"/>
          <a:lstStyle/>
          <a:p>
            <a:pPr indent="0" marL="0">
              <a:buNone/>
            </a:pPr>
            <a:r>
              <a:rPr lang="en-US" sz="1050" b="1" dirty="0">
                <a:solidFill>
                  <a:srgbClr val="686A82"/>
                </a:solidFill>
                <a:latin typeface="Meiryo UI" pitchFamily="34" charset="0"/>
                <a:ea typeface="Meiryo UI" pitchFamily="34" charset="-122"/>
                <a:cs typeface="Meiryo UI" pitchFamily="34" charset="-120"/>
              </a:rPr>
              <a:t>主な実施内容</a:t>
            </a:r>
            <a:endParaRPr lang="en-US" sz="1050" dirty="0"/>
          </a:p>
        </p:txBody>
      </p:sp>
      <p:sp>
        <p:nvSpPr>
          <p:cNvPr id="29" name="Text 27"/>
          <p:cNvSpPr txBox="1"/>
          <p:nvPr/>
        </p:nvSpPr>
        <p:spPr>
          <a:xfrm>
            <a:off x="6379312" y="3063240"/>
            <a:ext cx="2325548" cy="1645920"/>
          </a:xfrm>
          <a:prstGeom prst="rect">
            <a:avLst/>
          </a:prstGeom>
          <a:noFill/>
          <a:ln/>
        </p:spPr>
        <p:txBody>
          <a:bodyPr wrap="square" lIns="0" tIns="0" rIns="0" bIns="0" rtlCol="0" anchor="t"/>
          <a:lstStyle/>
          <a:p>
            <a:pPr marL="342900" indent="-342900">
              <a:spcAft>
                <a:spcPts val="500"/>
              </a:spcAft>
              <a:buSzPct val="100000"/>
              <a:buChar char="•"/>
            </a:pPr>
            <a:r>
              <a:rPr lang="en-US" sz="1150" dirty="0">
                <a:solidFill>
                  <a:srgbClr val="2A2B38"/>
                </a:solidFill>
                <a:latin typeface="Meiryo UI" pitchFamily="34" charset="0"/>
                <a:ea typeface="Meiryo UI" pitchFamily="34" charset="-122"/>
                <a:cs typeface="Meiryo UI" pitchFamily="34" charset="-120"/>
              </a:rPr>
              <a:t>確定申告シーズンの個人向け発信</a:t>
            </a:r>
            <a:endParaRPr lang="en-US" sz="1150" dirty="0"/>
          </a:p>
          <a:p>
            <a:pPr marL="342900" indent="-342900">
              <a:spcAft>
                <a:spcPts val="500"/>
              </a:spcAft>
              <a:buSzPct val="100000"/>
              <a:buChar char="•"/>
            </a:pPr>
            <a:r>
              <a:rPr lang="en-US" sz="1150" dirty="0">
                <a:solidFill>
                  <a:srgbClr val="2A2B38"/>
                </a:solidFill>
                <a:latin typeface="Meiryo UI" pitchFamily="34" charset="0"/>
                <a:ea typeface="Meiryo UI" pitchFamily="34" charset="-122"/>
                <a:cs typeface="Meiryo UI" pitchFamily="34" charset="-120"/>
              </a:rPr>
              <a:t>YouTube検索からの流入強化</a:t>
            </a:r>
            <a:endParaRPr lang="en-US" sz="1150" dirty="0"/>
          </a:p>
          <a:p>
            <a:pPr marL="342900" indent="-342900">
              <a:spcAft>
                <a:spcPts val="500"/>
              </a:spcAft>
              <a:buSzPct val="100000"/>
              <a:buChar char="•"/>
            </a:pPr>
            <a:r>
              <a:rPr lang="en-US" sz="1150" dirty="0">
                <a:solidFill>
                  <a:srgbClr val="2A2B38"/>
                </a:solidFill>
                <a:latin typeface="Meiryo UI" pitchFamily="34" charset="0"/>
                <a:ea typeface="Meiryo UI" pitchFamily="34" charset="-122"/>
                <a:cs typeface="Meiryo UI" pitchFamily="34" charset="-120"/>
              </a:rPr>
              <a:t>HPの導線改善</a:t>
            </a:r>
            <a:endParaRPr lang="en-US" sz="1150" dirty="0"/>
          </a:p>
        </p:txBody>
      </p:sp>
      <p:sp>
        <p:nvSpPr>
          <p:cNvPr id="30" name="Shape 28"/>
          <p:cNvSpPr/>
          <p:nvPr/>
        </p:nvSpPr>
        <p:spPr>
          <a:xfrm>
            <a:off x="6150712" y="4983480"/>
            <a:ext cx="2691308" cy="1234440"/>
          </a:xfrm>
          <a:prstGeom prst="roundRect">
            <a:avLst>
              <a:gd name="adj" fmla="val 8889"/>
            </a:avLst>
          </a:prstGeom>
          <a:solidFill>
            <a:srgbClr val="EEEFF7"/>
          </a:solidFill>
          <a:ln w="12700">
            <a:solidFill>
              <a:srgbClr val="EEEFF7"/>
            </a:solidFill>
            <a:prstDash val="solid"/>
          </a:ln>
        </p:spPr>
      </p:sp>
      <p:sp>
        <p:nvSpPr>
          <p:cNvPr id="31" name="Text 29"/>
          <p:cNvSpPr txBox="1"/>
          <p:nvPr/>
        </p:nvSpPr>
        <p:spPr>
          <a:xfrm>
            <a:off x="6379312" y="5074920"/>
            <a:ext cx="2234108" cy="274320"/>
          </a:xfrm>
          <a:prstGeom prst="rect">
            <a:avLst/>
          </a:prstGeom>
          <a:noFill/>
          <a:ln/>
        </p:spPr>
        <p:txBody>
          <a:bodyPr wrap="square" lIns="0" tIns="0" rIns="0" bIns="0" rtlCol="0" anchor="t"/>
          <a:lstStyle/>
          <a:p>
            <a:pPr indent="0" marL="0">
              <a:buNone/>
            </a:pPr>
            <a:r>
              <a:rPr lang="en-US" sz="1050" b="1" dirty="0">
                <a:solidFill>
                  <a:srgbClr val="A87A1C"/>
                </a:solidFill>
                <a:latin typeface="Meiryo UI" pitchFamily="34" charset="0"/>
                <a:ea typeface="Meiryo UI" pitchFamily="34" charset="-122"/>
                <a:cs typeface="Meiryo UI" pitchFamily="34" charset="-120"/>
              </a:rPr>
              <a:t>到達目標</a:t>
            </a:r>
            <a:endParaRPr lang="en-US" sz="1050" dirty="0"/>
          </a:p>
        </p:txBody>
      </p:sp>
      <p:sp>
        <p:nvSpPr>
          <p:cNvPr id="32" name="Text 30"/>
          <p:cNvSpPr txBox="1"/>
          <p:nvPr/>
        </p:nvSpPr>
        <p:spPr>
          <a:xfrm>
            <a:off x="6379312" y="5349240"/>
            <a:ext cx="2234108" cy="777240"/>
          </a:xfrm>
          <a:prstGeom prst="rect">
            <a:avLst/>
          </a:prstGeom>
          <a:noFill/>
          <a:ln/>
        </p:spPr>
        <p:txBody>
          <a:bodyPr wrap="square" lIns="0" tIns="0" rIns="0" bIns="0" rtlCol="0" anchor="t"/>
          <a:lstStyle/>
          <a:p>
            <a:pPr indent="0" marL="0">
              <a:buNone/>
            </a:pPr>
            <a:r>
              <a:rPr lang="en-US" sz="1250" b="1" dirty="0">
                <a:solidFill>
                  <a:srgbClr val="262A52"/>
                </a:solidFill>
                <a:latin typeface="Meiryo UI" pitchFamily="34" charset="0"/>
                <a:ea typeface="Meiryo UI" pitchFamily="34" charset="-122"/>
                <a:cs typeface="Meiryo UI" pitchFamily="34" charset="-120"/>
              </a:rPr>
              <a:t>個人からの問い合わせが継続的に増える</a:t>
            </a:r>
            <a:endParaRPr lang="en-US" sz="1250" dirty="0"/>
          </a:p>
        </p:txBody>
      </p:sp>
      <p:sp>
        <p:nvSpPr>
          <p:cNvPr id="33" name="Shape 31"/>
          <p:cNvSpPr/>
          <p:nvPr/>
        </p:nvSpPr>
        <p:spPr>
          <a:xfrm>
            <a:off x="8951747" y="1463040"/>
            <a:ext cx="2691308" cy="914400"/>
          </a:xfrm>
          <a:prstGeom prst="chevron">
            <a:avLst/>
          </a:prstGeom>
          <a:solidFill>
            <a:srgbClr val="3A3F73"/>
          </a:solidFill>
          <a:ln w="12700">
            <a:solidFill>
              <a:srgbClr val="3A3F73"/>
            </a:solidFill>
            <a:prstDash val="solid"/>
          </a:ln>
        </p:spPr>
      </p:sp>
      <p:sp>
        <p:nvSpPr>
          <p:cNvPr id="34" name="Text 32"/>
          <p:cNvSpPr txBox="1"/>
          <p:nvPr/>
        </p:nvSpPr>
        <p:spPr>
          <a:xfrm>
            <a:off x="9271787" y="1508760"/>
            <a:ext cx="2234108" cy="365760"/>
          </a:xfrm>
          <a:prstGeom prst="rect">
            <a:avLst/>
          </a:prstGeom>
          <a:noFill/>
          <a:ln/>
        </p:spPr>
        <p:txBody>
          <a:bodyPr wrap="square" lIns="0" tIns="0" rIns="0" bIns="0" rtlCol="0" anchor="t"/>
          <a:lstStyle/>
          <a:p>
            <a:pPr algn="ctr" indent="0" marL="0">
              <a:buNone/>
            </a:pPr>
            <a:r>
              <a:rPr lang="en-US" sz="1200" b="1" dirty="0">
                <a:solidFill>
                  <a:srgbClr val="FFFFFF"/>
                </a:solidFill>
                <a:latin typeface="Meiryo UI" pitchFamily="34" charset="0"/>
                <a:ea typeface="Meiryo UI" pitchFamily="34" charset="-122"/>
                <a:cs typeface="Meiryo UI" pitchFamily="34" charset="-120"/>
              </a:rPr>
              <a:t>7〜12ヶ月目</a:t>
            </a:r>
            <a:endParaRPr lang="en-US" sz="1200" dirty="0"/>
          </a:p>
        </p:txBody>
      </p:sp>
      <p:sp>
        <p:nvSpPr>
          <p:cNvPr id="35" name="Text 33"/>
          <p:cNvSpPr txBox="1"/>
          <p:nvPr/>
        </p:nvSpPr>
        <p:spPr>
          <a:xfrm>
            <a:off x="9271787" y="1847088"/>
            <a:ext cx="2234108" cy="411480"/>
          </a:xfrm>
          <a:prstGeom prst="rect">
            <a:avLst/>
          </a:prstGeom>
          <a:noFill/>
          <a:ln/>
        </p:spPr>
        <p:txBody>
          <a:bodyPr wrap="square" lIns="0" tIns="0" rIns="0" bIns="0" rtlCol="0" anchor="t"/>
          <a:lstStyle/>
          <a:p>
            <a:pPr algn="ctr" indent="0" marL="0">
              <a:buNone/>
            </a:pPr>
            <a:r>
              <a:rPr lang="en-US" sz="1500" b="1" dirty="0">
                <a:solidFill>
                  <a:srgbClr val="FFFFFF"/>
                </a:solidFill>
                <a:latin typeface="Meiryo UI" pitchFamily="34" charset="0"/>
                <a:ea typeface="Meiryo UI" pitchFamily="34" charset="-122"/>
                <a:cs typeface="Meiryo UI" pitchFamily="34" charset="-120"/>
              </a:rPr>
              <a:t>定着・自走期</a:t>
            </a:r>
            <a:endParaRPr lang="en-US" sz="1500" dirty="0"/>
          </a:p>
        </p:txBody>
      </p:sp>
      <p:sp>
        <p:nvSpPr>
          <p:cNvPr id="36" name="Shape 34"/>
          <p:cNvSpPr/>
          <p:nvPr/>
        </p:nvSpPr>
        <p:spPr>
          <a:xfrm>
            <a:off x="8951747" y="2651760"/>
            <a:ext cx="2691308" cy="2148840"/>
          </a:xfrm>
          <a:prstGeom prst="roundRect">
            <a:avLst>
              <a:gd name="adj" fmla="val 5106"/>
            </a:avLst>
          </a:prstGeom>
          <a:solidFill>
            <a:srgbClr val="F6F7FB"/>
          </a:solidFill>
          <a:ln w="12700">
            <a:solidFill>
              <a:srgbClr val="F6F7FB"/>
            </a:solidFill>
            <a:prstDash val="solid"/>
          </a:ln>
        </p:spPr>
      </p:sp>
      <p:sp>
        <p:nvSpPr>
          <p:cNvPr id="37" name="Text 35"/>
          <p:cNvSpPr txBox="1"/>
          <p:nvPr/>
        </p:nvSpPr>
        <p:spPr>
          <a:xfrm>
            <a:off x="9180347" y="2761488"/>
            <a:ext cx="2234108" cy="274320"/>
          </a:xfrm>
          <a:prstGeom prst="rect">
            <a:avLst/>
          </a:prstGeom>
          <a:noFill/>
          <a:ln/>
        </p:spPr>
        <p:txBody>
          <a:bodyPr wrap="square" lIns="0" tIns="0" rIns="0" bIns="0" rtlCol="0" anchor="t"/>
          <a:lstStyle/>
          <a:p>
            <a:pPr indent="0" marL="0">
              <a:buNone/>
            </a:pPr>
            <a:r>
              <a:rPr lang="en-US" sz="1050" b="1" dirty="0">
                <a:solidFill>
                  <a:srgbClr val="686A82"/>
                </a:solidFill>
                <a:latin typeface="Meiryo UI" pitchFamily="34" charset="0"/>
                <a:ea typeface="Meiryo UI" pitchFamily="34" charset="-122"/>
                <a:cs typeface="Meiryo UI" pitchFamily="34" charset="-120"/>
              </a:rPr>
              <a:t>主な実施内容</a:t>
            </a:r>
            <a:endParaRPr lang="en-US" sz="1050" dirty="0"/>
          </a:p>
        </p:txBody>
      </p:sp>
      <p:sp>
        <p:nvSpPr>
          <p:cNvPr id="38" name="Text 36"/>
          <p:cNvSpPr txBox="1"/>
          <p:nvPr/>
        </p:nvSpPr>
        <p:spPr>
          <a:xfrm>
            <a:off x="9180347" y="3063240"/>
            <a:ext cx="2325548" cy="1645920"/>
          </a:xfrm>
          <a:prstGeom prst="rect">
            <a:avLst/>
          </a:prstGeom>
          <a:noFill/>
          <a:ln/>
        </p:spPr>
        <p:txBody>
          <a:bodyPr wrap="square" lIns="0" tIns="0" rIns="0" bIns="0" rtlCol="0" anchor="t"/>
          <a:lstStyle/>
          <a:p>
            <a:pPr marL="342900" indent="-342900">
              <a:spcAft>
                <a:spcPts val="500"/>
              </a:spcAft>
              <a:buSzPct val="100000"/>
              <a:buChar char="•"/>
            </a:pPr>
            <a:r>
              <a:rPr lang="en-US" sz="1150" dirty="0">
                <a:solidFill>
                  <a:srgbClr val="2A2B38"/>
                </a:solidFill>
                <a:latin typeface="Meiryo UI" pitchFamily="34" charset="0"/>
                <a:ea typeface="Meiryo UI" pitchFamily="34" charset="-122"/>
                <a:cs typeface="Meiryo UI" pitchFamily="34" charset="-120"/>
              </a:rPr>
              <a:t>動画ライブラリの完成</a:t>
            </a:r>
            <a:endParaRPr lang="en-US" sz="1150" dirty="0"/>
          </a:p>
          <a:p>
            <a:pPr marL="342900" indent="-342900">
              <a:spcAft>
                <a:spcPts val="500"/>
              </a:spcAft>
              <a:buSzPct val="100000"/>
              <a:buChar char="•"/>
            </a:pPr>
            <a:r>
              <a:rPr lang="en-US" sz="1150" dirty="0">
                <a:solidFill>
                  <a:srgbClr val="2A2B38"/>
                </a:solidFill>
                <a:latin typeface="Meiryo UI" pitchFamily="34" charset="0"/>
                <a:ea typeface="Meiryo UI" pitchFamily="34" charset="-122"/>
                <a:cs typeface="Meiryo UI" pitchFamily="34" charset="-120"/>
              </a:rPr>
              <a:t>社内運用への移管支援</a:t>
            </a:r>
            <a:endParaRPr lang="en-US" sz="1150" dirty="0"/>
          </a:p>
          <a:p>
            <a:pPr marL="342900" indent="-342900">
              <a:spcAft>
                <a:spcPts val="500"/>
              </a:spcAft>
              <a:buSzPct val="100000"/>
              <a:buChar char="•"/>
            </a:pPr>
            <a:r>
              <a:rPr lang="en-US" sz="1150" dirty="0">
                <a:solidFill>
                  <a:srgbClr val="2A2B38"/>
                </a:solidFill>
                <a:latin typeface="Meiryo UI" pitchFamily="34" charset="0"/>
                <a:ea typeface="Meiryo UI" pitchFamily="34" charset="-122"/>
                <a:cs typeface="Meiryo UI" pitchFamily="34" charset="-120"/>
              </a:rPr>
              <a:t>相続・事業承継テーマの強化</a:t>
            </a:r>
            <a:endParaRPr lang="en-US" sz="1150" dirty="0"/>
          </a:p>
        </p:txBody>
      </p:sp>
      <p:sp>
        <p:nvSpPr>
          <p:cNvPr id="39" name="Shape 37"/>
          <p:cNvSpPr/>
          <p:nvPr/>
        </p:nvSpPr>
        <p:spPr>
          <a:xfrm>
            <a:off x="8951747" y="4983480"/>
            <a:ext cx="2691308" cy="1234440"/>
          </a:xfrm>
          <a:prstGeom prst="roundRect">
            <a:avLst>
              <a:gd name="adj" fmla="val 8889"/>
            </a:avLst>
          </a:prstGeom>
          <a:solidFill>
            <a:srgbClr val="262A52"/>
          </a:solidFill>
          <a:ln w="12700">
            <a:solidFill>
              <a:srgbClr val="262A52"/>
            </a:solidFill>
            <a:prstDash val="solid"/>
          </a:ln>
        </p:spPr>
      </p:sp>
      <p:sp>
        <p:nvSpPr>
          <p:cNvPr id="40" name="Text 38"/>
          <p:cNvSpPr txBox="1"/>
          <p:nvPr/>
        </p:nvSpPr>
        <p:spPr>
          <a:xfrm>
            <a:off x="9180347" y="5074920"/>
            <a:ext cx="2234108" cy="274320"/>
          </a:xfrm>
          <a:prstGeom prst="rect">
            <a:avLst/>
          </a:prstGeom>
          <a:noFill/>
          <a:ln/>
        </p:spPr>
        <p:txBody>
          <a:bodyPr wrap="square" lIns="0" tIns="0" rIns="0" bIns="0" rtlCol="0" anchor="t"/>
          <a:lstStyle/>
          <a:p>
            <a:pPr indent="0" marL="0">
              <a:buNone/>
            </a:pPr>
            <a:r>
              <a:rPr lang="en-US" sz="1050" b="1" dirty="0">
                <a:solidFill>
                  <a:srgbClr val="E8CD85"/>
                </a:solidFill>
                <a:latin typeface="Meiryo UI" pitchFamily="34" charset="0"/>
                <a:ea typeface="Meiryo UI" pitchFamily="34" charset="-122"/>
                <a:cs typeface="Meiryo UI" pitchFamily="34" charset="-120"/>
              </a:rPr>
              <a:t>到達目標</a:t>
            </a:r>
            <a:endParaRPr lang="en-US" sz="1050" dirty="0"/>
          </a:p>
        </p:txBody>
      </p:sp>
      <p:sp>
        <p:nvSpPr>
          <p:cNvPr id="41" name="Text 39"/>
          <p:cNvSpPr txBox="1"/>
          <p:nvPr/>
        </p:nvSpPr>
        <p:spPr>
          <a:xfrm>
            <a:off x="9180347" y="5349240"/>
            <a:ext cx="2234108" cy="777240"/>
          </a:xfrm>
          <a:prstGeom prst="rect">
            <a:avLst/>
          </a:prstGeom>
          <a:noFill/>
          <a:ln/>
        </p:spPr>
        <p:txBody>
          <a:bodyPr wrap="square" lIns="0" tIns="0" rIns="0" bIns="0" rtlCol="0" anchor="t"/>
          <a:lstStyle/>
          <a:p>
            <a:pPr indent="0" marL="0">
              <a:buNone/>
            </a:pPr>
            <a:r>
              <a:rPr lang="en-US" sz="1250" b="1" dirty="0">
                <a:solidFill>
                  <a:srgbClr val="FFFFFF"/>
                </a:solidFill>
                <a:latin typeface="Meiryo UI" pitchFamily="34" charset="0"/>
                <a:ea typeface="Meiryo UI" pitchFamily="34" charset="-122"/>
                <a:cs typeface="Meiryo UI" pitchFamily="34" charset="-120"/>
              </a:rPr>
              <a:t>紹介×Webの両輪で選ばれる事務所</a:t>
            </a:r>
            <a:endParaRPr lang="en-US" sz="1250" dirty="0"/>
          </a:p>
        </p:txBody>
      </p:sp>
    </p:spTree>
  </p:cSld>
  <p:clrMapOvr>
    <a:masterClrMapping/>
  </p:clrMapOvr>
</p:sld>
</file>

<file path=ppt/slides/slide21.xml><?xml version="1.0" encoding="utf-8"?>
<p:sld xmlns:a="http://schemas.openxmlformats.org/drawingml/2006/main" xmlns:r="http://schemas.openxmlformats.org/officeDocument/2006/relationships" xmlns:p="http://schemas.openxmlformats.org/presentationml/2006/main">
  <p:cSld name="Slide 21">
    <p:bg>
      <p:bgPr>
        <a:solidFill>
          <a:srgbClr val="FFFFFF"/>
        </a:solidFill>
      </p:bgPr>
    </p:bg>
    <p:spTree>
      <p:nvGrpSpPr>
        <p:cNvPr id="1" name=""/>
        <p:cNvGrpSpPr/>
        <p:nvPr/>
      </p:nvGrpSpPr>
      <p:grpSpPr>
        <a:xfrm>
          <a:off x="0" y="0"/>
          <a:ext cx="0" cy="0"/>
          <a:chOff x="0" y="0"/>
          <a:chExt cx="0" cy="0"/>
        </a:xfrm>
      </p:grpSpPr>
      <p:sp>
        <p:nvSpPr>
          <p:cNvPr id="2" name="Text 0"/>
          <p:cNvSpPr txBox="1"/>
          <p:nvPr/>
        </p:nvSpPr>
        <p:spPr>
          <a:xfrm>
            <a:off x="548640" y="347472"/>
            <a:ext cx="7315200" cy="274320"/>
          </a:xfrm>
          <a:prstGeom prst="rect">
            <a:avLst/>
          </a:prstGeom>
          <a:noFill/>
          <a:ln/>
        </p:spPr>
        <p:txBody>
          <a:bodyPr wrap="square" lIns="0" tIns="0" rIns="0" bIns="0" rtlCol="0" anchor="t"/>
          <a:lstStyle/>
          <a:p>
            <a:pPr indent="0" marL="0">
              <a:buNone/>
            </a:pPr>
            <a:r>
              <a:rPr lang="en-US" sz="1100" b="1" spc="200" kern="0" dirty="0">
                <a:solidFill>
                  <a:srgbClr val="A87A1C"/>
                </a:solidFill>
                <a:latin typeface="Meiryo UI" pitchFamily="34" charset="0"/>
                <a:ea typeface="Meiryo UI" pitchFamily="34" charset="-122"/>
                <a:cs typeface="Meiryo UI" pitchFamily="34" charset="-120"/>
              </a:rPr>
              <a:t>06｜SEAMLESS TRANSITION</a:t>
            </a:r>
            <a:endParaRPr lang="en-US" sz="1100" dirty="0"/>
          </a:p>
        </p:txBody>
      </p:sp>
      <p:sp>
        <p:nvSpPr>
          <p:cNvPr id="3" name="Text 1"/>
          <p:cNvSpPr txBox="1"/>
          <p:nvPr/>
        </p:nvSpPr>
        <p:spPr>
          <a:xfrm>
            <a:off x="548640" y="621792"/>
            <a:ext cx="11094415" cy="566928"/>
          </a:xfrm>
          <a:prstGeom prst="rect">
            <a:avLst/>
          </a:prstGeom>
          <a:noFill/>
          <a:ln/>
        </p:spPr>
        <p:txBody>
          <a:bodyPr wrap="square" lIns="0" tIns="0" rIns="0" bIns="0" rtlCol="0" anchor="ctr"/>
          <a:lstStyle/>
          <a:p>
            <a:pPr indent="0" marL="0">
              <a:buNone/>
            </a:pPr>
            <a:r>
              <a:rPr lang="en-US" sz="2600" b="1" dirty="0">
                <a:solidFill>
                  <a:srgbClr val="3A3F73"/>
                </a:solidFill>
                <a:latin typeface="Meiryo UI" pitchFamily="34" charset="0"/>
                <a:ea typeface="Meiryo UI" pitchFamily="34" charset="-122"/>
                <a:cs typeface="Meiryo UI" pitchFamily="34" charset="-120"/>
              </a:rPr>
              <a:t>「テスト（無料3本）」から「本格展開」へ、止めずにつなぐ</a:t>
            </a:r>
            <a:endParaRPr lang="en-US" sz="2600" dirty="0"/>
          </a:p>
        </p:txBody>
      </p:sp>
      <p:sp>
        <p:nvSpPr>
          <p:cNvPr id="4" name="Text 2"/>
          <p:cNvSpPr txBox="1"/>
          <p:nvPr/>
        </p:nvSpPr>
        <p:spPr>
          <a:xfrm>
            <a:off x="11094415" y="6419088"/>
            <a:ext cx="548640" cy="256032"/>
          </a:xfrm>
          <a:prstGeom prst="rect">
            <a:avLst/>
          </a:prstGeom>
          <a:noFill/>
          <a:ln/>
        </p:spPr>
        <p:txBody>
          <a:bodyPr wrap="square" lIns="0" tIns="0" rIns="0" bIns="0" rtlCol="0" anchor="t"/>
          <a:lstStyle/>
          <a:p>
            <a:pPr algn="r" indent="0" marL="0">
              <a:buNone/>
            </a:pPr>
            <a:r>
              <a:rPr lang="en-US" sz="1000" dirty="0">
                <a:solidFill>
                  <a:srgbClr val="7C7E90"/>
                </a:solidFill>
                <a:latin typeface="Meiryo UI" pitchFamily="34" charset="0"/>
                <a:ea typeface="Meiryo UI" pitchFamily="34" charset="-122"/>
                <a:cs typeface="Meiryo UI" pitchFamily="34" charset="-120"/>
              </a:rPr>
              <a:t>21</a:t>
            </a:r>
            <a:endParaRPr lang="en-US" sz="1000" dirty="0"/>
          </a:p>
        </p:txBody>
      </p:sp>
      <p:sp>
        <p:nvSpPr>
          <p:cNvPr id="5" name="Text 3"/>
          <p:cNvSpPr txBox="1"/>
          <p:nvPr/>
        </p:nvSpPr>
        <p:spPr>
          <a:xfrm>
            <a:off x="548640" y="6419088"/>
            <a:ext cx="4572000" cy="256032"/>
          </a:xfrm>
          <a:prstGeom prst="rect">
            <a:avLst/>
          </a:prstGeom>
          <a:noFill/>
          <a:ln/>
        </p:spPr>
        <p:txBody>
          <a:bodyPr wrap="square" lIns="0" tIns="0" rIns="0" bIns="0" rtlCol="0" anchor="t"/>
          <a:lstStyle/>
          <a:p>
            <a:pPr indent="0" marL="0">
              <a:buNone/>
            </a:pPr>
            <a:r>
              <a:rPr lang="en-US" sz="900" dirty="0">
                <a:solidFill>
                  <a:srgbClr val="7C7E90"/>
                </a:solidFill>
                <a:latin typeface="Meiryo UI" pitchFamily="34" charset="0"/>
                <a:ea typeface="Meiryo UI" pitchFamily="34" charset="-122"/>
                <a:cs typeface="Meiryo UI" pitchFamily="34" charset="-120"/>
              </a:rPr>
              <a:t>株式会社アイドマ・ホールディングス｜MiTok</a:t>
            </a:r>
            <a:endParaRPr lang="en-US" sz="900" dirty="0"/>
          </a:p>
        </p:txBody>
      </p:sp>
      <p:sp>
        <p:nvSpPr>
          <p:cNvPr id="6" name="Shape 4"/>
          <p:cNvSpPr/>
          <p:nvPr/>
        </p:nvSpPr>
        <p:spPr>
          <a:xfrm>
            <a:off x="2011680" y="1371600"/>
            <a:ext cx="4663440" cy="502920"/>
          </a:xfrm>
          <a:prstGeom prst="roundRect">
            <a:avLst>
              <a:gd name="adj" fmla="val 21818"/>
            </a:avLst>
          </a:prstGeom>
          <a:solidFill>
            <a:srgbClr val="EFEFF3"/>
          </a:solidFill>
          <a:ln w="12700">
            <a:solidFill>
              <a:srgbClr val="EFEFF3"/>
            </a:solidFill>
            <a:prstDash val="solid"/>
          </a:ln>
        </p:spPr>
      </p:sp>
      <p:sp>
        <p:nvSpPr>
          <p:cNvPr id="7" name="Text 5"/>
          <p:cNvSpPr txBox="1"/>
          <p:nvPr/>
        </p:nvSpPr>
        <p:spPr>
          <a:xfrm>
            <a:off x="2011680" y="1371600"/>
            <a:ext cx="4663440" cy="502920"/>
          </a:xfrm>
          <a:prstGeom prst="rect">
            <a:avLst/>
          </a:prstGeom>
          <a:noFill/>
          <a:ln/>
        </p:spPr>
        <p:txBody>
          <a:bodyPr wrap="square" lIns="0" tIns="0" rIns="0" bIns="0" rtlCol="0" anchor="ctr"/>
          <a:lstStyle/>
          <a:p>
            <a:pPr algn="ctr" indent="0" marL="0">
              <a:buNone/>
            </a:pPr>
            <a:r>
              <a:rPr lang="en-US" sz="1300" b="1" dirty="0">
                <a:solidFill>
                  <a:srgbClr val="7C7E90"/>
                </a:solidFill>
                <a:latin typeface="Meiryo UI" pitchFamily="34" charset="0"/>
                <a:ea typeface="Meiryo UI" pitchFamily="34" charset="-122"/>
                <a:cs typeface="Meiryo UI" pitchFamily="34" charset="-120"/>
              </a:rPr>
              <a:t>様子見（無料3本 → 結果を見て検討）</a:t>
            </a:r>
            <a:endParaRPr lang="en-US" sz="1300" dirty="0"/>
          </a:p>
        </p:txBody>
      </p:sp>
      <p:sp>
        <p:nvSpPr>
          <p:cNvPr id="8" name="Shape 6"/>
          <p:cNvSpPr/>
          <p:nvPr/>
        </p:nvSpPr>
        <p:spPr>
          <a:xfrm>
            <a:off x="6858000" y="1371600"/>
            <a:ext cx="4663440" cy="502920"/>
          </a:xfrm>
          <a:prstGeom prst="roundRect">
            <a:avLst>
              <a:gd name="adj" fmla="val 21818"/>
            </a:avLst>
          </a:prstGeom>
          <a:solidFill>
            <a:srgbClr val="A87A1C"/>
          </a:solidFill>
          <a:ln w="12700">
            <a:solidFill>
              <a:srgbClr val="A87A1C"/>
            </a:solidFill>
            <a:prstDash val="solid"/>
          </a:ln>
        </p:spPr>
      </p:sp>
      <p:sp>
        <p:nvSpPr>
          <p:cNvPr id="9" name="Text 7"/>
          <p:cNvSpPr txBox="1"/>
          <p:nvPr/>
        </p:nvSpPr>
        <p:spPr>
          <a:xfrm>
            <a:off x="6858000" y="1371600"/>
            <a:ext cx="4663440" cy="502920"/>
          </a:xfrm>
          <a:prstGeom prst="rect">
            <a:avLst/>
          </a:prstGeom>
          <a:noFill/>
          <a:ln/>
        </p:spPr>
        <p:txBody>
          <a:bodyPr wrap="square" lIns="0" tIns="0" rIns="0" bIns="0" rtlCol="0" anchor="ctr"/>
          <a:lstStyle/>
          <a:p>
            <a:pPr algn="ctr" indent="0" marL="0">
              <a:buNone/>
            </a:pPr>
            <a:r>
              <a:rPr lang="en-US" sz="1300" b="1" dirty="0">
                <a:solidFill>
                  <a:srgbClr val="FFFFFF"/>
                </a:solidFill>
                <a:latin typeface="Meiryo UI" pitchFamily="34" charset="0"/>
                <a:ea typeface="Meiryo UI" pitchFamily="34" charset="-122"/>
                <a:cs typeface="Meiryo UI" pitchFamily="34" charset="-120"/>
              </a:rPr>
              <a:t>早期ご決定（無料3本を伴走の初月に組み込み）</a:t>
            </a:r>
            <a:endParaRPr lang="en-US" sz="1300" dirty="0"/>
          </a:p>
        </p:txBody>
      </p:sp>
      <p:sp>
        <p:nvSpPr>
          <p:cNvPr id="10" name="Text 8"/>
          <p:cNvSpPr txBox="1"/>
          <p:nvPr/>
        </p:nvSpPr>
        <p:spPr>
          <a:xfrm>
            <a:off x="548640" y="1965960"/>
            <a:ext cx="1371600" cy="457200"/>
          </a:xfrm>
          <a:prstGeom prst="rect">
            <a:avLst/>
          </a:prstGeom>
          <a:noFill/>
          <a:ln/>
        </p:spPr>
        <p:txBody>
          <a:bodyPr wrap="square" lIns="0" tIns="0" rIns="0" bIns="0" rtlCol="0" anchor="ctr"/>
          <a:lstStyle/>
          <a:p>
            <a:pPr indent="0" marL="0">
              <a:buNone/>
            </a:pPr>
            <a:r>
              <a:rPr lang="en-US" sz="1250" b="1" dirty="0">
                <a:solidFill>
                  <a:srgbClr val="3A3F73"/>
                </a:solidFill>
                <a:latin typeface="Meiryo UI" pitchFamily="34" charset="0"/>
                <a:ea typeface="Meiryo UI" pitchFamily="34" charset="-122"/>
                <a:cs typeface="Meiryo UI" pitchFamily="34" charset="-120"/>
              </a:rPr>
              <a:t>検証設計</a:t>
            </a:r>
            <a:endParaRPr lang="en-US" sz="1250" dirty="0"/>
          </a:p>
        </p:txBody>
      </p:sp>
      <p:sp>
        <p:nvSpPr>
          <p:cNvPr id="11" name="Shape 9"/>
          <p:cNvSpPr/>
          <p:nvPr/>
        </p:nvSpPr>
        <p:spPr>
          <a:xfrm>
            <a:off x="2011680" y="1965960"/>
            <a:ext cx="4663440" cy="457200"/>
          </a:xfrm>
          <a:prstGeom prst="roundRect">
            <a:avLst>
              <a:gd name="adj" fmla="val 24000"/>
            </a:avLst>
          </a:prstGeom>
          <a:solidFill>
            <a:srgbClr val="F6F7FB"/>
          </a:solidFill>
          <a:ln w="12700">
            <a:solidFill>
              <a:srgbClr val="F6F7FB"/>
            </a:solidFill>
            <a:prstDash val="solid"/>
          </a:ln>
        </p:spPr>
      </p:sp>
      <p:sp>
        <p:nvSpPr>
          <p:cNvPr id="12" name="Text 10"/>
          <p:cNvSpPr txBox="1"/>
          <p:nvPr/>
        </p:nvSpPr>
        <p:spPr>
          <a:xfrm>
            <a:off x="2194560" y="1965960"/>
            <a:ext cx="4297680" cy="457200"/>
          </a:xfrm>
          <a:prstGeom prst="rect">
            <a:avLst/>
          </a:prstGeom>
          <a:noFill/>
          <a:ln/>
        </p:spPr>
        <p:txBody>
          <a:bodyPr wrap="square" lIns="0" tIns="0" rIns="0" bIns="0" rtlCol="0" anchor="ctr"/>
          <a:lstStyle/>
          <a:p>
            <a:pPr indent="0" marL="0">
              <a:buNone/>
            </a:pPr>
            <a:r>
              <a:rPr lang="en-US" sz="1200" dirty="0">
                <a:solidFill>
                  <a:srgbClr val="7C7E90"/>
                </a:solidFill>
                <a:latin typeface="Meiryo UI" pitchFamily="34" charset="0"/>
                <a:ea typeface="Meiryo UI" pitchFamily="34" charset="-122"/>
                <a:cs typeface="Meiryo UI" pitchFamily="34" charset="-120"/>
              </a:rPr>
              <a:t>3本を「作ること」がゴールになりがち</a:t>
            </a:r>
            <a:endParaRPr lang="en-US" sz="1200" dirty="0"/>
          </a:p>
        </p:txBody>
      </p:sp>
      <p:sp>
        <p:nvSpPr>
          <p:cNvPr id="13" name="Shape 11"/>
          <p:cNvSpPr/>
          <p:nvPr/>
        </p:nvSpPr>
        <p:spPr>
          <a:xfrm>
            <a:off x="6858000" y="1965960"/>
            <a:ext cx="4663440" cy="457200"/>
          </a:xfrm>
          <a:prstGeom prst="roundRect">
            <a:avLst>
              <a:gd name="adj" fmla="val 24000"/>
            </a:avLst>
          </a:prstGeom>
          <a:solidFill>
            <a:srgbClr val="FBF3E1"/>
          </a:solidFill>
          <a:ln w="12700">
            <a:solidFill>
              <a:srgbClr val="FBF3E1"/>
            </a:solidFill>
            <a:prstDash val="solid"/>
          </a:ln>
        </p:spPr>
      </p:sp>
      <p:sp>
        <p:nvSpPr>
          <p:cNvPr id="14" name="Text 12"/>
          <p:cNvSpPr txBox="1"/>
          <p:nvPr/>
        </p:nvSpPr>
        <p:spPr>
          <a:xfrm>
            <a:off x="7040880" y="1965960"/>
            <a:ext cx="4297680" cy="457200"/>
          </a:xfrm>
          <a:prstGeom prst="rect">
            <a:avLst/>
          </a:prstGeom>
          <a:noFill/>
          <a:ln/>
        </p:spPr>
        <p:txBody>
          <a:bodyPr wrap="square" lIns="0" tIns="0" rIns="0" bIns="0" rtlCol="0" anchor="ctr"/>
          <a:lstStyle/>
          <a:p>
            <a:pPr indent="0" marL="0">
              <a:buNone/>
            </a:pPr>
            <a:r>
              <a:rPr lang="en-US" sz="1200" b="1" dirty="0">
                <a:solidFill>
                  <a:srgbClr val="262A52"/>
                </a:solidFill>
                <a:latin typeface="Meiryo UI" pitchFamily="34" charset="0"/>
                <a:ea typeface="Meiryo UI" pitchFamily="34" charset="-122"/>
                <a:cs typeface="Meiryo UI" pitchFamily="34" charset="-120"/>
              </a:rPr>
              <a:t>最初からKPI・比較軸を設計し、検証として実施</a:t>
            </a:r>
            <a:endParaRPr lang="en-US" sz="1200" dirty="0"/>
          </a:p>
        </p:txBody>
      </p:sp>
      <p:sp>
        <p:nvSpPr>
          <p:cNvPr id="15" name="Text 13"/>
          <p:cNvSpPr txBox="1"/>
          <p:nvPr/>
        </p:nvSpPr>
        <p:spPr>
          <a:xfrm>
            <a:off x="548640" y="2496312"/>
            <a:ext cx="1371600" cy="457200"/>
          </a:xfrm>
          <a:prstGeom prst="rect">
            <a:avLst/>
          </a:prstGeom>
          <a:noFill/>
          <a:ln/>
        </p:spPr>
        <p:txBody>
          <a:bodyPr wrap="square" lIns="0" tIns="0" rIns="0" bIns="0" rtlCol="0" anchor="ctr"/>
          <a:lstStyle/>
          <a:p>
            <a:pPr indent="0" marL="0">
              <a:buNone/>
            </a:pPr>
            <a:r>
              <a:rPr lang="en-US" sz="1250" b="1" dirty="0">
                <a:solidFill>
                  <a:srgbClr val="3A3F73"/>
                </a:solidFill>
                <a:latin typeface="Meiryo UI" pitchFamily="34" charset="0"/>
                <a:ea typeface="Meiryo UI" pitchFamily="34" charset="-122"/>
                <a:cs typeface="Meiryo UI" pitchFamily="34" charset="-120"/>
              </a:rPr>
              <a:t>検証後</a:t>
            </a:r>
            <a:endParaRPr lang="en-US" sz="1250" dirty="0"/>
          </a:p>
        </p:txBody>
      </p:sp>
      <p:sp>
        <p:nvSpPr>
          <p:cNvPr id="16" name="Shape 14"/>
          <p:cNvSpPr/>
          <p:nvPr/>
        </p:nvSpPr>
        <p:spPr>
          <a:xfrm>
            <a:off x="2011680" y="2496312"/>
            <a:ext cx="4663440" cy="457200"/>
          </a:xfrm>
          <a:prstGeom prst="roundRect">
            <a:avLst>
              <a:gd name="adj" fmla="val 24000"/>
            </a:avLst>
          </a:prstGeom>
          <a:solidFill>
            <a:srgbClr val="F6F7FB"/>
          </a:solidFill>
          <a:ln w="12700">
            <a:solidFill>
              <a:srgbClr val="F6F7FB"/>
            </a:solidFill>
            <a:prstDash val="solid"/>
          </a:ln>
        </p:spPr>
      </p:sp>
      <p:sp>
        <p:nvSpPr>
          <p:cNvPr id="17" name="Text 15"/>
          <p:cNvSpPr txBox="1"/>
          <p:nvPr/>
        </p:nvSpPr>
        <p:spPr>
          <a:xfrm>
            <a:off x="2194560" y="2496312"/>
            <a:ext cx="4297680" cy="457200"/>
          </a:xfrm>
          <a:prstGeom prst="rect">
            <a:avLst/>
          </a:prstGeom>
          <a:noFill/>
          <a:ln/>
        </p:spPr>
        <p:txBody>
          <a:bodyPr wrap="square" lIns="0" tIns="0" rIns="0" bIns="0" rtlCol="0" anchor="ctr"/>
          <a:lstStyle/>
          <a:p>
            <a:pPr indent="0" marL="0">
              <a:buNone/>
            </a:pPr>
            <a:r>
              <a:rPr lang="en-US" sz="1200" dirty="0">
                <a:solidFill>
                  <a:srgbClr val="7C7E90"/>
                </a:solidFill>
                <a:latin typeface="Meiryo UI" pitchFamily="34" charset="0"/>
                <a:ea typeface="Meiryo UI" pitchFamily="34" charset="-122"/>
                <a:cs typeface="Meiryo UI" pitchFamily="34" charset="-120"/>
              </a:rPr>
              <a:t>社内検討・見積り・契約で1〜2ヶ月の空白</a:t>
            </a:r>
            <a:endParaRPr lang="en-US" sz="1200" dirty="0"/>
          </a:p>
        </p:txBody>
      </p:sp>
      <p:sp>
        <p:nvSpPr>
          <p:cNvPr id="18" name="Shape 16"/>
          <p:cNvSpPr/>
          <p:nvPr/>
        </p:nvSpPr>
        <p:spPr>
          <a:xfrm>
            <a:off x="6858000" y="2496312"/>
            <a:ext cx="4663440" cy="457200"/>
          </a:xfrm>
          <a:prstGeom prst="roundRect">
            <a:avLst>
              <a:gd name="adj" fmla="val 24000"/>
            </a:avLst>
          </a:prstGeom>
          <a:solidFill>
            <a:srgbClr val="FBF3E1"/>
          </a:solidFill>
          <a:ln w="12700">
            <a:solidFill>
              <a:srgbClr val="FBF3E1"/>
            </a:solidFill>
            <a:prstDash val="solid"/>
          </a:ln>
        </p:spPr>
      </p:sp>
      <p:sp>
        <p:nvSpPr>
          <p:cNvPr id="19" name="Text 17"/>
          <p:cNvSpPr txBox="1"/>
          <p:nvPr/>
        </p:nvSpPr>
        <p:spPr>
          <a:xfrm>
            <a:off x="7040880" y="2496312"/>
            <a:ext cx="4297680" cy="457200"/>
          </a:xfrm>
          <a:prstGeom prst="rect">
            <a:avLst/>
          </a:prstGeom>
          <a:noFill/>
          <a:ln/>
        </p:spPr>
        <p:txBody>
          <a:bodyPr wrap="square" lIns="0" tIns="0" rIns="0" bIns="0" rtlCol="0" anchor="ctr"/>
          <a:lstStyle/>
          <a:p>
            <a:pPr indent="0" marL="0">
              <a:buNone/>
            </a:pPr>
            <a:r>
              <a:rPr lang="en-US" sz="1200" b="1" dirty="0">
                <a:solidFill>
                  <a:srgbClr val="262A52"/>
                </a:solidFill>
                <a:latin typeface="Meiryo UI" pitchFamily="34" charset="0"/>
                <a:ea typeface="Meiryo UI" pitchFamily="34" charset="-122"/>
                <a:cs typeface="Meiryo UI" pitchFamily="34" charset="-120"/>
              </a:rPr>
              <a:t>検証レポート当日に次の制作へ即着手</a:t>
            </a:r>
            <a:endParaRPr lang="en-US" sz="1200" dirty="0"/>
          </a:p>
        </p:txBody>
      </p:sp>
      <p:sp>
        <p:nvSpPr>
          <p:cNvPr id="20" name="Text 18"/>
          <p:cNvSpPr txBox="1"/>
          <p:nvPr/>
        </p:nvSpPr>
        <p:spPr>
          <a:xfrm>
            <a:off x="548640" y="3026664"/>
            <a:ext cx="1371600" cy="457200"/>
          </a:xfrm>
          <a:prstGeom prst="rect">
            <a:avLst/>
          </a:prstGeom>
          <a:noFill/>
          <a:ln/>
        </p:spPr>
        <p:txBody>
          <a:bodyPr wrap="square" lIns="0" tIns="0" rIns="0" bIns="0" rtlCol="0" anchor="ctr"/>
          <a:lstStyle/>
          <a:p>
            <a:pPr indent="0" marL="0">
              <a:buNone/>
            </a:pPr>
            <a:r>
              <a:rPr lang="en-US" sz="1250" b="1" dirty="0">
                <a:solidFill>
                  <a:srgbClr val="3A3F73"/>
                </a:solidFill>
                <a:latin typeface="Meiryo UI" pitchFamily="34" charset="0"/>
                <a:ea typeface="Meiryo UI" pitchFamily="34" charset="-122"/>
                <a:cs typeface="Meiryo UI" pitchFamily="34" charset="-120"/>
              </a:rPr>
              <a:t>SNS・HP</a:t>
            </a:r>
            <a:endParaRPr lang="en-US" sz="1250" dirty="0"/>
          </a:p>
        </p:txBody>
      </p:sp>
      <p:sp>
        <p:nvSpPr>
          <p:cNvPr id="21" name="Shape 19"/>
          <p:cNvSpPr/>
          <p:nvPr/>
        </p:nvSpPr>
        <p:spPr>
          <a:xfrm>
            <a:off x="2011680" y="3026664"/>
            <a:ext cx="4663440" cy="457200"/>
          </a:xfrm>
          <a:prstGeom prst="roundRect">
            <a:avLst>
              <a:gd name="adj" fmla="val 24000"/>
            </a:avLst>
          </a:prstGeom>
          <a:solidFill>
            <a:srgbClr val="F6F7FB"/>
          </a:solidFill>
          <a:ln w="12700">
            <a:solidFill>
              <a:srgbClr val="F6F7FB"/>
            </a:solidFill>
            <a:prstDash val="solid"/>
          </a:ln>
        </p:spPr>
      </p:sp>
      <p:sp>
        <p:nvSpPr>
          <p:cNvPr id="22" name="Text 20"/>
          <p:cNvSpPr txBox="1"/>
          <p:nvPr/>
        </p:nvSpPr>
        <p:spPr>
          <a:xfrm>
            <a:off x="2194560" y="3026664"/>
            <a:ext cx="4297680" cy="457200"/>
          </a:xfrm>
          <a:prstGeom prst="rect">
            <a:avLst/>
          </a:prstGeom>
          <a:noFill/>
          <a:ln/>
        </p:spPr>
        <p:txBody>
          <a:bodyPr wrap="square" lIns="0" tIns="0" rIns="0" bIns="0" rtlCol="0" anchor="ctr"/>
          <a:lstStyle/>
          <a:p>
            <a:pPr indent="0" marL="0">
              <a:buNone/>
            </a:pPr>
            <a:r>
              <a:rPr lang="en-US" sz="1200" dirty="0">
                <a:solidFill>
                  <a:srgbClr val="7C7E90"/>
                </a:solidFill>
                <a:latin typeface="Meiryo UI" pitchFamily="34" charset="0"/>
                <a:ea typeface="Meiryo UI" pitchFamily="34" charset="-122"/>
                <a:cs typeface="Meiryo UI" pitchFamily="34" charset="-120"/>
              </a:rPr>
              <a:t>投稿・掲載が止まり、積み上げがリセット</a:t>
            </a:r>
            <a:endParaRPr lang="en-US" sz="1200" dirty="0"/>
          </a:p>
        </p:txBody>
      </p:sp>
      <p:sp>
        <p:nvSpPr>
          <p:cNvPr id="23" name="Shape 21"/>
          <p:cNvSpPr/>
          <p:nvPr/>
        </p:nvSpPr>
        <p:spPr>
          <a:xfrm>
            <a:off x="6858000" y="3026664"/>
            <a:ext cx="4663440" cy="457200"/>
          </a:xfrm>
          <a:prstGeom prst="roundRect">
            <a:avLst>
              <a:gd name="adj" fmla="val 24000"/>
            </a:avLst>
          </a:prstGeom>
          <a:solidFill>
            <a:srgbClr val="FBF3E1"/>
          </a:solidFill>
          <a:ln w="12700">
            <a:solidFill>
              <a:srgbClr val="FBF3E1"/>
            </a:solidFill>
            <a:prstDash val="solid"/>
          </a:ln>
        </p:spPr>
      </p:sp>
      <p:sp>
        <p:nvSpPr>
          <p:cNvPr id="24" name="Text 22"/>
          <p:cNvSpPr txBox="1"/>
          <p:nvPr/>
        </p:nvSpPr>
        <p:spPr>
          <a:xfrm>
            <a:off x="7040880" y="3026664"/>
            <a:ext cx="4297680" cy="457200"/>
          </a:xfrm>
          <a:prstGeom prst="rect">
            <a:avLst/>
          </a:prstGeom>
          <a:noFill/>
          <a:ln/>
        </p:spPr>
        <p:txBody>
          <a:bodyPr wrap="square" lIns="0" tIns="0" rIns="0" bIns="0" rtlCol="0" anchor="ctr"/>
          <a:lstStyle/>
          <a:p>
            <a:pPr indent="0" marL="0">
              <a:buNone/>
            </a:pPr>
            <a:r>
              <a:rPr lang="en-US" sz="1200" b="1" dirty="0">
                <a:solidFill>
                  <a:srgbClr val="262A52"/>
                </a:solidFill>
                <a:latin typeface="Meiryo UI" pitchFamily="34" charset="0"/>
                <a:ea typeface="Meiryo UI" pitchFamily="34" charset="-122"/>
                <a:cs typeface="Meiryo UI" pitchFamily="34" charset="-120"/>
              </a:rPr>
              <a:t>発信が途切れず、問い合わせが積み上がる</a:t>
            </a:r>
            <a:endParaRPr lang="en-US" sz="1200" dirty="0"/>
          </a:p>
        </p:txBody>
      </p:sp>
      <p:sp>
        <p:nvSpPr>
          <p:cNvPr id="25" name="Text 23"/>
          <p:cNvSpPr txBox="1"/>
          <p:nvPr/>
        </p:nvSpPr>
        <p:spPr>
          <a:xfrm>
            <a:off x="548640" y="3557016"/>
            <a:ext cx="1371600" cy="457200"/>
          </a:xfrm>
          <a:prstGeom prst="rect">
            <a:avLst/>
          </a:prstGeom>
          <a:noFill/>
          <a:ln/>
        </p:spPr>
        <p:txBody>
          <a:bodyPr wrap="square" lIns="0" tIns="0" rIns="0" bIns="0" rtlCol="0" anchor="ctr"/>
          <a:lstStyle/>
          <a:p>
            <a:pPr indent="0" marL="0">
              <a:buNone/>
            </a:pPr>
            <a:r>
              <a:rPr lang="en-US" sz="1250" b="1" dirty="0">
                <a:solidFill>
                  <a:srgbClr val="3A3F73"/>
                </a:solidFill>
                <a:latin typeface="Meiryo UI" pitchFamily="34" charset="0"/>
                <a:ea typeface="Meiryo UI" pitchFamily="34" charset="-122"/>
                <a:cs typeface="Meiryo UI" pitchFamily="34" charset="-120"/>
              </a:rPr>
              <a:t>繁忙期</a:t>
            </a:r>
            <a:endParaRPr lang="en-US" sz="1250" dirty="0"/>
          </a:p>
        </p:txBody>
      </p:sp>
      <p:sp>
        <p:nvSpPr>
          <p:cNvPr id="26" name="Shape 24"/>
          <p:cNvSpPr/>
          <p:nvPr/>
        </p:nvSpPr>
        <p:spPr>
          <a:xfrm>
            <a:off x="2011680" y="3557016"/>
            <a:ext cx="4663440" cy="457200"/>
          </a:xfrm>
          <a:prstGeom prst="roundRect">
            <a:avLst>
              <a:gd name="adj" fmla="val 24000"/>
            </a:avLst>
          </a:prstGeom>
          <a:solidFill>
            <a:srgbClr val="F6F7FB"/>
          </a:solidFill>
          <a:ln w="12700">
            <a:solidFill>
              <a:srgbClr val="F6F7FB"/>
            </a:solidFill>
            <a:prstDash val="solid"/>
          </a:ln>
        </p:spPr>
      </p:sp>
      <p:sp>
        <p:nvSpPr>
          <p:cNvPr id="27" name="Text 25"/>
          <p:cNvSpPr txBox="1"/>
          <p:nvPr/>
        </p:nvSpPr>
        <p:spPr>
          <a:xfrm>
            <a:off x="2194560" y="3557016"/>
            <a:ext cx="4297680" cy="457200"/>
          </a:xfrm>
          <a:prstGeom prst="rect">
            <a:avLst/>
          </a:prstGeom>
          <a:noFill/>
          <a:ln/>
        </p:spPr>
        <p:txBody>
          <a:bodyPr wrap="square" lIns="0" tIns="0" rIns="0" bIns="0" rtlCol="0" anchor="ctr"/>
          <a:lstStyle/>
          <a:p>
            <a:pPr indent="0" marL="0">
              <a:buNone/>
            </a:pPr>
            <a:r>
              <a:rPr lang="en-US" sz="1200" dirty="0">
                <a:solidFill>
                  <a:srgbClr val="7C7E90"/>
                </a:solidFill>
                <a:latin typeface="Meiryo UI" pitchFamily="34" charset="0"/>
                <a:ea typeface="Meiryo UI" pitchFamily="34" charset="-122"/>
                <a:cs typeface="Meiryo UI" pitchFamily="34" charset="-120"/>
              </a:rPr>
              <a:t>確定申告期の前に準備が間に合わない</a:t>
            </a:r>
            <a:endParaRPr lang="en-US" sz="1200" dirty="0"/>
          </a:p>
        </p:txBody>
      </p:sp>
      <p:sp>
        <p:nvSpPr>
          <p:cNvPr id="28" name="Shape 26"/>
          <p:cNvSpPr/>
          <p:nvPr/>
        </p:nvSpPr>
        <p:spPr>
          <a:xfrm>
            <a:off x="6858000" y="3557016"/>
            <a:ext cx="4663440" cy="457200"/>
          </a:xfrm>
          <a:prstGeom prst="roundRect">
            <a:avLst>
              <a:gd name="adj" fmla="val 24000"/>
            </a:avLst>
          </a:prstGeom>
          <a:solidFill>
            <a:srgbClr val="FBF3E1"/>
          </a:solidFill>
          <a:ln w="12700">
            <a:solidFill>
              <a:srgbClr val="FBF3E1"/>
            </a:solidFill>
            <a:prstDash val="solid"/>
          </a:ln>
        </p:spPr>
      </p:sp>
      <p:sp>
        <p:nvSpPr>
          <p:cNvPr id="29" name="Text 27"/>
          <p:cNvSpPr txBox="1"/>
          <p:nvPr/>
        </p:nvSpPr>
        <p:spPr>
          <a:xfrm>
            <a:off x="7040880" y="3557016"/>
            <a:ext cx="4297680" cy="457200"/>
          </a:xfrm>
          <a:prstGeom prst="rect">
            <a:avLst/>
          </a:prstGeom>
          <a:noFill/>
          <a:ln/>
        </p:spPr>
        <p:txBody>
          <a:bodyPr wrap="square" lIns="0" tIns="0" rIns="0" bIns="0" rtlCol="0" anchor="ctr"/>
          <a:lstStyle/>
          <a:p>
            <a:pPr indent="0" marL="0">
              <a:buNone/>
            </a:pPr>
            <a:r>
              <a:rPr lang="en-US" sz="1200" b="1" dirty="0">
                <a:solidFill>
                  <a:srgbClr val="262A52"/>
                </a:solidFill>
                <a:latin typeface="Meiryo UI" pitchFamily="34" charset="0"/>
                <a:ea typeface="Meiryo UI" pitchFamily="34" charset="-122"/>
                <a:cs typeface="Meiryo UI" pitchFamily="34" charset="-120"/>
              </a:rPr>
              <a:t>繁忙期の前に集客の導線が整う</a:t>
            </a:r>
            <a:endParaRPr lang="en-US" sz="1200" dirty="0"/>
          </a:p>
        </p:txBody>
      </p:sp>
      <p:sp>
        <p:nvSpPr>
          <p:cNvPr id="30" name="Text 28"/>
          <p:cNvSpPr txBox="1"/>
          <p:nvPr/>
        </p:nvSpPr>
        <p:spPr>
          <a:xfrm>
            <a:off x="548640" y="4087368"/>
            <a:ext cx="1371600" cy="457200"/>
          </a:xfrm>
          <a:prstGeom prst="rect">
            <a:avLst/>
          </a:prstGeom>
          <a:noFill/>
          <a:ln/>
        </p:spPr>
        <p:txBody>
          <a:bodyPr wrap="square" lIns="0" tIns="0" rIns="0" bIns="0" rtlCol="0" anchor="ctr"/>
          <a:lstStyle/>
          <a:p>
            <a:pPr indent="0" marL="0">
              <a:buNone/>
            </a:pPr>
            <a:r>
              <a:rPr lang="en-US" sz="1250" b="1" dirty="0">
                <a:solidFill>
                  <a:srgbClr val="3A3F73"/>
                </a:solidFill>
                <a:latin typeface="Meiryo UI" pitchFamily="34" charset="0"/>
                <a:ea typeface="Meiryo UI" pitchFamily="34" charset="-122"/>
                <a:cs typeface="Meiryo UI" pitchFamily="34" charset="-120"/>
              </a:rPr>
              <a:t>成果まで</a:t>
            </a:r>
            <a:endParaRPr lang="en-US" sz="1250" dirty="0"/>
          </a:p>
        </p:txBody>
      </p:sp>
      <p:sp>
        <p:nvSpPr>
          <p:cNvPr id="31" name="Shape 29"/>
          <p:cNvSpPr/>
          <p:nvPr/>
        </p:nvSpPr>
        <p:spPr>
          <a:xfrm>
            <a:off x="2011680" y="4087368"/>
            <a:ext cx="4663440" cy="457200"/>
          </a:xfrm>
          <a:prstGeom prst="roundRect">
            <a:avLst>
              <a:gd name="adj" fmla="val 24000"/>
            </a:avLst>
          </a:prstGeom>
          <a:solidFill>
            <a:srgbClr val="F6F7FB"/>
          </a:solidFill>
          <a:ln w="12700">
            <a:solidFill>
              <a:srgbClr val="F6F7FB"/>
            </a:solidFill>
            <a:prstDash val="solid"/>
          </a:ln>
        </p:spPr>
      </p:sp>
      <p:sp>
        <p:nvSpPr>
          <p:cNvPr id="32" name="Text 30"/>
          <p:cNvSpPr txBox="1"/>
          <p:nvPr/>
        </p:nvSpPr>
        <p:spPr>
          <a:xfrm>
            <a:off x="2194560" y="4087368"/>
            <a:ext cx="4297680" cy="457200"/>
          </a:xfrm>
          <a:prstGeom prst="rect">
            <a:avLst/>
          </a:prstGeom>
          <a:noFill/>
          <a:ln/>
        </p:spPr>
        <p:txBody>
          <a:bodyPr wrap="square" lIns="0" tIns="0" rIns="0" bIns="0" rtlCol="0" anchor="ctr"/>
          <a:lstStyle/>
          <a:p>
            <a:pPr indent="0" marL="0">
              <a:buNone/>
            </a:pPr>
            <a:r>
              <a:rPr lang="en-US" sz="1200" dirty="0">
                <a:solidFill>
                  <a:srgbClr val="7C7E90"/>
                </a:solidFill>
                <a:latin typeface="Meiryo UI" pitchFamily="34" charset="0"/>
                <a:ea typeface="Meiryo UI" pitchFamily="34" charset="-122"/>
                <a:cs typeface="Meiryo UI" pitchFamily="34" charset="-120"/>
              </a:rPr>
              <a:t>実質的に3〜4ヶ月後ろ倒し</a:t>
            </a:r>
            <a:endParaRPr lang="en-US" sz="1200" dirty="0"/>
          </a:p>
        </p:txBody>
      </p:sp>
      <p:sp>
        <p:nvSpPr>
          <p:cNvPr id="33" name="Shape 31"/>
          <p:cNvSpPr/>
          <p:nvPr/>
        </p:nvSpPr>
        <p:spPr>
          <a:xfrm>
            <a:off x="6858000" y="4087368"/>
            <a:ext cx="4663440" cy="457200"/>
          </a:xfrm>
          <a:prstGeom prst="roundRect">
            <a:avLst>
              <a:gd name="adj" fmla="val 24000"/>
            </a:avLst>
          </a:prstGeom>
          <a:solidFill>
            <a:srgbClr val="FBF3E1"/>
          </a:solidFill>
          <a:ln w="12700">
            <a:solidFill>
              <a:srgbClr val="FBF3E1"/>
            </a:solidFill>
            <a:prstDash val="solid"/>
          </a:ln>
        </p:spPr>
      </p:sp>
      <p:sp>
        <p:nvSpPr>
          <p:cNvPr id="34" name="Text 32"/>
          <p:cNvSpPr txBox="1"/>
          <p:nvPr/>
        </p:nvSpPr>
        <p:spPr>
          <a:xfrm>
            <a:off x="7040880" y="4087368"/>
            <a:ext cx="4297680" cy="457200"/>
          </a:xfrm>
          <a:prstGeom prst="rect">
            <a:avLst/>
          </a:prstGeom>
          <a:noFill/>
          <a:ln/>
        </p:spPr>
        <p:txBody>
          <a:bodyPr wrap="square" lIns="0" tIns="0" rIns="0" bIns="0" rtlCol="0" anchor="ctr"/>
          <a:lstStyle/>
          <a:p>
            <a:pPr indent="0" marL="0">
              <a:buNone/>
            </a:pPr>
            <a:r>
              <a:rPr lang="en-US" sz="1200" b="1" dirty="0">
                <a:solidFill>
                  <a:srgbClr val="262A52"/>
                </a:solidFill>
                <a:latin typeface="Meiryo UI" pitchFamily="34" charset="0"/>
                <a:ea typeface="Meiryo UI" pitchFamily="34" charset="-122"/>
                <a:cs typeface="Meiryo UI" pitchFamily="34" charset="-120"/>
              </a:rPr>
              <a:t>最短ルートで成果創出へ</a:t>
            </a:r>
            <a:endParaRPr lang="en-US" sz="1200" dirty="0"/>
          </a:p>
        </p:txBody>
      </p:sp>
      <p:sp>
        <p:nvSpPr>
          <p:cNvPr id="35" name="Text 33"/>
          <p:cNvSpPr txBox="1"/>
          <p:nvPr/>
        </p:nvSpPr>
        <p:spPr>
          <a:xfrm>
            <a:off x="548640" y="4754880"/>
            <a:ext cx="2743200" cy="320040"/>
          </a:xfrm>
          <a:prstGeom prst="rect">
            <a:avLst/>
          </a:prstGeom>
          <a:noFill/>
          <a:ln/>
        </p:spPr>
        <p:txBody>
          <a:bodyPr wrap="square" lIns="0" tIns="0" rIns="0" bIns="0" rtlCol="0" anchor="t"/>
          <a:lstStyle/>
          <a:p>
            <a:pPr indent="0" marL="0">
              <a:buNone/>
            </a:pPr>
            <a:r>
              <a:rPr lang="en-US" sz="1400" b="1" dirty="0">
                <a:solidFill>
                  <a:srgbClr val="A87A1C"/>
                </a:solidFill>
                <a:latin typeface="Meiryo UI" pitchFamily="34" charset="0"/>
                <a:ea typeface="Meiryo UI" pitchFamily="34" charset="-122"/>
                <a:cs typeface="Meiryo UI" pitchFamily="34" charset="-120"/>
              </a:rPr>
              <a:t>移行の流れ</a:t>
            </a:r>
            <a:endParaRPr lang="en-US" sz="1400" dirty="0"/>
          </a:p>
        </p:txBody>
      </p:sp>
      <p:sp>
        <p:nvSpPr>
          <p:cNvPr id="36" name="Shape 34"/>
          <p:cNvSpPr/>
          <p:nvPr/>
        </p:nvSpPr>
        <p:spPr>
          <a:xfrm>
            <a:off x="548640" y="5120640"/>
            <a:ext cx="2533574" cy="1143000"/>
          </a:xfrm>
          <a:prstGeom prst="roundRect">
            <a:avLst>
              <a:gd name="adj" fmla="val 9600"/>
            </a:avLst>
          </a:prstGeom>
          <a:solidFill>
            <a:srgbClr val="262A52"/>
          </a:solidFill>
          <a:ln w="12700">
            <a:solidFill>
              <a:srgbClr val="262A52"/>
            </a:solidFill>
            <a:prstDash val="solid"/>
          </a:ln>
        </p:spPr>
      </p:sp>
      <p:sp>
        <p:nvSpPr>
          <p:cNvPr id="37" name="Text 35"/>
          <p:cNvSpPr txBox="1"/>
          <p:nvPr/>
        </p:nvSpPr>
        <p:spPr>
          <a:xfrm>
            <a:off x="731520" y="5193792"/>
            <a:ext cx="2167814" cy="320040"/>
          </a:xfrm>
          <a:prstGeom prst="rect">
            <a:avLst/>
          </a:prstGeom>
          <a:noFill/>
          <a:ln/>
        </p:spPr>
        <p:txBody>
          <a:bodyPr wrap="square" lIns="0" tIns="0" rIns="0" bIns="0" rtlCol="0" anchor="t"/>
          <a:lstStyle/>
          <a:p>
            <a:pPr indent="0" marL="0">
              <a:buNone/>
            </a:pPr>
            <a:r>
              <a:rPr lang="en-US" sz="1300" b="1" dirty="0">
                <a:solidFill>
                  <a:srgbClr val="E8CD85"/>
                </a:solidFill>
                <a:latin typeface="Meiryo UI" pitchFamily="34" charset="0"/>
                <a:ea typeface="Meiryo UI" pitchFamily="34" charset="-122"/>
                <a:cs typeface="Meiryo UI" pitchFamily="34" charset="-120"/>
              </a:rPr>
              <a:t>ご契約時</a:t>
            </a:r>
            <a:endParaRPr lang="en-US" sz="1300" dirty="0"/>
          </a:p>
        </p:txBody>
      </p:sp>
      <p:sp>
        <p:nvSpPr>
          <p:cNvPr id="38" name="Text 36"/>
          <p:cNvSpPr txBox="1"/>
          <p:nvPr/>
        </p:nvSpPr>
        <p:spPr>
          <a:xfrm>
            <a:off x="731520" y="5513832"/>
            <a:ext cx="2167814" cy="685800"/>
          </a:xfrm>
          <a:prstGeom prst="rect">
            <a:avLst/>
          </a:prstGeom>
          <a:noFill/>
          <a:ln/>
        </p:spPr>
        <p:txBody>
          <a:bodyPr wrap="square" lIns="0" tIns="0" rIns="0" bIns="0" rtlCol="0" anchor="t"/>
          <a:lstStyle/>
          <a:p>
            <a:pPr indent="0" marL="0">
              <a:buNone/>
            </a:pPr>
            <a:r>
              <a:rPr lang="en-US" sz="1150" dirty="0">
                <a:solidFill>
                  <a:srgbClr val="FFFFFF"/>
                </a:solidFill>
                <a:latin typeface="Meiryo UI" pitchFamily="34" charset="0"/>
                <a:ea typeface="Meiryo UI" pitchFamily="34" charset="-122"/>
                <a:cs typeface="Meiryo UI" pitchFamily="34" charset="-120"/>
              </a:rPr>
              <a:t>伴走プランのご契約</a:t>
            </a:r>
            <a:endParaRPr lang="en-US" sz="1150" dirty="0"/>
          </a:p>
          <a:p>
            <a:pPr indent="0" marL="0">
              <a:buNone/>
            </a:pPr>
            <a:r>
              <a:rPr lang="en-US" sz="1150" dirty="0">
                <a:solidFill>
                  <a:srgbClr val="FFFFFF"/>
                </a:solidFill>
                <a:latin typeface="Meiryo UI" pitchFamily="34" charset="0"/>
                <a:ea typeface="Meiryo UI" pitchFamily="34" charset="-122"/>
                <a:cs typeface="Meiryo UI" pitchFamily="34" charset="-120"/>
              </a:rPr>
              <a:t>（フェーズ1を初月に組み込み）</a:t>
            </a:r>
            <a:endParaRPr lang="en-US" sz="1150" dirty="0"/>
          </a:p>
        </p:txBody>
      </p:sp>
      <p:pic>
        <p:nvPicPr>
          <p:cNvPr id="39" name="Image 0" descr="preencoded.png">    </p:cNvPr>
          <p:cNvPicPr>
            <a:picLocks noChangeAspect="1"/>
          </p:cNvPicPr>
          <p:nvPr/>
        </p:nvPicPr>
        <p:blipFill>
          <a:blip r:embed="rId1"/>
          <a:stretch>
            <a:fillRect/>
          </a:stretch>
        </p:blipFill>
        <p:spPr>
          <a:xfrm>
            <a:off x="3146222" y="5550408"/>
            <a:ext cx="201168" cy="274320"/>
          </a:xfrm>
          <a:prstGeom prst="rect">
            <a:avLst/>
          </a:prstGeom>
        </p:spPr>
      </p:pic>
      <p:sp>
        <p:nvSpPr>
          <p:cNvPr id="40" name="Shape 37"/>
          <p:cNvSpPr/>
          <p:nvPr/>
        </p:nvSpPr>
        <p:spPr>
          <a:xfrm>
            <a:off x="3402254" y="5120640"/>
            <a:ext cx="2533574" cy="1143000"/>
          </a:xfrm>
          <a:prstGeom prst="roundRect">
            <a:avLst>
              <a:gd name="adj" fmla="val 9600"/>
            </a:avLst>
          </a:prstGeom>
          <a:solidFill>
            <a:srgbClr val="EEEFF7"/>
          </a:solidFill>
          <a:ln w="12700">
            <a:solidFill>
              <a:srgbClr val="EEEFF7"/>
            </a:solidFill>
            <a:prstDash val="solid"/>
          </a:ln>
        </p:spPr>
      </p:sp>
      <p:sp>
        <p:nvSpPr>
          <p:cNvPr id="41" name="Text 38"/>
          <p:cNvSpPr txBox="1"/>
          <p:nvPr/>
        </p:nvSpPr>
        <p:spPr>
          <a:xfrm>
            <a:off x="3585134" y="5193792"/>
            <a:ext cx="2167814" cy="320040"/>
          </a:xfrm>
          <a:prstGeom prst="rect">
            <a:avLst/>
          </a:prstGeom>
          <a:noFill/>
          <a:ln/>
        </p:spPr>
        <p:txBody>
          <a:bodyPr wrap="square" lIns="0" tIns="0" rIns="0" bIns="0" rtlCol="0" anchor="t"/>
          <a:lstStyle/>
          <a:p>
            <a:pPr indent="0" marL="0">
              <a:buNone/>
            </a:pPr>
            <a:r>
              <a:rPr lang="en-US" sz="1300" b="1" dirty="0">
                <a:solidFill>
                  <a:srgbClr val="3A3F73"/>
                </a:solidFill>
                <a:latin typeface="Meiryo UI" pitchFamily="34" charset="0"/>
                <a:ea typeface="Meiryo UI" pitchFamily="34" charset="-122"/>
                <a:cs typeface="Meiryo UI" pitchFamily="34" charset="-120"/>
              </a:rPr>
              <a:t>約6週間</a:t>
            </a:r>
            <a:endParaRPr lang="en-US" sz="1300" dirty="0"/>
          </a:p>
        </p:txBody>
      </p:sp>
      <p:sp>
        <p:nvSpPr>
          <p:cNvPr id="42" name="Text 39"/>
          <p:cNvSpPr txBox="1"/>
          <p:nvPr/>
        </p:nvSpPr>
        <p:spPr>
          <a:xfrm>
            <a:off x="3585134" y="5513832"/>
            <a:ext cx="2167814" cy="685800"/>
          </a:xfrm>
          <a:prstGeom prst="rect">
            <a:avLst/>
          </a:prstGeom>
          <a:noFill/>
          <a:ln/>
        </p:spPr>
        <p:txBody>
          <a:bodyPr wrap="square" lIns="0" tIns="0" rIns="0" bIns="0" rtlCol="0" anchor="t"/>
          <a:lstStyle/>
          <a:p>
            <a:pPr indent="0" marL="0">
              <a:buNone/>
            </a:pPr>
            <a:r>
              <a:rPr lang="en-US" sz="1150" dirty="0">
                <a:solidFill>
                  <a:srgbClr val="2A2B38"/>
                </a:solidFill>
                <a:latin typeface="Meiryo UI" pitchFamily="34" charset="0"/>
                <a:ea typeface="Meiryo UI" pitchFamily="34" charset="-122"/>
                <a:cs typeface="Meiryo UI" pitchFamily="34" charset="-120"/>
              </a:rPr>
              <a:t>無料3本の制作・配信・検証</a:t>
            </a:r>
            <a:endParaRPr lang="en-US" sz="1150" dirty="0"/>
          </a:p>
        </p:txBody>
      </p:sp>
      <p:pic>
        <p:nvPicPr>
          <p:cNvPr id="43" name="Image 1" descr="preencoded.png">    </p:cNvPr>
          <p:cNvPicPr>
            <a:picLocks noChangeAspect="1"/>
          </p:cNvPicPr>
          <p:nvPr/>
        </p:nvPicPr>
        <p:blipFill>
          <a:blip r:embed="rId2"/>
          <a:stretch>
            <a:fillRect/>
          </a:stretch>
        </p:blipFill>
        <p:spPr>
          <a:xfrm>
            <a:off x="5999836" y="5550408"/>
            <a:ext cx="201168" cy="274320"/>
          </a:xfrm>
          <a:prstGeom prst="rect">
            <a:avLst/>
          </a:prstGeom>
        </p:spPr>
      </p:pic>
      <p:sp>
        <p:nvSpPr>
          <p:cNvPr id="44" name="Shape 40"/>
          <p:cNvSpPr/>
          <p:nvPr/>
        </p:nvSpPr>
        <p:spPr>
          <a:xfrm>
            <a:off x="6255868" y="5120640"/>
            <a:ext cx="2533574" cy="1143000"/>
          </a:xfrm>
          <a:prstGeom prst="roundRect">
            <a:avLst>
              <a:gd name="adj" fmla="val 9600"/>
            </a:avLst>
          </a:prstGeom>
          <a:solidFill>
            <a:srgbClr val="EEEFF7"/>
          </a:solidFill>
          <a:ln w="12700">
            <a:solidFill>
              <a:srgbClr val="EEEFF7"/>
            </a:solidFill>
            <a:prstDash val="solid"/>
          </a:ln>
        </p:spPr>
      </p:sp>
      <p:sp>
        <p:nvSpPr>
          <p:cNvPr id="45" name="Text 41"/>
          <p:cNvSpPr txBox="1"/>
          <p:nvPr/>
        </p:nvSpPr>
        <p:spPr>
          <a:xfrm>
            <a:off x="6438748" y="5193792"/>
            <a:ext cx="2167814" cy="320040"/>
          </a:xfrm>
          <a:prstGeom prst="rect">
            <a:avLst/>
          </a:prstGeom>
          <a:noFill/>
          <a:ln/>
        </p:spPr>
        <p:txBody>
          <a:bodyPr wrap="square" lIns="0" tIns="0" rIns="0" bIns="0" rtlCol="0" anchor="t"/>
          <a:lstStyle/>
          <a:p>
            <a:pPr indent="0" marL="0">
              <a:buNone/>
            </a:pPr>
            <a:r>
              <a:rPr lang="en-US" sz="1300" b="1" dirty="0">
                <a:solidFill>
                  <a:srgbClr val="3A3F73"/>
                </a:solidFill>
                <a:latin typeface="Meiryo UI" pitchFamily="34" charset="0"/>
                <a:ea typeface="Meiryo UI" pitchFamily="34" charset="-122"/>
                <a:cs typeface="Meiryo UI" pitchFamily="34" charset="-120"/>
              </a:rPr>
              <a:t>検証レポート会</a:t>
            </a:r>
            <a:endParaRPr lang="en-US" sz="1300" dirty="0"/>
          </a:p>
        </p:txBody>
      </p:sp>
      <p:sp>
        <p:nvSpPr>
          <p:cNvPr id="46" name="Text 42"/>
          <p:cNvSpPr txBox="1"/>
          <p:nvPr/>
        </p:nvSpPr>
        <p:spPr>
          <a:xfrm>
            <a:off x="6438748" y="5513832"/>
            <a:ext cx="2167814" cy="685800"/>
          </a:xfrm>
          <a:prstGeom prst="rect">
            <a:avLst/>
          </a:prstGeom>
          <a:noFill/>
          <a:ln/>
        </p:spPr>
        <p:txBody>
          <a:bodyPr wrap="square" lIns="0" tIns="0" rIns="0" bIns="0" rtlCol="0" anchor="t"/>
          <a:lstStyle/>
          <a:p>
            <a:pPr indent="0" marL="0">
              <a:buNone/>
            </a:pPr>
            <a:r>
              <a:rPr lang="en-US" sz="1150" dirty="0">
                <a:solidFill>
                  <a:srgbClr val="2A2B38"/>
                </a:solidFill>
                <a:latin typeface="Meiryo UI" pitchFamily="34" charset="0"/>
                <a:ea typeface="Meiryo UI" pitchFamily="34" charset="-122"/>
                <a:cs typeface="Meiryo UI" pitchFamily="34" charset="-120"/>
              </a:rPr>
              <a:t>勝ちパターンの特定と</a:t>
            </a:r>
            <a:endParaRPr lang="en-US" sz="1150" dirty="0"/>
          </a:p>
          <a:p>
            <a:pPr indent="0" marL="0">
              <a:buNone/>
            </a:pPr>
            <a:r>
              <a:rPr lang="en-US" sz="1150" dirty="0">
                <a:solidFill>
                  <a:srgbClr val="2A2B38"/>
                </a:solidFill>
                <a:latin typeface="Meiryo UI" pitchFamily="34" charset="0"/>
                <a:ea typeface="Meiryo UI" pitchFamily="34" charset="-122"/>
                <a:cs typeface="Meiryo UI" pitchFamily="34" charset="-120"/>
              </a:rPr>
              <a:t>フェーズ2計画の確定</a:t>
            </a:r>
            <a:endParaRPr lang="en-US" sz="1150" dirty="0"/>
          </a:p>
        </p:txBody>
      </p:sp>
      <p:pic>
        <p:nvPicPr>
          <p:cNvPr id="47" name="Image 2" descr="preencoded.png">    </p:cNvPr>
          <p:cNvPicPr>
            <a:picLocks noChangeAspect="1"/>
          </p:cNvPicPr>
          <p:nvPr/>
        </p:nvPicPr>
        <p:blipFill>
          <a:blip r:embed="rId3"/>
          <a:stretch>
            <a:fillRect/>
          </a:stretch>
        </p:blipFill>
        <p:spPr>
          <a:xfrm>
            <a:off x="8853449" y="5550408"/>
            <a:ext cx="201168" cy="274320"/>
          </a:xfrm>
          <a:prstGeom prst="rect">
            <a:avLst/>
          </a:prstGeom>
        </p:spPr>
      </p:pic>
      <p:sp>
        <p:nvSpPr>
          <p:cNvPr id="48" name="Shape 43"/>
          <p:cNvSpPr/>
          <p:nvPr/>
        </p:nvSpPr>
        <p:spPr>
          <a:xfrm>
            <a:off x="9109481" y="5120640"/>
            <a:ext cx="2533574" cy="1143000"/>
          </a:xfrm>
          <a:prstGeom prst="roundRect">
            <a:avLst>
              <a:gd name="adj" fmla="val 9600"/>
            </a:avLst>
          </a:prstGeom>
          <a:solidFill>
            <a:srgbClr val="EEEFF7"/>
          </a:solidFill>
          <a:ln w="12700">
            <a:solidFill>
              <a:srgbClr val="EEEFF7"/>
            </a:solidFill>
            <a:prstDash val="solid"/>
          </a:ln>
        </p:spPr>
      </p:sp>
      <p:sp>
        <p:nvSpPr>
          <p:cNvPr id="49" name="Text 44"/>
          <p:cNvSpPr txBox="1"/>
          <p:nvPr/>
        </p:nvSpPr>
        <p:spPr>
          <a:xfrm>
            <a:off x="9292361" y="5193792"/>
            <a:ext cx="2167814" cy="320040"/>
          </a:xfrm>
          <a:prstGeom prst="rect">
            <a:avLst/>
          </a:prstGeom>
          <a:noFill/>
          <a:ln/>
        </p:spPr>
        <p:txBody>
          <a:bodyPr wrap="square" lIns="0" tIns="0" rIns="0" bIns="0" rtlCol="0" anchor="t"/>
          <a:lstStyle/>
          <a:p>
            <a:pPr indent="0" marL="0">
              <a:buNone/>
            </a:pPr>
            <a:r>
              <a:rPr lang="en-US" sz="1300" b="1" dirty="0">
                <a:solidFill>
                  <a:srgbClr val="3A3F73"/>
                </a:solidFill>
                <a:latin typeface="Meiryo UI" pitchFamily="34" charset="0"/>
                <a:ea typeface="Meiryo UI" pitchFamily="34" charset="-122"/>
                <a:cs typeface="Meiryo UI" pitchFamily="34" charset="-120"/>
              </a:rPr>
              <a:t>フェーズ2開始</a:t>
            </a:r>
            <a:endParaRPr lang="en-US" sz="1300" dirty="0"/>
          </a:p>
        </p:txBody>
      </p:sp>
      <p:sp>
        <p:nvSpPr>
          <p:cNvPr id="50" name="Text 45"/>
          <p:cNvSpPr txBox="1"/>
          <p:nvPr/>
        </p:nvSpPr>
        <p:spPr>
          <a:xfrm>
            <a:off x="9292361" y="5513832"/>
            <a:ext cx="2167814" cy="685800"/>
          </a:xfrm>
          <a:prstGeom prst="rect">
            <a:avLst/>
          </a:prstGeom>
          <a:noFill/>
          <a:ln/>
        </p:spPr>
        <p:txBody>
          <a:bodyPr wrap="square" lIns="0" tIns="0" rIns="0" bIns="0" rtlCol="0" anchor="t"/>
          <a:lstStyle/>
          <a:p>
            <a:pPr indent="0" marL="0">
              <a:buNone/>
            </a:pPr>
            <a:r>
              <a:rPr lang="en-US" sz="1150" dirty="0">
                <a:solidFill>
                  <a:srgbClr val="2A2B38"/>
                </a:solidFill>
                <a:latin typeface="Meiryo UI" pitchFamily="34" charset="0"/>
                <a:ea typeface="Meiryo UI" pitchFamily="34" charset="-122"/>
                <a:cs typeface="Meiryo UI" pitchFamily="34" charset="-120"/>
              </a:rPr>
              <a:t>追加制作・Web強化・運用</a:t>
            </a:r>
            <a:endParaRPr lang="en-US" sz="1150" dirty="0"/>
          </a:p>
          <a:p>
            <a:pPr indent="0" marL="0">
              <a:buNone/>
            </a:pPr>
            <a:r>
              <a:rPr lang="en-US" sz="1150" dirty="0">
                <a:solidFill>
                  <a:srgbClr val="2A2B38"/>
                </a:solidFill>
                <a:latin typeface="Meiryo UI" pitchFamily="34" charset="0"/>
                <a:ea typeface="Meiryo UI" pitchFamily="34" charset="-122"/>
                <a:cs typeface="Meiryo UI" pitchFamily="34" charset="-120"/>
              </a:rPr>
              <a:t>による本格展開</a:t>
            </a:r>
            <a:endParaRPr lang="en-US" sz="1150" dirty="0"/>
          </a:p>
        </p:txBody>
      </p:sp>
    </p:spTree>
  </p:cSld>
  <p:clrMapOvr>
    <a:masterClrMapping/>
  </p:clrMapOvr>
</p:sld>
</file>

<file path=ppt/slides/slide22.xml><?xml version="1.0" encoding="utf-8"?>
<p:sld xmlns:a="http://schemas.openxmlformats.org/drawingml/2006/main" xmlns:r="http://schemas.openxmlformats.org/officeDocument/2006/relationships" xmlns:p="http://schemas.openxmlformats.org/presentationml/2006/main">
  <p:cSld name="Slide 22">
    <p:bg>
      <p:bgPr>
        <a:solidFill>
          <a:srgbClr val="FFFFFF"/>
        </a:solidFill>
      </p:bgPr>
    </p:bg>
    <p:spTree>
      <p:nvGrpSpPr>
        <p:cNvPr id="1" name=""/>
        <p:cNvGrpSpPr/>
        <p:nvPr/>
      </p:nvGrpSpPr>
      <p:grpSpPr>
        <a:xfrm>
          <a:off x="0" y="0"/>
          <a:ext cx="0" cy="0"/>
          <a:chOff x="0" y="0"/>
          <a:chExt cx="0" cy="0"/>
        </a:xfrm>
      </p:grpSpPr>
      <p:sp>
        <p:nvSpPr>
          <p:cNvPr id="2" name="Text 0"/>
          <p:cNvSpPr txBox="1"/>
          <p:nvPr/>
        </p:nvSpPr>
        <p:spPr>
          <a:xfrm>
            <a:off x="548640" y="347472"/>
            <a:ext cx="7315200" cy="274320"/>
          </a:xfrm>
          <a:prstGeom prst="rect">
            <a:avLst/>
          </a:prstGeom>
          <a:noFill/>
          <a:ln/>
        </p:spPr>
        <p:txBody>
          <a:bodyPr wrap="square" lIns="0" tIns="0" rIns="0" bIns="0" rtlCol="0" anchor="t"/>
          <a:lstStyle/>
          <a:p>
            <a:pPr indent="0" marL="0">
              <a:buNone/>
            </a:pPr>
            <a:r>
              <a:rPr lang="en-US" sz="1100" b="1" spc="200" kern="0" dirty="0">
                <a:solidFill>
                  <a:srgbClr val="A87A1C"/>
                </a:solidFill>
                <a:latin typeface="Meiryo UI" pitchFamily="34" charset="0"/>
                <a:ea typeface="Meiryo UI" pitchFamily="34" charset="-122"/>
                <a:cs typeface="Meiryo UI" pitchFamily="34" charset="-120"/>
              </a:rPr>
              <a:t>06｜COST OF WAITING</a:t>
            </a:r>
            <a:endParaRPr lang="en-US" sz="1100" dirty="0"/>
          </a:p>
        </p:txBody>
      </p:sp>
      <p:sp>
        <p:nvSpPr>
          <p:cNvPr id="3" name="Text 1"/>
          <p:cNvSpPr txBox="1"/>
          <p:nvPr/>
        </p:nvSpPr>
        <p:spPr>
          <a:xfrm>
            <a:off x="548640" y="621792"/>
            <a:ext cx="11094415" cy="566928"/>
          </a:xfrm>
          <a:prstGeom prst="rect">
            <a:avLst/>
          </a:prstGeom>
          <a:noFill/>
          <a:ln/>
        </p:spPr>
        <p:txBody>
          <a:bodyPr wrap="square" lIns="0" tIns="0" rIns="0" bIns="0" rtlCol="0" anchor="ctr"/>
          <a:lstStyle/>
          <a:p>
            <a:pPr indent="0" marL="0">
              <a:buNone/>
            </a:pPr>
            <a:r>
              <a:rPr lang="en-US" sz="2600" b="1" dirty="0">
                <a:solidFill>
                  <a:srgbClr val="3A3F73"/>
                </a:solidFill>
                <a:latin typeface="Meiryo UI" pitchFamily="34" charset="0"/>
                <a:ea typeface="Meiryo UI" pitchFamily="34" charset="-122"/>
                <a:cs typeface="Meiryo UI" pitchFamily="34" charset="-120"/>
              </a:rPr>
              <a:t>「様子見」による機会損失の考え方</a:t>
            </a:r>
            <a:endParaRPr lang="en-US" sz="2600" dirty="0"/>
          </a:p>
        </p:txBody>
      </p:sp>
      <p:sp>
        <p:nvSpPr>
          <p:cNvPr id="4" name="Text 2"/>
          <p:cNvSpPr txBox="1"/>
          <p:nvPr/>
        </p:nvSpPr>
        <p:spPr>
          <a:xfrm>
            <a:off x="548640" y="1207008"/>
            <a:ext cx="11094415" cy="365760"/>
          </a:xfrm>
          <a:prstGeom prst="rect">
            <a:avLst/>
          </a:prstGeom>
          <a:noFill/>
          <a:ln/>
        </p:spPr>
        <p:txBody>
          <a:bodyPr wrap="square" lIns="0" tIns="0" rIns="0" bIns="0" rtlCol="0" anchor="ctr"/>
          <a:lstStyle/>
          <a:p>
            <a:pPr indent="0" marL="0">
              <a:buNone/>
            </a:pPr>
            <a:r>
              <a:rPr lang="en-US" sz="1300" dirty="0">
                <a:solidFill>
                  <a:srgbClr val="686A82"/>
                </a:solidFill>
                <a:latin typeface="Meiryo UI" pitchFamily="34" charset="0"/>
                <a:ea typeface="Meiryo UI" pitchFamily="34" charset="-122"/>
                <a:cs typeface="Meiryo UI" pitchFamily="34" charset="-120"/>
              </a:rPr>
              <a:t>顧問契約は長く続くストック型の関係。1件の取りこぼしが、数年分の報酬の損失になります。</a:t>
            </a:r>
            <a:endParaRPr lang="en-US" sz="1300" dirty="0"/>
          </a:p>
        </p:txBody>
      </p:sp>
      <p:sp>
        <p:nvSpPr>
          <p:cNvPr id="5" name="Text 3"/>
          <p:cNvSpPr txBox="1"/>
          <p:nvPr/>
        </p:nvSpPr>
        <p:spPr>
          <a:xfrm>
            <a:off x="11094415" y="6419088"/>
            <a:ext cx="548640" cy="256032"/>
          </a:xfrm>
          <a:prstGeom prst="rect">
            <a:avLst/>
          </a:prstGeom>
          <a:noFill/>
          <a:ln/>
        </p:spPr>
        <p:txBody>
          <a:bodyPr wrap="square" lIns="0" tIns="0" rIns="0" bIns="0" rtlCol="0" anchor="t"/>
          <a:lstStyle/>
          <a:p>
            <a:pPr algn="r" indent="0" marL="0">
              <a:buNone/>
            </a:pPr>
            <a:r>
              <a:rPr lang="en-US" sz="1000" dirty="0">
                <a:solidFill>
                  <a:srgbClr val="7C7E90"/>
                </a:solidFill>
                <a:latin typeface="Meiryo UI" pitchFamily="34" charset="0"/>
                <a:ea typeface="Meiryo UI" pitchFamily="34" charset="-122"/>
                <a:cs typeface="Meiryo UI" pitchFamily="34" charset="-120"/>
              </a:rPr>
              <a:t>22</a:t>
            </a:r>
            <a:endParaRPr lang="en-US" sz="1000" dirty="0"/>
          </a:p>
        </p:txBody>
      </p:sp>
      <p:sp>
        <p:nvSpPr>
          <p:cNvPr id="6" name="Text 4"/>
          <p:cNvSpPr txBox="1"/>
          <p:nvPr/>
        </p:nvSpPr>
        <p:spPr>
          <a:xfrm>
            <a:off x="548640" y="6419088"/>
            <a:ext cx="4572000" cy="256032"/>
          </a:xfrm>
          <a:prstGeom prst="rect">
            <a:avLst/>
          </a:prstGeom>
          <a:noFill/>
          <a:ln/>
        </p:spPr>
        <p:txBody>
          <a:bodyPr wrap="square" lIns="0" tIns="0" rIns="0" bIns="0" rtlCol="0" anchor="t"/>
          <a:lstStyle/>
          <a:p>
            <a:pPr indent="0" marL="0">
              <a:buNone/>
            </a:pPr>
            <a:r>
              <a:rPr lang="en-US" sz="900" dirty="0">
                <a:solidFill>
                  <a:srgbClr val="7C7E90"/>
                </a:solidFill>
                <a:latin typeface="Meiryo UI" pitchFamily="34" charset="0"/>
                <a:ea typeface="Meiryo UI" pitchFamily="34" charset="-122"/>
                <a:cs typeface="Meiryo UI" pitchFamily="34" charset="-120"/>
              </a:rPr>
              <a:t>株式会社アイドマ・ホールディングス｜MiTok</a:t>
            </a:r>
            <a:endParaRPr lang="en-US" sz="900" dirty="0"/>
          </a:p>
        </p:txBody>
      </p:sp>
      <p:sp>
        <p:nvSpPr>
          <p:cNvPr id="7" name="Shape 5"/>
          <p:cNvSpPr/>
          <p:nvPr/>
        </p:nvSpPr>
        <p:spPr>
          <a:xfrm>
            <a:off x="548640" y="1874520"/>
            <a:ext cx="2331720" cy="1737360"/>
          </a:xfrm>
          <a:prstGeom prst="roundRect">
            <a:avLst>
              <a:gd name="adj" fmla="val 6316"/>
            </a:avLst>
          </a:prstGeom>
          <a:solidFill>
            <a:srgbClr val="F6F7FB"/>
          </a:solidFill>
          <a:ln w="12700">
            <a:solidFill>
              <a:srgbClr val="F6F7FB"/>
            </a:solidFill>
            <a:prstDash val="solid"/>
          </a:ln>
        </p:spPr>
      </p:sp>
      <p:sp>
        <p:nvSpPr>
          <p:cNvPr id="8" name="Text 6"/>
          <p:cNvSpPr txBox="1"/>
          <p:nvPr/>
        </p:nvSpPr>
        <p:spPr>
          <a:xfrm>
            <a:off x="548640" y="1965960"/>
            <a:ext cx="2331720" cy="868680"/>
          </a:xfrm>
          <a:prstGeom prst="rect">
            <a:avLst/>
          </a:prstGeom>
          <a:noFill/>
          <a:ln/>
        </p:spPr>
        <p:txBody>
          <a:bodyPr wrap="square" lIns="0" tIns="0" rIns="0" bIns="0" rtlCol="0" anchor="ctr"/>
          <a:lstStyle/>
          <a:p>
            <a:pPr algn="ctr" indent="0" marL="0">
              <a:buNone/>
            </a:pPr>
            <a:r>
              <a:rPr lang="en-US" sz="3200" b="1" dirty="0">
                <a:solidFill>
                  <a:srgbClr val="262A52"/>
                </a:solidFill>
                <a:latin typeface="Meiryo UI" pitchFamily="34" charset="0"/>
                <a:ea typeface="Meiryo UI" pitchFamily="34" charset="-122"/>
                <a:cs typeface="Meiryo UI" pitchFamily="34" charset="-120"/>
              </a:rPr>
              <a:t>約30万円</a:t>
            </a:r>
            <a:endParaRPr lang="en-US" sz="3200" dirty="0"/>
          </a:p>
        </p:txBody>
      </p:sp>
      <p:sp>
        <p:nvSpPr>
          <p:cNvPr id="9" name="Text 7"/>
          <p:cNvSpPr txBox="1"/>
          <p:nvPr/>
        </p:nvSpPr>
        <p:spPr>
          <a:xfrm>
            <a:off x="548640" y="2834640"/>
            <a:ext cx="2331720" cy="685800"/>
          </a:xfrm>
          <a:prstGeom prst="rect">
            <a:avLst/>
          </a:prstGeom>
          <a:noFill/>
          <a:ln/>
        </p:spPr>
        <p:txBody>
          <a:bodyPr wrap="square" lIns="0" tIns="0" rIns="0" bIns="0" rtlCol="0" anchor="t"/>
          <a:lstStyle/>
          <a:p>
            <a:pPr algn="ctr" indent="0" marL="0">
              <a:buNone/>
            </a:pPr>
            <a:r>
              <a:rPr lang="en-US" sz="1200" dirty="0">
                <a:solidFill>
                  <a:srgbClr val="686A82"/>
                </a:solidFill>
                <a:latin typeface="Meiryo UI" pitchFamily="34" charset="0"/>
                <a:ea typeface="Meiryo UI" pitchFamily="34" charset="-122"/>
                <a:cs typeface="Meiryo UI" pitchFamily="34" charset="-120"/>
              </a:rPr>
              <a:t>顧問先1件あたりの</a:t>
            </a:r>
            <a:endParaRPr lang="en-US" sz="1200" dirty="0"/>
          </a:p>
          <a:p>
            <a:pPr algn="ctr" indent="0" marL="0">
              <a:buNone/>
            </a:pPr>
            <a:r>
              <a:rPr lang="en-US" sz="1200" dirty="0">
                <a:solidFill>
                  <a:srgbClr val="686A82"/>
                </a:solidFill>
                <a:latin typeface="Meiryo UI" pitchFamily="34" charset="0"/>
                <a:ea typeface="Meiryo UI" pitchFamily="34" charset="-122"/>
                <a:cs typeface="Meiryo UI" pitchFamily="34" charset="-120"/>
              </a:rPr>
              <a:t>年間報酬（仮）</a:t>
            </a:r>
            <a:endParaRPr lang="en-US" sz="1200" dirty="0"/>
          </a:p>
        </p:txBody>
      </p:sp>
      <p:sp>
        <p:nvSpPr>
          <p:cNvPr id="10" name="Text 8"/>
          <p:cNvSpPr txBox="1"/>
          <p:nvPr/>
        </p:nvSpPr>
        <p:spPr>
          <a:xfrm>
            <a:off x="2880360" y="2331720"/>
            <a:ext cx="502920" cy="731520"/>
          </a:xfrm>
          <a:prstGeom prst="rect">
            <a:avLst/>
          </a:prstGeom>
          <a:noFill/>
          <a:ln/>
        </p:spPr>
        <p:txBody>
          <a:bodyPr wrap="square" lIns="0" tIns="0" rIns="0" bIns="0" rtlCol="0" anchor="ctr"/>
          <a:lstStyle/>
          <a:p>
            <a:pPr algn="ctr" indent="0" marL="0">
              <a:buNone/>
            </a:pPr>
            <a:r>
              <a:rPr lang="en-US" sz="3000" b="1" dirty="0">
                <a:solidFill>
                  <a:srgbClr val="A87A1C"/>
                </a:solidFill>
                <a:latin typeface="Meiryo UI" pitchFamily="34" charset="0"/>
                <a:ea typeface="Meiryo UI" pitchFamily="34" charset="-122"/>
                <a:cs typeface="Meiryo UI" pitchFamily="34" charset="-120"/>
              </a:rPr>
              <a:t>×</a:t>
            </a:r>
            <a:endParaRPr lang="en-US" sz="3000" dirty="0"/>
          </a:p>
        </p:txBody>
      </p:sp>
      <p:sp>
        <p:nvSpPr>
          <p:cNvPr id="11" name="Shape 9"/>
          <p:cNvSpPr/>
          <p:nvPr/>
        </p:nvSpPr>
        <p:spPr>
          <a:xfrm>
            <a:off x="3383280" y="1874520"/>
            <a:ext cx="2331720" cy="1737360"/>
          </a:xfrm>
          <a:prstGeom prst="roundRect">
            <a:avLst>
              <a:gd name="adj" fmla="val 6316"/>
            </a:avLst>
          </a:prstGeom>
          <a:solidFill>
            <a:srgbClr val="F6F7FB"/>
          </a:solidFill>
          <a:ln w="12700">
            <a:solidFill>
              <a:srgbClr val="F6F7FB"/>
            </a:solidFill>
            <a:prstDash val="solid"/>
          </a:ln>
        </p:spPr>
      </p:sp>
      <p:sp>
        <p:nvSpPr>
          <p:cNvPr id="12" name="Text 10"/>
          <p:cNvSpPr txBox="1"/>
          <p:nvPr/>
        </p:nvSpPr>
        <p:spPr>
          <a:xfrm>
            <a:off x="3383280" y="1965960"/>
            <a:ext cx="2331720" cy="868680"/>
          </a:xfrm>
          <a:prstGeom prst="rect">
            <a:avLst/>
          </a:prstGeom>
          <a:noFill/>
          <a:ln/>
        </p:spPr>
        <p:txBody>
          <a:bodyPr wrap="square" lIns="0" tIns="0" rIns="0" bIns="0" rtlCol="0" anchor="ctr"/>
          <a:lstStyle/>
          <a:p>
            <a:pPr algn="ctr" indent="0" marL="0">
              <a:buNone/>
            </a:pPr>
            <a:r>
              <a:rPr lang="en-US" sz="3200" b="1" dirty="0">
                <a:solidFill>
                  <a:srgbClr val="262A52"/>
                </a:solidFill>
                <a:latin typeface="Meiryo UI" pitchFamily="34" charset="0"/>
                <a:ea typeface="Meiryo UI" pitchFamily="34" charset="-122"/>
                <a:cs typeface="Meiryo UI" pitchFamily="34" charset="-120"/>
              </a:rPr>
              <a:t>5年</a:t>
            </a:r>
            <a:endParaRPr lang="en-US" sz="3200" dirty="0"/>
          </a:p>
        </p:txBody>
      </p:sp>
      <p:sp>
        <p:nvSpPr>
          <p:cNvPr id="13" name="Text 11"/>
          <p:cNvSpPr txBox="1"/>
          <p:nvPr/>
        </p:nvSpPr>
        <p:spPr>
          <a:xfrm>
            <a:off x="3383280" y="2834640"/>
            <a:ext cx="2331720" cy="685800"/>
          </a:xfrm>
          <a:prstGeom prst="rect">
            <a:avLst/>
          </a:prstGeom>
          <a:noFill/>
          <a:ln/>
        </p:spPr>
        <p:txBody>
          <a:bodyPr wrap="square" lIns="0" tIns="0" rIns="0" bIns="0" rtlCol="0" anchor="t"/>
          <a:lstStyle/>
          <a:p>
            <a:pPr algn="ctr" indent="0" marL="0">
              <a:buNone/>
            </a:pPr>
            <a:r>
              <a:rPr lang="en-US" sz="1200" dirty="0">
                <a:solidFill>
                  <a:srgbClr val="686A82"/>
                </a:solidFill>
                <a:latin typeface="Meiryo UI" pitchFamily="34" charset="0"/>
                <a:ea typeface="Meiryo UI" pitchFamily="34" charset="-122"/>
                <a:cs typeface="Meiryo UI" pitchFamily="34" charset="-120"/>
              </a:rPr>
              <a:t>平均継続期間（仮）</a:t>
            </a:r>
            <a:endParaRPr lang="en-US" sz="1200" dirty="0"/>
          </a:p>
        </p:txBody>
      </p:sp>
      <p:sp>
        <p:nvSpPr>
          <p:cNvPr id="14" name="Text 12"/>
          <p:cNvSpPr txBox="1"/>
          <p:nvPr/>
        </p:nvSpPr>
        <p:spPr>
          <a:xfrm>
            <a:off x="5715000" y="2331720"/>
            <a:ext cx="502920" cy="731520"/>
          </a:xfrm>
          <a:prstGeom prst="rect">
            <a:avLst/>
          </a:prstGeom>
          <a:noFill/>
          <a:ln/>
        </p:spPr>
        <p:txBody>
          <a:bodyPr wrap="square" lIns="0" tIns="0" rIns="0" bIns="0" rtlCol="0" anchor="ctr"/>
          <a:lstStyle/>
          <a:p>
            <a:pPr algn="ctr" indent="0" marL="0">
              <a:buNone/>
            </a:pPr>
            <a:r>
              <a:rPr lang="en-US" sz="3000" b="1" dirty="0">
                <a:solidFill>
                  <a:srgbClr val="A87A1C"/>
                </a:solidFill>
                <a:latin typeface="Meiryo UI" pitchFamily="34" charset="0"/>
                <a:ea typeface="Meiryo UI" pitchFamily="34" charset="-122"/>
                <a:cs typeface="Meiryo UI" pitchFamily="34" charset="-120"/>
              </a:rPr>
              <a:t>=</a:t>
            </a:r>
            <a:endParaRPr lang="en-US" sz="3000" dirty="0"/>
          </a:p>
        </p:txBody>
      </p:sp>
      <p:sp>
        <p:nvSpPr>
          <p:cNvPr id="15" name="Shape 13"/>
          <p:cNvSpPr/>
          <p:nvPr/>
        </p:nvSpPr>
        <p:spPr>
          <a:xfrm>
            <a:off x="6217920" y="1874520"/>
            <a:ext cx="2331720" cy="1737360"/>
          </a:xfrm>
          <a:prstGeom prst="roundRect">
            <a:avLst>
              <a:gd name="adj" fmla="val 6316"/>
            </a:avLst>
          </a:prstGeom>
          <a:solidFill>
            <a:srgbClr val="EEEFF7"/>
          </a:solidFill>
          <a:ln w="12700">
            <a:solidFill>
              <a:srgbClr val="EEEFF7"/>
            </a:solidFill>
            <a:prstDash val="solid"/>
          </a:ln>
        </p:spPr>
      </p:sp>
      <p:sp>
        <p:nvSpPr>
          <p:cNvPr id="16" name="Text 14"/>
          <p:cNvSpPr txBox="1"/>
          <p:nvPr/>
        </p:nvSpPr>
        <p:spPr>
          <a:xfrm>
            <a:off x="6217920" y="1965960"/>
            <a:ext cx="2331720" cy="868680"/>
          </a:xfrm>
          <a:prstGeom prst="rect">
            <a:avLst/>
          </a:prstGeom>
          <a:noFill/>
          <a:ln/>
        </p:spPr>
        <p:txBody>
          <a:bodyPr wrap="square" lIns="0" tIns="0" rIns="0" bIns="0" rtlCol="0" anchor="ctr"/>
          <a:lstStyle/>
          <a:p>
            <a:pPr algn="ctr" indent="0" marL="0">
              <a:buNone/>
            </a:pPr>
            <a:r>
              <a:rPr lang="en-US" sz="3200" b="1" dirty="0">
                <a:solidFill>
                  <a:srgbClr val="3A3F73"/>
                </a:solidFill>
                <a:latin typeface="Meiryo UI" pitchFamily="34" charset="0"/>
                <a:ea typeface="Meiryo UI" pitchFamily="34" charset="-122"/>
                <a:cs typeface="Meiryo UI" pitchFamily="34" charset="-120"/>
              </a:rPr>
              <a:t>約150万円</a:t>
            </a:r>
            <a:endParaRPr lang="en-US" sz="3200" dirty="0"/>
          </a:p>
        </p:txBody>
      </p:sp>
      <p:sp>
        <p:nvSpPr>
          <p:cNvPr id="17" name="Text 15"/>
          <p:cNvSpPr txBox="1"/>
          <p:nvPr/>
        </p:nvSpPr>
        <p:spPr>
          <a:xfrm>
            <a:off x="6217920" y="2834640"/>
            <a:ext cx="2331720" cy="685800"/>
          </a:xfrm>
          <a:prstGeom prst="rect">
            <a:avLst/>
          </a:prstGeom>
          <a:noFill/>
          <a:ln/>
        </p:spPr>
        <p:txBody>
          <a:bodyPr wrap="square" lIns="0" tIns="0" rIns="0" bIns="0" rtlCol="0" anchor="t"/>
          <a:lstStyle/>
          <a:p>
            <a:pPr algn="ctr" indent="0" marL="0">
              <a:buNone/>
            </a:pPr>
            <a:r>
              <a:rPr lang="en-US" sz="1200" dirty="0">
                <a:solidFill>
                  <a:srgbClr val="686A82"/>
                </a:solidFill>
                <a:latin typeface="Meiryo UI" pitchFamily="34" charset="0"/>
                <a:ea typeface="Meiryo UI" pitchFamily="34" charset="-122"/>
                <a:cs typeface="Meiryo UI" pitchFamily="34" charset="-120"/>
              </a:rPr>
              <a:t>顧問先1件あたりの</a:t>
            </a:r>
            <a:endParaRPr lang="en-US" sz="1200" dirty="0"/>
          </a:p>
          <a:p>
            <a:pPr algn="ctr" indent="0" marL="0">
              <a:buNone/>
            </a:pPr>
            <a:r>
              <a:rPr lang="en-US" sz="1200" dirty="0">
                <a:solidFill>
                  <a:srgbClr val="686A82"/>
                </a:solidFill>
                <a:latin typeface="Meiryo UI" pitchFamily="34" charset="0"/>
                <a:ea typeface="Meiryo UI" pitchFamily="34" charset="-122"/>
                <a:cs typeface="Meiryo UI" pitchFamily="34" charset="-120"/>
              </a:rPr>
              <a:t>生涯報酬</a:t>
            </a:r>
            <a:endParaRPr lang="en-US" sz="1200" dirty="0"/>
          </a:p>
        </p:txBody>
      </p:sp>
      <p:sp>
        <p:nvSpPr>
          <p:cNvPr id="18" name="Shape 16"/>
          <p:cNvSpPr/>
          <p:nvPr/>
        </p:nvSpPr>
        <p:spPr>
          <a:xfrm>
            <a:off x="8869680" y="1874520"/>
            <a:ext cx="2773375" cy="1737360"/>
          </a:xfrm>
          <a:prstGeom prst="roundRect">
            <a:avLst>
              <a:gd name="adj" fmla="val 6316"/>
            </a:avLst>
          </a:prstGeom>
          <a:solidFill>
            <a:srgbClr val="262A52"/>
          </a:solidFill>
          <a:ln w="12700">
            <a:solidFill>
              <a:srgbClr val="262A52"/>
            </a:solidFill>
            <a:prstDash val="solid"/>
          </a:ln>
        </p:spPr>
      </p:sp>
      <p:sp>
        <p:nvSpPr>
          <p:cNvPr id="19" name="Text 17"/>
          <p:cNvSpPr txBox="1"/>
          <p:nvPr/>
        </p:nvSpPr>
        <p:spPr>
          <a:xfrm>
            <a:off x="9052560" y="2011680"/>
            <a:ext cx="2407615" cy="274320"/>
          </a:xfrm>
          <a:prstGeom prst="rect">
            <a:avLst/>
          </a:prstGeom>
          <a:noFill/>
          <a:ln/>
        </p:spPr>
        <p:txBody>
          <a:bodyPr wrap="square" lIns="0" tIns="0" rIns="0" bIns="0" rtlCol="0" anchor="t"/>
          <a:lstStyle/>
          <a:p>
            <a:pPr algn="ctr" indent="0" marL="0">
              <a:buNone/>
            </a:pPr>
            <a:r>
              <a:rPr lang="en-US" sz="1100" dirty="0">
                <a:solidFill>
                  <a:srgbClr val="DADCEE"/>
                </a:solidFill>
                <a:latin typeface="Meiryo UI" pitchFamily="34" charset="0"/>
                <a:ea typeface="Meiryo UI" pitchFamily="34" charset="-122"/>
                <a:cs typeface="Meiryo UI" pitchFamily="34" charset="-120"/>
              </a:rPr>
              <a:t>後ろ倒し期間（仮）</a:t>
            </a:r>
            <a:endParaRPr lang="en-US" sz="1100" dirty="0"/>
          </a:p>
        </p:txBody>
      </p:sp>
      <p:sp>
        <p:nvSpPr>
          <p:cNvPr id="20" name="Text 18"/>
          <p:cNvSpPr txBox="1"/>
          <p:nvPr/>
        </p:nvSpPr>
        <p:spPr>
          <a:xfrm>
            <a:off x="9052560" y="2286000"/>
            <a:ext cx="2407615" cy="731520"/>
          </a:xfrm>
          <a:prstGeom prst="rect">
            <a:avLst/>
          </a:prstGeom>
          <a:noFill/>
          <a:ln/>
        </p:spPr>
        <p:txBody>
          <a:bodyPr wrap="square" lIns="0" tIns="0" rIns="0" bIns="0" rtlCol="0" anchor="ctr"/>
          <a:lstStyle/>
          <a:p>
            <a:pPr algn="ctr" indent="0" marL="0">
              <a:buNone/>
            </a:pPr>
            <a:r>
              <a:rPr lang="en-US" sz="3000" b="1" dirty="0">
                <a:solidFill>
                  <a:srgbClr val="FFFFFF"/>
                </a:solidFill>
                <a:latin typeface="Meiryo UI" pitchFamily="34" charset="0"/>
                <a:ea typeface="Meiryo UI" pitchFamily="34" charset="-122"/>
                <a:cs typeface="Meiryo UI" pitchFamily="34" charset="-120"/>
              </a:rPr>
              <a:t>3ヶ月</a:t>
            </a:r>
            <a:endParaRPr lang="en-US" sz="3000" dirty="0"/>
          </a:p>
        </p:txBody>
      </p:sp>
      <p:sp>
        <p:nvSpPr>
          <p:cNvPr id="21" name="Text 19"/>
          <p:cNvSpPr txBox="1"/>
          <p:nvPr/>
        </p:nvSpPr>
        <p:spPr>
          <a:xfrm>
            <a:off x="9052560" y="3063240"/>
            <a:ext cx="2407615" cy="365760"/>
          </a:xfrm>
          <a:prstGeom prst="rect">
            <a:avLst/>
          </a:prstGeom>
          <a:noFill/>
          <a:ln/>
        </p:spPr>
        <p:txBody>
          <a:bodyPr wrap="square" lIns="0" tIns="0" rIns="0" bIns="0" rtlCol="0" anchor="t"/>
          <a:lstStyle/>
          <a:p>
            <a:pPr algn="ctr" indent="0" marL="0">
              <a:buNone/>
            </a:pPr>
            <a:r>
              <a:rPr lang="en-US" sz="1100" dirty="0">
                <a:solidFill>
                  <a:srgbClr val="DADCEE"/>
                </a:solidFill>
                <a:latin typeface="Meiryo UI" pitchFamily="34" charset="0"/>
                <a:ea typeface="Meiryo UI" pitchFamily="34" charset="-122"/>
                <a:cs typeface="Meiryo UI" pitchFamily="34" charset="-120"/>
              </a:rPr>
              <a:t>検討・再見積り・再立ち上げ</a:t>
            </a:r>
            <a:endParaRPr lang="en-US" sz="1100" dirty="0"/>
          </a:p>
        </p:txBody>
      </p:sp>
      <p:sp>
        <p:nvSpPr>
          <p:cNvPr id="22" name="Shape 20"/>
          <p:cNvSpPr/>
          <p:nvPr/>
        </p:nvSpPr>
        <p:spPr>
          <a:xfrm>
            <a:off x="548640" y="3931920"/>
            <a:ext cx="11094415" cy="1600200"/>
          </a:xfrm>
          <a:prstGeom prst="roundRect">
            <a:avLst>
              <a:gd name="adj" fmla="val 6857"/>
            </a:avLst>
          </a:prstGeom>
          <a:solidFill>
            <a:srgbClr val="FBF3E1"/>
          </a:solidFill>
          <a:ln w="12700">
            <a:solidFill>
              <a:srgbClr val="FBF3E1"/>
            </a:solidFill>
            <a:prstDash val="solid"/>
          </a:ln>
        </p:spPr>
      </p:sp>
      <p:sp>
        <p:nvSpPr>
          <p:cNvPr id="23" name="Text 21"/>
          <p:cNvSpPr txBox="1"/>
          <p:nvPr/>
        </p:nvSpPr>
        <p:spPr>
          <a:xfrm>
            <a:off x="914400" y="4069080"/>
            <a:ext cx="5943600" cy="365760"/>
          </a:xfrm>
          <a:prstGeom prst="rect">
            <a:avLst/>
          </a:prstGeom>
          <a:noFill/>
          <a:ln/>
        </p:spPr>
        <p:txBody>
          <a:bodyPr wrap="square" lIns="0" tIns="0" rIns="0" bIns="0" rtlCol="0" anchor="t"/>
          <a:lstStyle/>
          <a:p>
            <a:pPr indent="0" marL="0">
              <a:buNone/>
            </a:pPr>
            <a:r>
              <a:rPr lang="en-US" sz="1400" b="1" dirty="0">
                <a:solidFill>
                  <a:srgbClr val="262A52"/>
                </a:solidFill>
                <a:latin typeface="Meiryo UI" pitchFamily="34" charset="0"/>
                <a:ea typeface="Meiryo UI" pitchFamily="34" charset="-122"/>
                <a:cs typeface="Meiryo UI" pitchFamily="34" charset="-120"/>
              </a:rPr>
              <a:t>仮に月2件の新規契約が3ヶ月遅れると……</a:t>
            </a:r>
            <a:endParaRPr lang="en-US" sz="1400" dirty="0"/>
          </a:p>
        </p:txBody>
      </p:sp>
      <p:sp>
        <p:nvSpPr>
          <p:cNvPr id="24" name="Text 22"/>
          <p:cNvSpPr txBox="1"/>
          <p:nvPr/>
        </p:nvSpPr>
        <p:spPr>
          <a:xfrm>
            <a:off x="914400" y="4526280"/>
            <a:ext cx="4572000" cy="822960"/>
          </a:xfrm>
          <a:prstGeom prst="rect">
            <a:avLst/>
          </a:prstGeom>
          <a:noFill/>
          <a:ln/>
        </p:spPr>
        <p:txBody>
          <a:bodyPr wrap="square" lIns="0" tIns="0" rIns="0" bIns="0" rtlCol="0" anchor="ctr"/>
          <a:lstStyle/>
          <a:p>
            <a:pPr indent="0" marL="0">
              <a:buNone/>
            </a:pPr>
            <a:r>
              <a:rPr lang="en-US" sz="2600" b="1" dirty="0">
                <a:solidFill>
                  <a:srgbClr val="262A52"/>
                </a:solidFill>
                <a:latin typeface="Meiryo UI" pitchFamily="34" charset="0"/>
                <a:ea typeface="Meiryo UI" pitchFamily="34" charset="-122"/>
                <a:cs typeface="Meiryo UI" pitchFamily="34" charset="-120"/>
              </a:rPr>
              <a:t>150万円 × 6件 ＝</a:t>
            </a:r>
            <a:endParaRPr lang="en-US" sz="2600" dirty="0"/>
          </a:p>
        </p:txBody>
      </p:sp>
      <p:sp>
        <p:nvSpPr>
          <p:cNvPr id="25" name="Text 23"/>
          <p:cNvSpPr txBox="1"/>
          <p:nvPr/>
        </p:nvSpPr>
        <p:spPr>
          <a:xfrm>
            <a:off x="5303520" y="4389120"/>
            <a:ext cx="4114800" cy="1005840"/>
          </a:xfrm>
          <a:prstGeom prst="rect">
            <a:avLst/>
          </a:prstGeom>
          <a:noFill/>
          <a:ln/>
        </p:spPr>
        <p:txBody>
          <a:bodyPr wrap="square" lIns="0" tIns="0" rIns="0" bIns="0" rtlCol="0" anchor="ctr"/>
          <a:lstStyle/>
          <a:p>
            <a:pPr indent="0" marL="0">
              <a:buNone/>
            </a:pPr>
            <a:r>
              <a:rPr lang="en-US" sz="4800" b="1" dirty="0">
                <a:solidFill>
                  <a:srgbClr val="A87A1C"/>
                </a:solidFill>
                <a:latin typeface="Meiryo UI" pitchFamily="34" charset="0"/>
                <a:ea typeface="Meiryo UI" pitchFamily="34" charset="-122"/>
                <a:cs typeface="Meiryo UI" pitchFamily="34" charset="-120"/>
              </a:rPr>
              <a:t>約900万円</a:t>
            </a:r>
            <a:endParaRPr lang="en-US" sz="4800" dirty="0"/>
          </a:p>
        </p:txBody>
      </p:sp>
      <p:sp>
        <p:nvSpPr>
          <p:cNvPr id="26" name="Text 24"/>
          <p:cNvSpPr txBox="1"/>
          <p:nvPr/>
        </p:nvSpPr>
        <p:spPr>
          <a:xfrm>
            <a:off x="9281160" y="4526280"/>
            <a:ext cx="2194560" cy="822960"/>
          </a:xfrm>
          <a:prstGeom prst="rect">
            <a:avLst/>
          </a:prstGeom>
          <a:noFill/>
          <a:ln/>
        </p:spPr>
        <p:txBody>
          <a:bodyPr wrap="square" lIns="0" tIns="0" rIns="0" bIns="0" rtlCol="0" anchor="ctr"/>
          <a:lstStyle/>
          <a:p>
            <a:pPr indent="0" marL="0">
              <a:buNone/>
            </a:pPr>
            <a:r>
              <a:rPr lang="en-US" sz="2000" b="1" dirty="0">
                <a:solidFill>
                  <a:srgbClr val="262A52"/>
                </a:solidFill>
                <a:latin typeface="Meiryo UI" pitchFamily="34" charset="0"/>
                <a:ea typeface="Meiryo UI" pitchFamily="34" charset="-122"/>
                <a:cs typeface="Meiryo UI" pitchFamily="34" charset="-120"/>
              </a:rPr>
              <a:t>の機会損失</a:t>
            </a:r>
            <a:endParaRPr lang="en-US" sz="2000" dirty="0"/>
          </a:p>
        </p:txBody>
      </p:sp>
      <p:sp>
        <p:nvSpPr>
          <p:cNvPr id="27" name="Text 25"/>
          <p:cNvSpPr txBox="1"/>
          <p:nvPr/>
        </p:nvSpPr>
        <p:spPr>
          <a:xfrm>
            <a:off x="548640" y="5715000"/>
            <a:ext cx="11094415" cy="457200"/>
          </a:xfrm>
          <a:prstGeom prst="rect">
            <a:avLst/>
          </a:prstGeom>
          <a:noFill/>
          <a:ln/>
        </p:spPr>
        <p:txBody>
          <a:bodyPr wrap="square" lIns="0" tIns="0" rIns="0" bIns="0" rtlCol="0" anchor="t"/>
          <a:lstStyle/>
          <a:p>
            <a:pPr indent="0" marL="0">
              <a:buNone/>
            </a:pPr>
            <a:r>
              <a:rPr lang="en-US" sz="1100" dirty="0">
                <a:solidFill>
                  <a:srgbClr val="686A82"/>
                </a:solidFill>
                <a:latin typeface="Meiryo UI" pitchFamily="34" charset="0"/>
                <a:ea typeface="Meiryo UI" pitchFamily="34" charset="-122"/>
                <a:cs typeface="Meiryo UI" pitchFamily="34" charset="-120"/>
              </a:rPr>
              <a:t>※上記は考え方を示すための仮置きの数値です。確定申告・相続などのスポット業務の報酬は含みません。本日、実数値（報酬の目安・継続年数・新規件数）で再計算させてください。</a:t>
            </a:r>
            <a:endParaRPr lang="en-US" sz="1100" dirty="0"/>
          </a:p>
        </p:txBody>
      </p:sp>
    </p:spTree>
  </p:cSld>
  <p:clrMapOvr>
    <a:masterClrMapping/>
  </p:clrMapOvr>
</p:sld>
</file>

<file path=ppt/slides/slide23.xml><?xml version="1.0" encoding="utf-8"?>
<p:sld xmlns:a="http://schemas.openxmlformats.org/drawingml/2006/main" xmlns:r="http://schemas.openxmlformats.org/officeDocument/2006/relationships" xmlns:p="http://schemas.openxmlformats.org/presentationml/2006/main">
  <p:cSld name="Slide 23">
    <p:bg>
      <p:bgPr>
        <a:solidFill>
          <a:srgbClr val="FFFFFF"/>
        </a:solidFill>
      </p:bgPr>
    </p:bg>
    <p:spTree>
      <p:nvGrpSpPr>
        <p:cNvPr id="1" name=""/>
        <p:cNvGrpSpPr/>
        <p:nvPr/>
      </p:nvGrpSpPr>
      <p:grpSpPr>
        <a:xfrm>
          <a:off x="0" y="0"/>
          <a:ext cx="0" cy="0"/>
          <a:chOff x="0" y="0"/>
          <a:chExt cx="0" cy="0"/>
        </a:xfrm>
      </p:grpSpPr>
      <p:sp>
        <p:nvSpPr>
          <p:cNvPr id="2" name="Text 0"/>
          <p:cNvSpPr txBox="1"/>
          <p:nvPr/>
        </p:nvSpPr>
        <p:spPr>
          <a:xfrm>
            <a:off x="548640" y="347472"/>
            <a:ext cx="7315200" cy="274320"/>
          </a:xfrm>
          <a:prstGeom prst="rect">
            <a:avLst/>
          </a:prstGeom>
          <a:noFill/>
          <a:ln/>
        </p:spPr>
        <p:txBody>
          <a:bodyPr wrap="square" lIns="0" tIns="0" rIns="0" bIns="0" rtlCol="0" anchor="t"/>
          <a:lstStyle/>
          <a:p>
            <a:pPr indent="0" marL="0">
              <a:buNone/>
            </a:pPr>
            <a:r>
              <a:rPr lang="en-US" sz="1100" b="1" spc="200" kern="0" dirty="0">
                <a:solidFill>
                  <a:srgbClr val="A87A1C"/>
                </a:solidFill>
                <a:latin typeface="Meiryo UI" pitchFamily="34" charset="0"/>
                <a:ea typeface="Meiryo UI" pitchFamily="34" charset="-122"/>
                <a:cs typeface="Meiryo UI" pitchFamily="34" charset="-120"/>
              </a:rPr>
              <a:t>07｜TODAY</a:t>
            </a:r>
            <a:endParaRPr lang="en-US" sz="1100" dirty="0"/>
          </a:p>
        </p:txBody>
      </p:sp>
      <p:sp>
        <p:nvSpPr>
          <p:cNvPr id="3" name="Text 1"/>
          <p:cNvSpPr txBox="1"/>
          <p:nvPr/>
        </p:nvSpPr>
        <p:spPr>
          <a:xfrm>
            <a:off x="548640" y="621792"/>
            <a:ext cx="11094415" cy="566928"/>
          </a:xfrm>
          <a:prstGeom prst="rect">
            <a:avLst/>
          </a:prstGeom>
          <a:noFill/>
          <a:ln/>
        </p:spPr>
        <p:txBody>
          <a:bodyPr wrap="square" lIns="0" tIns="0" rIns="0" bIns="0" rtlCol="0" anchor="ctr"/>
          <a:lstStyle/>
          <a:p>
            <a:pPr indent="0" marL="0">
              <a:buNone/>
            </a:pPr>
            <a:r>
              <a:rPr lang="en-US" sz="2600" b="1" dirty="0">
                <a:solidFill>
                  <a:srgbClr val="3A3F73"/>
                </a:solidFill>
                <a:latin typeface="Meiryo UI" pitchFamily="34" charset="0"/>
                <a:ea typeface="Meiryo UI" pitchFamily="34" charset="-122"/>
                <a:cs typeface="Meiryo UI" pitchFamily="34" charset="-120"/>
              </a:rPr>
              <a:t>本日ご確認させていただきたいこと</a:t>
            </a:r>
            <a:endParaRPr lang="en-US" sz="2600" dirty="0"/>
          </a:p>
        </p:txBody>
      </p:sp>
      <p:sp>
        <p:nvSpPr>
          <p:cNvPr id="4" name="Text 2"/>
          <p:cNvSpPr txBox="1"/>
          <p:nvPr/>
        </p:nvSpPr>
        <p:spPr>
          <a:xfrm>
            <a:off x="11094415" y="6419088"/>
            <a:ext cx="548640" cy="256032"/>
          </a:xfrm>
          <a:prstGeom prst="rect">
            <a:avLst/>
          </a:prstGeom>
          <a:noFill/>
          <a:ln/>
        </p:spPr>
        <p:txBody>
          <a:bodyPr wrap="square" lIns="0" tIns="0" rIns="0" bIns="0" rtlCol="0" anchor="t"/>
          <a:lstStyle/>
          <a:p>
            <a:pPr algn="r" indent="0" marL="0">
              <a:buNone/>
            </a:pPr>
            <a:r>
              <a:rPr lang="en-US" sz="1000" dirty="0">
                <a:solidFill>
                  <a:srgbClr val="7C7E90"/>
                </a:solidFill>
                <a:latin typeface="Meiryo UI" pitchFamily="34" charset="0"/>
                <a:ea typeface="Meiryo UI" pitchFamily="34" charset="-122"/>
                <a:cs typeface="Meiryo UI" pitchFamily="34" charset="-120"/>
              </a:rPr>
              <a:t>23</a:t>
            </a:r>
            <a:endParaRPr lang="en-US" sz="1000" dirty="0"/>
          </a:p>
        </p:txBody>
      </p:sp>
      <p:sp>
        <p:nvSpPr>
          <p:cNvPr id="5" name="Text 3"/>
          <p:cNvSpPr txBox="1"/>
          <p:nvPr/>
        </p:nvSpPr>
        <p:spPr>
          <a:xfrm>
            <a:off x="548640" y="6419088"/>
            <a:ext cx="4572000" cy="256032"/>
          </a:xfrm>
          <a:prstGeom prst="rect">
            <a:avLst/>
          </a:prstGeom>
          <a:noFill/>
          <a:ln/>
        </p:spPr>
        <p:txBody>
          <a:bodyPr wrap="square" lIns="0" tIns="0" rIns="0" bIns="0" rtlCol="0" anchor="t"/>
          <a:lstStyle/>
          <a:p>
            <a:pPr indent="0" marL="0">
              <a:buNone/>
            </a:pPr>
            <a:r>
              <a:rPr lang="en-US" sz="900" dirty="0">
                <a:solidFill>
                  <a:srgbClr val="7C7E90"/>
                </a:solidFill>
                <a:latin typeface="Meiryo UI" pitchFamily="34" charset="0"/>
                <a:ea typeface="Meiryo UI" pitchFamily="34" charset="-122"/>
                <a:cs typeface="Meiryo UI" pitchFamily="34" charset="-120"/>
              </a:rPr>
              <a:t>株式会社アイドマ・ホールディングス｜MiTok</a:t>
            </a:r>
            <a:endParaRPr lang="en-US" sz="900" dirty="0"/>
          </a:p>
        </p:txBody>
      </p:sp>
      <p:sp>
        <p:nvSpPr>
          <p:cNvPr id="6" name="Shape 4"/>
          <p:cNvSpPr/>
          <p:nvPr/>
        </p:nvSpPr>
        <p:spPr>
          <a:xfrm>
            <a:off x="548640" y="1463040"/>
            <a:ext cx="5410048" cy="1024128"/>
          </a:xfrm>
          <a:prstGeom prst="roundRect">
            <a:avLst>
              <a:gd name="adj" fmla="val 10714"/>
            </a:avLst>
          </a:prstGeom>
          <a:solidFill>
            <a:srgbClr val="FFFFFF"/>
          </a:solidFill>
          <a:ln w="12700">
            <a:solidFill>
              <a:srgbClr val="FFFFFF"/>
            </a:solidFill>
            <a:prstDash val="solid"/>
          </a:ln>
          <a:effectLst>
            <a:outerShdw sx="100000" sy="100000" kx="0" ky="0" algn="bl" rotWithShape="0" blurRad="76200" dist="25400" dir="5400000">
              <a:srgbClr val="000000">
                <a:alpha val="12000"/>
              </a:srgbClr>
            </a:outerShdw>
          </a:effectLst>
        </p:spPr>
      </p:sp>
      <p:sp>
        <p:nvSpPr>
          <p:cNvPr id="7" name="Shape 5"/>
          <p:cNvSpPr/>
          <p:nvPr/>
        </p:nvSpPr>
        <p:spPr>
          <a:xfrm>
            <a:off x="777240" y="1719072"/>
            <a:ext cx="512064" cy="512064"/>
          </a:xfrm>
          <a:prstGeom prst="ellipse">
            <a:avLst/>
          </a:prstGeom>
          <a:solidFill>
            <a:srgbClr val="3A3F73"/>
          </a:solidFill>
          <a:ln w="12700">
            <a:solidFill>
              <a:srgbClr val="3A3F73"/>
            </a:solidFill>
            <a:prstDash val="solid"/>
          </a:ln>
        </p:spPr>
      </p:sp>
      <p:sp>
        <p:nvSpPr>
          <p:cNvPr id="8" name="Text 6"/>
          <p:cNvSpPr txBox="1"/>
          <p:nvPr/>
        </p:nvSpPr>
        <p:spPr>
          <a:xfrm>
            <a:off x="777240" y="1719072"/>
            <a:ext cx="512064" cy="512064"/>
          </a:xfrm>
          <a:prstGeom prst="rect">
            <a:avLst/>
          </a:prstGeom>
          <a:noFill/>
          <a:ln/>
        </p:spPr>
        <p:txBody>
          <a:bodyPr wrap="square" lIns="0" tIns="0" rIns="0" bIns="0" rtlCol="0" anchor="ctr"/>
          <a:lstStyle/>
          <a:p>
            <a:pPr algn="ctr" indent="0" marL="0">
              <a:buNone/>
            </a:pPr>
            <a:r>
              <a:rPr lang="en-US" sz="1500" b="1" dirty="0">
                <a:solidFill>
                  <a:srgbClr val="FFFFFF"/>
                </a:solidFill>
                <a:latin typeface="Meiryo UI" pitchFamily="34" charset="0"/>
                <a:ea typeface="Meiryo UI" pitchFamily="34" charset="-122"/>
                <a:cs typeface="Meiryo UI" pitchFamily="34" charset="-120"/>
              </a:rPr>
              <a:t>1</a:t>
            </a:r>
            <a:endParaRPr lang="en-US" sz="1500" dirty="0"/>
          </a:p>
        </p:txBody>
      </p:sp>
      <p:sp>
        <p:nvSpPr>
          <p:cNvPr id="9" name="Text 7"/>
          <p:cNvSpPr txBox="1"/>
          <p:nvPr/>
        </p:nvSpPr>
        <p:spPr>
          <a:xfrm>
            <a:off x="1463040" y="1572768"/>
            <a:ext cx="4312768" cy="548640"/>
          </a:xfrm>
          <a:prstGeom prst="rect">
            <a:avLst/>
          </a:prstGeom>
          <a:noFill/>
          <a:ln/>
        </p:spPr>
        <p:txBody>
          <a:bodyPr wrap="square" lIns="0" tIns="0" rIns="0" bIns="0" rtlCol="0" anchor="ctr"/>
          <a:lstStyle/>
          <a:p>
            <a:pPr indent="0" marL="0">
              <a:buNone/>
            </a:pPr>
            <a:r>
              <a:rPr lang="en-US" sz="1300" b="1" dirty="0">
                <a:solidFill>
                  <a:srgbClr val="262A52"/>
                </a:solidFill>
                <a:latin typeface="Meiryo UI" pitchFamily="34" charset="0"/>
                <a:ea typeface="Meiryo UI" pitchFamily="34" charset="-122"/>
                <a:cs typeface="Meiryo UI" pitchFamily="34" charset="-120"/>
              </a:rPr>
              <a:t>現在の顧問先数と、月あたりの新規相談件数</a:t>
            </a:r>
            <a:endParaRPr lang="en-US" sz="1300" dirty="0"/>
          </a:p>
        </p:txBody>
      </p:sp>
      <p:sp>
        <p:nvSpPr>
          <p:cNvPr id="10" name="Text 8"/>
          <p:cNvSpPr txBox="1"/>
          <p:nvPr/>
        </p:nvSpPr>
        <p:spPr>
          <a:xfrm>
            <a:off x="1463040" y="2121408"/>
            <a:ext cx="4312768" cy="274320"/>
          </a:xfrm>
          <a:prstGeom prst="rect">
            <a:avLst/>
          </a:prstGeom>
          <a:noFill/>
          <a:ln/>
        </p:spPr>
        <p:txBody>
          <a:bodyPr wrap="square" lIns="0" tIns="0" rIns="0" bIns="0" rtlCol="0" anchor="t"/>
          <a:lstStyle/>
          <a:p>
            <a:pPr indent="0" marL="0">
              <a:buNone/>
            </a:pPr>
            <a:r>
              <a:rPr lang="en-US" sz="1100" dirty="0">
                <a:solidFill>
                  <a:srgbClr val="686A82"/>
                </a:solidFill>
                <a:latin typeface="Meiryo UI" pitchFamily="34" charset="0"/>
                <a:ea typeface="Meiryo UI" pitchFamily="34" charset="-122"/>
                <a:cs typeface="Meiryo UI" pitchFamily="34" charset="-120"/>
              </a:rPr>
              <a:t>目的：KPI・目標値の設定</a:t>
            </a:r>
            <a:endParaRPr lang="en-US" sz="1100" dirty="0"/>
          </a:p>
        </p:txBody>
      </p:sp>
      <p:sp>
        <p:nvSpPr>
          <p:cNvPr id="11" name="Shape 9"/>
          <p:cNvSpPr/>
          <p:nvPr/>
        </p:nvSpPr>
        <p:spPr>
          <a:xfrm>
            <a:off x="548640" y="2651760"/>
            <a:ext cx="5410048" cy="1024128"/>
          </a:xfrm>
          <a:prstGeom prst="roundRect">
            <a:avLst>
              <a:gd name="adj" fmla="val 10714"/>
            </a:avLst>
          </a:prstGeom>
          <a:solidFill>
            <a:srgbClr val="FFFFFF"/>
          </a:solidFill>
          <a:ln w="12700">
            <a:solidFill>
              <a:srgbClr val="FFFFFF"/>
            </a:solidFill>
            <a:prstDash val="solid"/>
          </a:ln>
          <a:effectLst>
            <a:outerShdw sx="100000" sy="100000" kx="0" ky="0" algn="bl" rotWithShape="0" blurRad="76200" dist="25400" dir="5400000">
              <a:srgbClr val="000000">
                <a:alpha val="12000"/>
              </a:srgbClr>
            </a:outerShdw>
          </a:effectLst>
        </p:spPr>
      </p:sp>
      <p:sp>
        <p:nvSpPr>
          <p:cNvPr id="12" name="Shape 10"/>
          <p:cNvSpPr/>
          <p:nvPr/>
        </p:nvSpPr>
        <p:spPr>
          <a:xfrm>
            <a:off x="777240" y="2907792"/>
            <a:ext cx="512064" cy="512064"/>
          </a:xfrm>
          <a:prstGeom prst="ellipse">
            <a:avLst/>
          </a:prstGeom>
          <a:solidFill>
            <a:srgbClr val="3A3F73"/>
          </a:solidFill>
          <a:ln w="12700">
            <a:solidFill>
              <a:srgbClr val="3A3F73"/>
            </a:solidFill>
            <a:prstDash val="solid"/>
          </a:ln>
        </p:spPr>
      </p:sp>
      <p:sp>
        <p:nvSpPr>
          <p:cNvPr id="13" name="Text 11"/>
          <p:cNvSpPr txBox="1"/>
          <p:nvPr/>
        </p:nvSpPr>
        <p:spPr>
          <a:xfrm>
            <a:off x="777240" y="2907792"/>
            <a:ext cx="512064" cy="512064"/>
          </a:xfrm>
          <a:prstGeom prst="rect">
            <a:avLst/>
          </a:prstGeom>
          <a:noFill/>
          <a:ln/>
        </p:spPr>
        <p:txBody>
          <a:bodyPr wrap="square" lIns="0" tIns="0" rIns="0" bIns="0" rtlCol="0" anchor="ctr"/>
          <a:lstStyle/>
          <a:p>
            <a:pPr algn="ctr" indent="0" marL="0">
              <a:buNone/>
            </a:pPr>
            <a:r>
              <a:rPr lang="en-US" sz="1500" b="1" dirty="0">
                <a:solidFill>
                  <a:srgbClr val="FFFFFF"/>
                </a:solidFill>
                <a:latin typeface="Meiryo UI" pitchFamily="34" charset="0"/>
                <a:ea typeface="Meiryo UI" pitchFamily="34" charset="-122"/>
                <a:cs typeface="Meiryo UI" pitchFamily="34" charset="-120"/>
              </a:rPr>
              <a:t>2</a:t>
            </a:r>
            <a:endParaRPr lang="en-US" sz="1500" dirty="0"/>
          </a:p>
        </p:txBody>
      </p:sp>
      <p:sp>
        <p:nvSpPr>
          <p:cNvPr id="14" name="Text 12"/>
          <p:cNvSpPr txBox="1"/>
          <p:nvPr/>
        </p:nvSpPr>
        <p:spPr>
          <a:xfrm>
            <a:off x="1463040" y="2761488"/>
            <a:ext cx="4312768" cy="548640"/>
          </a:xfrm>
          <a:prstGeom prst="rect">
            <a:avLst/>
          </a:prstGeom>
          <a:noFill/>
          <a:ln/>
        </p:spPr>
        <p:txBody>
          <a:bodyPr wrap="square" lIns="0" tIns="0" rIns="0" bIns="0" rtlCol="0" anchor="ctr"/>
          <a:lstStyle/>
          <a:p>
            <a:pPr indent="0" marL="0">
              <a:buNone/>
            </a:pPr>
            <a:r>
              <a:rPr lang="en-US" sz="1300" b="1" dirty="0">
                <a:solidFill>
                  <a:srgbClr val="262A52"/>
                </a:solidFill>
                <a:latin typeface="Meiryo UI" pitchFamily="34" charset="0"/>
                <a:ea typeface="Meiryo UI" pitchFamily="34" charset="-122"/>
                <a:cs typeface="Meiryo UI" pitchFamily="34" charset="-120"/>
              </a:rPr>
              <a:t>紹介元（顧問先・金融機関・不動産会社など）の内訳</a:t>
            </a:r>
            <a:endParaRPr lang="en-US" sz="1300" dirty="0"/>
          </a:p>
        </p:txBody>
      </p:sp>
      <p:sp>
        <p:nvSpPr>
          <p:cNvPr id="15" name="Text 13"/>
          <p:cNvSpPr txBox="1"/>
          <p:nvPr/>
        </p:nvSpPr>
        <p:spPr>
          <a:xfrm>
            <a:off x="1463040" y="3310128"/>
            <a:ext cx="4312768" cy="274320"/>
          </a:xfrm>
          <a:prstGeom prst="rect">
            <a:avLst/>
          </a:prstGeom>
          <a:noFill/>
          <a:ln/>
        </p:spPr>
        <p:txBody>
          <a:bodyPr wrap="square" lIns="0" tIns="0" rIns="0" bIns="0" rtlCol="0" anchor="t"/>
          <a:lstStyle/>
          <a:p>
            <a:pPr indent="0" marL="0">
              <a:buNone/>
            </a:pPr>
            <a:r>
              <a:rPr lang="en-US" sz="1100" dirty="0">
                <a:solidFill>
                  <a:srgbClr val="686A82"/>
                </a:solidFill>
                <a:latin typeface="Meiryo UI" pitchFamily="34" charset="0"/>
                <a:ea typeface="Meiryo UI" pitchFamily="34" charset="-122"/>
                <a:cs typeface="Meiryo UI" pitchFamily="34" charset="-120"/>
              </a:rPr>
              <a:t>目的：プッシュ施策の設計</a:t>
            </a:r>
            <a:endParaRPr lang="en-US" sz="1100" dirty="0"/>
          </a:p>
        </p:txBody>
      </p:sp>
      <p:sp>
        <p:nvSpPr>
          <p:cNvPr id="16" name="Shape 14"/>
          <p:cNvSpPr/>
          <p:nvPr/>
        </p:nvSpPr>
        <p:spPr>
          <a:xfrm>
            <a:off x="548640" y="3840480"/>
            <a:ext cx="5410048" cy="1024128"/>
          </a:xfrm>
          <a:prstGeom prst="roundRect">
            <a:avLst>
              <a:gd name="adj" fmla="val 10714"/>
            </a:avLst>
          </a:prstGeom>
          <a:solidFill>
            <a:srgbClr val="FFFFFF"/>
          </a:solidFill>
          <a:ln w="12700">
            <a:solidFill>
              <a:srgbClr val="FFFFFF"/>
            </a:solidFill>
            <a:prstDash val="solid"/>
          </a:ln>
          <a:effectLst>
            <a:outerShdw sx="100000" sy="100000" kx="0" ky="0" algn="bl" rotWithShape="0" blurRad="76200" dist="25400" dir="5400000">
              <a:srgbClr val="000000">
                <a:alpha val="12000"/>
              </a:srgbClr>
            </a:outerShdw>
          </a:effectLst>
        </p:spPr>
      </p:sp>
      <p:sp>
        <p:nvSpPr>
          <p:cNvPr id="17" name="Shape 15"/>
          <p:cNvSpPr/>
          <p:nvPr/>
        </p:nvSpPr>
        <p:spPr>
          <a:xfrm>
            <a:off x="777240" y="4096512"/>
            <a:ext cx="512064" cy="512064"/>
          </a:xfrm>
          <a:prstGeom prst="ellipse">
            <a:avLst/>
          </a:prstGeom>
          <a:solidFill>
            <a:srgbClr val="3A3F73"/>
          </a:solidFill>
          <a:ln w="12700">
            <a:solidFill>
              <a:srgbClr val="3A3F73"/>
            </a:solidFill>
            <a:prstDash val="solid"/>
          </a:ln>
        </p:spPr>
      </p:sp>
      <p:sp>
        <p:nvSpPr>
          <p:cNvPr id="18" name="Text 16"/>
          <p:cNvSpPr txBox="1"/>
          <p:nvPr/>
        </p:nvSpPr>
        <p:spPr>
          <a:xfrm>
            <a:off x="777240" y="4096512"/>
            <a:ext cx="512064" cy="512064"/>
          </a:xfrm>
          <a:prstGeom prst="rect">
            <a:avLst/>
          </a:prstGeom>
          <a:noFill/>
          <a:ln/>
        </p:spPr>
        <p:txBody>
          <a:bodyPr wrap="square" lIns="0" tIns="0" rIns="0" bIns="0" rtlCol="0" anchor="ctr"/>
          <a:lstStyle/>
          <a:p>
            <a:pPr algn="ctr" indent="0" marL="0">
              <a:buNone/>
            </a:pPr>
            <a:r>
              <a:rPr lang="en-US" sz="1500" b="1" dirty="0">
                <a:solidFill>
                  <a:srgbClr val="FFFFFF"/>
                </a:solidFill>
                <a:latin typeface="Meiryo UI" pitchFamily="34" charset="0"/>
                <a:ea typeface="Meiryo UI" pitchFamily="34" charset="-122"/>
                <a:cs typeface="Meiryo UI" pitchFamily="34" charset="-120"/>
              </a:rPr>
              <a:t>3</a:t>
            </a:r>
            <a:endParaRPr lang="en-US" sz="1500" dirty="0"/>
          </a:p>
        </p:txBody>
      </p:sp>
      <p:sp>
        <p:nvSpPr>
          <p:cNvPr id="19" name="Text 17"/>
          <p:cNvSpPr txBox="1"/>
          <p:nvPr/>
        </p:nvSpPr>
        <p:spPr>
          <a:xfrm>
            <a:off x="1463040" y="3950208"/>
            <a:ext cx="4312768" cy="548640"/>
          </a:xfrm>
          <a:prstGeom prst="rect">
            <a:avLst/>
          </a:prstGeom>
          <a:noFill/>
          <a:ln/>
        </p:spPr>
        <p:txBody>
          <a:bodyPr wrap="square" lIns="0" tIns="0" rIns="0" bIns="0" rtlCol="0" anchor="ctr"/>
          <a:lstStyle/>
          <a:p>
            <a:pPr indent="0" marL="0">
              <a:buNone/>
            </a:pPr>
            <a:r>
              <a:rPr lang="en-US" sz="1300" b="1" dirty="0">
                <a:solidFill>
                  <a:srgbClr val="262A52"/>
                </a:solidFill>
                <a:latin typeface="Meiryo UI" pitchFamily="34" charset="0"/>
                <a:ea typeface="Meiryo UI" pitchFamily="34" charset="-122"/>
                <a:cs typeface="Meiryo UI" pitchFamily="34" charset="-120"/>
              </a:rPr>
              <a:t>個人向けサービス（法人設立・相続・確定申告など）の内容と報酬の目安</a:t>
            </a:r>
            <a:endParaRPr lang="en-US" sz="1300" dirty="0"/>
          </a:p>
        </p:txBody>
      </p:sp>
      <p:sp>
        <p:nvSpPr>
          <p:cNvPr id="20" name="Text 18"/>
          <p:cNvSpPr txBox="1"/>
          <p:nvPr/>
        </p:nvSpPr>
        <p:spPr>
          <a:xfrm>
            <a:off x="1463040" y="4498848"/>
            <a:ext cx="4312768" cy="274320"/>
          </a:xfrm>
          <a:prstGeom prst="rect">
            <a:avLst/>
          </a:prstGeom>
          <a:noFill/>
          <a:ln/>
        </p:spPr>
        <p:txBody>
          <a:bodyPr wrap="square" lIns="0" tIns="0" rIns="0" bIns="0" rtlCol="0" anchor="t"/>
          <a:lstStyle/>
          <a:p>
            <a:pPr indent="0" marL="0">
              <a:buNone/>
            </a:pPr>
            <a:r>
              <a:rPr lang="en-US" sz="1100" dirty="0">
                <a:solidFill>
                  <a:srgbClr val="686A82"/>
                </a:solidFill>
                <a:latin typeface="Meiryo UI" pitchFamily="34" charset="0"/>
                <a:ea typeface="Meiryo UI" pitchFamily="34" charset="-122"/>
                <a:cs typeface="Meiryo UI" pitchFamily="34" charset="-120"/>
              </a:rPr>
              <a:t>目的：注力テーマの決定</a:t>
            </a:r>
            <a:endParaRPr lang="en-US" sz="1100" dirty="0"/>
          </a:p>
        </p:txBody>
      </p:sp>
      <p:sp>
        <p:nvSpPr>
          <p:cNvPr id="21" name="Shape 19"/>
          <p:cNvSpPr/>
          <p:nvPr/>
        </p:nvSpPr>
        <p:spPr>
          <a:xfrm>
            <a:off x="548640" y="5029200"/>
            <a:ext cx="5410048" cy="1024128"/>
          </a:xfrm>
          <a:prstGeom prst="roundRect">
            <a:avLst>
              <a:gd name="adj" fmla="val 10714"/>
            </a:avLst>
          </a:prstGeom>
          <a:solidFill>
            <a:srgbClr val="FFFFFF"/>
          </a:solidFill>
          <a:ln w="12700">
            <a:solidFill>
              <a:srgbClr val="FFFFFF"/>
            </a:solidFill>
            <a:prstDash val="solid"/>
          </a:ln>
          <a:effectLst>
            <a:outerShdw sx="100000" sy="100000" kx="0" ky="0" algn="bl" rotWithShape="0" blurRad="76200" dist="25400" dir="5400000">
              <a:srgbClr val="000000">
                <a:alpha val="12000"/>
              </a:srgbClr>
            </a:outerShdw>
          </a:effectLst>
        </p:spPr>
      </p:sp>
      <p:sp>
        <p:nvSpPr>
          <p:cNvPr id="22" name="Shape 20"/>
          <p:cNvSpPr/>
          <p:nvPr/>
        </p:nvSpPr>
        <p:spPr>
          <a:xfrm>
            <a:off x="777240" y="5285232"/>
            <a:ext cx="512064" cy="512064"/>
          </a:xfrm>
          <a:prstGeom prst="ellipse">
            <a:avLst/>
          </a:prstGeom>
          <a:solidFill>
            <a:srgbClr val="3A3F73"/>
          </a:solidFill>
          <a:ln w="12700">
            <a:solidFill>
              <a:srgbClr val="3A3F73"/>
            </a:solidFill>
            <a:prstDash val="solid"/>
          </a:ln>
        </p:spPr>
      </p:sp>
      <p:sp>
        <p:nvSpPr>
          <p:cNvPr id="23" name="Text 21"/>
          <p:cNvSpPr txBox="1"/>
          <p:nvPr/>
        </p:nvSpPr>
        <p:spPr>
          <a:xfrm>
            <a:off x="777240" y="5285232"/>
            <a:ext cx="512064" cy="512064"/>
          </a:xfrm>
          <a:prstGeom prst="rect">
            <a:avLst/>
          </a:prstGeom>
          <a:noFill/>
          <a:ln/>
        </p:spPr>
        <p:txBody>
          <a:bodyPr wrap="square" lIns="0" tIns="0" rIns="0" bIns="0" rtlCol="0" anchor="ctr"/>
          <a:lstStyle/>
          <a:p>
            <a:pPr algn="ctr" indent="0" marL="0">
              <a:buNone/>
            </a:pPr>
            <a:r>
              <a:rPr lang="en-US" sz="1500" b="1" dirty="0">
                <a:solidFill>
                  <a:srgbClr val="FFFFFF"/>
                </a:solidFill>
                <a:latin typeface="Meiryo UI" pitchFamily="34" charset="0"/>
                <a:ea typeface="Meiryo UI" pitchFamily="34" charset="-122"/>
                <a:cs typeface="Meiryo UI" pitchFamily="34" charset="-120"/>
              </a:rPr>
              <a:t>4</a:t>
            </a:r>
            <a:endParaRPr lang="en-US" sz="1500" dirty="0"/>
          </a:p>
        </p:txBody>
      </p:sp>
      <p:sp>
        <p:nvSpPr>
          <p:cNvPr id="24" name="Text 22"/>
          <p:cNvSpPr txBox="1"/>
          <p:nvPr/>
        </p:nvSpPr>
        <p:spPr>
          <a:xfrm>
            <a:off x="1463040" y="5138928"/>
            <a:ext cx="4312768" cy="548640"/>
          </a:xfrm>
          <a:prstGeom prst="rect">
            <a:avLst/>
          </a:prstGeom>
          <a:noFill/>
          <a:ln/>
        </p:spPr>
        <p:txBody>
          <a:bodyPr wrap="square" lIns="0" tIns="0" rIns="0" bIns="0" rtlCol="0" anchor="ctr"/>
          <a:lstStyle/>
          <a:p>
            <a:pPr indent="0" marL="0">
              <a:buNone/>
            </a:pPr>
            <a:r>
              <a:rPr lang="en-US" sz="1300" b="1" dirty="0">
                <a:solidFill>
                  <a:srgbClr val="262A52"/>
                </a:solidFill>
                <a:latin typeface="Meiryo UI" pitchFamily="34" charset="0"/>
                <a:ea typeface="Meiryo UI" pitchFamily="34" charset="-122"/>
                <a:cs typeface="Meiryo UI" pitchFamily="34" charset="-120"/>
              </a:rPr>
              <a:t>顧問契約の平均報酬と平均継続年数</a:t>
            </a:r>
            <a:endParaRPr lang="en-US" sz="1300" dirty="0"/>
          </a:p>
        </p:txBody>
      </p:sp>
      <p:sp>
        <p:nvSpPr>
          <p:cNvPr id="25" name="Text 23"/>
          <p:cNvSpPr txBox="1"/>
          <p:nvPr/>
        </p:nvSpPr>
        <p:spPr>
          <a:xfrm>
            <a:off x="1463040" y="5687568"/>
            <a:ext cx="4312768" cy="274320"/>
          </a:xfrm>
          <a:prstGeom prst="rect">
            <a:avLst/>
          </a:prstGeom>
          <a:noFill/>
          <a:ln/>
        </p:spPr>
        <p:txBody>
          <a:bodyPr wrap="square" lIns="0" tIns="0" rIns="0" bIns="0" rtlCol="0" anchor="t"/>
          <a:lstStyle/>
          <a:p>
            <a:pPr indent="0" marL="0">
              <a:buNone/>
            </a:pPr>
            <a:r>
              <a:rPr lang="en-US" sz="1100" dirty="0">
                <a:solidFill>
                  <a:srgbClr val="686A82"/>
                </a:solidFill>
                <a:latin typeface="Meiryo UI" pitchFamily="34" charset="0"/>
                <a:ea typeface="Meiryo UI" pitchFamily="34" charset="-122"/>
                <a:cs typeface="Meiryo UI" pitchFamily="34" charset="-120"/>
              </a:rPr>
              <a:t>目的：投資対効果の算出</a:t>
            </a:r>
            <a:endParaRPr lang="en-US" sz="1100" dirty="0"/>
          </a:p>
        </p:txBody>
      </p:sp>
      <p:sp>
        <p:nvSpPr>
          <p:cNvPr id="26" name="Shape 24"/>
          <p:cNvSpPr/>
          <p:nvPr/>
        </p:nvSpPr>
        <p:spPr>
          <a:xfrm>
            <a:off x="6233008" y="1463040"/>
            <a:ext cx="5410048" cy="1024128"/>
          </a:xfrm>
          <a:prstGeom prst="roundRect">
            <a:avLst>
              <a:gd name="adj" fmla="val 10714"/>
            </a:avLst>
          </a:prstGeom>
          <a:solidFill>
            <a:srgbClr val="FFFFFF"/>
          </a:solidFill>
          <a:ln w="12700">
            <a:solidFill>
              <a:srgbClr val="FFFFFF"/>
            </a:solidFill>
            <a:prstDash val="solid"/>
          </a:ln>
          <a:effectLst>
            <a:outerShdw sx="100000" sy="100000" kx="0" ky="0" algn="bl" rotWithShape="0" blurRad="76200" dist="25400" dir="5400000">
              <a:srgbClr val="000000">
                <a:alpha val="12000"/>
              </a:srgbClr>
            </a:outerShdw>
          </a:effectLst>
        </p:spPr>
      </p:sp>
      <p:sp>
        <p:nvSpPr>
          <p:cNvPr id="27" name="Shape 25"/>
          <p:cNvSpPr/>
          <p:nvPr/>
        </p:nvSpPr>
        <p:spPr>
          <a:xfrm>
            <a:off x="6461608" y="1719072"/>
            <a:ext cx="512064" cy="512064"/>
          </a:xfrm>
          <a:prstGeom prst="ellipse">
            <a:avLst/>
          </a:prstGeom>
          <a:solidFill>
            <a:srgbClr val="3A3F73"/>
          </a:solidFill>
          <a:ln w="12700">
            <a:solidFill>
              <a:srgbClr val="3A3F73"/>
            </a:solidFill>
            <a:prstDash val="solid"/>
          </a:ln>
        </p:spPr>
      </p:sp>
      <p:sp>
        <p:nvSpPr>
          <p:cNvPr id="28" name="Text 26"/>
          <p:cNvSpPr txBox="1"/>
          <p:nvPr/>
        </p:nvSpPr>
        <p:spPr>
          <a:xfrm>
            <a:off x="6461608" y="1719072"/>
            <a:ext cx="512064" cy="512064"/>
          </a:xfrm>
          <a:prstGeom prst="rect">
            <a:avLst/>
          </a:prstGeom>
          <a:noFill/>
          <a:ln/>
        </p:spPr>
        <p:txBody>
          <a:bodyPr wrap="square" lIns="0" tIns="0" rIns="0" bIns="0" rtlCol="0" anchor="ctr"/>
          <a:lstStyle/>
          <a:p>
            <a:pPr algn="ctr" indent="0" marL="0">
              <a:buNone/>
            </a:pPr>
            <a:r>
              <a:rPr lang="en-US" sz="1500" b="1" dirty="0">
                <a:solidFill>
                  <a:srgbClr val="FFFFFF"/>
                </a:solidFill>
                <a:latin typeface="Meiryo UI" pitchFamily="34" charset="0"/>
                <a:ea typeface="Meiryo UI" pitchFamily="34" charset="-122"/>
                <a:cs typeface="Meiryo UI" pitchFamily="34" charset="-120"/>
              </a:rPr>
              <a:t>5</a:t>
            </a:r>
            <a:endParaRPr lang="en-US" sz="1500" dirty="0"/>
          </a:p>
        </p:txBody>
      </p:sp>
      <p:sp>
        <p:nvSpPr>
          <p:cNvPr id="29" name="Text 27"/>
          <p:cNvSpPr txBox="1"/>
          <p:nvPr/>
        </p:nvSpPr>
        <p:spPr>
          <a:xfrm>
            <a:off x="7147408" y="1572768"/>
            <a:ext cx="4312768" cy="548640"/>
          </a:xfrm>
          <a:prstGeom prst="rect">
            <a:avLst/>
          </a:prstGeom>
          <a:noFill/>
          <a:ln/>
        </p:spPr>
        <p:txBody>
          <a:bodyPr wrap="square" lIns="0" tIns="0" rIns="0" bIns="0" rtlCol="0" anchor="ctr"/>
          <a:lstStyle/>
          <a:p>
            <a:pPr indent="0" marL="0">
              <a:buNone/>
            </a:pPr>
            <a:r>
              <a:rPr lang="en-US" sz="1300" b="1" dirty="0">
                <a:solidFill>
                  <a:srgbClr val="262A52"/>
                </a:solidFill>
                <a:latin typeface="Meiryo UI" pitchFamily="34" charset="0"/>
                <a:ea typeface="Meiryo UI" pitchFamily="34" charset="-122"/>
                <a:cs typeface="Meiryo UI" pitchFamily="34" charset="-120"/>
              </a:rPr>
              <a:t>HPのアクセス数と、問い合わせ導線の現状</a:t>
            </a:r>
            <a:endParaRPr lang="en-US" sz="1300" dirty="0"/>
          </a:p>
        </p:txBody>
      </p:sp>
      <p:sp>
        <p:nvSpPr>
          <p:cNvPr id="30" name="Text 28"/>
          <p:cNvSpPr txBox="1"/>
          <p:nvPr/>
        </p:nvSpPr>
        <p:spPr>
          <a:xfrm>
            <a:off x="7147408" y="2121408"/>
            <a:ext cx="4312768" cy="274320"/>
          </a:xfrm>
          <a:prstGeom prst="rect">
            <a:avLst/>
          </a:prstGeom>
          <a:noFill/>
          <a:ln/>
        </p:spPr>
        <p:txBody>
          <a:bodyPr wrap="square" lIns="0" tIns="0" rIns="0" bIns="0" rtlCol="0" anchor="t"/>
          <a:lstStyle/>
          <a:p>
            <a:pPr indent="0" marL="0">
              <a:buNone/>
            </a:pPr>
            <a:r>
              <a:rPr lang="en-US" sz="1100" dirty="0">
                <a:solidFill>
                  <a:srgbClr val="686A82"/>
                </a:solidFill>
                <a:latin typeface="Meiryo UI" pitchFamily="34" charset="0"/>
                <a:ea typeface="Meiryo UI" pitchFamily="34" charset="-122"/>
                <a:cs typeface="Meiryo UI" pitchFamily="34" charset="-120"/>
              </a:rPr>
              <a:t>目的：プル施策の起点設計</a:t>
            </a:r>
            <a:endParaRPr lang="en-US" sz="1100" dirty="0"/>
          </a:p>
        </p:txBody>
      </p:sp>
      <p:sp>
        <p:nvSpPr>
          <p:cNvPr id="31" name="Shape 29"/>
          <p:cNvSpPr/>
          <p:nvPr/>
        </p:nvSpPr>
        <p:spPr>
          <a:xfrm>
            <a:off x="6233008" y="2651760"/>
            <a:ext cx="5410048" cy="1024128"/>
          </a:xfrm>
          <a:prstGeom prst="roundRect">
            <a:avLst>
              <a:gd name="adj" fmla="val 10714"/>
            </a:avLst>
          </a:prstGeom>
          <a:solidFill>
            <a:srgbClr val="FFFFFF"/>
          </a:solidFill>
          <a:ln w="12700">
            <a:solidFill>
              <a:srgbClr val="FFFFFF"/>
            </a:solidFill>
            <a:prstDash val="solid"/>
          </a:ln>
          <a:effectLst>
            <a:outerShdw sx="100000" sy="100000" kx="0" ky="0" algn="bl" rotWithShape="0" blurRad="76200" dist="25400" dir="5400000">
              <a:srgbClr val="000000">
                <a:alpha val="12000"/>
              </a:srgbClr>
            </a:outerShdw>
          </a:effectLst>
        </p:spPr>
      </p:sp>
      <p:sp>
        <p:nvSpPr>
          <p:cNvPr id="32" name="Shape 30"/>
          <p:cNvSpPr/>
          <p:nvPr/>
        </p:nvSpPr>
        <p:spPr>
          <a:xfrm>
            <a:off x="6461608" y="2907792"/>
            <a:ext cx="512064" cy="512064"/>
          </a:xfrm>
          <a:prstGeom prst="ellipse">
            <a:avLst/>
          </a:prstGeom>
          <a:solidFill>
            <a:srgbClr val="3A3F73"/>
          </a:solidFill>
          <a:ln w="12700">
            <a:solidFill>
              <a:srgbClr val="3A3F73"/>
            </a:solidFill>
            <a:prstDash val="solid"/>
          </a:ln>
        </p:spPr>
      </p:sp>
      <p:sp>
        <p:nvSpPr>
          <p:cNvPr id="33" name="Text 31"/>
          <p:cNvSpPr txBox="1"/>
          <p:nvPr/>
        </p:nvSpPr>
        <p:spPr>
          <a:xfrm>
            <a:off x="6461608" y="2907792"/>
            <a:ext cx="512064" cy="512064"/>
          </a:xfrm>
          <a:prstGeom prst="rect">
            <a:avLst/>
          </a:prstGeom>
          <a:noFill/>
          <a:ln/>
        </p:spPr>
        <p:txBody>
          <a:bodyPr wrap="square" lIns="0" tIns="0" rIns="0" bIns="0" rtlCol="0" anchor="ctr"/>
          <a:lstStyle/>
          <a:p>
            <a:pPr algn="ctr" indent="0" marL="0">
              <a:buNone/>
            </a:pPr>
            <a:r>
              <a:rPr lang="en-US" sz="1500" b="1" dirty="0">
                <a:solidFill>
                  <a:srgbClr val="FFFFFF"/>
                </a:solidFill>
                <a:latin typeface="Meiryo UI" pitchFamily="34" charset="0"/>
                <a:ea typeface="Meiryo UI" pitchFamily="34" charset="-122"/>
                <a:cs typeface="Meiryo UI" pitchFamily="34" charset="-120"/>
              </a:rPr>
              <a:t>6</a:t>
            </a:r>
            <a:endParaRPr lang="en-US" sz="1500" dirty="0"/>
          </a:p>
        </p:txBody>
      </p:sp>
      <p:sp>
        <p:nvSpPr>
          <p:cNvPr id="34" name="Text 32"/>
          <p:cNvSpPr txBox="1"/>
          <p:nvPr/>
        </p:nvSpPr>
        <p:spPr>
          <a:xfrm>
            <a:off x="7147408" y="2761488"/>
            <a:ext cx="4312768" cy="548640"/>
          </a:xfrm>
          <a:prstGeom prst="rect">
            <a:avLst/>
          </a:prstGeom>
          <a:noFill/>
          <a:ln/>
        </p:spPr>
        <p:txBody>
          <a:bodyPr wrap="square" lIns="0" tIns="0" rIns="0" bIns="0" rtlCol="0" anchor="ctr"/>
          <a:lstStyle/>
          <a:p>
            <a:pPr indent="0" marL="0">
              <a:buNone/>
            </a:pPr>
            <a:r>
              <a:rPr lang="en-US" sz="1300" b="1" dirty="0">
                <a:solidFill>
                  <a:srgbClr val="262A52"/>
                </a:solidFill>
                <a:latin typeface="Meiryo UI" pitchFamily="34" charset="0"/>
                <a:ea typeface="Meiryo UI" pitchFamily="34" charset="-122"/>
                <a:cs typeface="Meiryo UI" pitchFamily="34" charset="-120"/>
              </a:rPr>
              <a:t>受け入れ可能な新規件数（スタッフの体制）</a:t>
            </a:r>
            <a:endParaRPr lang="en-US" sz="1300" dirty="0"/>
          </a:p>
        </p:txBody>
      </p:sp>
      <p:sp>
        <p:nvSpPr>
          <p:cNvPr id="35" name="Text 33"/>
          <p:cNvSpPr txBox="1"/>
          <p:nvPr/>
        </p:nvSpPr>
        <p:spPr>
          <a:xfrm>
            <a:off x="7147408" y="3310128"/>
            <a:ext cx="4312768" cy="274320"/>
          </a:xfrm>
          <a:prstGeom prst="rect">
            <a:avLst/>
          </a:prstGeom>
          <a:noFill/>
          <a:ln/>
        </p:spPr>
        <p:txBody>
          <a:bodyPr wrap="square" lIns="0" tIns="0" rIns="0" bIns="0" rtlCol="0" anchor="t"/>
          <a:lstStyle/>
          <a:p>
            <a:pPr indent="0" marL="0">
              <a:buNone/>
            </a:pPr>
            <a:r>
              <a:rPr lang="en-US" sz="1100" dirty="0">
                <a:solidFill>
                  <a:srgbClr val="686A82"/>
                </a:solidFill>
                <a:latin typeface="Meiryo UI" pitchFamily="34" charset="0"/>
                <a:ea typeface="Meiryo UI" pitchFamily="34" charset="-122"/>
                <a:cs typeface="Meiryo UI" pitchFamily="34" charset="-120"/>
              </a:rPr>
              <a:t>目的：集客と体制のバランス</a:t>
            </a:r>
            <a:endParaRPr lang="en-US" sz="1100" dirty="0"/>
          </a:p>
        </p:txBody>
      </p:sp>
      <p:sp>
        <p:nvSpPr>
          <p:cNvPr id="36" name="Shape 34"/>
          <p:cNvSpPr/>
          <p:nvPr/>
        </p:nvSpPr>
        <p:spPr>
          <a:xfrm>
            <a:off x="6233008" y="3840480"/>
            <a:ext cx="5410048" cy="1024128"/>
          </a:xfrm>
          <a:prstGeom prst="roundRect">
            <a:avLst>
              <a:gd name="adj" fmla="val 10714"/>
            </a:avLst>
          </a:prstGeom>
          <a:solidFill>
            <a:srgbClr val="FFFFFF"/>
          </a:solidFill>
          <a:ln w="12700">
            <a:solidFill>
              <a:srgbClr val="FFFFFF"/>
            </a:solidFill>
            <a:prstDash val="solid"/>
          </a:ln>
          <a:effectLst>
            <a:outerShdw sx="100000" sy="100000" kx="0" ky="0" algn="bl" rotWithShape="0" blurRad="76200" dist="25400" dir="5400000">
              <a:srgbClr val="000000">
                <a:alpha val="12000"/>
              </a:srgbClr>
            </a:outerShdw>
          </a:effectLst>
        </p:spPr>
      </p:sp>
      <p:sp>
        <p:nvSpPr>
          <p:cNvPr id="37" name="Shape 35"/>
          <p:cNvSpPr/>
          <p:nvPr/>
        </p:nvSpPr>
        <p:spPr>
          <a:xfrm>
            <a:off x="6461608" y="4096512"/>
            <a:ext cx="512064" cy="512064"/>
          </a:xfrm>
          <a:prstGeom prst="ellipse">
            <a:avLst/>
          </a:prstGeom>
          <a:solidFill>
            <a:srgbClr val="3A3F73"/>
          </a:solidFill>
          <a:ln w="12700">
            <a:solidFill>
              <a:srgbClr val="3A3F73"/>
            </a:solidFill>
            <a:prstDash val="solid"/>
          </a:ln>
        </p:spPr>
      </p:sp>
      <p:sp>
        <p:nvSpPr>
          <p:cNvPr id="38" name="Text 36"/>
          <p:cNvSpPr txBox="1"/>
          <p:nvPr/>
        </p:nvSpPr>
        <p:spPr>
          <a:xfrm>
            <a:off x="6461608" y="4096512"/>
            <a:ext cx="512064" cy="512064"/>
          </a:xfrm>
          <a:prstGeom prst="rect">
            <a:avLst/>
          </a:prstGeom>
          <a:noFill/>
          <a:ln/>
        </p:spPr>
        <p:txBody>
          <a:bodyPr wrap="square" lIns="0" tIns="0" rIns="0" bIns="0" rtlCol="0" anchor="ctr"/>
          <a:lstStyle/>
          <a:p>
            <a:pPr algn="ctr" indent="0" marL="0">
              <a:buNone/>
            </a:pPr>
            <a:r>
              <a:rPr lang="en-US" sz="1500" b="1" dirty="0">
                <a:solidFill>
                  <a:srgbClr val="FFFFFF"/>
                </a:solidFill>
                <a:latin typeface="Meiryo UI" pitchFamily="34" charset="0"/>
                <a:ea typeface="Meiryo UI" pitchFamily="34" charset="-122"/>
                <a:cs typeface="Meiryo UI" pitchFamily="34" charset="-120"/>
              </a:rPr>
              <a:t>7</a:t>
            </a:r>
            <a:endParaRPr lang="en-US" sz="1500" dirty="0"/>
          </a:p>
        </p:txBody>
      </p:sp>
      <p:sp>
        <p:nvSpPr>
          <p:cNvPr id="39" name="Text 37"/>
          <p:cNvSpPr txBox="1"/>
          <p:nvPr/>
        </p:nvSpPr>
        <p:spPr>
          <a:xfrm>
            <a:off x="7147408" y="3950208"/>
            <a:ext cx="4312768" cy="548640"/>
          </a:xfrm>
          <a:prstGeom prst="rect">
            <a:avLst/>
          </a:prstGeom>
          <a:noFill/>
          <a:ln/>
        </p:spPr>
        <p:txBody>
          <a:bodyPr wrap="square" lIns="0" tIns="0" rIns="0" bIns="0" rtlCol="0" anchor="ctr"/>
          <a:lstStyle/>
          <a:p>
            <a:pPr indent="0" marL="0">
              <a:buNone/>
            </a:pPr>
            <a:r>
              <a:rPr lang="en-US" sz="1300" b="1" dirty="0">
                <a:solidFill>
                  <a:srgbClr val="262A52"/>
                </a:solidFill>
                <a:latin typeface="Meiryo UI" pitchFamily="34" charset="0"/>
                <a:ea typeface="Meiryo UI" pitchFamily="34" charset="-122"/>
                <a:cs typeface="Meiryo UI" pitchFamily="34" charset="-120"/>
              </a:rPr>
              <a:t>動画で伝えたい事務所の強み・考え方</a:t>
            </a:r>
            <a:endParaRPr lang="en-US" sz="1300" dirty="0"/>
          </a:p>
        </p:txBody>
      </p:sp>
      <p:sp>
        <p:nvSpPr>
          <p:cNvPr id="40" name="Text 38"/>
          <p:cNvSpPr txBox="1"/>
          <p:nvPr/>
        </p:nvSpPr>
        <p:spPr>
          <a:xfrm>
            <a:off x="7147408" y="4498848"/>
            <a:ext cx="4312768" cy="274320"/>
          </a:xfrm>
          <a:prstGeom prst="rect">
            <a:avLst/>
          </a:prstGeom>
          <a:noFill/>
          <a:ln/>
        </p:spPr>
        <p:txBody>
          <a:bodyPr wrap="square" lIns="0" tIns="0" rIns="0" bIns="0" rtlCol="0" anchor="t"/>
          <a:lstStyle/>
          <a:p>
            <a:pPr indent="0" marL="0">
              <a:buNone/>
            </a:pPr>
            <a:r>
              <a:rPr lang="en-US" sz="1100" dirty="0">
                <a:solidFill>
                  <a:srgbClr val="686A82"/>
                </a:solidFill>
                <a:latin typeface="Meiryo UI" pitchFamily="34" charset="0"/>
                <a:ea typeface="Meiryo UI" pitchFamily="34" charset="-122"/>
                <a:cs typeface="Meiryo UI" pitchFamily="34" charset="-120"/>
              </a:rPr>
              <a:t>目的：台本の方向性</a:t>
            </a:r>
            <a:endParaRPr lang="en-US" sz="1100" dirty="0"/>
          </a:p>
        </p:txBody>
      </p:sp>
      <p:sp>
        <p:nvSpPr>
          <p:cNvPr id="41" name="Shape 39"/>
          <p:cNvSpPr/>
          <p:nvPr/>
        </p:nvSpPr>
        <p:spPr>
          <a:xfrm>
            <a:off x="6233008" y="5029200"/>
            <a:ext cx="5410048" cy="1024128"/>
          </a:xfrm>
          <a:prstGeom prst="roundRect">
            <a:avLst>
              <a:gd name="adj" fmla="val 10714"/>
            </a:avLst>
          </a:prstGeom>
          <a:solidFill>
            <a:srgbClr val="FFFFFF"/>
          </a:solidFill>
          <a:ln w="12700">
            <a:solidFill>
              <a:srgbClr val="FFFFFF"/>
            </a:solidFill>
            <a:prstDash val="solid"/>
          </a:ln>
          <a:effectLst>
            <a:outerShdw sx="100000" sy="100000" kx="0" ky="0" algn="bl" rotWithShape="0" blurRad="76200" dist="25400" dir="5400000">
              <a:srgbClr val="000000">
                <a:alpha val="12000"/>
              </a:srgbClr>
            </a:outerShdw>
          </a:effectLst>
        </p:spPr>
      </p:sp>
      <p:sp>
        <p:nvSpPr>
          <p:cNvPr id="42" name="Shape 40"/>
          <p:cNvSpPr/>
          <p:nvPr/>
        </p:nvSpPr>
        <p:spPr>
          <a:xfrm>
            <a:off x="6461608" y="5285232"/>
            <a:ext cx="512064" cy="512064"/>
          </a:xfrm>
          <a:prstGeom prst="ellipse">
            <a:avLst/>
          </a:prstGeom>
          <a:solidFill>
            <a:srgbClr val="A87A1C"/>
          </a:solidFill>
          <a:ln w="12700">
            <a:solidFill>
              <a:srgbClr val="A87A1C"/>
            </a:solidFill>
            <a:prstDash val="solid"/>
          </a:ln>
        </p:spPr>
      </p:sp>
      <p:sp>
        <p:nvSpPr>
          <p:cNvPr id="43" name="Text 41"/>
          <p:cNvSpPr txBox="1"/>
          <p:nvPr/>
        </p:nvSpPr>
        <p:spPr>
          <a:xfrm>
            <a:off x="6461608" y="5285232"/>
            <a:ext cx="512064" cy="512064"/>
          </a:xfrm>
          <a:prstGeom prst="rect">
            <a:avLst/>
          </a:prstGeom>
          <a:noFill/>
          <a:ln/>
        </p:spPr>
        <p:txBody>
          <a:bodyPr wrap="square" lIns="0" tIns="0" rIns="0" bIns="0" rtlCol="0" anchor="ctr"/>
          <a:lstStyle/>
          <a:p>
            <a:pPr algn="ctr" indent="0" marL="0">
              <a:buNone/>
            </a:pPr>
            <a:r>
              <a:rPr lang="en-US" sz="1500" b="1" dirty="0">
                <a:solidFill>
                  <a:srgbClr val="FFFFFF"/>
                </a:solidFill>
                <a:latin typeface="Meiryo UI" pitchFamily="34" charset="0"/>
                <a:ea typeface="Meiryo UI" pitchFamily="34" charset="-122"/>
                <a:cs typeface="Meiryo UI" pitchFamily="34" charset="-120"/>
              </a:rPr>
              <a:t>8</a:t>
            </a:r>
            <a:endParaRPr lang="en-US" sz="1500" dirty="0"/>
          </a:p>
        </p:txBody>
      </p:sp>
      <p:sp>
        <p:nvSpPr>
          <p:cNvPr id="44" name="Text 42"/>
          <p:cNvSpPr txBox="1"/>
          <p:nvPr/>
        </p:nvSpPr>
        <p:spPr>
          <a:xfrm>
            <a:off x="7147408" y="5138928"/>
            <a:ext cx="4312768" cy="548640"/>
          </a:xfrm>
          <a:prstGeom prst="rect">
            <a:avLst/>
          </a:prstGeom>
          <a:noFill/>
          <a:ln/>
        </p:spPr>
        <p:txBody>
          <a:bodyPr wrap="square" lIns="0" tIns="0" rIns="0" bIns="0" rtlCol="0" anchor="ctr"/>
          <a:lstStyle/>
          <a:p>
            <a:pPr indent="0" marL="0">
              <a:buNone/>
            </a:pPr>
            <a:r>
              <a:rPr lang="en-US" sz="1300" b="1" dirty="0">
                <a:solidFill>
                  <a:srgbClr val="262A52"/>
                </a:solidFill>
                <a:latin typeface="Meiryo UI" pitchFamily="34" charset="0"/>
                <a:ea typeface="Meiryo UI" pitchFamily="34" charset="-122"/>
                <a:cs typeface="Meiryo UI" pitchFamily="34" charset="-120"/>
              </a:rPr>
              <a:t>本施策のご決裁フロー（ご決裁者・時期）</a:t>
            </a:r>
            <a:endParaRPr lang="en-US" sz="1300" dirty="0"/>
          </a:p>
        </p:txBody>
      </p:sp>
      <p:sp>
        <p:nvSpPr>
          <p:cNvPr id="45" name="Text 43"/>
          <p:cNvSpPr txBox="1"/>
          <p:nvPr/>
        </p:nvSpPr>
        <p:spPr>
          <a:xfrm>
            <a:off x="7147408" y="5687568"/>
            <a:ext cx="4312768" cy="274320"/>
          </a:xfrm>
          <a:prstGeom prst="rect">
            <a:avLst/>
          </a:prstGeom>
          <a:noFill/>
          <a:ln/>
        </p:spPr>
        <p:txBody>
          <a:bodyPr wrap="square" lIns="0" tIns="0" rIns="0" bIns="0" rtlCol="0" anchor="t"/>
          <a:lstStyle/>
          <a:p>
            <a:pPr indent="0" marL="0">
              <a:buNone/>
            </a:pPr>
            <a:r>
              <a:rPr lang="en-US" sz="1100" dirty="0">
                <a:solidFill>
                  <a:srgbClr val="686A82"/>
                </a:solidFill>
                <a:latin typeface="Meiryo UI" pitchFamily="34" charset="0"/>
                <a:ea typeface="Meiryo UI" pitchFamily="34" charset="-122"/>
                <a:cs typeface="Meiryo UI" pitchFamily="34" charset="-120"/>
              </a:rPr>
              <a:t>目的：導入スケジュールの確定</a:t>
            </a:r>
            <a:endParaRPr lang="en-US" sz="1100" dirty="0"/>
          </a:p>
        </p:txBody>
      </p:sp>
    </p:spTree>
  </p:cSld>
  <p:clrMapOvr>
    <a:masterClrMapping/>
  </p:clrMapOvr>
</p:sld>
</file>

<file path=ppt/slides/slide24.xml><?xml version="1.0" encoding="utf-8"?>
<p:sld xmlns:a="http://schemas.openxmlformats.org/drawingml/2006/main" xmlns:r="http://schemas.openxmlformats.org/officeDocument/2006/relationships" xmlns:p="http://schemas.openxmlformats.org/presentationml/2006/main">
  <p:cSld name="Slide 24">
    <p:bg>
      <p:bgPr>
        <a:solidFill>
          <a:srgbClr val="FFFFFF"/>
        </a:solidFill>
      </p:bgPr>
    </p:bg>
    <p:spTree>
      <p:nvGrpSpPr>
        <p:cNvPr id="1" name=""/>
        <p:cNvGrpSpPr/>
        <p:nvPr/>
      </p:nvGrpSpPr>
      <p:grpSpPr>
        <a:xfrm>
          <a:off x="0" y="0"/>
          <a:ext cx="0" cy="0"/>
          <a:chOff x="0" y="0"/>
          <a:chExt cx="0" cy="0"/>
        </a:xfrm>
      </p:grpSpPr>
      <p:sp>
        <p:nvSpPr>
          <p:cNvPr id="2" name="Text 0"/>
          <p:cNvSpPr txBox="1"/>
          <p:nvPr/>
        </p:nvSpPr>
        <p:spPr>
          <a:xfrm>
            <a:off x="548640" y="347472"/>
            <a:ext cx="7315200" cy="274320"/>
          </a:xfrm>
          <a:prstGeom prst="rect">
            <a:avLst/>
          </a:prstGeom>
          <a:noFill/>
          <a:ln/>
        </p:spPr>
        <p:txBody>
          <a:bodyPr wrap="square" lIns="0" tIns="0" rIns="0" bIns="0" rtlCol="0" anchor="t"/>
          <a:lstStyle/>
          <a:p>
            <a:pPr indent="0" marL="0">
              <a:buNone/>
            </a:pPr>
            <a:r>
              <a:rPr lang="en-US" sz="1100" b="1" spc="200" kern="0" dirty="0">
                <a:solidFill>
                  <a:srgbClr val="A87A1C"/>
                </a:solidFill>
                <a:latin typeface="Meiryo UI" pitchFamily="34" charset="0"/>
                <a:ea typeface="Meiryo UI" pitchFamily="34" charset="-122"/>
                <a:cs typeface="Meiryo UI" pitchFamily="34" charset="-120"/>
              </a:rPr>
              <a:t>07｜SIMULATION</a:t>
            </a:r>
            <a:endParaRPr lang="en-US" sz="1100" dirty="0"/>
          </a:p>
        </p:txBody>
      </p:sp>
      <p:sp>
        <p:nvSpPr>
          <p:cNvPr id="3" name="Text 1"/>
          <p:cNvSpPr txBox="1"/>
          <p:nvPr/>
        </p:nvSpPr>
        <p:spPr>
          <a:xfrm>
            <a:off x="548640" y="621792"/>
            <a:ext cx="11094415" cy="566928"/>
          </a:xfrm>
          <a:prstGeom prst="rect">
            <a:avLst/>
          </a:prstGeom>
          <a:noFill/>
          <a:ln/>
        </p:spPr>
        <p:txBody>
          <a:bodyPr wrap="square" lIns="0" tIns="0" rIns="0" bIns="0" rtlCol="0" anchor="ctr"/>
          <a:lstStyle/>
          <a:p>
            <a:pPr indent="0" marL="0">
              <a:buNone/>
            </a:pPr>
            <a:r>
              <a:rPr lang="en-US" sz="2600" b="1" dirty="0">
                <a:solidFill>
                  <a:srgbClr val="3A3F73"/>
                </a:solidFill>
                <a:latin typeface="Meiryo UI" pitchFamily="34" charset="0"/>
                <a:ea typeface="Meiryo UI" pitchFamily="34" charset="-122"/>
                <a:cs typeface="Meiryo UI" pitchFamily="34" charset="-120"/>
              </a:rPr>
              <a:t>目標値シミュレーション（ご提案）</a:t>
            </a:r>
            <a:endParaRPr lang="en-US" sz="2600" dirty="0"/>
          </a:p>
        </p:txBody>
      </p:sp>
      <p:sp>
        <p:nvSpPr>
          <p:cNvPr id="4" name="Text 2"/>
          <p:cNvSpPr txBox="1"/>
          <p:nvPr/>
        </p:nvSpPr>
        <p:spPr>
          <a:xfrm>
            <a:off x="548640" y="1207008"/>
            <a:ext cx="11094415" cy="365760"/>
          </a:xfrm>
          <a:prstGeom prst="rect">
            <a:avLst/>
          </a:prstGeom>
          <a:noFill/>
          <a:ln/>
        </p:spPr>
        <p:txBody>
          <a:bodyPr wrap="square" lIns="0" tIns="0" rIns="0" bIns="0" rtlCol="0" anchor="ctr"/>
          <a:lstStyle/>
          <a:p>
            <a:pPr indent="0" marL="0">
              <a:buNone/>
            </a:pPr>
            <a:r>
              <a:rPr lang="en-US" sz="1300" dirty="0">
                <a:solidFill>
                  <a:srgbClr val="686A82"/>
                </a:solidFill>
                <a:latin typeface="Meiryo UI" pitchFamily="34" charset="0"/>
                <a:ea typeface="Meiryo UI" pitchFamily="34" charset="-122"/>
                <a:cs typeface="Meiryo UI" pitchFamily="34" charset="-120"/>
              </a:rPr>
              <a:t>本日伺った数値を反映し、次回お打ち合わせで目標として合意するための試算です。※下記は現時点の仮置き値です。</a:t>
            </a:r>
            <a:endParaRPr lang="en-US" sz="1300" dirty="0"/>
          </a:p>
        </p:txBody>
      </p:sp>
      <p:sp>
        <p:nvSpPr>
          <p:cNvPr id="5" name="Text 3"/>
          <p:cNvSpPr txBox="1"/>
          <p:nvPr/>
        </p:nvSpPr>
        <p:spPr>
          <a:xfrm>
            <a:off x="11094415" y="6419088"/>
            <a:ext cx="548640" cy="256032"/>
          </a:xfrm>
          <a:prstGeom prst="rect">
            <a:avLst/>
          </a:prstGeom>
          <a:noFill/>
          <a:ln/>
        </p:spPr>
        <p:txBody>
          <a:bodyPr wrap="square" lIns="0" tIns="0" rIns="0" bIns="0" rtlCol="0" anchor="t"/>
          <a:lstStyle/>
          <a:p>
            <a:pPr algn="r" indent="0" marL="0">
              <a:buNone/>
            </a:pPr>
            <a:r>
              <a:rPr lang="en-US" sz="1000" dirty="0">
                <a:solidFill>
                  <a:srgbClr val="7C7E90"/>
                </a:solidFill>
                <a:latin typeface="Meiryo UI" pitchFamily="34" charset="0"/>
                <a:ea typeface="Meiryo UI" pitchFamily="34" charset="-122"/>
                <a:cs typeface="Meiryo UI" pitchFamily="34" charset="-120"/>
              </a:rPr>
              <a:t>24</a:t>
            </a:r>
            <a:endParaRPr lang="en-US" sz="1000" dirty="0"/>
          </a:p>
        </p:txBody>
      </p:sp>
      <p:sp>
        <p:nvSpPr>
          <p:cNvPr id="6" name="Text 4"/>
          <p:cNvSpPr txBox="1"/>
          <p:nvPr/>
        </p:nvSpPr>
        <p:spPr>
          <a:xfrm>
            <a:off x="548640" y="6419088"/>
            <a:ext cx="4572000" cy="256032"/>
          </a:xfrm>
          <a:prstGeom prst="rect">
            <a:avLst/>
          </a:prstGeom>
          <a:noFill/>
          <a:ln/>
        </p:spPr>
        <p:txBody>
          <a:bodyPr wrap="square" lIns="0" tIns="0" rIns="0" bIns="0" rtlCol="0" anchor="t"/>
          <a:lstStyle/>
          <a:p>
            <a:pPr indent="0" marL="0">
              <a:buNone/>
            </a:pPr>
            <a:r>
              <a:rPr lang="en-US" sz="900" dirty="0">
                <a:solidFill>
                  <a:srgbClr val="7C7E90"/>
                </a:solidFill>
                <a:latin typeface="Meiryo UI" pitchFamily="34" charset="0"/>
                <a:ea typeface="Meiryo UI" pitchFamily="34" charset="-122"/>
                <a:cs typeface="Meiryo UI" pitchFamily="34" charset="-120"/>
              </a:rPr>
              <a:t>株式会社アイドマ・ホールディングス｜MiTok</a:t>
            </a:r>
            <a:endParaRPr lang="en-US" sz="900" dirty="0"/>
          </a:p>
        </p:txBody>
      </p:sp>
      <p:sp>
        <p:nvSpPr>
          <p:cNvPr id="7" name="Shape 5"/>
          <p:cNvSpPr/>
          <p:nvPr/>
        </p:nvSpPr>
        <p:spPr>
          <a:xfrm>
            <a:off x="548640" y="1691640"/>
            <a:ext cx="11094415" cy="685800"/>
          </a:xfrm>
          <a:prstGeom prst="roundRect">
            <a:avLst>
              <a:gd name="adj" fmla="val 16000"/>
            </a:avLst>
          </a:prstGeom>
          <a:solidFill>
            <a:srgbClr val="EEEFF7"/>
          </a:solidFill>
          <a:ln w="12700">
            <a:solidFill>
              <a:srgbClr val="EEEFF7"/>
            </a:solidFill>
            <a:prstDash val="solid"/>
          </a:ln>
        </p:spPr>
      </p:sp>
      <p:sp>
        <p:nvSpPr>
          <p:cNvPr id="8" name="Text 6"/>
          <p:cNvSpPr txBox="1"/>
          <p:nvPr/>
        </p:nvSpPr>
        <p:spPr>
          <a:xfrm>
            <a:off x="777240" y="1691640"/>
            <a:ext cx="2468880" cy="685800"/>
          </a:xfrm>
          <a:prstGeom prst="rect">
            <a:avLst/>
          </a:prstGeom>
          <a:noFill/>
          <a:ln/>
        </p:spPr>
        <p:txBody>
          <a:bodyPr wrap="square" lIns="0" tIns="0" rIns="0" bIns="0" rtlCol="0" anchor="ctr"/>
          <a:lstStyle/>
          <a:p>
            <a:pPr indent="0" marL="0">
              <a:buNone/>
            </a:pPr>
            <a:r>
              <a:rPr lang="en-US" sz="1250" b="1" dirty="0">
                <a:solidFill>
                  <a:srgbClr val="3A3F73"/>
                </a:solidFill>
                <a:latin typeface="Meiryo UI" pitchFamily="34" charset="0"/>
                <a:ea typeface="Meiryo UI" pitchFamily="34" charset="-122"/>
                <a:cs typeface="Meiryo UI" pitchFamily="34" charset="-120"/>
              </a:rPr>
              <a:t>現状（本日のヒアリング値）</a:t>
            </a:r>
            <a:endParaRPr lang="en-US" sz="1250" dirty="0"/>
          </a:p>
        </p:txBody>
      </p:sp>
      <p:sp>
        <p:nvSpPr>
          <p:cNvPr id="9" name="Text 7"/>
          <p:cNvSpPr txBox="1"/>
          <p:nvPr/>
        </p:nvSpPr>
        <p:spPr>
          <a:xfrm>
            <a:off x="3291840" y="1764792"/>
            <a:ext cx="1578803" cy="256032"/>
          </a:xfrm>
          <a:prstGeom prst="rect">
            <a:avLst/>
          </a:prstGeom>
          <a:noFill/>
          <a:ln/>
        </p:spPr>
        <p:txBody>
          <a:bodyPr wrap="square" lIns="0" tIns="0" rIns="0" bIns="0" rtlCol="0" anchor="t"/>
          <a:lstStyle/>
          <a:p>
            <a:pPr indent="0" marL="0">
              <a:buNone/>
            </a:pPr>
            <a:r>
              <a:rPr lang="en-US" sz="1050" dirty="0">
                <a:solidFill>
                  <a:srgbClr val="686A82"/>
                </a:solidFill>
                <a:latin typeface="Meiryo UI" pitchFamily="34" charset="0"/>
                <a:ea typeface="Meiryo UI" pitchFamily="34" charset="-122"/>
                <a:cs typeface="Meiryo UI" pitchFamily="34" charset="-120"/>
              </a:rPr>
              <a:t>顧問先数</a:t>
            </a:r>
            <a:endParaRPr lang="en-US" sz="1050" dirty="0"/>
          </a:p>
        </p:txBody>
      </p:sp>
      <p:sp>
        <p:nvSpPr>
          <p:cNvPr id="10" name="Text 8"/>
          <p:cNvSpPr txBox="1"/>
          <p:nvPr/>
        </p:nvSpPr>
        <p:spPr>
          <a:xfrm>
            <a:off x="3291840" y="2011680"/>
            <a:ext cx="1578803" cy="310896"/>
          </a:xfrm>
          <a:prstGeom prst="rect">
            <a:avLst/>
          </a:prstGeom>
          <a:noFill/>
          <a:ln/>
        </p:spPr>
        <p:txBody>
          <a:bodyPr wrap="square" lIns="0" tIns="0" rIns="0" bIns="0" rtlCol="0" anchor="t"/>
          <a:lstStyle/>
          <a:p>
            <a:pPr indent="0" marL="0">
              <a:buNone/>
            </a:pPr>
            <a:r>
              <a:rPr lang="en-US" sz="1500" b="1" dirty="0">
                <a:solidFill>
                  <a:srgbClr val="262A52"/>
                </a:solidFill>
                <a:latin typeface="Meiryo UI" pitchFamily="34" charset="0"/>
                <a:ea typeface="Meiryo UI" pitchFamily="34" charset="-122"/>
                <a:cs typeface="Meiryo UI" pitchFamily="34" charset="-120"/>
              </a:rPr>
              <a:t>〇件</a:t>
            </a:r>
            <a:endParaRPr lang="en-US" sz="1500" dirty="0"/>
          </a:p>
        </p:txBody>
      </p:sp>
      <p:sp>
        <p:nvSpPr>
          <p:cNvPr id="11" name="Text 9"/>
          <p:cNvSpPr txBox="1"/>
          <p:nvPr/>
        </p:nvSpPr>
        <p:spPr>
          <a:xfrm>
            <a:off x="4962083" y="1764792"/>
            <a:ext cx="1578803" cy="256032"/>
          </a:xfrm>
          <a:prstGeom prst="rect">
            <a:avLst/>
          </a:prstGeom>
          <a:noFill/>
          <a:ln/>
        </p:spPr>
        <p:txBody>
          <a:bodyPr wrap="square" lIns="0" tIns="0" rIns="0" bIns="0" rtlCol="0" anchor="t"/>
          <a:lstStyle/>
          <a:p>
            <a:pPr indent="0" marL="0">
              <a:buNone/>
            </a:pPr>
            <a:r>
              <a:rPr lang="en-US" sz="1050" dirty="0">
                <a:solidFill>
                  <a:srgbClr val="686A82"/>
                </a:solidFill>
                <a:latin typeface="Meiryo UI" pitchFamily="34" charset="0"/>
                <a:ea typeface="Meiryo UI" pitchFamily="34" charset="-122"/>
                <a:cs typeface="Meiryo UI" pitchFamily="34" charset="-120"/>
              </a:rPr>
              <a:t>月間の新規相談</a:t>
            </a:r>
            <a:endParaRPr lang="en-US" sz="1050" dirty="0"/>
          </a:p>
        </p:txBody>
      </p:sp>
      <p:sp>
        <p:nvSpPr>
          <p:cNvPr id="12" name="Text 10"/>
          <p:cNvSpPr txBox="1"/>
          <p:nvPr/>
        </p:nvSpPr>
        <p:spPr>
          <a:xfrm>
            <a:off x="4962083" y="2011680"/>
            <a:ext cx="1578803" cy="310896"/>
          </a:xfrm>
          <a:prstGeom prst="rect">
            <a:avLst/>
          </a:prstGeom>
          <a:noFill/>
          <a:ln/>
        </p:spPr>
        <p:txBody>
          <a:bodyPr wrap="square" lIns="0" tIns="0" rIns="0" bIns="0" rtlCol="0" anchor="t"/>
          <a:lstStyle/>
          <a:p>
            <a:pPr indent="0" marL="0">
              <a:buNone/>
            </a:pPr>
            <a:r>
              <a:rPr lang="en-US" sz="1500" b="1" dirty="0">
                <a:solidFill>
                  <a:srgbClr val="262A52"/>
                </a:solidFill>
                <a:latin typeface="Meiryo UI" pitchFamily="34" charset="0"/>
                <a:ea typeface="Meiryo UI" pitchFamily="34" charset="-122"/>
                <a:cs typeface="Meiryo UI" pitchFamily="34" charset="-120"/>
              </a:rPr>
              <a:t>〇件</a:t>
            </a:r>
            <a:endParaRPr lang="en-US" sz="1500" dirty="0"/>
          </a:p>
        </p:txBody>
      </p:sp>
      <p:sp>
        <p:nvSpPr>
          <p:cNvPr id="13" name="Text 11"/>
          <p:cNvSpPr txBox="1"/>
          <p:nvPr/>
        </p:nvSpPr>
        <p:spPr>
          <a:xfrm>
            <a:off x="6632326" y="1764792"/>
            <a:ext cx="1578803" cy="256032"/>
          </a:xfrm>
          <a:prstGeom prst="rect">
            <a:avLst/>
          </a:prstGeom>
          <a:noFill/>
          <a:ln/>
        </p:spPr>
        <p:txBody>
          <a:bodyPr wrap="square" lIns="0" tIns="0" rIns="0" bIns="0" rtlCol="0" anchor="t"/>
          <a:lstStyle/>
          <a:p>
            <a:pPr indent="0" marL="0">
              <a:buNone/>
            </a:pPr>
            <a:r>
              <a:rPr lang="en-US" sz="1050" dirty="0">
                <a:solidFill>
                  <a:srgbClr val="686A82"/>
                </a:solidFill>
                <a:latin typeface="Meiryo UI" pitchFamily="34" charset="0"/>
                <a:ea typeface="Meiryo UI" pitchFamily="34" charset="-122"/>
                <a:cs typeface="Meiryo UI" pitchFamily="34" charset="-120"/>
              </a:rPr>
              <a:t>平均の年間報酬</a:t>
            </a:r>
            <a:endParaRPr lang="en-US" sz="1050" dirty="0"/>
          </a:p>
        </p:txBody>
      </p:sp>
      <p:sp>
        <p:nvSpPr>
          <p:cNvPr id="14" name="Text 12"/>
          <p:cNvSpPr txBox="1"/>
          <p:nvPr/>
        </p:nvSpPr>
        <p:spPr>
          <a:xfrm>
            <a:off x="6632326" y="2011680"/>
            <a:ext cx="1578803" cy="310896"/>
          </a:xfrm>
          <a:prstGeom prst="rect">
            <a:avLst/>
          </a:prstGeom>
          <a:noFill/>
          <a:ln/>
        </p:spPr>
        <p:txBody>
          <a:bodyPr wrap="square" lIns="0" tIns="0" rIns="0" bIns="0" rtlCol="0" anchor="t"/>
          <a:lstStyle/>
          <a:p>
            <a:pPr indent="0" marL="0">
              <a:buNone/>
            </a:pPr>
            <a:r>
              <a:rPr lang="en-US" sz="1500" b="1" dirty="0">
                <a:solidFill>
                  <a:srgbClr val="262A52"/>
                </a:solidFill>
                <a:latin typeface="Meiryo UI" pitchFamily="34" charset="0"/>
                <a:ea typeface="Meiryo UI" pitchFamily="34" charset="-122"/>
                <a:cs typeface="Meiryo UI" pitchFamily="34" charset="-120"/>
              </a:rPr>
              <a:t>約30万円</a:t>
            </a:r>
            <a:endParaRPr lang="en-US" sz="1500" dirty="0"/>
          </a:p>
        </p:txBody>
      </p:sp>
      <p:sp>
        <p:nvSpPr>
          <p:cNvPr id="15" name="Text 13"/>
          <p:cNvSpPr txBox="1"/>
          <p:nvPr/>
        </p:nvSpPr>
        <p:spPr>
          <a:xfrm>
            <a:off x="8302569" y="1764792"/>
            <a:ext cx="1578803" cy="256032"/>
          </a:xfrm>
          <a:prstGeom prst="rect">
            <a:avLst/>
          </a:prstGeom>
          <a:noFill/>
          <a:ln/>
        </p:spPr>
        <p:txBody>
          <a:bodyPr wrap="square" lIns="0" tIns="0" rIns="0" bIns="0" rtlCol="0" anchor="t"/>
          <a:lstStyle/>
          <a:p>
            <a:pPr indent="0" marL="0">
              <a:buNone/>
            </a:pPr>
            <a:r>
              <a:rPr lang="en-US" sz="1050" dirty="0">
                <a:solidFill>
                  <a:srgbClr val="686A82"/>
                </a:solidFill>
                <a:latin typeface="Meiryo UI" pitchFamily="34" charset="0"/>
                <a:ea typeface="Meiryo UI" pitchFamily="34" charset="-122"/>
                <a:cs typeface="Meiryo UI" pitchFamily="34" charset="-120"/>
              </a:rPr>
              <a:t>平均継続</a:t>
            </a:r>
            <a:endParaRPr lang="en-US" sz="1050" dirty="0"/>
          </a:p>
        </p:txBody>
      </p:sp>
      <p:sp>
        <p:nvSpPr>
          <p:cNvPr id="16" name="Text 14"/>
          <p:cNvSpPr txBox="1"/>
          <p:nvPr/>
        </p:nvSpPr>
        <p:spPr>
          <a:xfrm>
            <a:off x="8302569" y="2011680"/>
            <a:ext cx="1578803" cy="310896"/>
          </a:xfrm>
          <a:prstGeom prst="rect">
            <a:avLst/>
          </a:prstGeom>
          <a:noFill/>
          <a:ln/>
        </p:spPr>
        <p:txBody>
          <a:bodyPr wrap="square" lIns="0" tIns="0" rIns="0" bIns="0" rtlCol="0" anchor="t"/>
          <a:lstStyle/>
          <a:p>
            <a:pPr indent="0" marL="0">
              <a:buNone/>
            </a:pPr>
            <a:r>
              <a:rPr lang="en-US" sz="1500" b="1" dirty="0">
                <a:solidFill>
                  <a:srgbClr val="262A52"/>
                </a:solidFill>
                <a:latin typeface="Meiryo UI" pitchFamily="34" charset="0"/>
                <a:ea typeface="Meiryo UI" pitchFamily="34" charset="-122"/>
                <a:cs typeface="Meiryo UI" pitchFamily="34" charset="-120"/>
              </a:rPr>
              <a:t>5年</a:t>
            </a:r>
            <a:endParaRPr lang="en-US" sz="1500" dirty="0"/>
          </a:p>
        </p:txBody>
      </p:sp>
      <p:sp>
        <p:nvSpPr>
          <p:cNvPr id="17" name="Text 15"/>
          <p:cNvSpPr txBox="1"/>
          <p:nvPr/>
        </p:nvSpPr>
        <p:spPr>
          <a:xfrm>
            <a:off x="9972812" y="1764792"/>
            <a:ext cx="1578803" cy="256032"/>
          </a:xfrm>
          <a:prstGeom prst="rect">
            <a:avLst/>
          </a:prstGeom>
          <a:noFill/>
          <a:ln/>
        </p:spPr>
        <p:txBody>
          <a:bodyPr wrap="square" lIns="0" tIns="0" rIns="0" bIns="0" rtlCol="0" anchor="t"/>
          <a:lstStyle/>
          <a:p>
            <a:pPr indent="0" marL="0">
              <a:buNone/>
            </a:pPr>
            <a:r>
              <a:rPr lang="en-US" sz="1050" dirty="0">
                <a:solidFill>
                  <a:srgbClr val="686A82"/>
                </a:solidFill>
                <a:latin typeface="Meiryo UI" pitchFamily="34" charset="0"/>
                <a:ea typeface="Meiryo UI" pitchFamily="34" charset="-122"/>
                <a:cs typeface="Meiryo UI" pitchFamily="34" charset="-120"/>
              </a:rPr>
              <a:t>HPの問い合わせ</a:t>
            </a:r>
            <a:endParaRPr lang="en-US" sz="1050" dirty="0"/>
          </a:p>
        </p:txBody>
      </p:sp>
      <p:sp>
        <p:nvSpPr>
          <p:cNvPr id="18" name="Text 16"/>
          <p:cNvSpPr txBox="1"/>
          <p:nvPr/>
        </p:nvSpPr>
        <p:spPr>
          <a:xfrm>
            <a:off x="9972812" y="2011680"/>
            <a:ext cx="1578803" cy="310896"/>
          </a:xfrm>
          <a:prstGeom prst="rect">
            <a:avLst/>
          </a:prstGeom>
          <a:noFill/>
          <a:ln/>
        </p:spPr>
        <p:txBody>
          <a:bodyPr wrap="square" lIns="0" tIns="0" rIns="0" bIns="0" rtlCol="0" anchor="t"/>
          <a:lstStyle/>
          <a:p>
            <a:pPr indent="0" marL="0">
              <a:buNone/>
            </a:pPr>
            <a:r>
              <a:rPr lang="en-US" sz="1500" b="1" dirty="0">
                <a:solidFill>
                  <a:srgbClr val="262A52"/>
                </a:solidFill>
                <a:latin typeface="Meiryo UI" pitchFamily="34" charset="0"/>
                <a:ea typeface="Meiryo UI" pitchFamily="34" charset="-122"/>
                <a:cs typeface="Meiryo UI" pitchFamily="34" charset="-120"/>
              </a:rPr>
              <a:t>〇件/月</a:t>
            </a:r>
            <a:endParaRPr lang="en-US" sz="1500" dirty="0"/>
          </a:p>
        </p:txBody>
      </p:sp>
      <p:sp>
        <p:nvSpPr>
          <p:cNvPr id="19" name="Text 17"/>
          <p:cNvSpPr txBox="1"/>
          <p:nvPr/>
        </p:nvSpPr>
        <p:spPr>
          <a:xfrm>
            <a:off x="548640" y="2606040"/>
            <a:ext cx="4937760" cy="320040"/>
          </a:xfrm>
          <a:prstGeom prst="rect">
            <a:avLst/>
          </a:prstGeom>
          <a:noFill/>
          <a:ln/>
        </p:spPr>
        <p:txBody>
          <a:bodyPr wrap="square" lIns="0" tIns="0" rIns="0" bIns="0" rtlCol="0" anchor="t"/>
          <a:lstStyle/>
          <a:p>
            <a:pPr indent="0" marL="0">
              <a:buNone/>
            </a:pPr>
            <a:r>
              <a:rPr lang="en-US" sz="1350" b="1" dirty="0">
                <a:solidFill>
                  <a:srgbClr val="A87A1C"/>
                </a:solidFill>
                <a:latin typeface="Meiryo UI" pitchFamily="34" charset="0"/>
                <a:ea typeface="Meiryo UI" pitchFamily="34" charset="-122"/>
                <a:cs typeface="Meiryo UI" pitchFamily="34" charset="-120"/>
              </a:rPr>
              <a:t>拡大期（4ヶ月目以降）の月間KPI試算</a:t>
            </a:r>
            <a:endParaRPr lang="en-US" sz="1350" dirty="0"/>
          </a:p>
        </p:txBody>
      </p:sp>
      <p:sp>
        <p:nvSpPr>
          <p:cNvPr id="20" name="Text 18"/>
          <p:cNvSpPr txBox="1"/>
          <p:nvPr/>
        </p:nvSpPr>
        <p:spPr>
          <a:xfrm>
            <a:off x="548640" y="2971800"/>
            <a:ext cx="2743200" cy="256032"/>
          </a:xfrm>
          <a:prstGeom prst="rect">
            <a:avLst/>
          </a:prstGeom>
          <a:noFill/>
          <a:ln/>
        </p:spPr>
        <p:txBody>
          <a:bodyPr wrap="square" lIns="0" tIns="0" rIns="0" bIns="0" rtlCol="0" anchor="t"/>
          <a:lstStyle/>
          <a:p>
            <a:pPr indent="0" marL="0">
              <a:buNone/>
            </a:pPr>
            <a:r>
              <a:rPr lang="en-US" sz="1100" b="1" dirty="0">
                <a:solidFill>
                  <a:srgbClr val="3A3F73"/>
                </a:solidFill>
                <a:latin typeface="Meiryo UI" pitchFamily="34" charset="0"/>
                <a:ea typeface="Meiryo UI" pitchFamily="34" charset="-122"/>
                <a:cs typeface="Meiryo UI" pitchFamily="34" charset="-120"/>
              </a:rPr>
              <a:t>プッシュ（顧問先・紹介者）</a:t>
            </a:r>
            <a:endParaRPr lang="en-US" sz="1100" dirty="0"/>
          </a:p>
        </p:txBody>
      </p:sp>
      <p:sp>
        <p:nvSpPr>
          <p:cNvPr id="21" name="Shape 19"/>
          <p:cNvSpPr/>
          <p:nvPr/>
        </p:nvSpPr>
        <p:spPr>
          <a:xfrm>
            <a:off x="548640" y="3246120"/>
            <a:ext cx="4937760" cy="347472"/>
          </a:xfrm>
          <a:prstGeom prst="roundRect">
            <a:avLst>
              <a:gd name="adj" fmla="val 15789"/>
            </a:avLst>
          </a:prstGeom>
          <a:solidFill>
            <a:srgbClr val="F6F7FB"/>
          </a:solidFill>
          <a:ln w="9525">
            <a:solidFill>
              <a:srgbClr val="E0E1EE"/>
            </a:solidFill>
            <a:prstDash val="solid"/>
          </a:ln>
        </p:spPr>
      </p:sp>
      <p:sp>
        <p:nvSpPr>
          <p:cNvPr id="22" name="Text 20"/>
          <p:cNvSpPr txBox="1"/>
          <p:nvPr/>
        </p:nvSpPr>
        <p:spPr>
          <a:xfrm>
            <a:off x="685800" y="3246120"/>
            <a:ext cx="3840480" cy="347472"/>
          </a:xfrm>
          <a:prstGeom prst="rect">
            <a:avLst/>
          </a:prstGeom>
          <a:noFill/>
          <a:ln/>
        </p:spPr>
        <p:txBody>
          <a:bodyPr wrap="square" lIns="0" tIns="0" rIns="0" bIns="0" rtlCol="0" anchor="ctr"/>
          <a:lstStyle/>
          <a:p>
            <a:pPr indent="0" marL="0">
              <a:buNone/>
            </a:pPr>
            <a:r>
              <a:rPr lang="en-US" sz="1100" dirty="0">
                <a:solidFill>
                  <a:srgbClr val="2A2B38"/>
                </a:solidFill>
                <a:latin typeface="Meiryo UI" pitchFamily="34" charset="0"/>
                <a:ea typeface="Meiryo UI" pitchFamily="34" charset="-122"/>
                <a:cs typeface="Meiryo UI" pitchFamily="34" charset="-120"/>
              </a:rPr>
              <a:t>顧問先・紹介者への動画配信</a:t>
            </a:r>
            <a:endParaRPr lang="en-US" sz="1100" dirty="0"/>
          </a:p>
        </p:txBody>
      </p:sp>
      <p:sp>
        <p:nvSpPr>
          <p:cNvPr id="23" name="Text 21"/>
          <p:cNvSpPr txBox="1"/>
          <p:nvPr/>
        </p:nvSpPr>
        <p:spPr>
          <a:xfrm>
            <a:off x="4526280" y="3246120"/>
            <a:ext cx="868680" cy="347472"/>
          </a:xfrm>
          <a:prstGeom prst="rect">
            <a:avLst/>
          </a:prstGeom>
          <a:noFill/>
          <a:ln/>
        </p:spPr>
        <p:txBody>
          <a:bodyPr wrap="square" lIns="0" tIns="0" rIns="0" bIns="0" rtlCol="0" anchor="ctr"/>
          <a:lstStyle/>
          <a:p>
            <a:pPr algn="r" indent="0" marL="0">
              <a:buNone/>
            </a:pPr>
            <a:r>
              <a:rPr lang="en-US" sz="1200" b="1" dirty="0">
                <a:solidFill>
                  <a:srgbClr val="262A52"/>
                </a:solidFill>
                <a:latin typeface="Meiryo UI" pitchFamily="34" charset="0"/>
                <a:ea typeface="Meiryo UI" pitchFamily="34" charset="-122"/>
                <a:cs typeface="Meiryo UI" pitchFamily="34" charset="-120"/>
              </a:rPr>
              <a:t>100件</a:t>
            </a:r>
            <a:endParaRPr lang="en-US" sz="1200" dirty="0"/>
          </a:p>
        </p:txBody>
      </p:sp>
      <p:sp>
        <p:nvSpPr>
          <p:cNvPr id="24" name="Shape 22"/>
          <p:cNvSpPr/>
          <p:nvPr/>
        </p:nvSpPr>
        <p:spPr>
          <a:xfrm>
            <a:off x="548640" y="3648456"/>
            <a:ext cx="4617720" cy="347472"/>
          </a:xfrm>
          <a:prstGeom prst="roundRect">
            <a:avLst>
              <a:gd name="adj" fmla="val 15789"/>
            </a:avLst>
          </a:prstGeom>
          <a:solidFill>
            <a:srgbClr val="F6F7FB"/>
          </a:solidFill>
          <a:ln w="9525">
            <a:solidFill>
              <a:srgbClr val="E0E1EE"/>
            </a:solidFill>
            <a:prstDash val="solid"/>
          </a:ln>
        </p:spPr>
      </p:sp>
      <p:sp>
        <p:nvSpPr>
          <p:cNvPr id="25" name="Text 23"/>
          <p:cNvSpPr txBox="1"/>
          <p:nvPr/>
        </p:nvSpPr>
        <p:spPr>
          <a:xfrm>
            <a:off x="685800" y="3648456"/>
            <a:ext cx="3520440" cy="347472"/>
          </a:xfrm>
          <a:prstGeom prst="rect">
            <a:avLst/>
          </a:prstGeom>
          <a:noFill/>
          <a:ln/>
        </p:spPr>
        <p:txBody>
          <a:bodyPr wrap="square" lIns="0" tIns="0" rIns="0" bIns="0" rtlCol="0" anchor="ctr"/>
          <a:lstStyle/>
          <a:p>
            <a:pPr indent="0" marL="0">
              <a:buNone/>
            </a:pPr>
            <a:r>
              <a:rPr lang="en-US" sz="1100" dirty="0">
                <a:solidFill>
                  <a:srgbClr val="2A2B38"/>
                </a:solidFill>
                <a:latin typeface="Meiryo UI" pitchFamily="34" charset="0"/>
                <a:ea typeface="Meiryo UI" pitchFamily="34" charset="-122"/>
                <a:cs typeface="Meiryo UI" pitchFamily="34" charset="-120"/>
              </a:rPr>
              <a:t>動画の視聴（50%）</a:t>
            </a:r>
            <a:endParaRPr lang="en-US" sz="1100" dirty="0"/>
          </a:p>
        </p:txBody>
      </p:sp>
      <p:sp>
        <p:nvSpPr>
          <p:cNvPr id="26" name="Text 24"/>
          <p:cNvSpPr txBox="1"/>
          <p:nvPr/>
        </p:nvSpPr>
        <p:spPr>
          <a:xfrm>
            <a:off x="4206240" y="3648456"/>
            <a:ext cx="868680" cy="347472"/>
          </a:xfrm>
          <a:prstGeom prst="rect">
            <a:avLst/>
          </a:prstGeom>
          <a:noFill/>
          <a:ln/>
        </p:spPr>
        <p:txBody>
          <a:bodyPr wrap="square" lIns="0" tIns="0" rIns="0" bIns="0" rtlCol="0" anchor="ctr"/>
          <a:lstStyle/>
          <a:p>
            <a:pPr algn="r" indent="0" marL="0">
              <a:buNone/>
            </a:pPr>
            <a:r>
              <a:rPr lang="en-US" sz="1200" b="1" dirty="0">
                <a:solidFill>
                  <a:srgbClr val="262A52"/>
                </a:solidFill>
                <a:latin typeface="Meiryo UI" pitchFamily="34" charset="0"/>
                <a:ea typeface="Meiryo UI" pitchFamily="34" charset="-122"/>
                <a:cs typeface="Meiryo UI" pitchFamily="34" charset="-120"/>
              </a:rPr>
              <a:t>50件</a:t>
            </a:r>
            <a:endParaRPr lang="en-US" sz="1200" dirty="0"/>
          </a:p>
        </p:txBody>
      </p:sp>
      <p:sp>
        <p:nvSpPr>
          <p:cNvPr id="27" name="Shape 25"/>
          <p:cNvSpPr/>
          <p:nvPr/>
        </p:nvSpPr>
        <p:spPr>
          <a:xfrm>
            <a:off x="548640" y="4050792"/>
            <a:ext cx="4297680" cy="347472"/>
          </a:xfrm>
          <a:prstGeom prst="roundRect">
            <a:avLst>
              <a:gd name="adj" fmla="val 15789"/>
            </a:avLst>
          </a:prstGeom>
          <a:solidFill>
            <a:srgbClr val="F6F7FB"/>
          </a:solidFill>
          <a:ln w="9525">
            <a:solidFill>
              <a:srgbClr val="E0E1EE"/>
            </a:solidFill>
            <a:prstDash val="solid"/>
          </a:ln>
        </p:spPr>
      </p:sp>
      <p:sp>
        <p:nvSpPr>
          <p:cNvPr id="28" name="Text 26"/>
          <p:cNvSpPr txBox="1"/>
          <p:nvPr/>
        </p:nvSpPr>
        <p:spPr>
          <a:xfrm>
            <a:off x="685800" y="4050792"/>
            <a:ext cx="3200400" cy="347472"/>
          </a:xfrm>
          <a:prstGeom prst="rect">
            <a:avLst/>
          </a:prstGeom>
          <a:noFill/>
          <a:ln/>
        </p:spPr>
        <p:txBody>
          <a:bodyPr wrap="square" lIns="0" tIns="0" rIns="0" bIns="0" rtlCol="0" anchor="ctr"/>
          <a:lstStyle/>
          <a:p>
            <a:pPr indent="0" marL="0">
              <a:buNone/>
            </a:pPr>
            <a:r>
              <a:rPr lang="en-US" sz="1100" dirty="0">
                <a:solidFill>
                  <a:srgbClr val="2A2B38"/>
                </a:solidFill>
                <a:latin typeface="Meiryo UI" pitchFamily="34" charset="0"/>
                <a:ea typeface="Meiryo UI" pitchFamily="34" charset="-122"/>
                <a:cs typeface="Meiryo UI" pitchFamily="34" charset="-120"/>
              </a:rPr>
              <a:t>紹介の発生</a:t>
            </a:r>
            <a:endParaRPr lang="en-US" sz="1100" dirty="0"/>
          </a:p>
        </p:txBody>
      </p:sp>
      <p:sp>
        <p:nvSpPr>
          <p:cNvPr id="29" name="Text 27"/>
          <p:cNvSpPr txBox="1"/>
          <p:nvPr/>
        </p:nvSpPr>
        <p:spPr>
          <a:xfrm>
            <a:off x="3886200" y="4050792"/>
            <a:ext cx="868680" cy="347472"/>
          </a:xfrm>
          <a:prstGeom prst="rect">
            <a:avLst/>
          </a:prstGeom>
          <a:noFill/>
          <a:ln/>
        </p:spPr>
        <p:txBody>
          <a:bodyPr wrap="square" lIns="0" tIns="0" rIns="0" bIns="0" rtlCol="0" anchor="ctr"/>
          <a:lstStyle/>
          <a:p>
            <a:pPr algn="r" indent="0" marL="0">
              <a:buNone/>
            </a:pPr>
            <a:r>
              <a:rPr lang="en-US" sz="1200" b="1" dirty="0">
                <a:solidFill>
                  <a:srgbClr val="262A52"/>
                </a:solidFill>
                <a:latin typeface="Meiryo UI" pitchFamily="34" charset="0"/>
                <a:ea typeface="Meiryo UI" pitchFamily="34" charset="-122"/>
                <a:cs typeface="Meiryo UI" pitchFamily="34" charset="-120"/>
              </a:rPr>
              <a:t>約4件</a:t>
            </a:r>
            <a:endParaRPr lang="en-US" sz="1200" dirty="0"/>
          </a:p>
        </p:txBody>
      </p:sp>
      <p:sp>
        <p:nvSpPr>
          <p:cNvPr id="30" name="Shape 28"/>
          <p:cNvSpPr/>
          <p:nvPr/>
        </p:nvSpPr>
        <p:spPr>
          <a:xfrm>
            <a:off x="548640" y="4453128"/>
            <a:ext cx="3977640" cy="347472"/>
          </a:xfrm>
          <a:prstGeom prst="roundRect">
            <a:avLst>
              <a:gd name="adj" fmla="val 15789"/>
            </a:avLst>
          </a:prstGeom>
          <a:solidFill>
            <a:srgbClr val="F6F7FB"/>
          </a:solidFill>
          <a:ln w="9525">
            <a:solidFill>
              <a:srgbClr val="E0E1EE"/>
            </a:solidFill>
            <a:prstDash val="solid"/>
          </a:ln>
        </p:spPr>
      </p:sp>
      <p:sp>
        <p:nvSpPr>
          <p:cNvPr id="31" name="Text 29"/>
          <p:cNvSpPr txBox="1"/>
          <p:nvPr/>
        </p:nvSpPr>
        <p:spPr>
          <a:xfrm>
            <a:off x="685800" y="4453128"/>
            <a:ext cx="2880360" cy="347472"/>
          </a:xfrm>
          <a:prstGeom prst="rect">
            <a:avLst/>
          </a:prstGeom>
          <a:noFill/>
          <a:ln/>
        </p:spPr>
        <p:txBody>
          <a:bodyPr wrap="square" lIns="0" tIns="0" rIns="0" bIns="0" rtlCol="0" anchor="ctr"/>
          <a:lstStyle/>
          <a:p>
            <a:pPr indent="0" marL="0">
              <a:buNone/>
            </a:pPr>
            <a:r>
              <a:rPr lang="en-US" sz="1100" dirty="0">
                <a:solidFill>
                  <a:srgbClr val="2A2B38"/>
                </a:solidFill>
                <a:latin typeface="Meiryo UI" pitchFamily="34" charset="0"/>
                <a:ea typeface="Meiryo UI" pitchFamily="34" charset="-122"/>
                <a:cs typeface="Meiryo UI" pitchFamily="34" charset="-120"/>
              </a:rPr>
              <a:t>初回面談（75%）</a:t>
            </a:r>
            <a:endParaRPr lang="en-US" sz="1100" dirty="0"/>
          </a:p>
        </p:txBody>
      </p:sp>
      <p:sp>
        <p:nvSpPr>
          <p:cNvPr id="32" name="Text 30"/>
          <p:cNvSpPr txBox="1"/>
          <p:nvPr/>
        </p:nvSpPr>
        <p:spPr>
          <a:xfrm>
            <a:off x="3566160" y="4453128"/>
            <a:ext cx="868680" cy="347472"/>
          </a:xfrm>
          <a:prstGeom prst="rect">
            <a:avLst/>
          </a:prstGeom>
          <a:noFill/>
          <a:ln/>
        </p:spPr>
        <p:txBody>
          <a:bodyPr wrap="square" lIns="0" tIns="0" rIns="0" bIns="0" rtlCol="0" anchor="ctr"/>
          <a:lstStyle/>
          <a:p>
            <a:pPr algn="r" indent="0" marL="0">
              <a:buNone/>
            </a:pPr>
            <a:r>
              <a:rPr lang="en-US" sz="1200" b="1" dirty="0">
                <a:solidFill>
                  <a:srgbClr val="262A52"/>
                </a:solidFill>
                <a:latin typeface="Meiryo UI" pitchFamily="34" charset="0"/>
                <a:ea typeface="Meiryo UI" pitchFamily="34" charset="-122"/>
                <a:cs typeface="Meiryo UI" pitchFamily="34" charset="-120"/>
              </a:rPr>
              <a:t>3件</a:t>
            </a:r>
            <a:endParaRPr lang="en-US" sz="1200" dirty="0"/>
          </a:p>
        </p:txBody>
      </p:sp>
      <p:sp>
        <p:nvSpPr>
          <p:cNvPr id="33" name="Shape 31"/>
          <p:cNvSpPr/>
          <p:nvPr/>
        </p:nvSpPr>
        <p:spPr>
          <a:xfrm>
            <a:off x="548640" y="4855464"/>
            <a:ext cx="3657600" cy="347472"/>
          </a:xfrm>
          <a:prstGeom prst="roundRect">
            <a:avLst>
              <a:gd name="adj" fmla="val 15789"/>
            </a:avLst>
          </a:prstGeom>
          <a:solidFill>
            <a:srgbClr val="3A3F73"/>
          </a:solidFill>
          <a:ln w="9525">
            <a:solidFill>
              <a:srgbClr val="3A3F73"/>
            </a:solidFill>
            <a:prstDash val="solid"/>
          </a:ln>
        </p:spPr>
      </p:sp>
      <p:sp>
        <p:nvSpPr>
          <p:cNvPr id="34" name="Text 32"/>
          <p:cNvSpPr txBox="1"/>
          <p:nvPr/>
        </p:nvSpPr>
        <p:spPr>
          <a:xfrm>
            <a:off x="685800" y="4855464"/>
            <a:ext cx="2560320" cy="347472"/>
          </a:xfrm>
          <a:prstGeom prst="rect">
            <a:avLst/>
          </a:prstGeom>
          <a:noFill/>
          <a:ln/>
        </p:spPr>
        <p:txBody>
          <a:bodyPr wrap="square" lIns="0" tIns="0" rIns="0" bIns="0" rtlCol="0" anchor="ctr"/>
          <a:lstStyle/>
          <a:p>
            <a:pPr indent="0" marL="0">
              <a:buNone/>
            </a:pPr>
            <a:r>
              <a:rPr lang="en-US" sz="1100" b="1" dirty="0">
                <a:solidFill>
                  <a:srgbClr val="FFFFFF"/>
                </a:solidFill>
                <a:latin typeface="Meiryo UI" pitchFamily="34" charset="0"/>
                <a:ea typeface="Meiryo UI" pitchFamily="34" charset="-122"/>
                <a:cs typeface="Meiryo UI" pitchFamily="34" charset="-120"/>
              </a:rPr>
              <a:t>契約（60%）</a:t>
            </a:r>
            <a:endParaRPr lang="en-US" sz="1100" dirty="0"/>
          </a:p>
        </p:txBody>
      </p:sp>
      <p:sp>
        <p:nvSpPr>
          <p:cNvPr id="35" name="Text 33"/>
          <p:cNvSpPr txBox="1"/>
          <p:nvPr/>
        </p:nvSpPr>
        <p:spPr>
          <a:xfrm>
            <a:off x="3246120" y="4855464"/>
            <a:ext cx="868680" cy="347472"/>
          </a:xfrm>
          <a:prstGeom prst="rect">
            <a:avLst/>
          </a:prstGeom>
          <a:noFill/>
          <a:ln/>
        </p:spPr>
        <p:txBody>
          <a:bodyPr wrap="square" lIns="0" tIns="0" rIns="0" bIns="0" rtlCol="0" anchor="ctr"/>
          <a:lstStyle/>
          <a:p>
            <a:pPr algn="r" indent="0" marL="0">
              <a:buNone/>
            </a:pPr>
            <a:r>
              <a:rPr lang="en-US" sz="1200" b="1" dirty="0">
                <a:solidFill>
                  <a:srgbClr val="FFFFFF"/>
                </a:solidFill>
                <a:latin typeface="Meiryo UI" pitchFamily="34" charset="0"/>
                <a:ea typeface="Meiryo UI" pitchFamily="34" charset="-122"/>
                <a:cs typeface="Meiryo UI" pitchFamily="34" charset="-120"/>
              </a:rPr>
              <a:t>約2件</a:t>
            </a:r>
            <a:endParaRPr lang="en-US" sz="1200" dirty="0"/>
          </a:p>
        </p:txBody>
      </p:sp>
      <p:sp>
        <p:nvSpPr>
          <p:cNvPr id="36" name="Text 34"/>
          <p:cNvSpPr txBox="1"/>
          <p:nvPr/>
        </p:nvSpPr>
        <p:spPr>
          <a:xfrm>
            <a:off x="548640" y="5303520"/>
            <a:ext cx="3657600" cy="256032"/>
          </a:xfrm>
          <a:prstGeom prst="rect">
            <a:avLst/>
          </a:prstGeom>
          <a:noFill/>
          <a:ln/>
        </p:spPr>
        <p:txBody>
          <a:bodyPr wrap="square" lIns="0" tIns="0" rIns="0" bIns="0" rtlCol="0" anchor="t"/>
          <a:lstStyle/>
          <a:p>
            <a:pPr indent="0" marL="0">
              <a:buNone/>
            </a:pPr>
            <a:r>
              <a:rPr lang="en-US" sz="1100" b="1" dirty="0">
                <a:solidFill>
                  <a:srgbClr val="3A3F73"/>
                </a:solidFill>
                <a:latin typeface="Meiryo UI" pitchFamily="34" charset="0"/>
                <a:ea typeface="Meiryo UI" pitchFamily="34" charset="-122"/>
                <a:cs typeface="Meiryo UI" pitchFamily="34" charset="-120"/>
              </a:rPr>
              <a:t>プル（HP・YouTube・SNS）</a:t>
            </a:r>
            <a:endParaRPr lang="en-US" sz="1100" dirty="0"/>
          </a:p>
        </p:txBody>
      </p:sp>
      <p:sp>
        <p:nvSpPr>
          <p:cNvPr id="37" name="Shape 35"/>
          <p:cNvSpPr/>
          <p:nvPr/>
        </p:nvSpPr>
        <p:spPr>
          <a:xfrm>
            <a:off x="548640" y="5577840"/>
            <a:ext cx="4937760" cy="384048"/>
          </a:xfrm>
          <a:prstGeom prst="roundRect">
            <a:avLst>
              <a:gd name="adj" fmla="val 14286"/>
            </a:avLst>
          </a:prstGeom>
          <a:solidFill>
            <a:srgbClr val="3A3F73"/>
          </a:solidFill>
          <a:ln w="12700">
            <a:solidFill>
              <a:srgbClr val="3A3F73"/>
            </a:solidFill>
            <a:prstDash val="solid"/>
          </a:ln>
        </p:spPr>
      </p:sp>
      <p:sp>
        <p:nvSpPr>
          <p:cNvPr id="38" name="Text 36"/>
          <p:cNvSpPr txBox="1"/>
          <p:nvPr/>
        </p:nvSpPr>
        <p:spPr>
          <a:xfrm>
            <a:off x="685800" y="5577840"/>
            <a:ext cx="3931920" cy="384048"/>
          </a:xfrm>
          <a:prstGeom prst="rect">
            <a:avLst/>
          </a:prstGeom>
          <a:noFill/>
          <a:ln/>
        </p:spPr>
        <p:txBody>
          <a:bodyPr wrap="square" lIns="0" tIns="0" rIns="0" bIns="0" rtlCol="0" anchor="ctr"/>
          <a:lstStyle/>
          <a:p>
            <a:pPr indent="0" marL="0">
              <a:buNone/>
            </a:pPr>
            <a:r>
              <a:rPr lang="en-US" sz="1100" b="1" dirty="0">
                <a:solidFill>
                  <a:srgbClr val="FFFFFF"/>
                </a:solidFill>
                <a:latin typeface="Meiryo UI" pitchFamily="34" charset="0"/>
                <a:ea typeface="Meiryo UI" pitchFamily="34" charset="-122"/>
                <a:cs typeface="Meiryo UI" pitchFamily="34" charset="-120"/>
              </a:rPr>
              <a:t>動画経由の問い合わせ 月4件（契約率25%）</a:t>
            </a:r>
            <a:endParaRPr lang="en-US" sz="1100" dirty="0"/>
          </a:p>
        </p:txBody>
      </p:sp>
      <p:sp>
        <p:nvSpPr>
          <p:cNvPr id="39" name="Text 37"/>
          <p:cNvSpPr txBox="1"/>
          <p:nvPr/>
        </p:nvSpPr>
        <p:spPr>
          <a:xfrm>
            <a:off x="4526280" y="5577840"/>
            <a:ext cx="868680" cy="384048"/>
          </a:xfrm>
          <a:prstGeom prst="rect">
            <a:avLst/>
          </a:prstGeom>
          <a:noFill/>
          <a:ln/>
        </p:spPr>
        <p:txBody>
          <a:bodyPr wrap="square" lIns="0" tIns="0" rIns="0" bIns="0" rtlCol="0" anchor="ctr"/>
          <a:lstStyle/>
          <a:p>
            <a:pPr algn="r" indent="0" marL="0">
              <a:buNone/>
            </a:pPr>
            <a:r>
              <a:rPr lang="en-US" sz="1200" b="1" dirty="0">
                <a:solidFill>
                  <a:srgbClr val="FFFFFF"/>
                </a:solidFill>
                <a:latin typeface="Meiryo UI" pitchFamily="34" charset="0"/>
                <a:ea typeface="Meiryo UI" pitchFamily="34" charset="-122"/>
                <a:cs typeface="Meiryo UI" pitchFamily="34" charset="-120"/>
              </a:rPr>
              <a:t>約1件</a:t>
            </a:r>
            <a:endParaRPr lang="en-US" sz="1200" dirty="0"/>
          </a:p>
        </p:txBody>
      </p:sp>
      <p:sp>
        <p:nvSpPr>
          <p:cNvPr id="40" name="Shape 38"/>
          <p:cNvSpPr/>
          <p:nvPr/>
        </p:nvSpPr>
        <p:spPr>
          <a:xfrm>
            <a:off x="5852160" y="2606040"/>
            <a:ext cx="1808378" cy="1097280"/>
          </a:xfrm>
          <a:prstGeom prst="roundRect">
            <a:avLst>
              <a:gd name="adj" fmla="val 10000"/>
            </a:avLst>
          </a:prstGeom>
          <a:solidFill>
            <a:srgbClr val="F6F7FB"/>
          </a:solidFill>
          <a:ln w="12700">
            <a:solidFill>
              <a:srgbClr val="F6F7FB"/>
            </a:solidFill>
            <a:prstDash val="solid"/>
          </a:ln>
        </p:spPr>
      </p:sp>
      <p:sp>
        <p:nvSpPr>
          <p:cNvPr id="41" name="Text 39"/>
          <p:cNvSpPr txBox="1"/>
          <p:nvPr/>
        </p:nvSpPr>
        <p:spPr>
          <a:xfrm>
            <a:off x="5852160" y="2651760"/>
            <a:ext cx="1808378" cy="502920"/>
          </a:xfrm>
          <a:prstGeom prst="rect">
            <a:avLst/>
          </a:prstGeom>
          <a:noFill/>
          <a:ln/>
        </p:spPr>
        <p:txBody>
          <a:bodyPr wrap="square" lIns="0" tIns="0" rIns="0" bIns="0" rtlCol="0" anchor="ctr"/>
          <a:lstStyle/>
          <a:p>
            <a:pPr algn="ctr" indent="0" marL="0">
              <a:buNone/>
            </a:pPr>
            <a:r>
              <a:rPr lang="en-US" sz="2100" b="1" dirty="0">
                <a:solidFill>
                  <a:srgbClr val="3A3F73"/>
                </a:solidFill>
                <a:latin typeface="Meiryo UI" pitchFamily="34" charset="0"/>
                <a:ea typeface="Meiryo UI" pitchFamily="34" charset="-122"/>
                <a:cs typeface="Meiryo UI" pitchFamily="34" charset="-120"/>
              </a:rPr>
              <a:t>+3件/月</a:t>
            </a:r>
            <a:endParaRPr lang="en-US" sz="2100" dirty="0"/>
          </a:p>
        </p:txBody>
      </p:sp>
      <p:sp>
        <p:nvSpPr>
          <p:cNvPr id="42" name="Text 40"/>
          <p:cNvSpPr txBox="1"/>
          <p:nvPr/>
        </p:nvSpPr>
        <p:spPr>
          <a:xfrm>
            <a:off x="5852160" y="3154680"/>
            <a:ext cx="1808378" cy="502920"/>
          </a:xfrm>
          <a:prstGeom prst="rect">
            <a:avLst/>
          </a:prstGeom>
          <a:noFill/>
          <a:ln/>
        </p:spPr>
        <p:txBody>
          <a:bodyPr wrap="square" lIns="0" tIns="0" rIns="0" bIns="0" rtlCol="0" anchor="t"/>
          <a:lstStyle/>
          <a:p>
            <a:pPr algn="ctr" indent="0" marL="0">
              <a:buNone/>
            </a:pPr>
            <a:r>
              <a:rPr lang="en-US" sz="1000" dirty="0">
                <a:solidFill>
                  <a:srgbClr val="686A82"/>
                </a:solidFill>
                <a:latin typeface="Meiryo UI" pitchFamily="34" charset="0"/>
                <a:ea typeface="Meiryo UI" pitchFamily="34" charset="-122"/>
                <a:cs typeface="Meiryo UI" pitchFamily="34" charset="-120"/>
              </a:rPr>
              <a:t>拡大期の新規契約</a:t>
            </a:r>
            <a:endParaRPr lang="en-US" sz="1000" dirty="0"/>
          </a:p>
          <a:p>
            <a:pPr algn="ctr" indent="0" marL="0">
              <a:buNone/>
            </a:pPr>
            <a:r>
              <a:rPr lang="en-US" sz="1000" dirty="0">
                <a:solidFill>
                  <a:srgbClr val="686A82"/>
                </a:solidFill>
                <a:latin typeface="Meiryo UI" pitchFamily="34" charset="0"/>
                <a:ea typeface="Meiryo UI" pitchFamily="34" charset="-122"/>
                <a:cs typeface="Meiryo UI" pitchFamily="34" charset="-120"/>
              </a:rPr>
              <a:t>（上乗せ分）</a:t>
            </a:r>
            <a:endParaRPr lang="en-US" sz="1000" dirty="0"/>
          </a:p>
        </p:txBody>
      </p:sp>
      <p:sp>
        <p:nvSpPr>
          <p:cNvPr id="43" name="Shape 41"/>
          <p:cNvSpPr/>
          <p:nvPr/>
        </p:nvSpPr>
        <p:spPr>
          <a:xfrm>
            <a:off x="7843418" y="2606040"/>
            <a:ext cx="1808378" cy="1097280"/>
          </a:xfrm>
          <a:prstGeom prst="roundRect">
            <a:avLst>
              <a:gd name="adj" fmla="val 10000"/>
            </a:avLst>
          </a:prstGeom>
          <a:solidFill>
            <a:srgbClr val="F6F7FB"/>
          </a:solidFill>
          <a:ln w="12700">
            <a:solidFill>
              <a:srgbClr val="F6F7FB"/>
            </a:solidFill>
            <a:prstDash val="solid"/>
          </a:ln>
        </p:spPr>
      </p:sp>
      <p:sp>
        <p:nvSpPr>
          <p:cNvPr id="44" name="Text 42"/>
          <p:cNvSpPr txBox="1"/>
          <p:nvPr/>
        </p:nvSpPr>
        <p:spPr>
          <a:xfrm>
            <a:off x="7843418" y="2651760"/>
            <a:ext cx="1808378" cy="502920"/>
          </a:xfrm>
          <a:prstGeom prst="rect">
            <a:avLst/>
          </a:prstGeom>
          <a:noFill/>
          <a:ln/>
        </p:spPr>
        <p:txBody>
          <a:bodyPr wrap="square" lIns="0" tIns="0" rIns="0" bIns="0" rtlCol="0" anchor="ctr"/>
          <a:lstStyle/>
          <a:p>
            <a:pPr algn="ctr" indent="0" marL="0">
              <a:buNone/>
            </a:pPr>
            <a:r>
              <a:rPr lang="en-US" sz="2100" b="1" dirty="0">
                <a:solidFill>
                  <a:srgbClr val="3A3F73"/>
                </a:solidFill>
                <a:latin typeface="Meiryo UI" pitchFamily="34" charset="0"/>
                <a:ea typeface="Meiryo UI" pitchFamily="34" charset="-122"/>
                <a:cs typeface="Meiryo UI" pitchFamily="34" charset="-120"/>
              </a:rPr>
              <a:t>+26件</a:t>
            </a:r>
            <a:endParaRPr lang="en-US" sz="2100" dirty="0"/>
          </a:p>
        </p:txBody>
      </p:sp>
      <p:sp>
        <p:nvSpPr>
          <p:cNvPr id="45" name="Text 43"/>
          <p:cNvSpPr txBox="1"/>
          <p:nvPr/>
        </p:nvSpPr>
        <p:spPr>
          <a:xfrm>
            <a:off x="7843418" y="3154680"/>
            <a:ext cx="1808378" cy="502920"/>
          </a:xfrm>
          <a:prstGeom prst="rect">
            <a:avLst/>
          </a:prstGeom>
          <a:noFill/>
          <a:ln/>
        </p:spPr>
        <p:txBody>
          <a:bodyPr wrap="square" lIns="0" tIns="0" rIns="0" bIns="0" rtlCol="0" anchor="t"/>
          <a:lstStyle/>
          <a:p>
            <a:pPr algn="ctr" indent="0" marL="0">
              <a:buNone/>
            </a:pPr>
            <a:r>
              <a:rPr lang="en-US" sz="1000" dirty="0">
                <a:solidFill>
                  <a:srgbClr val="686A82"/>
                </a:solidFill>
                <a:latin typeface="Meiryo UI" pitchFamily="34" charset="0"/>
                <a:ea typeface="Meiryo UI" pitchFamily="34" charset="-122"/>
                <a:cs typeface="Meiryo UI" pitchFamily="34" charset="-120"/>
              </a:rPr>
              <a:t>12ヶ月の</a:t>
            </a:r>
            <a:endParaRPr lang="en-US" sz="1000" dirty="0"/>
          </a:p>
          <a:p>
            <a:pPr algn="ctr" indent="0" marL="0">
              <a:buNone/>
            </a:pPr>
            <a:r>
              <a:rPr lang="en-US" sz="1000" dirty="0">
                <a:solidFill>
                  <a:srgbClr val="686A82"/>
                </a:solidFill>
                <a:latin typeface="Meiryo UI" pitchFamily="34" charset="0"/>
                <a:ea typeface="Meiryo UI" pitchFamily="34" charset="-122"/>
                <a:cs typeface="Meiryo UI" pitchFamily="34" charset="-120"/>
              </a:rPr>
              <a:t>新規契約の上乗せ（累計）</a:t>
            </a:r>
            <a:endParaRPr lang="en-US" sz="1000" dirty="0"/>
          </a:p>
        </p:txBody>
      </p:sp>
      <p:sp>
        <p:nvSpPr>
          <p:cNvPr id="46" name="Shape 44"/>
          <p:cNvSpPr/>
          <p:nvPr/>
        </p:nvSpPr>
        <p:spPr>
          <a:xfrm>
            <a:off x="9834677" y="2606040"/>
            <a:ext cx="1808378" cy="1097280"/>
          </a:xfrm>
          <a:prstGeom prst="roundRect">
            <a:avLst>
              <a:gd name="adj" fmla="val 10000"/>
            </a:avLst>
          </a:prstGeom>
          <a:solidFill>
            <a:srgbClr val="FBF3E1"/>
          </a:solidFill>
          <a:ln w="12700">
            <a:solidFill>
              <a:srgbClr val="FBF3E1"/>
            </a:solidFill>
            <a:prstDash val="solid"/>
          </a:ln>
        </p:spPr>
      </p:sp>
      <p:sp>
        <p:nvSpPr>
          <p:cNvPr id="47" name="Text 45"/>
          <p:cNvSpPr txBox="1"/>
          <p:nvPr/>
        </p:nvSpPr>
        <p:spPr>
          <a:xfrm>
            <a:off x="9834677" y="2651760"/>
            <a:ext cx="1808378" cy="502920"/>
          </a:xfrm>
          <a:prstGeom prst="rect">
            <a:avLst/>
          </a:prstGeom>
          <a:noFill/>
          <a:ln/>
        </p:spPr>
        <p:txBody>
          <a:bodyPr wrap="square" lIns="0" tIns="0" rIns="0" bIns="0" rtlCol="0" anchor="ctr"/>
          <a:lstStyle/>
          <a:p>
            <a:pPr algn="ctr" indent="0" marL="0">
              <a:buNone/>
            </a:pPr>
            <a:r>
              <a:rPr lang="en-US" sz="2100" b="1" dirty="0">
                <a:solidFill>
                  <a:srgbClr val="A87A1C"/>
                </a:solidFill>
                <a:latin typeface="Meiryo UI" pitchFamily="34" charset="0"/>
                <a:ea typeface="Meiryo UI" pitchFamily="34" charset="-122"/>
                <a:cs typeface="Meiryo UI" pitchFamily="34" charset="-120"/>
              </a:rPr>
              <a:t>+780万円</a:t>
            </a:r>
            <a:endParaRPr lang="en-US" sz="2100" dirty="0"/>
          </a:p>
        </p:txBody>
      </p:sp>
      <p:sp>
        <p:nvSpPr>
          <p:cNvPr id="48" name="Text 46"/>
          <p:cNvSpPr txBox="1"/>
          <p:nvPr/>
        </p:nvSpPr>
        <p:spPr>
          <a:xfrm>
            <a:off x="9834677" y="3154680"/>
            <a:ext cx="1808378" cy="502920"/>
          </a:xfrm>
          <a:prstGeom prst="rect">
            <a:avLst/>
          </a:prstGeom>
          <a:noFill/>
          <a:ln/>
        </p:spPr>
        <p:txBody>
          <a:bodyPr wrap="square" lIns="0" tIns="0" rIns="0" bIns="0" rtlCol="0" anchor="t"/>
          <a:lstStyle/>
          <a:p>
            <a:pPr algn="ctr" indent="0" marL="0">
              <a:buNone/>
            </a:pPr>
            <a:r>
              <a:rPr lang="en-US" sz="1000" dirty="0">
                <a:solidFill>
                  <a:srgbClr val="686A82"/>
                </a:solidFill>
                <a:latin typeface="Meiryo UI" pitchFamily="34" charset="0"/>
                <a:ea typeface="Meiryo UI" pitchFamily="34" charset="-122"/>
                <a:cs typeface="Meiryo UI" pitchFamily="34" charset="-120"/>
              </a:rPr>
              <a:t>年間報酬ベースの</a:t>
            </a:r>
            <a:endParaRPr lang="en-US" sz="1000" dirty="0"/>
          </a:p>
          <a:p>
            <a:pPr algn="ctr" indent="0" marL="0">
              <a:buNone/>
            </a:pPr>
            <a:r>
              <a:rPr lang="en-US" sz="1000" dirty="0">
                <a:solidFill>
                  <a:srgbClr val="686A82"/>
                </a:solidFill>
                <a:latin typeface="Meiryo UI" pitchFamily="34" charset="0"/>
                <a:ea typeface="Meiryo UI" pitchFamily="34" charset="-122"/>
                <a:cs typeface="Meiryo UI" pitchFamily="34" charset="-120"/>
              </a:rPr>
              <a:t>上乗せ（26件分）</a:t>
            </a:r>
            <a:endParaRPr lang="en-US" sz="1000" dirty="0"/>
          </a:p>
        </p:txBody>
      </p:sp>
      <p:graphicFrame>
        <p:nvGraphicFramePr>
          <p:cNvPr id="49" name="Chart 0" descr=""/>
          <p:cNvGraphicFramePr/>
          <p:nvPr/>
        </p:nvGraphicFramePr>
        <p:xfrm>
          <a:off x="5852160" y="3840480"/>
          <a:ext cx="5790895" cy="2240280"/>
        </p:xfrm>
        <a:graphic xmlns:a="http://schemas.openxmlformats.org/drawingml/2006/main">
          <a:graphicData uri="http://schemas.openxmlformats.org/drawingml/2006/chart">
            <c:chart xmlns:c="http://schemas.openxmlformats.org/drawingml/2006/chart" r:id="rId1"/>
          </a:graphicData>
        </a:graphic>
      </p:graphicFrame>
      <p:sp>
        <p:nvSpPr>
          <p:cNvPr id="50" name="Text 47"/>
          <p:cNvSpPr txBox="1"/>
          <p:nvPr/>
        </p:nvSpPr>
        <p:spPr>
          <a:xfrm>
            <a:off x="5852160" y="6080760"/>
            <a:ext cx="5790895" cy="320040"/>
          </a:xfrm>
          <a:prstGeom prst="rect">
            <a:avLst/>
          </a:prstGeom>
          <a:noFill/>
          <a:ln/>
        </p:spPr>
        <p:txBody>
          <a:bodyPr wrap="square" lIns="0" tIns="0" rIns="0" bIns="0" rtlCol="0" anchor="t"/>
          <a:lstStyle/>
          <a:p>
            <a:pPr indent="0" marL="0">
              <a:buNone/>
            </a:pPr>
            <a:r>
              <a:rPr lang="en-US" sz="950" dirty="0">
                <a:solidFill>
                  <a:srgbClr val="686A82"/>
                </a:solidFill>
                <a:latin typeface="Meiryo UI" pitchFamily="34" charset="0"/>
                <a:ea typeface="Meiryo UI" pitchFamily="34" charset="-122"/>
                <a:cs typeface="Meiryo UI" pitchFamily="34" charset="-120"/>
              </a:rPr>
              <a:t>※立ち上げ期+1〜2件/月、拡大期以降+2〜3件/月と仮定。スポット業務・解約は含まない単純試算です。</a:t>
            </a:r>
            <a:endParaRPr lang="en-US" sz="950" dirty="0"/>
          </a:p>
        </p:txBody>
      </p:sp>
    </p:spTree>
  </p:cSld>
  <p:clrMapOvr>
    <a:masterClrMapping/>
  </p:clrMapOvr>
</p:sld>
</file>

<file path=ppt/slides/slide25.xml><?xml version="1.0" encoding="utf-8"?>
<p:sld xmlns:a="http://schemas.openxmlformats.org/drawingml/2006/main" xmlns:r="http://schemas.openxmlformats.org/officeDocument/2006/relationships" xmlns:p="http://schemas.openxmlformats.org/presentationml/2006/main">
  <p:cSld name="Slide 25">
    <p:bg>
      <p:bgPr>
        <a:solidFill>
          <a:srgbClr val="FFFFFF"/>
        </a:solidFill>
      </p:bgPr>
    </p:bg>
    <p:spTree>
      <p:nvGrpSpPr>
        <p:cNvPr id="1" name=""/>
        <p:cNvGrpSpPr/>
        <p:nvPr/>
      </p:nvGrpSpPr>
      <p:grpSpPr>
        <a:xfrm>
          <a:off x="0" y="0"/>
          <a:ext cx="0" cy="0"/>
          <a:chOff x="0" y="0"/>
          <a:chExt cx="0" cy="0"/>
        </a:xfrm>
      </p:grpSpPr>
      <p:sp>
        <p:nvSpPr>
          <p:cNvPr id="2" name="Text 0"/>
          <p:cNvSpPr txBox="1"/>
          <p:nvPr/>
        </p:nvSpPr>
        <p:spPr>
          <a:xfrm>
            <a:off x="548640" y="347472"/>
            <a:ext cx="7315200" cy="274320"/>
          </a:xfrm>
          <a:prstGeom prst="rect">
            <a:avLst/>
          </a:prstGeom>
          <a:noFill/>
          <a:ln/>
        </p:spPr>
        <p:txBody>
          <a:bodyPr wrap="square" lIns="0" tIns="0" rIns="0" bIns="0" rtlCol="0" anchor="t"/>
          <a:lstStyle/>
          <a:p>
            <a:pPr indent="0" marL="0">
              <a:buNone/>
            </a:pPr>
            <a:r>
              <a:rPr lang="en-US" sz="1100" b="1" spc="200" kern="0" dirty="0">
                <a:solidFill>
                  <a:srgbClr val="A87A1C"/>
                </a:solidFill>
                <a:latin typeface="Meiryo UI" pitchFamily="34" charset="0"/>
                <a:ea typeface="Meiryo UI" pitchFamily="34" charset="-122"/>
                <a:cs typeface="Meiryo UI" pitchFamily="34" charset="-120"/>
              </a:rPr>
              <a:t>07｜NEXT STEP</a:t>
            </a:r>
            <a:endParaRPr lang="en-US" sz="1100" dirty="0"/>
          </a:p>
        </p:txBody>
      </p:sp>
      <p:sp>
        <p:nvSpPr>
          <p:cNvPr id="3" name="Text 1"/>
          <p:cNvSpPr txBox="1"/>
          <p:nvPr/>
        </p:nvSpPr>
        <p:spPr>
          <a:xfrm>
            <a:off x="548640" y="621792"/>
            <a:ext cx="11094415" cy="566928"/>
          </a:xfrm>
          <a:prstGeom prst="rect">
            <a:avLst/>
          </a:prstGeom>
          <a:noFill/>
          <a:ln/>
        </p:spPr>
        <p:txBody>
          <a:bodyPr wrap="square" lIns="0" tIns="0" rIns="0" bIns="0" rtlCol="0" anchor="ctr"/>
          <a:lstStyle/>
          <a:p>
            <a:pPr indent="0" marL="0">
              <a:buNone/>
            </a:pPr>
            <a:r>
              <a:rPr lang="en-US" sz="2600" b="1" dirty="0">
                <a:solidFill>
                  <a:srgbClr val="3A3F73"/>
                </a:solidFill>
                <a:latin typeface="Meiryo UI" pitchFamily="34" charset="0"/>
                <a:ea typeface="Meiryo UI" pitchFamily="34" charset="-122"/>
                <a:cs typeface="Meiryo UI" pitchFamily="34" charset="-120"/>
              </a:rPr>
              <a:t>今後のスケジュール：次回お打ち合わせからご契約・本格始動へ</a:t>
            </a:r>
            <a:endParaRPr lang="en-US" sz="2600" dirty="0"/>
          </a:p>
        </p:txBody>
      </p:sp>
      <p:sp>
        <p:nvSpPr>
          <p:cNvPr id="4" name="Text 2"/>
          <p:cNvSpPr txBox="1"/>
          <p:nvPr/>
        </p:nvSpPr>
        <p:spPr>
          <a:xfrm>
            <a:off x="11094415" y="6419088"/>
            <a:ext cx="548640" cy="256032"/>
          </a:xfrm>
          <a:prstGeom prst="rect">
            <a:avLst/>
          </a:prstGeom>
          <a:noFill/>
          <a:ln/>
        </p:spPr>
        <p:txBody>
          <a:bodyPr wrap="square" lIns="0" tIns="0" rIns="0" bIns="0" rtlCol="0" anchor="t"/>
          <a:lstStyle/>
          <a:p>
            <a:pPr algn="r" indent="0" marL="0">
              <a:buNone/>
            </a:pPr>
            <a:r>
              <a:rPr lang="en-US" sz="1000" dirty="0">
                <a:solidFill>
                  <a:srgbClr val="7C7E90"/>
                </a:solidFill>
                <a:latin typeface="Meiryo UI" pitchFamily="34" charset="0"/>
                <a:ea typeface="Meiryo UI" pitchFamily="34" charset="-122"/>
                <a:cs typeface="Meiryo UI" pitchFamily="34" charset="-120"/>
              </a:rPr>
              <a:t>25</a:t>
            </a:r>
            <a:endParaRPr lang="en-US" sz="1000" dirty="0"/>
          </a:p>
        </p:txBody>
      </p:sp>
      <p:sp>
        <p:nvSpPr>
          <p:cNvPr id="5" name="Text 3"/>
          <p:cNvSpPr txBox="1"/>
          <p:nvPr/>
        </p:nvSpPr>
        <p:spPr>
          <a:xfrm>
            <a:off x="548640" y="6419088"/>
            <a:ext cx="4572000" cy="256032"/>
          </a:xfrm>
          <a:prstGeom prst="rect">
            <a:avLst/>
          </a:prstGeom>
          <a:noFill/>
          <a:ln/>
        </p:spPr>
        <p:txBody>
          <a:bodyPr wrap="square" lIns="0" tIns="0" rIns="0" bIns="0" rtlCol="0" anchor="t"/>
          <a:lstStyle/>
          <a:p>
            <a:pPr indent="0" marL="0">
              <a:buNone/>
            </a:pPr>
            <a:r>
              <a:rPr lang="en-US" sz="900" dirty="0">
                <a:solidFill>
                  <a:srgbClr val="7C7E90"/>
                </a:solidFill>
                <a:latin typeface="Meiryo UI" pitchFamily="34" charset="0"/>
                <a:ea typeface="Meiryo UI" pitchFamily="34" charset="-122"/>
                <a:cs typeface="Meiryo UI" pitchFamily="34" charset="-120"/>
              </a:rPr>
              <a:t>株式会社アイドマ・ホールディングス｜MiTok</a:t>
            </a:r>
            <a:endParaRPr lang="en-US" sz="900" dirty="0"/>
          </a:p>
        </p:txBody>
      </p:sp>
      <p:sp>
        <p:nvSpPr>
          <p:cNvPr id="6" name="Shape 4"/>
          <p:cNvSpPr/>
          <p:nvPr/>
        </p:nvSpPr>
        <p:spPr>
          <a:xfrm>
            <a:off x="1242041" y="1874520"/>
            <a:ext cx="9707613" cy="0"/>
          </a:xfrm>
          <a:prstGeom prst="line">
            <a:avLst/>
          </a:prstGeom>
          <a:noFill/>
          <a:ln w="25400">
            <a:solidFill>
              <a:srgbClr val="CDCFE3"/>
            </a:solidFill>
            <a:prstDash val="solid"/>
          </a:ln>
        </p:spPr>
      </p:sp>
      <p:sp>
        <p:nvSpPr>
          <p:cNvPr id="7" name="Shape 5"/>
          <p:cNvSpPr/>
          <p:nvPr/>
        </p:nvSpPr>
        <p:spPr>
          <a:xfrm>
            <a:off x="1086593" y="1719072"/>
            <a:ext cx="310896" cy="310896"/>
          </a:xfrm>
          <a:prstGeom prst="ellipse">
            <a:avLst/>
          </a:prstGeom>
          <a:solidFill>
            <a:srgbClr val="A87A1C"/>
          </a:solidFill>
          <a:ln w="25400">
            <a:solidFill>
              <a:srgbClr val="FFFFFF"/>
            </a:solidFill>
            <a:prstDash val="solid"/>
          </a:ln>
        </p:spPr>
      </p:sp>
      <p:sp>
        <p:nvSpPr>
          <p:cNvPr id="8" name="Text 6"/>
          <p:cNvSpPr txBox="1"/>
          <p:nvPr/>
        </p:nvSpPr>
        <p:spPr>
          <a:xfrm>
            <a:off x="585216" y="2194560"/>
            <a:ext cx="1313650" cy="502920"/>
          </a:xfrm>
          <a:prstGeom prst="rect">
            <a:avLst/>
          </a:prstGeom>
          <a:noFill/>
          <a:ln/>
        </p:spPr>
        <p:txBody>
          <a:bodyPr wrap="square" lIns="0" tIns="0" rIns="0" bIns="0" rtlCol="0" anchor="ctr"/>
          <a:lstStyle/>
          <a:p>
            <a:pPr algn="ctr" indent="0" marL="0">
              <a:buNone/>
            </a:pPr>
            <a:r>
              <a:rPr lang="en-US" sz="1200" b="1" dirty="0">
                <a:solidFill>
                  <a:srgbClr val="A87A1C"/>
                </a:solidFill>
                <a:latin typeface="Meiryo UI" pitchFamily="34" charset="0"/>
                <a:ea typeface="Meiryo UI" pitchFamily="34" charset="-122"/>
                <a:cs typeface="Meiryo UI" pitchFamily="34" charset="-120"/>
              </a:rPr>
              <a:t>本日</a:t>
            </a:r>
            <a:endParaRPr lang="en-US" sz="1200" dirty="0"/>
          </a:p>
        </p:txBody>
      </p:sp>
      <p:sp>
        <p:nvSpPr>
          <p:cNvPr id="9" name="Text 7"/>
          <p:cNvSpPr txBox="1"/>
          <p:nvPr/>
        </p:nvSpPr>
        <p:spPr>
          <a:xfrm>
            <a:off x="585216" y="2697480"/>
            <a:ext cx="1313650" cy="731520"/>
          </a:xfrm>
          <a:prstGeom prst="rect">
            <a:avLst/>
          </a:prstGeom>
          <a:noFill/>
          <a:ln/>
        </p:spPr>
        <p:txBody>
          <a:bodyPr wrap="square" lIns="0" tIns="0" rIns="0" bIns="0" rtlCol="0" anchor="t"/>
          <a:lstStyle/>
          <a:p>
            <a:pPr algn="ctr" indent="0" marL="0">
              <a:buNone/>
            </a:pPr>
            <a:r>
              <a:rPr lang="en-US" sz="1050" dirty="0">
                <a:solidFill>
                  <a:srgbClr val="2A2B38"/>
                </a:solidFill>
                <a:latin typeface="Meiryo UI" pitchFamily="34" charset="0"/>
                <a:ea typeface="Meiryo UI" pitchFamily="34" charset="-122"/>
                <a:cs typeface="Meiryo UI" pitchFamily="34" charset="-120"/>
              </a:rPr>
              <a:t>課題・現状数値の</a:t>
            </a:r>
            <a:endParaRPr lang="en-US" sz="1050" dirty="0"/>
          </a:p>
          <a:p>
            <a:pPr algn="ctr" indent="0" marL="0">
              <a:buNone/>
            </a:pPr>
            <a:r>
              <a:rPr lang="en-US" sz="1050" dirty="0">
                <a:solidFill>
                  <a:srgbClr val="2A2B38"/>
                </a:solidFill>
                <a:latin typeface="Meiryo UI" pitchFamily="34" charset="0"/>
                <a:ea typeface="Meiryo UI" pitchFamily="34" charset="-122"/>
                <a:cs typeface="Meiryo UI" pitchFamily="34" charset="-120"/>
              </a:rPr>
              <a:t>ヒアリング</a:t>
            </a:r>
            <a:endParaRPr lang="en-US" sz="1050" dirty="0"/>
          </a:p>
        </p:txBody>
      </p:sp>
      <p:sp>
        <p:nvSpPr>
          <p:cNvPr id="10" name="Shape 8"/>
          <p:cNvSpPr/>
          <p:nvPr/>
        </p:nvSpPr>
        <p:spPr>
          <a:xfrm>
            <a:off x="2473395" y="1719072"/>
            <a:ext cx="310896" cy="310896"/>
          </a:xfrm>
          <a:prstGeom prst="ellipse">
            <a:avLst/>
          </a:prstGeom>
          <a:solidFill>
            <a:srgbClr val="A87A1C"/>
          </a:solidFill>
          <a:ln w="25400">
            <a:solidFill>
              <a:srgbClr val="FFFFFF"/>
            </a:solidFill>
            <a:prstDash val="solid"/>
          </a:ln>
        </p:spPr>
      </p:sp>
      <p:sp>
        <p:nvSpPr>
          <p:cNvPr id="11" name="Text 9"/>
          <p:cNvSpPr txBox="1"/>
          <p:nvPr/>
        </p:nvSpPr>
        <p:spPr>
          <a:xfrm>
            <a:off x="1972018" y="2194560"/>
            <a:ext cx="1313650" cy="502920"/>
          </a:xfrm>
          <a:prstGeom prst="rect">
            <a:avLst/>
          </a:prstGeom>
          <a:noFill/>
          <a:ln/>
        </p:spPr>
        <p:txBody>
          <a:bodyPr wrap="square" lIns="0" tIns="0" rIns="0" bIns="0" rtlCol="0" anchor="ctr"/>
          <a:lstStyle/>
          <a:p>
            <a:pPr algn="ctr" indent="0" marL="0">
              <a:buNone/>
            </a:pPr>
            <a:r>
              <a:rPr lang="en-US" sz="1200" b="1" dirty="0">
                <a:solidFill>
                  <a:srgbClr val="A87A1C"/>
                </a:solidFill>
                <a:latin typeface="Meiryo UI" pitchFamily="34" charset="0"/>
                <a:ea typeface="Meiryo UI" pitchFamily="34" charset="-122"/>
                <a:cs typeface="Meiryo UI" pitchFamily="34" charset="-120"/>
              </a:rPr>
              <a:t>次回打ち合わせ</a:t>
            </a:r>
            <a:endParaRPr lang="en-US" sz="1200" dirty="0"/>
          </a:p>
        </p:txBody>
      </p:sp>
      <p:sp>
        <p:nvSpPr>
          <p:cNvPr id="12" name="Text 10"/>
          <p:cNvSpPr txBox="1"/>
          <p:nvPr/>
        </p:nvSpPr>
        <p:spPr>
          <a:xfrm>
            <a:off x="1972018" y="2697480"/>
            <a:ext cx="1313650" cy="731520"/>
          </a:xfrm>
          <a:prstGeom prst="rect">
            <a:avLst/>
          </a:prstGeom>
          <a:noFill/>
          <a:ln/>
        </p:spPr>
        <p:txBody>
          <a:bodyPr wrap="square" lIns="0" tIns="0" rIns="0" bIns="0" rtlCol="0" anchor="t"/>
          <a:lstStyle/>
          <a:p>
            <a:pPr algn="ctr" indent="0" marL="0">
              <a:buNone/>
            </a:pPr>
            <a:r>
              <a:rPr lang="en-US" sz="1050" dirty="0">
                <a:solidFill>
                  <a:srgbClr val="2A2B38"/>
                </a:solidFill>
                <a:latin typeface="Meiryo UI" pitchFamily="34" charset="0"/>
                <a:ea typeface="Meiryo UI" pitchFamily="34" charset="-122"/>
                <a:cs typeface="Meiryo UI" pitchFamily="34" charset="-120"/>
              </a:rPr>
              <a:t>試算の確定</a:t>
            </a:r>
            <a:endParaRPr lang="en-US" sz="1050" dirty="0"/>
          </a:p>
          <a:p>
            <a:pPr algn="ctr" indent="0" marL="0">
              <a:buNone/>
            </a:pPr>
            <a:r>
              <a:rPr lang="en-US" sz="1050" dirty="0">
                <a:solidFill>
                  <a:srgbClr val="2A2B38"/>
                </a:solidFill>
                <a:latin typeface="Meiryo UI" pitchFamily="34" charset="0"/>
                <a:ea typeface="Meiryo UI" pitchFamily="34" charset="-122"/>
                <a:cs typeface="Meiryo UI" pitchFamily="34" charset="-120"/>
              </a:rPr>
              <a:t>目標合意・正式提案</a:t>
            </a:r>
            <a:endParaRPr lang="en-US" sz="1050" dirty="0"/>
          </a:p>
        </p:txBody>
      </p:sp>
      <p:sp>
        <p:nvSpPr>
          <p:cNvPr id="13" name="Shape 11"/>
          <p:cNvSpPr/>
          <p:nvPr/>
        </p:nvSpPr>
        <p:spPr>
          <a:xfrm>
            <a:off x="3860197" y="1719072"/>
            <a:ext cx="310896" cy="310896"/>
          </a:xfrm>
          <a:prstGeom prst="ellipse">
            <a:avLst/>
          </a:prstGeom>
          <a:solidFill>
            <a:srgbClr val="3A3F73"/>
          </a:solidFill>
          <a:ln w="25400">
            <a:solidFill>
              <a:srgbClr val="FFFFFF"/>
            </a:solidFill>
            <a:prstDash val="solid"/>
          </a:ln>
        </p:spPr>
      </p:sp>
      <p:sp>
        <p:nvSpPr>
          <p:cNvPr id="14" name="Text 12"/>
          <p:cNvSpPr txBox="1"/>
          <p:nvPr/>
        </p:nvSpPr>
        <p:spPr>
          <a:xfrm>
            <a:off x="3358820" y="2194560"/>
            <a:ext cx="1313650" cy="502920"/>
          </a:xfrm>
          <a:prstGeom prst="rect">
            <a:avLst/>
          </a:prstGeom>
          <a:noFill/>
          <a:ln/>
        </p:spPr>
        <p:txBody>
          <a:bodyPr wrap="square" lIns="0" tIns="0" rIns="0" bIns="0" rtlCol="0" anchor="ctr"/>
          <a:lstStyle/>
          <a:p>
            <a:pPr algn="ctr" indent="0" marL="0">
              <a:buNone/>
            </a:pPr>
            <a:r>
              <a:rPr lang="en-US" sz="1200" b="1" dirty="0">
                <a:solidFill>
                  <a:srgbClr val="3A3F73"/>
                </a:solidFill>
                <a:latin typeface="Meiryo UI" pitchFamily="34" charset="0"/>
                <a:ea typeface="Meiryo UI" pitchFamily="34" charset="-122"/>
                <a:cs typeface="Meiryo UI" pitchFamily="34" charset="-120"/>
              </a:rPr>
              <a:t>ご契約〜1週間</a:t>
            </a:r>
            <a:endParaRPr lang="en-US" sz="1200" dirty="0"/>
          </a:p>
        </p:txBody>
      </p:sp>
      <p:sp>
        <p:nvSpPr>
          <p:cNvPr id="15" name="Text 13"/>
          <p:cNvSpPr txBox="1"/>
          <p:nvPr/>
        </p:nvSpPr>
        <p:spPr>
          <a:xfrm>
            <a:off x="3358820" y="2697480"/>
            <a:ext cx="1313650" cy="731520"/>
          </a:xfrm>
          <a:prstGeom prst="rect">
            <a:avLst/>
          </a:prstGeom>
          <a:noFill/>
          <a:ln/>
        </p:spPr>
        <p:txBody>
          <a:bodyPr wrap="square" lIns="0" tIns="0" rIns="0" bIns="0" rtlCol="0" anchor="t"/>
          <a:lstStyle/>
          <a:p>
            <a:pPr algn="ctr" indent="0" marL="0">
              <a:buNone/>
            </a:pPr>
            <a:r>
              <a:rPr lang="en-US" sz="1050" dirty="0">
                <a:solidFill>
                  <a:srgbClr val="2A2B38"/>
                </a:solidFill>
                <a:latin typeface="Meiryo UI" pitchFamily="34" charset="0"/>
                <a:ea typeface="Meiryo UI" pitchFamily="34" charset="-122"/>
                <a:cs typeface="Meiryo UI" pitchFamily="34" charset="-120"/>
              </a:rPr>
              <a:t>キックオフ</a:t>
            </a:r>
            <a:endParaRPr lang="en-US" sz="1050" dirty="0"/>
          </a:p>
          <a:p>
            <a:pPr algn="ctr" indent="0" marL="0">
              <a:buNone/>
            </a:pPr>
            <a:r>
              <a:rPr lang="en-US" sz="1050" dirty="0">
                <a:solidFill>
                  <a:srgbClr val="2A2B38"/>
                </a:solidFill>
                <a:latin typeface="Meiryo UI" pitchFamily="34" charset="0"/>
                <a:ea typeface="Meiryo UI" pitchFamily="34" charset="-122"/>
                <a:cs typeface="Meiryo UI" pitchFamily="34" charset="-120"/>
              </a:rPr>
              <a:t>KPI設定・素材確認</a:t>
            </a:r>
            <a:endParaRPr lang="en-US" sz="1050" dirty="0"/>
          </a:p>
        </p:txBody>
      </p:sp>
      <p:sp>
        <p:nvSpPr>
          <p:cNvPr id="16" name="Shape 14"/>
          <p:cNvSpPr/>
          <p:nvPr/>
        </p:nvSpPr>
        <p:spPr>
          <a:xfrm>
            <a:off x="5246999" y="1719072"/>
            <a:ext cx="310896" cy="310896"/>
          </a:xfrm>
          <a:prstGeom prst="ellipse">
            <a:avLst/>
          </a:prstGeom>
          <a:solidFill>
            <a:srgbClr val="3A3F73"/>
          </a:solidFill>
          <a:ln w="25400">
            <a:solidFill>
              <a:srgbClr val="FFFFFF"/>
            </a:solidFill>
            <a:prstDash val="solid"/>
          </a:ln>
        </p:spPr>
      </p:sp>
      <p:sp>
        <p:nvSpPr>
          <p:cNvPr id="17" name="Text 15"/>
          <p:cNvSpPr txBox="1"/>
          <p:nvPr/>
        </p:nvSpPr>
        <p:spPr>
          <a:xfrm>
            <a:off x="4745622" y="2194560"/>
            <a:ext cx="1313650" cy="502920"/>
          </a:xfrm>
          <a:prstGeom prst="rect">
            <a:avLst/>
          </a:prstGeom>
          <a:noFill/>
          <a:ln/>
        </p:spPr>
        <p:txBody>
          <a:bodyPr wrap="square" lIns="0" tIns="0" rIns="0" bIns="0" rtlCol="0" anchor="ctr"/>
          <a:lstStyle/>
          <a:p>
            <a:pPr algn="ctr" indent="0" marL="0">
              <a:buNone/>
            </a:pPr>
            <a:r>
              <a:rPr lang="en-US" sz="1200" b="1" dirty="0">
                <a:solidFill>
                  <a:srgbClr val="3A3F73"/>
                </a:solidFill>
                <a:latin typeface="Meiryo UI" pitchFamily="34" charset="0"/>
                <a:ea typeface="Meiryo UI" pitchFamily="34" charset="-122"/>
                <a:cs typeface="Meiryo UI" pitchFamily="34" charset="-120"/>
              </a:rPr>
              <a:t>〜2週間</a:t>
            </a:r>
            <a:endParaRPr lang="en-US" sz="1200" dirty="0"/>
          </a:p>
        </p:txBody>
      </p:sp>
      <p:sp>
        <p:nvSpPr>
          <p:cNvPr id="18" name="Text 16"/>
          <p:cNvSpPr txBox="1"/>
          <p:nvPr/>
        </p:nvSpPr>
        <p:spPr>
          <a:xfrm>
            <a:off x="4745622" y="2697480"/>
            <a:ext cx="1313650" cy="731520"/>
          </a:xfrm>
          <a:prstGeom prst="rect">
            <a:avLst/>
          </a:prstGeom>
          <a:noFill/>
          <a:ln/>
        </p:spPr>
        <p:txBody>
          <a:bodyPr wrap="square" lIns="0" tIns="0" rIns="0" bIns="0" rtlCol="0" anchor="t"/>
          <a:lstStyle/>
          <a:p>
            <a:pPr algn="ctr" indent="0" marL="0">
              <a:buNone/>
            </a:pPr>
            <a:r>
              <a:rPr lang="en-US" sz="1050" dirty="0">
                <a:solidFill>
                  <a:srgbClr val="2A2B38"/>
                </a:solidFill>
                <a:latin typeface="Meiryo UI" pitchFamily="34" charset="0"/>
                <a:ea typeface="Meiryo UI" pitchFamily="34" charset="-122"/>
                <a:cs typeface="Meiryo UI" pitchFamily="34" charset="-120"/>
              </a:rPr>
              <a:t>無料3本の</a:t>
            </a:r>
            <a:endParaRPr lang="en-US" sz="1050" dirty="0"/>
          </a:p>
          <a:p>
            <a:pPr algn="ctr" indent="0" marL="0">
              <a:buNone/>
            </a:pPr>
            <a:r>
              <a:rPr lang="en-US" sz="1050" dirty="0">
                <a:solidFill>
                  <a:srgbClr val="2A2B38"/>
                </a:solidFill>
                <a:latin typeface="Meiryo UI" pitchFamily="34" charset="0"/>
                <a:ea typeface="Meiryo UI" pitchFamily="34" charset="-122"/>
                <a:cs typeface="Meiryo UI" pitchFamily="34" charset="-120"/>
              </a:rPr>
              <a:t>初稿提出・修正</a:t>
            </a:r>
            <a:endParaRPr lang="en-US" sz="1050" dirty="0"/>
          </a:p>
        </p:txBody>
      </p:sp>
      <p:sp>
        <p:nvSpPr>
          <p:cNvPr id="19" name="Shape 17"/>
          <p:cNvSpPr/>
          <p:nvPr/>
        </p:nvSpPr>
        <p:spPr>
          <a:xfrm>
            <a:off x="6633801" y="1719072"/>
            <a:ext cx="310896" cy="310896"/>
          </a:xfrm>
          <a:prstGeom prst="ellipse">
            <a:avLst/>
          </a:prstGeom>
          <a:solidFill>
            <a:srgbClr val="3A3F73"/>
          </a:solidFill>
          <a:ln w="25400">
            <a:solidFill>
              <a:srgbClr val="FFFFFF"/>
            </a:solidFill>
            <a:prstDash val="solid"/>
          </a:ln>
        </p:spPr>
      </p:sp>
      <p:sp>
        <p:nvSpPr>
          <p:cNvPr id="20" name="Text 18"/>
          <p:cNvSpPr txBox="1"/>
          <p:nvPr/>
        </p:nvSpPr>
        <p:spPr>
          <a:xfrm>
            <a:off x="6132424" y="2194560"/>
            <a:ext cx="1313650" cy="502920"/>
          </a:xfrm>
          <a:prstGeom prst="rect">
            <a:avLst/>
          </a:prstGeom>
          <a:noFill/>
          <a:ln/>
        </p:spPr>
        <p:txBody>
          <a:bodyPr wrap="square" lIns="0" tIns="0" rIns="0" bIns="0" rtlCol="0" anchor="ctr"/>
          <a:lstStyle/>
          <a:p>
            <a:pPr algn="ctr" indent="0" marL="0">
              <a:buNone/>
            </a:pPr>
            <a:r>
              <a:rPr lang="en-US" sz="1200" b="1" dirty="0">
                <a:solidFill>
                  <a:srgbClr val="3A3F73"/>
                </a:solidFill>
                <a:latin typeface="Meiryo UI" pitchFamily="34" charset="0"/>
                <a:ea typeface="Meiryo UI" pitchFamily="34" charset="-122"/>
                <a:cs typeface="Meiryo UI" pitchFamily="34" charset="-120"/>
              </a:rPr>
              <a:t>3〜5週目</a:t>
            </a:r>
            <a:endParaRPr lang="en-US" sz="1200" dirty="0"/>
          </a:p>
        </p:txBody>
      </p:sp>
      <p:sp>
        <p:nvSpPr>
          <p:cNvPr id="21" name="Text 19"/>
          <p:cNvSpPr txBox="1"/>
          <p:nvPr/>
        </p:nvSpPr>
        <p:spPr>
          <a:xfrm>
            <a:off x="6132424" y="2697480"/>
            <a:ext cx="1313650" cy="731520"/>
          </a:xfrm>
          <a:prstGeom prst="rect">
            <a:avLst/>
          </a:prstGeom>
          <a:noFill/>
          <a:ln/>
        </p:spPr>
        <p:txBody>
          <a:bodyPr wrap="square" lIns="0" tIns="0" rIns="0" bIns="0" rtlCol="0" anchor="t"/>
          <a:lstStyle/>
          <a:p>
            <a:pPr algn="ctr" indent="0" marL="0">
              <a:buNone/>
            </a:pPr>
            <a:r>
              <a:rPr lang="en-US" sz="1050" dirty="0">
                <a:solidFill>
                  <a:srgbClr val="2A2B38"/>
                </a:solidFill>
                <a:latin typeface="Meiryo UI" pitchFamily="34" charset="0"/>
                <a:ea typeface="Meiryo UI" pitchFamily="34" charset="-122"/>
                <a:cs typeface="Meiryo UI" pitchFamily="34" charset="-120"/>
              </a:rPr>
              <a:t>配信・送付の実行</a:t>
            </a:r>
            <a:endParaRPr lang="en-US" sz="1050" dirty="0"/>
          </a:p>
          <a:p>
            <a:pPr algn="ctr" indent="0" marL="0">
              <a:buNone/>
            </a:pPr>
            <a:r>
              <a:rPr lang="en-US" sz="1050" dirty="0">
                <a:solidFill>
                  <a:srgbClr val="2A2B38"/>
                </a:solidFill>
                <a:latin typeface="Meiryo UI" pitchFamily="34" charset="0"/>
                <a:ea typeface="Meiryo UI" pitchFamily="34" charset="-122"/>
                <a:cs typeface="Meiryo UI" pitchFamily="34" charset="-120"/>
              </a:rPr>
              <a:t>（KPI計測開始）</a:t>
            </a:r>
            <a:endParaRPr lang="en-US" sz="1050" dirty="0"/>
          </a:p>
        </p:txBody>
      </p:sp>
      <p:sp>
        <p:nvSpPr>
          <p:cNvPr id="22" name="Shape 20"/>
          <p:cNvSpPr/>
          <p:nvPr/>
        </p:nvSpPr>
        <p:spPr>
          <a:xfrm>
            <a:off x="8020602" y="1719072"/>
            <a:ext cx="310896" cy="310896"/>
          </a:xfrm>
          <a:prstGeom prst="ellipse">
            <a:avLst/>
          </a:prstGeom>
          <a:solidFill>
            <a:srgbClr val="3A3F73"/>
          </a:solidFill>
          <a:ln w="25400">
            <a:solidFill>
              <a:srgbClr val="FFFFFF"/>
            </a:solidFill>
            <a:prstDash val="solid"/>
          </a:ln>
        </p:spPr>
      </p:sp>
      <p:sp>
        <p:nvSpPr>
          <p:cNvPr id="23" name="Text 21"/>
          <p:cNvSpPr txBox="1"/>
          <p:nvPr/>
        </p:nvSpPr>
        <p:spPr>
          <a:xfrm>
            <a:off x="7519226" y="2194560"/>
            <a:ext cx="1313650" cy="502920"/>
          </a:xfrm>
          <a:prstGeom prst="rect">
            <a:avLst/>
          </a:prstGeom>
          <a:noFill/>
          <a:ln/>
        </p:spPr>
        <p:txBody>
          <a:bodyPr wrap="square" lIns="0" tIns="0" rIns="0" bIns="0" rtlCol="0" anchor="ctr"/>
          <a:lstStyle/>
          <a:p>
            <a:pPr algn="ctr" indent="0" marL="0">
              <a:buNone/>
            </a:pPr>
            <a:r>
              <a:rPr lang="en-US" sz="1200" b="1" dirty="0">
                <a:solidFill>
                  <a:srgbClr val="3A3F73"/>
                </a:solidFill>
                <a:latin typeface="Meiryo UI" pitchFamily="34" charset="0"/>
                <a:ea typeface="Meiryo UI" pitchFamily="34" charset="-122"/>
                <a:cs typeface="Meiryo UI" pitchFamily="34" charset="-120"/>
              </a:rPr>
              <a:t>6週目</a:t>
            </a:r>
            <a:endParaRPr lang="en-US" sz="1200" dirty="0"/>
          </a:p>
        </p:txBody>
      </p:sp>
      <p:sp>
        <p:nvSpPr>
          <p:cNvPr id="24" name="Text 22"/>
          <p:cNvSpPr txBox="1"/>
          <p:nvPr/>
        </p:nvSpPr>
        <p:spPr>
          <a:xfrm>
            <a:off x="7519226" y="2697480"/>
            <a:ext cx="1313650" cy="731520"/>
          </a:xfrm>
          <a:prstGeom prst="rect">
            <a:avLst/>
          </a:prstGeom>
          <a:noFill/>
          <a:ln/>
        </p:spPr>
        <p:txBody>
          <a:bodyPr wrap="square" lIns="0" tIns="0" rIns="0" bIns="0" rtlCol="0" anchor="t"/>
          <a:lstStyle/>
          <a:p>
            <a:pPr algn="ctr" indent="0" marL="0">
              <a:buNone/>
            </a:pPr>
            <a:r>
              <a:rPr lang="en-US" sz="1050" dirty="0">
                <a:solidFill>
                  <a:srgbClr val="2A2B38"/>
                </a:solidFill>
                <a:latin typeface="Meiryo UI" pitchFamily="34" charset="0"/>
                <a:ea typeface="Meiryo UI" pitchFamily="34" charset="-122"/>
                <a:cs typeface="Meiryo UI" pitchFamily="34" charset="-120"/>
              </a:rPr>
              <a:t>効果検証レポート会</a:t>
            </a:r>
            <a:endParaRPr lang="en-US" sz="1050" dirty="0"/>
          </a:p>
          <a:p>
            <a:pPr algn="ctr" indent="0" marL="0">
              <a:buNone/>
            </a:pPr>
            <a:r>
              <a:rPr lang="en-US" sz="1050" dirty="0">
                <a:solidFill>
                  <a:srgbClr val="2A2B38"/>
                </a:solidFill>
                <a:latin typeface="Meiryo UI" pitchFamily="34" charset="0"/>
                <a:ea typeface="Meiryo UI" pitchFamily="34" charset="-122"/>
                <a:cs typeface="Meiryo UI" pitchFamily="34" charset="-120"/>
              </a:rPr>
              <a:t>→ フェーズ2へ</a:t>
            </a:r>
            <a:endParaRPr lang="en-US" sz="1050" dirty="0"/>
          </a:p>
        </p:txBody>
      </p:sp>
      <p:sp>
        <p:nvSpPr>
          <p:cNvPr id="25" name="Shape 23"/>
          <p:cNvSpPr/>
          <p:nvPr/>
        </p:nvSpPr>
        <p:spPr>
          <a:xfrm>
            <a:off x="9407404" y="1719072"/>
            <a:ext cx="310896" cy="310896"/>
          </a:xfrm>
          <a:prstGeom prst="ellipse">
            <a:avLst/>
          </a:prstGeom>
          <a:solidFill>
            <a:srgbClr val="262A52"/>
          </a:solidFill>
          <a:ln w="25400">
            <a:solidFill>
              <a:srgbClr val="FFFFFF"/>
            </a:solidFill>
            <a:prstDash val="solid"/>
          </a:ln>
        </p:spPr>
      </p:sp>
      <p:sp>
        <p:nvSpPr>
          <p:cNvPr id="26" name="Text 24"/>
          <p:cNvSpPr txBox="1"/>
          <p:nvPr/>
        </p:nvSpPr>
        <p:spPr>
          <a:xfrm>
            <a:off x="8906027" y="2194560"/>
            <a:ext cx="1313650" cy="502920"/>
          </a:xfrm>
          <a:prstGeom prst="rect">
            <a:avLst/>
          </a:prstGeom>
          <a:noFill/>
          <a:ln/>
        </p:spPr>
        <p:txBody>
          <a:bodyPr wrap="square" lIns="0" tIns="0" rIns="0" bIns="0" rtlCol="0" anchor="ctr"/>
          <a:lstStyle/>
          <a:p>
            <a:pPr algn="ctr" indent="0" marL="0">
              <a:buNone/>
            </a:pPr>
            <a:r>
              <a:rPr lang="en-US" sz="1200" b="1" dirty="0">
                <a:solidFill>
                  <a:srgbClr val="262A52"/>
                </a:solidFill>
                <a:latin typeface="Meiryo UI" pitchFamily="34" charset="0"/>
                <a:ea typeface="Meiryo UI" pitchFamily="34" charset="-122"/>
                <a:cs typeface="Meiryo UI" pitchFamily="34" charset="-120"/>
              </a:rPr>
              <a:t>1〜3月</a:t>
            </a:r>
            <a:endParaRPr lang="en-US" sz="1200" dirty="0"/>
          </a:p>
        </p:txBody>
      </p:sp>
      <p:sp>
        <p:nvSpPr>
          <p:cNvPr id="27" name="Text 25"/>
          <p:cNvSpPr txBox="1"/>
          <p:nvPr/>
        </p:nvSpPr>
        <p:spPr>
          <a:xfrm>
            <a:off x="8906027" y="2697480"/>
            <a:ext cx="1313650" cy="731520"/>
          </a:xfrm>
          <a:prstGeom prst="rect">
            <a:avLst/>
          </a:prstGeom>
          <a:noFill/>
          <a:ln/>
        </p:spPr>
        <p:txBody>
          <a:bodyPr wrap="square" lIns="0" tIns="0" rIns="0" bIns="0" rtlCol="0" anchor="t"/>
          <a:lstStyle/>
          <a:p>
            <a:pPr algn="ctr" indent="0" marL="0">
              <a:buNone/>
            </a:pPr>
            <a:r>
              <a:rPr lang="en-US" sz="1050" dirty="0">
                <a:solidFill>
                  <a:srgbClr val="2A2B38"/>
                </a:solidFill>
                <a:latin typeface="Meiryo UI" pitchFamily="34" charset="0"/>
                <a:ea typeface="Meiryo UI" pitchFamily="34" charset="-122"/>
                <a:cs typeface="Meiryo UI" pitchFamily="34" charset="-120"/>
              </a:rPr>
              <a:t>確定申告シーズンの</a:t>
            </a:r>
            <a:endParaRPr lang="en-US" sz="1050" dirty="0"/>
          </a:p>
          <a:p>
            <a:pPr algn="ctr" indent="0" marL="0">
              <a:buNone/>
            </a:pPr>
            <a:r>
              <a:rPr lang="en-US" sz="1050" dirty="0">
                <a:solidFill>
                  <a:srgbClr val="2A2B38"/>
                </a:solidFill>
                <a:latin typeface="Meiryo UI" pitchFamily="34" charset="0"/>
                <a:ea typeface="Meiryo UI" pitchFamily="34" charset="-122"/>
                <a:cs typeface="Meiryo UI" pitchFamily="34" charset="-120"/>
              </a:rPr>
              <a:t>個人向け発信</a:t>
            </a:r>
            <a:endParaRPr lang="en-US" sz="1050" dirty="0"/>
          </a:p>
        </p:txBody>
      </p:sp>
      <p:sp>
        <p:nvSpPr>
          <p:cNvPr id="28" name="Shape 26"/>
          <p:cNvSpPr/>
          <p:nvPr/>
        </p:nvSpPr>
        <p:spPr>
          <a:xfrm>
            <a:off x="10794206" y="1719072"/>
            <a:ext cx="310896" cy="310896"/>
          </a:xfrm>
          <a:prstGeom prst="ellipse">
            <a:avLst/>
          </a:prstGeom>
          <a:solidFill>
            <a:srgbClr val="262A52"/>
          </a:solidFill>
          <a:ln w="25400">
            <a:solidFill>
              <a:srgbClr val="FFFFFF"/>
            </a:solidFill>
            <a:prstDash val="solid"/>
          </a:ln>
        </p:spPr>
      </p:sp>
      <p:sp>
        <p:nvSpPr>
          <p:cNvPr id="29" name="Text 27"/>
          <p:cNvSpPr txBox="1"/>
          <p:nvPr/>
        </p:nvSpPr>
        <p:spPr>
          <a:xfrm>
            <a:off x="10292829" y="2194560"/>
            <a:ext cx="1313650" cy="502920"/>
          </a:xfrm>
          <a:prstGeom prst="rect">
            <a:avLst/>
          </a:prstGeom>
          <a:noFill/>
          <a:ln/>
        </p:spPr>
        <p:txBody>
          <a:bodyPr wrap="square" lIns="0" tIns="0" rIns="0" bIns="0" rtlCol="0" anchor="ctr"/>
          <a:lstStyle/>
          <a:p>
            <a:pPr algn="ctr" indent="0" marL="0">
              <a:buNone/>
            </a:pPr>
            <a:r>
              <a:rPr lang="en-US" sz="1200" b="1" dirty="0">
                <a:solidFill>
                  <a:srgbClr val="262A52"/>
                </a:solidFill>
                <a:latin typeface="Meiryo UI" pitchFamily="34" charset="0"/>
                <a:ea typeface="Meiryo UI" pitchFamily="34" charset="-122"/>
                <a:cs typeface="Meiryo UI" pitchFamily="34" charset="-120"/>
              </a:rPr>
              <a:t>12ヶ月目</a:t>
            </a:r>
            <a:endParaRPr lang="en-US" sz="1200" dirty="0"/>
          </a:p>
        </p:txBody>
      </p:sp>
      <p:sp>
        <p:nvSpPr>
          <p:cNvPr id="30" name="Text 28"/>
          <p:cNvSpPr txBox="1"/>
          <p:nvPr/>
        </p:nvSpPr>
        <p:spPr>
          <a:xfrm>
            <a:off x="10292829" y="2697480"/>
            <a:ext cx="1313650" cy="731520"/>
          </a:xfrm>
          <a:prstGeom prst="rect">
            <a:avLst/>
          </a:prstGeom>
          <a:noFill/>
          <a:ln/>
        </p:spPr>
        <p:txBody>
          <a:bodyPr wrap="square" lIns="0" tIns="0" rIns="0" bIns="0" rtlCol="0" anchor="t"/>
          <a:lstStyle/>
          <a:p>
            <a:pPr algn="ctr" indent="0" marL="0">
              <a:buNone/>
            </a:pPr>
            <a:r>
              <a:rPr lang="en-US" sz="1050" dirty="0">
                <a:solidFill>
                  <a:srgbClr val="2A2B38"/>
                </a:solidFill>
                <a:latin typeface="Meiryo UI" pitchFamily="34" charset="0"/>
                <a:ea typeface="Meiryo UI" pitchFamily="34" charset="-122"/>
                <a:cs typeface="Meiryo UI" pitchFamily="34" charset="-120"/>
              </a:rPr>
              <a:t>年間振り返り</a:t>
            </a:r>
            <a:endParaRPr lang="en-US" sz="1050" dirty="0"/>
          </a:p>
          <a:p>
            <a:pPr algn="ctr" indent="0" marL="0">
              <a:buNone/>
            </a:pPr>
            <a:r>
              <a:rPr lang="en-US" sz="1050" dirty="0">
                <a:solidFill>
                  <a:srgbClr val="2A2B38"/>
                </a:solidFill>
                <a:latin typeface="Meiryo UI" pitchFamily="34" charset="0"/>
                <a:ea typeface="Meiryo UI" pitchFamily="34" charset="-122"/>
                <a:cs typeface="Meiryo UI" pitchFamily="34" charset="-120"/>
              </a:rPr>
              <a:t>次年度計画</a:t>
            </a:r>
            <a:endParaRPr lang="en-US" sz="1050" dirty="0"/>
          </a:p>
        </p:txBody>
      </p:sp>
      <p:sp>
        <p:nvSpPr>
          <p:cNvPr id="31" name="Shape 29"/>
          <p:cNvSpPr/>
          <p:nvPr/>
        </p:nvSpPr>
        <p:spPr>
          <a:xfrm>
            <a:off x="1981162" y="1463040"/>
            <a:ext cx="1295362" cy="2057400"/>
          </a:xfrm>
          <a:prstGeom prst="roundRect">
            <a:avLst>
              <a:gd name="adj" fmla="val 7059"/>
            </a:avLst>
          </a:prstGeom>
          <a:solidFill>
            <a:srgbClr val="A87A1C">
              <a:alpha val="12000"/>
            </a:srgbClr>
          </a:solidFill>
          <a:ln w="15875">
            <a:solidFill>
              <a:srgbClr val="A87A1C"/>
            </a:solidFill>
            <a:prstDash val="dash"/>
          </a:ln>
        </p:spPr>
      </p:sp>
      <p:sp>
        <p:nvSpPr>
          <p:cNvPr id="32" name="Shape 30"/>
          <p:cNvSpPr/>
          <p:nvPr/>
        </p:nvSpPr>
        <p:spPr>
          <a:xfrm>
            <a:off x="548640" y="3931920"/>
            <a:ext cx="5410048" cy="2011680"/>
          </a:xfrm>
          <a:prstGeom prst="roundRect">
            <a:avLst>
              <a:gd name="adj" fmla="val 5455"/>
            </a:avLst>
          </a:prstGeom>
          <a:solidFill>
            <a:srgbClr val="FBF3E1"/>
          </a:solidFill>
          <a:ln w="12700">
            <a:solidFill>
              <a:srgbClr val="FBF3E1"/>
            </a:solidFill>
            <a:prstDash val="solid"/>
          </a:ln>
        </p:spPr>
      </p:sp>
      <p:sp>
        <p:nvSpPr>
          <p:cNvPr id="33" name="Shape 31"/>
          <p:cNvSpPr/>
          <p:nvPr/>
        </p:nvSpPr>
        <p:spPr>
          <a:xfrm>
            <a:off x="822960" y="4160520"/>
            <a:ext cx="548640" cy="548640"/>
          </a:xfrm>
          <a:prstGeom prst="ellipse">
            <a:avLst/>
          </a:prstGeom>
          <a:solidFill>
            <a:srgbClr val="A87A1C"/>
          </a:solidFill>
          <a:ln w="12700">
            <a:solidFill>
              <a:srgbClr val="A87A1C"/>
            </a:solidFill>
            <a:prstDash val="solid"/>
          </a:ln>
        </p:spPr>
      </p:sp>
      <p:pic>
        <p:nvPicPr>
          <p:cNvPr id="34" name="Image 0" descr="preencoded.png">    </p:cNvPr>
          <p:cNvPicPr>
            <a:picLocks noChangeAspect="1"/>
          </p:cNvPicPr>
          <p:nvPr/>
        </p:nvPicPr>
        <p:blipFill>
          <a:blip r:embed="rId1"/>
          <a:stretch>
            <a:fillRect/>
          </a:stretch>
        </p:blipFill>
        <p:spPr>
          <a:xfrm>
            <a:off x="965606" y="4303166"/>
            <a:ext cx="263347" cy="263347"/>
          </a:xfrm>
          <a:prstGeom prst="rect">
            <a:avLst/>
          </a:prstGeom>
        </p:spPr>
      </p:pic>
      <p:sp>
        <p:nvSpPr>
          <p:cNvPr id="35" name="Text 32"/>
          <p:cNvSpPr txBox="1"/>
          <p:nvPr/>
        </p:nvSpPr>
        <p:spPr>
          <a:xfrm>
            <a:off x="1508760" y="4160520"/>
            <a:ext cx="4267048" cy="548640"/>
          </a:xfrm>
          <a:prstGeom prst="rect">
            <a:avLst/>
          </a:prstGeom>
          <a:noFill/>
          <a:ln/>
        </p:spPr>
        <p:txBody>
          <a:bodyPr wrap="square" lIns="0" tIns="0" rIns="0" bIns="0" rtlCol="0" anchor="ctr"/>
          <a:lstStyle/>
          <a:p>
            <a:pPr indent="0" marL="0">
              <a:buNone/>
            </a:pPr>
            <a:r>
              <a:rPr lang="en-US" sz="1400" b="1" dirty="0">
                <a:solidFill>
                  <a:srgbClr val="262A52"/>
                </a:solidFill>
                <a:latin typeface="Meiryo UI" pitchFamily="34" charset="0"/>
                <a:ea typeface="Meiryo UI" pitchFamily="34" charset="-122"/>
                <a:cs typeface="Meiryo UI" pitchFamily="34" charset="-120"/>
              </a:rPr>
              <a:t>次回までに貴事務所にご準備いただきたいこと</a:t>
            </a:r>
            <a:endParaRPr lang="en-US" sz="1400" dirty="0"/>
          </a:p>
        </p:txBody>
      </p:sp>
      <p:sp>
        <p:nvSpPr>
          <p:cNvPr id="36" name="Text 33"/>
          <p:cNvSpPr txBox="1"/>
          <p:nvPr/>
        </p:nvSpPr>
        <p:spPr>
          <a:xfrm>
            <a:off x="868680" y="4846320"/>
            <a:ext cx="4769968" cy="1005840"/>
          </a:xfrm>
          <a:prstGeom prst="rect">
            <a:avLst/>
          </a:prstGeom>
          <a:noFill/>
          <a:ln/>
        </p:spPr>
        <p:txBody>
          <a:bodyPr wrap="square" lIns="0" tIns="0" rIns="0" bIns="0" rtlCol="0" anchor="t"/>
          <a:lstStyle/>
          <a:p>
            <a:pPr marL="342900" indent="-342900">
              <a:spcAft>
                <a:spcPts val="600"/>
              </a:spcAft>
              <a:buSzPct val="100000"/>
              <a:buChar char="•"/>
            </a:pPr>
            <a:r>
              <a:rPr lang="en-US" sz="1250" dirty="0">
                <a:solidFill>
                  <a:srgbClr val="2A2B38"/>
                </a:solidFill>
                <a:latin typeface="Meiryo UI" pitchFamily="34" charset="0"/>
                <a:ea typeface="Meiryo UI" pitchFamily="34" charset="-122"/>
                <a:cs typeface="Meiryo UI" pitchFamily="34" charset="-120"/>
              </a:rPr>
              <a:t>現状数値の確認（顧問先数・新規相談件数・報酬の目安）</a:t>
            </a:r>
            <a:endParaRPr lang="en-US" sz="1250" dirty="0"/>
          </a:p>
          <a:p>
            <a:pPr marL="342900" indent="-342900">
              <a:spcAft>
                <a:spcPts val="600"/>
              </a:spcAft>
              <a:buSzPct val="100000"/>
              <a:buChar char="•"/>
            </a:pPr>
            <a:r>
              <a:rPr lang="en-US" sz="1250" dirty="0">
                <a:solidFill>
                  <a:srgbClr val="2A2B38"/>
                </a:solidFill>
                <a:latin typeface="Meiryo UI" pitchFamily="34" charset="0"/>
                <a:ea typeface="Meiryo UI" pitchFamily="34" charset="-122"/>
                <a:cs typeface="Meiryo UI" pitchFamily="34" charset="-120"/>
              </a:rPr>
              <a:t>個人向けサービスの一覧と、動画で伝えたい強み・考え方</a:t>
            </a:r>
            <a:endParaRPr lang="en-US" sz="1250" dirty="0"/>
          </a:p>
          <a:p>
            <a:pPr marL="342900" indent="-342900">
              <a:spcAft>
                <a:spcPts val="600"/>
              </a:spcAft>
              <a:buSzPct val="100000"/>
              <a:buChar char="•"/>
            </a:pPr>
            <a:r>
              <a:rPr lang="en-US" sz="1250" dirty="0">
                <a:solidFill>
                  <a:srgbClr val="2A2B38"/>
                </a:solidFill>
                <a:latin typeface="Meiryo UI" pitchFamily="34" charset="0"/>
                <a:ea typeface="Meiryo UI" pitchFamily="34" charset="-122"/>
                <a:cs typeface="Meiryo UI" pitchFamily="34" charset="-120"/>
              </a:rPr>
              <a:t>ロゴ・事務所やスタッフの写真素材</a:t>
            </a:r>
            <a:endParaRPr lang="en-US" sz="1250" dirty="0"/>
          </a:p>
        </p:txBody>
      </p:sp>
      <p:sp>
        <p:nvSpPr>
          <p:cNvPr id="37" name="Shape 34"/>
          <p:cNvSpPr/>
          <p:nvPr/>
        </p:nvSpPr>
        <p:spPr>
          <a:xfrm>
            <a:off x="6233008" y="3931920"/>
            <a:ext cx="5410048" cy="2011680"/>
          </a:xfrm>
          <a:prstGeom prst="roundRect">
            <a:avLst>
              <a:gd name="adj" fmla="val 5455"/>
            </a:avLst>
          </a:prstGeom>
          <a:solidFill>
            <a:srgbClr val="EEEFF7"/>
          </a:solidFill>
          <a:ln w="12700">
            <a:solidFill>
              <a:srgbClr val="EEEFF7"/>
            </a:solidFill>
            <a:prstDash val="solid"/>
          </a:ln>
        </p:spPr>
      </p:sp>
      <p:sp>
        <p:nvSpPr>
          <p:cNvPr id="38" name="Shape 35"/>
          <p:cNvSpPr/>
          <p:nvPr/>
        </p:nvSpPr>
        <p:spPr>
          <a:xfrm>
            <a:off x="6507328" y="4160520"/>
            <a:ext cx="548640" cy="548640"/>
          </a:xfrm>
          <a:prstGeom prst="ellipse">
            <a:avLst/>
          </a:prstGeom>
          <a:solidFill>
            <a:srgbClr val="3A3F73"/>
          </a:solidFill>
          <a:ln w="12700">
            <a:solidFill>
              <a:srgbClr val="3A3F73"/>
            </a:solidFill>
            <a:prstDash val="solid"/>
          </a:ln>
        </p:spPr>
      </p:sp>
      <p:pic>
        <p:nvPicPr>
          <p:cNvPr id="39" name="Image 1" descr="preencoded.png">    </p:cNvPr>
          <p:cNvPicPr>
            <a:picLocks noChangeAspect="1"/>
          </p:cNvPicPr>
          <p:nvPr/>
        </p:nvPicPr>
        <p:blipFill>
          <a:blip r:embed="rId2"/>
          <a:stretch>
            <a:fillRect/>
          </a:stretch>
        </p:blipFill>
        <p:spPr>
          <a:xfrm>
            <a:off x="6649974" y="4303166"/>
            <a:ext cx="263347" cy="263347"/>
          </a:xfrm>
          <a:prstGeom prst="rect">
            <a:avLst/>
          </a:prstGeom>
        </p:spPr>
      </p:pic>
      <p:sp>
        <p:nvSpPr>
          <p:cNvPr id="40" name="Text 36"/>
          <p:cNvSpPr txBox="1"/>
          <p:nvPr/>
        </p:nvSpPr>
        <p:spPr>
          <a:xfrm>
            <a:off x="7193128" y="4160520"/>
            <a:ext cx="4267048" cy="548640"/>
          </a:xfrm>
          <a:prstGeom prst="rect">
            <a:avLst/>
          </a:prstGeom>
          <a:noFill/>
          <a:ln/>
        </p:spPr>
        <p:txBody>
          <a:bodyPr wrap="square" lIns="0" tIns="0" rIns="0" bIns="0" rtlCol="0" anchor="ctr"/>
          <a:lstStyle/>
          <a:p>
            <a:pPr indent="0" marL="0">
              <a:buNone/>
            </a:pPr>
            <a:r>
              <a:rPr lang="en-US" sz="1400" b="1" dirty="0">
                <a:solidFill>
                  <a:srgbClr val="262A52"/>
                </a:solidFill>
                <a:latin typeface="Meiryo UI" pitchFamily="34" charset="0"/>
                <a:ea typeface="Meiryo UI" pitchFamily="34" charset="-122"/>
                <a:cs typeface="Meiryo UI" pitchFamily="34" charset="-120"/>
              </a:rPr>
              <a:t>次回お打ち合わせで弊社がご提示するもの</a:t>
            </a:r>
            <a:endParaRPr lang="en-US" sz="1400" dirty="0"/>
          </a:p>
        </p:txBody>
      </p:sp>
      <p:sp>
        <p:nvSpPr>
          <p:cNvPr id="41" name="Text 37"/>
          <p:cNvSpPr txBox="1"/>
          <p:nvPr/>
        </p:nvSpPr>
        <p:spPr>
          <a:xfrm>
            <a:off x="6553048" y="4846320"/>
            <a:ext cx="4769968" cy="1005840"/>
          </a:xfrm>
          <a:prstGeom prst="rect">
            <a:avLst/>
          </a:prstGeom>
          <a:noFill/>
          <a:ln/>
        </p:spPr>
        <p:txBody>
          <a:bodyPr wrap="square" lIns="0" tIns="0" rIns="0" bIns="0" rtlCol="0" anchor="t"/>
          <a:lstStyle/>
          <a:p>
            <a:pPr marL="342900" indent="-342900">
              <a:spcAft>
                <a:spcPts val="600"/>
              </a:spcAft>
              <a:buSzPct val="100000"/>
              <a:buChar char="•"/>
            </a:pPr>
            <a:r>
              <a:rPr lang="en-US" sz="1250" dirty="0">
                <a:solidFill>
                  <a:srgbClr val="2A2B38"/>
                </a:solidFill>
                <a:latin typeface="Meiryo UI" pitchFamily="34" charset="0"/>
                <a:ea typeface="Meiryo UI" pitchFamily="34" charset="-122"/>
                <a:cs typeface="Meiryo UI" pitchFamily="34" charset="-120"/>
              </a:rPr>
              <a:t>実数値を反映した目標値シミュレーション（確定版）</a:t>
            </a:r>
            <a:endParaRPr lang="en-US" sz="1250" dirty="0"/>
          </a:p>
          <a:p>
            <a:pPr marL="342900" indent="-342900">
              <a:spcAft>
                <a:spcPts val="600"/>
              </a:spcAft>
              <a:buSzPct val="100000"/>
              <a:buChar char="•"/>
            </a:pPr>
            <a:r>
              <a:rPr lang="en-US" sz="1250" dirty="0">
                <a:solidFill>
                  <a:srgbClr val="2A2B38"/>
                </a:solidFill>
                <a:latin typeface="Meiryo UI" pitchFamily="34" charset="0"/>
                <a:ea typeface="Meiryo UI" pitchFamily="34" charset="-122"/>
                <a:cs typeface="Meiryo UI" pitchFamily="34" charset="-120"/>
              </a:rPr>
              <a:t>無料3本の台本ドラフト（ご送付資料をもとに作成）</a:t>
            </a:r>
            <a:endParaRPr lang="en-US" sz="1250" dirty="0"/>
          </a:p>
          <a:p>
            <a:pPr marL="342900" indent="-342900">
              <a:spcAft>
                <a:spcPts val="600"/>
              </a:spcAft>
              <a:buSzPct val="100000"/>
              <a:buChar char="•"/>
            </a:pPr>
            <a:r>
              <a:rPr lang="en-US" sz="1250" dirty="0">
                <a:solidFill>
                  <a:srgbClr val="2A2B38"/>
                </a:solidFill>
                <a:latin typeface="Meiryo UI" pitchFamily="34" charset="0"/>
                <a:ea typeface="Meiryo UI" pitchFamily="34" charset="-122"/>
                <a:cs typeface="Meiryo UI" pitchFamily="34" charset="-120"/>
              </a:rPr>
              <a:t>Web強化・マンパワー補強の具体的な運用プラン</a:t>
            </a:r>
            <a:endParaRPr lang="en-US" sz="1250" dirty="0"/>
          </a:p>
        </p:txBody>
      </p:sp>
    </p:spTree>
  </p:cSld>
  <p:clrMapOvr>
    <a:masterClrMapping/>
  </p:clrMapOvr>
</p:sld>
</file>

<file path=ppt/slides/slide26.xml><?xml version="1.0" encoding="utf-8"?>
<p:sld xmlns:a="http://schemas.openxmlformats.org/drawingml/2006/main" xmlns:r="http://schemas.openxmlformats.org/officeDocument/2006/relationships" xmlns:p="http://schemas.openxmlformats.org/presentationml/2006/main">
  <p:cSld name="Slide 26">
    <p:bg>
      <p:bgPr>
        <a:solidFill>
          <a:srgbClr val="262A52"/>
        </a:solidFill>
      </p:bgPr>
    </p:bg>
    <p:spTree>
      <p:nvGrpSpPr>
        <p:cNvPr id="1" name=""/>
        <p:cNvGrpSpPr/>
        <p:nvPr/>
      </p:nvGrpSpPr>
      <p:grpSpPr>
        <a:xfrm>
          <a:off x="0" y="0"/>
          <a:ext cx="0" cy="0"/>
          <a:chOff x="0" y="0"/>
          <a:chExt cx="0" cy="0"/>
        </a:xfrm>
      </p:grpSpPr>
      <p:sp>
        <p:nvSpPr>
          <p:cNvPr id="2" name="Shape 0"/>
          <p:cNvSpPr/>
          <p:nvPr/>
        </p:nvSpPr>
        <p:spPr>
          <a:xfrm>
            <a:off x="-1097280" y="3840480"/>
            <a:ext cx="4114800" cy="4114800"/>
          </a:xfrm>
          <a:prstGeom prst="ellipse">
            <a:avLst/>
          </a:prstGeom>
          <a:solidFill>
            <a:srgbClr val="3A3F73"/>
          </a:solidFill>
          <a:ln w="12700">
            <a:solidFill>
              <a:srgbClr val="3A3F73"/>
            </a:solidFill>
            <a:prstDash val="solid"/>
          </a:ln>
        </p:spPr>
      </p:sp>
      <p:sp>
        <p:nvSpPr>
          <p:cNvPr id="3" name="Shape 1"/>
          <p:cNvSpPr/>
          <p:nvPr/>
        </p:nvSpPr>
        <p:spPr>
          <a:xfrm>
            <a:off x="10332720" y="-731520"/>
            <a:ext cx="2377440" cy="2377440"/>
          </a:xfrm>
          <a:prstGeom prst="ellipse">
            <a:avLst/>
          </a:prstGeom>
          <a:solidFill>
            <a:srgbClr val="C8962E">
              <a:alpha val="80000"/>
            </a:srgbClr>
          </a:solidFill>
          <a:ln w="12700">
            <a:solidFill>
              <a:srgbClr val="C8962E"/>
            </a:solidFill>
            <a:prstDash val="solid"/>
          </a:ln>
        </p:spPr>
      </p:sp>
      <p:sp>
        <p:nvSpPr>
          <p:cNvPr id="4" name="Text 2"/>
          <p:cNvSpPr txBox="1"/>
          <p:nvPr/>
        </p:nvSpPr>
        <p:spPr>
          <a:xfrm>
            <a:off x="1097280" y="822960"/>
            <a:ext cx="5486400" cy="365760"/>
          </a:xfrm>
          <a:prstGeom prst="rect">
            <a:avLst/>
          </a:prstGeom>
          <a:noFill/>
          <a:ln/>
        </p:spPr>
        <p:txBody>
          <a:bodyPr wrap="square" lIns="0" tIns="0" rIns="0" bIns="0" rtlCol="0" anchor="t"/>
          <a:lstStyle/>
          <a:p>
            <a:pPr indent="0" marL="0">
              <a:buNone/>
            </a:pPr>
            <a:r>
              <a:rPr lang="en-US" sz="1400" b="1" spc="200" kern="0" dirty="0">
                <a:solidFill>
                  <a:srgbClr val="E8CD85"/>
                </a:solidFill>
                <a:latin typeface="Meiryo UI" pitchFamily="34" charset="0"/>
                <a:ea typeface="Meiryo UI" pitchFamily="34" charset="-122"/>
                <a:cs typeface="Meiryo UI" pitchFamily="34" charset="-120"/>
              </a:rPr>
              <a:t>おわりに</a:t>
            </a:r>
            <a:endParaRPr lang="en-US" sz="1400" dirty="0"/>
          </a:p>
        </p:txBody>
      </p:sp>
      <p:sp>
        <p:nvSpPr>
          <p:cNvPr id="5" name="Text 3"/>
          <p:cNvSpPr txBox="1"/>
          <p:nvPr/>
        </p:nvSpPr>
        <p:spPr>
          <a:xfrm>
            <a:off x="1097280" y="1325880"/>
            <a:ext cx="10058400" cy="1463040"/>
          </a:xfrm>
          <a:prstGeom prst="rect">
            <a:avLst/>
          </a:prstGeom>
          <a:noFill/>
          <a:ln/>
        </p:spPr>
        <p:txBody>
          <a:bodyPr wrap="square" lIns="0" tIns="0" rIns="0" bIns="0" rtlCol="0" anchor="t"/>
          <a:lstStyle/>
          <a:p>
            <a:pPr indent="0" marL="0">
              <a:lnSpc>
                <a:spcPct val="110000"/>
              </a:lnSpc>
              <a:buNone/>
            </a:pPr>
            <a:r>
              <a:rPr lang="en-US" sz="3200" b="1" dirty="0">
                <a:solidFill>
                  <a:srgbClr val="FFFFFF"/>
                </a:solidFill>
                <a:latin typeface="Meiryo UI" pitchFamily="34" charset="0"/>
                <a:ea typeface="Meiryo UI" pitchFamily="34" charset="-122"/>
                <a:cs typeface="Meiryo UI" pitchFamily="34" charset="-120"/>
              </a:rPr>
              <a:t>「動画をつくる」のではなく、</a:t>
            </a:r>
            <a:endParaRPr lang="en-US" sz="3200" dirty="0"/>
          </a:p>
          <a:p>
            <a:pPr indent="0" marL="0">
              <a:lnSpc>
                <a:spcPct val="110000"/>
              </a:lnSpc>
              <a:buNone/>
            </a:pPr>
            <a:r>
              <a:rPr lang="en-US" sz="3200" b="1" dirty="0">
                <a:solidFill>
                  <a:srgbClr val="FFFFFF"/>
                </a:solidFill>
                <a:latin typeface="Meiryo UI" pitchFamily="34" charset="0"/>
                <a:ea typeface="Meiryo UI" pitchFamily="34" charset="-122"/>
                <a:cs typeface="Meiryo UI" pitchFamily="34" charset="-120"/>
              </a:rPr>
              <a:t>「事業を伸ばす」ことにコミットします。</a:t>
            </a:r>
            <a:endParaRPr lang="en-US" sz="3200" dirty="0"/>
          </a:p>
        </p:txBody>
      </p:sp>
      <p:sp>
        <p:nvSpPr>
          <p:cNvPr id="6" name="Text 4"/>
          <p:cNvSpPr txBox="1"/>
          <p:nvPr/>
        </p:nvSpPr>
        <p:spPr>
          <a:xfrm>
            <a:off x="3566160" y="3063240"/>
            <a:ext cx="7863840" cy="2194560"/>
          </a:xfrm>
          <a:prstGeom prst="rect">
            <a:avLst/>
          </a:prstGeom>
          <a:noFill/>
          <a:ln/>
        </p:spPr>
        <p:txBody>
          <a:bodyPr wrap="square" lIns="0" tIns="0" rIns="0" bIns="0" rtlCol="0" anchor="t"/>
          <a:lstStyle/>
          <a:p>
            <a:pPr indent="0" marL="0">
              <a:lnSpc>
                <a:spcPct val="125000"/>
              </a:lnSpc>
              <a:buNone/>
            </a:pPr>
            <a:r>
              <a:rPr lang="en-US" sz="1400" dirty="0">
                <a:solidFill>
                  <a:srgbClr val="DADCEE"/>
                </a:solidFill>
                <a:latin typeface="Meiryo UI" pitchFamily="34" charset="0"/>
                <a:ea typeface="Meiryo UI" pitchFamily="34" charset="-122"/>
                <a:cs typeface="Meiryo UI" pitchFamily="34" charset="-120"/>
              </a:rPr>
              <a:t>貴事務所は、顧問先から厚い信頼をいただき、紹介によって選ばれ続けてきた実績をお持ちです。</a:t>
            </a:r>
            <a:endParaRPr lang="en-US" sz="1400" dirty="0"/>
          </a:p>
          <a:p>
            <a:pPr indent="0" marL="0">
              <a:lnSpc>
                <a:spcPct val="125000"/>
              </a:lnSpc>
              <a:buNone/>
            </a:pPr>
            <a:endParaRPr lang="en-US" sz="1400" dirty="0"/>
          </a:p>
          <a:p>
            <a:pPr indent="0" marL="0">
              <a:lnSpc>
                <a:spcPct val="125000"/>
              </a:lnSpc>
              <a:buNone/>
            </a:pPr>
            <a:r>
              <a:rPr lang="en-US" sz="1400" dirty="0">
                <a:solidFill>
                  <a:srgbClr val="DADCEE"/>
                </a:solidFill>
                <a:latin typeface="Meiryo UI" pitchFamily="34" charset="0"/>
                <a:ea typeface="Meiryo UI" pitchFamily="34" charset="-122"/>
                <a:cs typeface="Meiryo UI" pitchFamily="34" charset="-120"/>
              </a:rPr>
              <a:t>その“選ばれてきた理由”を動画と仕組みで言葉にし、個人のお客様にも届けることで、紹介とWebの両輪で成長する事務所をつくる。確定申告シーズンを控えた今が、その絶好のタイミングです。</a:t>
            </a:r>
            <a:endParaRPr lang="en-US" sz="1400" dirty="0"/>
          </a:p>
        </p:txBody>
      </p:sp>
      <p:sp>
        <p:nvSpPr>
          <p:cNvPr id="7" name="Text 5"/>
          <p:cNvSpPr txBox="1"/>
          <p:nvPr/>
        </p:nvSpPr>
        <p:spPr>
          <a:xfrm>
            <a:off x="3566160" y="5440680"/>
            <a:ext cx="7863840" cy="457200"/>
          </a:xfrm>
          <a:prstGeom prst="rect">
            <a:avLst/>
          </a:prstGeom>
          <a:noFill/>
          <a:ln/>
        </p:spPr>
        <p:txBody>
          <a:bodyPr wrap="square" lIns="0" tIns="0" rIns="0" bIns="0" rtlCol="0" anchor="t"/>
          <a:lstStyle/>
          <a:p>
            <a:pPr indent="0" marL="0">
              <a:buNone/>
            </a:pPr>
            <a:r>
              <a:rPr lang="en-US" sz="1700" b="1" dirty="0">
                <a:solidFill>
                  <a:srgbClr val="E8CD85"/>
                </a:solidFill>
                <a:latin typeface="Meiryo UI" pitchFamily="34" charset="0"/>
                <a:ea typeface="Meiryo UI" pitchFamily="34" charset="-122"/>
                <a:cs typeface="Meiryo UI" pitchFamily="34" charset="-120"/>
              </a:rPr>
              <a:t>次回お打ち合わせで、ぜひ次の一歩をご一緒に踏み出させてください。</a:t>
            </a:r>
            <a:endParaRPr lang="en-US" sz="1700" dirty="0"/>
          </a:p>
        </p:txBody>
      </p:sp>
      <p:sp>
        <p:nvSpPr>
          <p:cNvPr id="8" name="Text 6"/>
          <p:cNvSpPr txBox="1"/>
          <p:nvPr/>
        </p:nvSpPr>
        <p:spPr>
          <a:xfrm>
            <a:off x="3566160" y="6080760"/>
            <a:ext cx="7863840" cy="320040"/>
          </a:xfrm>
          <a:prstGeom prst="rect">
            <a:avLst/>
          </a:prstGeom>
          <a:noFill/>
          <a:ln/>
        </p:spPr>
        <p:txBody>
          <a:bodyPr wrap="square" lIns="0" tIns="0" rIns="0" bIns="0" rtlCol="0" anchor="t"/>
          <a:lstStyle/>
          <a:p>
            <a:pPr indent="0" marL="0">
              <a:buNone/>
            </a:pPr>
            <a:r>
              <a:rPr lang="en-US" sz="1200" dirty="0">
                <a:solidFill>
                  <a:srgbClr val="FFFFFF"/>
                </a:solidFill>
                <a:latin typeface="Meiryo UI" pitchFamily="34" charset="0"/>
                <a:ea typeface="Meiryo UI" pitchFamily="34" charset="-122"/>
                <a:cs typeface="Meiryo UI" pitchFamily="34" charset="-120"/>
              </a:rPr>
              <a:t>株式会社アイドマ・ホールディングス　MiTok事業部</a:t>
            </a:r>
            <a:endParaRPr lang="en-US" sz="1200" dirty="0"/>
          </a:p>
        </p:txBody>
      </p:sp>
    </p:spTree>
  </p:cSld>
  <p:clrMapOvr>
    <a:masterClrMapping/>
  </p:clrMapOvr>
</p:sld>
</file>

<file path=ppt/theme/theme1.xml><?xml version="1.0" encoding="utf-8"?>
<a:theme xmlns:a="http://schemas.openxmlformats.org/drawingml/2006/main" name="Office Theme">
  <a:themeElements>
    <a:clrScheme name="Office">
      <a:dk1>
        <a:sysClr val="windowText" lastClr="000000"/>
      </a:dk1>
      <a:lt1>
        <a:sysClr val="window" lastClr="FFFFFF"/>
      </a:lt1>
      <a:dk2>
        <a:srgbClr val="44546A"/>
      </a:dk2>
      <a:lt2>
        <a:srgbClr val="E7E6E6"/>
      </a:lt2>
      <a:accent1>
        <a:srgbClr val="4472C4"/>
      </a:accent1>
      <a:accent2>
        <a:srgbClr val="ED7D31"/>
      </a:accent2>
      <a:accent3>
        <a:srgbClr val="A5A5A5"/>
      </a:accent3>
      <a:accent4>
        <a:srgbClr val="FFC000"/>
      </a:accent4>
      <a:accent5>
        <a:srgbClr val="5B9BD5"/>
      </a:accent5>
      <a:accent6>
        <a:srgbClr val="70AD47"/>
      </a:accent6>
      <a:hlink>
        <a:srgbClr val="0563C1"/>
      </a:hlink>
      <a:folHlink>
        <a:srgbClr val="954F72"/>
      </a:folHlink>
    </a:clrScheme>
    <a:fontScheme name="Office">
      <a:majorFont>
        <a:latin typeface="Calibri Light" panose="020F0302020204030204"/>
        <a:ea typeface=""/>
        <a:cs typeface=""/>
        <a:font script="Jpan" typeface="游ゴシック Light"/>
        <a:font script="Hang" typeface="맑은 고딕"/>
        <a:font script="Hans" typeface="等线 Light"/>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ajorFont>
      <a:minorFont>
        <a:latin typeface="Calibri" panose="020F0502020204030204"/>
        <a:ea typeface=""/>
        <a:cs typeface=""/>
        <a:font script="Jpan" typeface="游ゴシック"/>
        <a:font script="Hang" typeface="맑은 고딕"/>
        <a:font script="Hans" typeface="等线"/>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inorFont>
    </a:fontScheme>
    <a:fmtScheme name="Office">
      <a:fillStyleLst>
        <a:solidFill>
          <a:schemeClr val="phClr"/>
        </a:solidFill>
        <a:gradFill rotWithShape="1">
          <a:gsLst>
            <a:gs pos="0">
              <a:schemeClr val="phClr">
                <a:lumMod val="110000"/>
                <a:satMod val="105000"/>
                <a:tint val="67000"/>
              </a:schemeClr>
            </a:gs>
            <a:gs pos="50000">
              <a:schemeClr val="phClr">
                <a:lumMod val="105000"/>
                <a:satMod val="103000"/>
                <a:tint val="73000"/>
              </a:schemeClr>
            </a:gs>
            <a:gs pos="100000">
              <a:schemeClr val="phClr">
                <a:lumMod val="105000"/>
                <a:satMod val="109000"/>
                <a:tint val="81000"/>
              </a:schemeClr>
            </a:gs>
          </a:gsLst>
          <a:lin ang="5400000" scaled="0"/>
        </a:gradFill>
        <a:gradFill rotWithShape="1">
          <a:gsLst>
            <a:gs pos="0">
              <a:schemeClr val="phClr">
                <a:satMod val="103000"/>
                <a:lumMod val="102000"/>
                <a:tint val="94000"/>
              </a:schemeClr>
            </a:gs>
            <a:gs pos="50000">
              <a:schemeClr val="phClr">
                <a:satMod val="110000"/>
                <a:lumMod val="100000"/>
                <a:shade val="100000"/>
              </a:schemeClr>
            </a:gs>
            <a:gs pos="100000">
              <a:schemeClr val="phClr">
                <a:lumMod val="99000"/>
                <a:satMod val="120000"/>
                <a:shade val="78000"/>
              </a:schemeClr>
            </a:gs>
          </a:gsLst>
          <a:lin ang="5400000" scaled="0"/>
        </a:gradFill>
      </a:fillStyleLst>
      <a:lnStyleLst>
        <a:ln w="6350" cap="flat" cmpd="sng" algn="ctr">
          <a:solidFill>
            <a:schemeClr val="phClr"/>
          </a:solidFill>
          <a:prstDash val="solid"/>
          <a:miter lim="800000"/>
        </a:ln>
        <a:ln w="12700" cap="flat" cmpd="sng" algn="ctr">
          <a:solidFill>
            <a:schemeClr val="phClr"/>
          </a:solidFill>
          <a:prstDash val="solid"/>
          <a:miter lim="800000"/>
        </a:ln>
        <a:ln w="19050" cap="flat" cmpd="sng" algn="ctr">
          <a:solidFill>
            <a:schemeClr val="phClr"/>
          </a:solidFill>
          <a:prstDash val="solid"/>
          <a:miter lim="800000"/>
        </a:ln>
      </a:lnStyleLst>
      <a:effectStyleLst>
        <a:effectStyle>
          <a:effectLst/>
        </a:effectStyle>
        <a:effectStyle>
          <a:effectLst/>
        </a:effectStyle>
        <a:effectStyle>
          <a:effectLst>
            <a:outerShdw blurRad="57150" dist="19050" dir="5400000" algn="ctr" rotWithShape="0">
              <a:srgbClr val="000000">
                <a:alpha val="63000"/>
              </a:srgbClr>
            </a:outerShdw>
          </a:effectLst>
        </a:effectStyle>
      </a:effectStyleLst>
      <a:bgFillStyleLst>
        <a:solidFill>
          <a:schemeClr val="phClr"/>
        </a:solidFill>
        <a:solidFill>
          <a:schemeClr val="phClr">
            <a:tint val="95000"/>
            <a:satMod val="170000"/>
          </a:schemeClr>
        </a:solidFill>
        <a:gradFill rotWithShape="1">
          <a:gsLst>
            <a:gs pos="0">
              <a:schemeClr val="phClr">
                <a:tint val="93000"/>
                <a:satMod val="150000"/>
                <a:shade val="98000"/>
                <a:lumMod val="102000"/>
              </a:schemeClr>
            </a:gs>
            <a:gs pos="50000">
              <a:schemeClr val="phClr">
                <a:tint val="98000"/>
                <a:satMod val="130000"/>
                <a:shade val="90000"/>
                <a:lumMod val="103000"/>
              </a:schemeClr>
            </a:gs>
            <a:gs pos="100000">
              <a:schemeClr val="phClr">
                <a:shade val="63000"/>
                <a:satMod val="120000"/>
              </a:schemeClr>
            </a:gs>
          </a:gsLst>
          <a:lin ang="5400000" scaled="0"/>
        </a:gradFill>
      </a:bgFillStyleLst>
    </a:fmtScheme>
  </a:themeElements>
  <a:objectDefaults/>
  <a:extraClrSchemeLst/>
  <a:extLst>
    <a:ext uri="{05A4C25C-085E-4340-85A3-A5531E510DB2}">
      <thm15:themeFamily xmlns:thm15="http://schemas.microsoft.com/office/thememl/2012/main" name="Office Theme" id="{62F939B6-93AF-4DB8-9C6B-D6C7DFDC589F}" vid="{4A3C46E8-61CC-4603-A589-7422A47A8E4A}"/>
    </a:ext>
  </a:extLst>
</a:theme>
</file>

<file path=docProps/app.xml><?xml version="1.0" encoding="utf-8"?>
<Properties xmlns="http://schemas.openxmlformats.org/officeDocument/2006/extended-properties" xmlns:vt="http://schemas.openxmlformats.org/officeDocument/2006/docPropsVTypes">
  <TotalTime>0</TotalTime>
  <Words>0</Words>
  <Application>Microsoft Office PowerPoint</Application>
  <PresentationFormat>On-screen Show (16:9)</PresentationFormat>
  <Paragraphs>0</Paragraphs>
  <Slides>26</Slides>
  <Notes>26</Notes>
  <HiddenSlides>0</HiddenSlides>
  <MMClips>0</MMClips>
  <ScaleCrop>false</ScaleCrop>
  <HeadingPairs>
    <vt:vector size="6" baseType="variant">
      <vt:variant>
        <vt:lpstr>Fonts Used</vt:lpstr>
      </vt:variant>
      <vt:variant>
        <vt:i4>2</vt:i4>
      </vt:variant>
      <vt:variant>
        <vt:lpstr>Theme</vt:lpstr>
      </vt:variant>
      <vt:variant>
        <vt:i4>1</vt:i4>
      </vt:variant>
      <vt:variant>
        <vt:lpstr>Slide Titles</vt:lpstr>
      </vt:variant>
      <vt:variant>
        <vt:i4>26</vt:i4>
      </vt:variant>
    </vt:vector>
  </HeadingPairs>
  <TitlesOfParts>
    <vt:vector size="29" baseType="lpstr">
      <vt:lpstr>Arial</vt:lpstr>
      <vt:lpstr>Calibri</vt:lpstr>
      <vt:lpstr>Office Theme</vt:lpstr>
      <vt:lpstr>Slide 1</vt:lpstr>
      <vt:lpstr>Slide 2</vt:lpstr>
      <vt:lpstr>Slide 3</vt:lpstr>
      <vt:lpstr>Slide 4</vt:lpstr>
      <vt:lpstr>Slide 5</vt:lpstr>
      <vt:lpstr>Slide 6</vt:lpstr>
      <vt:lpstr>Slide 7</vt:lpstr>
      <vt:lpstr>Slide 8</vt:lpstr>
      <vt:lpstr>Slide 9</vt:lpstr>
      <vt:lpstr>Slide 10</vt:lpstr>
      <vt:lpstr>Slide 11</vt:lpstr>
      <vt:lpstr>Slide 12</vt:lpstr>
      <vt:lpstr>Slide 13</vt:lpstr>
      <vt:lpstr>Slide 14</vt:lpstr>
      <vt:lpstr>Slide 15</vt:lpstr>
      <vt:lpstr>Slide 16</vt:lpstr>
      <vt:lpstr>Slide 17</vt:lpstr>
      <vt:lpstr>Slide 18</vt:lpstr>
      <vt:lpstr>Slide 19</vt:lpstr>
      <vt:lpstr>Slide 20</vt:lpstr>
      <vt:lpstr>Slide 21</vt:lpstr>
      <vt:lpstr>Slide 22</vt:lpstr>
      <vt:lpstr>Slide 23</vt:lpstr>
      <vt:lpstr>Slide 24</vt:lpstr>
      <vt:lpstr>Slide 25</vt:lpstr>
      <vt:lpstr>Slide 26</vt:lpstr>
    </vt:vector>
  </TitlesOfParts>
  <Company>株式会社アイドマ・ホールディングス</Company>
  <LinksUpToDate>false</LinksUpToDate>
  <SharedDoc>false</SharedDoc>
  <HyperlinksChanged>false</HyperlinksChanged>
  <AppVersion>16.0000</AppVersion>
</Properties>
</file>

<file path=docProps/core.xml><?xml version="1.0" encoding="utf-8"?>
<cp:coreProperties xmlns:cp="http://schemas.openxmlformats.org/package/2006/metadata/core-properties" xmlns:dc="http://purl.org/dc/elements/1.1/" xmlns:dcterms="http://purl.org/dc/terms/" xmlns:dcmitype="http://purl.org/dc/dcmitype/" xmlns:xsi="http://www.w3.org/2001/XMLSchema-instance">
  <dc:title>個人向けサービス強化 営業・マーケティング総合改革提案書</dc:title>
  <dc:subject>PptxGenJS Presentation</dc:subject>
  <dc:creator>PptxGenJS</dc:creator>
  <cp:lastModifiedBy>PptxGenJS</cp:lastModifiedBy>
  <cp:revision>1</cp:revision>
  <dcterms:created xsi:type="dcterms:W3CDTF">2026-09-23T08:46:28Z</dcterms:created>
  <dcterms:modified xsi:type="dcterms:W3CDTF">2026-09-23T08:46:28Z</dcterms:modified>
</cp:coreProperties>
</file>