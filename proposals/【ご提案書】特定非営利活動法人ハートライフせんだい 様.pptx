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A322D"/>
                </a:solidFill>
                <a:latin typeface="Meiryo UI"/>
              </a:defRPr>
            </a:pPr>
            <a:r>
              <a:rPr sz="1100" b="0" i="0" u="none" strike="noStrike">
                <a:solidFill>
                  <a:srgbClr val="2A322D"/>
                </a:solidFill>
                <a:latin typeface="Meiryo UI"/>
              </a:rPr>
              <a:t>上乗せ利用登録数（累計）の推移　※月（ヶ月目）</a:t>
            </a:r>
          </a:p>
        </c:rich>
      </c:tx>
      <c:layout/>
      <c:overlay val="0"/>
    </c:title>
    <c:autoTitleDeleted val="0"/>
    <c:plotArea>
      <c:layout/>
      <c:barChart>
        <c:barDir val="col"/>
        <c:grouping val="clustered"/>
        <c:varyColors val="0"/>
        <c:ser>
          <c:idx val="0"/>
          <c:order val="0"/>
          <c:tx>
            <c:strRef>
              <c:f>Sheet1!$B$1</c:f>
              <c:strCache>
                <c:ptCount val="1"/>
                <c:pt idx="0">
                  <c:v>上乗せ利用登録数（累計）</c:v>
                </c:pt>
              </c:strCache>
            </c:strRef>
          </c:tx>
          <c:spPr>
            <a:solidFill>
              <a:srgbClr val="46705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0</c:v>
                </c:pt>
                <c:pt idx="1">
                  <c:v>0</c:v>
                </c:pt>
                <c:pt idx="2">
                  <c:v>1</c:v>
                </c:pt>
                <c:pt idx="3">
                  <c:v>2</c:v>
                </c:pt>
                <c:pt idx="4">
                  <c:v>3</c:v>
                </c:pt>
                <c:pt idx="5">
                  <c:v>4</c:v>
                </c:pt>
                <c:pt idx="6">
                  <c:v>6</c:v>
                </c:pt>
                <c:pt idx="7">
                  <c:v>7</c:v>
                </c:pt>
                <c:pt idx="8">
                  <c:v>8</c:v>
                </c:pt>
                <c:pt idx="9">
                  <c:v>10</c:v>
                </c:pt>
                <c:pt idx="10">
                  <c:v>11</c:v>
                </c:pt>
                <c:pt idx="11">
                  <c:v>12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6776C"/>
                </a:solidFill>
                <a:latin typeface="Meiryo UI"/>
              </a:defRPr>
            </a:pPr>
            <a:endParaRPr lang="en-US"/>
          </a:p>
        </c:txPr>
        <c:crossAx val="2094734552"/>
        <c:crosses val="autoZero"/>
        <c:auto val="1"/>
        <c:lblAlgn val="ctr"/>
        <c:noMultiLvlLbl val="1"/>
      </c:catAx>
      <c:valAx>
        <c:axId val="2094734552"/>
        <c:scaling>
          <c:orientation val="minMax"/>
          <c:max val="15"/>
        </c:scaling>
        <c:delete val="0"/>
        <c:axPos val="l"/>
        <c:majorGridlines>
          <c:spPr>
            <a:ln w="9525" cap="flat">
              <a:solidFill>
                <a:srgbClr val="E3EC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6776C"/>
                </a:solidFill>
                <a:latin typeface="Meiryo U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【営業担当者用・事前確認】
・お打ち合わせ：2026年9月29日（火）9:00〜。
・お話ししたのは鈴木施設長（3代目代表）。NPO法人のため、契約には理事会の承認が必要な可能性がある。冒頭で決裁フロー（理事会の要否・開催時期）を確認する。
・前回のお約束は3点：①メディア掲載・Web活用による認知拡大の具体例とメリット、②代表の「時間がない」を解決する事務代行・実働支援プラン、③2027年4月に向けた立ち上げ・制度対応の伴走体制。①は8〜16ページ、②③は19〜28ページ（アイドマのサービス章）で説明する。メディア掲載の実例は別途用意して持参すること。
・【費用の注意】節約志向が強く、補助金・委託金の範囲内で、費用対効果の明確な最小限の投資を望んでいる。成果連動・実働伴走型が好まれる。本資料に料金は載せていない。最小構成（MiTok＋事務の棚卸しなど）の料金案を社内で事前に用意し、その場で約束はしない。
・「困っているわけではない」と強がる場面がある。否定せず、「10年守ってきたことを、次の10年につなぐ」という前向きな言い方で進める。
・アイドマの認知は未確認。冒頭2〜3分で会社紹介を入れる。
・HP（sodosha2022.jimdofree.com）は資料作成時に参照できていないため、商談前に担当者が目を通し、活動内容・見学受付の有無を確認しておくこと。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市場の変化は傾向として伝える。制度改正の具体的な内容には踏み込まず、「4月に向けた制度対応」は施設長の言葉として扱う。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事務の集中と立ち上げの遅れ）が施設長にとって最も切実。責める言い方は避け、「10年間一人で守ってこられたからこそ、次は仕組みで支える段階」と伝える。「事務に週何時間くらい使っていますか？」と数字を聞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「HPがあっても問い合わせゼロ」という現状そのものが、“置いただけ”では届かない証拠であることをやわらかく伝える。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「自前のWeb運用は不可能」という前回の言葉を受け、「手を動かすのはこちら」という点を強調する。3番の「小さく始めて広げられる」は、費用を抑えたいご意向への答え。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前回お約束①（認知拡大の具体例）の中心。区役所・相談支援事業所に「転送できる施設紹介動画」があるだけで、紹介のしやすさが変わる。地域企業への受託作業の案内は、工賃アップにもつながる。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若年層の流出に対して、TikTok・ショートで「PCが苦手でも大丈夫な場所」を伝えるのが最大のねらい。利用者は動画に出さず、スタッフ・作業・授産品を中心に発信する。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MiTokのAI掛け合い形式（ご本人役が質問し、スタッフ役が答える）を前提としたラフ。無料3本はこの3つの型を1本ずつ制作する。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「見学・ご相談 受付中」「体験」などの表現は仮。実際に受け付けている内容に合わせて修正する。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「創働舎が大切にしていること」の3点は、前回伺った施設長の言葉から起こした仮の表現。本人の言葉で直していただく。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病歴などは要配慮個人情報にあたるため、利用者に関わる発信は必ず本人の同意と施設の確認を経ることを伝える。行政の広報ルールの有無は施設長に確認する。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無料の3本から始められることは、費用を抑えたいご意向に合う。ただし「お試し」ではなく「検証」として設計することの価値を伝える。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お約束②③に対応するページ。詳しくは次のアイドマのサービス章で説明する。制度対応そのもの（制度の解釈や申請内容の判断）は専門家・行政の確認が前提で、アイドマは実務とスケジュール管理を支援する、という線引きを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10月にご契約・キックオフの場合、7ヶ月目が2027年4月にあたる。GH立ち上げの具体的な時期・規模は本日ヒアリングし、ロードマップを調整する。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無料の3本を見てから考えたい」への切り返し：「もちろん3本の成果はしっかり検証します。ただ、検証後に検討を始めると理事会や契約で1〜2ヶ月空き、4月までの準備期間が短くなります。検証を“伴走の初月”として設計しておけば、結果が出た当日に次の一手を打てます」
【費用の注意】節約志向が強い。料金には触れず、「小さく始めて、必要なものだけ追加できる」ことを強調する。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規模地域活動センターは補助金・委託金が中心で、売上の損失では語りにくい。代表の時間と4月の期限で伝える。週20時間・25%削減はすべて仮置き。前回の「時間を2〜3割減らしたい」というニーズにもとづ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8番（理事会の承認）は冒頭で確認。7番の補助金・助成金は、アイドマ側で使える制度を断定しない。施設側で把握している枠を伺い、社内で確認する。4番は事務代行の範囲を決めるための最重要項目。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スライドで伺った数値を上部の帯に記入し、その場で試算を調整する。確定値は次回お打ち合わせで「目標値」として合意する。受け入れ上限が小さい場合は、利用者数ではなく「若い世代の比率」や「代表の時間」を主な目標に置き換える。
試算ロジック：紹介元30か所×視聴50%→紹介約3件×見学70%×登録50%≒1名／月、プル（問い合わせ3件×登録30%）≒1名／月。累計：3ヶ月目から+1/月、7ヶ月目以降+1〜2/月 → 12ヶ月で12名。事務時間は週20時間（仮）の25%削減。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本日の最後に、次回お打ち合わせの日程をその場で確定させる。理事会の承認が必要な場合は、理事会の日程から逆算して次回日程を決める。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slideLayout" Target="../slideLayouts/slideLayout1.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image" Target="../media/image-23-15.png"/><Relationship Id="rId16" Type="http://schemas.openxmlformats.org/officeDocument/2006/relationships/slideLayout" Target="../slideLayouts/slideLayout1.xml"/><Relationship Id="rId1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slideLayout" Target="../slideLayouts/slideLayout1.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slideLayout" Target="../slideLayouts/slideLayout1.xml"/><Relationship Id="rId1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4D3D"/>
        </a:solidFill>
      </p:bgPr>
    </p:bg>
    <p:spTree>
      <p:nvGrpSpPr>
        <p:cNvPr id="1" name=""/>
        <p:cNvGrpSpPr/>
        <p:nvPr/>
      </p:nvGrpSpPr>
      <p:grpSpPr>
        <a:xfrm>
          <a:off x="0" y="0"/>
          <a:ext cx="0" cy="0"/>
          <a:chOff x="0" y="0"/>
          <a:chExt cx="0" cy="0"/>
        </a:xfrm>
      </p:grpSpPr>
      <p:sp>
        <p:nvSpPr>
          <p:cNvPr id="2" name="Shape 0"/>
          <p:cNvSpPr/>
          <p:nvPr/>
        </p:nvSpPr>
        <p:spPr>
          <a:xfrm>
            <a:off x="8138160" y="1097280"/>
            <a:ext cx="4937760" cy="4937760"/>
          </a:xfrm>
          <a:prstGeom prst="ellipse">
            <a:avLst/>
          </a:prstGeom>
          <a:solidFill>
            <a:srgbClr val="46705A"/>
          </a:solidFill>
          <a:ln w="12700">
            <a:solidFill>
              <a:srgbClr val="46705A"/>
            </a:solidFill>
            <a:prstDash val="solid"/>
          </a:ln>
        </p:spPr>
      </p:sp>
      <p:sp>
        <p:nvSpPr>
          <p:cNvPr id="3" name="Shape 1"/>
          <p:cNvSpPr/>
          <p:nvPr/>
        </p:nvSpPr>
        <p:spPr>
          <a:xfrm>
            <a:off x="9326880" y="365760"/>
            <a:ext cx="2011680" cy="2011680"/>
          </a:xfrm>
          <a:prstGeom prst="ellipse">
            <a:avLst/>
          </a:prstGeom>
          <a:solidFill>
            <a:srgbClr val="E08E4A">
              <a:alpha val="85000"/>
            </a:srgbClr>
          </a:solidFill>
          <a:ln w="12700">
            <a:solidFill>
              <a:srgbClr val="E08E4A"/>
            </a:solidFill>
            <a:prstDash val="solid"/>
          </a:ln>
        </p:spPr>
      </p:sp>
      <p:pic>
        <p:nvPicPr>
          <p:cNvPr id="4" name="Image 0" descr="preencoded.png">    </p:cNvPr>
          <p:cNvPicPr>
            <a:picLocks noChangeAspect="1"/>
          </p:cNvPicPr>
          <p:nvPr/>
        </p:nvPicPr>
        <p:blipFill>
          <a:blip r:embed="rId1"/>
          <a:stretch>
            <a:fillRect/>
          </a:stretch>
        </p:blipFill>
        <p:spPr>
          <a:xfrm>
            <a:off x="9418320" y="2560320"/>
            <a:ext cx="2011680" cy="1737360"/>
          </a:xfrm>
          <a:prstGeom prst="rect">
            <a:avLst/>
          </a:prstGeom>
        </p:spPr>
      </p:pic>
      <p:sp>
        <p:nvSpPr>
          <p:cNvPr id="5" name="Text 2"/>
          <p:cNvSpPr txBox="1"/>
          <p:nvPr/>
        </p:nvSpPr>
        <p:spPr>
          <a:xfrm>
            <a:off x="640080" y="731520"/>
            <a:ext cx="7315200" cy="365760"/>
          </a:xfrm>
          <a:prstGeom prst="rect">
            <a:avLst/>
          </a:prstGeom>
          <a:noFill/>
          <a:ln/>
        </p:spPr>
        <p:txBody>
          <a:bodyPr wrap="square" lIns="0" tIns="0" rIns="0" bIns="0" rtlCol="0" anchor="t"/>
          <a:lstStyle/>
          <a:p>
            <a:pPr indent="0" marL="0">
              <a:buNone/>
            </a:pPr>
            <a:r>
              <a:rPr lang="en-US" sz="1600" dirty="0">
                <a:solidFill>
                  <a:srgbClr val="D8E6DC"/>
                </a:solidFill>
                <a:latin typeface="Meiryo UI" pitchFamily="34" charset="0"/>
                <a:ea typeface="Meiryo UI" pitchFamily="34" charset="-122"/>
                <a:cs typeface="Meiryo UI" pitchFamily="34" charset="-120"/>
              </a:rPr>
              <a:t>特定非営利活動法人ハートライフせんだい 御中</a:t>
            </a:r>
            <a:endParaRPr lang="en-US" sz="1600" dirty="0"/>
          </a:p>
        </p:txBody>
      </p:sp>
      <p:sp>
        <p:nvSpPr>
          <p:cNvPr id="6" name="Text 3"/>
          <p:cNvSpPr txBox="1"/>
          <p:nvPr/>
        </p:nvSpPr>
        <p:spPr>
          <a:xfrm>
            <a:off x="640080" y="1463040"/>
            <a:ext cx="7498080" cy="2468880"/>
          </a:xfrm>
          <a:prstGeom prst="rect">
            <a:avLst/>
          </a:prstGeom>
          <a:noFill/>
          <a:ln/>
        </p:spPr>
        <p:txBody>
          <a:bodyPr wrap="square" lIns="0" tIns="0" rIns="0" bIns="0" rtlCol="0" anchor="t"/>
          <a:lstStyle/>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認知拡大・運営体制強化</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営業・マーケティング</a:t>
            </a:r>
            <a:endParaRPr lang="en-US" sz="4000" dirty="0"/>
          </a:p>
          <a:p>
            <a:pPr indent="0" marL="0">
              <a:lnSpc>
                <a:spcPct val="105000"/>
              </a:lnSpc>
              <a:buNone/>
            </a:pPr>
            <a:r>
              <a:rPr lang="en-US" sz="4000" b="1" dirty="0">
                <a:solidFill>
                  <a:srgbClr val="FFFFFF"/>
                </a:solidFill>
                <a:latin typeface="Meiryo UI" pitchFamily="34" charset="0"/>
                <a:ea typeface="Meiryo UI" pitchFamily="34" charset="-122"/>
                <a:cs typeface="Meiryo UI" pitchFamily="34" charset="-120"/>
              </a:rPr>
              <a:t>総合改革提案書</a:t>
            </a:r>
            <a:endParaRPr lang="en-US" sz="4000" dirty="0"/>
          </a:p>
        </p:txBody>
      </p:sp>
      <p:sp>
        <p:nvSpPr>
          <p:cNvPr id="7" name="Text 4"/>
          <p:cNvSpPr txBox="1"/>
          <p:nvPr/>
        </p:nvSpPr>
        <p:spPr>
          <a:xfrm>
            <a:off x="640080" y="4069080"/>
            <a:ext cx="7680960" cy="457200"/>
          </a:xfrm>
          <a:prstGeom prst="rect">
            <a:avLst/>
          </a:prstGeom>
          <a:noFill/>
          <a:ln/>
        </p:spPr>
        <p:txBody>
          <a:bodyPr wrap="square" lIns="0" tIns="0" rIns="0" bIns="0" rtlCol="0" anchor="t"/>
          <a:lstStyle/>
          <a:p>
            <a:pPr indent="0" marL="0">
              <a:buNone/>
            </a:pPr>
            <a:r>
              <a:rPr lang="en-US" sz="1800" b="1" dirty="0">
                <a:solidFill>
                  <a:srgbClr val="F2C19A"/>
                </a:solidFill>
                <a:latin typeface="Meiryo UI" pitchFamily="34" charset="0"/>
                <a:ea typeface="Meiryo UI" pitchFamily="34" charset="-122"/>
                <a:cs typeface="Meiryo UI" pitchFamily="34" charset="-120"/>
              </a:rPr>
              <a:t>「必要な人に届く」と「代表の時間」を、同時につくる</a:t>
            </a:r>
            <a:endParaRPr lang="en-US" sz="1800" dirty="0"/>
          </a:p>
        </p:txBody>
      </p:sp>
      <p:sp>
        <p:nvSpPr>
          <p:cNvPr id="8" name="Text 5"/>
          <p:cNvSpPr txBox="1"/>
          <p:nvPr/>
        </p:nvSpPr>
        <p:spPr>
          <a:xfrm>
            <a:off x="640080" y="4709160"/>
            <a:ext cx="7680960" cy="365760"/>
          </a:xfrm>
          <a:prstGeom prst="rect">
            <a:avLst/>
          </a:prstGeom>
          <a:noFill/>
          <a:ln/>
        </p:spPr>
        <p:txBody>
          <a:bodyPr wrap="square" lIns="0" tIns="0" rIns="0" bIns="0" rtlCol="0" anchor="t"/>
          <a:lstStyle/>
          <a:p>
            <a:pPr indent="0" marL="0">
              <a:buNone/>
            </a:pPr>
            <a:r>
              <a:rPr lang="en-US" sz="1300" dirty="0">
                <a:solidFill>
                  <a:srgbClr val="D8E6DC"/>
                </a:solidFill>
                <a:latin typeface="Meiryo UI" pitchFamily="34" charset="0"/>
                <a:ea typeface="Meiryo UI" pitchFamily="34" charset="-122"/>
                <a:cs typeface="Meiryo UI" pitchFamily="34" charset="-120"/>
              </a:rPr>
              <a:t>AI対話・動画プラットフォーム「MiTok（ミトク）」＋アイドマ各ユニットのご提案／第2回お打ち合わせ資料</a:t>
            </a:r>
            <a:endParaRPr lang="en-US" sz="1300" dirty="0"/>
          </a:p>
        </p:txBody>
      </p:sp>
      <p:sp>
        <p:nvSpPr>
          <p:cNvPr id="9" name="Text 6"/>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b="1"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EXECUTIVE SUMMARY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結論：「届ける仕組み」と「代表の時間」を外付けチームでつくる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960120"/>
          </a:xfrm>
          <a:prstGeom prst="roundRect">
            <a:avLst>
              <a:gd name="adj" fmla="val 11429"/>
            </a:avLst>
          </a:prstGeom>
          <a:solidFill>
            <a:srgbClr val="EDF3EF"/>
          </a:solidFill>
          <a:ln w="12700">
            <a:solidFill>
              <a:srgbClr val="EDF3EF"/>
            </a:solidFill>
            <a:prstDash val="solid"/>
          </a:ln>
        </p:spPr>
      </p:sp>
      <p:sp>
        <p:nvSpPr>
          <p:cNvPr id="7" name="Text 5"/>
          <p:cNvSpPr txBox="1"/>
          <p:nvPr/>
        </p:nvSpPr>
        <p:spPr>
          <a:xfrm>
            <a:off x="868680" y="1371600"/>
            <a:ext cx="10454335" cy="960120"/>
          </a:xfrm>
          <a:prstGeom prst="rect">
            <a:avLst/>
          </a:prstGeom>
          <a:noFill/>
          <a:ln/>
        </p:spPr>
        <p:txBody>
          <a:bodyPr wrap="square" lIns="0" tIns="0" rIns="0" bIns="0" rtlCol="0" anchor="ctr"/>
          <a:lstStyle/>
          <a:p>
            <a:pPr indent="0" marL="0">
              <a:buNone/>
            </a:pPr>
            <a:r>
              <a:rPr lang="en-US" sz="1500" b="1" dirty="0">
                <a:solidFill>
                  <a:srgbClr val="2F4D3D"/>
                </a:solidFill>
                <a:latin typeface="Meiryo UI" pitchFamily="34" charset="0"/>
                <a:ea typeface="Meiryo UI" pitchFamily="34" charset="-122"/>
                <a:cs typeface="Meiryo UI" pitchFamily="34" charset="-120"/>
              </a:rPr>
              <a:t>代表が一人で抱える事務と、アナログ中心の広報から、動画と外付けチームで「必要な人に届く仕組み」と</a:t>
            </a:r>
            <a:endParaRPr lang="en-US" sz="1500" dirty="0"/>
          </a:p>
          <a:p>
            <a:pPr indent="0" marL="0">
              <a:buNone/>
            </a:pPr>
            <a:r>
              <a:rPr lang="en-US" sz="1500" b="1" dirty="0">
                <a:solidFill>
                  <a:srgbClr val="2F4D3D"/>
                </a:solidFill>
                <a:latin typeface="Meiryo UI" pitchFamily="34" charset="0"/>
                <a:ea typeface="Meiryo UI" pitchFamily="34" charset="-122"/>
                <a:cs typeface="Meiryo UI" pitchFamily="34" charset="-120"/>
              </a:rPr>
              <a:t>「代表が支援と新しい挑戦に集中できる体制」を同時につくることをご提案します。</a:t>
            </a:r>
            <a:endParaRPr lang="en-US" sz="1500" dirty="0"/>
          </a:p>
        </p:txBody>
      </p:sp>
      <p:sp>
        <p:nvSpPr>
          <p:cNvPr id="8" name="Shape 6"/>
          <p:cNvSpPr/>
          <p:nvPr/>
        </p:nvSpPr>
        <p:spPr>
          <a:xfrm>
            <a:off x="548640"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822960" y="2834640"/>
            <a:ext cx="640080" cy="640080"/>
          </a:xfrm>
          <a:prstGeom prst="ellipse">
            <a:avLst/>
          </a:prstGeom>
          <a:solidFill>
            <a:srgbClr val="46705A"/>
          </a:solidFill>
          <a:ln w="12700">
            <a:solidFill>
              <a:srgbClr val="46705A"/>
            </a:solidFill>
            <a:prstDash val="solid"/>
          </a:ln>
        </p:spPr>
      </p:sp>
      <p:pic>
        <p:nvPicPr>
          <p:cNvPr id="10" name="Image 0" descr="preencoded.png">    </p:cNvPr>
          <p:cNvPicPr>
            <a:picLocks noChangeAspect="1"/>
          </p:cNvPicPr>
          <p:nvPr/>
        </p:nvPicPr>
        <p:blipFill>
          <a:blip r:embed="rId1"/>
          <a:stretch>
            <a:fillRect/>
          </a:stretch>
        </p:blipFill>
        <p:spPr>
          <a:xfrm>
            <a:off x="989381" y="3001061"/>
            <a:ext cx="307238" cy="307238"/>
          </a:xfrm>
          <a:prstGeom prst="rect">
            <a:avLst/>
          </a:prstGeom>
        </p:spPr>
      </p:pic>
      <p:sp>
        <p:nvSpPr>
          <p:cNvPr id="11" name="Text 8"/>
          <p:cNvSpPr txBox="1"/>
          <p:nvPr/>
        </p:nvSpPr>
        <p:spPr>
          <a:xfrm>
            <a:off x="1600200" y="2834640"/>
            <a:ext cx="2280818" cy="64008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プッシュ｜紹介元に届ける</a:t>
            </a:r>
            <a:endParaRPr lang="en-US" sz="1500" dirty="0"/>
          </a:p>
        </p:txBody>
      </p:sp>
      <p:sp>
        <p:nvSpPr>
          <p:cNvPr id="12" name="Text 9"/>
          <p:cNvSpPr txBox="1"/>
          <p:nvPr/>
        </p:nvSpPr>
        <p:spPr>
          <a:xfrm>
            <a:off x="822960"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22D"/>
                </a:solidFill>
                <a:latin typeface="Meiryo UI" pitchFamily="34" charset="0"/>
                <a:ea typeface="Meiryo UI" pitchFamily="34" charset="-122"/>
                <a:cs typeface="Meiryo UI" pitchFamily="34" charset="-120"/>
              </a:rPr>
              <a:t>区役所・相談支援事業所・医療機関・家族会に施設紹介動画を届け、見学・相談の紹介を増やす。</a:t>
            </a:r>
            <a:endParaRPr lang="en-US" sz="1250" dirty="0"/>
          </a:p>
        </p:txBody>
      </p:sp>
      <p:sp>
        <p:nvSpPr>
          <p:cNvPr id="13" name="Shape 10"/>
          <p:cNvSpPr/>
          <p:nvPr/>
        </p:nvSpPr>
        <p:spPr>
          <a:xfrm>
            <a:off x="4338218"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4612538" y="2834640"/>
            <a:ext cx="640080" cy="640080"/>
          </a:xfrm>
          <a:prstGeom prst="ellipse">
            <a:avLst/>
          </a:prstGeom>
          <a:solidFill>
            <a:srgbClr val="46705A"/>
          </a:solidFill>
          <a:ln w="12700">
            <a:solidFill>
              <a:srgbClr val="46705A"/>
            </a:solidFill>
            <a:prstDash val="solid"/>
          </a:ln>
        </p:spPr>
      </p:sp>
      <p:pic>
        <p:nvPicPr>
          <p:cNvPr id="15" name="Image 1" descr="preencoded.png">    </p:cNvPr>
          <p:cNvPicPr>
            <a:picLocks noChangeAspect="1"/>
          </p:cNvPicPr>
          <p:nvPr/>
        </p:nvPicPr>
        <p:blipFill>
          <a:blip r:embed="rId2"/>
          <a:stretch>
            <a:fillRect/>
          </a:stretch>
        </p:blipFill>
        <p:spPr>
          <a:xfrm>
            <a:off x="4778959" y="3001061"/>
            <a:ext cx="307238" cy="307238"/>
          </a:xfrm>
          <a:prstGeom prst="rect">
            <a:avLst/>
          </a:prstGeom>
        </p:spPr>
      </p:pic>
      <p:sp>
        <p:nvSpPr>
          <p:cNvPr id="16" name="Text 12"/>
          <p:cNvSpPr txBox="1"/>
          <p:nvPr/>
        </p:nvSpPr>
        <p:spPr>
          <a:xfrm>
            <a:off x="5389778" y="2834640"/>
            <a:ext cx="2280818" cy="64008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プル｜若い世代に見つけてもらう</a:t>
            </a:r>
            <a:endParaRPr lang="en-US" sz="1500" dirty="0"/>
          </a:p>
        </p:txBody>
      </p:sp>
      <p:sp>
        <p:nvSpPr>
          <p:cNvPr id="17" name="Text 13"/>
          <p:cNvSpPr txBox="1"/>
          <p:nvPr/>
        </p:nvSpPr>
        <p:spPr>
          <a:xfrm>
            <a:off x="4612538"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22D"/>
                </a:solidFill>
                <a:latin typeface="Meiryo UI" pitchFamily="34" charset="0"/>
                <a:ea typeface="Meiryo UI" pitchFamily="34" charset="-122"/>
                <a:cs typeface="Meiryo UI" pitchFamily="34" charset="-120"/>
              </a:rPr>
              <a:t>YouTube／Instagram／TikTokで施設の雰囲気と想いを発信し、HPから見学・相談が入る導線をつくる。</a:t>
            </a:r>
            <a:endParaRPr lang="en-US" sz="1250" dirty="0"/>
          </a:p>
        </p:txBody>
      </p:sp>
      <p:sp>
        <p:nvSpPr>
          <p:cNvPr id="18" name="Shape 14"/>
          <p:cNvSpPr/>
          <p:nvPr/>
        </p:nvSpPr>
        <p:spPr>
          <a:xfrm>
            <a:off x="8127797" y="2606040"/>
            <a:ext cx="3515258"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402117" y="2834640"/>
            <a:ext cx="640080" cy="640080"/>
          </a:xfrm>
          <a:prstGeom prst="ellipse">
            <a:avLst/>
          </a:prstGeom>
          <a:solidFill>
            <a:srgbClr val="46705A"/>
          </a:solidFill>
          <a:ln w="12700">
            <a:solidFill>
              <a:srgbClr val="46705A"/>
            </a:solidFill>
            <a:prstDash val="solid"/>
          </a:ln>
        </p:spPr>
      </p:sp>
      <p:pic>
        <p:nvPicPr>
          <p:cNvPr id="20" name="Image 2" descr="preencoded.png">    </p:cNvPr>
          <p:cNvPicPr>
            <a:picLocks noChangeAspect="1"/>
          </p:cNvPicPr>
          <p:nvPr/>
        </p:nvPicPr>
        <p:blipFill>
          <a:blip r:embed="rId3"/>
          <a:stretch>
            <a:fillRect/>
          </a:stretch>
        </p:blipFill>
        <p:spPr>
          <a:xfrm>
            <a:off x="8568538" y="3001061"/>
            <a:ext cx="307238" cy="307238"/>
          </a:xfrm>
          <a:prstGeom prst="rect">
            <a:avLst/>
          </a:prstGeom>
        </p:spPr>
      </p:pic>
      <p:sp>
        <p:nvSpPr>
          <p:cNvPr id="21" name="Text 16"/>
          <p:cNvSpPr txBox="1"/>
          <p:nvPr/>
        </p:nvSpPr>
        <p:spPr>
          <a:xfrm>
            <a:off x="9179357" y="2834640"/>
            <a:ext cx="2280818" cy="64008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実働支援｜代表の時間を取り戻す</a:t>
            </a:r>
            <a:endParaRPr lang="en-US" sz="1500" dirty="0"/>
          </a:p>
        </p:txBody>
      </p:sp>
      <p:sp>
        <p:nvSpPr>
          <p:cNvPr id="22" name="Text 17"/>
          <p:cNvSpPr txBox="1"/>
          <p:nvPr/>
        </p:nvSpPr>
        <p:spPr>
          <a:xfrm>
            <a:off x="8402117" y="3611880"/>
            <a:ext cx="2966618" cy="1188720"/>
          </a:xfrm>
          <a:prstGeom prst="rect">
            <a:avLst/>
          </a:prstGeom>
          <a:noFill/>
          <a:ln/>
        </p:spPr>
        <p:txBody>
          <a:bodyPr wrap="square" lIns="0" tIns="0" rIns="0" bIns="0" rtlCol="0" anchor="t"/>
          <a:lstStyle/>
          <a:p>
            <a:pPr indent="0" marL="0">
              <a:lnSpc>
                <a:spcPct val="115000"/>
              </a:lnSpc>
              <a:buNone/>
            </a:pPr>
            <a:r>
              <a:rPr lang="en-US" sz="1250" dirty="0">
                <a:solidFill>
                  <a:srgbClr val="2A322D"/>
                </a:solidFill>
                <a:latin typeface="Meiryo UI" pitchFamily="34" charset="0"/>
                <a:ea typeface="Meiryo UI" pitchFamily="34" charset="-122"/>
                <a:cs typeface="Meiryo UI" pitchFamily="34" charset="-120"/>
              </a:rPr>
              <a:t>事務の棚卸しと事務スタッフのアサイン、採用・書類づくりを外付けチームが担い、2027年4月の準備を進める。</a:t>
            </a:r>
            <a:endParaRPr lang="en-US" sz="1250" dirty="0"/>
          </a:p>
        </p:txBody>
      </p:sp>
      <p:sp>
        <p:nvSpPr>
          <p:cNvPr id="23" name="Text 18"/>
          <p:cNvSpPr txBox="1"/>
          <p:nvPr/>
        </p:nvSpPr>
        <p:spPr>
          <a:xfrm>
            <a:off x="548640" y="5193792"/>
            <a:ext cx="2743200" cy="320040"/>
          </a:xfrm>
          <a:prstGeom prst="rect">
            <a:avLst/>
          </a:prstGeom>
          <a:noFill/>
          <a:ln/>
        </p:spPr>
        <p:txBody>
          <a:bodyPr wrap="square" lIns="0" tIns="0" rIns="0" bIns="0" rtlCol="0" anchor="t"/>
          <a:lstStyle/>
          <a:p>
            <a:pPr indent="0" marL="0">
              <a:buNone/>
            </a:pPr>
            <a:r>
              <a:rPr lang="en-US" sz="1300" b="1" dirty="0">
                <a:solidFill>
                  <a:srgbClr val="B8652A"/>
                </a:solidFill>
                <a:latin typeface="Meiryo UI" pitchFamily="34" charset="0"/>
                <a:ea typeface="Meiryo UI" pitchFamily="34" charset="-122"/>
                <a:cs typeface="Meiryo UI" pitchFamily="34" charset="-120"/>
              </a:rPr>
              <a:t>12ヶ月後のゴール</a:t>
            </a:r>
            <a:endParaRPr lang="en-US" sz="1300" dirty="0"/>
          </a:p>
        </p:txBody>
      </p:sp>
      <p:sp>
        <p:nvSpPr>
          <p:cNvPr id="24" name="Shape 19"/>
          <p:cNvSpPr/>
          <p:nvPr/>
        </p:nvSpPr>
        <p:spPr>
          <a:xfrm>
            <a:off x="548640" y="5577840"/>
            <a:ext cx="365760" cy="365760"/>
          </a:xfrm>
          <a:prstGeom prst="ellipse">
            <a:avLst/>
          </a:prstGeom>
          <a:solidFill>
            <a:srgbClr val="FBEFE4"/>
          </a:solidFill>
          <a:ln w="12700">
            <a:solidFill>
              <a:srgbClr val="FBEFE4"/>
            </a:solidFill>
            <a:prstDash val="solid"/>
          </a:ln>
        </p:spPr>
      </p:sp>
      <p:pic>
        <p:nvPicPr>
          <p:cNvPr id="25" name="Image 3" descr="preencoded.png">    </p:cNvPr>
          <p:cNvPicPr>
            <a:picLocks noChangeAspect="1"/>
          </p:cNvPicPr>
          <p:nvPr/>
        </p:nvPicPr>
        <p:blipFill>
          <a:blip r:embed="rId4"/>
          <a:stretch>
            <a:fillRect/>
          </a:stretch>
        </p:blipFill>
        <p:spPr>
          <a:xfrm>
            <a:off x="643738" y="5672938"/>
            <a:ext cx="175565" cy="175565"/>
          </a:xfrm>
          <a:prstGeom prst="rect">
            <a:avLst/>
          </a:prstGeom>
        </p:spPr>
      </p:pic>
      <p:sp>
        <p:nvSpPr>
          <p:cNvPr id="26" name="Text 20"/>
          <p:cNvSpPr txBox="1"/>
          <p:nvPr/>
        </p:nvSpPr>
        <p:spPr>
          <a:xfrm>
            <a:off x="1024128" y="5532120"/>
            <a:ext cx="3012338" cy="5486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HP・SNSから見学・相談が自然に入り、若い世代の利用者が増えている</a:t>
            </a:r>
            <a:endParaRPr lang="en-US" sz="1200" dirty="0"/>
          </a:p>
        </p:txBody>
      </p:sp>
      <p:sp>
        <p:nvSpPr>
          <p:cNvPr id="27" name="Shape 21"/>
          <p:cNvSpPr/>
          <p:nvPr/>
        </p:nvSpPr>
        <p:spPr>
          <a:xfrm>
            <a:off x="4338218" y="5577840"/>
            <a:ext cx="365760" cy="365760"/>
          </a:xfrm>
          <a:prstGeom prst="ellipse">
            <a:avLst/>
          </a:prstGeom>
          <a:solidFill>
            <a:srgbClr val="FBEFE4"/>
          </a:solidFill>
          <a:ln w="12700">
            <a:solidFill>
              <a:srgbClr val="FBEFE4"/>
            </a:solidFill>
            <a:prstDash val="solid"/>
          </a:ln>
        </p:spPr>
      </p:sp>
      <p:pic>
        <p:nvPicPr>
          <p:cNvPr id="28" name="Image 4" descr="preencoded.png">    </p:cNvPr>
          <p:cNvPicPr>
            <a:picLocks noChangeAspect="1"/>
          </p:cNvPicPr>
          <p:nvPr/>
        </p:nvPicPr>
        <p:blipFill>
          <a:blip r:embed="rId5"/>
          <a:stretch>
            <a:fillRect/>
          </a:stretch>
        </p:blipFill>
        <p:spPr>
          <a:xfrm>
            <a:off x="4433316" y="5672938"/>
            <a:ext cx="175565" cy="175565"/>
          </a:xfrm>
          <a:prstGeom prst="rect">
            <a:avLst/>
          </a:prstGeom>
        </p:spPr>
      </p:pic>
      <p:sp>
        <p:nvSpPr>
          <p:cNvPr id="29" name="Text 22"/>
          <p:cNvSpPr txBox="1"/>
          <p:nvPr/>
        </p:nvSpPr>
        <p:spPr>
          <a:xfrm>
            <a:off x="4813706" y="5532120"/>
            <a:ext cx="3012338" cy="5486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代表の事務時間が減り、支援と新規事業に集中できている</a:t>
            </a:r>
            <a:endParaRPr lang="en-US" sz="1200" dirty="0"/>
          </a:p>
        </p:txBody>
      </p:sp>
      <p:sp>
        <p:nvSpPr>
          <p:cNvPr id="30" name="Shape 23"/>
          <p:cNvSpPr/>
          <p:nvPr/>
        </p:nvSpPr>
        <p:spPr>
          <a:xfrm>
            <a:off x="8127797" y="5577840"/>
            <a:ext cx="365760" cy="365760"/>
          </a:xfrm>
          <a:prstGeom prst="ellipse">
            <a:avLst/>
          </a:prstGeom>
          <a:solidFill>
            <a:srgbClr val="FBEFE4"/>
          </a:solidFill>
          <a:ln w="12700">
            <a:solidFill>
              <a:srgbClr val="FBEFE4"/>
            </a:solidFill>
            <a:prstDash val="solid"/>
          </a:ln>
        </p:spPr>
      </p:sp>
      <p:pic>
        <p:nvPicPr>
          <p:cNvPr id="31" name="Image 5" descr="preencoded.png">    </p:cNvPr>
          <p:cNvPicPr>
            <a:picLocks noChangeAspect="1"/>
          </p:cNvPicPr>
          <p:nvPr/>
        </p:nvPicPr>
        <p:blipFill>
          <a:blip r:embed="rId6"/>
          <a:stretch>
            <a:fillRect/>
          </a:stretch>
        </p:blipFill>
        <p:spPr>
          <a:xfrm>
            <a:off x="8222894" y="5672938"/>
            <a:ext cx="175565" cy="175565"/>
          </a:xfrm>
          <a:prstGeom prst="rect">
            <a:avLst/>
          </a:prstGeom>
        </p:spPr>
      </p:pic>
      <p:sp>
        <p:nvSpPr>
          <p:cNvPr id="32" name="Text 24"/>
          <p:cNvSpPr txBox="1"/>
          <p:nvPr/>
        </p:nvSpPr>
        <p:spPr>
          <a:xfrm>
            <a:off x="8603285" y="5532120"/>
            <a:ext cx="3012338" cy="5486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2027年4月の新年度・グループホーム立ち上げを予定どおり迎えている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01｜RECAP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前回お打ち合わせの振り返り</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498080" cy="914400"/>
        </p:xfrm>
        <a:graphic>
          <a:graphicData uri="http://schemas.openxmlformats.org/drawingml/2006/table">
            <a:tbl>
              <a:tblPr/>
              <a:tblGrid>
                <a:gridCol w="1737360"/>
                <a:gridCol w="5760720"/>
              </a:tblGrid>
              <a:tr h="585216">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項目</a:t>
                      </a:r>
                      <a:endParaRPr lang="en-US" sz="12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確認内容</a:t>
                      </a:r>
                      <a:endParaRPr lang="en-US" sz="12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法人・施設</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特定非営利活動法人ハートライフせんだい／小規模地域活動センター 創働舎（職員・パート6名）</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強み</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10年間職員の欠けがない安定した支援体制、「利用者の人生として考える」支援へのこだわり</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現在の集客</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区役所の紹介・紙のハンドブック・口コミが中心。HPはあるがWeb経由の問い合わせはゼロ</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課題</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代表に事務が集中／Webが放置気味／若年層の流出と利用者の高齢化／GH立ち上げ・4月の制度対応の遅れ</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目標</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b="1" dirty="0">
                          <a:solidFill>
                            <a:srgbClr val="B8652A"/>
                          </a:solidFill>
                          <a:latin typeface="Meiryo UI" pitchFamily="34" charset="0"/>
                          <a:ea typeface="Meiryo UI" pitchFamily="34" charset="-122"/>
                          <a:cs typeface="Meiryo UI" pitchFamily="34" charset="-120"/>
                        </a:rPr>
                        <a:t>代表が支援と新規事業に集中できる体制と、若い世代に届く認知の仕組みをつくる</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方針</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自前のWeb運用は難しいため、実働部隊を伴うアウトソーシング型で。費用は最小限・効果を明確に</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585216">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本日のお約束</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①認知拡大の具体例とメリット ②事務代行・実働支援プラン ③2027年4月に向けた伴走体制</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bl>
          </a:graphicData>
        </a:graphic>
      </p:graphicFrame>
      <p:sp>
        <p:nvSpPr>
          <p:cNvPr id="7" name="Shape 4"/>
          <p:cNvSpPr/>
          <p:nvPr/>
        </p:nvSpPr>
        <p:spPr>
          <a:xfrm>
            <a:off x="8412480" y="1463040"/>
            <a:ext cx="3227832" cy="4572000"/>
          </a:xfrm>
          <a:prstGeom prst="roundRect">
            <a:avLst>
              <a:gd name="adj" fmla="val 3399"/>
            </a:avLst>
          </a:prstGeom>
          <a:solidFill>
            <a:srgbClr val="EDF3EF"/>
          </a:solidFill>
          <a:ln w="12700">
            <a:solidFill>
              <a:srgbClr val="EDF3EF"/>
            </a:solidFill>
            <a:prstDash val="solid"/>
          </a:ln>
        </p:spPr>
      </p:sp>
      <p:sp>
        <p:nvSpPr>
          <p:cNvPr id="8" name="Shape 5"/>
          <p:cNvSpPr/>
          <p:nvPr/>
        </p:nvSpPr>
        <p:spPr>
          <a:xfrm>
            <a:off x="8732520" y="1783080"/>
            <a:ext cx="731520" cy="731520"/>
          </a:xfrm>
          <a:prstGeom prst="ellipse">
            <a:avLst/>
          </a:prstGeom>
          <a:solidFill>
            <a:srgbClr val="46705A"/>
          </a:solidFill>
          <a:ln w="12700">
            <a:solidFill>
              <a:srgbClr val="46705A"/>
            </a:solidFill>
            <a:prstDash val="solid"/>
          </a:ln>
        </p:spPr>
      </p:sp>
      <p:pic>
        <p:nvPicPr>
          <p:cNvPr id="9" name="Image 0" descr="preencoded.png">    </p:cNvPr>
          <p:cNvPicPr>
            <a:picLocks noChangeAspect="1"/>
          </p:cNvPicPr>
          <p:nvPr/>
        </p:nvPicPr>
        <p:blipFill>
          <a:blip r:embed="rId1"/>
          <a:stretch>
            <a:fillRect/>
          </a:stretch>
        </p:blipFill>
        <p:spPr>
          <a:xfrm>
            <a:off x="8922715" y="1973275"/>
            <a:ext cx="351130" cy="351130"/>
          </a:xfrm>
          <a:prstGeom prst="rect">
            <a:avLst/>
          </a:prstGeom>
        </p:spPr>
      </p:pic>
      <p:sp>
        <p:nvSpPr>
          <p:cNvPr id="10" name="Text 6"/>
          <p:cNvSpPr txBox="1"/>
          <p:nvPr/>
        </p:nvSpPr>
        <p:spPr>
          <a:xfrm>
            <a:off x="8732520" y="2697480"/>
            <a:ext cx="2651760" cy="457200"/>
          </a:xfrm>
          <a:prstGeom prst="rect">
            <a:avLst/>
          </a:prstGeom>
          <a:noFill/>
          <a:ln/>
        </p:spPr>
        <p:txBody>
          <a:bodyPr wrap="square" lIns="0" tIns="0" rIns="0" bIns="0" rtlCol="0" anchor="t"/>
          <a:lstStyle/>
          <a:p>
            <a:pPr indent="0" marL="0">
              <a:buNone/>
            </a:pPr>
            <a:r>
              <a:rPr lang="en-US" sz="1450" b="1" dirty="0">
                <a:solidFill>
                  <a:srgbClr val="46705A"/>
                </a:solidFill>
                <a:latin typeface="Meiryo UI" pitchFamily="34" charset="0"/>
                <a:ea typeface="Meiryo UI" pitchFamily="34" charset="-122"/>
                <a:cs typeface="Meiryo UI" pitchFamily="34" charset="-120"/>
              </a:rPr>
              <a:t>鈴木施設長の“想い”を台本の核に</a:t>
            </a:r>
            <a:endParaRPr lang="en-US" sz="1450" dirty="0"/>
          </a:p>
        </p:txBody>
      </p:sp>
      <p:sp>
        <p:nvSpPr>
          <p:cNvPr id="11" name="Text 7"/>
          <p:cNvSpPr txBox="1"/>
          <p:nvPr/>
        </p:nvSpPr>
        <p:spPr>
          <a:xfrm>
            <a:off x="8732520" y="3200400"/>
            <a:ext cx="2651760" cy="2697480"/>
          </a:xfrm>
          <a:prstGeom prst="rect">
            <a:avLst/>
          </a:prstGeom>
          <a:noFill/>
          <a:ln/>
        </p:spPr>
        <p:txBody>
          <a:bodyPr wrap="square" lIns="0" tIns="0" rIns="0" bIns="0" rtlCol="0" anchor="t"/>
          <a:lstStyle/>
          <a:p>
            <a:pPr indent="0" marL="0">
              <a:lnSpc>
                <a:spcPct val="120000"/>
              </a:lnSpc>
              <a:buNone/>
            </a:pPr>
            <a:r>
              <a:rPr lang="en-US" sz="1150" dirty="0">
                <a:solidFill>
                  <a:srgbClr val="2A322D"/>
                </a:solidFill>
                <a:latin typeface="Meiryo UI" pitchFamily="34" charset="0"/>
                <a:ea typeface="Meiryo UI" pitchFamily="34" charset="-122"/>
                <a:cs typeface="Meiryo UI" pitchFamily="34" charset="-120"/>
              </a:rPr>
              <a:t>引き継ぎのない中で10年間地域を守ってきた想いと、「優しさと甘えの境目を読み間違えない」支援の姿勢を、無料3本の台本の核にします。</a:t>
            </a:r>
            <a:endParaRPr lang="en-US" sz="1150" dirty="0"/>
          </a:p>
          <a:p>
            <a:pPr indent="0" marL="0">
              <a:lnSpc>
                <a:spcPct val="120000"/>
              </a:lnSpc>
              <a:buNone/>
            </a:pPr>
            <a:endParaRPr lang="en-US" sz="1150" dirty="0"/>
          </a:p>
          <a:p>
            <a:pPr indent="0" marL="0">
              <a:lnSpc>
                <a:spcPct val="120000"/>
              </a:lnSpc>
              <a:buNone/>
            </a:pPr>
            <a:r>
              <a:rPr lang="en-US" sz="1150" dirty="0">
                <a:solidFill>
                  <a:srgbClr val="2A322D"/>
                </a:solidFill>
                <a:latin typeface="Meiryo UI" pitchFamily="34" charset="0"/>
                <a:ea typeface="Meiryo UI" pitchFamily="34" charset="-122"/>
                <a:cs typeface="Meiryo UI" pitchFamily="34" charset="-120"/>
              </a:rPr>
              <a:t>施設の写真（利用者が写らないもの）やパンフレットがあれば、ご提供ください。</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環境の変化：「待っていれば紹介が来る」時代ではなくなっている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1417320" y="1417320"/>
            <a:ext cx="2743200" cy="274320"/>
          </a:xfrm>
          <a:prstGeom prst="rect">
            <a:avLst/>
          </a:prstGeom>
          <a:noFill/>
          <a:ln/>
        </p:spPr>
        <p:txBody>
          <a:bodyPr wrap="square" lIns="0" tIns="0" rIns="0" bIns="0" rtlCol="0" anchor="t"/>
          <a:lstStyle/>
          <a:p>
            <a:pPr indent="0" marL="0">
              <a:buNone/>
            </a:pPr>
            <a:r>
              <a:rPr lang="en-US" sz="1100" b="1" dirty="0">
                <a:solidFill>
                  <a:srgbClr val="66776C"/>
                </a:solidFill>
                <a:latin typeface="Meiryo UI" pitchFamily="34" charset="0"/>
                <a:ea typeface="Meiryo UI" pitchFamily="34" charset="-122"/>
                <a:cs typeface="Meiryo UI" pitchFamily="34" charset="-120"/>
              </a:rPr>
              <a:t>変化</a:t>
            </a:r>
            <a:endParaRPr lang="en-US" sz="1100" dirty="0"/>
          </a:p>
        </p:txBody>
      </p:sp>
      <p:sp>
        <p:nvSpPr>
          <p:cNvPr id="7" name="Text 5"/>
          <p:cNvSpPr txBox="1"/>
          <p:nvPr/>
        </p:nvSpPr>
        <p:spPr>
          <a:xfrm>
            <a:off x="3977640" y="1417320"/>
            <a:ext cx="2743200" cy="274320"/>
          </a:xfrm>
          <a:prstGeom prst="rect">
            <a:avLst/>
          </a:prstGeom>
          <a:noFill/>
          <a:ln/>
        </p:spPr>
        <p:txBody>
          <a:bodyPr wrap="square" lIns="0" tIns="0" rIns="0" bIns="0" rtlCol="0" anchor="t"/>
          <a:lstStyle/>
          <a:p>
            <a:pPr indent="0" marL="0">
              <a:buNone/>
            </a:pPr>
            <a:r>
              <a:rPr lang="en-US" sz="1100" b="1" dirty="0">
                <a:solidFill>
                  <a:srgbClr val="66776C"/>
                </a:solidFill>
                <a:latin typeface="Meiryo UI" pitchFamily="34" charset="0"/>
                <a:ea typeface="Meiryo UI" pitchFamily="34" charset="-122"/>
                <a:cs typeface="Meiryo UI" pitchFamily="34" charset="-120"/>
              </a:rPr>
              <a:t>起きていること</a:t>
            </a:r>
            <a:endParaRPr lang="en-US" sz="1100" dirty="0"/>
          </a:p>
        </p:txBody>
      </p:sp>
      <p:sp>
        <p:nvSpPr>
          <p:cNvPr id="8" name="Text 6"/>
          <p:cNvSpPr txBox="1"/>
          <p:nvPr/>
        </p:nvSpPr>
        <p:spPr>
          <a:xfrm>
            <a:off x="7818120" y="1417320"/>
            <a:ext cx="2743200" cy="274320"/>
          </a:xfrm>
          <a:prstGeom prst="rect">
            <a:avLst/>
          </a:prstGeom>
          <a:noFill/>
          <a:ln/>
        </p:spPr>
        <p:txBody>
          <a:bodyPr wrap="square" lIns="0" tIns="0" rIns="0" bIns="0" rtlCol="0" anchor="t"/>
          <a:lstStyle/>
          <a:p>
            <a:pPr indent="0" marL="0">
              <a:buNone/>
            </a:pPr>
            <a:r>
              <a:rPr lang="en-US" sz="1100" b="1" dirty="0">
                <a:solidFill>
                  <a:srgbClr val="B8652A"/>
                </a:solidFill>
                <a:latin typeface="Meiryo UI" pitchFamily="34" charset="0"/>
                <a:ea typeface="Meiryo UI" pitchFamily="34" charset="-122"/>
                <a:cs typeface="Meiryo UI" pitchFamily="34" charset="-120"/>
              </a:rPr>
              <a:t>貴法人への影響</a:t>
            </a:r>
            <a:endParaRPr lang="en-US" sz="1100" dirty="0"/>
          </a:p>
        </p:txBody>
      </p:sp>
      <p:sp>
        <p:nvSpPr>
          <p:cNvPr id="9" name="Shape 7"/>
          <p:cNvSpPr/>
          <p:nvPr/>
        </p:nvSpPr>
        <p:spPr>
          <a:xfrm>
            <a:off x="548640" y="1737360"/>
            <a:ext cx="11094415" cy="777240"/>
          </a:xfrm>
          <a:prstGeom prst="roundRect">
            <a:avLst>
              <a:gd name="adj" fmla="val 14118"/>
            </a:avLst>
          </a:prstGeom>
          <a:solidFill>
            <a:srgbClr val="F6F9F7"/>
          </a:solidFill>
          <a:ln w="12700">
            <a:solidFill>
              <a:srgbClr val="F6F9F7"/>
            </a:solidFill>
            <a:prstDash val="solid"/>
          </a:ln>
        </p:spPr>
      </p:sp>
      <p:sp>
        <p:nvSpPr>
          <p:cNvPr id="10" name="Shape 8"/>
          <p:cNvSpPr/>
          <p:nvPr/>
        </p:nvSpPr>
        <p:spPr>
          <a:xfrm>
            <a:off x="713232" y="1847088"/>
            <a:ext cx="548640" cy="548640"/>
          </a:xfrm>
          <a:prstGeom prst="ellipse">
            <a:avLst/>
          </a:prstGeom>
          <a:solidFill>
            <a:srgbClr val="46705A"/>
          </a:solidFill>
          <a:ln w="12700">
            <a:solidFill>
              <a:srgbClr val="46705A"/>
            </a:solidFill>
            <a:prstDash val="solid"/>
          </a:ln>
        </p:spPr>
      </p:sp>
      <p:pic>
        <p:nvPicPr>
          <p:cNvPr id="11" name="Image 0" descr="preencoded.png">    </p:cNvPr>
          <p:cNvPicPr>
            <a:picLocks noChangeAspect="1"/>
          </p:cNvPicPr>
          <p:nvPr/>
        </p:nvPicPr>
        <p:blipFill>
          <a:blip r:embed="rId1"/>
          <a:stretch>
            <a:fillRect/>
          </a:stretch>
        </p:blipFill>
        <p:spPr>
          <a:xfrm>
            <a:off x="855878" y="1989734"/>
            <a:ext cx="263347" cy="263347"/>
          </a:xfrm>
          <a:prstGeom prst="rect">
            <a:avLst/>
          </a:prstGeom>
        </p:spPr>
      </p:pic>
      <p:sp>
        <p:nvSpPr>
          <p:cNvPr id="12" name="Text 9"/>
          <p:cNvSpPr txBox="1"/>
          <p:nvPr/>
        </p:nvSpPr>
        <p:spPr>
          <a:xfrm>
            <a:off x="1417320" y="1737360"/>
            <a:ext cx="2514600" cy="777240"/>
          </a:xfrm>
          <a:prstGeom prst="rect">
            <a:avLst/>
          </a:prstGeom>
          <a:noFill/>
          <a:ln/>
        </p:spPr>
        <p:txBody>
          <a:bodyPr wrap="square" lIns="0" tIns="0" rIns="0" bIns="0" rtlCol="0" anchor="ctr"/>
          <a:lstStyle/>
          <a:p>
            <a:pPr indent="0" marL="0">
              <a:buNone/>
            </a:pPr>
            <a:r>
              <a:rPr lang="en-US" sz="1350" b="1" dirty="0">
                <a:solidFill>
                  <a:srgbClr val="46705A"/>
                </a:solidFill>
                <a:latin typeface="Meiryo UI" pitchFamily="34" charset="0"/>
                <a:ea typeface="Meiryo UI" pitchFamily="34" charset="-122"/>
                <a:cs typeface="Meiryo UI" pitchFamily="34" charset="-120"/>
              </a:rPr>
              <a:t>地域で暮らす人の居場所</a:t>
            </a:r>
            <a:endParaRPr lang="en-US" sz="1350" dirty="0"/>
          </a:p>
        </p:txBody>
      </p:sp>
      <p:sp>
        <p:nvSpPr>
          <p:cNvPr id="13" name="Text 10"/>
          <p:cNvSpPr txBox="1"/>
          <p:nvPr/>
        </p:nvSpPr>
        <p:spPr>
          <a:xfrm>
            <a:off x="3977640" y="1737360"/>
            <a:ext cx="3474720" cy="7772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精神障害のある方が地域で暮らし、日中を過ごす場のニーズは続いている</a:t>
            </a:r>
            <a:endParaRPr lang="en-US" sz="1200" dirty="0"/>
          </a:p>
        </p:txBody>
      </p:sp>
      <p:pic>
        <p:nvPicPr>
          <p:cNvPr id="14" name="Image 1" descr="preencoded.png">    </p:cNvPr>
          <p:cNvPicPr>
            <a:picLocks noChangeAspect="1"/>
          </p:cNvPicPr>
          <p:nvPr/>
        </p:nvPicPr>
        <p:blipFill>
          <a:blip r:embed="rId2"/>
          <a:stretch>
            <a:fillRect/>
          </a:stretch>
        </p:blipFill>
        <p:spPr>
          <a:xfrm>
            <a:off x="7479792" y="2011680"/>
            <a:ext cx="228600" cy="228600"/>
          </a:xfrm>
          <a:prstGeom prst="rect">
            <a:avLst/>
          </a:prstGeom>
        </p:spPr>
      </p:pic>
      <p:sp>
        <p:nvSpPr>
          <p:cNvPr id="15" name="Text 11"/>
          <p:cNvSpPr txBox="1"/>
          <p:nvPr/>
        </p:nvSpPr>
        <p:spPr>
          <a:xfrm>
            <a:off x="7818120" y="1737360"/>
            <a:ext cx="3657600" cy="777240"/>
          </a:xfrm>
          <a:prstGeom prst="rect">
            <a:avLst/>
          </a:prstGeom>
          <a:noFill/>
          <a:ln/>
        </p:spPr>
        <p:txBody>
          <a:bodyPr wrap="square" lIns="0" tIns="0" rIns="0" bIns="0" rtlCol="0" anchor="ctr"/>
          <a:lstStyle/>
          <a:p>
            <a:pPr indent="0" marL="0">
              <a:buNone/>
            </a:pPr>
            <a:r>
              <a:rPr lang="en-US" sz="1200" b="1" dirty="0">
                <a:solidFill>
                  <a:srgbClr val="2A322D"/>
                </a:solidFill>
                <a:latin typeface="Meiryo UI" pitchFamily="34" charset="0"/>
                <a:ea typeface="Meiryo UI" pitchFamily="34" charset="-122"/>
                <a:cs typeface="Meiryo UI" pitchFamily="34" charset="-120"/>
              </a:rPr>
              <a:t>“地域の居場所”の役割は大きい</a:t>
            </a:r>
            <a:endParaRPr lang="en-US" sz="1200" dirty="0"/>
          </a:p>
        </p:txBody>
      </p:sp>
      <p:sp>
        <p:nvSpPr>
          <p:cNvPr id="16" name="Shape 12"/>
          <p:cNvSpPr/>
          <p:nvPr/>
        </p:nvSpPr>
        <p:spPr>
          <a:xfrm>
            <a:off x="548640" y="2651760"/>
            <a:ext cx="11094415" cy="777240"/>
          </a:xfrm>
          <a:prstGeom prst="roundRect">
            <a:avLst>
              <a:gd name="adj" fmla="val 14118"/>
            </a:avLst>
          </a:prstGeom>
          <a:solidFill>
            <a:srgbClr val="F6F9F7"/>
          </a:solidFill>
          <a:ln w="12700">
            <a:solidFill>
              <a:srgbClr val="F6F9F7"/>
            </a:solidFill>
            <a:prstDash val="solid"/>
          </a:ln>
        </p:spPr>
      </p:sp>
      <p:sp>
        <p:nvSpPr>
          <p:cNvPr id="17" name="Shape 13"/>
          <p:cNvSpPr/>
          <p:nvPr/>
        </p:nvSpPr>
        <p:spPr>
          <a:xfrm>
            <a:off x="713232" y="2761488"/>
            <a:ext cx="548640" cy="548640"/>
          </a:xfrm>
          <a:prstGeom prst="ellipse">
            <a:avLst/>
          </a:prstGeom>
          <a:solidFill>
            <a:srgbClr val="46705A"/>
          </a:solidFill>
          <a:ln w="12700">
            <a:solidFill>
              <a:srgbClr val="46705A"/>
            </a:solidFill>
            <a:prstDash val="solid"/>
          </a:ln>
        </p:spPr>
      </p:sp>
      <p:pic>
        <p:nvPicPr>
          <p:cNvPr id="18" name="Image 2" descr="preencoded.png">    </p:cNvPr>
          <p:cNvPicPr>
            <a:picLocks noChangeAspect="1"/>
          </p:cNvPicPr>
          <p:nvPr/>
        </p:nvPicPr>
        <p:blipFill>
          <a:blip r:embed="rId3"/>
          <a:stretch>
            <a:fillRect/>
          </a:stretch>
        </p:blipFill>
        <p:spPr>
          <a:xfrm>
            <a:off x="855878" y="2904134"/>
            <a:ext cx="263347" cy="263347"/>
          </a:xfrm>
          <a:prstGeom prst="rect">
            <a:avLst/>
          </a:prstGeom>
        </p:spPr>
      </p:pic>
      <p:sp>
        <p:nvSpPr>
          <p:cNvPr id="19" name="Text 14"/>
          <p:cNvSpPr txBox="1"/>
          <p:nvPr/>
        </p:nvSpPr>
        <p:spPr>
          <a:xfrm>
            <a:off x="1417320" y="2651760"/>
            <a:ext cx="2514600" cy="777240"/>
          </a:xfrm>
          <a:prstGeom prst="rect">
            <a:avLst/>
          </a:prstGeom>
          <a:noFill/>
          <a:ln/>
        </p:spPr>
        <p:txBody>
          <a:bodyPr wrap="square" lIns="0" tIns="0" rIns="0" bIns="0" rtlCol="0" anchor="ctr"/>
          <a:lstStyle/>
          <a:p>
            <a:pPr indent="0" marL="0">
              <a:buNone/>
            </a:pPr>
            <a:r>
              <a:rPr lang="en-US" sz="1350" b="1" dirty="0">
                <a:solidFill>
                  <a:srgbClr val="46705A"/>
                </a:solidFill>
                <a:latin typeface="Meiryo UI" pitchFamily="34" charset="0"/>
                <a:ea typeface="Meiryo UI" pitchFamily="34" charset="-122"/>
                <a:cs typeface="Meiryo UI" pitchFamily="34" charset="-120"/>
              </a:rPr>
              <a:t>PC特化型の事業所の増加</a:t>
            </a:r>
            <a:endParaRPr lang="en-US" sz="1350" dirty="0"/>
          </a:p>
        </p:txBody>
      </p:sp>
      <p:sp>
        <p:nvSpPr>
          <p:cNvPr id="20" name="Text 15"/>
          <p:cNvSpPr txBox="1"/>
          <p:nvPr/>
        </p:nvSpPr>
        <p:spPr>
          <a:xfrm>
            <a:off x="3977640" y="2651760"/>
            <a:ext cx="3474720" cy="7772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若い世代は、PC作業が中心の事業所を選ぶ傾向にある</a:t>
            </a:r>
            <a:endParaRPr lang="en-US" sz="1200" dirty="0"/>
          </a:p>
        </p:txBody>
      </p:sp>
      <p:pic>
        <p:nvPicPr>
          <p:cNvPr id="21" name="Image 3" descr="preencoded.png">    </p:cNvPr>
          <p:cNvPicPr>
            <a:picLocks noChangeAspect="1"/>
          </p:cNvPicPr>
          <p:nvPr/>
        </p:nvPicPr>
        <p:blipFill>
          <a:blip r:embed="rId4"/>
          <a:stretch>
            <a:fillRect/>
          </a:stretch>
        </p:blipFill>
        <p:spPr>
          <a:xfrm>
            <a:off x="7479792" y="2926080"/>
            <a:ext cx="228600" cy="228600"/>
          </a:xfrm>
          <a:prstGeom prst="rect">
            <a:avLst/>
          </a:prstGeom>
        </p:spPr>
      </p:pic>
      <p:sp>
        <p:nvSpPr>
          <p:cNvPr id="22" name="Text 16"/>
          <p:cNvSpPr txBox="1"/>
          <p:nvPr/>
        </p:nvSpPr>
        <p:spPr>
          <a:xfrm>
            <a:off x="7818120" y="2651760"/>
            <a:ext cx="3657600" cy="777240"/>
          </a:xfrm>
          <a:prstGeom prst="rect">
            <a:avLst/>
          </a:prstGeom>
          <a:noFill/>
          <a:ln/>
        </p:spPr>
        <p:txBody>
          <a:bodyPr wrap="square" lIns="0" tIns="0" rIns="0" bIns="0" rtlCol="0" anchor="ctr"/>
          <a:lstStyle/>
          <a:p>
            <a:pPr indent="0" marL="0">
              <a:buNone/>
            </a:pPr>
            <a:r>
              <a:rPr lang="en-US" sz="1200" b="1" dirty="0">
                <a:solidFill>
                  <a:srgbClr val="2A322D"/>
                </a:solidFill>
                <a:latin typeface="Meiryo UI" pitchFamily="34" charset="0"/>
                <a:ea typeface="Meiryo UI" pitchFamily="34" charset="-122"/>
                <a:cs typeface="Meiryo UI" pitchFamily="34" charset="-120"/>
              </a:rPr>
              <a:t>手作業・ものづくりの良さが伝わらないと選ばれない</a:t>
            </a:r>
            <a:endParaRPr lang="en-US" sz="1200" dirty="0"/>
          </a:p>
        </p:txBody>
      </p:sp>
      <p:sp>
        <p:nvSpPr>
          <p:cNvPr id="23" name="Shape 17"/>
          <p:cNvSpPr/>
          <p:nvPr/>
        </p:nvSpPr>
        <p:spPr>
          <a:xfrm>
            <a:off x="548640" y="3566160"/>
            <a:ext cx="11094415" cy="777240"/>
          </a:xfrm>
          <a:prstGeom prst="roundRect">
            <a:avLst>
              <a:gd name="adj" fmla="val 14118"/>
            </a:avLst>
          </a:prstGeom>
          <a:solidFill>
            <a:srgbClr val="F6F9F7"/>
          </a:solidFill>
          <a:ln w="12700">
            <a:solidFill>
              <a:srgbClr val="F6F9F7"/>
            </a:solidFill>
            <a:prstDash val="solid"/>
          </a:ln>
        </p:spPr>
      </p:sp>
      <p:sp>
        <p:nvSpPr>
          <p:cNvPr id="24" name="Shape 18"/>
          <p:cNvSpPr/>
          <p:nvPr/>
        </p:nvSpPr>
        <p:spPr>
          <a:xfrm>
            <a:off x="713232" y="3675888"/>
            <a:ext cx="548640" cy="548640"/>
          </a:xfrm>
          <a:prstGeom prst="ellipse">
            <a:avLst/>
          </a:prstGeom>
          <a:solidFill>
            <a:srgbClr val="46705A"/>
          </a:solidFill>
          <a:ln w="12700">
            <a:solidFill>
              <a:srgbClr val="46705A"/>
            </a:solidFill>
            <a:prstDash val="solid"/>
          </a:ln>
        </p:spPr>
      </p:sp>
      <p:pic>
        <p:nvPicPr>
          <p:cNvPr id="25" name="Image 4" descr="preencoded.png">    </p:cNvPr>
          <p:cNvPicPr>
            <a:picLocks noChangeAspect="1"/>
          </p:cNvPicPr>
          <p:nvPr/>
        </p:nvPicPr>
        <p:blipFill>
          <a:blip r:embed="rId5"/>
          <a:stretch>
            <a:fillRect/>
          </a:stretch>
        </p:blipFill>
        <p:spPr>
          <a:xfrm>
            <a:off x="855878" y="3818534"/>
            <a:ext cx="263347" cy="263347"/>
          </a:xfrm>
          <a:prstGeom prst="rect">
            <a:avLst/>
          </a:prstGeom>
        </p:spPr>
      </p:pic>
      <p:sp>
        <p:nvSpPr>
          <p:cNvPr id="26" name="Text 19"/>
          <p:cNvSpPr txBox="1"/>
          <p:nvPr/>
        </p:nvSpPr>
        <p:spPr>
          <a:xfrm>
            <a:off x="1417320" y="3566160"/>
            <a:ext cx="2514600" cy="777240"/>
          </a:xfrm>
          <a:prstGeom prst="rect">
            <a:avLst/>
          </a:prstGeom>
          <a:noFill/>
          <a:ln/>
        </p:spPr>
        <p:txBody>
          <a:bodyPr wrap="square" lIns="0" tIns="0" rIns="0" bIns="0" rtlCol="0" anchor="ctr"/>
          <a:lstStyle/>
          <a:p>
            <a:pPr indent="0" marL="0">
              <a:buNone/>
            </a:pPr>
            <a:r>
              <a:rPr lang="en-US" sz="1350" b="1" dirty="0">
                <a:solidFill>
                  <a:srgbClr val="46705A"/>
                </a:solidFill>
                <a:latin typeface="Meiryo UI" pitchFamily="34" charset="0"/>
                <a:ea typeface="Meiryo UI" pitchFamily="34" charset="-122"/>
                <a:cs typeface="Meiryo UI" pitchFamily="34" charset="-120"/>
              </a:rPr>
              <a:t>施設探しはスマホで</a:t>
            </a:r>
            <a:endParaRPr lang="en-US" sz="1350" dirty="0"/>
          </a:p>
        </p:txBody>
      </p:sp>
      <p:sp>
        <p:nvSpPr>
          <p:cNvPr id="27" name="Text 20"/>
          <p:cNvSpPr txBox="1"/>
          <p:nvPr/>
        </p:nvSpPr>
        <p:spPr>
          <a:xfrm>
            <a:off x="3977640" y="3566160"/>
            <a:ext cx="3474720" cy="7772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ご本人・ご家族は、検索・SNS・動画で通い先を探している</a:t>
            </a:r>
            <a:endParaRPr lang="en-US" sz="1200" dirty="0"/>
          </a:p>
        </p:txBody>
      </p:sp>
      <p:pic>
        <p:nvPicPr>
          <p:cNvPr id="28" name="Image 5" descr="preencoded.png">    </p:cNvPr>
          <p:cNvPicPr>
            <a:picLocks noChangeAspect="1"/>
          </p:cNvPicPr>
          <p:nvPr/>
        </p:nvPicPr>
        <p:blipFill>
          <a:blip r:embed="rId6"/>
          <a:stretch>
            <a:fillRect/>
          </a:stretch>
        </p:blipFill>
        <p:spPr>
          <a:xfrm>
            <a:off x="7479792" y="3840480"/>
            <a:ext cx="228600" cy="228600"/>
          </a:xfrm>
          <a:prstGeom prst="rect">
            <a:avLst/>
          </a:prstGeom>
        </p:spPr>
      </p:pic>
      <p:sp>
        <p:nvSpPr>
          <p:cNvPr id="29" name="Text 21"/>
          <p:cNvSpPr txBox="1"/>
          <p:nvPr/>
        </p:nvSpPr>
        <p:spPr>
          <a:xfrm>
            <a:off x="7818120" y="3566160"/>
            <a:ext cx="3657600" cy="777240"/>
          </a:xfrm>
          <a:prstGeom prst="rect">
            <a:avLst/>
          </a:prstGeom>
          <a:noFill/>
          <a:ln/>
        </p:spPr>
        <p:txBody>
          <a:bodyPr wrap="square" lIns="0" tIns="0" rIns="0" bIns="0" rtlCol="0" anchor="ctr"/>
          <a:lstStyle/>
          <a:p>
            <a:pPr indent="0" marL="0">
              <a:buNone/>
            </a:pPr>
            <a:r>
              <a:rPr lang="en-US" sz="1200" b="1" dirty="0">
                <a:solidFill>
                  <a:srgbClr val="2A322D"/>
                </a:solidFill>
                <a:latin typeface="Meiryo UI" pitchFamily="34" charset="0"/>
                <a:ea typeface="Meiryo UI" pitchFamily="34" charset="-122"/>
                <a:cs typeface="Meiryo UI" pitchFamily="34" charset="-120"/>
              </a:rPr>
              <a:t>紙のハンドブックだけでは若い世代に届かない</a:t>
            </a:r>
            <a:endParaRPr lang="en-US" sz="1200" dirty="0"/>
          </a:p>
        </p:txBody>
      </p:sp>
      <p:sp>
        <p:nvSpPr>
          <p:cNvPr id="30" name="Shape 22"/>
          <p:cNvSpPr/>
          <p:nvPr/>
        </p:nvSpPr>
        <p:spPr>
          <a:xfrm>
            <a:off x="548640" y="4480560"/>
            <a:ext cx="11094415" cy="777240"/>
          </a:xfrm>
          <a:prstGeom prst="roundRect">
            <a:avLst>
              <a:gd name="adj" fmla="val 14118"/>
            </a:avLst>
          </a:prstGeom>
          <a:solidFill>
            <a:srgbClr val="F6F9F7"/>
          </a:solidFill>
          <a:ln w="12700">
            <a:solidFill>
              <a:srgbClr val="F6F9F7"/>
            </a:solidFill>
            <a:prstDash val="solid"/>
          </a:ln>
        </p:spPr>
      </p:sp>
      <p:sp>
        <p:nvSpPr>
          <p:cNvPr id="31" name="Shape 23"/>
          <p:cNvSpPr/>
          <p:nvPr/>
        </p:nvSpPr>
        <p:spPr>
          <a:xfrm>
            <a:off x="713232" y="4590288"/>
            <a:ext cx="548640" cy="548640"/>
          </a:xfrm>
          <a:prstGeom prst="ellipse">
            <a:avLst/>
          </a:prstGeom>
          <a:solidFill>
            <a:srgbClr val="46705A"/>
          </a:solidFill>
          <a:ln w="12700">
            <a:solidFill>
              <a:srgbClr val="46705A"/>
            </a:solidFill>
            <a:prstDash val="solid"/>
          </a:ln>
        </p:spPr>
      </p:sp>
      <p:pic>
        <p:nvPicPr>
          <p:cNvPr id="32" name="Image 6" descr="preencoded.png">    </p:cNvPr>
          <p:cNvPicPr>
            <a:picLocks noChangeAspect="1"/>
          </p:cNvPicPr>
          <p:nvPr/>
        </p:nvPicPr>
        <p:blipFill>
          <a:blip r:embed="rId7"/>
          <a:stretch>
            <a:fillRect/>
          </a:stretch>
        </p:blipFill>
        <p:spPr>
          <a:xfrm>
            <a:off x="855878" y="4732934"/>
            <a:ext cx="263347" cy="263347"/>
          </a:xfrm>
          <a:prstGeom prst="rect">
            <a:avLst/>
          </a:prstGeom>
        </p:spPr>
      </p:pic>
      <p:sp>
        <p:nvSpPr>
          <p:cNvPr id="33" name="Text 24"/>
          <p:cNvSpPr txBox="1"/>
          <p:nvPr/>
        </p:nvSpPr>
        <p:spPr>
          <a:xfrm>
            <a:off x="1417320" y="4480560"/>
            <a:ext cx="2514600" cy="777240"/>
          </a:xfrm>
          <a:prstGeom prst="rect">
            <a:avLst/>
          </a:prstGeom>
          <a:noFill/>
          <a:ln/>
        </p:spPr>
        <p:txBody>
          <a:bodyPr wrap="square" lIns="0" tIns="0" rIns="0" bIns="0" rtlCol="0" anchor="ctr"/>
          <a:lstStyle/>
          <a:p>
            <a:pPr indent="0" marL="0">
              <a:buNone/>
            </a:pPr>
            <a:r>
              <a:rPr lang="en-US" sz="1350" b="1" dirty="0">
                <a:solidFill>
                  <a:srgbClr val="46705A"/>
                </a:solidFill>
                <a:latin typeface="Meiryo UI" pitchFamily="34" charset="0"/>
                <a:ea typeface="Meiryo UI" pitchFamily="34" charset="-122"/>
                <a:cs typeface="Meiryo UI" pitchFamily="34" charset="-120"/>
              </a:rPr>
              <a:t>事務の負担の増加</a:t>
            </a:r>
            <a:endParaRPr lang="en-US" sz="1350" dirty="0"/>
          </a:p>
        </p:txBody>
      </p:sp>
      <p:sp>
        <p:nvSpPr>
          <p:cNvPr id="34" name="Text 25"/>
          <p:cNvSpPr txBox="1"/>
          <p:nvPr/>
        </p:nvSpPr>
        <p:spPr>
          <a:xfrm>
            <a:off x="3977640" y="4480560"/>
            <a:ext cx="3474720" cy="7772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報告・請求・書類など、事務作業は年々増えている</a:t>
            </a:r>
            <a:endParaRPr lang="en-US" sz="1200" dirty="0"/>
          </a:p>
        </p:txBody>
      </p:sp>
      <p:pic>
        <p:nvPicPr>
          <p:cNvPr id="35" name="Image 7" descr="preencoded.png">    </p:cNvPr>
          <p:cNvPicPr>
            <a:picLocks noChangeAspect="1"/>
          </p:cNvPicPr>
          <p:nvPr/>
        </p:nvPicPr>
        <p:blipFill>
          <a:blip r:embed="rId8"/>
          <a:stretch>
            <a:fillRect/>
          </a:stretch>
        </p:blipFill>
        <p:spPr>
          <a:xfrm>
            <a:off x="7479792" y="4754880"/>
            <a:ext cx="228600" cy="228600"/>
          </a:xfrm>
          <a:prstGeom prst="rect">
            <a:avLst/>
          </a:prstGeom>
        </p:spPr>
      </p:pic>
      <p:sp>
        <p:nvSpPr>
          <p:cNvPr id="36" name="Text 26"/>
          <p:cNvSpPr txBox="1"/>
          <p:nvPr/>
        </p:nvSpPr>
        <p:spPr>
          <a:xfrm>
            <a:off x="7818120" y="4480560"/>
            <a:ext cx="3657600" cy="777240"/>
          </a:xfrm>
          <a:prstGeom prst="rect">
            <a:avLst/>
          </a:prstGeom>
          <a:noFill/>
          <a:ln/>
        </p:spPr>
        <p:txBody>
          <a:bodyPr wrap="square" lIns="0" tIns="0" rIns="0" bIns="0" rtlCol="0" anchor="ctr"/>
          <a:lstStyle/>
          <a:p>
            <a:pPr indent="0" marL="0">
              <a:buNone/>
            </a:pPr>
            <a:r>
              <a:rPr lang="en-US" sz="1200" b="1" dirty="0">
                <a:solidFill>
                  <a:srgbClr val="2A322D"/>
                </a:solidFill>
                <a:latin typeface="Meiryo UI" pitchFamily="34" charset="0"/>
                <a:ea typeface="Meiryo UI" pitchFamily="34" charset="-122"/>
                <a:cs typeface="Meiryo UI" pitchFamily="34" charset="-120"/>
              </a:rPr>
              <a:t>小さな組織ほど代表に負担が集中する</a:t>
            </a:r>
            <a:endParaRPr lang="en-US" sz="1200" dirty="0"/>
          </a:p>
        </p:txBody>
      </p:sp>
      <p:sp>
        <p:nvSpPr>
          <p:cNvPr id="37" name="Shape 27"/>
          <p:cNvSpPr/>
          <p:nvPr/>
        </p:nvSpPr>
        <p:spPr>
          <a:xfrm>
            <a:off x="548640" y="5394960"/>
            <a:ext cx="11094415" cy="777240"/>
          </a:xfrm>
          <a:prstGeom prst="roundRect">
            <a:avLst>
              <a:gd name="adj" fmla="val 14118"/>
            </a:avLst>
          </a:prstGeom>
          <a:solidFill>
            <a:srgbClr val="FBEFE4"/>
          </a:solidFill>
          <a:ln w="12700">
            <a:solidFill>
              <a:srgbClr val="FBEFE4"/>
            </a:solidFill>
            <a:prstDash val="solid"/>
          </a:ln>
        </p:spPr>
      </p:sp>
      <p:sp>
        <p:nvSpPr>
          <p:cNvPr id="38" name="Shape 28"/>
          <p:cNvSpPr/>
          <p:nvPr/>
        </p:nvSpPr>
        <p:spPr>
          <a:xfrm>
            <a:off x="713232" y="5504688"/>
            <a:ext cx="548640" cy="548640"/>
          </a:xfrm>
          <a:prstGeom prst="ellipse">
            <a:avLst/>
          </a:prstGeom>
          <a:solidFill>
            <a:srgbClr val="B8652A"/>
          </a:solidFill>
          <a:ln w="12700">
            <a:solidFill>
              <a:srgbClr val="B8652A"/>
            </a:solidFill>
            <a:prstDash val="solid"/>
          </a:ln>
        </p:spPr>
      </p:sp>
      <p:pic>
        <p:nvPicPr>
          <p:cNvPr id="39" name="Image 8" descr="preencoded.png">    </p:cNvPr>
          <p:cNvPicPr>
            <a:picLocks noChangeAspect="1"/>
          </p:cNvPicPr>
          <p:nvPr/>
        </p:nvPicPr>
        <p:blipFill>
          <a:blip r:embed="rId9"/>
          <a:stretch>
            <a:fillRect/>
          </a:stretch>
        </p:blipFill>
        <p:spPr>
          <a:xfrm>
            <a:off x="855878" y="5647334"/>
            <a:ext cx="263347" cy="263347"/>
          </a:xfrm>
          <a:prstGeom prst="rect">
            <a:avLst/>
          </a:prstGeom>
        </p:spPr>
      </p:pic>
      <p:sp>
        <p:nvSpPr>
          <p:cNvPr id="40" name="Text 29"/>
          <p:cNvSpPr txBox="1"/>
          <p:nvPr/>
        </p:nvSpPr>
        <p:spPr>
          <a:xfrm>
            <a:off x="1417320" y="5394960"/>
            <a:ext cx="2514600" cy="777240"/>
          </a:xfrm>
          <a:prstGeom prst="rect">
            <a:avLst/>
          </a:prstGeom>
          <a:noFill/>
          <a:ln/>
        </p:spPr>
        <p:txBody>
          <a:bodyPr wrap="square" lIns="0" tIns="0" rIns="0" bIns="0" rtlCol="0" anchor="ctr"/>
          <a:lstStyle/>
          <a:p>
            <a:pPr indent="0" marL="0">
              <a:buNone/>
            </a:pPr>
            <a:r>
              <a:rPr lang="en-US" sz="1350" b="1" dirty="0">
                <a:solidFill>
                  <a:srgbClr val="B8652A"/>
                </a:solidFill>
                <a:latin typeface="Meiryo UI" pitchFamily="34" charset="0"/>
                <a:ea typeface="Meiryo UI" pitchFamily="34" charset="-122"/>
                <a:cs typeface="Meiryo UI" pitchFamily="34" charset="-120"/>
              </a:rPr>
              <a:t>貴法人の転換点</a:t>
            </a:r>
            <a:endParaRPr lang="en-US" sz="1350" dirty="0"/>
          </a:p>
        </p:txBody>
      </p:sp>
      <p:sp>
        <p:nvSpPr>
          <p:cNvPr id="41" name="Text 30"/>
          <p:cNvSpPr txBox="1"/>
          <p:nvPr/>
        </p:nvSpPr>
        <p:spPr>
          <a:xfrm>
            <a:off x="3977640" y="5394960"/>
            <a:ext cx="3474720" cy="777240"/>
          </a:xfrm>
          <a:prstGeom prst="rect">
            <a:avLst/>
          </a:prstGeom>
          <a:noFill/>
          <a:ln/>
        </p:spPr>
        <p:txBody>
          <a:bodyPr wrap="square" lIns="0" tIns="0" rIns="0" bIns="0" rtlCol="0" anchor="ctr"/>
          <a:lstStyle/>
          <a:p>
            <a:pPr indent="0" marL="0">
              <a:buNone/>
            </a:pPr>
            <a:r>
              <a:rPr lang="en-US" sz="1200" dirty="0">
                <a:solidFill>
                  <a:srgbClr val="2A322D"/>
                </a:solidFill>
                <a:latin typeface="Meiryo UI" pitchFamily="34" charset="0"/>
                <a:ea typeface="Meiryo UI" pitchFamily="34" charset="-122"/>
                <a:cs typeface="Meiryo UI" pitchFamily="34" charset="-120"/>
              </a:rPr>
              <a:t>2027年4月に向けて、グループホーム立ち上げと制度対応を控える</a:t>
            </a:r>
            <a:endParaRPr lang="en-US" sz="1200" dirty="0"/>
          </a:p>
        </p:txBody>
      </p:sp>
      <p:pic>
        <p:nvPicPr>
          <p:cNvPr id="42" name="Image 9" descr="preencoded.png">    </p:cNvPr>
          <p:cNvPicPr>
            <a:picLocks noChangeAspect="1"/>
          </p:cNvPicPr>
          <p:nvPr/>
        </p:nvPicPr>
        <p:blipFill>
          <a:blip r:embed="rId10"/>
          <a:stretch>
            <a:fillRect/>
          </a:stretch>
        </p:blipFill>
        <p:spPr>
          <a:xfrm>
            <a:off x="7479792" y="5669280"/>
            <a:ext cx="228600" cy="228600"/>
          </a:xfrm>
          <a:prstGeom prst="rect">
            <a:avLst/>
          </a:prstGeom>
        </p:spPr>
      </p:pic>
      <p:sp>
        <p:nvSpPr>
          <p:cNvPr id="43" name="Text 31"/>
          <p:cNvSpPr txBox="1"/>
          <p:nvPr/>
        </p:nvSpPr>
        <p:spPr>
          <a:xfrm>
            <a:off x="7818120" y="5394960"/>
            <a:ext cx="3657600" cy="777240"/>
          </a:xfrm>
          <a:prstGeom prst="rect">
            <a:avLst/>
          </a:prstGeom>
          <a:noFill/>
          <a:ln/>
        </p:spPr>
        <p:txBody>
          <a:bodyPr wrap="square" lIns="0" tIns="0" rIns="0" bIns="0" rtlCol="0" anchor="ctr"/>
          <a:lstStyle/>
          <a:p>
            <a:pPr indent="0" marL="0">
              <a:buNone/>
            </a:pPr>
            <a:r>
              <a:rPr lang="en-US" sz="1200" b="1" dirty="0">
                <a:solidFill>
                  <a:srgbClr val="2A322D"/>
                </a:solidFill>
                <a:latin typeface="Meiryo UI" pitchFamily="34" charset="0"/>
                <a:ea typeface="Meiryo UI" pitchFamily="34" charset="-122"/>
                <a:cs typeface="Meiryo UI" pitchFamily="34" charset="-120"/>
              </a:rPr>
              <a:t>今、体制を整えれば4月に間に合う</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貴法人が直面している本質的課題</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前回伺った内容をもとに、構造的な課題として整理しました。本日、優先度と現状の数値をご確認ください。</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5</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1938528"/>
            <a:ext cx="457200" cy="457200"/>
          </a:xfrm>
          <a:prstGeom prst="ellipse">
            <a:avLst/>
          </a:prstGeom>
          <a:solidFill>
            <a:srgbClr val="46705A"/>
          </a:solidFill>
          <a:ln w="12700">
            <a:solidFill>
              <a:srgbClr val="46705A"/>
            </a:solidFill>
            <a:prstDash val="solid"/>
          </a:ln>
        </p:spPr>
      </p:sp>
      <p:sp>
        <p:nvSpPr>
          <p:cNvPr id="9" name="Text 7"/>
          <p:cNvSpPr txBox="1"/>
          <p:nvPr/>
        </p:nvSpPr>
        <p:spPr>
          <a:xfrm>
            <a:off x="77724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10" name="Text 8"/>
          <p:cNvSpPr txBox="1"/>
          <p:nvPr/>
        </p:nvSpPr>
        <p:spPr>
          <a:xfrm>
            <a:off x="1371600" y="1938528"/>
            <a:ext cx="2509418" cy="457200"/>
          </a:xfrm>
          <a:prstGeom prst="rect">
            <a:avLst/>
          </a:prstGeom>
          <a:noFill/>
          <a:ln/>
        </p:spPr>
        <p:txBody>
          <a:bodyPr wrap="square" lIns="0" tIns="0" rIns="0" bIns="0" rtlCol="0" anchor="ctr"/>
          <a:lstStyle/>
          <a:p>
            <a:pPr indent="0" marL="0">
              <a:buNone/>
            </a:pPr>
            <a:r>
              <a:rPr lang="en-US" sz="1400" b="1" dirty="0">
                <a:solidFill>
                  <a:srgbClr val="46705A"/>
                </a:solidFill>
                <a:latin typeface="Meiryo UI" pitchFamily="34" charset="0"/>
                <a:ea typeface="Meiryo UI" pitchFamily="34" charset="-122"/>
                <a:cs typeface="Meiryo UI" pitchFamily="34" charset="-120"/>
              </a:rPr>
              <a:t>代表への事務の集中</a:t>
            </a:r>
            <a:endParaRPr lang="en-US" sz="1400" dirty="0"/>
          </a:p>
        </p:txBody>
      </p:sp>
      <p:sp>
        <p:nvSpPr>
          <p:cNvPr id="11" name="Text 9"/>
          <p:cNvSpPr txBox="1"/>
          <p:nvPr/>
        </p:nvSpPr>
        <p:spPr>
          <a:xfrm>
            <a:off x="777240" y="2514600"/>
            <a:ext cx="548640"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現象</a:t>
            </a:r>
            <a:endParaRPr lang="en-US" sz="1050" dirty="0"/>
          </a:p>
        </p:txBody>
      </p:sp>
      <p:sp>
        <p:nvSpPr>
          <p:cNvPr id="12" name="Text 10"/>
          <p:cNvSpPr txBox="1"/>
          <p:nvPr/>
        </p:nvSpPr>
        <p:spPr>
          <a:xfrm>
            <a:off x="1325880" y="2496312"/>
            <a:ext cx="2509418" cy="6400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経理・書類・事務全般を代表が一人で担っている</a:t>
            </a:r>
            <a:endParaRPr lang="en-US" sz="1200" dirty="0"/>
          </a:p>
        </p:txBody>
      </p:sp>
      <p:sp>
        <p:nvSpPr>
          <p:cNvPr id="13" name="Text 11"/>
          <p:cNvSpPr txBox="1"/>
          <p:nvPr/>
        </p:nvSpPr>
        <p:spPr>
          <a:xfrm>
            <a:off x="777240" y="3154680"/>
            <a:ext cx="54864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リスク</a:t>
            </a:r>
            <a:endParaRPr lang="en-US" sz="1050" dirty="0"/>
          </a:p>
        </p:txBody>
      </p:sp>
      <p:sp>
        <p:nvSpPr>
          <p:cNvPr id="14" name="Text 12"/>
          <p:cNvSpPr txBox="1"/>
          <p:nvPr/>
        </p:nvSpPr>
        <p:spPr>
          <a:xfrm>
            <a:off x="1325880" y="3136392"/>
            <a:ext cx="2509418" cy="640080"/>
          </a:xfrm>
          <a:prstGeom prst="rect">
            <a:avLst/>
          </a:prstGeom>
          <a:noFill/>
          <a:ln/>
        </p:spPr>
        <p:txBody>
          <a:bodyPr wrap="square" lIns="0" tIns="0" rIns="0" bIns="0" rtlCol="0" anchor="t"/>
          <a:lstStyle/>
          <a:p>
            <a:pPr indent="0" marL="0">
              <a:buNone/>
            </a:pPr>
            <a:r>
              <a:rPr lang="en-US" sz="1200" b="1" dirty="0">
                <a:solidFill>
                  <a:srgbClr val="2A322D"/>
                </a:solidFill>
                <a:latin typeface="Meiryo UI" pitchFamily="34" charset="0"/>
                <a:ea typeface="Meiryo UI" pitchFamily="34" charset="-122"/>
                <a:cs typeface="Meiryo UI" pitchFamily="34" charset="-120"/>
              </a:rPr>
              <a:t>施設運営や新規事業に手が回らない</a:t>
            </a:r>
            <a:endParaRPr lang="en-US" sz="1200" dirty="0"/>
          </a:p>
        </p:txBody>
      </p:sp>
      <p:sp>
        <p:nvSpPr>
          <p:cNvPr id="15" name="Shape 13"/>
          <p:cNvSpPr/>
          <p:nvPr/>
        </p:nvSpPr>
        <p:spPr>
          <a:xfrm>
            <a:off x="4338218"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4566818" y="1938528"/>
            <a:ext cx="457200" cy="457200"/>
          </a:xfrm>
          <a:prstGeom prst="ellipse">
            <a:avLst/>
          </a:prstGeom>
          <a:solidFill>
            <a:srgbClr val="46705A"/>
          </a:solidFill>
          <a:ln w="12700">
            <a:solidFill>
              <a:srgbClr val="46705A"/>
            </a:solidFill>
            <a:prstDash val="solid"/>
          </a:ln>
        </p:spPr>
      </p:sp>
      <p:sp>
        <p:nvSpPr>
          <p:cNvPr id="17" name="Text 15"/>
          <p:cNvSpPr txBox="1"/>
          <p:nvPr/>
        </p:nvSpPr>
        <p:spPr>
          <a:xfrm>
            <a:off x="4566818"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8" name="Text 16"/>
          <p:cNvSpPr txBox="1"/>
          <p:nvPr/>
        </p:nvSpPr>
        <p:spPr>
          <a:xfrm>
            <a:off x="5161178" y="1938528"/>
            <a:ext cx="2509418" cy="457200"/>
          </a:xfrm>
          <a:prstGeom prst="rect">
            <a:avLst/>
          </a:prstGeom>
          <a:noFill/>
          <a:ln/>
        </p:spPr>
        <p:txBody>
          <a:bodyPr wrap="square" lIns="0" tIns="0" rIns="0" bIns="0" rtlCol="0" anchor="ctr"/>
          <a:lstStyle/>
          <a:p>
            <a:pPr indent="0" marL="0">
              <a:buNone/>
            </a:pPr>
            <a:r>
              <a:rPr lang="en-US" sz="1400" b="1" dirty="0">
                <a:solidFill>
                  <a:srgbClr val="46705A"/>
                </a:solidFill>
                <a:latin typeface="Meiryo UI" pitchFamily="34" charset="0"/>
                <a:ea typeface="Meiryo UI" pitchFamily="34" charset="-122"/>
                <a:cs typeface="Meiryo UI" pitchFamily="34" charset="-120"/>
              </a:rPr>
              <a:t>Webが放置されている</a:t>
            </a:r>
            <a:endParaRPr lang="en-US" sz="1400" dirty="0"/>
          </a:p>
        </p:txBody>
      </p:sp>
      <p:sp>
        <p:nvSpPr>
          <p:cNvPr id="19" name="Text 17"/>
          <p:cNvSpPr txBox="1"/>
          <p:nvPr/>
        </p:nvSpPr>
        <p:spPr>
          <a:xfrm>
            <a:off x="4566818" y="2514600"/>
            <a:ext cx="548640"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現象</a:t>
            </a:r>
            <a:endParaRPr lang="en-US" sz="1050" dirty="0"/>
          </a:p>
        </p:txBody>
      </p:sp>
      <p:sp>
        <p:nvSpPr>
          <p:cNvPr id="20" name="Text 18"/>
          <p:cNvSpPr txBox="1"/>
          <p:nvPr/>
        </p:nvSpPr>
        <p:spPr>
          <a:xfrm>
            <a:off x="5115458" y="2496312"/>
            <a:ext cx="2509418" cy="6400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HPはあるが問い合わせはゼロ。得意な人がいない</a:t>
            </a:r>
            <a:endParaRPr lang="en-US" sz="1200" dirty="0"/>
          </a:p>
        </p:txBody>
      </p:sp>
      <p:sp>
        <p:nvSpPr>
          <p:cNvPr id="21" name="Text 19"/>
          <p:cNvSpPr txBox="1"/>
          <p:nvPr/>
        </p:nvSpPr>
        <p:spPr>
          <a:xfrm>
            <a:off x="4566818" y="3154680"/>
            <a:ext cx="54864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リスク</a:t>
            </a:r>
            <a:endParaRPr lang="en-US" sz="1050" dirty="0"/>
          </a:p>
        </p:txBody>
      </p:sp>
      <p:sp>
        <p:nvSpPr>
          <p:cNvPr id="22" name="Text 20"/>
          <p:cNvSpPr txBox="1"/>
          <p:nvPr/>
        </p:nvSpPr>
        <p:spPr>
          <a:xfrm>
            <a:off x="5115458" y="3136392"/>
            <a:ext cx="2509418" cy="640080"/>
          </a:xfrm>
          <a:prstGeom prst="rect">
            <a:avLst/>
          </a:prstGeom>
          <a:noFill/>
          <a:ln/>
        </p:spPr>
        <p:txBody>
          <a:bodyPr wrap="square" lIns="0" tIns="0" rIns="0" bIns="0" rtlCol="0" anchor="t"/>
          <a:lstStyle/>
          <a:p>
            <a:pPr indent="0" marL="0">
              <a:buNone/>
            </a:pPr>
            <a:r>
              <a:rPr lang="en-US" sz="1200" b="1" dirty="0">
                <a:solidFill>
                  <a:srgbClr val="2A322D"/>
                </a:solidFill>
                <a:latin typeface="Meiryo UI" pitchFamily="34" charset="0"/>
                <a:ea typeface="Meiryo UI" pitchFamily="34" charset="-122"/>
                <a:cs typeface="Meiryo UI" pitchFamily="34" charset="-120"/>
              </a:rPr>
              <a:t>施設を必要な人に見つけてもらえない</a:t>
            </a:r>
            <a:endParaRPr lang="en-US" sz="1200" dirty="0"/>
          </a:p>
        </p:txBody>
      </p:sp>
      <p:sp>
        <p:nvSpPr>
          <p:cNvPr id="23" name="Shape 21"/>
          <p:cNvSpPr/>
          <p:nvPr/>
        </p:nvSpPr>
        <p:spPr>
          <a:xfrm>
            <a:off x="8127797" y="1737360"/>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8356397" y="1938528"/>
            <a:ext cx="457200" cy="457200"/>
          </a:xfrm>
          <a:prstGeom prst="ellipse">
            <a:avLst/>
          </a:prstGeom>
          <a:solidFill>
            <a:srgbClr val="46705A"/>
          </a:solidFill>
          <a:ln w="12700">
            <a:solidFill>
              <a:srgbClr val="46705A"/>
            </a:solidFill>
            <a:prstDash val="solid"/>
          </a:ln>
        </p:spPr>
      </p:sp>
      <p:sp>
        <p:nvSpPr>
          <p:cNvPr id="25" name="Text 23"/>
          <p:cNvSpPr txBox="1"/>
          <p:nvPr/>
        </p:nvSpPr>
        <p:spPr>
          <a:xfrm>
            <a:off x="8356397"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26" name="Text 24"/>
          <p:cNvSpPr txBox="1"/>
          <p:nvPr/>
        </p:nvSpPr>
        <p:spPr>
          <a:xfrm>
            <a:off x="8950757" y="1938528"/>
            <a:ext cx="2509418" cy="457200"/>
          </a:xfrm>
          <a:prstGeom prst="rect">
            <a:avLst/>
          </a:prstGeom>
          <a:noFill/>
          <a:ln/>
        </p:spPr>
        <p:txBody>
          <a:bodyPr wrap="square" lIns="0" tIns="0" rIns="0" bIns="0" rtlCol="0" anchor="ctr"/>
          <a:lstStyle/>
          <a:p>
            <a:pPr indent="0" marL="0">
              <a:buNone/>
            </a:pPr>
            <a:r>
              <a:rPr lang="en-US" sz="1400" b="1" dirty="0">
                <a:solidFill>
                  <a:srgbClr val="46705A"/>
                </a:solidFill>
                <a:latin typeface="Meiryo UI" pitchFamily="34" charset="0"/>
                <a:ea typeface="Meiryo UI" pitchFamily="34" charset="-122"/>
                <a:cs typeface="Meiryo UI" pitchFamily="34" charset="-120"/>
              </a:rPr>
              <a:t>若い世代の流出</a:t>
            </a:r>
            <a:endParaRPr lang="en-US" sz="1400" dirty="0"/>
          </a:p>
        </p:txBody>
      </p:sp>
      <p:sp>
        <p:nvSpPr>
          <p:cNvPr id="27" name="Text 25"/>
          <p:cNvSpPr txBox="1"/>
          <p:nvPr/>
        </p:nvSpPr>
        <p:spPr>
          <a:xfrm>
            <a:off x="8356397" y="2514600"/>
            <a:ext cx="548640"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現象</a:t>
            </a:r>
            <a:endParaRPr lang="en-US" sz="1050" dirty="0"/>
          </a:p>
        </p:txBody>
      </p:sp>
      <p:sp>
        <p:nvSpPr>
          <p:cNvPr id="28" name="Text 26"/>
          <p:cNvSpPr txBox="1"/>
          <p:nvPr/>
        </p:nvSpPr>
        <p:spPr>
          <a:xfrm>
            <a:off x="8905037" y="2496312"/>
            <a:ext cx="2509418" cy="6400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PC特化の事業所に若年層が流れている</a:t>
            </a:r>
            <a:endParaRPr lang="en-US" sz="1200" dirty="0"/>
          </a:p>
        </p:txBody>
      </p:sp>
      <p:sp>
        <p:nvSpPr>
          <p:cNvPr id="29" name="Text 27"/>
          <p:cNvSpPr txBox="1"/>
          <p:nvPr/>
        </p:nvSpPr>
        <p:spPr>
          <a:xfrm>
            <a:off x="8356397" y="3154680"/>
            <a:ext cx="54864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リスク</a:t>
            </a:r>
            <a:endParaRPr lang="en-US" sz="1050" dirty="0"/>
          </a:p>
        </p:txBody>
      </p:sp>
      <p:sp>
        <p:nvSpPr>
          <p:cNvPr id="30" name="Text 28"/>
          <p:cNvSpPr txBox="1"/>
          <p:nvPr/>
        </p:nvSpPr>
        <p:spPr>
          <a:xfrm>
            <a:off x="8905037" y="3136392"/>
            <a:ext cx="2509418" cy="640080"/>
          </a:xfrm>
          <a:prstGeom prst="rect">
            <a:avLst/>
          </a:prstGeom>
          <a:noFill/>
          <a:ln/>
        </p:spPr>
        <p:txBody>
          <a:bodyPr wrap="square" lIns="0" tIns="0" rIns="0" bIns="0" rtlCol="0" anchor="t"/>
          <a:lstStyle/>
          <a:p>
            <a:pPr indent="0" marL="0">
              <a:buNone/>
            </a:pPr>
            <a:r>
              <a:rPr lang="en-US" sz="1200" b="1" dirty="0">
                <a:solidFill>
                  <a:srgbClr val="2A322D"/>
                </a:solidFill>
                <a:latin typeface="Meiryo UI" pitchFamily="34" charset="0"/>
                <a:ea typeface="Meiryo UI" pitchFamily="34" charset="-122"/>
                <a:cs typeface="Meiryo UI" pitchFamily="34" charset="-120"/>
              </a:rPr>
              <a:t>利用者の高齢化が進み、存続が厳しくなる</a:t>
            </a:r>
            <a:endParaRPr lang="en-US" sz="1200" dirty="0"/>
          </a:p>
        </p:txBody>
      </p:sp>
      <p:sp>
        <p:nvSpPr>
          <p:cNvPr id="31" name="Shape 29"/>
          <p:cNvSpPr/>
          <p:nvPr/>
        </p:nvSpPr>
        <p:spPr>
          <a:xfrm>
            <a:off x="548640"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777240" y="4242816"/>
            <a:ext cx="457200" cy="457200"/>
          </a:xfrm>
          <a:prstGeom prst="ellipse">
            <a:avLst/>
          </a:prstGeom>
          <a:solidFill>
            <a:srgbClr val="46705A"/>
          </a:solidFill>
          <a:ln w="12700">
            <a:solidFill>
              <a:srgbClr val="46705A"/>
            </a:solidFill>
            <a:prstDash val="solid"/>
          </a:ln>
        </p:spPr>
      </p:sp>
      <p:sp>
        <p:nvSpPr>
          <p:cNvPr id="33" name="Text 31"/>
          <p:cNvSpPr txBox="1"/>
          <p:nvPr/>
        </p:nvSpPr>
        <p:spPr>
          <a:xfrm>
            <a:off x="777240"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34" name="Text 32"/>
          <p:cNvSpPr txBox="1"/>
          <p:nvPr/>
        </p:nvSpPr>
        <p:spPr>
          <a:xfrm>
            <a:off x="1371600" y="4242816"/>
            <a:ext cx="2509418" cy="457200"/>
          </a:xfrm>
          <a:prstGeom prst="rect">
            <a:avLst/>
          </a:prstGeom>
          <a:noFill/>
          <a:ln/>
        </p:spPr>
        <p:txBody>
          <a:bodyPr wrap="square" lIns="0" tIns="0" rIns="0" bIns="0" rtlCol="0" anchor="ctr"/>
          <a:lstStyle/>
          <a:p>
            <a:pPr indent="0" marL="0">
              <a:buNone/>
            </a:pPr>
            <a:r>
              <a:rPr lang="en-US" sz="1400" b="1" dirty="0">
                <a:solidFill>
                  <a:srgbClr val="46705A"/>
                </a:solidFill>
                <a:latin typeface="Meiryo UI" pitchFamily="34" charset="0"/>
                <a:ea typeface="Meiryo UI" pitchFamily="34" charset="-122"/>
                <a:cs typeface="Meiryo UI" pitchFamily="34" charset="-120"/>
              </a:rPr>
              <a:t>紹介がアナログ中心</a:t>
            </a:r>
            <a:endParaRPr lang="en-US" sz="1400" dirty="0"/>
          </a:p>
        </p:txBody>
      </p:sp>
      <p:sp>
        <p:nvSpPr>
          <p:cNvPr id="35" name="Text 33"/>
          <p:cNvSpPr txBox="1"/>
          <p:nvPr/>
        </p:nvSpPr>
        <p:spPr>
          <a:xfrm>
            <a:off x="777240" y="4818888"/>
            <a:ext cx="548640"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現象</a:t>
            </a:r>
            <a:endParaRPr lang="en-US" sz="1050" dirty="0"/>
          </a:p>
        </p:txBody>
      </p:sp>
      <p:sp>
        <p:nvSpPr>
          <p:cNvPr id="36" name="Text 34"/>
          <p:cNvSpPr txBox="1"/>
          <p:nvPr/>
        </p:nvSpPr>
        <p:spPr>
          <a:xfrm>
            <a:off x="1325880" y="4800600"/>
            <a:ext cx="2509418" cy="6400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区役所の紹介や紙のハンドブックが中心</a:t>
            </a:r>
            <a:endParaRPr lang="en-US" sz="1200" dirty="0"/>
          </a:p>
        </p:txBody>
      </p:sp>
      <p:sp>
        <p:nvSpPr>
          <p:cNvPr id="37" name="Text 35"/>
          <p:cNvSpPr txBox="1"/>
          <p:nvPr/>
        </p:nvSpPr>
        <p:spPr>
          <a:xfrm>
            <a:off x="777240" y="5458968"/>
            <a:ext cx="54864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リスク</a:t>
            </a:r>
            <a:endParaRPr lang="en-US" sz="1050" dirty="0"/>
          </a:p>
        </p:txBody>
      </p:sp>
      <p:sp>
        <p:nvSpPr>
          <p:cNvPr id="38" name="Text 36"/>
          <p:cNvSpPr txBox="1"/>
          <p:nvPr/>
        </p:nvSpPr>
        <p:spPr>
          <a:xfrm>
            <a:off x="1325880" y="5440680"/>
            <a:ext cx="2509418" cy="640080"/>
          </a:xfrm>
          <a:prstGeom prst="rect">
            <a:avLst/>
          </a:prstGeom>
          <a:noFill/>
          <a:ln/>
        </p:spPr>
        <p:txBody>
          <a:bodyPr wrap="square" lIns="0" tIns="0" rIns="0" bIns="0" rtlCol="0" anchor="t"/>
          <a:lstStyle/>
          <a:p>
            <a:pPr indent="0" marL="0">
              <a:buNone/>
            </a:pPr>
            <a:r>
              <a:rPr lang="en-US" sz="1200" b="1" dirty="0">
                <a:solidFill>
                  <a:srgbClr val="2A322D"/>
                </a:solidFill>
                <a:latin typeface="Meiryo UI" pitchFamily="34" charset="0"/>
                <a:ea typeface="Meiryo UI" pitchFamily="34" charset="-122"/>
                <a:cs typeface="Meiryo UI" pitchFamily="34" charset="-120"/>
              </a:rPr>
              <a:t>紹介元の状況次第で見学・相談が増えない</a:t>
            </a:r>
            <a:endParaRPr lang="en-US" sz="1200" dirty="0"/>
          </a:p>
        </p:txBody>
      </p:sp>
      <p:sp>
        <p:nvSpPr>
          <p:cNvPr id="39" name="Shape 37"/>
          <p:cNvSpPr/>
          <p:nvPr/>
        </p:nvSpPr>
        <p:spPr>
          <a:xfrm>
            <a:off x="4338218"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8"/>
          <p:cNvSpPr/>
          <p:nvPr/>
        </p:nvSpPr>
        <p:spPr>
          <a:xfrm>
            <a:off x="4566818" y="4242816"/>
            <a:ext cx="457200" cy="457200"/>
          </a:xfrm>
          <a:prstGeom prst="ellipse">
            <a:avLst/>
          </a:prstGeom>
          <a:solidFill>
            <a:srgbClr val="46705A"/>
          </a:solidFill>
          <a:ln w="12700">
            <a:solidFill>
              <a:srgbClr val="46705A"/>
            </a:solidFill>
            <a:prstDash val="solid"/>
          </a:ln>
        </p:spPr>
      </p:sp>
      <p:sp>
        <p:nvSpPr>
          <p:cNvPr id="41" name="Text 39"/>
          <p:cNvSpPr txBox="1"/>
          <p:nvPr/>
        </p:nvSpPr>
        <p:spPr>
          <a:xfrm>
            <a:off x="4566818"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42" name="Text 40"/>
          <p:cNvSpPr txBox="1"/>
          <p:nvPr/>
        </p:nvSpPr>
        <p:spPr>
          <a:xfrm>
            <a:off x="5161178" y="4242816"/>
            <a:ext cx="2509418" cy="457200"/>
          </a:xfrm>
          <a:prstGeom prst="rect">
            <a:avLst/>
          </a:prstGeom>
          <a:noFill/>
          <a:ln/>
        </p:spPr>
        <p:txBody>
          <a:bodyPr wrap="square" lIns="0" tIns="0" rIns="0" bIns="0" rtlCol="0" anchor="ctr"/>
          <a:lstStyle/>
          <a:p>
            <a:pPr indent="0" marL="0">
              <a:buNone/>
            </a:pPr>
            <a:r>
              <a:rPr lang="en-US" sz="1400" b="1" dirty="0">
                <a:solidFill>
                  <a:srgbClr val="46705A"/>
                </a:solidFill>
                <a:latin typeface="Meiryo UI" pitchFamily="34" charset="0"/>
                <a:ea typeface="Meiryo UI" pitchFamily="34" charset="-122"/>
                <a:cs typeface="Meiryo UI" pitchFamily="34" charset="-120"/>
              </a:rPr>
              <a:t>立ち上げ・制度対応の遅れ</a:t>
            </a:r>
            <a:endParaRPr lang="en-US" sz="1400" dirty="0"/>
          </a:p>
        </p:txBody>
      </p:sp>
      <p:sp>
        <p:nvSpPr>
          <p:cNvPr id="43" name="Text 41"/>
          <p:cNvSpPr txBox="1"/>
          <p:nvPr/>
        </p:nvSpPr>
        <p:spPr>
          <a:xfrm>
            <a:off x="4566818" y="4818888"/>
            <a:ext cx="548640"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現象</a:t>
            </a:r>
            <a:endParaRPr lang="en-US" sz="1050" dirty="0"/>
          </a:p>
        </p:txBody>
      </p:sp>
      <p:sp>
        <p:nvSpPr>
          <p:cNvPr id="44" name="Text 42"/>
          <p:cNvSpPr txBox="1"/>
          <p:nvPr/>
        </p:nvSpPr>
        <p:spPr>
          <a:xfrm>
            <a:off x="5115458" y="4800600"/>
            <a:ext cx="2509418" cy="6400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リソース不足でGH立ち上げと4月の準備が滞っている</a:t>
            </a:r>
            <a:endParaRPr lang="en-US" sz="1200" dirty="0"/>
          </a:p>
        </p:txBody>
      </p:sp>
      <p:sp>
        <p:nvSpPr>
          <p:cNvPr id="45" name="Text 43"/>
          <p:cNvSpPr txBox="1"/>
          <p:nvPr/>
        </p:nvSpPr>
        <p:spPr>
          <a:xfrm>
            <a:off x="4566818" y="5458968"/>
            <a:ext cx="54864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リスク</a:t>
            </a:r>
            <a:endParaRPr lang="en-US" sz="1050" dirty="0"/>
          </a:p>
        </p:txBody>
      </p:sp>
      <p:sp>
        <p:nvSpPr>
          <p:cNvPr id="46" name="Text 44"/>
          <p:cNvSpPr txBox="1"/>
          <p:nvPr/>
        </p:nvSpPr>
        <p:spPr>
          <a:xfrm>
            <a:off x="5115458" y="5440680"/>
            <a:ext cx="2509418" cy="640080"/>
          </a:xfrm>
          <a:prstGeom prst="rect">
            <a:avLst/>
          </a:prstGeom>
          <a:noFill/>
          <a:ln/>
        </p:spPr>
        <p:txBody>
          <a:bodyPr wrap="square" lIns="0" tIns="0" rIns="0" bIns="0" rtlCol="0" anchor="t"/>
          <a:lstStyle/>
          <a:p>
            <a:pPr indent="0" marL="0">
              <a:buNone/>
            </a:pPr>
            <a:r>
              <a:rPr lang="en-US" sz="1200" b="1" dirty="0">
                <a:solidFill>
                  <a:srgbClr val="2A322D"/>
                </a:solidFill>
                <a:latin typeface="Meiryo UI" pitchFamily="34" charset="0"/>
                <a:ea typeface="Meiryo UI" pitchFamily="34" charset="-122"/>
                <a:cs typeface="Meiryo UI" pitchFamily="34" charset="-120"/>
              </a:rPr>
              <a:t>2027年4月に間に合わない</a:t>
            </a:r>
            <a:endParaRPr lang="en-US" sz="1200" dirty="0"/>
          </a:p>
        </p:txBody>
      </p:sp>
      <p:sp>
        <p:nvSpPr>
          <p:cNvPr id="47" name="Shape 45"/>
          <p:cNvSpPr/>
          <p:nvPr/>
        </p:nvSpPr>
        <p:spPr>
          <a:xfrm>
            <a:off x="8127797" y="4041648"/>
            <a:ext cx="3515258" cy="2103120"/>
          </a:xfrm>
          <a:prstGeom prst="roundRect">
            <a:avLst>
              <a:gd name="adj" fmla="val 521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6"/>
          <p:cNvSpPr/>
          <p:nvPr/>
        </p:nvSpPr>
        <p:spPr>
          <a:xfrm>
            <a:off x="8356397" y="4242816"/>
            <a:ext cx="457200" cy="457200"/>
          </a:xfrm>
          <a:prstGeom prst="ellipse">
            <a:avLst/>
          </a:prstGeom>
          <a:solidFill>
            <a:srgbClr val="46705A"/>
          </a:solidFill>
          <a:ln w="12700">
            <a:solidFill>
              <a:srgbClr val="46705A"/>
            </a:solidFill>
            <a:prstDash val="solid"/>
          </a:ln>
        </p:spPr>
      </p:sp>
      <p:sp>
        <p:nvSpPr>
          <p:cNvPr id="49" name="Text 47"/>
          <p:cNvSpPr txBox="1"/>
          <p:nvPr/>
        </p:nvSpPr>
        <p:spPr>
          <a:xfrm>
            <a:off x="8356397" y="4242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50" name="Text 48"/>
          <p:cNvSpPr txBox="1"/>
          <p:nvPr/>
        </p:nvSpPr>
        <p:spPr>
          <a:xfrm>
            <a:off x="8950757" y="4242816"/>
            <a:ext cx="2509418" cy="457200"/>
          </a:xfrm>
          <a:prstGeom prst="rect">
            <a:avLst/>
          </a:prstGeom>
          <a:noFill/>
          <a:ln/>
        </p:spPr>
        <p:txBody>
          <a:bodyPr wrap="square" lIns="0" tIns="0" rIns="0" bIns="0" rtlCol="0" anchor="ctr"/>
          <a:lstStyle/>
          <a:p>
            <a:pPr indent="0" marL="0">
              <a:buNone/>
            </a:pPr>
            <a:r>
              <a:rPr lang="en-US" sz="1400" b="1" dirty="0">
                <a:solidFill>
                  <a:srgbClr val="46705A"/>
                </a:solidFill>
                <a:latin typeface="Meiryo UI" pitchFamily="34" charset="0"/>
                <a:ea typeface="Meiryo UI" pitchFamily="34" charset="-122"/>
                <a:cs typeface="Meiryo UI" pitchFamily="34" charset="-120"/>
              </a:rPr>
              <a:t>良さが外に伝わっていない</a:t>
            </a:r>
            <a:endParaRPr lang="en-US" sz="1400" dirty="0"/>
          </a:p>
        </p:txBody>
      </p:sp>
      <p:sp>
        <p:nvSpPr>
          <p:cNvPr id="51" name="Text 49"/>
          <p:cNvSpPr txBox="1"/>
          <p:nvPr/>
        </p:nvSpPr>
        <p:spPr>
          <a:xfrm>
            <a:off x="8356397" y="4818888"/>
            <a:ext cx="548640"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現象</a:t>
            </a:r>
            <a:endParaRPr lang="en-US" sz="1050" dirty="0"/>
          </a:p>
        </p:txBody>
      </p:sp>
      <p:sp>
        <p:nvSpPr>
          <p:cNvPr id="52" name="Text 50"/>
          <p:cNvSpPr txBox="1"/>
          <p:nvPr/>
        </p:nvSpPr>
        <p:spPr>
          <a:xfrm>
            <a:off x="8905037" y="4800600"/>
            <a:ext cx="2509418" cy="6400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10年間離職なし・支援へのこだわりが知られていない</a:t>
            </a:r>
            <a:endParaRPr lang="en-US" sz="1200" dirty="0"/>
          </a:p>
        </p:txBody>
      </p:sp>
      <p:sp>
        <p:nvSpPr>
          <p:cNvPr id="53" name="Text 51"/>
          <p:cNvSpPr txBox="1"/>
          <p:nvPr/>
        </p:nvSpPr>
        <p:spPr>
          <a:xfrm>
            <a:off x="8356397" y="5458968"/>
            <a:ext cx="54864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リスク</a:t>
            </a:r>
            <a:endParaRPr lang="en-US" sz="1050" dirty="0"/>
          </a:p>
        </p:txBody>
      </p:sp>
      <p:sp>
        <p:nvSpPr>
          <p:cNvPr id="54" name="Text 52"/>
          <p:cNvSpPr txBox="1"/>
          <p:nvPr/>
        </p:nvSpPr>
        <p:spPr>
          <a:xfrm>
            <a:off x="8905037" y="5440680"/>
            <a:ext cx="2509418" cy="640080"/>
          </a:xfrm>
          <a:prstGeom prst="rect">
            <a:avLst/>
          </a:prstGeom>
          <a:noFill/>
          <a:ln/>
        </p:spPr>
        <p:txBody>
          <a:bodyPr wrap="square" lIns="0" tIns="0" rIns="0" bIns="0" rtlCol="0" anchor="t"/>
          <a:lstStyle/>
          <a:p>
            <a:pPr indent="0" marL="0">
              <a:buNone/>
            </a:pPr>
            <a:r>
              <a:rPr lang="en-US" sz="1200" b="1" dirty="0">
                <a:solidFill>
                  <a:srgbClr val="2A322D"/>
                </a:solidFill>
                <a:latin typeface="Meiryo UI" pitchFamily="34" charset="0"/>
                <a:ea typeface="Meiryo UI" pitchFamily="34" charset="-122"/>
                <a:cs typeface="Meiryo UI" pitchFamily="34" charset="-120"/>
              </a:rPr>
              <a:t>選ばれる理由が必要な人に届かない</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02｜WHY NOW</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「動画を作って放置する（反応待ち）」では成果が出ない理由</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286000" y="1417320"/>
            <a:ext cx="4526280" cy="548640"/>
          </a:xfrm>
          <a:prstGeom prst="roundRect">
            <a:avLst>
              <a:gd name="adj" fmla="val 20000"/>
            </a:avLst>
          </a:prstGeom>
          <a:solidFill>
            <a:srgbClr val="EEF0EE"/>
          </a:solidFill>
          <a:ln w="12700">
            <a:solidFill>
              <a:srgbClr val="EEF0EE"/>
            </a:solidFill>
            <a:prstDash val="solid"/>
          </a:ln>
        </p:spPr>
      </p:sp>
      <p:sp>
        <p:nvSpPr>
          <p:cNvPr id="7" name="Text 5"/>
          <p:cNvSpPr txBox="1"/>
          <p:nvPr/>
        </p:nvSpPr>
        <p:spPr>
          <a:xfrm>
            <a:off x="2286000" y="1417320"/>
            <a:ext cx="4526280" cy="548640"/>
          </a:xfrm>
          <a:prstGeom prst="rect">
            <a:avLst/>
          </a:prstGeom>
          <a:noFill/>
          <a:ln/>
        </p:spPr>
        <p:txBody>
          <a:bodyPr wrap="square" lIns="0" tIns="0" rIns="0" bIns="0" rtlCol="0" anchor="ctr"/>
          <a:lstStyle/>
          <a:p>
            <a:pPr algn="ctr" indent="0" marL="0">
              <a:buNone/>
            </a:pPr>
            <a:r>
              <a:rPr lang="en-US" sz="1500" b="1" dirty="0">
                <a:solidFill>
                  <a:srgbClr val="7B857E"/>
                </a:solidFill>
                <a:latin typeface="Meiryo UI" pitchFamily="34" charset="0"/>
                <a:ea typeface="Meiryo UI" pitchFamily="34" charset="-122"/>
                <a:cs typeface="Meiryo UI" pitchFamily="34" charset="-120"/>
              </a:rPr>
              <a:t>作って放置（反応待ち）</a:t>
            </a:r>
            <a:endParaRPr lang="en-US" sz="1500" dirty="0"/>
          </a:p>
        </p:txBody>
      </p:sp>
      <p:sp>
        <p:nvSpPr>
          <p:cNvPr id="8" name="Shape 6"/>
          <p:cNvSpPr/>
          <p:nvPr/>
        </p:nvSpPr>
        <p:spPr>
          <a:xfrm>
            <a:off x="7086600" y="1417320"/>
            <a:ext cx="4526280" cy="548640"/>
          </a:xfrm>
          <a:prstGeom prst="roundRect">
            <a:avLst>
              <a:gd name="adj" fmla="val 20000"/>
            </a:avLst>
          </a:prstGeom>
          <a:solidFill>
            <a:srgbClr val="46705A"/>
          </a:solidFill>
          <a:ln w="12700">
            <a:solidFill>
              <a:srgbClr val="46705A"/>
            </a:solidFill>
            <a:prstDash val="solid"/>
          </a:ln>
        </p:spPr>
      </p:sp>
      <p:sp>
        <p:nvSpPr>
          <p:cNvPr id="9" name="Text 7"/>
          <p:cNvSpPr txBox="1"/>
          <p:nvPr/>
        </p:nvSpPr>
        <p:spPr>
          <a:xfrm>
            <a:off x="7086600" y="1417320"/>
            <a:ext cx="452628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戦略設計 ＋ 運用</a:t>
            </a:r>
            <a:endParaRPr lang="en-US" sz="1500" dirty="0"/>
          </a:p>
        </p:txBody>
      </p:sp>
      <p:sp>
        <p:nvSpPr>
          <p:cNvPr id="10" name="Text 8"/>
          <p:cNvSpPr txBox="1"/>
          <p:nvPr/>
        </p:nvSpPr>
        <p:spPr>
          <a:xfrm>
            <a:off x="548640" y="2103120"/>
            <a:ext cx="1645920" cy="603504"/>
          </a:xfrm>
          <a:prstGeom prst="rect">
            <a:avLst/>
          </a:prstGeom>
          <a:noFill/>
          <a:ln/>
        </p:spPr>
        <p:txBody>
          <a:bodyPr wrap="square" lIns="0" tIns="0" rIns="0" bIns="0" rtlCol="0" anchor="ctr"/>
          <a:lstStyle/>
          <a:p>
            <a:pPr indent="0" marL="0">
              <a:buNone/>
            </a:pPr>
            <a:r>
              <a:rPr lang="en-US" sz="1300" b="1" dirty="0">
                <a:solidFill>
                  <a:srgbClr val="46705A"/>
                </a:solidFill>
                <a:latin typeface="Meiryo UI" pitchFamily="34" charset="0"/>
                <a:ea typeface="Meiryo UI" pitchFamily="34" charset="-122"/>
                <a:cs typeface="Meiryo UI" pitchFamily="34" charset="-120"/>
              </a:rPr>
              <a:t>届く人数</a:t>
            </a:r>
            <a:endParaRPr lang="en-US" sz="1300" dirty="0"/>
          </a:p>
        </p:txBody>
      </p:sp>
      <p:sp>
        <p:nvSpPr>
          <p:cNvPr id="11" name="Shape 9"/>
          <p:cNvSpPr/>
          <p:nvPr/>
        </p:nvSpPr>
        <p:spPr>
          <a:xfrm>
            <a:off x="2286000" y="2103120"/>
            <a:ext cx="4526280" cy="603504"/>
          </a:xfrm>
          <a:prstGeom prst="roundRect">
            <a:avLst>
              <a:gd name="adj" fmla="val 18182"/>
            </a:avLst>
          </a:prstGeom>
          <a:solidFill>
            <a:srgbClr val="F6F9F7"/>
          </a:solidFill>
          <a:ln w="12700">
            <a:solidFill>
              <a:srgbClr val="F6F9F7"/>
            </a:solidFill>
            <a:prstDash val="solid"/>
          </a:ln>
        </p:spPr>
      </p:sp>
      <p:sp>
        <p:nvSpPr>
          <p:cNvPr id="12" name="Shape 10"/>
          <p:cNvSpPr/>
          <p:nvPr/>
        </p:nvSpPr>
        <p:spPr>
          <a:xfrm>
            <a:off x="2423160" y="2249424"/>
            <a:ext cx="310896" cy="310896"/>
          </a:xfrm>
          <a:prstGeom prst="ellipse">
            <a:avLst/>
          </a:prstGeom>
          <a:solidFill>
            <a:srgbClr val="DCE2DD"/>
          </a:solidFill>
          <a:ln w="12700">
            <a:solidFill>
              <a:srgbClr val="DCE2DD"/>
            </a:solidFill>
            <a:prstDash val="solid"/>
          </a:ln>
        </p:spPr>
      </p:sp>
      <p:pic>
        <p:nvPicPr>
          <p:cNvPr id="13" name="Image 0" descr="preencoded.png">    </p:cNvPr>
          <p:cNvPicPr>
            <a:picLocks noChangeAspect="1"/>
          </p:cNvPicPr>
          <p:nvPr/>
        </p:nvPicPr>
        <p:blipFill>
          <a:blip r:embed="rId1"/>
          <a:stretch>
            <a:fillRect/>
          </a:stretch>
        </p:blipFill>
        <p:spPr>
          <a:xfrm>
            <a:off x="2503993" y="2330257"/>
            <a:ext cx="149230" cy="149230"/>
          </a:xfrm>
          <a:prstGeom prst="rect">
            <a:avLst/>
          </a:prstGeom>
        </p:spPr>
      </p:pic>
      <p:sp>
        <p:nvSpPr>
          <p:cNvPr id="14" name="Text 11"/>
          <p:cNvSpPr txBox="1"/>
          <p:nvPr/>
        </p:nvSpPr>
        <p:spPr>
          <a:xfrm>
            <a:off x="2852928" y="2103120"/>
            <a:ext cx="3840480" cy="603504"/>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HPを見に来た人しか見ない</a:t>
            </a:r>
            <a:endParaRPr lang="en-US" sz="1200" dirty="0"/>
          </a:p>
        </p:txBody>
      </p:sp>
      <p:sp>
        <p:nvSpPr>
          <p:cNvPr id="15" name="Shape 12"/>
          <p:cNvSpPr/>
          <p:nvPr/>
        </p:nvSpPr>
        <p:spPr>
          <a:xfrm>
            <a:off x="7086600" y="2103120"/>
            <a:ext cx="4526280" cy="603504"/>
          </a:xfrm>
          <a:prstGeom prst="roundRect">
            <a:avLst>
              <a:gd name="adj" fmla="val 18182"/>
            </a:avLst>
          </a:prstGeom>
          <a:solidFill>
            <a:srgbClr val="EDF3EF"/>
          </a:solidFill>
          <a:ln w="12700">
            <a:solidFill>
              <a:srgbClr val="EDF3EF"/>
            </a:solidFill>
            <a:prstDash val="solid"/>
          </a:ln>
        </p:spPr>
      </p:sp>
      <p:sp>
        <p:nvSpPr>
          <p:cNvPr id="16" name="Shape 13"/>
          <p:cNvSpPr/>
          <p:nvPr/>
        </p:nvSpPr>
        <p:spPr>
          <a:xfrm>
            <a:off x="7223760" y="2249424"/>
            <a:ext cx="310896" cy="310896"/>
          </a:xfrm>
          <a:prstGeom prst="ellipse">
            <a:avLst/>
          </a:prstGeom>
          <a:solidFill>
            <a:srgbClr val="46705A"/>
          </a:solidFill>
          <a:ln w="12700">
            <a:solidFill>
              <a:srgbClr val="46705A"/>
            </a:solidFill>
            <a:prstDash val="solid"/>
          </a:ln>
        </p:spPr>
      </p:sp>
      <p:pic>
        <p:nvPicPr>
          <p:cNvPr id="17" name="Image 1" descr="preencoded.png">    </p:cNvPr>
          <p:cNvPicPr>
            <a:picLocks noChangeAspect="1"/>
          </p:cNvPicPr>
          <p:nvPr/>
        </p:nvPicPr>
        <p:blipFill>
          <a:blip r:embed="rId2"/>
          <a:stretch>
            <a:fillRect/>
          </a:stretch>
        </p:blipFill>
        <p:spPr>
          <a:xfrm>
            <a:off x="7304593" y="2330257"/>
            <a:ext cx="149230" cy="149230"/>
          </a:xfrm>
          <a:prstGeom prst="rect">
            <a:avLst/>
          </a:prstGeom>
        </p:spPr>
      </p:pic>
      <p:sp>
        <p:nvSpPr>
          <p:cNvPr id="18" name="Text 14"/>
          <p:cNvSpPr txBox="1"/>
          <p:nvPr/>
        </p:nvSpPr>
        <p:spPr>
          <a:xfrm>
            <a:off x="7653528" y="2103120"/>
            <a:ext cx="3840480" cy="603504"/>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区役所・相談支援事業所・ご家族・SNSへ能動的に届ける</a:t>
            </a:r>
            <a:endParaRPr lang="en-US" sz="1200" dirty="0"/>
          </a:p>
        </p:txBody>
      </p:sp>
      <p:sp>
        <p:nvSpPr>
          <p:cNvPr id="19" name="Text 15"/>
          <p:cNvSpPr txBox="1"/>
          <p:nvPr/>
        </p:nvSpPr>
        <p:spPr>
          <a:xfrm>
            <a:off x="548640" y="2816352"/>
            <a:ext cx="1645920" cy="603504"/>
          </a:xfrm>
          <a:prstGeom prst="rect">
            <a:avLst/>
          </a:prstGeom>
          <a:noFill/>
          <a:ln/>
        </p:spPr>
        <p:txBody>
          <a:bodyPr wrap="square" lIns="0" tIns="0" rIns="0" bIns="0" rtlCol="0" anchor="ctr"/>
          <a:lstStyle/>
          <a:p>
            <a:pPr indent="0" marL="0">
              <a:buNone/>
            </a:pPr>
            <a:r>
              <a:rPr lang="en-US" sz="1300" b="1" dirty="0">
                <a:solidFill>
                  <a:srgbClr val="46705A"/>
                </a:solidFill>
                <a:latin typeface="Meiryo UI" pitchFamily="34" charset="0"/>
                <a:ea typeface="Meiryo UI" pitchFamily="34" charset="-122"/>
                <a:cs typeface="Meiryo UI" pitchFamily="34" charset="-120"/>
              </a:rPr>
              <a:t>判断材料</a:t>
            </a:r>
            <a:endParaRPr lang="en-US" sz="1300" dirty="0"/>
          </a:p>
        </p:txBody>
      </p:sp>
      <p:sp>
        <p:nvSpPr>
          <p:cNvPr id="20" name="Shape 16"/>
          <p:cNvSpPr/>
          <p:nvPr/>
        </p:nvSpPr>
        <p:spPr>
          <a:xfrm>
            <a:off x="2286000" y="2816352"/>
            <a:ext cx="4526280" cy="603504"/>
          </a:xfrm>
          <a:prstGeom prst="roundRect">
            <a:avLst>
              <a:gd name="adj" fmla="val 18182"/>
            </a:avLst>
          </a:prstGeom>
          <a:solidFill>
            <a:srgbClr val="F6F9F7"/>
          </a:solidFill>
          <a:ln w="12700">
            <a:solidFill>
              <a:srgbClr val="F6F9F7"/>
            </a:solidFill>
            <a:prstDash val="solid"/>
          </a:ln>
        </p:spPr>
      </p:sp>
      <p:sp>
        <p:nvSpPr>
          <p:cNvPr id="21" name="Shape 17"/>
          <p:cNvSpPr/>
          <p:nvPr/>
        </p:nvSpPr>
        <p:spPr>
          <a:xfrm>
            <a:off x="2423160" y="2962656"/>
            <a:ext cx="310896" cy="310896"/>
          </a:xfrm>
          <a:prstGeom prst="ellipse">
            <a:avLst/>
          </a:prstGeom>
          <a:solidFill>
            <a:srgbClr val="DCE2DD"/>
          </a:solidFill>
          <a:ln w="12700">
            <a:solidFill>
              <a:srgbClr val="DCE2DD"/>
            </a:solidFill>
            <a:prstDash val="solid"/>
          </a:ln>
        </p:spPr>
      </p:sp>
      <p:pic>
        <p:nvPicPr>
          <p:cNvPr id="22" name="Image 2" descr="preencoded.png">    </p:cNvPr>
          <p:cNvPicPr>
            <a:picLocks noChangeAspect="1"/>
          </p:cNvPicPr>
          <p:nvPr/>
        </p:nvPicPr>
        <p:blipFill>
          <a:blip r:embed="rId3"/>
          <a:stretch>
            <a:fillRect/>
          </a:stretch>
        </p:blipFill>
        <p:spPr>
          <a:xfrm>
            <a:off x="2503993" y="3043489"/>
            <a:ext cx="149230" cy="149230"/>
          </a:xfrm>
          <a:prstGeom prst="rect">
            <a:avLst/>
          </a:prstGeom>
        </p:spPr>
      </p:pic>
      <p:sp>
        <p:nvSpPr>
          <p:cNvPr id="23" name="Text 18"/>
          <p:cNvSpPr txBox="1"/>
          <p:nvPr/>
        </p:nvSpPr>
        <p:spPr>
          <a:xfrm>
            <a:off x="2852928" y="2816352"/>
            <a:ext cx="3840480" cy="603504"/>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再生数が少なく「効果があるのか分からない」まま終わる</a:t>
            </a:r>
            <a:endParaRPr lang="en-US" sz="1200" dirty="0"/>
          </a:p>
        </p:txBody>
      </p:sp>
      <p:sp>
        <p:nvSpPr>
          <p:cNvPr id="24" name="Shape 19"/>
          <p:cNvSpPr/>
          <p:nvPr/>
        </p:nvSpPr>
        <p:spPr>
          <a:xfrm>
            <a:off x="7086600" y="2816352"/>
            <a:ext cx="4526280" cy="603504"/>
          </a:xfrm>
          <a:prstGeom prst="roundRect">
            <a:avLst>
              <a:gd name="adj" fmla="val 18182"/>
            </a:avLst>
          </a:prstGeom>
          <a:solidFill>
            <a:srgbClr val="EDF3EF"/>
          </a:solidFill>
          <a:ln w="12700">
            <a:solidFill>
              <a:srgbClr val="EDF3EF"/>
            </a:solidFill>
            <a:prstDash val="solid"/>
          </a:ln>
        </p:spPr>
      </p:sp>
      <p:sp>
        <p:nvSpPr>
          <p:cNvPr id="25" name="Shape 20"/>
          <p:cNvSpPr/>
          <p:nvPr/>
        </p:nvSpPr>
        <p:spPr>
          <a:xfrm>
            <a:off x="7223760" y="2962656"/>
            <a:ext cx="310896" cy="310896"/>
          </a:xfrm>
          <a:prstGeom prst="ellipse">
            <a:avLst/>
          </a:prstGeom>
          <a:solidFill>
            <a:srgbClr val="46705A"/>
          </a:solidFill>
          <a:ln w="12700">
            <a:solidFill>
              <a:srgbClr val="46705A"/>
            </a:solidFill>
            <a:prstDash val="solid"/>
          </a:ln>
        </p:spPr>
      </p:sp>
      <p:pic>
        <p:nvPicPr>
          <p:cNvPr id="26" name="Image 3" descr="preencoded.png">    </p:cNvPr>
          <p:cNvPicPr>
            <a:picLocks noChangeAspect="1"/>
          </p:cNvPicPr>
          <p:nvPr/>
        </p:nvPicPr>
        <p:blipFill>
          <a:blip r:embed="rId4"/>
          <a:stretch>
            <a:fillRect/>
          </a:stretch>
        </p:blipFill>
        <p:spPr>
          <a:xfrm>
            <a:off x="7304593" y="3043489"/>
            <a:ext cx="149230" cy="149230"/>
          </a:xfrm>
          <a:prstGeom prst="rect">
            <a:avLst/>
          </a:prstGeom>
        </p:spPr>
      </p:pic>
      <p:sp>
        <p:nvSpPr>
          <p:cNvPr id="27" name="Text 21"/>
          <p:cNvSpPr txBox="1"/>
          <p:nvPr/>
        </p:nvSpPr>
        <p:spPr>
          <a:xfrm>
            <a:off x="7653528" y="2816352"/>
            <a:ext cx="3840480" cy="603504"/>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視聴数・見学相談・利用登録を数値で比較できる</a:t>
            </a:r>
            <a:endParaRPr lang="en-US" sz="1200" dirty="0"/>
          </a:p>
        </p:txBody>
      </p:sp>
      <p:sp>
        <p:nvSpPr>
          <p:cNvPr id="28" name="Text 22"/>
          <p:cNvSpPr txBox="1"/>
          <p:nvPr/>
        </p:nvSpPr>
        <p:spPr>
          <a:xfrm>
            <a:off x="548640" y="3529584"/>
            <a:ext cx="1645920" cy="603504"/>
          </a:xfrm>
          <a:prstGeom prst="rect">
            <a:avLst/>
          </a:prstGeom>
          <a:noFill/>
          <a:ln/>
        </p:spPr>
        <p:txBody>
          <a:bodyPr wrap="square" lIns="0" tIns="0" rIns="0" bIns="0" rtlCol="0" anchor="ctr"/>
          <a:lstStyle/>
          <a:p>
            <a:pPr indent="0" marL="0">
              <a:buNone/>
            </a:pPr>
            <a:r>
              <a:rPr lang="en-US" sz="1300" b="1" dirty="0">
                <a:solidFill>
                  <a:srgbClr val="46705A"/>
                </a:solidFill>
                <a:latin typeface="Meiryo UI" pitchFamily="34" charset="0"/>
                <a:ea typeface="Meiryo UI" pitchFamily="34" charset="-122"/>
                <a:cs typeface="Meiryo UI" pitchFamily="34" charset="-120"/>
              </a:rPr>
              <a:t>改善</a:t>
            </a:r>
            <a:endParaRPr lang="en-US" sz="1300" dirty="0"/>
          </a:p>
        </p:txBody>
      </p:sp>
      <p:sp>
        <p:nvSpPr>
          <p:cNvPr id="29" name="Shape 23"/>
          <p:cNvSpPr/>
          <p:nvPr/>
        </p:nvSpPr>
        <p:spPr>
          <a:xfrm>
            <a:off x="2286000" y="3529584"/>
            <a:ext cx="4526280" cy="603504"/>
          </a:xfrm>
          <a:prstGeom prst="roundRect">
            <a:avLst>
              <a:gd name="adj" fmla="val 18182"/>
            </a:avLst>
          </a:prstGeom>
          <a:solidFill>
            <a:srgbClr val="F6F9F7"/>
          </a:solidFill>
          <a:ln w="12700">
            <a:solidFill>
              <a:srgbClr val="F6F9F7"/>
            </a:solidFill>
            <a:prstDash val="solid"/>
          </a:ln>
        </p:spPr>
      </p:sp>
      <p:sp>
        <p:nvSpPr>
          <p:cNvPr id="30" name="Shape 24"/>
          <p:cNvSpPr/>
          <p:nvPr/>
        </p:nvSpPr>
        <p:spPr>
          <a:xfrm>
            <a:off x="2423160" y="3675888"/>
            <a:ext cx="310896" cy="310896"/>
          </a:xfrm>
          <a:prstGeom prst="ellipse">
            <a:avLst/>
          </a:prstGeom>
          <a:solidFill>
            <a:srgbClr val="DCE2DD"/>
          </a:solidFill>
          <a:ln w="12700">
            <a:solidFill>
              <a:srgbClr val="DCE2DD"/>
            </a:solidFill>
            <a:prstDash val="solid"/>
          </a:ln>
        </p:spPr>
      </p:sp>
      <p:pic>
        <p:nvPicPr>
          <p:cNvPr id="31" name="Image 4" descr="preencoded.png">    </p:cNvPr>
          <p:cNvPicPr>
            <a:picLocks noChangeAspect="1"/>
          </p:cNvPicPr>
          <p:nvPr/>
        </p:nvPicPr>
        <p:blipFill>
          <a:blip r:embed="rId5"/>
          <a:stretch>
            <a:fillRect/>
          </a:stretch>
        </p:blipFill>
        <p:spPr>
          <a:xfrm>
            <a:off x="2503993" y="3756721"/>
            <a:ext cx="149230" cy="149230"/>
          </a:xfrm>
          <a:prstGeom prst="rect">
            <a:avLst/>
          </a:prstGeom>
        </p:spPr>
      </p:pic>
      <p:sp>
        <p:nvSpPr>
          <p:cNvPr id="32" name="Text 25"/>
          <p:cNvSpPr txBox="1"/>
          <p:nvPr/>
        </p:nvSpPr>
        <p:spPr>
          <a:xfrm>
            <a:off x="2852928" y="3529584"/>
            <a:ext cx="3840480" cy="603504"/>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1本で終わり、何が良く何が悪かったか学べない</a:t>
            </a:r>
            <a:endParaRPr lang="en-US" sz="1200" dirty="0"/>
          </a:p>
        </p:txBody>
      </p:sp>
      <p:sp>
        <p:nvSpPr>
          <p:cNvPr id="33" name="Shape 26"/>
          <p:cNvSpPr/>
          <p:nvPr/>
        </p:nvSpPr>
        <p:spPr>
          <a:xfrm>
            <a:off x="7086600" y="3529584"/>
            <a:ext cx="4526280" cy="603504"/>
          </a:xfrm>
          <a:prstGeom prst="roundRect">
            <a:avLst>
              <a:gd name="adj" fmla="val 18182"/>
            </a:avLst>
          </a:prstGeom>
          <a:solidFill>
            <a:srgbClr val="EDF3EF"/>
          </a:solidFill>
          <a:ln w="12700">
            <a:solidFill>
              <a:srgbClr val="EDF3EF"/>
            </a:solidFill>
            <a:prstDash val="solid"/>
          </a:ln>
        </p:spPr>
      </p:sp>
      <p:sp>
        <p:nvSpPr>
          <p:cNvPr id="34" name="Shape 27"/>
          <p:cNvSpPr/>
          <p:nvPr/>
        </p:nvSpPr>
        <p:spPr>
          <a:xfrm>
            <a:off x="7223760" y="3675888"/>
            <a:ext cx="310896" cy="310896"/>
          </a:xfrm>
          <a:prstGeom prst="ellipse">
            <a:avLst/>
          </a:prstGeom>
          <a:solidFill>
            <a:srgbClr val="46705A"/>
          </a:solidFill>
          <a:ln w="12700">
            <a:solidFill>
              <a:srgbClr val="46705A"/>
            </a:solidFill>
            <a:prstDash val="solid"/>
          </a:ln>
        </p:spPr>
      </p:sp>
      <p:pic>
        <p:nvPicPr>
          <p:cNvPr id="35" name="Image 5" descr="preencoded.png">    </p:cNvPr>
          <p:cNvPicPr>
            <a:picLocks noChangeAspect="1"/>
          </p:cNvPicPr>
          <p:nvPr/>
        </p:nvPicPr>
        <p:blipFill>
          <a:blip r:embed="rId6"/>
          <a:stretch>
            <a:fillRect/>
          </a:stretch>
        </p:blipFill>
        <p:spPr>
          <a:xfrm>
            <a:off x="7304593" y="3756721"/>
            <a:ext cx="149230" cy="149230"/>
          </a:xfrm>
          <a:prstGeom prst="rect">
            <a:avLst/>
          </a:prstGeom>
        </p:spPr>
      </p:pic>
      <p:sp>
        <p:nvSpPr>
          <p:cNvPr id="36" name="Text 28"/>
          <p:cNvSpPr txBox="1"/>
          <p:nvPr/>
        </p:nvSpPr>
        <p:spPr>
          <a:xfrm>
            <a:off x="7653528" y="3529584"/>
            <a:ext cx="3840480" cy="603504"/>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検証結果から台本・尺・テーマを改善し続ける</a:t>
            </a:r>
            <a:endParaRPr lang="en-US" sz="1200" dirty="0"/>
          </a:p>
        </p:txBody>
      </p:sp>
      <p:sp>
        <p:nvSpPr>
          <p:cNvPr id="37" name="Text 29"/>
          <p:cNvSpPr txBox="1"/>
          <p:nvPr/>
        </p:nvSpPr>
        <p:spPr>
          <a:xfrm>
            <a:off x="548640" y="4242816"/>
            <a:ext cx="1645920" cy="603504"/>
          </a:xfrm>
          <a:prstGeom prst="rect">
            <a:avLst/>
          </a:prstGeom>
          <a:noFill/>
          <a:ln/>
        </p:spPr>
        <p:txBody>
          <a:bodyPr wrap="square" lIns="0" tIns="0" rIns="0" bIns="0" rtlCol="0" anchor="ctr"/>
          <a:lstStyle/>
          <a:p>
            <a:pPr indent="0" marL="0">
              <a:buNone/>
            </a:pPr>
            <a:r>
              <a:rPr lang="en-US" sz="1300" b="1" dirty="0">
                <a:solidFill>
                  <a:srgbClr val="46705A"/>
                </a:solidFill>
                <a:latin typeface="Meiryo UI" pitchFamily="34" charset="0"/>
                <a:ea typeface="Meiryo UI" pitchFamily="34" charset="-122"/>
                <a:cs typeface="Meiryo UI" pitchFamily="34" charset="-120"/>
              </a:rPr>
              <a:t>運営との接続</a:t>
            </a:r>
            <a:endParaRPr lang="en-US" sz="1300" dirty="0"/>
          </a:p>
        </p:txBody>
      </p:sp>
      <p:sp>
        <p:nvSpPr>
          <p:cNvPr id="38" name="Shape 30"/>
          <p:cNvSpPr/>
          <p:nvPr/>
        </p:nvSpPr>
        <p:spPr>
          <a:xfrm>
            <a:off x="2286000" y="4242816"/>
            <a:ext cx="4526280" cy="603504"/>
          </a:xfrm>
          <a:prstGeom prst="roundRect">
            <a:avLst>
              <a:gd name="adj" fmla="val 18182"/>
            </a:avLst>
          </a:prstGeom>
          <a:solidFill>
            <a:srgbClr val="F6F9F7"/>
          </a:solidFill>
          <a:ln w="12700">
            <a:solidFill>
              <a:srgbClr val="F6F9F7"/>
            </a:solidFill>
            <a:prstDash val="solid"/>
          </a:ln>
        </p:spPr>
      </p:sp>
      <p:sp>
        <p:nvSpPr>
          <p:cNvPr id="39" name="Shape 31"/>
          <p:cNvSpPr/>
          <p:nvPr/>
        </p:nvSpPr>
        <p:spPr>
          <a:xfrm>
            <a:off x="2423160" y="4389120"/>
            <a:ext cx="310896" cy="310896"/>
          </a:xfrm>
          <a:prstGeom prst="ellipse">
            <a:avLst/>
          </a:prstGeom>
          <a:solidFill>
            <a:srgbClr val="DCE2DD"/>
          </a:solidFill>
          <a:ln w="12700">
            <a:solidFill>
              <a:srgbClr val="DCE2DD"/>
            </a:solidFill>
            <a:prstDash val="solid"/>
          </a:ln>
        </p:spPr>
      </p:sp>
      <p:pic>
        <p:nvPicPr>
          <p:cNvPr id="40" name="Image 6" descr="preencoded.png">    </p:cNvPr>
          <p:cNvPicPr>
            <a:picLocks noChangeAspect="1"/>
          </p:cNvPicPr>
          <p:nvPr/>
        </p:nvPicPr>
        <p:blipFill>
          <a:blip r:embed="rId7"/>
          <a:stretch>
            <a:fillRect/>
          </a:stretch>
        </p:blipFill>
        <p:spPr>
          <a:xfrm>
            <a:off x="2503993" y="4469953"/>
            <a:ext cx="149230" cy="149230"/>
          </a:xfrm>
          <a:prstGeom prst="rect">
            <a:avLst/>
          </a:prstGeom>
        </p:spPr>
      </p:pic>
      <p:sp>
        <p:nvSpPr>
          <p:cNvPr id="41" name="Text 32"/>
          <p:cNvSpPr txBox="1"/>
          <p:nvPr/>
        </p:nvSpPr>
        <p:spPr>
          <a:xfrm>
            <a:off x="2852928" y="4242816"/>
            <a:ext cx="3840480" cy="603504"/>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見学や紹介の場で使われず、代表の手間も減らない</a:t>
            </a:r>
            <a:endParaRPr lang="en-US" sz="1200" dirty="0"/>
          </a:p>
        </p:txBody>
      </p:sp>
      <p:sp>
        <p:nvSpPr>
          <p:cNvPr id="42" name="Shape 33"/>
          <p:cNvSpPr/>
          <p:nvPr/>
        </p:nvSpPr>
        <p:spPr>
          <a:xfrm>
            <a:off x="7086600" y="4242816"/>
            <a:ext cx="4526280" cy="603504"/>
          </a:xfrm>
          <a:prstGeom prst="roundRect">
            <a:avLst>
              <a:gd name="adj" fmla="val 18182"/>
            </a:avLst>
          </a:prstGeom>
          <a:solidFill>
            <a:srgbClr val="EDF3EF"/>
          </a:solidFill>
          <a:ln w="12700">
            <a:solidFill>
              <a:srgbClr val="EDF3EF"/>
            </a:solidFill>
            <a:prstDash val="solid"/>
          </a:ln>
        </p:spPr>
      </p:sp>
      <p:sp>
        <p:nvSpPr>
          <p:cNvPr id="43" name="Shape 34"/>
          <p:cNvSpPr/>
          <p:nvPr/>
        </p:nvSpPr>
        <p:spPr>
          <a:xfrm>
            <a:off x="7223760" y="4389120"/>
            <a:ext cx="310896" cy="310896"/>
          </a:xfrm>
          <a:prstGeom prst="ellipse">
            <a:avLst/>
          </a:prstGeom>
          <a:solidFill>
            <a:srgbClr val="46705A"/>
          </a:solidFill>
          <a:ln w="12700">
            <a:solidFill>
              <a:srgbClr val="46705A"/>
            </a:solidFill>
            <a:prstDash val="solid"/>
          </a:ln>
        </p:spPr>
      </p:sp>
      <p:pic>
        <p:nvPicPr>
          <p:cNvPr id="44" name="Image 7" descr="preencoded.png">    </p:cNvPr>
          <p:cNvPicPr>
            <a:picLocks noChangeAspect="1"/>
          </p:cNvPicPr>
          <p:nvPr/>
        </p:nvPicPr>
        <p:blipFill>
          <a:blip r:embed="rId8"/>
          <a:stretch>
            <a:fillRect/>
          </a:stretch>
        </p:blipFill>
        <p:spPr>
          <a:xfrm>
            <a:off x="7304593" y="4469953"/>
            <a:ext cx="149230" cy="149230"/>
          </a:xfrm>
          <a:prstGeom prst="rect">
            <a:avLst/>
          </a:prstGeom>
        </p:spPr>
      </p:pic>
      <p:sp>
        <p:nvSpPr>
          <p:cNvPr id="45" name="Text 35"/>
          <p:cNvSpPr txBox="1"/>
          <p:nvPr/>
        </p:nvSpPr>
        <p:spPr>
          <a:xfrm>
            <a:off x="7653528" y="4242816"/>
            <a:ext cx="3840480" cy="603504"/>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紹介元への案内・見学前の送付に組み込まれ、型になる</a:t>
            </a:r>
            <a:endParaRPr lang="en-US" sz="1200" dirty="0"/>
          </a:p>
        </p:txBody>
      </p:sp>
      <p:sp>
        <p:nvSpPr>
          <p:cNvPr id="46" name="Text 36"/>
          <p:cNvSpPr txBox="1"/>
          <p:nvPr/>
        </p:nvSpPr>
        <p:spPr>
          <a:xfrm>
            <a:off x="548640" y="4956048"/>
            <a:ext cx="1645920" cy="603504"/>
          </a:xfrm>
          <a:prstGeom prst="rect">
            <a:avLst/>
          </a:prstGeom>
          <a:noFill/>
          <a:ln/>
        </p:spPr>
        <p:txBody>
          <a:bodyPr wrap="square" lIns="0" tIns="0" rIns="0" bIns="0" rtlCol="0" anchor="ctr"/>
          <a:lstStyle/>
          <a:p>
            <a:pPr indent="0" marL="0">
              <a:buNone/>
            </a:pPr>
            <a:r>
              <a:rPr lang="en-US" sz="1300" b="1" dirty="0">
                <a:solidFill>
                  <a:srgbClr val="46705A"/>
                </a:solidFill>
                <a:latin typeface="Meiryo UI" pitchFamily="34" charset="0"/>
                <a:ea typeface="Meiryo UI" pitchFamily="34" charset="-122"/>
                <a:cs typeface="Meiryo UI" pitchFamily="34" charset="-120"/>
              </a:rPr>
              <a:t>結論</a:t>
            </a:r>
            <a:endParaRPr lang="en-US" sz="1300" dirty="0"/>
          </a:p>
        </p:txBody>
      </p:sp>
      <p:sp>
        <p:nvSpPr>
          <p:cNvPr id="47" name="Shape 37"/>
          <p:cNvSpPr/>
          <p:nvPr/>
        </p:nvSpPr>
        <p:spPr>
          <a:xfrm>
            <a:off x="2286000" y="4956048"/>
            <a:ext cx="4526280" cy="603504"/>
          </a:xfrm>
          <a:prstGeom prst="roundRect">
            <a:avLst>
              <a:gd name="adj" fmla="val 18182"/>
            </a:avLst>
          </a:prstGeom>
          <a:solidFill>
            <a:srgbClr val="F6F9F7"/>
          </a:solidFill>
          <a:ln w="12700">
            <a:solidFill>
              <a:srgbClr val="F6F9F7"/>
            </a:solidFill>
            <a:prstDash val="solid"/>
          </a:ln>
        </p:spPr>
      </p:sp>
      <p:sp>
        <p:nvSpPr>
          <p:cNvPr id="48" name="Shape 38"/>
          <p:cNvSpPr/>
          <p:nvPr/>
        </p:nvSpPr>
        <p:spPr>
          <a:xfrm>
            <a:off x="2423160" y="5102352"/>
            <a:ext cx="310896" cy="310896"/>
          </a:xfrm>
          <a:prstGeom prst="ellipse">
            <a:avLst/>
          </a:prstGeom>
          <a:solidFill>
            <a:srgbClr val="DCE2DD"/>
          </a:solidFill>
          <a:ln w="12700">
            <a:solidFill>
              <a:srgbClr val="DCE2DD"/>
            </a:solidFill>
            <a:prstDash val="solid"/>
          </a:ln>
        </p:spPr>
      </p:sp>
      <p:pic>
        <p:nvPicPr>
          <p:cNvPr id="49" name="Image 8" descr="preencoded.png">    </p:cNvPr>
          <p:cNvPicPr>
            <a:picLocks noChangeAspect="1"/>
          </p:cNvPicPr>
          <p:nvPr/>
        </p:nvPicPr>
        <p:blipFill>
          <a:blip r:embed="rId9"/>
          <a:stretch>
            <a:fillRect/>
          </a:stretch>
        </p:blipFill>
        <p:spPr>
          <a:xfrm>
            <a:off x="2503993" y="5183185"/>
            <a:ext cx="149230" cy="149230"/>
          </a:xfrm>
          <a:prstGeom prst="rect">
            <a:avLst/>
          </a:prstGeom>
        </p:spPr>
      </p:pic>
      <p:sp>
        <p:nvSpPr>
          <p:cNvPr id="50" name="Text 39"/>
          <p:cNvSpPr txBox="1"/>
          <p:nvPr/>
        </p:nvSpPr>
        <p:spPr>
          <a:xfrm>
            <a:off x="2852928" y="4956048"/>
            <a:ext cx="3840480" cy="603504"/>
          </a:xfrm>
          <a:prstGeom prst="rect">
            <a:avLst/>
          </a:prstGeom>
          <a:noFill/>
          <a:ln/>
        </p:spPr>
        <p:txBody>
          <a:bodyPr wrap="square" lIns="0" tIns="0" rIns="0" bIns="0" rtlCol="0" anchor="ctr"/>
          <a:lstStyle/>
          <a:p>
            <a:pPr indent="0" marL="0">
              <a:buNone/>
            </a:pPr>
            <a:r>
              <a:rPr lang="en-US" sz="1200" b="1" dirty="0">
                <a:solidFill>
                  <a:srgbClr val="2A322D"/>
                </a:solidFill>
                <a:latin typeface="Meiryo UI" pitchFamily="34" charset="0"/>
                <a:ea typeface="Meiryo UI" pitchFamily="34" charset="-122"/>
                <a:cs typeface="Meiryo UI" pitchFamily="34" charset="-120"/>
              </a:rPr>
              <a:t>「動画は効果がなかった」という誤った判断に至る</a:t>
            </a:r>
            <a:endParaRPr lang="en-US" sz="1200" dirty="0"/>
          </a:p>
        </p:txBody>
      </p:sp>
      <p:sp>
        <p:nvSpPr>
          <p:cNvPr id="51" name="Shape 40"/>
          <p:cNvSpPr/>
          <p:nvPr/>
        </p:nvSpPr>
        <p:spPr>
          <a:xfrm>
            <a:off x="7086600" y="4956048"/>
            <a:ext cx="4526280" cy="603504"/>
          </a:xfrm>
          <a:prstGeom prst="roundRect">
            <a:avLst>
              <a:gd name="adj" fmla="val 18182"/>
            </a:avLst>
          </a:prstGeom>
          <a:solidFill>
            <a:srgbClr val="FBEFE4"/>
          </a:solidFill>
          <a:ln w="12700">
            <a:solidFill>
              <a:srgbClr val="FBEFE4"/>
            </a:solidFill>
            <a:prstDash val="solid"/>
          </a:ln>
        </p:spPr>
      </p:sp>
      <p:sp>
        <p:nvSpPr>
          <p:cNvPr id="52" name="Shape 41"/>
          <p:cNvSpPr/>
          <p:nvPr/>
        </p:nvSpPr>
        <p:spPr>
          <a:xfrm>
            <a:off x="7223760" y="5102352"/>
            <a:ext cx="310896" cy="310896"/>
          </a:xfrm>
          <a:prstGeom prst="ellipse">
            <a:avLst/>
          </a:prstGeom>
          <a:solidFill>
            <a:srgbClr val="B8652A"/>
          </a:solidFill>
          <a:ln w="12700">
            <a:solidFill>
              <a:srgbClr val="B8652A"/>
            </a:solidFill>
            <a:prstDash val="solid"/>
          </a:ln>
        </p:spPr>
      </p:sp>
      <p:pic>
        <p:nvPicPr>
          <p:cNvPr id="53" name="Image 9" descr="preencoded.png">    </p:cNvPr>
          <p:cNvPicPr>
            <a:picLocks noChangeAspect="1"/>
          </p:cNvPicPr>
          <p:nvPr/>
        </p:nvPicPr>
        <p:blipFill>
          <a:blip r:embed="rId10"/>
          <a:stretch>
            <a:fillRect/>
          </a:stretch>
        </p:blipFill>
        <p:spPr>
          <a:xfrm>
            <a:off x="7304593" y="5183185"/>
            <a:ext cx="149230" cy="149230"/>
          </a:xfrm>
          <a:prstGeom prst="rect">
            <a:avLst/>
          </a:prstGeom>
        </p:spPr>
      </p:pic>
      <p:sp>
        <p:nvSpPr>
          <p:cNvPr id="54" name="Text 42"/>
          <p:cNvSpPr txBox="1"/>
          <p:nvPr/>
        </p:nvSpPr>
        <p:spPr>
          <a:xfrm>
            <a:off x="7653528" y="4956048"/>
            <a:ext cx="3840480" cy="603504"/>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必要な人に届き続ける“仕組み”が残る</a:t>
            </a:r>
            <a:endParaRPr lang="en-US" sz="1200" dirty="0"/>
          </a:p>
        </p:txBody>
      </p:sp>
      <p:sp>
        <p:nvSpPr>
          <p:cNvPr id="55" name="Text 43"/>
          <p:cNvSpPr txBox="1"/>
          <p:nvPr/>
        </p:nvSpPr>
        <p:spPr>
          <a:xfrm>
            <a:off x="548640" y="5715000"/>
            <a:ext cx="11094415" cy="640080"/>
          </a:xfrm>
          <a:prstGeom prst="rect">
            <a:avLst/>
          </a:prstGeom>
          <a:noFill/>
          <a:ln/>
        </p:spPr>
        <p:txBody>
          <a:bodyPr wrap="square" lIns="0" tIns="0" rIns="0" bIns="0" rtlCol="0" anchor="ctr"/>
          <a:lstStyle/>
          <a:p>
            <a:pPr algn="ctr" indent="0" marL="0">
              <a:buNone/>
            </a:pPr>
            <a:r>
              <a:rPr lang="en-US" sz="1400" b="1" dirty="0">
                <a:solidFill>
                  <a:srgbClr val="B8652A"/>
                </a:solidFill>
                <a:latin typeface="Meiryo UI" pitchFamily="34" charset="0"/>
                <a:ea typeface="Meiryo UI" pitchFamily="34" charset="-122"/>
                <a:cs typeface="Meiryo UI" pitchFamily="34" charset="-120"/>
              </a:rPr>
              <a:t>動画は“置く”ものではなく“使う”もの。</a:t>
            </a:r>
            <a:endParaRPr lang="en-US" sz="1400" dirty="0"/>
          </a:p>
          <a:p>
            <a:pPr algn="ctr" indent="0" marL="0">
              <a:buNone/>
            </a:pPr>
            <a:r>
              <a:rPr lang="en-US" sz="1400" dirty="0">
                <a:solidFill>
                  <a:srgbClr val="2A322D"/>
                </a:solidFill>
                <a:latin typeface="Meiryo UI" pitchFamily="34" charset="0"/>
                <a:ea typeface="Meiryo UI" pitchFamily="34" charset="-122"/>
                <a:cs typeface="Meiryo UI" pitchFamily="34" charset="-120"/>
              </a:rPr>
              <a:t>成果を分けるのは出来栄えではなく、「誰に・いつ・どう届け・どう改善するか」という運用設計です。</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02｜WHY MiTok / WHY US</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なぜ「動画 × 生成AI（MiTok）」で、なぜアイドマなのか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600" b="1" dirty="0">
                <a:solidFill>
                  <a:srgbClr val="B8652A"/>
                </a:solidFill>
                <a:latin typeface="Meiryo UI" pitchFamily="34" charset="0"/>
                <a:ea typeface="Meiryo UI" pitchFamily="34" charset="-122"/>
                <a:cs typeface="Meiryo UI" pitchFamily="34" charset="-120"/>
              </a:rPr>
              <a:t>Why MiTok</a:t>
            </a:r>
            <a:endParaRPr lang="en-US" sz="1600" dirty="0"/>
          </a:p>
        </p:txBody>
      </p:sp>
      <p:sp>
        <p:nvSpPr>
          <p:cNvPr id="7" name="Shape 5"/>
          <p:cNvSpPr/>
          <p:nvPr/>
        </p:nvSpPr>
        <p:spPr>
          <a:xfrm>
            <a:off x="548640" y="1874520"/>
            <a:ext cx="548640" cy="548640"/>
          </a:xfrm>
          <a:prstGeom prst="ellipse">
            <a:avLst/>
          </a:prstGeom>
          <a:solidFill>
            <a:srgbClr val="EDF3EF"/>
          </a:solidFill>
          <a:ln w="12700">
            <a:solidFill>
              <a:srgbClr val="EDF3EF"/>
            </a:solidFill>
            <a:prstDash val="solid"/>
          </a:ln>
        </p:spPr>
      </p:sp>
      <p:pic>
        <p:nvPicPr>
          <p:cNvPr id="8" name="Image 0" descr="preencoded.png">    </p:cNvPr>
          <p:cNvPicPr>
            <a:picLocks noChangeAspect="1"/>
          </p:cNvPicPr>
          <p:nvPr/>
        </p:nvPicPr>
        <p:blipFill>
          <a:blip r:embed="rId1"/>
          <a:stretch>
            <a:fillRect/>
          </a:stretch>
        </p:blipFill>
        <p:spPr>
          <a:xfrm>
            <a:off x="691286" y="2017166"/>
            <a:ext cx="263347" cy="263347"/>
          </a:xfrm>
          <a:prstGeom prst="rect">
            <a:avLst/>
          </a:prstGeom>
        </p:spPr>
      </p:pic>
      <p:sp>
        <p:nvSpPr>
          <p:cNvPr id="9" name="Text 6"/>
          <p:cNvSpPr txBox="1"/>
          <p:nvPr/>
        </p:nvSpPr>
        <p:spPr>
          <a:xfrm>
            <a:off x="1280160" y="1828800"/>
            <a:ext cx="603504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AI掛け合い（対話型）の動画</a:t>
            </a:r>
            <a:endParaRPr lang="en-US" sz="1400" dirty="0"/>
          </a:p>
        </p:txBody>
      </p:sp>
      <p:sp>
        <p:nvSpPr>
          <p:cNvPr id="10" name="Text 7"/>
          <p:cNvSpPr txBox="1"/>
          <p:nvPr/>
        </p:nvSpPr>
        <p:spPr>
          <a:xfrm>
            <a:off x="1280160" y="2157984"/>
            <a:ext cx="6035040" cy="475488"/>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「ご本人・ご家族の不安」×「スタッフの回答」の形式で、施設の雰囲気とやさしさが伝わる</a:t>
            </a:r>
            <a:endParaRPr lang="en-US" sz="1150" dirty="0"/>
          </a:p>
        </p:txBody>
      </p:sp>
      <p:sp>
        <p:nvSpPr>
          <p:cNvPr id="11" name="Shape 8"/>
          <p:cNvSpPr/>
          <p:nvPr/>
        </p:nvSpPr>
        <p:spPr>
          <a:xfrm>
            <a:off x="548640" y="2743200"/>
            <a:ext cx="548640" cy="548640"/>
          </a:xfrm>
          <a:prstGeom prst="ellipse">
            <a:avLst/>
          </a:prstGeom>
          <a:solidFill>
            <a:srgbClr val="EDF3EF"/>
          </a:solidFill>
          <a:ln w="12700">
            <a:solidFill>
              <a:srgbClr val="EDF3EF"/>
            </a:solidFill>
            <a:prstDash val="solid"/>
          </a:ln>
        </p:spPr>
      </p:sp>
      <p:pic>
        <p:nvPicPr>
          <p:cNvPr id="12" name="Image 1" descr="preencoded.png">    </p:cNvPr>
          <p:cNvPicPr>
            <a:picLocks noChangeAspect="1"/>
          </p:cNvPicPr>
          <p:nvPr/>
        </p:nvPicPr>
        <p:blipFill>
          <a:blip r:embed="rId2"/>
          <a:stretch>
            <a:fillRect/>
          </a:stretch>
        </p:blipFill>
        <p:spPr>
          <a:xfrm>
            <a:off x="691286" y="2885846"/>
            <a:ext cx="263347" cy="263347"/>
          </a:xfrm>
          <a:prstGeom prst="rect">
            <a:avLst/>
          </a:prstGeom>
        </p:spPr>
      </p:pic>
      <p:sp>
        <p:nvSpPr>
          <p:cNvPr id="13" name="Text 9"/>
          <p:cNvSpPr txBox="1"/>
          <p:nvPr/>
        </p:nvSpPr>
        <p:spPr>
          <a:xfrm>
            <a:off x="1280160" y="2697480"/>
            <a:ext cx="603504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利用者を撮影せずに発信できる</a:t>
            </a:r>
            <a:endParaRPr lang="en-US" sz="1400" dirty="0"/>
          </a:p>
        </p:txBody>
      </p:sp>
      <p:sp>
        <p:nvSpPr>
          <p:cNvPr id="14" name="Text 10"/>
          <p:cNvSpPr txBox="1"/>
          <p:nvPr/>
        </p:nvSpPr>
        <p:spPr>
          <a:xfrm>
            <a:off x="1280160" y="3026664"/>
            <a:ext cx="6035040" cy="475488"/>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利用者のプライバシーを守りながら、1日の流れや支援の考え方を伝えられる</a:t>
            </a:r>
            <a:endParaRPr lang="en-US" sz="1150" dirty="0"/>
          </a:p>
        </p:txBody>
      </p:sp>
      <p:sp>
        <p:nvSpPr>
          <p:cNvPr id="15" name="Shape 11"/>
          <p:cNvSpPr/>
          <p:nvPr/>
        </p:nvSpPr>
        <p:spPr>
          <a:xfrm>
            <a:off x="548640" y="3611880"/>
            <a:ext cx="548640" cy="548640"/>
          </a:xfrm>
          <a:prstGeom prst="ellipse">
            <a:avLst/>
          </a:prstGeom>
          <a:solidFill>
            <a:srgbClr val="EDF3EF"/>
          </a:solidFill>
          <a:ln w="12700">
            <a:solidFill>
              <a:srgbClr val="EDF3EF"/>
            </a:solidFill>
            <a:prstDash val="solid"/>
          </a:ln>
        </p:spPr>
      </p:sp>
      <p:pic>
        <p:nvPicPr>
          <p:cNvPr id="16" name="Image 2" descr="preencoded.png">    </p:cNvPr>
          <p:cNvPicPr>
            <a:picLocks noChangeAspect="1"/>
          </p:cNvPicPr>
          <p:nvPr/>
        </p:nvPicPr>
        <p:blipFill>
          <a:blip r:embed="rId3"/>
          <a:stretch>
            <a:fillRect/>
          </a:stretch>
        </p:blipFill>
        <p:spPr>
          <a:xfrm>
            <a:off x="691286" y="3754526"/>
            <a:ext cx="263347" cy="263347"/>
          </a:xfrm>
          <a:prstGeom prst="rect">
            <a:avLst/>
          </a:prstGeom>
        </p:spPr>
      </p:pic>
      <p:sp>
        <p:nvSpPr>
          <p:cNvPr id="17" name="Text 12"/>
          <p:cNvSpPr txBox="1"/>
          <p:nvPr/>
        </p:nvSpPr>
        <p:spPr>
          <a:xfrm>
            <a:off x="1280160" y="3566160"/>
            <a:ext cx="603504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代表の時間を使わない</a:t>
            </a:r>
            <a:endParaRPr lang="en-US" sz="1400" dirty="0"/>
          </a:p>
        </p:txBody>
      </p:sp>
      <p:sp>
        <p:nvSpPr>
          <p:cNvPr id="18" name="Text 13"/>
          <p:cNvSpPr txBox="1"/>
          <p:nvPr/>
        </p:nvSpPr>
        <p:spPr>
          <a:xfrm>
            <a:off x="1280160" y="3895344"/>
            <a:ext cx="6035040" cy="475488"/>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台本づくりから制作まで任せられ、代表が作業に時間を取られない</a:t>
            </a:r>
            <a:endParaRPr lang="en-US" sz="1150" dirty="0"/>
          </a:p>
        </p:txBody>
      </p:sp>
      <p:sp>
        <p:nvSpPr>
          <p:cNvPr id="19" name="Shape 14"/>
          <p:cNvSpPr/>
          <p:nvPr/>
        </p:nvSpPr>
        <p:spPr>
          <a:xfrm>
            <a:off x="548640" y="4480560"/>
            <a:ext cx="548640" cy="548640"/>
          </a:xfrm>
          <a:prstGeom prst="ellipse">
            <a:avLst/>
          </a:prstGeom>
          <a:solidFill>
            <a:srgbClr val="EDF3EF"/>
          </a:solidFill>
          <a:ln w="12700">
            <a:solidFill>
              <a:srgbClr val="EDF3EF"/>
            </a:solidFill>
            <a:prstDash val="solid"/>
          </a:ln>
        </p:spPr>
      </p:sp>
      <p:pic>
        <p:nvPicPr>
          <p:cNvPr id="20" name="Image 3" descr="preencoded.png">    </p:cNvPr>
          <p:cNvPicPr>
            <a:picLocks noChangeAspect="1"/>
          </p:cNvPicPr>
          <p:nvPr/>
        </p:nvPicPr>
        <p:blipFill>
          <a:blip r:embed="rId4"/>
          <a:stretch>
            <a:fillRect/>
          </a:stretch>
        </p:blipFill>
        <p:spPr>
          <a:xfrm>
            <a:off x="691286" y="4623206"/>
            <a:ext cx="263347" cy="263347"/>
          </a:xfrm>
          <a:prstGeom prst="rect">
            <a:avLst/>
          </a:prstGeom>
        </p:spPr>
      </p:pic>
      <p:sp>
        <p:nvSpPr>
          <p:cNvPr id="21" name="Text 15"/>
          <p:cNvSpPr txBox="1"/>
          <p:nvPr/>
        </p:nvSpPr>
        <p:spPr>
          <a:xfrm>
            <a:off x="1280160" y="4434840"/>
            <a:ext cx="603504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相手別に作り分けられる</a:t>
            </a:r>
            <a:endParaRPr lang="en-US" sz="1400" dirty="0"/>
          </a:p>
        </p:txBody>
      </p:sp>
      <p:sp>
        <p:nvSpPr>
          <p:cNvPr id="22" name="Text 16"/>
          <p:cNvSpPr txBox="1"/>
          <p:nvPr/>
        </p:nvSpPr>
        <p:spPr>
          <a:xfrm>
            <a:off x="1280160" y="4764024"/>
            <a:ext cx="6035040" cy="475488"/>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ご本人向け・ご家族向け・支援者向け・企業（受託作業）向けに作り分けられる</a:t>
            </a:r>
            <a:endParaRPr lang="en-US" sz="1150" dirty="0"/>
          </a:p>
        </p:txBody>
      </p:sp>
      <p:sp>
        <p:nvSpPr>
          <p:cNvPr id="23" name="Shape 17"/>
          <p:cNvSpPr/>
          <p:nvPr/>
        </p:nvSpPr>
        <p:spPr>
          <a:xfrm>
            <a:off x="548640" y="5349240"/>
            <a:ext cx="548640" cy="548640"/>
          </a:xfrm>
          <a:prstGeom prst="ellipse">
            <a:avLst/>
          </a:prstGeom>
          <a:solidFill>
            <a:srgbClr val="EDF3EF"/>
          </a:solidFill>
          <a:ln w="12700">
            <a:solidFill>
              <a:srgbClr val="EDF3EF"/>
            </a:solidFill>
            <a:prstDash val="solid"/>
          </a:ln>
        </p:spPr>
      </p:sp>
      <p:pic>
        <p:nvPicPr>
          <p:cNvPr id="24" name="Image 4" descr="preencoded.png">    </p:cNvPr>
          <p:cNvPicPr>
            <a:picLocks noChangeAspect="1"/>
          </p:cNvPicPr>
          <p:nvPr/>
        </p:nvPicPr>
        <p:blipFill>
          <a:blip r:embed="rId5"/>
          <a:stretch>
            <a:fillRect/>
          </a:stretch>
        </p:blipFill>
        <p:spPr>
          <a:xfrm>
            <a:off x="691286" y="5491886"/>
            <a:ext cx="263347" cy="263347"/>
          </a:xfrm>
          <a:prstGeom prst="rect">
            <a:avLst/>
          </a:prstGeom>
        </p:spPr>
      </p:pic>
      <p:sp>
        <p:nvSpPr>
          <p:cNvPr id="25" name="Text 18"/>
          <p:cNvSpPr txBox="1"/>
          <p:nvPr/>
        </p:nvSpPr>
        <p:spPr>
          <a:xfrm>
            <a:off x="1280160" y="5303520"/>
            <a:ext cx="603504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二次利用しやすい</a:t>
            </a:r>
            <a:endParaRPr lang="en-US" sz="1400" dirty="0"/>
          </a:p>
        </p:txBody>
      </p:sp>
      <p:sp>
        <p:nvSpPr>
          <p:cNvPr id="26" name="Text 19"/>
          <p:cNvSpPr txBox="1"/>
          <p:nvPr/>
        </p:nvSpPr>
        <p:spPr>
          <a:xfrm>
            <a:off x="1280160" y="5632704"/>
            <a:ext cx="6035040" cy="475488"/>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HP・区役所への案内・ハンドブックのQR・見学時の説明にそのまま使える</a:t>
            </a:r>
            <a:endParaRPr lang="en-US" sz="1150" dirty="0"/>
          </a:p>
        </p:txBody>
      </p:sp>
      <p:sp>
        <p:nvSpPr>
          <p:cNvPr id="27" name="Shape 20"/>
          <p:cNvSpPr/>
          <p:nvPr/>
        </p:nvSpPr>
        <p:spPr>
          <a:xfrm>
            <a:off x="7680960" y="1371600"/>
            <a:ext cx="3962095" cy="4892040"/>
          </a:xfrm>
          <a:prstGeom prst="roundRect">
            <a:avLst>
              <a:gd name="adj" fmla="val 2769"/>
            </a:avLst>
          </a:prstGeom>
          <a:solidFill>
            <a:srgbClr val="2F4D3D"/>
          </a:solidFill>
          <a:ln w="12700">
            <a:solidFill>
              <a:srgbClr val="2F4D3D"/>
            </a:solidFill>
            <a:prstDash val="solid"/>
          </a:ln>
        </p:spPr>
      </p:sp>
      <p:sp>
        <p:nvSpPr>
          <p:cNvPr id="28" name="Text 21"/>
          <p:cNvSpPr txBox="1"/>
          <p:nvPr/>
        </p:nvSpPr>
        <p:spPr>
          <a:xfrm>
            <a:off x="8001000" y="1600200"/>
            <a:ext cx="3322015" cy="365760"/>
          </a:xfrm>
          <a:prstGeom prst="rect">
            <a:avLst/>
          </a:prstGeom>
          <a:noFill/>
          <a:ln/>
        </p:spPr>
        <p:txBody>
          <a:bodyPr wrap="square" lIns="0" tIns="0" rIns="0" bIns="0" rtlCol="0" anchor="t"/>
          <a:lstStyle/>
          <a:p>
            <a:pPr indent="0" marL="0">
              <a:buNone/>
            </a:pPr>
            <a:r>
              <a:rPr lang="en-US" sz="1600" b="1" dirty="0">
                <a:solidFill>
                  <a:srgbClr val="F2C19A"/>
                </a:solidFill>
                <a:latin typeface="Meiryo UI" pitchFamily="34" charset="0"/>
                <a:ea typeface="Meiryo UI" pitchFamily="34" charset="-122"/>
                <a:cs typeface="Meiryo UI" pitchFamily="34" charset="-120"/>
              </a:rPr>
              <a:t>Why アイドマ</a:t>
            </a:r>
            <a:endParaRPr lang="en-US" sz="1600" dirty="0"/>
          </a:p>
        </p:txBody>
      </p:sp>
      <p:sp>
        <p:nvSpPr>
          <p:cNvPr id="29" name="Shape 22"/>
          <p:cNvSpPr/>
          <p:nvPr/>
        </p:nvSpPr>
        <p:spPr>
          <a:xfrm>
            <a:off x="8001000" y="2148840"/>
            <a:ext cx="411480" cy="411480"/>
          </a:xfrm>
          <a:prstGeom prst="ellipse">
            <a:avLst/>
          </a:prstGeom>
          <a:solidFill>
            <a:srgbClr val="B8652A"/>
          </a:solidFill>
          <a:ln w="12700">
            <a:solidFill>
              <a:srgbClr val="B8652A"/>
            </a:solidFill>
            <a:prstDash val="solid"/>
          </a:ln>
        </p:spPr>
      </p:sp>
      <p:sp>
        <p:nvSpPr>
          <p:cNvPr id="30" name="Text 23"/>
          <p:cNvSpPr txBox="1"/>
          <p:nvPr/>
        </p:nvSpPr>
        <p:spPr>
          <a:xfrm>
            <a:off x="8001000" y="21488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1</a:t>
            </a:r>
            <a:endParaRPr lang="en-US" sz="1300" dirty="0"/>
          </a:p>
        </p:txBody>
      </p:sp>
      <p:sp>
        <p:nvSpPr>
          <p:cNvPr id="31" name="Text 24"/>
          <p:cNvSpPr txBox="1"/>
          <p:nvPr/>
        </p:nvSpPr>
        <p:spPr>
          <a:xfrm>
            <a:off x="8549640" y="214884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実働部隊が“手を動かす”</a:t>
            </a:r>
            <a:endParaRPr lang="en-US" sz="1400" dirty="0"/>
          </a:p>
        </p:txBody>
      </p:sp>
      <p:sp>
        <p:nvSpPr>
          <p:cNvPr id="32" name="Text 25"/>
          <p:cNvSpPr txBox="1"/>
          <p:nvPr/>
        </p:nvSpPr>
        <p:spPr>
          <a:xfrm>
            <a:off x="8549640" y="2606040"/>
            <a:ext cx="2819095" cy="777240"/>
          </a:xfrm>
          <a:prstGeom prst="rect">
            <a:avLst/>
          </a:prstGeom>
          <a:noFill/>
          <a:ln/>
        </p:spPr>
        <p:txBody>
          <a:bodyPr wrap="square" lIns="0" tIns="0" rIns="0" bIns="0" rtlCol="0" anchor="t"/>
          <a:lstStyle/>
          <a:p>
            <a:pPr indent="0" marL="0">
              <a:buNone/>
            </a:pPr>
            <a:r>
              <a:rPr lang="en-US" sz="1150" dirty="0">
                <a:solidFill>
                  <a:srgbClr val="D8E6DC"/>
                </a:solidFill>
                <a:latin typeface="Meiryo UI" pitchFamily="34" charset="0"/>
                <a:ea typeface="Meiryo UI" pitchFamily="34" charset="-122"/>
                <a:cs typeface="Meiryo UI" pitchFamily="34" charset="-120"/>
              </a:rPr>
              <a:t>Webが得意な人がいなくても、制作から運用まで外付けチームが実行</a:t>
            </a:r>
            <a:endParaRPr lang="en-US" sz="1150" dirty="0"/>
          </a:p>
        </p:txBody>
      </p:sp>
      <p:sp>
        <p:nvSpPr>
          <p:cNvPr id="33" name="Shape 26"/>
          <p:cNvSpPr/>
          <p:nvPr/>
        </p:nvSpPr>
        <p:spPr>
          <a:xfrm>
            <a:off x="8001000" y="3474720"/>
            <a:ext cx="411480" cy="411480"/>
          </a:xfrm>
          <a:prstGeom prst="ellipse">
            <a:avLst/>
          </a:prstGeom>
          <a:solidFill>
            <a:srgbClr val="B8652A"/>
          </a:solidFill>
          <a:ln w="12700">
            <a:solidFill>
              <a:srgbClr val="B8652A"/>
            </a:solidFill>
            <a:prstDash val="solid"/>
          </a:ln>
        </p:spPr>
      </p:sp>
      <p:sp>
        <p:nvSpPr>
          <p:cNvPr id="34" name="Text 27"/>
          <p:cNvSpPr txBox="1"/>
          <p:nvPr/>
        </p:nvSpPr>
        <p:spPr>
          <a:xfrm>
            <a:off x="8001000" y="34747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2</a:t>
            </a:r>
            <a:endParaRPr lang="en-US" sz="1300" dirty="0"/>
          </a:p>
        </p:txBody>
      </p:sp>
      <p:sp>
        <p:nvSpPr>
          <p:cNvPr id="35" name="Text 28"/>
          <p:cNvSpPr txBox="1"/>
          <p:nvPr/>
        </p:nvSpPr>
        <p:spPr>
          <a:xfrm>
            <a:off x="8549640" y="347472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広報と運営を一体で支援</a:t>
            </a:r>
            <a:endParaRPr lang="en-US" sz="1400" dirty="0"/>
          </a:p>
        </p:txBody>
      </p:sp>
      <p:sp>
        <p:nvSpPr>
          <p:cNvPr id="36" name="Text 29"/>
          <p:cNvSpPr txBox="1"/>
          <p:nvPr/>
        </p:nvSpPr>
        <p:spPr>
          <a:xfrm>
            <a:off x="8549640" y="3931920"/>
            <a:ext cx="2819095" cy="777240"/>
          </a:xfrm>
          <a:prstGeom prst="rect">
            <a:avLst/>
          </a:prstGeom>
          <a:noFill/>
          <a:ln/>
        </p:spPr>
        <p:txBody>
          <a:bodyPr wrap="square" lIns="0" tIns="0" rIns="0" bIns="0" rtlCol="0" anchor="t"/>
          <a:lstStyle/>
          <a:p>
            <a:pPr indent="0" marL="0">
              <a:buNone/>
            </a:pPr>
            <a:r>
              <a:rPr lang="en-US" sz="1150" dirty="0">
                <a:solidFill>
                  <a:srgbClr val="D8E6DC"/>
                </a:solidFill>
                <a:latin typeface="Meiryo UI" pitchFamily="34" charset="0"/>
                <a:ea typeface="Meiryo UI" pitchFamily="34" charset="-122"/>
                <a:cs typeface="Meiryo UI" pitchFamily="34" charset="-120"/>
              </a:rPr>
              <a:t>認知拡大（プッシュ×プル）と、事務・採用などの運営支援をまとめて設計</a:t>
            </a:r>
            <a:endParaRPr lang="en-US" sz="1150" dirty="0"/>
          </a:p>
        </p:txBody>
      </p:sp>
      <p:sp>
        <p:nvSpPr>
          <p:cNvPr id="37" name="Shape 30"/>
          <p:cNvSpPr/>
          <p:nvPr/>
        </p:nvSpPr>
        <p:spPr>
          <a:xfrm>
            <a:off x="8001000" y="4800600"/>
            <a:ext cx="411480" cy="411480"/>
          </a:xfrm>
          <a:prstGeom prst="ellipse">
            <a:avLst/>
          </a:prstGeom>
          <a:solidFill>
            <a:srgbClr val="B8652A"/>
          </a:solidFill>
          <a:ln w="12700">
            <a:solidFill>
              <a:srgbClr val="B8652A"/>
            </a:solidFill>
            <a:prstDash val="solid"/>
          </a:ln>
        </p:spPr>
      </p:sp>
      <p:sp>
        <p:nvSpPr>
          <p:cNvPr id="38" name="Text 31"/>
          <p:cNvSpPr txBox="1"/>
          <p:nvPr/>
        </p:nvSpPr>
        <p:spPr>
          <a:xfrm>
            <a:off x="800100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3</a:t>
            </a:r>
            <a:endParaRPr lang="en-US" sz="1300" dirty="0"/>
          </a:p>
        </p:txBody>
      </p:sp>
      <p:sp>
        <p:nvSpPr>
          <p:cNvPr id="39" name="Text 32"/>
          <p:cNvSpPr txBox="1"/>
          <p:nvPr/>
        </p:nvSpPr>
        <p:spPr>
          <a:xfrm>
            <a:off x="8549640" y="4800600"/>
            <a:ext cx="2819095" cy="411480"/>
          </a:xfrm>
          <a:prstGeom prst="rect">
            <a:avLst/>
          </a:prstGeom>
          <a:noFill/>
          <a:ln/>
        </p:spPr>
        <p:txBody>
          <a:bodyPr wrap="square" lIns="0" tIns="0" rIns="0" bIns="0"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小さく始めて広げられる</a:t>
            </a:r>
            <a:endParaRPr lang="en-US" sz="1400" dirty="0"/>
          </a:p>
        </p:txBody>
      </p:sp>
      <p:sp>
        <p:nvSpPr>
          <p:cNvPr id="40" name="Text 33"/>
          <p:cNvSpPr txBox="1"/>
          <p:nvPr/>
        </p:nvSpPr>
        <p:spPr>
          <a:xfrm>
            <a:off x="8549640" y="5257800"/>
            <a:ext cx="2819095" cy="777240"/>
          </a:xfrm>
          <a:prstGeom prst="rect">
            <a:avLst/>
          </a:prstGeom>
          <a:noFill/>
          <a:ln/>
        </p:spPr>
        <p:txBody>
          <a:bodyPr wrap="square" lIns="0" tIns="0" rIns="0" bIns="0" rtlCol="0" anchor="t"/>
          <a:lstStyle/>
          <a:p>
            <a:pPr indent="0" marL="0">
              <a:buNone/>
            </a:pPr>
            <a:r>
              <a:rPr lang="en-US" sz="1150" dirty="0">
                <a:solidFill>
                  <a:srgbClr val="D8E6DC"/>
                </a:solidFill>
                <a:latin typeface="Meiryo UI" pitchFamily="34" charset="0"/>
                <a:ea typeface="Meiryo UI" pitchFamily="34" charset="-122"/>
                <a:cs typeface="Meiryo UI" pitchFamily="34" charset="-120"/>
              </a:rPr>
              <a:t>無料3本の検証から始め、効果を確かめながら必要なユニットだけを追加</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プッシュ型：紹介元とご家族に“先回り”して届ける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見学・相談は、区役所や相談支援事業所などの紹介から生まれています。その流れに、施設紹介動画を置きます。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8</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651760"/>
                <a:gridCol w="2834640"/>
                <a:gridCol w="3108960"/>
                <a:gridCol w="2496312"/>
              </a:tblGrid>
              <a:tr h="411480">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ターゲット</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相手の本音・関心</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届ける動画テーマ（例）</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c>
                  <a:txBody>
                    <a:bodyPr/>
                    <a:lstStyle/>
                    <a:p>
                      <a:pPr indent="0" marL="0">
                        <a:buNone/>
                      </a:pPr>
                      <a:r>
                        <a:rPr lang="en-US" sz="1150" b="1" dirty="0">
                          <a:solidFill>
                            <a:srgbClr val="FFFFFF"/>
                          </a:solidFill>
                          <a:latin typeface="Meiryo UI" pitchFamily="34" charset="0"/>
                          <a:ea typeface="Meiryo UI" pitchFamily="34" charset="-122"/>
                          <a:cs typeface="Meiryo UI" pitchFamily="34" charset="-120"/>
                        </a:rPr>
                        <a:t>主なチャネル</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r>
              <a:tr h="658368">
                <a:tc>
                  <a:txBody>
                    <a:bodyPr/>
                    <a:lstStyle/>
                    <a:p>
                      <a:pPr indent="0" marL="0">
                        <a:buNone/>
                      </a:pPr>
                      <a:r>
                        <a:rPr lang="en-US" sz="1100" b="1" dirty="0">
                          <a:solidFill>
                            <a:srgbClr val="46705A"/>
                          </a:solidFill>
                          <a:latin typeface="Meiryo UI" pitchFamily="34" charset="0"/>
                          <a:ea typeface="Meiryo UI" pitchFamily="34" charset="-122"/>
                          <a:cs typeface="Meiryo UI" pitchFamily="34" charset="-120"/>
                        </a:rPr>
                        <a:t>区役所（障害福祉の窓口）</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BEFE4"/>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安心して紹介できる施設か／どんな人が合うか</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BEFE4"/>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創働舎のご紹介（支援の考え方・1日の流れ）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BEFE4"/>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訪問時の案内／メール／ハンドブックのQR</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BEFE4"/>
                    </a:solidFill>
                  </a:tcPr>
                </a:tc>
              </a:tr>
              <a:tr h="658368">
                <a:tc>
                  <a:txBody>
                    <a:bodyPr/>
                    <a:lstStyle/>
                    <a:p>
                      <a:pPr indent="0" marL="0">
                        <a:buNone/>
                      </a:pPr>
                      <a:r>
                        <a:rPr lang="en-US" sz="1100" b="1" dirty="0">
                          <a:solidFill>
                            <a:srgbClr val="46705A"/>
                          </a:solidFill>
                          <a:latin typeface="Meiryo UI" pitchFamily="34" charset="0"/>
                          <a:ea typeface="Meiryo UI" pitchFamily="34" charset="-122"/>
                          <a:cs typeface="Meiryo UI" pitchFamily="34" charset="-120"/>
                        </a:rPr>
                        <a:t>相談支援事業所・医療機関</a:t>
                      </a:r>
                      <a:endParaRPr lang="en-US" sz="1100" dirty="0">
                        <a:latin typeface="Meiryo UI" charset="0"/>
                        <a:ea typeface="Meiryo UI" charset="0"/>
                        <a:cs typeface="Meiryo UI" charset="0"/>
                      </a:endParaRPr>
                    </a:p>
                    <a:p>
                      <a:pPr indent="0" marL="0">
                        <a:buNone/>
                      </a:pPr>
                      <a:r>
                        <a:rPr lang="en-US" sz="1100" b="1" dirty="0">
                          <a:solidFill>
                            <a:srgbClr val="46705A"/>
                          </a:solidFill>
                          <a:latin typeface="Meiryo UI" pitchFamily="34" charset="0"/>
                          <a:ea typeface="Meiryo UI" pitchFamily="34" charset="-122"/>
                          <a:cs typeface="Meiryo UI" pitchFamily="34" charset="-120"/>
                        </a:rPr>
                        <a:t>（精神科・デイケアなど）</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通所先の選択肢として紹介できるか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支援者向け：創働舎が合う方・見学の流れ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メール／フォーム営業／訪問時に共有</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658368">
                <a:tc>
                  <a:txBody>
                    <a:bodyPr/>
                    <a:lstStyle/>
                    <a:p>
                      <a:pPr indent="0" marL="0">
                        <a:buNone/>
                      </a:pPr>
                      <a:r>
                        <a:rPr lang="en-US" sz="1100" b="1" dirty="0">
                          <a:solidFill>
                            <a:srgbClr val="46705A"/>
                          </a:solidFill>
                          <a:latin typeface="Meiryo UI" pitchFamily="34" charset="0"/>
                          <a:ea typeface="Meiryo UI" pitchFamily="34" charset="-122"/>
                          <a:cs typeface="Meiryo UI" pitchFamily="34" charset="-120"/>
                        </a:rPr>
                        <a:t>家族会・ご家族</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本人に合う居場所か／安心して通えるか</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ご家族向け：よくあるご質問</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家族会での上映／チラシのQR</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r h="658368">
                <a:tc>
                  <a:txBody>
                    <a:bodyPr/>
                    <a:lstStyle/>
                    <a:p>
                      <a:pPr indent="0" marL="0">
                        <a:buNone/>
                      </a:pPr>
                      <a:r>
                        <a:rPr lang="en-US" sz="1100" b="1" dirty="0">
                          <a:solidFill>
                            <a:srgbClr val="46705A"/>
                          </a:solidFill>
                          <a:latin typeface="Meiryo UI" pitchFamily="34" charset="0"/>
                          <a:ea typeface="Meiryo UI" pitchFamily="34" charset="-122"/>
                          <a:cs typeface="Meiryo UI" pitchFamily="34" charset="-120"/>
                        </a:rPr>
                        <a:t>見学・相談の申込者（ご本人）</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どんな人がいる？／続けられるか不安</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見学の前に見てほしい動画（スタッフ・1日の流れ）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申込後の案内／見学前の事前送付</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658368">
                <a:tc>
                  <a:txBody>
                    <a:bodyPr/>
                    <a:lstStyle/>
                    <a:p>
                      <a:pPr indent="0" marL="0">
                        <a:buNone/>
                      </a:pPr>
                      <a:r>
                        <a:rPr lang="en-US" sz="1100" b="1" dirty="0">
                          <a:solidFill>
                            <a:srgbClr val="46705A"/>
                          </a:solidFill>
                          <a:latin typeface="Meiryo UI" pitchFamily="34" charset="0"/>
                          <a:ea typeface="Meiryo UI" pitchFamily="34" charset="-122"/>
                          <a:cs typeface="Meiryo UI" pitchFamily="34" charset="-120"/>
                        </a:rPr>
                        <a:t>地域企業（受託作業の発注元）</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品質・納期は大丈夫か</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受託作業のご案内（できる作業・流れ）</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00" dirty="0">
                          <a:solidFill>
                            <a:srgbClr val="2A322D"/>
                          </a:solidFill>
                          <a:latin typeface="Meiryo UI" pitchFamily="34" charset="0"/>
                          <a:ea typeface="Meiryo UI" pitchFamily="34" charset="-122"/>
                          <a:cs typeface="Meiryo UI" pitchFamily="34" charset="-120"/>
                        </a:rPr>
                        <a:t>フォーム営業／メール／訪問</a:t>
                      </a:r>
                      <a:endParaRPr lang="en-US" sz="11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788152"/>
            <a:ext cx="457200" cy="457200"/>
          </a:xfrm>
          <a:prstGeom prst="ellipse">
            <a:avLst/>
          </a:prstGeom>
          <a:solidFill>
            <a:srgbClr val="B8652A"/>
          </a:solidFill>
          <a:ln w="12700">
            <a:solidFill>
              <a:srgbClr val="B8652A"/>
            </a:solidFill>
            <a:prstDash val="solid"/>
          </a:ln>
        </p:spPr>
      </p:sp>
      <p:pic>
        <p:nvPicPr>
          <p:cNvPr id="9" name="Image 0" descr="preencoded.png">    </p:cNvPr>
          <p:cNvPicPr>
            <a:picLocks noChangeAspect="1"/>
          </p:cNvPicPr>
          <p:nvPr/>
        </p:nvPicPr>
        <p:blipFill>
          <a:blip r:embed="rId1"/>
          <a:stretch>
            <a:fillRect/>
          </a:stretch>
        </p:blipFill>
        <p:spPr>
          <a:xfrm>
            <a:off x="667512" y="5907024"/>
            <a:ext cx="219456" cy="219456"/>
          </a:xfrm>
          <a:prstGeom prst="rect">
            <a:avLst/>
          </a:prstGeom>
        </p:spPr>
      </p:pic>
      <p:sp>
        <p:nvSpPr>
          <p:cNvPr id="10" name="Text 6"/>
          <p:cNvSpPr txBox="1"/>
          <p:nvPr/>
        </p:nvSpPr>
        <p:spPr>
          <a:xfrm>
            <a:off x="1143000" y="5715000"/>
            <a:ext cx="10500055" cy="603504"/>
          </a:xfrm>
          <a:prstGeom prst="rect">
            <a:avLst/>
          </a:prstGeom>
          <a:noFill/>
          <a:ln/>
        </p:spPr>
        <p:txBody>
          <a:bodyPr wrap="square" lIns="0" tIns="0" rIns="0" bIns="0" rtlCol="0" anchor="ctr"/>
          <a:lstStyle/>
          <a:p>
            <a:pPr indent="0" marL="0">
              <a:buNone/>
            </a:pPr>
            <a:r>
              <a:rPr lang="en-US" sz="1150" b="1" dirty="0">
                <a:solidFill>
                  <a:srgbClr val="B8652A"/>
                </a:solidFill>
                <a:latin typeface="Meiryo UI" pitchFamily="34" charset="0"/>
                <a:ea typeface="Meiryo UI" pitchFamily="34" charset="-122"/>
                <a:cs typeface="Meiryo UI" pitchFamily="34" charset="-120"/>
              </a:rPr>
              <a:t>最大の差別化ポイント：</a:t>
            </a:r>
            <a:pPr indent="0" marL="0">
              <a:buNone/>
            </a:pPr>
            <a:r>
              <a:rPr lang="en-US" sz="1150" dirty="0">
                <a:solidFill>
                  <a:srgbClr val="2A322D"/>
                </a:solidFill>
                <a:latin typeface="Meiryo UI" pitchFamily="34" charset="0"/>
                <a:ea typeface="Meiryo UI" pitchFamily="34" charset="-122"/>
                <a:cs typeface="Meiryo UI" pitchFamily="34" charset="-120"/>
              </a:rPr>
              <a:t>10年間職員が欠けない安定した体制と「利用者の人生として考える」支援は、紹介元が安心して紹介できる最大の理由です。</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見学・利用までの流れに、6つの接点で動画を置く</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2331720"/>
            <a:ext cx="914400" cy="274320"/>
          </a:xfrm>
          <a:prstGeom prst="rect">
            <a:avLst/>
          </a:prstGeom>
          <a:noFill/>
          <a:ln/>
        </p:spPr>
        <p:txBody>
          <a:bodyPr wrap="square" lIns="0" tIns="0" rIns="0" bIns="0" rtlCol="0" anchor="t"/>
          <a:lstStyle/>
          <a:p>
            <a:pPr indent="0" marL="0">
              <a:buNone/>
            </a:pPr>
            <a:r>
              <a:rPr lang="en-US" sz="1050" b="1" dirty="0">
                <a:solidFill>
                  <a:srgbClr val="7B857E"/>
                </a:solidFill>
                <a:latin typeface="Meiryo UI" pitchFamily="34" charset="0"/>
                <a:ea typeface="Meiryo UI" pitchFamily="34" charset="-122"/>
                <a:cs typeface="Meiryo UI" pitchFamily="34" charset="-120"/>
              </a:rPr>
              <a:t>従来</a:t>
            </a:r>
            <a:endParaRPr lang="en-US" sz="1050" dirty="0"/>
          </a:p>
        </p:txBody>
      </p:sp>
      <p:sp>
        <p:nvSpPr>
          <p:cNvPr id="7" name="Shape 5"/>
          <p:cNvSpPr/>
          <p:nvPr/>
        </p:nvSpPr>
        <p:spPr>
          <a:xfrm>
            <a:off x="548640" y="1463040"/>
            <a:ext cx="1727149" cy="731520"/>
          </a:xfrm>
          <a:prstGeom prst="roundRect">
            <a:avLst>
              <a:gd name="adj" fmla="val 15000"/>
            </a:avLst>
          </a:prstGeom>
          <a:solidFill>
            <a:srgbClr val="46705A"/>
          </a:solidFill>
          <a:ln w="12700">
            <a:solidFill>
              <a:srgbClr val="46705A"/>
            </a:solidFill>
            <a:prstDash val="solid"/>
          </a:ln>
        </p:spPr>
      </p:sp>
      <p:sp>
        <p:nvSpPr>
          <p:cNvPr id="8" name="Text 6"/>
          <p:cNvSpPr txBox="1"/>
          <p:nvPr/>
        </p:nvSpPr>
        <p:spPr>
          <a:xfrm>
            <a:off x="548640" y="1508760"/>
            <a:ext cx="1727149" cy="274320"/>
          </a:xfrm>
          <a:prstGeom prst="rect">
            <a:avLst/>
          </a:prstGeom>
          <a:noFill/>
          <a:ln/>
        </p:spPr>
        <p:txBody>
          <a:bodyPr wrap="square" lIns="0" tIns="0" rIns="0" bIns="0" rtlCol="0" anchor="t"/>
          <a:lstStyle/>
          <a:p>
            <a:pPr algn="ctr" indent="0" marL="0">
              <a:buNone/>
            </a:pPr>
            <a:r>
              <a:rPr lang="en-US" sz="1000" b="1" dirty="0">
                <a:solidFill>
                  <a:srgbClr val="F2C19A"/>
                </a:solidFill>
                <a:latin typeface="Meiryo UI" pitchFamily="34" charset="0"/>
                <a:ea typeface="Meiryo UI" pitchFamily="34" charset="-122"/>
                <a:cs typeface="Meiryo UI" pitchFamily="34" charset="-120"/>
              </a:rPr>
              <a:t>STEP 1</a:t>
            </a:r>
            <a:endParaRPr lang="en-US" sz="1000" dirty="0"/>
          </a:p>
        </p:txBody>
      </p:sp>
      <p:sp>
        <p:nvSpPr>
          <p:cNvPr id="9" name="Text 7"/>
          <p:cNvSpPr txBox="1"/>
          <p:nvPr/>
        </p:nvSpPr>
        <p:spPr>
          <a:xfrm>
            <a:off x="548640" y="1764792"/>
            <a:ext cx="172714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紹介元への案内</a:t>
            </a:r>
            <a:endParaRPr lang="en-US" sz="1300" dirty="0"/>
          </a:p>
        </p:txBody>
      </p:sp>
      <p:sp>
        <p:nvSpPr>
          <p:cNvPr id="10" name="Shape 8"/>
          <p:cNvSpPr/>
          <p:nvPr/>
        </p:nvSpPr>
        <p:spPr>
          <a:xfrm>
            <a:off x="548640" y="2606040"/>
            <a:ext cx="1727149" cy="731520"/>
          </a:xfrm>
          <a:prstGeom prst="roundRect">
            <a:avLst>
              <a:gd name="adj" fmla="val 15000"/>
            </a:avLst>
          </a:prstGeom>
          <a:solidFill>
            <a:srgbClr val="EEF0EE"/>
          </a:solidFill>
          <a:ln w="12700">
            <a:solidFill>
              <a:srgbClr val="EEF0EE"/>
            </a:solidFill>
            <a:prstDash val="solid"/>
          </a:ln>
        </p:spPr>
      </p:sp>
      <p:sp>
        <p:nvSpPr>
          <p:cNvPr id="11" name="Text 9"/>
          <p:cNvSpPr txBox="1"/>
          <p:nvPr/>
        </p:nvSpPr>
        <p:spPr>
          <a:xfrm>
            <a:off x="658368" y="2606040"/>
            <a:ext cx="1507693" cy="731520"/>
          </a:xfrm>
          <a:prstGeom prst="rect">
            <a:avLst/>
          </a:prstGeom>
          <a:noFill/>
          <a:ln/>
        </p:spPr>
        <p:txBody>
          <a:bodyPr wrap="square" lIns="0" tIns="0" rIns="0" bIns="0" rtlCol="0" anchor="ctr"/>
          <a:lstStyle/>
          <a:p>
            <a:pPr algn="ctr" indent="0" marL="0">
              <a:buNone/>
            </a:pPr>
            <a:r>
              <a:rPr lang="en-US" sz="1150" dirty="0">
                <a:solidFill>
                  <a:srgbClr val="7B857E"/>
                </a:solidFill>
                <a:latin typeface="Meiryo UI" pitchFamily="34" charset="0"/>
                <a:ea typeface="Meiryo UI" pitchFamily="34" charset="-122"/>
                <a:cs typeface="Meiryo UI" pitchFamily="34" charset="-120"/>
              </a:rPr>
              <a:t>パンフレット・ハンドブックのみ</a:t>
            </a:r>
            <a:endParaRPr lang="en-US" sz="1150" dirty="0"/>
          </a:p>
        </p:txBody>
      </p:sp>
      <p:pic>
        <p:nvPicPr>
          <p:cNvPr id="12" name="Image 0" descr="preencoded.png">    </p:cNvPr>
          <p:cNvPicPr>
            <a:picLocks noChangeAspect="1"/>
          </p:cNvPicPr>
          <p:nvPr/>
        </p:nvPicPr>
        <p:blipFill>
          <a:blip r:embed="rId1"/>
          <a:stretch>
            <a:fillRect/>
          </a:stretch>
        </p:blipFill>
        <p:spPr>
          <a:xfrm>
            <a:off x="1864309" y="3456432"/>
            <a:ext cx="256032" cy="256032"/>
          </a:xfrm>
          <a:prstGeom prst="rect">
            <a:avLst/>
          </a:prstGeom>
        </p:spPr>
      </p:pic>
      <p:sp>
        <p:nvSpPr>
          <p:cNvPr id="13" name="Shape 10"/>
          <p:cNvSpPr/>
          <p:nvPr/>
        </p:nvSpPr>
        <p:spPr>
          <a:xfrm>
            <a:off x="548640" y="3794760"/>
            <a:ext cx="1727149" cy="1417320"/>
          </a:xfrm>
          <a:prstGeom prst="roundRect">
            <a:avLst>
              <a:gd name="adj" fmla="val 7742"/>
            </a:avLst>
          </a:prstGeom>
          <a:solidFill>
            <a:srgbClr val="EDF3EF"/>
          </a:solidFill>
          <a:ln w="12700">
            <a:solidFill>
              <a:srgbClr val="EDF3EF"/>
            </a:solidFill>
            <a:prstDash val="solid"/>
          </a:ln>
        </p:spPr>
      </p:sp>
      <p:sp>
        <p:nvSpPr>
          <p:cNvPr id="14" name="Text 11"/>
          <p:cNvSpPr txBox="1"/>
          <p:nvPr/>
        </p:nvSpPr>
        <p:spPr>
          <a:xfrm>
            <a:off x="676656" y="3858768"/>
            <a:ext cx="1471117" cy="129844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紹介元が「ここなら」と思える施設紹介動画を届ける</a:t>
            </a:r>
            <a:endParaRPr lang="en-US" sz="1200" dirty="0"/>
          </a:p>
        </p:txBody>
      </p:sp>
      <p:sp>
        <p:nvSpPr>
          <p:cNvPr id="15" name="Shape 12"/>
          <p:cNvSpPr/>
          <p:nvPr/>
        </p:nvSpPr>
        <p:spPr>
          <a:xfrm>
            <a:off x="548640" y="5349240"/>
            <a:ext cx="1727149" cy="566928"/>
          </a:xfrm>
          <a:prstGeom prst="roundRect">
            <a:avLst>
              <a:gd name="adj" fmla="val 19355"/>
            </a:avLst>
          </a:prstGeom>
          <a:solidFill>
            <a:srgbClr val="FBEFE4"/>
          </a:solidFill>
          <a:ln w="12700">
            <a:solidFill>
              <a:srgbClr val="FBEFE4"/>
            </a:solidFill>
            <a:prstDash val="solid"/>
          </a:ln>
        </p:spPr>
      </p:sp>
      <p:sp>
        <p:nvSpPr>
          <p:cNvPr id="16" name="Text 13"/>
          <p:cNvSpPr txBox="1"/>
          <p:nvPr/>
        </p:nvSpPr>
        <p:spPr>
          <a:xfrm>
            <a:off x="621792" y="5349240"/>
            <a:ext cx="1580845" cy="566928"/>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紹介件数UP</a:t>
            </a:r>
            <a:endParaRPr lang="en-US" sz="1200" dirty="0"/>
          </a:p>
        </p:txBody>
      </p:sp>
      <p:sp>
        <p:nvSpPr>
          <p:cNvPr id="17" name="Shape 14"/>
          <p:cNvSpPr/>
          <p:nvPr/>
        </p:nvSpPr>
        <p:spPr>
          <a:xfrm>
            <a:off x="2422093" y="1463040"/>
            <a:ext cx="1727149" cy="731520"/>
          </a:xfrm>
          <a:prstGeom prst="roundRect">
            <a:avLst>
              <a:gd name="adj" fmla="val 15000"/>
            </a:avLst>
          </a:prstGeom>
          <a:solidFill>
            <a:srgbClr val="46705A"/>
          </a:solidFill>
          <a:ln w="12700">
            <a:solidFill>
              <a:srgbClr val="46705A"/>
            </a:solidFill>
            <a:prstDash val="solid"/>
          </a:ln>
        </p:spPr>
      </p:sp>
      <p:sp>
        <p:nvSpPr>
          <p:cNvPr id="18" name="Text 15"/>
          <p:cNvSpPr txBox="1"/>
          <p:nvPr/>
        </p:nvSpPr>
        <p:spPr>
          <a:xfrm>
            <a:off x="2422093" y="1508760"/>
            <a:ext cx="1727149" cy="274320"/>
          </a:xfrm>
          <a:prstGeom prst="rect">
            <a:avLst/>
          </a:prstGeom>
          <a:noFill/>
          <a:ln/>
        </p:spPr>
        <p:txBody>
          <a:bodyPr wrap="square" lIns="0" tIns="0" rIns="0" bIns="0" rtlCol="0" anchor="t"/>
          <a:lstStyle/>
          <a:p>
            <a:pPr algn="ctr" indent="0" marL="0">
              <a:buNone/>
            </a:pPr>
            <a:r>
              <a:rPr lang="en-US" sz="1000" b="1" dirty="0">
                <a:solidFill>
                  <a:srgbClr val="F2C19A"/>
                </a:solidFill>
                <a:latin typeface="Meiryo UI" pitchFamily="34" charset="0"/>
                <a:ea typeface="Meiryo UI" pitchFamily="34" charset="-122"/>
                <a:cs typeface="Meiryo UI" pitchFamily="34" charset="-120"/>
              </a:rPr>
              <a:t>STEP 2</a:t>
            </a:r>
            <a:endParaRPr lang="en-US" sz="1000" dirty="0"/>
          </a:p>
        </p:txBody>
      </p:sp>
      <p:sp>
        <p:nvSpPr>
          <p:cNvPr id="19" name="Text 16"/>
          <p:cNvSpPr txBox="1"/>
          <p:nvPr/>
        </p:nvSpPr>
        <p:spPr>
          <a:xfrm>
            <a:off x="2422093" y="1764792"/>
            <a:ext cx="172714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問い合わせ直後</a:t>
            </a:r>
            <a:endParaRPr lang="en-US" sz="1300" dirty="0"/>
          </a:p>
        </p:txBody>
      </p:sp>
      <p:sp>
        <p:nvSpPr>
          <p:cNvPr id="20" name="Shape 17"/>
          <p:cNvSpPr/>
          <p:nvPr/>
        </p:nvSpPr>
        <p:spPr>
          <a:xfrm>
            <a:off x="2422093" y="2606040"/>
            <a:ext cx="1727149" cy="731520"/>
          </a:xfrm>
          <a:prstGeom prst="roundRect">
            <a:avLst>
              <a:gd name="adj" fmla="val 15000"/>
            </a:avLst>
          </a:prstGeom>
          <a:solidFill>
            <a:srgbClr val="EEF0EE"/>
          </a:solidFill>
          <a:ln w="12700">
            <a:solidFill>
              <a:srgbClr val="EEF0EE"/>
            </a:solidFill>
            <a:prstDash val="solid"/>
          </a:ln>
        </p:spPr>
      </p:sp>
      <p:sp>
        <p:nvSpPr>
          <p:cNvPr id="21" name="Text 18"/>
          <p:cNvSpPr txBox="1"/>
          <p:nvPr/>
        </p:nvSpPr>
        <p:spPr>
          <a:xfrm>
            <a:off x="2531821" y="2606040"/>
            <a:ext cx="1507693" cy="731520"/>
          </a:xfrm>
          <a:prstGeom prst="rect">
            <a:avLst/>
          </a:prstGeom>
          <a:noFill/>
          <a:ln/>
        </p:spPr>
        <p:txBody>
          <a:bodyPr wrap="square" lIns="0" tIns="0" rIns="0" bIns="0" rtlCol="0" anchor="ctr"/>
          <a:lstStyle/>
          <a:p>
            <a:pPr algn="ctr" indent="0" marL="0">
              <a:buNone/>
            </a:pPr>
            <a:r>
              <a:rPr lang="en-US" sz="1150" dirty="0">
                <a:solidFill>
                  <a:srgbClr val="7B857E"/>
                </a:solidFill>
                <a:latin typeface="Meiryo UI" pitchFamily="34" charset="0"/>
                <a:ea typeface="Meiryo UI" pitchFamily="34" charset="-122"/>
                <a:cs typeface="Meiryo UI" pitchFamily="34" charset="-120"/>
              </a:rPr>
              <a:t>電話でその都度説明</a:t>
            </a:r>
            <a:endParaRPr lang="en-US" sz="1150" dirty="0"/>
          </a:p>
        </p:txBody>
      </p:sp>
      <p:pic>
        <p:nvPicPr>
          <p:cNvPr id="22" name="Image 1" descr="preencoded.png">    </p:cNvPr>
          <p:cNvPicPr>
            <a:picLocks noChangeAspect="1"/>
          </p:cNvPicPr>
          <p:nvPr/>
        </p:nvPicPr>
        <p:blipFill>
          <a:blip r:embed="rId2"/>
          <a:stretch>
            <a:fillRect/>
          </a:stretch>
        </p:blipFill>
        <p:spPr>
          <a:xfrm>
            <a:off x="3737762" y="3456432"/>
            <a:ext cx="256032" cy="256032"/>
          </a:xfrm>
          <a:prstGeom prst="rect">
            <a:avLst/>
          </a:prstGeom>
        </p:spPr>
      </p:pic>
      <p:sp>
        <p:nvSpPr>
          <p:cNvPr id="23" name="Shape 19"/>
          <p:cNvSpPr/>
          <p:nvPr/>
        </p:nvSpPr>
        <p:spPr>
          <a:xfrm>
            <a:off x="2422093" y="3794760"/>
            <a:ext cx="1727149" cy="1417320"/>
          </a:xfrm>
          <a:prstGeom prst="roundRect">
            <a:avLst>
              <a:gd name="adj" fmla="val 7742"/>
            </a:avLst>
          </a:prstGeom>
          <a:solidFill>
            <a:srgbClr val="EDF3EF"/>
          </a:solidFill>
          <a:ln w="12700">
            <a:solidFill>
              <a:srgbClr val="EDF3EF"/>
            </a:solidFill>
            <a:prstDash val="solid"/>
          </a:ln>
        </p:spPr>
      </p:sp>
      <p:sp>
        <p:nvSpPr>
          <p:cNvPr id="24" name="Text 20"/>
          <p:cNvSpPr txBox="1"/>
          <p:nvPr/>
        </p:nvSpPr>
        <p:spPr>
          <a:xfrm>
            <a:off x="2550109" y="3858768"/>
            <a:ext cx="1471117" cy="129844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「見学の流れ」動画を送り、安心して来てもらう</a:t>
            </a:r>
            <a:endParaRPr lang="en-US" sz="1200" dirty="0"/>
          </a:p>
        </p:txBody>
      </p:sp>
      <p:sp>
        <p:nvSpPr>
          <p:cNvPr id="25" name="Shape 21"/>
          <p:cNvSpPr/>
          <p:nvPr/>
        </p:nvSpPr>
        <p:spPr>
          <a:xfrm>
            <a:off x="2422093" y="5349240"/>
            <a:ext cx="1727149" cy="566928"/>
          </a:xfrm>
          <a:prstGeom prst="roundRect">
            <a:avLst>
              <a:gd name="adj" fmla="val 19355"/>
            </a:avLst>
          </a:prstGeom>
          <a:solidFill>
            <a:srgbClr val="FBEFE4"/>
          </a:solidFill>
          <a:ln w="12700">
            <a:solidFill>
              <a:srgbClr val="FBEFE4"/>
            </a:solidFill>
            <a:prstDash val="solid"/>
          </a:ln>
        </p:spPr>
      </p:sp>
      <p:sp>
        <p:nvSpPr>
          <p:cNvPr id="26" name="Text 22"/>
          <p:cNvSpPr txBox="1"/>
          <p:nvPr/>
        </p:nvSpPr>
        <p:spPr>
          <a:xfrm>
            <a:off x="2495245" y="5349240"/>
            <a:ext cx="1580845" cy="566928"/>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見学予約率UP</a:t>
            </a:r>
            <a:endParaRPr lang="en-US" sz="1200" dirty="0"/>
          </a:p>
        </p:txBody>
      </p:sp>
      <p:sp>
        <p:nvSpPr>
          <p:cNvPr id="27" name="Shape 23"/>
          <p:cNvSpPr/>
          <p:nvPr/>
        </p:nvSpPr>
        <p:spPr>
          <a:xfrm>
            <a:off x="4295546" y="1463040"/>
            <a:ext cx="1727149" cy="731520"/>
          </a:xfrm>
          <a:prstGeom prst="roundRect">
            <a:avLst>
              <a:gd name="adj" fmla="val 15000"/>
            </a:avLst>
          </a:prstGeom>
          <a:solidFill>
            <a:srgbClr val="46705A"/>
          </a:solidFill>
          <a:ln w="12700">
            <a:solidFill>
              <a:srgbClr val="46705A"/>
            </a:solidFill>
            <a:prstDash val="solid"/>
          </a:ln>
        </p:spPr>
      </p:sp>
      <p:sp>
        <p:nvSpPr>
          <p:cNvPr id="28" name="Text 24"/>
          <p:cNvSpPr txBox="1"/>
          <p:nvPr/>
        </p:nvSpPr>
        <p:spPr>
          <a:xfrm>
            <a:off x="4295546" y="1508760"/>
            <a:ext cx="1727149" cy="274320"/>
          </a:xfrm>
          <a:prstGeom prst="rect">
            <a:avLst/>
          </a:prstGeom>
          <a:noFill/>
          <a:ln/>
        </p:spPr>
        <p:txBody>
          <a:bodyPr wrap="square" lIns="0" tIns="0" rIns="0" bIns="0" rtlCol="0" anchor="t"/>
          <a:lstStyle/>
          <a:p>
            <a:pPr algn="ctr" indent="0" marL="0">
              <a:buNone/>
            </a:pPr>
            <a:r>
              <a:rPr lang="en-US" sz="1000" b="1" dirty="0">
                <a:solidFill>
                  <a:srgbClr val="F2C19A"/>
                </a:solidFill>
                <a:latin typeface="Meiryo UI" pitchFamily="34" charset="0"/>
                <a:ea typeface="Meiryo UI" pitchFamily="34" charset="-122"/>
                <a:cs typeface="Meiryo UI" pitchFamily="34" charset="-120"/>
              </a:rPr>
              <a:t>STEP 3</a:t>
            </a:r>
            <a:endParaRPr lang="en-US" sz="1000" dirty="0"/>
          </a:p>
        </p:txBody>
      </p:sp>
      <p:sp>
        <p:nvSpPr>
          <p:cNvPr id="29" name="Text 25"/>
          <p:cNvSpPr txBox="1"/>
          <p:nvPr/>
        </p:nvSpPr>
        <p:spPr>
          <a:xfrm>
            <a:off x="4295546" y="1764792"/>
            <a:ext cx="172714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見学の前</a:t>
            </a:r>
            <a:endParaRPr lang="en-US" sz="1300" dirty="0"/>
          </a:p>
        </p:txBody>
      </p:sp>
      <p:sp>
        <p:nvSpPr>
          <p:cNvPr id="30" name="Shape 26"/>
          <p:cNvSpPr/>
          <p:nvPr/>
        </p:nvSpPr>
        <p:spPr>
          <a:xfrm>
            <a:off x="4295546" y="2606040"/>
            <a:ext cx="1727149" cy="731520"/>
          </a:xfrm>
          <a:prstGeom prst="roundRect">
            <a:avLst>
              <a:gd name="adj" fmla="val 15000"/>
            </a:avLst>
          </a:prstGeom>
          <a:solidFill>
            <a:srgbClr val="EEF0EE"/>
          </a:solidFill>
          <a:ln w="12700">
            <a:solidFill>
              <a:srgbClr val="EEF0EE"/>
            </a:solidFill>
            <a:prstDash val="solid"/>
          </a:ln>
        </p:spPr>
      </p:sp>
      <p:sp>
        <p:nvSpPr>
          <p:cNvPr id="31" name="Text 27"/>
          <p:cNvSpPr txBox="1"/>
          <p:nvPr/>
        </p:nvSpPr>
        <p:spPr>
          <a:xfrm>
            <a:off x="4405274" y="2606040"/>
            <a:ext cx="1507693" cy="731520"/>
          </a:xfrm>
          <a:prstGeom prst="rect">
            <a:avLst/>
          </a:prstGeom>
          <a:noFill/>
          <a:ln/>
        </p:spPr>
        <p:txBody>
          <a:bodyPr wrap="square" lIns="0" tIns="0" rIns="0" bIns="0" rtlCol="0" anchor="ctr"/>
          <a:lstStyle/>
          <a:p>
            <a:pPr algn="ctr" indent="0" marL="0">
              <a:buNone/>
            </a:pPr>
            <a:r>
              <a:rPr lang="en-US" sz="1150" dirty="0">
                <a:solidFill>
                  <a:srgbClr val="7B857E"/>
                </a:solidFill>
                <a:latin typeface="Meiryo UI" pitchFamily="34" charset="0"/>
                <a:ea typeface="Meiryo UI" pitchFamily="34" charset="-122"/>
                <a:cs typeface="Meiryo UI" pitchFamily="34" charset="-120"/>
              </a:rPr>
              <a:t>当日に一から説明</a:t>
            </a:r>
            <a:endParaRPr lang="en-US" sz="1150" dirty="0"/>
          </a:p>
        </p:txBody>
      </p:sp>
      <p:pic>
        <p:nvPicPr>
          <p:cNvPr id="32" name="Image 2" descr="preencoded.png">    </p:cNvPr>
          <p:cNvPicPr>
            <a:picLocks noChangeAspect="1"/>
          </p:cNvPicPr>
          <p:nvPr/>
        </p:nvPicPr>
        <p:blipFill>
          <a:blip r:embed="rId3"/>
          <a:stretch>
            <a:fillRect/>
          </a:stretch>
        </p:blipFill>
        <p:spPr>
          <a:xfrm>
            <a:off x="5611216" y="3456432"/>
            <a:ext cx="256032" cy="256032"/>
          </a:xfrm>
          <a:prstGeom prst="rect">
            <a:avLst/>
          </a:prstGeom>
        </p:spPr>
      </p:pic>
      <p:sp>
        <p:nvSpPr>
          <p:cNvPr id="33" name="Shape 28"/>
          <p:cNvSpPr/>
          <p:nvPr/>
        </p:nvSpPr>
        <p:spPr>
          <a:xfrm>
            <a:off x="4295546" y="3794760"/>
            <a:ext cx="1727149" cy="1417320"/>
          </a:xfrm>
          <a:prstGeom prst="roundRect">
            <a:avLst>
              <a:gd name="adj" fmla="val 7742"/>
            </a:avLst>
          </a:prstGeom>
          <a:solidFill>
            <a:srgbClr val="EDF3EF"/>
          </a:solidFill>
          <a:ln w="12700">
            <a:solidFill>
              <a:srgbClr val="EDF3EF"/>
            </a:solidFill>
            <a:prstDash val="solid"/>
          </a:ln>
        </p:spPr>
      </p:sp>
      <p:sp>
        <p:nvSpPr>
          <p:cNvPr id="34" name="Text 29"/>
          <p:cNvSpPr txBox="1"/>
          <p:nvPr/>
        </p:nvSpPr>
        <p:spPr>
          <a:xfrm>
            <a:off x="4423562" y="3858768"/>
            <a:ext cx="1471117" cy="129844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スタッフと1日の流れを事前に紹介</a:t>
            </a:r>
            <a:endParaRPr lang="en-US" sz="1200" dirty="0"/>
          </a:p>
        </p:txBody>
      </p:sp>
      <p:sp>
        <p:nvSpPr>
          <p:cNvPr id="35" name="Shape 30"/>
          <p:cNvSpPr/>
          <p:nvPr/>
        </p:nvSpPr>
        <p:spPr>
          <a:xfrm>
            <a:off x="4295546" y="5349240"/>
            <a:ext cx="1727149" cy="566928"/>
          </a:xfrm>
          <a:prstGeom prst="roundRect">
            <a:avLst>
              <a:gd name="adj" fmla="val 19355"/>
            </a:avLst>
          </a:prstGeom>
          <a:solidFill>
            <a:srgbClr val="FBEFE4"/>
          </a:solidFill>
          <a:ln w="12700">
            <a:solidFill>
              <a:srgbClr val="FBEFE4"/>
            </a:solidFill>
            <a:prstDash val="solid"/>
          </a:ln>
        </p:spPr>
      </p:sp>
      <p:sp>
        <p:nvSpPr>
          <p:cNvPr id="36" name="Text 31"/>
          <p:cNvSpPr txBox="1"/>
          <p:nvPr/>
        </p:nvSpPr>
        <p:spPr>
          <a:xfrm>
            <a:off x="4368698" y="5349240"/>
            <a:ext cx="1580845" cy="566928"/>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不安の軽減</a:t>
            </a:r>
            <a:endParaRPr lang="en-US" sz="1200" dirty="0"/>
          </a:p>
        </p:txBody>
      </p:sp>
      <p:sp>
        <p:nvSpPr>
          <p:cNvPr id="37" name="Shape 32"/>
          <p:cNvSpPr/>
          <p:nvPr/>
        </p:nvSpPr>
        <p:spPr>
          <a:xfrm>
            <a:off x="6169000" y="1463040"/>
            <a:ext cx="1727149" cy="731520"/>
          </a:xfrm>
          <a:prstGeom prst="roundRect">
            <a:avLst>
              <a:gd name="adj" fmla="val 15000"/>
            </a:avLst>
          </a:prstGeom>
          <a:solidFill>
            <a:srgbClr val="46705A"/>
          </a:solidFill>
          <a:ln w="12700">
            <a:solidFill>
              <a:srgbClr val="46705A"/>
            </a:solidFill>
            <a:prstDash val="solid"/>
          </a:ln>
        </p:spPr>
      </p:sp>
      <p:sp>
        <p:nvSpPr>
          <p:cNvPr id="38" name="Text 33"/>
          <p:cNvSpPr txBox="1"/>
          <p:nvPr/>
        </p:nvSpPr>
        <p:spPr>
          <a:xfrm>
            <a:off x="6169000" y="1508760"/>
            <a:ext cx="1727149" cy="274320"/>
          </a:xfrm>
          <a:prstGeom prst="rect">
            <a:avLst/>
          </a:prstGeom>
          <a:noFill/>
          <a:ln/>
        </p:spPr>
        <p:txBody>
          <a:bodyPr wrap="square" lIns="0" tIns="0" rIns="0" bIns="0" rtlCol="0" anchor="t"/>
          <a:lstStyle/>
          <a:p>
            <a:pPr algn="ctr" indent="0" marL="0">
              <a:buNone/>
            </a:pPr>
            <a:r>
              <a:rPr lang="en-US" sz="1000" b="1" dirty="0">
                <a:solidFill>
                  <a:srgbClr val="F2C19A"/>
                </a:solidFill>
                <a:latin typeface="Meiryo UI" pitchFamily="34" charset="0"/>
                <a:ea typeface="Meiryo UI" pitchFamily="34" charset="-122"/>
                <a:cs typeface="Meiryo UI" pitchFamily="34" charset="-120"/>
              </a:rPr>
              <a:t>STEP 4</a:t>
            </a:r>
            <a:endParaRPr lang="en-US" sz="1000" dirty="0"/>
          </a:p>
        </p:txBody>
      </p:sp>
      <p:sp>
        <p:nvSpPr>
          <p:cNvPr id="39" name="Text 34"/>
          <p:cNvSpPr txBox="1"/>
          <p:nvPr/>
        </p:nvSpPr>
        <p:spPr>
          <a:xfrm>
            <a:off x="6169000" y="1764792"/>
            <a:ext cx="172714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見学・体験</a:t>
            </a:r>
            <a:endParaRPr lang="en-US" sz="1300" dirty="0"/>
          </a:p>
        </p:txBody>
      </p:sp>
      <p:sp>
        <p:nvSpPr>
          <p:cNvPr id="40" name="Shape 35"/>
          <p:cNvSpPr/>
          <p:nvPr/>
        </p:nvSpPr>
        <p:spPr>
          <a:xfrm>
            <a:off x="6169000" y="2606040"/>
            <a:ext cx="1727149" cy="731520"/>
          </a:xfrm>
          <a:prstGeom prst="roundRect">
            <a:avLst>
              <a:gd name="adj" fmla="val 15000"/>
            </a:avLst>
          </a:prstGeom>
          <a:solidFill>
            <a:srgbClr val="EEF0EE"/>
          </a:solidFill>
          <a:ln w="12700">
            <a:solidFill>
              <a:srgbClr val="EEF0EE"/>
            </a:solidFill>
            <a:prstDash val="solid"/>
          </a:ln>
        </p:spPr>
      </p:sp>
      <p:sp>
        <p:nvSpPr>
          <p:cNvPr id="41" name="Text 36"/>
          <p:cNvSpPr txBox="1"/>
          <p:nvPr/>
        </p:nvSpPr>
        <p:spPr>
          <a:xfrm>
            <a:off x="6278728" y="2606040"/>
            <a:ext cx="1507693" cy="731520"/>
          </a:xfrm>
          <a:prstGeom prst="rect">
            <a:avLst/>
          </a:prstGeom>
          <a:noFill/>
          <a:ln/>
        </p:spPr>
        <p:txBody>
          <a:bodyPr wrap="square" lIns="0" tIns="0" rIns="0" bIns="0" rtlCol="0" anchor="ctr"/>
          <a:lstStyle/>
          <a:p>
            <a:pPr algn="ctr" indent="0" marL="0">
              <a:buNone/>
            </a:pPr>
            <a:r>
              <a:rPr lang="en-US" sz="1150" dirty="0">
                <a:solidFill>
                  <a:srgbClr val="7B857E"/>
                </a:solidFill>
                <a:latin typeface="Meiryo UI" pitchFamily="34" charset="0"/>
                <a:ea typeface="Meiryo UI" pitchFamily="34" charset="-122"/>
                <a:cs typeface="Meiryo UI" pitchFamily="34" charset="-120"/>
              </a:rPr>
              <a:t>代表が毎回同じ説明</a:t>
            </a:r>
            <a:endParaRPr lang="en-US" sz="1150" dirty="0"/>
          </a:p>
        </p:txBody>
      </p:sp>
      <p:pic>
        <p:nvPicPr>
          <p:cNvPr id="42" name="Image 3" descr="preencoded.png">    </p:cNvPr>
          <p:cNvPicPr>
            <a:picLocks noChangeAspect="1"/>
          </p:cNvPicPr>
          <p:nvPr/>
        </p:nvPicPr>
        <p:blipFill>
          <a:blip r:embed="rId4"/>
          <a:stretch>
            <a:fillRect/>
          </a:stretch>
        </p:blipFill>
        <p:spPr>
          <a:xfrm>
            <a:off x="7484669" y="3456432"/>
            <a:ext cx="256032" cy="256032"/>
          </a:xfrm>
          <a:prstGeom prst="rect">
            <a:avLst/>
          </a:prstGeom>
        </p:spPr>
      </p:pic>
      <p:sp>
        <p:nvSpPr>
          <p:cNvPr id="43" name="Shape 37"/>
          <p:cNvSpPr/>
          <p:nvPr/>
        </p:nvSpPr>
        <p:spPr>
          <a:xfrm>
            <a:off x="6169000" y="3794760"/>
            <a:ext cx="1727149" cy="1417320"/>
          </a:xfrm>
          <a:prstGeom prst="roundRect">
            <a:avLst>
              <a:gd name="adj" fmla="val 7742"/>
            </a:avLst>
          </a:prstGeom>
          <a:solidFill>
            <a:srgbClr val="EDF3EF"/>
          </a:solidFill>
          <a:ln w="12700">
            <a:solidFill>
              <a:srgbClr val="EDF3EF"/>
            </a:solidFill>
            <a:prstDash val="solid"/>
          </a:ln>
        </p:spPr>
      </p:sp>
      <p:sp>
        <p:nvSpPr>
          <p:cNvPr id="44" name="Text 38"/>
          <p:cNvSpPr txBox="1"/>
          <p:nvPr/>
        </p:nvSpPr>
        <p:spPr>
          <a:xfrm>
            <a:off x="6297016" y="3858768"/>
            <a:ext cx="1471117" cy="129844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共通の説明は動画に任せ、本人の話を聞くことに集中</a:t>
            </a:r>
            <a:endParaRPr lang="en-US" sz="1200" dirty="0"/>
          </a:p>
        </p:txBody>
      </p:sp>
      <p:sp>
        <p:nvSpPr>
          <p:cNvPr id="45" name="Shape 39"/>
          <p:cNvSpPr/>
          <p:nvPr/>
        </p:nvSpPr>
        <p:spPr>
          <a:xfrm>
            <a:off x="6169000" y="5349240"/>
            <a:ext cx="1727149" cy="566928"/>
          </a:xfrm>
          <a:prstGeom prst="roundRect">
            <a:avLst>
              <a:gd name="adj" fmla="val 19355"/>
            </a:avLst>
          </a:prstGeom>
          <a:solidFill>
            <a:srgbClr val="FBEFE4"/>
          </a:solidFill>
          <a:ln w="12700">
            <a:solidFill>
              <a:srgbClr val="FBEFE4"/>
            </a:solidFill>
            <a:prstDash val="solid"/>
          </a:ln>
        </p:spPr>
      </p:sp>
      <p:sp>
        <p:nvSpPr>
          <p:cNvPr id="46" name="Text 40"/>
          <p:cNvSpPr txBox="1"/>
          <p:nvPr/>
        </p:nvSpPr>
        <p:spPr>
          <a:xfrm>
            <a:off x="6242152" y="5349240"/>
            <a:ext cx="1580845" cy="566928"/>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利用登録率UP</a:t>
            </a:r>
            <a:endParaRPr lang="en-US" sz="1200" dirty="0"/>
          </a:p>
        </p:txBody>
      </p:sp>
      <p:sp>
        <p:nvSpPr>
          <p:cNvPr id="47" name="Shape 41"/>
          <p:cNvSpPr/>
          <p:nvPr/>
        </p:nvSpPr>
        <p:spPr>
          <a:xfrm>
            <a:off x="8042453" y="1463040"/>
            <a:ext cx="1727149" cy="731520"/>
          </a:xfrm>
          <a:prstGeom prst="roundRect">
            <a:avLst>
              <a:gd name="adj" fmla="val 15000"/>
            </a:avLst>
          </a:prstGeom>
          <a:solidFill>
            <a:srgbClr val="46705A"/>
          </a:solidFill>
          <a:ln w="12700">
            <a:solidFill>
              <a:srgbClr val="46705A"/>
            </a:solidFill>
            <a:prstDash val="solid"/>
          </a:ln>
        </p:spPr>
      </p:sp>
      <p:sp>
        <p:nvSpPr>
          <p:cNvPr id="48" name="Text 42"/>
          <p:cNvSpPr txBox="1"/>
          <p:nvPr/>
        </p:nvSpPr>
        <p:spPr>
          <a:xfrm>
            <a:off x="8042453" y="1508760"/>
            <a:ext cx="1727149" cy="274320"/>
          </a:xfrm>
          <a:prstGeom prst="rect">
            <a:avLst/>
          </a:prstGeom>
          <a:noFill/>
          <a:ln/>
        </p:spPr>
        <p:txBody>
          <a:bodyPr wrap="square" lIns="0" tIns="0" rIns="0" bIns="0" rtlCol="0" anchor="t"/>
          <a:lstStyle/>
          <a:p>
            <a:pPr algn="ctr" indent="0" marL="0">
              <a:buNone/>
            </a:pPr>
            <a:r>
              <a:rPr lang="en-US" sz="1000" b="1" dirty="0">
                <a:solidFill>
                  <a:srgbClr val="F2C19A"/>
                </a:solidFill>
                <a:latin typeface="Meiryo UI" pitchFamily="34" charset="0"/>
                <a:ea typeface="Meiryo UI" pitchFamily="34" charset="-122"/>
                <a:cs typeface="Meiryo UI" pitchFamily="34" charset="-120"/>
              </a:rPr>
              <a:t>STEP 5</a:t>
            </a:r>
            <a:endParaRPr lang="en-US" sz="1000" dirty="0"/>
          </a:p>
        </p:txBody>
      </p:sp>
      <p:sp>
        <p:nvSpPr>
          <p:cNvPr id="49" name="Text 43"/>
          <p:cNvSpPr txBox="1"/>
          <p:nvPr/>
        </p:nvSpPr>
        <p:spPr>
          <a:xfrm>
            <a:off x="8042453" y="1764792"/>
            <a:ext cx="172714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見学後フォロー</a:t>
            </a:r>
            <a:endParaRPr lang="en-US" sz="1300" dirty="0"/>
          </a:p>
        </p:txBody>
      </p:sp>
      <p:sp>
        <p:nvSpPr>
          <p:cNvPr id="50" name="Shape 44"/>
          <p:cNvSpPr/>
          <p:nvPr/>
        </p:nvSpPr>
        <p:spPr>
          <a:xfrm>
            <a:off x="8042453" y="2606040"/>
            <a:ext cx="1727149" cy="731520"/>
          </a:xfrm>
          <a:prstGeom prst="roundRect">
            <a:avLst>
              <a:gd name="adj" fmla="val 15000"/>
            </a:avLst>
          </a:prstGeom>
          <a:solidFill>
            <a:srgbClr val="EEF0EE"/>
          </a:solidFill>
          <a:ln w="12700">
            <a:solidFill>
              <a:srgbClr val="EEF0EE"/>
            </a:solidFill>
            <a:prstDash val="solid"/>
          </a:ln>
        </p:spPr>
      </p:sp>
      <p:sp>
        <p:nvSpPr>
          <p:cNvPr id="51" name="Text 45"/>
          <p:cNvSpPr txBox="1"/>
          <p:nvPr/>
        </p:nvSpPr>
        <p:spPr>
          <a:xfrm>
            <a:off x="8152181" y="2606040"/>
            <a:ext cx="1507693" cy="731520"/>
          </a:xfrm>
          <a:prstGeom prst="rect">
            <a:avLst/>
          </a:prstGeom>
          <a:noFill/>
          <a:ln/>
        </p:spPr>
        <p:txBody>
          <a:bodyPr wrap="square" lIns="0" tIns="0" rIns="0" bIns="0" rtlCol="0" anchor="ctr"/>
          <a:lstStyle/>
          <a:p>
            <a:pPr algn="ctr" indent="0" marL="0">
              <a:buNone/>
            </a:pPr>
            <a:r>
              <a:rPr lang="en-US" sz="1150" dirty="0">
                <a:solidFill>
                  <a:srgbClr val="7B857E"/>
                </a:solidFill>
                <a:latin typeface="Meiryo UI" pitchFamily="34" charset="0"/>
                <a:ea typeface="Meiryo UI" pitchFamily="34" charset="-122"/>
                <a:cs typeface="Meiryo UI" pitchFamily="34" charset="-120"/>
              </a:rPr>
              <a:t>検討中のまま途切れる</a:t>
            </a:r>
            <a:endParaRPr lang="en-US" sz="1150" dirty="0"/>
          </a:p>
        </p:txBody>
      </p:sp>
      <p:pic>
        <p:nvPicPr>
          <p:cNvPr id="52" name="Image 4" descr="preencoded.png">    </p:cNvPr>
          <p:cNvPicPr>
            <a:picLocks noChangeAspect="1"/>
          </p:cNvPicPr>
          <p:nvPr/>
        </p:nvPicPr>
        <p:blipFill>
          <a:blip r:embed="rId5"/>
          <a:stretch>
            <a:fillRect/>
          </a:stretch>
        </p:blipFill>
        <p:spPr>
          <a:xfrm>
            <a:off x="9358122" y="3456432"/>
            <a:ext cx="256032" cy="256032"/>
          </a:xfrm>
          <a:prstGeom prst="rect">
            <a:avLst/>
          </a:prstGeom>
        </p:spPr>
      </p:pic>
      <p:sp>
        <p:nvSpPr>
          <p:cNvPr id="53" name="Shape 46"/>
          <p:cNvSpPr/>
          <p:nvPr/>
        </p:nvSpPr>
        <p:spPr>
          <a:xfrm>
            <a:off x="8042453" y="3794760"/>
            <a:ext cx="1727149" cy="1417320"/>
          </a:xfrm>
          <a:prstGeom prst="roundRect">
            <a:avLst>
              <a:gd name="adj" fmla="val 7742"/>
            </a:avLst>
          </a:prstGeom>
          <a:solidFill>
            <a:srgbClr val="EDF3EF"/>
          </a:solidFill>
          <a:ln w="12700">
            <a:solidFill>
              <a:srgbClr val="EDF3EF"/>
            </a:solidFill>
            <a:prstDash val="solid"/>
          </a:ln>
        </p:spPr>
      </p:sp>
      <p:sp>
        <p:nvSpPr>
          <p:cNvPr id="54" name="Text 47"/>
          <p:cNvSpPr txBox="1"/>
          <p:nvPr/>
        </p:nvSpPr>
        <p:spPr>
          <a:xfrm>
            <a:off x="8170469" y="3858768"/>
            <a:ext cx="1471117" cy="129844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ご家族向け動画で判断を後押し</a:t>
            </a:r>
            <a:endParaRPr lang="en-US" sz="1200" dirty="0"/>
          </a:p>
        </p:txBody>
      </p:sp>
      <p:sp>
        <p:nvSpPr>
          <p:cNvPr id="55" name="Shape 48"/>
          <p:cNvSpPr/>
          <p:nvPr/>
        </p:nvSpPr>
        <p:spPr>
          <a:xfrm>
            <a:off x="8042453" y="5349240"/>
            <a:ext cx="1727149" cy="566928"/>
          </a:xfrm>
          <a:prstGeom prst="roundRect">
            <a:avLst>
              <a:gd name="adj" fmla="val 19355"/>
            </a:avLst>
          </a:prstGeom>
          <a:solidFill>
            <a:srgbClr val="FBEFE4"/>
          </a:solidFill>
          <a:ln w="12700">
            <a:solidFill>
              <a:srgbClr val="FBEFE4"/>
            </a:solidFill>
            <a:prstDash val="solid"/>
          </a:ln>
        </p:spPr>
      </p:sp>
      <p:sp>
        <p:nvSpPr>
          <p:cNvPr id="56" name="Text 49"/>
          <p:cNvSpPr txBox="1"/>
          <p:nvPr/>
        </p:nvSpPr>
        <p:spPr>
          <a:xfrm>
            <a:off x="8115605" y="5349240"/>
            <a:ext cx="1580845" cy="566928"/>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取りこぼし防止</a:t>
            </a:r>
            <a:endParaRPr lang="en-US" sz="1200" dirty="0"/>
          </a:p>
        </p:txBody>
      </p:sp>
      <p:sp>
        <p:nvSpPr>
          <p:cNvPr id="57" name="Shape 50"/>
          <p:cNvSpPr/>
          <p:nvPr/>
        </p:nvSpPr>
        <p:spPr>
          <a:xfrm>
            <a:off x="9915906" y="1463040"/>
            <a:ext cx="1727149" cy="731520"/>
          </a:xfrm>
          <a:prstGeom prst="roundRect">
            <a:avLst>
              <a:gd name="adj" fmla="val 15000"/>
            </a:avLst>
          </a:prstGeom>
          <a:solidFill>
            <a:srgbClr val="46705A"/>
          </a:solidFill>
          <a:ln w="12700">
            <a:solidFill>
              <a:srgbClr val="46705A"/>
            </a:solidFill>
            <a:prstDash val="solid"/>
          </a:ln>
        </p:spPr>
      </p:sp>
      <p:sp>
        <p:nvSpPr>
          <p:cNvPr id="58" name="Text 51"/>
          <p:cNvSpPr txBox="1"/>
          <p:nvPr/>
        </p:nvSpPr>
        <p:spPr>
          <a:xfrm>
            <a:off x="9915906" y="1508760"/>
            <a:ext cx="1727149" cy="274320"/>
          </a:xfrm>
          <a:prstGeom prst="rect">
            <a:avLst/>
          </a:prstGeom>
          <a:noFill/>
          <a:ln/>
        </p:spPr>
        <p:txBody>
          <a:bodyPr wrap="square" lIns="0" tIns="0" rIns="0" bIns="0" rtlCol="0" anchor="t"/>
          <a:lstStyle/>
          <a:p>
            <a:pPr algn="ctr" indent="0" marL="0">
              <a:buNone/>
            </a:pPr>
            <a:r>
              <a:rPr lang="en-US" sz="1000" b="1" dirty="0">
                <a:solidFill>
                  <a:srgbClr val="F2C19A"/>
                </a:solidFill>
                <a:latin typeface="Meiryo UI" pitchFamily="34" charset="0"/>
                <a:ea typeface="Meiryo UI" pitchFamily="34" charset="-122"/>
                <a:cs typeface="Meiryo UI" pitchFamily="34" charset="-120"/>
              </a:rPr>
              <a:t>STEP 6</a:t>
            </a:r>
            <a:endParaRPr lang="en-US" sz="1000" dirty="0"/>
          </a:p>
        </p:txBody>
      </p:sp>
      <p:sp>
        <p:nvSpPr>
          <p:cNvPr id="59" name="Text 52"/>
          <p:cNvSpPr txBox="1"/>
          <p:nvPr/>
        </p:nvSpPr>
        <p:spPr>
          <a:xfrm>
            <a:off x="9915906" y="1764792"/>
            <a:ext cx="1727149"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紹介元との定期接点</a:t>
            </a:r>
            <a:endParaRPr lang="en-US" sz="1300" dirty="0"/>
          </a:p>
        </p:txBody>
      </p:sp>
      <p:sp>
        <p:nvSpPr>
          <p:cNvPr id="60" name="Shape 53"/>
          <p:cNvSpPr/>
          <p:nvPr/>
        </p:nvSpPr>
        <p:spPr>
          <a:xfrm>
            <a:off x="9915906" y="2606040"/>
            <a:ext cx="1727149" cy="731520"/>
          </a:xfrm>
          <a:prstGeom prst="roundRect">
            <a:avLst>
              <a:gd name="adj" fmla="val 15000"/>
            </a:avLst>
          </a:prstGeom>
          <a:solidFill>
            <a:srgbClr val="EEF0EE"/>
          </a:solidFill>
          <a:ln w="12700">
            <a:solidFill>
              <a:srgbClr val="EEF0EE"/>
            </a:solidFill>
            <a:prstDash val="solid"/>
          </a:ln>
        </p:spPr>
      </p:sp>
      <p:sp>
        <p:nvSpPr>
          <p:cNvPr id="61" name="Text 54"/>
          <p:cNvSpPr txBox="1"/>
          <p:nvPr/>
        </p:nvSpPr>
        <p:spPr>
          <a:xfrm>
            <a:off x="10025634" y="2606040"/>
            <a:ext cx="1507693" cy="731520"/>
          </a:xfrm>
          <a:prstGeom prst="rect">
            <a:avLst/>
          </a:prstGeom>
          <a:noFill/>
          <a:ln/>
        </p:spPr>
        <p:txBody>
          <a:bodyPr wrap="square" lIns="0" tIns="0" rIns="0" bIns="0" rtlCol="0" anchor="ctr"/>
          <a:lstStyle/>
          <a:p>
            <a:pPr algn="ctr" indent="0" marL="0">
              <a:buNone/>
            </a:pPr>
            <a:r>
              <a:rPr lang="en-US" sz="1150" dirty="0">
                <a:solidFill>
                  <a:srgbClr val="7B857E"/>
                </a:solidFill>
                <a:latin typeface="Meiryo UI" pitchFamily="34" charset="0"/>
                <a:ea typeface="Meiryo UI" pitchFamily="34" charset="-122"/>
                <a:cs typeface="Meiryo UI" pitchFamily="34" charset="-120"/>
              </a:rPr>
              <a:t>年1回のハンドブック更新のみ</a:t>
            </a:r>
            <a:endParaRPr lang="en-US" sz="1150" dirty="0"/>
          </a:p>
        </p:txBody>
      </p:sp>
      <p:pic>
        <p:nvPicPr>
          <p:cNvPr id="62" name="Image 5" descr="preencoded.png">    </p:cNvPr>
          <p:cNvPicPr>
            <a:picLocks noChangeAspect="1"/>
          </p:cNvPicPr>
          <p:nvPr/>
        </p:nvPicPr>
        <p:blipFill>
          <a:blip r:embed="rId6"/>
          <a:stretch>
            <a:fillRect/>
          </a:stretch>
        </p:blipFill>
        <p:spPr>
          <a:xfrm>
            <a:off x="11231575" y="3456432"/>
            <a:ext cx="256032" cy="256032"/>
          </a:xfrm>
          <a:prstGeom prst="rect">
            <a:avLst/>
          </a:prstGeom>
        </p:spPr>
      </p:pic>
      <p:sp>
        <p:nvSpPr>
          <p:cNvPr id="63" name="Shape 55"/>
          <p:cNvSpPr/>
          <p:nvPr/>
        </p:nvSpPr>
        <p:spPr>
          <a:xfrm>
            <a:off x="9915906" y="3794760"/>
            <a:ext cx="1727149" cy="1417320"/>
          </a:xfrm>
          <a:prstGeom prst="roundRect">
            <a:avLst>
              <a:gd name="adj" fmla="val 7742"/>
            </a:avLst>
          </a:prstGeom>
          <a:solidFill>
            <a:srgbClr val="EDF3EF"/>
          </a:solidFill>
          <a:ln w="12700">
            <a:solidFill>
              <a:srgbClr val="EDF3EF"/>
            </a:solidFill>
            <a:prstDash val="solid"/>
          </a:ln>
        </p:spPr>
      </p:sp>
      <p:sp>
        <p:nvSpPr>
          <p:cNvPr id="64" name="Text 56"/>
          <p:cNvSpPr txBox="1"/>
          <p:nvPr/>
        </p:nvSpPr>
        <p:spPr>
          <a:xfrm>
            <a:off x="10043922" y="3858768"/>
            <a:ext cx="1471117" cy="129844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季節の活動紹介動画を紹介元に届ける</a:t>
            </a:r>
            <a:endParaRPr lang="en-US" sz="1200" dirty="0"/>
          </a:p>
        </p:txBody>
      </p:sp>
      <p:sp>
        <p:nvSpPr>
          <p:cNvPr id="65" name="Shape 57"/>
          <p:cNvSpPr/>
          <p:nvPr/>
        </p:nvSpPr>
        <p:spPr>
          <a:xfrm>
            <a:off x="9915906" y="5349240"/>
            <a:ext cx="1727149" cy="566928"/>
          </a:xfrm>
          <a:prstGeom prst="roundRect">
            <a:avLst>
              <a:gd name="adj" fmla="val 19355"/>
            </a:avLst>
          </a:prstGeom>
          <a:solidFill>
            <a:srgbClr val="FBEFE4"/>
          </a:solidFill>
          <a:ln w="12700">
            <a:solidFill>
              <a:srgbClr val="FBEFE4"/>
            </a:solidFill>
            <a:prstDash val="solid"/>
          </a:ln>
        </p:spPr>
      </p:sp>
      <p:sp>
        <p:nvSpPr>
          <p:cNvPr id="66" name="Text 58"/>
          <p:cNvSpPr txBox="1"/>
          <p:nvPr/>
        </p:nvSpPr>
        <p:spPr>
          <a:xfrm>
            <a:off x="9989058" y="5349240"/>
            <a:ext cx="1580845" cy="566928"/>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紹介の継続</a:t>
            </a:r>
            <a:endParaRPr lang="en-US" sz="1200" dirty="0"/>
          </a:p>
        </p:txBody>
      </p:sp>
      <p:sp>
        <p:nvSpPr>
          <p:cNvPr id="67" name="Text 59"/>
          <p:cNvSpPr txBox="1"/>
          <p:nvPr/>
        </p:nvSpPr>
        <p:spPr>
          <a:xfrm>
            <a:off x="548640" y="3474720"/>
            <a:ext cx="1828800" cy="27432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MiTok導入後</a:t>
            </a:r>
            <a:endParaRPr lang="en-US" sz="1050" dirty="0"/>
          </a:p>
        </p:txBody>
      </p:sp>
      <p:sp>
        <p:nvSpPr>
          <p:cNvPr id="68" name="Text 60"/>
          <p:cNvSpPr txBox="1"/>
          <p:nvPr/>
        </p:nvSpPr>
        <p:spPr>
          <a:xfrm>
            <a:off x="548640" y="5961888"/>
            <a:ext cx="1828800"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期待効果</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03｜PUSH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代表の負担を増やさずに、成果を上げる仕組み</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49808" y="1664208"/>
            <a:ext cx="621792" cy="621792"/>
          </a:xfrm>
          <a:prstGeom prst="ellipse">
            <a:avLst/>
          </a:prstGeom>
          <a:solidFill>
            <a:srgbClr val="46705A"/>
          </a:solidFill>
          <a:ln w="12700">
            <a:solidFill>
              <a:srgbClr val="46705A"/>
            </a:solidFill>
            <a:prstDash val="solid"/>
          </a:ln>
        </p:spPr>
      </p:sp>
      <p:pic>
        <p:nvPicPr>
          <p:cNvPr id="8" name="Image 0" descr="preencoded.png">    </p:cNvPr>
          <p:cNvPicPr>
            <a:picLocks noChangeAspect="1"/>
          </p:cNvPicPr>
          <p:nvPr/>
        </p:nvPicPr>
        <p:blipFill>
          <a:blip r:embed="rId1"/>
          <a:stretch>
            <a:fillRect/>
          </a:stretch>
        </p:blipFill>
        <p:spPr>
          <a:xfrm>
            <a:off x="911474" y="1825874"/>
            <a:ext cx="298460" cy="298460"/>
          </a:xfrm>
          <a:prstGeom prst="rect">
            <a:avLst/>
          </a:prstGeom>
        </p:spPr>
      </p:pic>
      <p:sp>
        <p:nvSpPr>
          <p:cNvPr id="9" name="Text 6"/>
          <p:cNvSpPr txBox="1"/>
          <p:nvPr/>
        </p:nvSpPr>
        <p:spPr>
          <a:xfrm>
            <a:off x="1554480" y="1591056"/>
            <a:ext cx="402336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説明の自動化</a:t>
            </a:r>
            <a:endParaRPr lang="en-US" sz="1400" dirty="0"/>
          </a:p>
        </p:txBody>
      </p:sp>
      <p:sp>
        <p:nvSpPr>
          <p:cNvPr id="10" name="Text 7"/>
          <p:cNvSpPr txBox="1"/>
          <p:nvPr/>
        </p:nvSpPr>
        <p:spPr>
          <a:xfrm>
            <a:off x="1554480" y="1920240"/>
            <a:ext cx="4069080" cy="50292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見学や紹介のたびに繰り返す「施設の説明」「1日の流れ」は動画に任せ、代表は本人の話を聞くことに集中</a:t>
            </a:r>
            <a:endParaRPr lang="en-US" sz="1150" dirty="0"/>
          </a:p>
        </p:txBody>
      </p:sp>
      <p:sp>
        <p:nvSpPr>
          <p:cNvPr id="11" name="Shape 8"/>
          <p:cNvSpPr/>
          <p:nvPr/>
        </p:nvSpPr>
        <p:spPr>
          <a:xfrm>
            <a:off x="548640" y="2633472"/>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749808" y="2834640"/>
            <a:ext cx="621792" cy="621792"/>
          </a:xfrm>
          <a:prstGeom prst="ellipse">
            <a:avLst/>
          </a:prstGeom>
          <a:solidFill>
            <a:srgbClr val="46705A"/>
          </a:solidFill>
          <a:ln w="12700">
            <a:solidFill>
              <a:srgbClr val="46705A"/>
            </a:solidFill>
            <a:prstDash val="solid"/>
          </a:ln>
        </p:spPr>
      </p:sp>
      <p:pic>
        <p:nvPicPr>
          <p:cNvPr id="13" name="Image 1" descr="preencoded.png">    </p:cNvPr>
          <p:cNvPicPr>
            <a:picLocks noChangeAspect="1"/>
          </p:cNvPicPr>
          <p:nvPr/>
        </p:nvPicPr>
        <p:blipFill>
          <a:blip r:embed="rId2"/>
          <a:stretch>
            <a:fillRect/>
          </a:stretch>
        </p:blipFill>
        <p:spPr>
          <a:xfrm>
            <a:off x="911474" y="2996306"/>
            <a:ext cx="298460" cy="298460"/>
          </a:xfrm>
          <a:prstGeom prst="rect">
            <a:avLst/>
          </a:prstGeom>
        </p:spPr>
      </p:pic>
      <p:sp>
        <p:nvSpPr>
          <p:cNvPr id="14" name="Text 10"/>
          <p:cNvSpPr txBox="1"/>
          <p:nvPr/>
        </p:nvSpPr>
        <p:spPr>
          <a:xfrm>
            <a:off x="1554480" y="2761488"/>
            <a:ext cx="402336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発信の外注化</a:t>
            </a:r>
            <a:endParaRPr lang="en-US" sz="1400" dirty="0"/>
          </a:p>
        </p:txBody>
      </p:sp>
      <p:sp>
        <p:nvSpPr>
          <p:cNvPr id="15" name="Text 11"/>
          <p:cNvSpPr txBox="1"/>
          <p:nvPr/>
        </p:nvSpPr>
        <p:spPr>
          <a:xfrm>
            <a:off x="1554480" y="3090672"/>
            <a:ext cx="4069080" cy="50292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Webが得意な人がいなくても、制作と配信は外付けチームが担当</a:t>
            </a:r>
            <a:endParaRPr lang="en-US" sz="1150" dirty="0"/>
          </a:p>
        </p:txBody>
      </p:sp>
      <p:sp>
        <p:nvSpPr>
          <p:cNvPr id="16" name="Shape 12"/>
          <p:cNvSpPr/>
          <p:nvPr/>
        </p:nvSpPr>
        <p:spPr>
          <a:xfrm>
            <a:off x="548640" y="3803904"/>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49808" y="4005072"/>
            <a:ext cx="621792" cy="621792"/>
          </a:xfrm>
          <a:prstGeom prst="ellipse">
            <a:avLst/>
          </a:prstGeom>
          <a:solidFill>
            <a:srgbClr val="46705A"/>
          </a:solidFill>
          <a:ln w="12700">
            <a:solidFill>
              <a:srgbClr val="46705A"/>
            </a:solidFill>
            <a:prstDash val="solid"/>
          </a:ln>
        </p:spPr>
      </p:sp>
      <p:pic>
        <p:nvPicPr>
          <p:cNvPr id="18" name="Image 2" descr="preencoded.png">    </p:cNvPr>
          <p:cNvPicPr>
            <a:picLocks noChangeAspect="1"/>
          </p:cNvPicPr>
          <p:nvPr/>
        </p:nvPicPr>
        <p:blipFill>
          <a:blip r:embed="rId3"/>
          <a:stretch>
            <a:fillRect/>
          </a:stretch>
        </p:blipFill>
        <p:spPr>
          <a:xfrm>
            <a:off x="911474" y="4166738"/>
            <a:ext cx="298460" cy="298460"/>
          </a:xfrm>
          <a:prstGeom prst="rect">
            <a:avLst/>
          </a:prstGeom>
        </p:spPr>
      </p:pic>
      <p:sp>
        <p:nvSpPr>
          <p:cNvPr id="19" name="Text 14"/>
          <p:cNvSpPr txBox="1"/>
          <p:nvPr/>
        </p:nvSpPr>
        <p:spPr>
          <a:xfrm>
            <a:off x="1554480" y="3931920"/>
            <a:ext cx="402336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反応の可視化</a:t>
            </a:r>
            <a:endParaRPr lang="en-US" sz="1400" dirty="0"/>
          </a:p>
        </p:txBody>
      </p:sp>
      <p:sp>
        <p:nvSpPr>
          <p:cNvPr id="20" name="Text 15"/>
          <p:cNvSpPr txBox="1"/>
          <p:nvPr/>
        </p:nvSpPr>
        <p:spPr>
          <a:xfrm>
            <a:off x="1554480" y="4261104"/>
            <a:ext cx="4069080" cy="50292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視聴状況と問い合わせの経路を把握し、反応の良い紹介元・テーマに力を注ぐ</a:t>
            </a:r>
            <a:endParaRPr lang="en-US" sz="1150" dirty="0"/>
          </a:p>
        </p:txBody>
      </p:sp>
      <p:sp>
        <p:nvSpPr>
          <p:cNvPr id="21" name="Shape 16"/>
          <p:cNvSpPr/>
          <p:nvPr/>
        </p:nvSpPr>
        <p:spPr>
          <a:xfrm>
            <a:off x="548640" y="4974336"/>
            <a:ext cx="5212080"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49808" y="5175504"/>
            <a:ext cx="621792" cy="621792"/>
          </a:xfrm>
          <a:prstGeom prst="ellipse">
            <a:avLst/>
          </a:prstGeom>
          <a:solidFill>
            <a:srgbClr val="46705A"/>
          </a:solidFill>
          <a:ln w="12700">
            <a:solidFill>
              <a:srgbClr val="46705A"/>
            </a:solidFill>
            <a:prstDash val="solid"/>
          </a:ln>
        </p:spPr>
      </p:sp>
      <p:pic>
        <p:nvPicPr>
          <p:cNvPr id="23" name="Image 3" descr="preencoded.png">    </p:cNvPr>
          <p:cNvPicPr>
            <a:picLocks noChangeAspect="1"/>
          </p:cNvPicPr>
          <p:nvPr/>
        </p:nvPicPr>
        <p:blipFill>
          <a:blip r:embed="rId4"/>
          <a:stretch>
            <a:fillRect/>
          </a:stretch>
        </p:blipFill>
        <p:spPr>
          <a:xfrm>
            <a:off x="911474" y="5337170"/>
            <a:ext cx="298460" cy="298460"/>
          </a:xfrm>
          <a:prstGeom prst="rect">
            <a:avLst/>
          </a:prstGeom>
        </p:spPr>
      </p:pic>
      <p:sp>
        <p:nvSpPr>
          <p:cNvPr id="24" name="Text 18"/>
          <p:cNvSpPr txBox="1"/>
          <p:nvPr/>
        </p:nvSpPr>
        <p:spPr>
          <a:xfrm>
            <a:off x="1554480" y="5102352"/>
            <a:ext cx="4023360" cy="320040"/>
          </a:xfrm>
          <a:prstGeom prst="rect">
            <a:avLst/>
          </a:prstGeom>
          <a:noFill/>
          <a:ln/>
        </p:spPr>
        <p:txBody>
          <a:bodyPr wrap="square" lIns="0" tIns="0" rIns="0" bIns="0" rtlCol="0" anchor="t"/>
          <a:lstStyle/>
          <a:p>
            <a:pPr indent="0" marL="0">
              <a:buNone/>
            </a:pPr>
            <a:r>
              <a:rPr lang="en-US" sz="1400" b="1" dirty="0">
                <a:solidFill>
                  <a:srgbClr val="46705A"/>
                </a:solidFill>
                <a:latin typeface="Meiryo UI" pitchFamily="34" charset="0"/>
                <a:ea typeface="Meiryo UI" pitchFamily="34" charset="-122"/>
                <a:cs typeface="Meiryo UI" pitchFamily="34" charset="-120"/>
              </a:rPr>
              <a:t>紹介の“バトン”化</a:t>
            </a:r>
            <a:endParaRPr lang="en-US" sz="1400" dirty="0"/>
          </a:p>
        </p:txBody>
      </p:sp>
      <p:sp>
        <p:nvSpPr>
          <p:cNvPr id="25" name="Text 19"/>
          <p:cNvSpPr txBox="1"/>
          <p:nvPr/>
        </p:nvSpPr>
        <p:spPr>
          <a:xfrm>
            <a:off x="1554480" y="5431536"/>
            <a:ext cx="4069080" cy="50292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紹介元がご本人・ご家族に転送しやすい動画で、紹介時の説明を肩代わり</a:t>
            </a:r>
            <a:endParaRPr lang="en-US" sz="1150" dirty="0"/>
          </a:p>
        </p:txBody>
      </p:sp>
      <p:sp>
        <p:nvSpPr>
          <p:cNvPr id="26" name="Text 20"/>
          <p:cNvSpPr txBox="1"/>
          <p:nvPr/>
        </p:nvSpPr>
        <p:spPr>
          <a:xfrm>
            <a:off x="6172200" y="1463040"/>
            <a:ext cx="4572000" cy="365760"/>
          </a:xfrm>
          <a:prstGeom prst="rect">
            <a:avLst/>
          </a:prstGeom>
          <a:noFill/>
          <a:ln/>
        </p:spPr>
        <p:txBody>
          <a:bodyPr wrap="square" lIns="0" tIns="0" rIns="0" bIns="0" rtlCol="0" anchor="t"/>
          <a:lstStyle/>
          <a:p>
            <a:pPr indent="0" marL="0">
              <a:buNone/>
            </a:pPr>
            <a:r>
              <a:rPr lang="en-US" sz="1500" b="1" dirty="0">
                <a:solidFill>
                  <a:srgbClr val="B8652A"/>
                </a:solidFill>
                <a:latin typeface="Meiryo UI" pitchFamily="34" charset="0"/>
                <a:ea typeface="Meiryo UI" pitchFamily="34" charset="-122"/>
                <a:cs typeface="Meiryo UI" pitchFamily="34" charset="-120"/>
              </a:rPr>
              <a:t>プッシュ施策のKPI（例）</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468112" cy="914400"/>
        </p:xfrm>
        <a:graphic>
          <a:graphicData uri="http://schemas.openxmlformats.org/drawingml/2006/table">
            <a:tbl>
              <a:tblPr/>
              <a:tblGrid>
                <a:gridCol w="1737360"/>
                <a:gridCol w="2331720"/>
                <a:gridCol w="1399032"/>
              </a:tblGrid>
              <a:tr h="566928">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指標</a:t>
                      </a:r>
                      <a:endParaRPr lang="en-US" sz="12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定義</a:t>
                      </a:r>
                      <a:endParaRPr lang="en-US" sz="12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c>
                  <a:txBody>
                    <a:bodyPr/>
                    <a:lstStyle/>
                    <a:p>
                      <a:pPr indent="0" marL="0">
                        <a:buNone/>
                      </a:pPr>
                      <a:r>
                        <a:rPr lang="en-US" sz="1200" b="1" dirty="0">
                          <a:solidFill>
                            <a:srgbClr val="FFFFFF"/>
                          </a:solidFill>
                          <a:latin typeface="Meiryo UI" pitchFamily="34" charset="0"/>
                          <a:ea typeface="Meiryo UI" pitchFamily="34" charset="-122"/>
                          <a:cs typeface="Meiryo UI" pitchFamily="34" charset="-120"/>
                        </a:rPr>
                        <a:t>測定方法</a:t>
                      </a:r>
                      <a:endParaRPr lang="en-US" sz="120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46705A"/>
                    </a:solidFill>
                  </a:tcPr>
                </a:tc>
              </a:tr>
              <a:tr h="566928">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紹介件数</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紹介元からの見学・相談の数</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相談記録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見学予約率</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問い合わせのうち見学に至った割合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相談記録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566928">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利用登録率</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見学のうち利用登録に至った割合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利用者台帳</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若い世代の比率</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新規利用者のうち若い世代の割合</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利用者台帳</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6F9F7"/>
                    </a:solidFill>
                  </a:tcPr>
                </a:tc>
              </a:tr>
              <a:tr h="566928">
                <a:tc>
                  <a:txBody>
                    <a:bodyPr/>
                    <a:lstStyle/>
                    <a:p>
                      <a:pPr indent="0" marL="0">
                        <a:buNone/>
                      </a:pPr>
                      <a:r>
                        <a:rPr lang="en-US" sz="1150" b="1" dirty="0">
                          <a:solidFill>
                            <a:srgbClr val="46705A"/>
                          </a:solidFill>
                          <a:latin typeface="Meiryo UI" pitchFamily="34" charset="0"/>
                          <a:ea typeface="Meiryo UI" pitchFamily="34" charset="-122"/>
                          <a:cs typeface="Meiryo UI" pitchFamily="34" charset="-120"/>
                        </a:rPr>
                        <a:t>Web経由の問い合わせ</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HP・SNSからの問い合わせ数</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c>
                  <a:txBody>
                    <a:bodyPr/>
                    <a:lstStyle/>
                    <a:p>
                      <a:pPr indent="0" marL="0">
                        <a:buNone/>
                      </a:pPr>
                      <a:r>
                        <a:rPr lang="en-US" sz="1150" dirty="0">
                          <a:solidFill>
                            <a:srgbClr val="2A322D"/>
                          </a:solidFill>
                          <a:latin typeface="Meiryo UI" pitchFamily="34" charset="0"/>
                          <a:ea typeface="Meiryo UI" pitchFamily="34" charset="-122"/>
                          <a:cs typeface="Meiryo UI" pitchFamily="34" charset="-120"/>
                        </a:rPr>
                        <a:t>フォーム・電話の記録</a:t>
                      </a:r>
                      <a:endParaRPr lang="en-US" sz="1150" dirty="0">
                        <a:latin typeface="Meiryo UI" charset="0"/>
                        <a:ea typeface="Meiryo UI" charset="0"/>
                        <a:cs typeface="Meiryo UI" charset="0"/>
                      </a:endParaRPr>
                    </a:p>
                  </a:txBody>
                  <a:tcPr marL="91440" marR="91440" marT="45720" marB="45720" anchor="ctr">
                    <a:lnL w="9525" cap="flat" cmpd="sng" algn="ctr">
                      <a:solidFill>
                        <a:srgbClr val="D6E3DA"/>
                      </a:solidFill>
                      <a:prstDash val="solid"/>
                      <a:round/>
                      <a:headEnd type="none" w="med" len="med"/>
                      <a:tailEnd type="none" w="med" len="med"/>
                    </a:lnL>
                    <a:lnR w="9525" cap="flat" cmpd="sng" algn="ctr">
                      <a:solidFill>
                        <a:srgbClr val="D6E3DA"/>
                      </a:solidFill>
                      <a:prstDash val="solid"/>
                      <a:round/>
                      <a:headEnd type="none" w="med" len="med"/>
                      <a:tailEnd type="none" w="med" len="med"/>
                    </a:lnR>
                    <a:lnT w="9525" cap="flat" cmpd="sng" algn="ctr">
                      <a:solidFill>
                        <a:srgbClr val="D6E3DA"/>
                      </a:solidFill>
                      <a:prstDash val="solid"/>
                      <a:round/>
                      <a:headEnd type="none" w="med" len="med"/>
                      <a:tailEnd type="none" w="med" len="med"/>
                    </a:lnT>
                    <a:lnB w="9525" cap="flat" cmpd="sng" algn="ctr">
                      <a:solidFill>
                        <a:srgbClr val="D6E3DA"/>
                      </a:solidFill>
                      <a:prstDash val="solid"/>
                      <a:round/>
                      <a:headEnd type="none" w="med" len="med"/>
                      <a:tailEnd type="none" w="med" len="med"/>
                    </a:lnB>
                    <a:solidFill>
                      <a:srgbClr val="FFFFFF"/>
                    </a:solidFill>
                  </a:tcPr>
                </a:tc>
              </a:tr>
            </a:tbl>
          </a:graphicData>
        </a:graphic>
      </p:graphicFrame>
      <p:sp>
        <p:nvSpPr>
          <p:cNvPr id="28" name="Text 21"/>
          <p:cNvSpPr txBox="1"/>
          <p:nvPr/>
        </p:nvSpPr>
        <p:spPr>
          <a:xfrm>
            <a:off x="6172200" y="5486400"/>
            <a:ext cx="5468112" cy="548640"/>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※具体的な目標値は、本日伺う現状数値（利用者数・年齢構成・見学相談数など）をもとにフェーズ1開始時に設定します。</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プル型Webマーケティング：媒体ごとに役割を分ける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691640"/>
            <a:ext cx="685800" cy="685800"/>
          </a:xfrm>
          <a:prstGeom prst="ellipse">
            <a:avLst/>
          </a:prstGeom>
          <a:solidFill>
            <a:srgbClr val="46705A"/>
          </a:solidFill>
          <a:ln w="12700">
            <a:solidFill>
              <a:srgbClr val="46705A"/>
            </a:solidFill>
            <a:prstDash val="solid"/>
          </a:ln>
        </p:spPr>
      </p:sp>
      <p:pic>
        <p:nvPicPr>
          <p:cNvPr id="8" name="Image 0" descr="preencoded.png">    </p:cNvPr>
          <p:cNvPicPr>
            <a:picLocks noChangeAspect="1"/>
          </p:cNvPicPr>
          <p:nvPr/>
        </p:nvPicPr>
        <p:blipFill>
          <a:blip r:embed="rId1"/>
          <a:stretch>
            <a:fillRect/>
          </a:stretch>
        </p:blipFill>
        <p:spPr>
          <a:xfrm>
            <a:off x="1001268" y="1869948"/>
            <a:ext cx="329184" cy="329184"/>
          </a:xfrm>
          <a:prstGeom prst="rect">
            <a:avLst/>
          </a:prstGeom>
        </p:spPr>
      </p:pic>
      <p:sp>
        <p:nvSpPr>
          <p:cNvPr id="9" name="Text 6"/>
          <p:cNvSpPr txBox="1"/>
          <p:nvPr/>
        </p:nvSpPr>
        <p:spPr>
          <a:xfrm>
            <a:off x="1645920" y="1673352"/>
            <a:ext cx="2235098" cy="411480"/>
          </a:xfrm>
          <a:prstGeom prst="rect">
            <a:avLst/>
          </a:prstGeom>
          <a:noFill/>
          <a:ln/>
        </p:spPr>
        <p:txBody>
          <a:bodyPr wrap="square" lIns="0" tIns="0" rIns="0" bIns="0" rtlCol="0" anchor="t"/>
          <a:lstStyle/>
          <a:p>
            <a:pPr indent="0" marL="0">
              <a:buNone/>
            </a:pPr>
            <a:r>
              <a:rPr lang="en-US" sz="1800" b="1" dirty="0">
                <a:solidFill>
                  <a:srgbClr val="46705A"/>
                </a:solidFill>
                <a:latin typeface="Meiryo UI" pitchFamily="34" charset="0"/>
                <a:ea typeface="Meiryo UI" pitchFamily="34" charset="-122"/>
                <a:cs typeface="Meiryo UI" pitchFamily="34" charset="-120"/>
              </a:rPr>
              <a:t>YouTube</a:t>
            </a:r>
            <a:endParaRPr lang="en-US" sz="1800" dirty="0"/>
          </a:p>
        </p:txBody>
      </p:sp>
      <p:sp>
        <p:nvSpPr>
          <p:cNvPr id="10" name="Text 7"/>
          <p:cNvSpPr txBox="1"/>
          <p:nvPr/>
        </p:nvSpPr>
        <p:spPr>
          <a:xfrm>
            <a:off x="1645920" y="2075688"/>
            <a:ext cx="2235098" cy="320040"/>
          </a:xfrm>
          <a:prstGeom prst="rect">
            <a:avLst/>
          </a:prstGeom>
          <a:noFill/>
          <a:ln/>
        </p:spPr>
        <p:txBody>
          <a:bodyPr wrap="square" lIns="0" tIns="0" rIns="0" bIns="0" rtlCol="0" anchor="t"/>
          <a:lstStyle/>
          <a:p>
            <a:pPr indent="0" marL="0">
              <a:buNone/>
            </a:pPr>
            <a:r>
              <a:rPr lang="en-US" sz="1250" b="1" dirty="0">
                <a:solidFill>
                  <a:srgbClr val="B8652A"/>
                </a:solidFill>
                <a:latin typeface="Meiryo UI" pitchFamily="34" charset="0"/>
                <a:ea typeface="Meiryo UI" pitchFamily="34" charset="-122"/>
                <a:cs typeface="Meiryo UI" pitchFamily="34" charset="-120"/>
              </a:rPr>
              <a:t>役割：理解・安心</a:t>
            </a:r>
            <a:endParaRPr lang="en-US" sz="1250" dirty="0"/>
          </a:p>
        </p:txBody>
      </p:sp>
      <p:sp>
        <p:nvSpPr>
          <p:cNvPr id="11" name="Text 8"/>
          <p:cNvSpPr txBox="1"/>
          <p:nvPr/>
        </p:nvSpPr>
        <p:spPr>
          <a:xfrm>
            <a:off x="822960" y="2606040"/>
            <a:ext cx="2966618" cy="256032"/>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動画の型</a:t>
            </a:r>
            <a:endParaRPr lang="en-US" sz="1050" dirty="0"/>
          </a:p>
        </p:txBody>
      </p:sp>
      <p:sp>
        <p:nvSpPr>
          <p:cNvPr id="12" name="Text 9"/>
          <p:cNvSpPr txBox="1"/>
          <p:nvPr/>
        </p:nvSpPr>
        <p:spPr>
          <a:xfrm>
            <a:off x="822960" y="2862072"/>
            <a:ext cx="2966618" cy="320040"/>
          </a:xfrm>
          <a:prstGeom prst="rect">
            <a:avLst/>
          </a:prstGeom>
          <a:noFill/>
          <a:ln/>
        </p:spPr>
        <p:txBody>
          <a:bodyPr wrap="square" lIns="0" tIns="0" rIns="0" bIns="0" rtlCol="0" anchor="t"/>
          <a:lstStyle/>
          <a:p>
            <a:pPr indent="0" marL="0">
              <a:buNone/>
            </a:pPr>
            <a:r>
              <a:rPr lang="en-US" sz="1300" b="1" dirty="0">
                <a:solidFill>
                  <a:srgbClr val="2A322D"/>
                </a:solidFill>
                <a:latin typeface="Meiryo UI" pitchFamily="34" charset="0"/>
                <a:ea typeface="Meiryo UI" pitchFamily="34" charset="-122"/>
                <a:cs typeface="Meiryo UI" pitchFamily="34" charset="-120"/>
              </a:rPr>
              <a:t>長尺解説（5〜10分）</a:t>
            </a:r>
            <a:endParaRPr lang="en-US" sz="1300" dirty="0"/>
          </a:p>
        </p:txBody>
      </p:sp>
      <p:sp>
        <p:nvSpPr>
          <p:cNvPr id="13" name="Text 10"/>
          <p:cNvSpPr txBox="1"/>
          <p:nvPr/>
        </p:nvSpPr>
        <p:spPr>
          <a:xfrm>
            <a:off x="822960" y="3291840"/>
            <a:ext cx="2966618" cy="256032"/>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主な視聴者</a:t>
            </a:r>
            <a:endParaRPr lang="en-US" sz="1050" dirty="0"/>
          </a:p>
        </p:txBody>
      </p:sp>
      <p:sp>
        <p:nvSpPr>
          <p:cNvPr id="14" name="Text 11"/>
          <p:cNvSpPr txBox="1"/>
          <p:nvPr/>
        </p:nvSpPr>
        <p:spPr>
          <a:xfrm>
            <a:off x="822960" y="3547872"/>
            <a:ext cx="2966618" cy="54864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通い先を探しているご本人・ご家族・支援者</a:t>
            </a:r>
            <a:endParaRPr lang="en-US" sz="1200" dirty="0"/>
          </a:p>
        </p:txBody>
      </p:sp>
      <p:sp>
        <p:nvSpPr>
          <p:cNvPr id="15" name="Shape 12"/>
          <p:cNvSpPr/>
          <p:nvPr/>
        </p:nvSpPr>
        <p:spPr>
          <a:xfrm>
            <a:off x="731520" y="4206240"/>
            <a:ext cx="3149498" cy="1874520"/>
          </a:xfrm>
          <a:prstGeom prst="roundRect">
            <a:avLst>
              <a:gd name="adj" fmla="val 5854"/>
            </a:avLst>
          </a:prstGeom>
          <a:solidFill>
            <a:srgbClr val="EDF3EF"/>
          </a:solidFill>
          <a:ln w="12700">
            <a:solidFill>
              <a:srgbClr val="EDF3EF"/>
            </a:solidFill>
            <a:prstDash val="solid"/>
          </a:ln>
        </p:spPr>
      </p:sp>
      <p:sp>
        <p:nvSpPr>
          <p:cNvPr id="16" name="Text 13"/>
          <p:cNvSpPr txBox="1"/>
          <p:nvPr/>
        </p:nvSpPr>
        <p:spPr>
          <a:xfrm>
            <a:off x="914400" y="4297680"/>
            <a:ext cx="2783738" cy="27432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コンテンツ例</a:t>
            </a:r>
            <a:endParaRPr lang="en-US" sz="1050" dirty="0"/>
          </a:p>
        </p:txBody>
      </p:sp>
      <p:sp>
        <p:nvSpPr>
          <p:cNvPr id="17" name="Text 14"/>
          <p:cNvSpPr txBox="1"/>
          <p:nvPr/>
        </p:nvSpPr>
        <p:spPr>
          <a:xfrm>
            <a:off x="914400"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創働舎ってどんな所？1日の流れ</a:t>
            </a:r>
            <a:endParaRPr lang="en-US" sz="1150" dirty="0"/>
          </a:p>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“日中の居場所”の選び方</a:t>
            </a:r>
            <a:endParaRPr lang="en-US" sz="1150" dirty="0"/>
          </a:p>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スタッフが答えるよくある質問</a:t>
            </a:r>
            <a:endParaRPr lang="en-US" sz="1150" dirty="0"/>
          </a:p>
        </p:txBody>
      </p:sp>
      <p:sp>
        <p:nvSpPr>
          <p:cNvPr id="18" name="Shape 15"/>
          <p:cNvSpPr/>
          <p:nvPr/>
        </p:nvSpPr>
        <p:spPr>
          <a:xfrm>
            <a:off x="4338218"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6"/>
          <p:cNvSpPr/>
          <p:nvPr/>
        </p:nvSpPr>
        <p:spPr>
          <a:xfrm>
            <a:off x="4612538" y="1691640"/>
            <a:ext cx="685800" cy="685800"/>
          </a:xfrm>
          <a:prstGeom prst="ellipse">
            <a:avLst/>
          </a:prstGeom>
          <a:solidFill>
            <a:srgbClr val="46705A"/>
          </a:solidFill>
          <a:ln w="12700">
            <a:solidFill>
              <a:srgbClr val="46705A"/>
            </a:solidFill>
            <a:prstDash val="solid"/>
          </a:ln>
        </p:spPr>
      </p:sp>
      <p:pic>
        <p:nvPicPr>
          <p:cNvPr id="20" name="Image 1" descr="preencoded.png">    </p:cNvPr>
          <p:cNvPicPr>
            <a:picLocks noChangeAspect="1"/>
          </p:cNvPicPr>
          <p:nvPr/>
        </p:nvPicPr>
        <p:blipFill>
          <a:blip r:embed="rId2"/>
          <a:stretch>
            <a:fillRect/>
          </a:stretch>
        </p:blipFill>
        <p:spPr>
          <a:xfrm>
            <a:off x="4790846" y="1869948"/>
            <a:ext cx="329184" cy="329184"/>
          </a:xfrm>
          <a:prstGeom prst="rect">
            <a:avLst/>
          </a:prstGeom>
        </p:spPr>
      </p:pic>
      <p:sp>
        <p:nvSpPr>
          <p:cNvPr id="21" name="Text 17"/>
          <p:cNvSpPr txBox="1"/>
          <p:nvPr/>
        </p:nvSpPr>
        <p:spPr>
          <a:xfrm>
            <a:off x="5435498" y="1673352"/>
            <a:ext cx="2235098" cy="411480"/>
          </a:xfrm>
          <a:prstGeom prst="rect">
            <a:avLst/>
          </a:prstGeom>
          <a:noFill/>
          <a:ln/>
        </p:spPr>
        <p:txBody>
          <a:bodyPr wrap="square" lIns="0" tIns="0" rIns="0" bIns="0" rtlCol="0" anchor="t"/>
          <a:lstStyle/>
          <a:p>
            <a:pPr indent="0" marL="0">
              <a:buNone/>
            </a:pPr>
            <a:r>
              <a:rPr lang="en-US" sz="1800" b="1" dirty="0">
                <a:solidFill>
                  <a:srgbClr val="46705A"/>
                </a:solidFill>
                <a:latin typeface="Meiryo UI" pitchFamily="34" charset="0"/>
                <a:ea typeface="Meiryo UI" pitchFamily="34" charset="-122"/>
                <a:cs typeface="Meiryo UI" pitchFamily="34" charset="-120"/>
              </a:rPr>
              <a:t>Instagram</a:t>
            </a:r>
            <a:endParaRPr lang="en-US" sz="1800" dirty="0"/>
          </a:p>
        </p:txBody>
      </p:sp>
      <p:sp>
        <p:nvSpPr>
          <p:cNvPr id="22" name="Text 18"/>
          <p:cNvSpPr txBox="1"/>
          <p:nvPr/>
        </p:nvSpPr>
        <p:spPr>
          <a:xfrm>
            <a:off x="5435498" y="2075688"/>
            <a:ext cx="2235098" cy="320040"/>
          </a:xfrm>
          <a:prstGeom prst="rect">
            <a:avLst/>
          </a:prstGeom>
          <a:noFill/>
          <a:ln/>
        </p:spPr>
        <p:txBody>
          <a:bodyPr wrap="square" lIns="0" tIns="0" rIns="0" bIns="0" rtlCol="0" anchor="t"/>
          <a:lstStyle/>
          <a:p>
            <a:pPr indent="0" marL="0">
              <a:buNone/>
            </a:pPr>
            <a:r>
              <a:rPr lang="en-US" sz="1250" b="1" dirty="0">
                <a:solidFill>
                  <a:srgbClr val="B8652A"/>
                </a:solidFill>
                <a:latin typeface="Meiryo UI" pitchFamily="34" charset="0"/>
                <a:ea typeface="Meiryo UI" pitchFamily="34" charset="-122"/>
                <a:cs typeface="Meiryo UI" pitchFamily="34" charset="-120"/>
              </a:rPr>
              <a:t>役割：雰囲気・親しみ</a:t>
            </a:r>
            <a:endParaRPr lang="en-US" sz="1250" dirty="0"/>
          </a:p>
        </p:txBody>
      </p:sp>
      <p:sp>
        <p:nvSpPr>
          <p:cNvPr id="23" name="Text 19"/>
          <p:cNvSpPr txBox="1"/>
          <p:nvPr/>
        </p:nvSpPr>
        <p:spPr>
          <a:xfrm>
            <a:off x="4612538" y="2606040"/>
            <a:ext cx="2966618" cy="256032"/>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動画の型</a:t>
            </a:r>
            <a:endParaRPr lang="en-US" sz="1050" dirty="0"/>
          </a:p>
        </p:txBody>
      </p:sp>
      <p:sp>
        <p:nvSpPr>
          <p:cNvPr id="24" name="Text 20"/>
          <p:cNvSpPr txBox="1"/>
          <p:nvPr/>
        </p:nvSpPr>
        <p:spPr>
          <a:xfrm>
            <a:off x="4612538" y="2862072"/>
            <a:ext cx="2966618" cy="320040"/>
          </a:xfrm>
          <a:prstGeom prst="rect">
            <a:avLst/>
          </a:prstGeom>
          <a:noFill/>
          <a:ln/>
        </p:spPr>
        <p:txBody>
          <a:bodyPr wrap="square" lIns="0" tIns="0" rIns="0" bIns="0" rtlCol="0" anchor="t"/>
          <a:lstStyle/>
          <a:p>
            <a:pPr indent="0" marL="0">
              <a:buNone/>
            </a:pPr>
            <a:r>
              <a:rPr lang="en-US" sz="1300" b="1" dirty="0">
                <a:solidFill>
                  <a:srgbClr val="2A322D"/>
                </a:solidFill>
                <a:latin typeface="Meiryo UI" pitchFamily="34" charset="0"/>
                <a:ea typeface="Meiryo UI" pitchFamily="34" charset="-122"/>
                <a:cs typeface="Meiryo UI" pitchFamily="34" charset="-120"/>
              </a:rPr>
              <a:t>デザイン重視（フィード・リール）</a:t>
            </a:r>
            <a:endParaRPr lang="en-US" sz="1300" dirty="0"/>
          </a:p>
        </p:txBody>
      </p:sp>
      <p:sp>
        <p:nvSpPr>
          <p:cNvPr id="25" name="Text 21"/>
          <p:cNvSpPr txBox="1"/>
          <p:nvPr/>
        </p:nvSpPr>
        <p:spPr>
          <a:xfrm>
            <a:off x="4612538" y="3291840"/>
            <a:ext cx="2966618" cy="256032"/>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主な視聴者</a:t>
            </a:r>
            <a:endParaRPr lang="en-US" sz="1050" dirty="0"/>
          </a:p>
        </p:txBody>
      </p:sp>
      <p:sp>
        <p:nvSpPr>
          <p:cNvPr id="26" name="Text 22"/>
          <p:cNvSpPr txBox="1"/>
          <p:nvPr/>
        </p:nvSpPr>
        <p:spPr>
          <a:xfrm>
            <a:off x="4612538" y="3547872"/>
            <a:ext cx="2966618" cy="54864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20〜40代のご本人、ご家族</a:t>
            </a:r>
            <a:endParaRPr lang="en-US" sz="1200" dirty="0"/>
          </a:p>
        </p:txBody>
      </p:sp>
      <p:sp>
        <p:nvSpPr>
          <p:cNvPr id="27" name="Shape 23"/>
          <p:cNvSpPr/>
          <p:nvPr/>
        </p:nvSpPr>
        <p:spPr>
          <a:xfrm>
            <a:off x="4521098" y="4206240"/>
            <a:ext cx="3149498" cy="1874520"/>
          </a:xfrm>
          <a:prstGeom prst="roundRect">
            <a:avLst>
              <a:gd name="adj" fmla="val 5854"/>
            </a:avLst>
          </a:prstGeom>
          <a:solidFill>
            <a:srgbClr val="EDF3EF"/>
          </a:solidFill>
          <a:ln w="12700">
            <a:solidFill>
              <a:srgbClr val="EDF3EF"/>
            </a:solidFill>
            <a:prstDash val="solid"/>
          </a:ln>
        </p:spPr>
      </p:sp>
      <p:sp>
        <p:nvSpPr>
          <p:cNvPr id="28" name="Text 24"/>
          <p:cNvSpPr txBox="1"/>
          <p:nvPr/>
        </p:nvSpPr>
        <p:spPr>
          <a:xfrm>
            <a:off x="4703978" y="4297680"/>
            <a:ext cx="2783738" cy="27432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コンテンツ例</a:t>
            </a:r>
            <a:endParaRPr lang="en-US" sz="1050" dirty="0"/>
          </a:p>
        </p:txBody>
      </p:sp>
      <p:sp>
        <p:nvSpPr>
          <p:cNvPr id="29" name="Text 25"/>
          <p:cNvSpPr txBox="1"/>
          <p:nvPr/>
        </p:nvSpPr>
        <p:spPr>
          <a:xfrm>
            <a:off x="4703978"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授産品・ものづくりの紹介</a:t>
            </a:r>
            <a:endParaRPr lang="en-US" sz="1150" dirty="0"/>
          </a:p>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季節の活動・イベント</a:t>
            </a:r>
            <a:endParaRPr lang="en-US" sz="1150" dirty="0"/>
          </a:p>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スタッフ紹介（10年変わらないチーム）</a:t>
            </a:r>
            <a:endParaRPr lang="en-US" sz="1150" dirty="0"/>
          </a:p>
        </p:txBody>
      </p:sp>
      <p:sp>
        <p:nvSpPr>
          <p:cNvPr id="30" name="Shape 26"/>
          <p:cNvSpPr/>
          <p:nvPr/>
        </p:nvSpPr>
        <p:spPr>
          <a:xfrm>
            <a:off x="8127797" y="1417320"/>
            <a:ext cx="3515258" cy="484632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7"/>
          <p:cNvSpPr/>
          <p:nvPr/>
        </p:nvSpPr>
        <p:spPr>
          <a:xfrm>
            <a:off x="8402117" y="1691640"/>
            <a:ext cx="685800" cy="685800"/>
          </a:xfrm>
          <a:prstGeom prst="ellipse">
            <a:avLst/>
          </a:prstGeom>
          <a:solidFill>
            <a:srgbClr val="46705A"/>
          </a:solidFill>
          <a:ln w="12700">
            <a:solidFill>
              <a:srgbClr val="46705A"/>
            </a:solidFill>
            <a:prstDash val="solid"/>
          </a:ln>
        </p:spPr>
      </p:sp>
      <p:pic>
        <p:nvPicPr>
          <p:cNvPr id="32" name="Image 2" descr="preencoded.png">    </p:cNvPr>
          <p:cNvPicPr>
            <a:picLocks noChangeAspect="1"/>
          </p:cNvPicPr>
          <p:nvPr/>
        </p:nvPicPr>
        <p:blipFill>
          <a:blip r:embed="rId3"/>
          <a:stretch>
            <a:fillRect/>
          </a:stretch>
        </p:blipFill>
        <p:spPr>
          <a:xfrm>
            <a:off x="8580425" y="1869948"/>
            <a:ext cx="329184" cy="329184"/>
          </a:xfrm>
          <a:prstGeom prst="rect">
            <a:avLst/>
          </a:prstGeom>
        </p:spPr>
      </p:pic>
      <p:sp>
        <p:nvSpPr>
          <p:cNvPr id="33" name="Text 28"/>
          <p:cNvSpPr txBox="1"/>
          <p:nvPr/>
        </p:nvSpPr>
        <p:spPr>
          <a:xfrm>
            <a:off x="9225077" y="1673352"/>
            <a:ext cx="2235098" cy="411480"/>
          </a:xfrm>
          <a:prstGeom prst="rect">
            <a:avLst/>
          </a:prstGeom>
          <a:noFill/>
          <a:ln/>
        </p:spPr>
        <p:txBody>
          <a:bodyPr wrap="square" lIns="0" tIns="0" rIns="0" bIns="0" rtlCol="0" anchor="t"/>
          <a:lstStyle/>
          <a:p>
            <a:pPr indent="0" marL="0">
              <a:buNone/>
            </a:pPr>
            <a:r>
              <a:rPr lang="en-US" sz="1800" b="1" dirty="0">
                <a:solidFill>
                  <a:srgbClr val="46705A"/>
                </a:solidFill>
                <a:latin typeface="Meiryo UI" pitchFamily="34" charset="0"/>
                <a:ea typeface="Meiryo UI" pitchFamily="34" charset="-122"/>
                <a:cs typeface="Meiryo UI" pitchFamily="34" charset="-120"/>
              </a:rPr>
              <a:t>TikTok／ショート</a:t>
            </a:r>
            <a:endParaRPr lang="en-US" sz="1800" dirty="0"/>
          </a:p>
        </p:txBody>
      </p:sp>
      <p:sp>
        <p:nvSpPr>
          <p:cNvPr id="34" name="Text 29"/>
          <p:cNvSpPr txBox="1"/>
          <p:nvPr/>
        </p:nvSpPr>
        <p:spPr>
          <a:xfrm>
            <a:off x="9225077" y="2075688"/>
            <a:ext cx="2235098" cy="320040"/>
          </a:xfrm>
          <a:prstGeom prst="rect">
            <a:avLst/>
          </a:prstGeom>
          <a:noFill/>
          <a:ln/>
        </p:spPr>
        <p:txBody>
          <a:bodyPr wrap="square" lIns="0" tIns="0" rIns="0" bIns="0" rtlCol="0" anchor="t"/>
          <a:lstStyle/>
          <a:p>
            <a:pPr indent="0" marL="0">
              <a:buNone/>
            </a:pPr>
            <a:r>
              <a:rPr lang="en-US" sz="1250" b="1" dirty="0">
                <a:solidFill>
                  <a:srgbClr val="B8652A"/>
                </a:solidFill>
                <a:latin typeface="Meiryo UI" pitchFamily="34" charset="0"/>
                <a:ea typeface="Meiryo UI" pitchFamily="34" charset="-122"/>
                <a:cs typeface="Meiryo UI" pitchFamily="34" charset="-120"/>
              </a:rPr>
              <a:t>役割：認知拡大（若い世代へ）</a:t>
            </a:r>
            <a:endParaRPr lang="en-US" sz="1250" dirty="0"/>
          </a:p>
        </p:txBody>
      </p:sp>
      <p:sp>
        <p:nvSpPr>
          <p:cNvPr id="35" name="Text 30"/>
          <p:cNvSpPr txBox="1"/>
          <p:nvPr/>
        </p:nvSpPr>
        <p:spPr>
          <a:xfrm>
            <a:off x="8402117" y="2606040"/>
            <a:ext cx="2966618" cy="256032"/>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動画の型</a:t>
            </a:r>
            <a:endParaRPr lang="en-US" sz="1050" dirty="0"/>
          </a:p>
        </p:txBody>
      </p:sp>
      <p:sp>
        <p:nvSpPr>
          <p:cNvPr id="36" name="Text 31"/>
          <p:cNvSpPr txBox="1"/>
          <p:nvPr/>
        </p:nvSpPr>
        <p:spPr>
          <a:xfrm>
            <a:off x="8402117" y="2862072"/>
            <a:ext cx="2966618" cy="320040"/>
          </a:xfrm>
          <a:prstGeom prst="rect">
            <a:avLst/>
          </a:prstGeom>
          <a:noFill/>
          <a:ln/>
        </p:spPr>
        <p:txBody>
          <a:bodyPr wrap="square" lIns="0" tIns="0" rIns="0" bIns="0" rtlCol="0" anchor="t"/>
          <a:lstStyle/>
          <a:p>
            <a:pPr indent="0" marL="0">
              <a:buNone/>
            </a:pPr>
            <a:r>
              <a:rPr lang="en-US" sz="1300" b="1" dirty="0">
                <a:solidFill>
                  <a:srgbClr val="2A322D"/>
                </a:solidFill>
                <a:latin typeface="Meiryo UI" pitchFamily="34" charset="0"/>
                <a:ea typeface="Meiryo UI" pitchFamily="34" charset="-122"/>
                <a:cs typeface="Meiryo UI" pitchFamily="34" charset="-120"/>
              </a:rPr>
              <a:t>縦型ショート（15〜60秒）</a:t>
            </a:r>
            <a:endParaRPr lang="en-US" sz="1300" dirty="0"/>
          </a:p>
        </p:txBody>
      </p:sp>
      <p:sp>
        <p:nvSpPr>
          <p:cNvPr id="37" name="Text 32"/>
          <p:cNvSpPr txBox="1"/>
          <p:nvPr/>
        </p:nvSpPr>
        <p:spPr>
          <a:xfrm>
            <a:off x="8402117" y="3291840"/>
            <a:ext cx="2966618" cy="256032"/>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主な視聴者</a:t>
            </a:r>
            <a:endParaRPr lang="en-US" sz="1050" dirty="0"/>
          </a:p>
        </p:txBody>
      </p:sp>
      <p:sp>
        <p:nvSpPr>
          <p:cNvPr id="38" name="Text 33"/>
          <p:cNvSpPr txBox="1"/>
          <p:nvPr/>
        </p:nvSpPr>
        <p:spPr>
          <a:xfrm>
            <a:off x="8402117" y="3547872"/>
            <a:ext cx="2966618" cy="54864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PC作業中心の事業所しか知らない若い世代</a:t>
            </a:r>
            <a:endParaRPr lang="en-US" sz="1200" dirty="0"/>
          </a:p>
        </p:txBody>
      </p:sp>
      <p:sp>
        <p:nvSpPr>
          <p:cNvPr id="39" name="Shape 34"/>
          <p:cNvSpPr/>
          <p:nvPr/>
        </p:nvSpPr>
        <p:spPr>
          <a:xfrm>
            <a:off x="8310677" y="4206240"/>
            <a:ext cx="3149498" cy="1874520"/>
          </a:xfrm>
          <a:prstGeom prst="roundRect">
            <a:avLst>
              <a:gd name="adj" fmla="val 5854"/>
            </a:avLst>
          </a:prstGeom>
          <a:solidFill>
            <a:srgbClr val="EDF3EF"/>
          </a:solidFill>
          <a:ln w="12700">
            <a:solidFill>
              <a:srgbClr val="EDF3EF"/>
            </a:solidFill>
            <a:prstDash val="solid"/>
          </a:ln>
        </p:spPr>
      </p:sp>
      <p:sp>
        <p:nvSpPr>
          <p:cNvPr id="40" name="Text 35"/>
          <p:cNvSpPr txBox="1"/>
          <p:nvPr/>
        </p:nvSpPr>
        <p:spPr>
          <a:xfrm>
            <a:off x="8493557" y="4297680"/>
            <a:ext cx="2783738" cy="27432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コンテンツ例</a:t>
            </a:r>
            <a:endParaRPr lang="en-US" sz="1050" dirty="0"/>
          </a:p>
        </p:txBody>
      </p:sp>
      <p:sp>
        <p:nvSpPr>
          <p:cNvPr id="41" name="Text 36"/>
          <p:cNvSpPr txBox="1"/>
          <p:nvPr/>
        </p:nvSpPr>
        <p:spPr>
          <a:xfrm>
            <a:off x="8493557" y="4572000"/>
            <a:ext cx="2783738" cy="14173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「PCが苦手」でも大丈夫な場所あります</a:t>
            </a:r>
            <a:endParaRPr lang="en-US" sz="1150" dirty="0"/>
          </a:p>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手作業が好きな人に向いている通い先</a:t>
            </a:r>
            <a:endParaRPr lang="en-US" sz="1150" dirty="0"/>
          </a:p>
          <a:p>
            <a:pPr marL="342900" indent="-342900">
              <a:spcAft>
                <a:spcPts val="400"/>
              </a:spcAft>
              <a:buSzPct val="100000"/>
              <a:buChar char="•"/>
            </a:pPr>
            <a:r>
              <a:rPr lang="en-US" sz="1150" dirty="0">
                <a:solidFill>
                  <a:srgbClr val="2A322D"/>
                </a:solidFill>
                <a:latin typeface="Meiryo UI" pitchFamily="34" charset="0"/>
                <a:ea typeface="Meiryo UI" pitchFamily="34" charset="-122"/>
                <a:cs typeface="Meiryo UI" pitchFamily="34" charset="-120"/>
              </a:rPr>
              <a:t>スタッフが答える1分Q&amp;A</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動画ラフイメージの提示方針（3つの型）</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12</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3515258" cy="1920240"/>
          </a:xfrm>
          <a:prstGeom prst="roundRect">
            <a:avLst>
              <a:gd name="adj" fmla="val 5714"/>
            </a:avLst>
          </a:prstGeom>
          <a:solidFill>
            <a:srgbClr val="EDF3EF"/>
          </a:solidFill>
          <a:ln w="12700">
            <a:solidFill>
              <a:srgbClr val="EDF3EF"/>
            </a:solidFill>
            <a:prstDash val="solid"/>
          </a:ln>
        </p:spPr>
      </p:sp>
      <p:pic>
        <p:nvPicPr>
          <p:cNvPr id="7" name="Image 0" descr="/tmp/claude-0/-home-user-crow-dunit/6eea73a9-a861-533a-875b-45d20cf557b2/scratchpad/heart/thumbs/youtube.png">    </p:cNvPr>
          <p:cNvPicPr>
            <a:picLocks noChangeAspect="1"/>
          </p:cNvPicPr>
          <p:nvPr/>
        </p:nvPicPr>
        <p:blipFill>
          <a:blip r:embed="rId1"/>
          <a:stretch>
            <a:fillRect/>
          </a:stretch>
        </p:blipFill>
        <p:spPr>
          <a:xfrm>
            <a:off x="761949" y="1463040"/>
            <a:ext cx="3088640" cy="1737360"/>
          </a:xfrm>
          <a:prstGeom prst="rect">
            <a:avLst/>
          </a:prstGeom>
          <a:effectLst>
            <a:outerShdw sx="100000" sy="100000" kx="0" ky="0" algn="bl" rotWithShape="0" blurRad="76200" dist="25400" dir="5400000">
              <a:srgbClr val="000000">
                <a:alpha val="12000"/>
              </a:srgbClr>
            </a:outerShdw>
          </a:effectLst>
        </p:spPr>
      </p:pic>
      <p:sp>
        <p:nvSpPr>
          <p:cNvPr id="8" name="Text 5"/>
          <p:cNvSpPr txBox="1"/>
          <p:nvPr/>
        </p:nvSpPr>
        <p:spPr>
          <a:xfrm>
            <a:off x="548640" y="3429000"/>
            <a:ext cx="3515258" cy="36576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① 長尺解説型</a:t>
            </a:r>
            <a:endParaRPr lang="en-US" sz="1600" dirty="0"/>
          </a:p>
        </p:txBody>
      </p:sp>
      <p:sp>
        <p:nvSpPr>
          <p:cNvPr id="9" name="Text 6"/>
          <p:cNvSpPr txBox="1"/>
          <p:nvPr/>
        </p:nvSpPr>
        <p:spPr>
          <a:xfrm>
            <a:off x="2875178" y="3474720"/>
            <a:ext cx="1188720" cy="274320"/>
          </a:xfrm>
          <a:prstGeom prst="rect">
            <a:avLst/>
          </a:prstGeom>
          <a:noFill/>
          <a:ln/>
        </p:spPr>
        <p:txBody>
          <a:bodyPr wrap="square" lIns="0" tIns="0" rIns="0" bIns="0" rtlCol="0" anchor="t"/>
          <a:lstStyle/>
          <a:p>
            <a:pPr algn="r" indent="0" marL="0">
              <a:buNone/>
            </a:pPr>
            <a:r>
              <a:rPr lang="en-US" sz="1100" b="1" dirty="0">
                <a:solidFill>
                  <a:srgbClr val="B8652A"/>
                </a:solidFill>
                <a:latin typeface="Meiryo UI" pitchFamily="34" charset="0"/>
                <a:ea typeface="Meiryo UI" pitchFamily="34" charset="-122"/>
                <a:cs typeface="Meiryo UI" pitchFamily="34" charset="-120"/>
              </a:rPr>
              <a:t>尺：5〜10分</a:t>
            </a:r>
            <a:endParaRPr lang="en-US" sz="1100" dirty="0"/>
          </a:p>
        </p:txBody>
      </p:sp>
      <p:sp>
        <p:nvSpPr>
          <p:cNvPr id="10" name="Text 7"/>
          <p:cNvSpPr txBox="1"/>
          <p:nvPr/>
        </p:nvSpPr>
        <p:spPr>
          <a:xfrm>
            <a:off x="548640" y="3776472"/>
            <a:ext cx="351525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YouTube／HP掲載／見学前の送付用</a:t>
            </a:r>
            <a:endParaRPr lang="en-US" sz="1100" dirty="0"/>
          </a:p>
        </p:txBody>
      </p:sp>
      <p:sp>
        <p:nvSpPr>
          <p:cNvPr id="11" name="Text 8"/>
          <p:cNvSpPr txBox="1"/>
          <p:nvPr/>
        </p:nvSpPr>
        <p:spPr>
          <a:xfrm>
            <a:off x="548640"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よくある悩みの提示</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創働舎ってどんな所？</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1日の流れと作業の内容</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大切にしている支援の考え方</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見学・利用までの流れ</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ご相談のご案内</a:t>
            </a:r>
            <a:endParaRPr lang="en-US" sz="1100" dirty="0"/>
          </a:p>
        </p:txBody>
      </p:sp>
      <p:sp>
        <p:nvSpPr>
          <p:cNvPr id="12" name="Text 9"/>
          <p:cNvSpPr txBox="1"/>
          <p:nvPr/>
        </p:nvSpPr>
        <p:spPr>
          <a:xfrm>
            <a:off x="548640" y="5486400"/>
            <a:ext cx="3515258" cy="777240"/>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トーン：</a:t>
            </a:r>
            <a:pPr indent="0" marL="0">
              <a:buNone/>
            </a:pPr>
            <a:r>
              <a:rPr lang="en-US" sz="1100" dirty="0">
                <a:solidFill>
                  <a:srgbClr val="2A322D"/>
                </a:solidFill>
                <a:latin typeface="Meiryo UI" pitchFamily="34" charset="0"/>
                <a:ea typeface="Meiryo UI" pitchFamily="34" charset="-122"/>
                <a:cs typeface="Meiryo UI" pitchFamily="34" charset="-120"/>
              </a:rPr>
              <a:t>安心・誠実。専門用語を避け、スタッフの言葉で語る</a:t>
            </a:r>
            <a:endParaRPr lang="en-US" sz="1100" dirty="0"/>
          </a:p>
          <a:p>
            <a:pPr indent="0" marL="0">
              <a:buNone/>
            </a:pPr>
            <a:r>
              <a:rPr lang="en-US" sz="1100" b="1" dirty="0">
                <a:solidFill>
                  <a:srgbClr val="B8652A"/>
                </a:solidFill>
                <a:latin typeface="Meiryo UI" pitchFamily="34" charset="0"/>
                <a:ea typeface="Meiryo UI" pitchFamily="34" charset="-122"/>
                <a:cs typeface="Meiryo UI" pitchFamily="34" charset="-120"/>
              </a:rPr>
              <a:t>ゴール：</a:t>
            </a:r>
            <a:pPr indent="0" marL="0">
              <a:buNone/>
            </a:pPr>
            <a:r>
              <a:rPr lang="en-US" sz="1100" dirty="0">
                <a:solidFill>
                  <a:srgbClr val="2A322D"/>
                </a:solidFill>
                <a:latin typeface="Meiryo UI" pitchFamily="34" charset="0"/>
                <a:ea typeface="Meiryo UI" pitchFamily="34" charset="-122"/>
                <a:cs typeface="Meiryo UI" pitchFamily="34" charset="-120"/>
              </a:rPr>
              <a:t>「ここなら通えそう」と感じ、見学を申し込む</a:t>
            </a:r>
            <a:endParaRPr lang="en-US" sz="1100" dirty="0"/>
          </a:p>
        </p:txBody>
      </p:sp>
      <p:sp>
        <p:nvSpPr>
          <p:cNvPr id="13" name="Shape 10"/>
          <p:cNvSpPr/>
          <p:nvPr/>
        </p:nvSpPr>
        <p:spPr>
          <a:xfrm>
            <a:off x="4338218" y="1371600"/>
            <a:ext cx="3515258" cy="1920240"/>
          </a:xfrm>
          <a:prstGeom prst="roundRect">
            <a:avLst>
              <a:gd name="adj" fmla="val 5714"/>
            </a:avLst>
          </a:prstGeom>
          <a:solidFill>
            <a:srgbClr val="EDF3EF"/>
          </a:solidFill>
          <a:ln w="12700">
            <a:solidFill>
              <a:srgbClr val="EDF3EF"/>
            </a:solidFill>
            <a:prstDash val="solid"/>
          </a:ln>
        </p:spPr>
      </p:sp>
      <p:pic>
        <p:nvPicPr>
          <p:cNvPr id="14" name="Image 1" descr="/tmp/claude-0/-home-user-crow-dunit/6eea73a9-a861-533a-875b-45d20cf557b2/scratchpad/heart/thumbs/instagram.png">    </p:cNvPr>
          <p:cNvPicPr>
            <a:picLocks noChangeAspect="1"/>
          </p:cNvPicPr>
          <p:nvPr/>
        </p:nvPicPr>
        <p:blipFill>
          <a:blip r:embed="rId2"/>
          <a:stretch>
            <a:fillRect/>
          </a:stretch>
        </p:blipFill>
        <p:spPr>
          <a:xfrm>
            <a:off x="5494454" y="1463040"/>
            <a:ext cx="1202788" cy="1737360"/>
          </a:xfrm>
          <a:prstGeom prst="rect">
            <a:avLst/>
          </a:prstGeom>
          <a:effectLst>
            <a:outerShdw sx="100000" sy="100000" kx="0" ky="0" algn="bl" rotWithShape="0" blurRad="76200" dist="25400" dir="5400000">
              <a:srgbClr val="000000">
                <a:alpha val="12000"/>
              </a:srgbClr>
            </a:outerShdw>
          </a:effectLst>
        </p:spPr>
      </p:pic>
      <p:sp>
        <p:nvSpPr>
          <p:cNvPr id="15" name="Text 11"/>
          <p:cNvSpPr txBox="1"/>
          <p:nvPr/>
        </p:nvSpPr>
        <p:spPr>
          <a:xfrm>
            <a:off x="4338218" y="3429000"/>
            <a:ext cx="3515258" cy="36576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② デザイン重視型</a:t>
            </a:r>
            <a:endParaRPr lang="en-US" sz="1600" dirty="0"/>
          </a:p>
        </p:txBody>
      </p:sp>
      <p:sp>
        <p:nvSpPr>
          <p:cNvPr id="16" name="Text 12"/>
          <p:cNvSpPr txBox="1"/>
          <p:nvPr/>
        </p:nvSpPr>
        <p:spPr>
          <a:xfrm>
            <a:off x="6664757" y="3474720"/>
            <a:ext cx="1188720" cy="274320"/>
          </a:xfrm>
          <a:prstGeom prst="rect">
            <a:avLst/>
          </a:prstGeom>
          <a:noFill/>
          <a:ln/>
        </p:spPr>
        <p:txBody>
          <a:bodyPr wrap="square" lIns="0" tIns="0" rIns="0" bIns="0" rtlCol="0" anchor="t"/>
          <a:lstStyle/>
          <a:p>
            <a:pPr algn="r" indent="0" marL="0">
              <a:buNone/>
            </a:pPr>
            <a:r>
              <a:rPr lang="en-US" sz="1100" b="1" dirty="0">
                <a:solidFill>
                  <a:srgbClr val="B8652A"/>
                </a:solidFill>
                <a:latin typeface="Meiryo UI" pitchFamily="34" charset="0"/>
                <a:ea typeface="Meiryo UI" pitchFamily="34" charset="-122"/>
                <a:cs typeface="Meiryo UI" pitchFamily="34" charset="-120"/>
              </a:rPr>
              <a:t>尺：30〜90秒</a:t>
            </a:r>
            <a:endParaRPr lang="en-US" sz="1100" dirty="0"/>
          </a:p>
        </p:txBody>
      </p:sp>
      <p:sp>
        <p:nvSpPr>
          <p:cNvPr id="17" name="Text 13"/>
          <p:cNvSpPr txBox="1"/>
          <p:nvPr/>
        </p:nvSpPr>
        <p:spPr>
          <a:xfrm>
            <a:off x="4338218" y="3776472"/>
            <a:ext cx="351525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Instagram／HP／ハンドブックのQR</a:t>
            </a:r>
            <a:endParaRPr lang="en-US" sz="1100" dirty="0"/>
          </a:p>
        </p:txBody>
      </p:sp>
      <p:sp>
        <p:nvSpPr>
          <p:cNvPr id="18" name="Text 14"/>
          <p:cNvSpPr txBox="1"/>
          <p:nvPr/>
        </p:nvSpPr>
        <p:spPr>
          <a:xfrm>
            <a:off x="4338218"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共感の一文「ここは、あなたの居場所になる。」</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施設の特長3つ</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施設長の想い</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見学・ご相談の案内</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プロフィールへ誘導</a:t>
            </a:r>
            <a:endParaRPr lang="en-US" sz="1100" dirty="0"/>
          </a:p>
        </p:txBody>
      </p:sp>
      <p:sp>
        <p:nvSpPr>
          <p:cNvPr id="19" name="Text 15"/>
          <p:cNvSpPr txBox="1"/>
          <p:nvPr/>
        </p:nvSpPr>
        <p:spPr>
          <a:xfrm>
            <a:off x="4338218" y="5486400"/>
            <a:ext cx="3515258" cy="777240"/>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トーン：</a:t>
            </a:r>
            <a:pPr indent="0" marL="0">
              <a:buNone/>
            </a:pPr>
            <a:r>
              <a:rPr lang="en-US" sz="1100" dirty="0">
                <a:solidFill>
                  <a:srgbClr val="2A322D"/>
                </a:solidFill>
                <a:latin typeface="Meiryo UI" pitchFamily="34" charset="0"/>
                <a:ea typeface="Meiryo UI" pitchFamily="34" charset="-122"/>
                <a:cs typeface="Meiryo UI" pitchFamily="34" charset="-120"/>
              </a:rPr>
              <a:t>やさしさ・あたたかさ。利用者の顔は出さない</a:t>
            </a:r>
            <a:endParaRPr lang="en-US" sz="1100" dirty="0"/>
          </a:p>
          <a:p>
            <a:pPr indent="0" marL="0">
              <a:buNone/>
            </a:pPr>
            <a:r>
              <a:rPr lang="en-US" sz="1100" b="1" dirty="0">
                <a:solidFill>
                  <a:srgbClr val="B8652A"/>
                </a:solidFill>
                <a:latin typeface="Meiryo UI" pitchFamily="34" charset="0"/>
                <a:ea typeface="Meiryo UI" pitchFamily="34" charset="-122"/>
                <a:cs typeface="Meiryo UI" pitchFamily="34" charset="-120"/>
              </a:rPr>
              <a:t>ゴール：</a:t>
            </a:r>
            <a:pPr indent="0" marL="0">
              <a:buNone/>
            </a:pPr>
            <a:r>
              <a:rPr lang="en-US" sz="1100" dirty="0">
                <a:solidFill>
                  <a:srgbClr val="2A322D"/>
                </a:solidFill>
                <a:latin typeface="Meiryo UI" pitchFamily="34" charset="0"/>
                <a:ea typeface="Meiryo UI" pitchFamily="34" charset="-122"/>
                <a:cs typeface="Meiryo UI" pitchFamily="34" charset="-120"/>
              </a:rPr>
              <a:t>保存・フォローされ、見学の相談につながる</a:t>
            </a:r>
            <a:endParaRPr lang="en-US" sz="1100" dirty="0"/>
          </a:p>
        </p:txBody>
      </p:sp>
      <p:sp>
        <p:nvSpPr>
          <p:cNvPr id="20" name="Shape 16"/>
          <p:cNvSpPr/>
          <p:nvPr/>
        </p:nvSpPr>
        <p:spPr>
          <a:xfrm>
            <a:off x="8127797" y="1371600"/>
            <a:ext cx="3515258" cy="1920240"/>
          </a:xfrm>
          <a:prstGeom prst="roundRect">
            <a:avLst>
              <a:gd name="adj" fmla="val 5714"/>
            </a:avLst>
          </a:prstGeom>
          <a:solidFill>
            <a:srgbClr val="EDF3EF"/>
          </a:solidFill>
          <a:ln w="12700">
            <a:solidFill>
              <a:srgbClr val="EDF3EF"/>
            </a:solidFill>
            <a:prstDash val="solid"/>
          </a:ln>
        </p:spPr>
      </p:sp>
      <p:pic>
        <p:nvPicPr>
          <p:cNvPr id="21" name="Image 2" descr="/tmp/claude-0/-home-user-crow-dunit/6eea73a9-a861-533a-875b-45d20cf557b2/scratchpad/heart/thumbs/tiktok.png">    </p:cNvPr>
          <p:cNvPicPr>
            <a:picLocks noChangeAspect="1"/>
          </p:cNvPicPr>
          <p:nvPr/>
        </p:nvPicPr>
        <p:blipFill>
          <a:blip r:embed="rId3"/>
          <a:stretch>
            <a:fillRect/>
          </a:stretch>
        </p:blipFill>
        <p:spPr>
          <a:xfrm>
            <a:off x="9396794" y="1463040"/>
            <a:ext cx="977265" cy="1737360"/>
          </a:xfrm>
          <a:prstGeom prst="rect">
            <a:avLst/>
          </a:prstGeom>
          <a:effectLst>
            <a:outerShdw sx="100000" sy="100000" kx="0" ky="0" algn="bl" rotWithShape="0" blurRad="76200" dist="25400" dir="5400000">
              <a:srgbClr val="000000">
                <a:alpha val="12000"/>
              </a:srgbClr>
            </a:outerShdw>
          </a:effectLst>
        </p:spPr>
      </p:pic>
      <p:sp>
        <p:nvSpPr>
          <p:cNvPr id="22" name="Text 17"/>
          <p:cNvSpPr txBox="1"/>
          <p:nvPr/>
        </p:nvSpPr>
        <p:spPr>
          <a:xfrm>
            <a:off x="8127797" y="3429000"/>
            <a:ext cx="3515258" cy="36576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③ 縦型ショート型</a:t>
            </a:r>
            <a:endParaRPr lang="en-US" sz="1600" dirty="0"/>
          </a:p>
        </p:txBody>
      </p:sp>
      <p:sp>
        <p:nvSpPr>
          <p:cNvPr id="23" name="Text 18"/>
          <p:cNvSpPr txBox="1"/>
          <p:nvPr/>
        </p:nvSpPr>
        <p:spPr>
          <a:xfrm>
            <a:off x="10454335" y="3474720"/>
            <a:ext cx="1188720" cy="274320"/>
          </a:xfrm>
          <a:prstGeom prst="rect">
            <a:avLst/>
          </a:prstGeom>
          <a:noFill/>
          <a:ln/>
        </p:spPr>
        <p:txBody>
          <a:bodyPr wrap="square" lIns="0" tIns="0" rIns="0" bIns="0" rtlCol="0" anchor="t"/>
          <a:lstStyle/>
          <a:p>
            <a:pPr algn="r" indent="0" marL="0">
              <a:buNone/>
            </a:pPr>
            <a:r>
              <a:rPr lang="en-US" sz="1100" b="1" dirty="0">
                <a:solidFill>
                  <a:srgbClr val="B8652A"/>
                </a:solidFill>
                <a:latin typeface="Meiryo UI" pitchFamily="34" charset="0"/>
                <a:ea typeface="Meiryo UI" pitchFamily="34" charset="-122"/>
                <a:cs typeface="Meiryo UI" pitchFamily="34" charset="-120"/>
              </a:rPr>
              <a:t>尺：15〜60秒</a:t>
            </a:r>
            <a:endParaRPr lang="en-US" sz="1100" dirty="0"/>
          </a:p>
        </p:txBody>
      </p:sp>
      <p:sp>
        <p:nvSpPr>
          <p:cNvPr id="24" name="Text 19"/>
          <p:cNvSpPr txBox="1"/>
          <p:nvPr/>
        </p:nvSpPr>
        <p:spPr>
          <a:xfrm>
            <a:off x="8127797" y="3776472"/>
            <a:ext cx="351525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TikTok／YouTubeショート／リール</a:t>
            </a:r>
            <a:endParaRPr lang="en-US" sz="1100" dirty="0"/>
          </a:p>
        </p:txBody>
      </p:sp>
      <p:sp>
        <p:nvSpPr>
          <p:cNvPr id="25" name="Text 20"/>
          <p:cNvSpPr txBox="1"/>
          <p:nvPr/>
        </p:nvSpPr>
        <p:spPr>
          <a:xfrm>
            <a:off x="8127797" y="4114800"/>
            <a:ext cx="3515258" cy="1325880"/>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フック「PCが苦手でも大丈夫な場所あります」</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答え（手作業の良さをひと言で）</a:t>
            </a:r>
            <a:endParaRPr lang="en-US" sz="1100" dirty="0"/>
          </a:p>
          <a:p>
            <a:pPr marL="342900" indent="-342900">
              <a:spcAft>
                <a:spcPts val="100"/>
              </a:spcAft>
              <a:buSzPct val="100000"/>
              <a:buFont typeface="+mj-lt"/>
              <a:buAutoNum type="arabicPeriod" startAt="1"/>
            </a:pPr>
            <a:r>
              <a:rPr lang="en-US" sz="1100" dirty="0">
                <a:solidFill>
                  <a:srgbClr val="2A322D"/>
                </a:solidFill>
                <a:latin typeface="Meiryo UI" pitchFamily="34" charset="0"/>
                <a:ea typeface="Meiryo UI" pitchFamily="34" charset="-122"/>
                <a:cs typeface="Meiryo UI" pitchFamily="34" charset="-120"/>
              </a:rPr>
              <a:t>続きはプロフィールへ</a:t>
            </a:r>
            <a:endParaRPr lang="en-US" sz="1100" dirty="0"/>
          </a:p>
        </p:txBody>
      </p:sp>
      <p:sp>
        <p:nvSpPr>
          <p:cNvPr id="26" name="Text 21"/>
          <p:cNvSpPr txBox="1"/>
          <p:nvPr/>
        </p:nvSpPr>
        <p:spPr>
          <a:xfrm>
            <a:off x="8127797" y="5486400"/>
            <a:ext cx="3515258" cy="777240"/>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トーン：</a:t>
            </a:r>
            <a:pPr indent="0" marL="0">
              <a:buNone/>
            </a:pPr>
            <a:r>
              <a:rPr lang="en-US" sz="1100" dirty="0">
                <a:solidFill>
                  <a:srgbClr val="2A322D"/>
                </a:solidFill>
                <a:latin typeface="Meiryo UI" pitchFamily="34" charset="0"/>
                <a:ea typeface="Meiryo UI" pitchFamily="34" charset="-122"/>
                <a:cs typeface="Meiryo UI" pitchFamily="34" charset="-120"/>
              </a:rPr>
              <a:t>親しみ・安心。不安をあおらない</a:t>
            </a:r>
            <a:endParaRPr lang="en-US" sz="1100" dirty="0"/>
          </a:p>
          <a:p>
            <a:pPr indent="0" marL="0">
              <a:buNone/>
            </a:pPr>
            <a:r>
              <a:rPr lang="en-US" sz="1100" b="1" dirty="0">
                <a:solidFill>
                  <a:srgbClr val="B8652A"/>
                </a:solidFill>
                <a:latin typeface="Meiryo UI" pitchFamily="34" charset="0"/>
                <a:ea typeface="Meiryo UI" pitchFamily="34" charset="-122"/>
                <a:cs typeface="Meiryo UI" pitchFamily="34" charset="-120"/>
              </a:rPr>
              <a:t>ゴール：</a:t>
            </a:r>
            <a:pPr indent="0" marL="0">
              <a:buNone/>
            </a:pPr>
            <a:r>
              <a:rPr lang="en-US" sz="1100" dirty="0">
                <a:solidFill>
                  <a:srgbClr val="2A322D"/>
                </a:solidFill>
                <a:latin typeface="Meiryo UI" pitchFamily="34" charset="0"/>
                <a:ea typeface="Meiryo UI" pitchFamily="34" charset="-122"/>
                <a:cs typeface="Meiryo UI" pitchFamily="34" charset="-120"/>
              </a:rPr>
              <a:t>若い世代の認知拡大と、長尺動画・HPへの送客</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サムネイル・画面イメージ（ラフ案）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無料3本のうち、プル施策で活用する動画の“見え方”のイメージです。媒体ごとに、最初の1秒で伝えることを変えています。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13</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7" name="Image 0" descr="/tmp/claude-0/-home-user-crow-dunit/6eea73a9-a861-533a-875b-45d20cf557b2/scratchpad/heart/thumbs/youtube.png">    </p:cNvPr>
          <p:cNvPicPr>
            <a:picLocks noChangeAspect="1"/>
          </p:cNvPicPr>
          <p:nvPr/>
        </p:nvPicPr>
        <p:blipFill>
          <a:blip r:embed="rId1"/>
          <a:stretch>
            <a:fillRect/>
          </a:stretch>
        </p:blipFill>
        <p:spPr>
          <a:xfrm>
            <a:off x="548640" y="1783080"/>
            <a:ext cx="4846320" cy="2726055"/>
          </a:xfrm>
          <a:prstGeom prst="rect">
            <a:avLst/>
          </a:prstGeom>
          <a:effectLst>
            <a:outerShdw sx="100000" sy="100000" kx="0" ky="0" algn="bl" rotWithShape="0" blurRad="76200" dist="25400" dir="5400000">
              <a:srgbClr val="000000">
                <a:alpha val="12000"/>
              </a:srgbClr>
            </a:outerShdw>
          </a:effectLst>
        </p:spPr>
      </p:pic>
      <p:pic>
        <p:nvPicPr>
          <p:cNvPr id="8" name="Image 1" descr="/tmp/claude-0/-home-user-crow-dunit/6eea73a9-a861-533a-875b-45d20cf557b2/scratchpad/heart/thumbs/instagram.png">    </p:cNvPr>
          <p:cNvPicPr>
            <a:picLocks noChangeAspect="1"/>
          </p:cNvPicPr>
          <p:nvPr/>
        </p:nvPicPr>
        <p:blipFill>
          <a:blip r:embed="rId2"/>
          <a:stretch>
            <a:fillRect/>
          </a:stretch>
        </p:blipFill>
        <p:spPr>
          <a:xfrm>
            <a:off x="5897880" y="1783080"/>
            <a:ext cx="2627142" cy="3794760"/>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5715000" y="5650992"/>
            <a:ext cx="2992902" cy="274320"/>
          </a:xfrm>
          <a:prstGeom prst="rect">
            <a:avLst/>
          </a:prstGeom>
          <a:noFill/>
          <a:ln/>
        </p:spPr>
        <p:txBody>
          <a:bodyPr wrap="square" lIns="0" tIns="0" rIns="0" bIns="0" rtlCol="0" anchor="t"/>
          <a:lstStyle/>
          <a:p>
            <a:pPr algn="ctr" indent="0" marL="0">
              <a:buNone/>
            </a:pPr>
            <a:r>
              <a:rPr lang="en-US" sz="1100" b="1" dirty="0">
                <a:solidFill>
                  <a:srgbClr val="46705A"/>
                </a:solidFill>
                <a:latin typeface="Meiryo UI" pitchFamily="34" charset="0"/>
                <a:ea typeface="Meiryo UI" pitchFamily="34" charset="-122"/>
                <a:cs typeface="Meiryo UI" pitchFamily="34" charset="-120"/>
              </a:rPr>
              <a:t>Instagram｜フィード投稿</a:t>
            </a:r>
            <a:endParaRPr lang="en-US" sz="1100" dirty="0"/>
          </a:p>
        </p:txBody>
      </p:sp>
      <p:pic>
        <p:nvPicPr>
          <p:cNvPr id="10" name="Image 2" descr="/tmp/claude-0/-home-user-crow-dunit/6eea73a9-a861-533a-875b-45d20cf557b2/scratchpad/heart/thumbs/tiktok.png">    </p:cNvPr>
          <p:cNvPicPr>
            <a:picLocks noChangeAspect="1"/>
          </p:cNvPicPr>
          <p:nvPr/>
        </p:nvPicPr>
        <p:blipFill>
          <a:blip r:embed="rId3"/>
          <a:stretch>
            <a:fillRect/>
          </a:stretch>
        </p:blipFill>
        <p:spPr>
          <a:xfrm>
            <a:off x="9052560" y="1783080"/>
            <a:ext cx="2134553" cy="3794760"/>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8869680" y="5650992"/>
            <a:ext cx="2500313" cy="274320"/>
          </a:xfrm>
          <a:prstGeom prst="rect">
            <a:avLst/>
          </a:prstGeom>
          <a:noFill/>
          <a:ln/>
        </p:spPr>
        <p:txBody>
          <a:bodyPr wrap="square" lIns="0" tIns="0" rIns="0" bIns="0" rtlCol="0" anchor="t"/>
          <a:lstStyle/>
          <a:p>
            <a:pPr algn="ctr" indent="0" marL="0">
              <a:buNone/>
            </a:pPr>
            <a:r>
              <a:rPr lang="en-US" sz="1100" b="1" dirty="0">
                <a:solidFill>
                  <a:srgbClr val="46705A"/>
                </a:solidFill>
                <a:latin typeface="Meiryo UI" pitchFamily="34" charset="0"/>
                <a:ea typeface="Meiryo UI" pitchFamily="34" charset="-122"/>
                <a:cs typeface="Meiryo UI" pitchFamily="34" charset="-120"/>
              </a:rPr>
              <a:t>TikTok／ショート｜冒頭画面</a:t>
            </a:r>
            <a:endParaRPr lang="en-US" sz="1100" dirty="0"/>
          </a:p>
        </p:txBody>
      </p:sp>
      <p:sp>
        <p:nvSpPr>
          <p:cNvPr id="12" name="Shape 7"/>
          <p:cNvSpPr/>
          <p:nvPr/>
        </p:nvSpPr>
        <p:spPr>
          <a:xfrm>
            <a:off x="548640" y="4681728"/>
            <a:ext cx="4846320" cy="365760"/>
          </a:xfrm>
          <a:prstGeom prst="roundRect">
            <a:avLst>
              <a:gd name="adj" fmla="val 30000"/>
            </a:avLst>
          </a:prstGeom>
          <a:solidFill>
            <a:srgbClr val="EDF3EF"/>
          </a:solidFill>
          <a:ln w="12700">
            <a:solidFill>
              <a:srgbClr val="EDF3EF"/>
            </a:solidFill>
            <a:prstDash val="solid"/>
          </a:ln>
        </p:spPr>
      </p:sp>
      <p:sp>
        <p:nvSpPr>
          <p:cNvPr id="13" name="Text 8"/>
          <p:cNvSpPr txBox="1"/>
          <p:nvPr/>
        </p:nvSpPr>
        <p:spPr>
          <a:xfrm>
            <a:off x="658368" y="4681728"/>
            <a:ext cx="960120" cy="365760"/>
          </a:xfrm>
          <a:prstGeom prst="rect">
            <a:avLst/>
          </a:prstGeom>
          <a:noFill/>
          <a:ln/>
        </p:spPr>
        <p:txBody>
          <a:bodyPr wrap="square" lIns="0" tIns="0" rIns="0" bIns="0" rtlCol="0" anchor="ctr"/>
          <a:lstStyle/>
          <a:p>
            <a:pPr indent="0" marL="0">
              <a:buNone/>
            </a:pPr>
            <a:r>
              <a:rPr lang="en-US" sz="1050" b="1" dirty="0">
                <a:solidFill>
                  <a:srgbClr val="B8652A"/>
                </a:solidFill>
                <a:latin typeface="Meiryo UI" pitchFamily="34" charset="0"/>
                <a:ea typeface="Meiryo UI" pitchFamily="34" charset="-122"/>
                <a:cs typeface="Meiryo UI" pitchFamily="34" charset="-120"/>
              </a:rPr>
              <a:t>YouTube</a:t>
            </a:r>
            <a:endParaRPr lang="en-US" sz="1050" dirty="0"/>
          </a:p>
        </p:txBody>
      </p:sp>
      <p:sp>
        <p:nvSpPr>
          <p:cNvPr id="14" name="Text 9"/>
          <p:cNvSpPr txBox="1"/>
          <p:nvPr/>
        </p:nvSpPr>
        <p:spPr>
          <a:xfrm>
            <a:off x="1600200" y="4681728"/>
            <a:ext cx="3749040" cy="365760"/>
          </a:xfrm>
          <a:prstGeom prst="rect">
            <a:avLst/>
          </a:prstGeom>
          <a:noFill/>
          <a:ln/>
        </p:spPr>
        <p:txBody>
          <a:bodyPr wrap="square" lIns="0" tIns="0" rIns="0" bIns="0" rtlCol="0" anchor="ctr"/>
          <a:lstStyle/>
          <a:p>
            <a:pPr indent="0" marL="0">
              <a:buNone/>
            </a:pPr>
            <a:r>
              <a:rPr lang="en-US" sz="950" dirty="0">
                <a:solidFill>
                  <a:srgbClr val="2A322D"/>
                </a:solidFill>
                <a:latin typeface="Meiryo UI" pitchFamily="34" charset="0"/>
                <a:ea typeface="Meiryo UI" pitchFamily="34" charset="-122"/>
                <a:cs typeface="Meiryo UI" pitchFamily="34" charset="-120"/>
              </a:rPr>
              <a:t>「日中の居場所」という探し方の言葉を大きく。対象（ご本人・ご家族・支援者）を明示</a:t>
            </a:r>
            <a:endParaRPr lang="en-US" sz="950" dirty="0"/>
          </a:p>
        </p:txBody>
      </p:sp>
      <p:sp>
        <p:nvSpPr>
          <p:cNvPr id="15" name="Shape 10"/>
          <p:cNvSpPr/>
          <p:nvPr/>
        </p:nvSpPr>
        <p:spPr>
          <a:xfrm>
            <a:off x="548640" y="5111496"/>
            <a:ext cx="4846320" cy="365760"/>
          </a:xfrm>
          <a:prstGeom prst="roundRect">
            <a:avLst>
              <a:gd name="adj" fmla="val 30000"/>
            </a:avLst>
          </a:prstGeom>
          <a:solidFill>
            <a:srgbClr val="F6F9F7"/>
          </a:solidFill>
          <a:ln w="12700">
            <a:solidFill>
              <a:srgbClr val="F6F9F7"/>
            </a:solidFill>
            <a:prstDash val="solid"/>
          </a:ln>
        </p:spPr>
      </p:sp>
      <p:sp>
        <p:nvSpPr>
          <p:cNvPr id="16" name="Text 11"/>
          <p:cNvSpPr txBox="1"/>
          <p:nvPr/>
        </p:nvSpPr>
        <p:spPr>
          <a:xfrm>
            <a:off x="658368" y="5111496"/>
            <a:ext cx="960120" cy="365760"/>
          </a:xfrm>
          <a:prstGeom prst="rect">
            <a:avLst/>
          </a:prstGeom>
          <a:noFill/>
          <a:ln/>
        </p:spPr>
        <p:txBody>
          <a:bodyPr wrap="square" lIns="0" tIns="0" rIns="0" bIns="0" rtlCol="0" anchor="ctr"/>
          <a:lstStyle/>
          <a:p>
            <a:pPr indent="0" marL="0">
              <a:buNone/>
            </a:pPr>
            <a:r>
              <a:rPr lang="en-US" sz="1050" b="1" dirty="0">
                <a:solidFill>
                  <a:srgbClr val="B8652A"/>
                </a:solidFill>
                <a:latin typeface="Meiryo UI" pitchFamily="34" charset="0"/>
                <a:ea typeface="Meiryo UI" pitchFamily="34" charset="-122"/>
                <a:cs typeface="Meiryo UI" pitchFamily="34" charset="-120"/>
              </a:rPr>
              <a:t>Instagram</a:t>
            </a:r>
            <a:endParaRPr lang="en-US" sz="1050" dirty="0"/>
          </a:p>
        </p:txBody>
      </p:sp>
      <p:sp>
        <p:nvSpPr>
          <p:cNvPr id="17" name="Text 12"/>
          <p:cNvSpPr txBox="1"/>
          <p:nvPr/>
        </p:nvSpPr>
        <p:spPr>
          <a:xfrm>
            <a:off x="1600200" y="5111496"/>
            <a:ext cx="3749040" cy="365760"/>
          </a:xfrm>
          <a:prstGeom prst="rect">
            <a:avLst/>
          </a:prstGeom>
          <a:noFill/>
          <a:ln/>
        </p:spPr>
        <p:txBody>
          <a:bodyPr wrap="square" lIns="0" tIns="0" rIns="0" bIns="0" rtlCol="0" anchor="ctr"/>
          <a:lstStyle/>
          <a:p>
            <a:pPr indent="0" marL="0">
              <a:buNone/>
            </a:pPr>
            <a:r>
              <a:rPr lang="en-US" sz="950" dirty="0">
                <a:solidFill>
                  <a:srgbClr val="2A322D"/>
                </a:solidFill>
                <a:latin typeface="Meiryo UI" pitchFamily="34" charset="0"/>
                <a:ea typeface="Meiryo UI" pitchFamily="34" charset="-122"/>
                <a:cs typeface="Meiryo UI" pitchFamily="34" charset="-120"/>
              </a:rPr>
              <a:t>あたたかい一文で共感をつくり、特長を3つのチップに整理</a:t>
            </a:r>
            <a:endParaRPr lang="en-US" sz="950" dirty="0"/>
          </a:p>
        </p:txBody>
      </p:sp>
      <p:sp>
        <p:nvSpPr>
          <p:cNvPr id="18" name="Shape 13"/>
          <p:cNvSpPr/>
          <p:nvPr/>
        </p:nvSpPr>
        <p:spPr>
          <a:xfrm>
            <a:off x="548640" y="5541264"/>
            <a:ext cx="4846320" cy="365760"/>
          </a:xfrm>
          <a:prstGeom prst="roundRect">
            <a:avLst>
              <a:gd name="adj" fmla="val 30000"/>
            </a:avLst>
          </a:prstGeom>
          <a:solidFill>
            <a:srgbClr val="F6F9F7"/>
          </a:solidFill>
          <a:ln w="12700">
            <a:solidFill>
              <a:srgbClr val="F6F9F7"/>
            </a:solidFill>
            <a:prstDash val="solid"/>
          </a:ln>
        </p:spPr>
      </p:sp>
      <p:sp>
        <p:nvSpPr>
          <p:cNvPr id="19" name="Text 14"/>
          <p:cNvSpPr txBox="1"/>
          <p:nvPr/>
        </p:nvSpPr>
        <p:spPr>
          <a:xfrm>
            <a:off x="658368" y="5541264"/>
            <a:ext cx="960120" cy="365760"/>
          </a:xfrm>
          <a:prstGeom prst="rect">
            <a:avLst/>
          </a:prstGeom>
          <a:noFill/>
          <a:ln/>
        </p:spPr>
        <p:txBody>
          <a:bodyPr wrap="square" lIns="0" tIns="0" rIns="0" bIns="0" rtlCol="0" anchor="ctr"/>
          <a:lstStyle/>
          <a:p>
            <a:pPr indent="0" marL="0">
              <a:buNone/>
            </a:pPr>
            <a:r>
              <a:rPr lang="en-US" sz="1050" b="1" dirty="0">
                <a:solidFill>
                  <a:srgbClr val="B8652A"/>
                </a:solidFill>
                <a:latin typeface="Meiryo UI" pitchFamily="34" charset="0"/>
                <a:ea typeface="Meiryo UI" pitchFamily="34" charset="-122"/>
                <a:cs typeface="Meiryo UI" pitchFamily="34" charset="-120"/>
              </a:rPr>
              <a:t>TikTok</a:t>
            </a:r>
            <a:endParaRPr lang="en-US" sz="1050" dirty="0"/>
          </a:p>
        </p:txBody>
      </p:sp>
      <p:sp>
        <p:nvSpPr>
          <p:cNvPr id="20" name="Text 15"/>
          <p:cNvSpPr txBox="1"/>
          <p:nvPr/>
        </p:nvSpPr>
        <p:spPr>
          <a:xfrm>
            <a:off x="1600200" y="5541264"/>
            <a:ext cx="3749040" cy="365760"/>
          </a:xfrm>
          <a:prstGeom prst="rect">
            <a:avLst/>
          </a:prstGeom>
          <a:noFill/>
          <a:ln/>
        </p:spPr>
        <p:txBody>
          <a:bodyPr wrap="square" lIns="0" tIns="0" rIns="0" bIns="0" rtlCol="0" anchor="ctr"/>
          <a:lstStyle/>
          <a:p>
            <a:pPr indent="0" marL="0">
              <a:buNone/>
            </a:pPr>
            <a:r>
              <a:rPr lang="en-US" sz="950" dirty="0">
                <a:solidFill>
                  <a:srgbClr val="2A322D"/>
                </a:solidFill>
                <a:latin typeface="Meiryo UI" pitchFamily="34" charset="0"/>
                <a:ea typeface="Meiryo UI" pitchFamily="34" charset="-122"/>
                <a:cs typeface="Meiryo UI" pitchFamily="34" charset="-120"/>
              </a:rPr>
              <a:t>「PCが苦手でも大丈夫」という一言で、若い世代のスクロールを止める</a:t>
            </a:r>
            <a:endParaRPr lang="en-US" sz="950" dirty="0"/>
          </a:p>
        </p:txBody>
      </p:sp>
      <p:sp>
        <p:nvSpPr>
          <p:cNvPr id="21" name="Text 16"/>
          <p:cNvSpPr txBox="1"/>
          <p:nvPr/>
        </p:nvSpPr>
        <p:spPr>
          <a:xfrm>
            <a:off x="548640" y="5989320"/>
            <a:ext cx="11094415" cy="384048"/>
          </a:xfrm>
          <a:prstGeom prst="rect">
            <a:avLst/>
          </a:prstGeom>
          <a:noFill/>
          <a:ln/>
        </p:spPr>
        <p:txBody>
          <a:bodyPr wrap="square" lIns="0" tIns="0" rIns="0" bIns="0" rtlCol="0" anchor="t"/>
          <a:lstStyle/>
          <a:p>
            <a:pPr indent="0" marL="0">
              <a:buNone/>
            </a:pPr>
            <a:r>
              <a:rPr lang="en-US" sz="950" dirty="0">
                <a:solidFill>
                  <a:srgbClr val="66776C"/>
                </a:solidFill>
                <a:latin typeface="Meiryo UI" pitchFamily="34" charset="0"/>
                <a:ea typeface="Meiryo UI" pitchFamily="34" charset="-122"/>
                <a:cs typeface="Meiryo UI" pitchFamily="34" charset="-120"/>
              </a:rPr>
              <a:t>※イラスト・アカウント名・再生時間は仮のものです。本制作では貴法人のロゴ・写真を使用し、利用者の顔や個人が特定される情報は出しません。</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長尺解説動画の絵コンテ（ラフ案）：MiTokの掛け合い構成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pic>
        <p:nvPicPr>
          <p:cNvPr id="6" name="Image 0" descr="/tmp/claude-0/-home-user-crow-dunit/6eea73a9-a861-533a-875b-45d20cf557b2/scratchpad/heart/thumbs/story1.png">    </p:cNvPr>
          <p:cNvPicPr>
            <a:picLocks noChangeAspect="1"/>
          </p:cNvPicPr>
          <p:nvPr/>
        </p:nvPicPr>
        <p:blipFill>
          <a:blip r:embed="rId1"/>
          <a:stretch>
            <a:fillRect/>
          </a:stretch>
        </p:blipFill>
        <p:spPr>
          <a:xfrm>
            <a:off x="548640" y="1417320"/>
            <a:ext cx="3429000" cy="1928813"/>
          </a:xfrm>
          <a:prstGeom prst="rect">
            <a:avLst/>
          </a:prstGeom>
          <a:effectLst>
            <a:outerShdw sx="100000" sy="100000" kx="0" ky="0" algn="bl" rotWithShape="0" blurRad="76200" dist="25400" dir="5400000">
              <a:srgbClr val="000000">
                <a:alpha val="12000"/>
              </a:srgbClr>
            </a:outerShdw>
          </a:effectLst>
        </p:spPr>
      </p:pic>
      <p:sp>
        <p:nvSpPr>
          <p:cNvPr id="7" name="Text 4"/>
          <p:cNvSpPr txBox="1"/>
          <p:nvPr/>
        </p:nvSpPr>
        <p:spPr>
          <a:xfrm>
            <a:off x="548640" y="3419285"/>
            <a:ext cx="3429000" cy="45720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0:00｜悩みの提示　</a:t>
            </a:r>
            <a:pPr indent="0" marL="0">
              <a:buNone/>
            </a:pPr>
            <a:r>
              <a:rPr lang="en-US" sz="1050" dirty="0">
                <a:solidFill>
                  <a:srgbClr val="2A322D"/>
                </a:solidFill>
                <a:latin typeface="Meiryo UI" pitchFamily="34" charset="0"/>
                <a:ea typeface="Meiryo UI" pitchFamily="34" charset="-122"/>
                <a:cs typeface="Meiryo UI" pitchFamily="34" charset="-120"/>
              </a:rPr>
              <a:t>ご本人役の「どこに行けば？」が共感を呼ぶ</a:t>
            </a:r>
            <a:endParaRPr lang="en-US" sz="1050" dirty="0"/>
          </a:p>
        </p:txBody>
      </p:sp>
      <p:pic>
        <p:nvPicPr>
          <p:cNvPr id="8" name="Image 1" descr="/tmp/claude-0/-home-user-crow-dunit/6eea73a9-a861-533a-875b-45d20cf557b2/scratchpad/heart/thumbs/story2.png">    </p:cNvPr>
          <p:cNvPicPr>
            <a:picLocks noChangeAspect="1"/>
          </p:cNvPicPr>
          <p:nvPr/>
        </p:nvPicPr>
        <p:blipFill>
          <a:blip r:embed="rId2"/>
          <a:stretch>
            <a:fillRect/>
          </a:stretch>
        </p:blipFill>
        <p:spPr>
          <a:xfrm>
            <a:off x="4251960" y="1417320"/>
            <a:ext cx="3429000" cy="1928813"/>
          </a:xfrm>
          <a:prstGeom prst="rect">
            <a:avLst/>
          </a:prstGeom>
          <a:effectLst>
            <a:outerShdw sx="100000" sy="100000" kx="0" ky="0" algn="bl" rotWithShape="0" blurRad="76200" dist="25400" dir="5400000">
              <a:srgbClr val="000000">
                <a:alpha val="12000"/>
              </a:srgbClr>
            </a:outerShdw>
          </a:effectLst>
        </p:spPr>
      </p:pic>
      <p:sp>
        <p:nvSpPr>
          <p:cNvPr id="9" name="Text 5"/>
          <p:cNvSpPr txBox="1"/>
          <p:nvPr/>
        </p:nvSpPr>
        <p:spPr>
          <a:xfrm>
            <a:off x="4251960" y="3419285"/>
            <a:ext cx="3429000" cy="45720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2:00｜大切にしていること　</a:t>
            </a:r>
            <a:pPr indent="0" marL="0">
              <a:buNone/>
            </a:pPr>
            <a:r>
              <a:rPr lang="en-US" sz="1050" dirty="0">
                <a:solidFill>
                  <a:srgbClr val="2A322D"/>
                </a:solidFill>
                <a:latin typeface="Meiryo UI" pitchFamily="34" charset="0"/>
                <a:ea typeface="Meiryo UI" pitchFamily="34" charset="-122"/>
                <a:cs typeface="Meiryo UI" pitchFamily="34" charset="-120"/>
              </a:rPr>
              <a:t>施設長役が支援の考え方を3点で語る</a:t>
            </a:r>
            <a:endParaRPr lang="en-US" sz="1050" dirty="0"/>
          </a:p>
        </p:txBody>
      </p:sp>
      <p:pic>
        <p:nvPicPr>
          <p:cNvPr id="10" name="Image 2" descr="/tmp/claude-0/-home-user-crow-dunit/6eea73a9-a861-533a-875b-45d20cf557b2/scratchpad/heart/thumbs/story3.png">    </p:cNvPr>
          <p:cNvPicPr>
            <a:picLocks noChangeAspect="1"/>
          </p:cNvPicPr>
          <p:nvPr/>
        </p:nvPicPr>
        <p:blipFill>
          <a:blip r:embed="rId3"/>
          <a:stretch>
            <a:fillRect/>
          </a:stretch>
        </p:blipFill>
        <p:spPr>
          <a:xfrm>
            <a:off x="54864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1" name="Text 6"/>
          <p:cNvSpPr txBox="1"/>
          <p:nvPr/>
        </p:nvSpPr>
        <p:spPr>
          <a:xfrm>
            <a:off x="548640" y="5915025"/>
            <a:ext cx="3429000" cy="45720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4:30｜利用までの流れ　</a:t>
            </a:r>
            <a:pPr indent="0" marL="0">
              <a:buNone/>
            </a:pPr>
            <a:r>
              <a:rPr lang="en-US" sz="1050" dirty="0">
                <a:solidFill>
                  <a:srgbClr val="2A322D"/>
                </a:solidFill>
                <a:latin typeface="Meiryo UI" pitchFamily="34" charset="0"/>
                <a:ea typeface="Meiryo UI" pitchFamily="34" charset="-122"/>
                <a:cs typeface="Meiryo UI" pitchFamily="34" charset="-120"/>
              </a:rPr>
              <a:t>見学から始められることを伝える</a:t>
            </a:r>
            <a:endParaRPr lang="en-US" sz="1050" dirty="0"/>
          </a:p>
        </p:txBody>
      </p:sp>
      <p:pic>
        <p:nvPicPr>
          <p:cNvPr id="12" name="Image 3" descr="/tmp/claude-0/-home-user-crow-dunit/6eea73a9-a861-533a-875b-45d20cf557b2/scratchpad/heart/thumbs/story4.png">    </p:cNvPr>
          <p:cNvPicPr>
            <a:picLocks noChangeAspect="1"/>
          </p:cNvPicPr>
          <p:nvPr/>
        </p:nvPicPr>
        <p:blipFill>
          <a:blip r:embed="rId4"/>
          <a:stretch>
            <a:fillRect/>
          </a:stretch>
        </p:blipFill>
        <p:spPr>
          <a:xfrm>
            <a:off x="4251960" y="3913061"/>
            <a:ext cx="3429000" cy="1928813"/>
          </a:xfrm>
          <a:prstGeom prst="rect">
            <a:avLst/>
          </a:prstGeom>
          <a:effectLst>
            <a:outerShdw sx="100000" sy="100000" kx="0" ky="0" algn="bl" rotWithShape="0" blurRad="76200" dist="25400" dir="5400000">
              <a:srgbClr val="000000">
                <a:alpha val="12000"/>
              </a:srgbClr>
            </a:outerShdw>
          </a:effectLst>
        </p:spPr>
      </p:pic>
      <p:sp>
        <p:nvSpPr>
          <p:cNvPr id="13" name="Text 7"/>
          <p:cNvSpPr txBox="1"/>
          <p:nvPr/>
        </p:nvSpPr>
        <p:spPr>
          <a:xfrm>
            <a:off x="4251960" y="5915025"/>
            <a:ext cx="3429000" cy="457200"/>
          </a:xfrm>
          <a:prstGeom prst="rect">
            <a:avLst/>
          </a:prstGeom>
          <a:noFill/>
          <a:ln/>
        </p:spPr>
        <p:txBody>
          <a:bodyPr wrap="square" lIns="0" tIns="0" rIns="0" bIns="0" rtlCol="0" anchor="t"/>
          <a:lstStyle/>
          <a:p>
            <a:pPr indent="0" marL="0">
              <a:buNone/>
            </a:pPr>
            <a:r>
              <a:rPr lang="en-US" sz="1050" b="1" dirty="0">
                <a:solidFill>
                  <a:srgbClr val="46705A"/>
                </a:solidFill>
                <a:latin typeface="Meiryo UI" pitchFamily="34" charset="0"/>
                <a:ea typeface="Meiryo UI" pitchFamily="34" charset="-122"/>
                <a:cs typeface="Meiryo UI" pitchFamily="34" charset="-120"/>
              </a:rPr>
              <a:t>8:00｜お問い合わせ　</a:t>
            </a:r>
            <a:pPr indent="0" marL="0">
              <a:buNone/>
            </a:pPr>
            <a:r>
              <a:rPr lang="en-US" sz="1050" dirty="0">
                <a:solidFill>
                  <a:srgbClr val="2A322D"/>
                </a:solidFill>
                <a:latin typeface="Meiryo UI" pitchFamily="34" charset="0"/>
                <a:ea typeface="Meiryo UI" pitchFamily="34" charset="-122"/>
                <a:cs typeface="Meiryo UI" pitchFamily="34" charset="-120"/>
              </a:rPr>
              <a:t>電話・フォームの2択で行動を促す</a:t>
            </a:r>
            <a:endParaRPr lang="en-US" sz="1050" dirty="0"/>
          </a:p>
        </p:txBody>
      </p:sp>
      <p:sp>
        <p:nvSpPr>
          <p:cNvPr id="14" name="Shape 8"/>
          <p:cNvSpPr/>
          <p:nvPr/>
        </p:nvSpPr>
        <p:spPr>
          <a:xfrm>
            <a:off x="8001000" y="1417320"/>
            <a:ext cx="3642055" cy="4846320"/>
          </a:xfrm>
          <a:prstGeom prst="roundRect">
            <a:avLst>
              <a:gd name="adj" fmla="val 3013"/>
            </a:avLst>
          </a:prstGeom>
          <a:solidFill>
            <a:srgbClr val="EDF3EF"/>
          </a:solidFill>
          <a:ln w="12700">
            <a:solidFill>
              <a:srgbClr val="EDF3EF"/>
            </a:solidFill>
            <a:prstDash val="solid"/>
          </a:ln>
        </p:spPr>
      </p:sp>
      <p:sp>
        <p:nvSpPr>
          <p:cNvPr id="15" name="Text 9"/>
          <p:cNvSpPr txBox="1"/>
          <p:nvPr/>
        </p:nvSpPr>
        <p:spPr>
          <a:xfrm>
            <a:off x="8275320" y="1600200"/>
            <a:ext cx="3093415" cy="365760"/>
          </a:xfrm>
          <a:prstGeom prst="rect">
            <a:avLst/>
          </a:prstGeom>
          <a:noFill/>
          <a:ln/>
        </p:spPr>
        <p:txBody>
          <a:bodyPr wrap="square" lIns="0" tIns="0" rIns="0" bIns="0" rtlCol="0" anchor="t"/>
          <a:lstStyle/>
          <a:p>
            <a:pPr indent="0" marL="0">
              <a:buNone/>
            </a:pPr>
            <a:r>
              <a:rPr lang="en-US" sz="1500" b="1" dirty="0">
                <a:solidFill>
                  <a:srgbClr val="46705A"/>
                </a:solidFill>
                <a:latin typeface="Meiryo UI" pitchFamily="34" charset="0"/>
                <a:ea typeface="Meiryo UI" pitchFamily="34" charset="-122"/>
                <a:cs typeface="Meiryo UI" pitchFamily="34" charset="-120"/>
              </a:rPr>
              <a:t>構成のポイント</a:t>
            </a:r>
            <a:endParaRPr lang="en-US" sz="1500" dirty="0"/>
          </a:p>
        </p:txBody>
      </p:sp>
      <p:sp>
        <p:nvSpPr>
          <p:cNvPr id="16" name="Shape 10"/>
          <p:cNvSpPr/>
          <p:nvPr/>
        </p:nvSpPr>
        <p:spPr>
          <a:xfrm>
            <a:off x="8275320" y="2103120"/>
            <a:ext cx="384048" cy="384048"/>
          </a:xfrm>
          <a:prstGeom prst="ellipse">
            <a:avLst/>
          </a:prstGeom>
          <a:solidFill>
            <a:srgbClr val="B8652A"/>
          </a:solidFill>
          <a:ln w="12700">
            <a:solidFill>
              <a:srgbClr val="B8652A"/>
            </a:solidFill>
            <a:prstDash val="solid"/>
          </a:ln>
        </p:spPr>
      </p:sp>
      <p:sp>
        <p:nvSpPr>
          <p:cNvPr id="17" name="Text 11"/>
          <p:cNvSpPr txBox="1"/>
          <p:nvPr/>
        </p:nvSpPr>
        <p:spPr>
          <a:xfrm>
            <a:off x="827532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1</a:t>
            </a:r>
            <a:endParaRPr lang="en-US" sz="1200" dirty="0"/>
          </a:p>
        </p:txBody>
      </p:sp>
      <p:sp>
        <p:nvSpPr>
          <p:cNvPr id="18" name="Text 12"/>
          <p:cNvSpPr txBox="1"/>
          <p:nvPr/>
        </p:nvSpPr>
        <p:spPr>
          <a:xfrm>
            <a:off x="8778240" y="2103120"/>
            <a:ext cx="2636215" cy="384048"/>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利用者を映さず雰囲気を伝える</a:t>
            </a:r>
            <a:endParaRPr lang="en-US" sz="1250" dirty="0"/>
          </a:p>
        </p:txBody>
      </p:sp>
      <p:sp>
        <p:nvSpPr>
          <p:cNvPr id="19" name="Text 13"/>
          <p:cNvSpPr txBox="1"/>
          <p:nvPr/>
        </p:nvSpPr>
        <p:spPr>
          <a:xfrm>
            <a:off x="8778240" y="2514600"/>
            <a:ext cx="2636215" cy="82296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イラストの掛け合いで、利用者のプライバシーを守りながら施設の空気感を伝える</a:t>
            </a:r>
            <a:endParaRPr lang="en-US" sz="1100" dirty="0"/>
          </a:p>
        </p:txBody>
      </p:sp>
      <p:sp>
        <p:nvSpPr>
          <p:cNvPr id="20" name="Shape 14"/>
          <p:cNvSpPr/>
          <p:nvPr/>
        </p:nvSpPr>
        <p:spPr>
          <a:xfrm>
            <a:off x="8275320" y="3429000"/>
            <a:ext cx="384048" cy="384048"/>
          </a:xfrm>
          <a:prstGeom prst="ellipse">
            <a:avLst/>
          </a:prstGeom>
          <a:solidFill>
            <a:srgbClr val="B8652A"/>
          </a:solidFill>
          <a:ln w="12700">
            <a:solidFill>
              <a:srgbClr val="B8652A"/>
            </a:solidFill>
            <a:prstDash val="solid"/>
          </a:ln>
        </p:spPr>
      </p:sp>
      <p:sp>
        <p:nvSpPr>
          <p:cNvPr id="21" name="Text 15"/>
          <p:cNvSpPr txBox="1"/>
          <p:nvPr/>
        </p:nvSpPr>
        <p:spPr>
          <a:xfrm>
            <a:off x="8275320" y="34290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2</a:t>
            </a:r>
            <a:endParaRPr lang="en-US" sz="1200" dirty="0"/>
          </a:p>
        </p:txBody>
      </p:sp>
      <p:sp>
        <p:nvSpPr>
          <p:cNvPr id="22" name="Text 16"/>
          <p:cNvSpPr txBox="1"/>
          <p:nvPr/>
        </p:nvSpPr>
        <p:spPr>
          <a:xfrm>
            <a:off x="8778240" y="3429000"/>
            <a:ext cx="2636215" cy="384048"/>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テロップで要点を固定</a:t>
            </a:r>
            <a:endParaRPr lang="en-US" sz="1250" dirty="0"/>
          </a:p>
        </p:txBody>
      </p:sp>
      <p:sp>
        <p:nvSpPr>
          <p:cNvPr id="23" name="Text 17"/>
          <p:cNvSpPr txBox="1"/>
          <p:nvPr/>
        </p:nvSpPr>
        <p:spPr>
          <a:xfrm>
            <a:off x="8778240" y="3840480"/>
            <a:ext cx="2636215" cy="82296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音声なしで見られても伝わるよう、各シーンの結論を下部テロップに表示</a:t>
            </a:r>
            <a:endParaRPr lang="en-US" sz="1100" dirty="0"/>
          </a:p>
        </p:txBody>
      </p:sp>
      <p:sp>
        <p:nvSpPr>
          <p:cNvPr id="24" name="Shape 18"/>
          <p:cNvSpPr/>
          <p:nvPr/>
        </p:nvSpPr>
        <p:spPr>
          <a:xfrm>
            <a:off x="8275320" y="4754880"/>
            <a:ext cx="384048" cy="384048"/>
          </a:xfrm>
          <a:prstGeom prst="ellipse">
            <a:avLst/>
          </a:prstGeom>
          <a:solidFill>
            <a:srgbClr val="B8652A"/>
          </a:solidFill>
          <a:ln w="12700">
            <a:solidFill>
              <a:srgbClr val="B8652A"/>
            </a:solidFill>
            <a:prstDash val="solid"/>
          </a:ln>
        </p:spPr>
      </p:sp>
      <p:sp>
        <p:nvSpPr>
          <p:cNvPr id="25" name="Text 19"/>
          <p:cNvSpPr txBox="1"/>
          <p:nvPr/>
        </p:nvSpPr>
        <p:spPr>
          <a:xfrm>
            <a:off x="8275320" y="4754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3</a:t>
            </a:r>
            <a:endParaRPr lang="en-US" sz="1200" dirty="0"/>
          </a:p>
        </p:txBody>
      </p:sp>
      <p:sp>
        <p:nvSpPr>
          <p:cNvPr id="26" name="Text 20"/>
          <p:cNvSpPr txBox="1"/>
          <p:nvPr/>
        </p:nvSpPr>
        <p:spPr>
          <a:xfrm>
            <a:off x="8778240" y="4754880"/>
            <a:ext cx="2636215" cy="384048"/>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1本で何度も使える</a:t>
            </a:r>
            <a:endParaRPr lang="en-US" sz="1250" dirty="0"/>
          </a:p>
        </p:txBody>
      </p:sp>
      <p:sp>
        <p:nvSpPr>
          <p:cNvPr id="27" name="Text 21"/>
          <p:cNvSpPr txBox="1"/>
          <p:nvPr/>
        </p:nvSpPr>
        <p:spPr>
          <a:xfrm>
            <a:off x="8778240" y="5166360"/>
            <a:ext cx="2636215" cy="82296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紹介元への案内、見学前の送付、HP・ハンドブックのQRに同じ動画を使い回せる</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認知から見学・利用登録までのファネル設計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3703320" y="1371600"/>
            <a:ext cx="2011680" cy="274320"/>
          </a:xfrm>
          <a:prstGeom prst="rect">
            <a:avLst/>
          </a:prstGeom>
          <a:noFill/>
          <a:ln/>
        </p:spPr>
        <p:txBody>
          <a:bodyPr wrap="square" lIns="0" tIns="0" rIns="0" bIns="0" rtlCol="0" anchor="t"/>
          <a:lstStyle/>
          <a:p>
            <a:pPr indent="0" marL="0">
              <a:buNone/>
            </a:pPr>
            <a:r>
              <a:rPr lang="en-US" sz="1100" b="1" dirty="0">
                <a:solidFill>
                  <a:srgbClr val="66776C"/>
                </a:solidFill>
                <a:latin typeface="Meiryo UI" pitchFamily="34" charset="0"/>
                <a:ea typeface="Meiryo UI" pitchFamily="34" charset="-122"/>
                <a:cs typeface="Meiryo UI" pitchFamily="34" charset="-120"/>
              </a:rPr>
              <a:t>主な接点</a:t>
            </a:r>
            <a:endParaRPr lang="en-US" sz="1100" dirty="0"/>
          </a:p>
        </p:txBody>
      </p:sp>
      <p:sp>
        <p:nvSpPr>
          <p:cNvPr id="7" name="Text 5"/>
          <p:cNvSpPr txBox="1"/>
          <p:nvPr/>
        </p:nvSpPr>
        <p:spPr>
          <a:xfrm>
            <a:off x="5806440" y="1371600"/>
            <a:ext cx="1965960" cy="274320"/>
          </a:xfrm>
          <a:prstGeom prst="rect">
            <a:avLst/>
          </a:prstGeom>
          <a:noFill/>
          <a:ln/>
        </p:spPr>
        <p:txBody>
          <a:bodyPr wrap="square" lIns="0" tIns="0" rIns="0" bIns="0" rtlCol="0" anchor="t"/>
          <a:lstStyle/>
          <a:p>
            <a:pPr indent="0" marL="0">
              <a:buNone/>
            </a:pPr>
            <a:r>
              <a:rPr lang="en-US" sz="1100" b="1" dirty="0">
                <a:solidFill>
                  <a:srgbClr val="66776C"/>
                </a:solidFill>
                <a:latin typeface="Meiryo UI" pitchFamily="34" charset="0"/>
                <a:ea typeface="Meiryo UI" pitchFamily="34" charset="-122"/>
                <a:cs typeface="Meiryo UI" pitchFamily="34" charset="-120"/>
              </a:rPr>
              <a:t>動画の型</a:t>
            </a:r>
            <a:endParaRPr lang="en-US" sz="1100" dirty="0"/>
          </a:p>
        </p:txBody>
      </p:sp>
      <p:sp>
        <p:nvSpPr>
          <p:cNvPr id="8" name="Text 6"/>
          <p:cNvSpPr txBox="1"/>
          <p:nvPr/>
        </p:nvSpPr>
        <p:spPr>
          <a:xfrm>
            <a:off x="7863840" y="1371600"/>
            <a:ext cx="2057400" cy="274320"/>
          </a:xfrm>
          <a:prstGeom prst="rect">
            <a:avLst/>
          </a:prstGeom>
          <a:noFill/>
          <a:ln/>
        </p:spPr>
        <p:txBody>
          <a:bodyPr wrap="square" lIns="0" tIns="0" rIns="0" bIns="0" rtlCol="0" anchor="t"/>
          <a:lstStyle/>
          <a:p>
            <a:pPr indent="0" marL="0">
              <a:buNone/>
            </a:pPr>
            <a:r>
              <a:rPr lang="en-US" sz="1100" b="1" dirty="0">
                <a:solidFill>
                  <a:srgbClr val="66776C"/>
                </a:solidFill>
                <a:latin typeface="Meiryo UI" pitchFamily="34" charset="0"/>
                <a:ea typeface="Meiryo UI" pitchFamily="34" charset="-122"/>
                <a:cs typeface="Meiryo UI" pitchFamily="34" charset="-120"/>
              </a:rPr>
              <a:t>次の行動への導線</a:t>
            </a:r>
            <a:endParaRPr lang="en-US" sz="1100" dirty="0"/>
          </a:p>
        </p:txBody>
      </p:sp>
      <p:sp>
        <p:nvSpPr>
          <p:cNvPr id="9" name="Text 7"/>
          <p:cNvSpPr txBox="1"/>
          <p:nvPr/>
        </p:nvSpPr>
        <p:spPr>
          <a:xfrm>
            <a:off x="10012680" y="1371600"/>
            <a:ext cx="1627632" cy="274320"/>
          </a:xfrm>
          <a:prstGeom prst="rect">
            <a:avLst/>
          </a:prstGeom>
          <a:noFill/>
          <a:ln/>
        </p:spPr>
        <p:txBody>
          <a:bodyPr wrap="square" lIns="0" tIns="0" rIns="0" bIns="0" rtlCol="0" anchor="t"/>
          <a:lstStyle/>
          <a:p>
            <a:pPr indent="0" marL="0">
              <a:buNone/>
            </a:pPr>
            <a:r>
              <a:rPr lang="en-US" sz="1100" b="1" dirty="0">
                <a:solidFill>
                  <a:srgbClr val="66776C"/>
                </a:solidFill>
                <a:latin typeface="Meiryo UI" pitchFamily="34" charset="0"/>
                <a:ea typeface="Meiryo UI" pitchFamily="34" charset="-122"/>
                <a:cs typeface="Meiryo UI" pitchFamily="34" charset="-120"/>
              </a:rPr>
              <a:t>測定指標</a:t>
            </a:r>
            <a:endParaRPr lang="en-US" sz="1100" dirty="0"/>
          </a:p>
        </p:txBody>
      </p:sp>
      <p:sp>
        <p:nvSpPr>
          <p:cNvPr id="10" name="Shape 8"/>
          <p:cNvSpPr/>
          <p:nvPr/>
        </p:nvSpPr>
        <p:spPr>
          <a:xfrm>
            <a:off x="594360" y="1719072"/>
            <a:ext cx="2926080" cy="640080"/>
          </a:xfrm>
          <a:prstGeom prst="roundRect">
            <a:avLst>
              <a:gd name="adj" fmla="val 14286"/>
            </a:avLst>
          </a:prstGeom>
          <a:solidFill>
            <a:srgbClr val="46705A"/>
          </a:solidFill>
          <a:ln w="12700">
            <a:solidFill>
              <a:srgbClr val="46705A"/>
            </a:solidFill>
            <a:prstDash val="solid"/>
          </a:ln>
        </p:spPr>
      </p:sp>
      <p:sp>
        <p:nvSpPr>
          <p:cNvPr id="11" name="Text 9"/>
          <p:cNvSpPr txBox="1"/>
          <p:nvPr/>
        </p:nvSpPr>
        <p:spPr>
          <a:xfrm>
            <a:off x="594360" y="1719072"/>
            <a:ext cx="292608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認知</a:t>
            </a:r>
            <a:endParaRPr lang="en-US" sz="1400" dirty="0"/>
          </a:p>
        </p:txBody>
      </p:sp>
      <p:sp>
        <p:nvSpPr>
          <p:cNvPr id="12" name="Shape 10"/>
          <p:cNvSpPr/>
          <p:nvPr/>
        </p:nvSpPr>
        <p:spPr>
          <a:xfrm>
            <a:off x="3566160" y="1719072"/>
            <a:ext cx="8076895" cy="640080"/>
          </a:xfrm>
          <a:prstGeom prst="roundRect">
            <a:avLst>
              <a:gd name="adj" fmla="val 11429"/>
            </a:avLst>
          </a:prstGeom>
          <a:solidFill>
            <a:srgbClr val="F6F9F7"/>
          </a:solidFill>
          <a:ln w="9525">
            <a:solidFill>
              <a:srgbClr val="DCE7DF"/>
            </a:solidFill>
            <a:prstDash val="solid"/>
          </a:ln>
        </p:spPr>
      </p:sp>
      <p:sp>
        <p:nvSpPr>
          <p:cNvPr id="13" name="Text 11"/>
          <p:cNvSpPr txBox="1"/>
          <p:nvPr/>
        </p:nvSpPr>
        <p:spPr>
          <a:xfrm>
            <a:off x="3703320" y="1719072"/>
            <a:ext cx="201168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TikTok／ショート／リール</a:t>
            </a:r>
            <a:endParaRPr lang="en-US" sz="1150" dirty="0"/>
          </a:p>
        </p:txBody>
      </p:sp>
      <p:sp>
        <p:nvSpPr>
          <p:cNvPr id="14" name="Text 12"/>
          <p:cNvSpPr txBox="1"/>
          <p:nvPr/>
        </p:nvSpPr>
        <p:spPr>
          <a:xfrm>
            <a:off x="5806440" y="1719072"/>
            <a:ext cx="196596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縦型ショート</a:t>
            </a:r>
            <a:endParaRPr lang="en-US" sz="1150" dirty="0"/>
          </a:p>
        </p:txBody>
      </p:sp>
      <p:sp>
        <p:nvSpPr>
          <p:cNvPr id="15" name="Text 13"/>
          <p:cNvSpPr txBox="1"/>
          <p:nvPr/>
        </p:nvSpPr>
        <p:spPr>
          <a:xfrm>
            <a:off x="7863840" y="1719072"/>
            <a:ext cx="205740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プロフィール→YouTube・HP</a:t>
            </a:r>
            <a:endParaRPr lang="en-US" sz="1150" dirty="0"/>
          </a:p>
        </p:txBody>
      </p:sp>
      <p:sp>
        <p:nvSpPr>
          <p:cNvPr id="16" name="Text 14"/>
          <p:cNvSpPr txBox="1"/>
          <p:nvPr/>
        </p:nvSpPr>
        <p:spPr>
          <a:xfrm>
            <a:off x="10012680" y="1719072"/>
            <a:ext cx="1627632" cy="640080"/>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再生数・リーチ数</a:t>
            </a:r>
            <a:endParaRPr lang="en-US" sz="1150" dirty="0"/>
          </a:p>
        </p:txBody>
      </p:sp>
      <p:sp>
        <p:nvSpPr>
          <p:cNvPr id="17" name="Shape 15"/>
          <p:cNvSpPr/>
          <p:nvPr/>
        </p:nvSpPr>
        <p:spPr>
          <a:xfrm>
            <a:off x="758952" y="2478024"/>
            <a:ext cx="2596896" cy="640080"/>
          </a:xfrm>
          <a:prstGeom prst="roundRect">
            <a:avLst>
              <a:gd name="adj" fmla="val 14286"/>
            </a:avLst>
          </a:prstGeom>
          <a:solidFill>
            <a:srgbClr val="46705A">
              <a:alpha val="88000"/>
            </a:srgbClr>
          </a:solidFill>
          <a:ln w="12700">
            <a:solidFill>
              <a:srgbClr val="46705A"/>
            </a:solidFill>
            <a:prstDash val="solid"/>
          </a:ln>
        </p:spPr>
      </p:sp>
      <p:sp>
        <p:nvSpPr>
          <p:cNvPr id="18" name="Text 16"/>
          <p:cNvSpPr txBox="1"/>
          <p:nvPr/>
        </p:nvSpPr>
        <p:spPr>
          <a:xfrm>
            <a:off x="758952" y="2478024"/>
            <a:ext cx="25968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興味・関心</a:t>
            </a:r>
            <a:endParaRPr lang="en-US" sz="1400" dirty="0"/>
          </a:p>
        </p:txBody>
      </p:sp>
      <p:sp>
        <p:nvSpPr>
          <p:cNvPr id="19" name="Shape 17"/>
          <p:cNvSpPr/>
          <p:nvPr/>
        </p:nvSpPr>
        <p:spPr>
          <a:xfrm>
            <a:off x="3566160" y="2478024"/>
            <a:ext cx="8076895" cy="640080"/>
          </a:xfrm>
          <a:prstGeom prst="roundRect">
            <a:avLst>
              <a:gd name="adj" fmla="val 11429"/>
            </a:avLst>
          </a:prstGeom>
          <a:solidFill>
            <a:srgbClr val="FFFFFF"/>
          </a:solidFill>
          <a:ln w="9525">
            <a:solidFill>
              <a:srgbClr val="DCE7DF"/>
            </a:solidFill>
            <a:prstDash val="solid"/>
          </a:ln>
        </p:spPr>
      </p:sp>
      <p:sp>
        <p:nvSpPr>
          <p:cNvPr id="20" name="Text 18"/>
          <p:cNvSpPr txBox="1"/>
          <p:nvPr/>
        </p:nvSpPr>
        <p:spPr>
          <a:xfrm>
            <a:off x="3703320" y="2478024"/>
            <a:ext cx="201168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Instagram／YouTube</a:t>
            </a:r>
            <a:endParaRPr lang="en-US" sz="1150" dirty="0"/>
          </a:p>
        </p:txBody>
      </p:sp>
      <p:sp>
        <p:nvSpPr>
          <p:cNvPr id="21" name="Text 19"/>
          <p:cNvSpPr txBox="1"/>
          <p:nvPr/>
        </p:nvSpPr>
        <p:spPr>
          <a:xfrm>
            <a:off x="5806440" y="2478024"/>
            <a:ext cx="196596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デザイン重視／長尺解説</a:t>
            </a:r>
            <a:endParaRPr lang="en-US" sz="1150" dirty="0"/>
          </a:p>
        </p:txBody>
      </p:sp>
      <p:sp>
        <p:nvSpPr>
          <p:cNvPr id="22" name="Text 20"/>
          <p:cNvSpPr txBox="1"/>
          <p:nvPr/>
        </p:nvSpPr>
        <p:spPr>
          <a:xfrm>
            <a:off x="7863840" y="2478024"/>
            <a:ext cx="205740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フォロー・保存・登録</a:t>
            </a:r>
            <a:endParaRPr lang="en-US" sz="1150" dirty="0"/>
          </a:p>
        </p:txBody>
      </p:sp>
      <p:sp>
        <p:nvSpPr>
          <p:cNvPr id="23" name="Text 21"/>
          <p:cNvSpPr txBox="1"/>
          <p:nvPr/>
        </p:nvSpPr>
        <p:spPr>
          <a:xfrm>
            <a:off x="10012680" y="2478024"/>
            <a:ext cx="1627632" cy="640080"/>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保存数・視聴維持率</a:t>
            </a:r>
            <a:endParaRPr lang="en-US" sz="1150" dirty="0"/>
          </a:p>
        </p:txBody>
      </p:sp>
      <p:sp>
        <p:nvSpPr>
          <p:cNvPr id="24" name="Shape 22"/>
          <p:cNvSpPr/>
          <p:nvPr/>
        </p:nvSpPr>
        <p:spPr>
          <a:xfrm>
            <a:off x="923544" y="3236976"/>
            <a:ext cx="2267712" cy="640080"/>
          </a:xfrm>
          <a:prstGeom prst="roundRect">
            <a:avLst>
              <a:gd name="adj" fmla="val 14286"/>
            </a:avLst>
          </a:prstGeom>
          <a:solidFill>
            <a:srgbClr val="46705A">
              <a:alpha val="76000"/>
            </a:srgbClr>
          </a:solidFill>
          <a:ln w="12700">
            <a:solidFill>
              <a:srgbClr val="46705A"/>
            </a:solidFill>
            <a:prstDash val="solid"/>
          </a:ln>
        </p:spPr>
      </p:sp>
      <p:sp>
        <p:nvSpPr>
          <p:cNvPr id="25" name="Text 23"/>
          <p:cNvSpPr txBox="1"/>
          <p:nvPr/>
        </p:nvSpPr>
        <p:spPr>
          <a:xfrm>
            <a:off x="923544" y="3236976"/>
            <a:ext cx="2267712"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比較・検討</a:t>
            </a:r>
            <a:endParaRPr lang="en-US" sz="1400" dirty="0"/>
          </a:p>
        </p:txBody>
      </p:sp>
      <p:sp>
        <p:nvSpPr>
          <p:cNvPr id="26" name="Shape 24"/>
          <p:cNvSpPr/>
          <p:nvPr/>
        </p:nvSpPr>
        <p:spPr>
          <a:xfrm>
            <a:off x="3566160" y="3236976"/>
            <a:ext cx="8076895" cy="640080"/>
          </a:xfrm>
          <a:prstGeom prst="roundRect">
            <a:avLst>
              <a:gd name="adj" fmla="val 11429"/>
            </a:avLst>
          </a:prstGeom>
          <a:solidFill>
            <a:srgbClr val="F6F9F7"/>
          </a:solidFill>
          <a:ln w="9525">
            <a:solidFill>
              <a:srgbClr val="DCE7DF"/>
            </a:solidFill>
            <a:prstDash val="solid"/>
          </a:ln>
        </p:spPr>
      </p:sp>
      <p:sp>
        <p:nvSpPr>
          <p:cNvPr id="27" name="Text 25"/>
          <p:cNvSpPr txBox="1"/>
          <p:nvPr/>
        </p:nvSpPr>
        <p:spPr>
          <a:xfrm>
            <a:off x="3703320" y="3236976"/>
            <a:ext cx="201168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YouTube／HP／区役所の紹介</a:t>
            </a:r>
            <a:endParaRPr lang="en-US" sz="1150" dirty="0"/>
          </a:p>
        </p:txBody>
      </p:sp>
      <p:sp>
        <p:nvSpPr>
          <p:cNvPr id="28" name="Text 26"/>
          <p:cNvSpPr txBox="1"/>
          <p:nvPr/>
        </p:nvSpPr>
        <p:spPr>
          <a:xfrm>
            <a:off x="5806440" y="3236976"/>
            <a:ext cx="196596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長尺解説・よくある質問</a:t>
            </a:r>
            <a:endParaRPr lang="en-US" sz="1150" dirty="0"/>
          </a:p>
        </p:txBody>
      </p:sp>
      <p:sp>
        <p:nvSpPr>
          <p:cNvPr id="29" name="Text 27"/>
          <p:cNvSpPr txBox="1"/>
          <p:nvPr/>
        </p:nvSpPr>
        <p:spPr>
          <a:xfrm>
            <a:off x="7863840" y="3236976"/>
            <a:ext cx="205740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電話・フォーム</a:t>
            </a:r>
            <a:endParaRPr lang="en-US" sz="1150" dirty="0"/>
          </a:p>
        </p:txBody>
      </p:sp>
      <p:sp>
        <p:nvSpPr>
          <p:cNvPr id="30" name="Text 28"/>
          <p:cNvSpPr txBox="1"/>
          <p:nvPr/>
        </p:nvSpPr>
        <p:spPr>
          <a:xfrm>
            <a:off x="10012680" y="3236976"/>
            <a:ext cx="1627632" cy="640080"/>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問い合わせ数</a:t>
            </a:r>
            <a:endParaRPr lang="en-US" sz="1150" dirty="0"/>
          </a:p>
        </p:txBody>
      </p:sp>
      <p:sp>
        <p:nvSpPr>
          <p:cNvPr id="31" name="Shape 29"/>
          <p:cNvSpPr/>
          <p:nvPr/>
        </p:nvSpPr>
        <p:spPr>
          <a:xfrm>
            <a:off x="1088136" y="3995928"/>
            <a:ext cx="1938528" cy="640080"/>
          </a:xfrm>
          <a:prstGeom prst="roundRect">
            <a:avLst>
              <a:gd name="adj" fmla="val 14286"/>
            </a:avLst>
          </a:prstGeom>
          <a:solidFill>
            <a:srgbClr val="B8652A"/>
          </a:solidFill>
          <a:ln w="12700">
            <a:solidFill>
              <a:srgbClr val="B8652A"/>
            </a:solidFill>
            <a:prstDash val="solid"/>
          </a:ln>
        </p:spPr>
      </p:sp>
      <p:sp>
        <p:nvSpPr>
          <p:cNvPr id="32" name="Text 30"/>
          <p:cNvSpPr txBox="1"/>
          <p:nvPr/>
        </p:nvSpPr>
        <p:spPr>
          <a:xfrm>
            <a:off x="1088136" y="3995928"/>
            <a:ext cx="1938528"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問い合わせ</a:t>
            </a:r>
            <a:endParaRPr lang="en-US" sz="1400" dirty="0"/>
          </a:p>
        </p:txBody>
      </p:sp>
      <p:sp>
        <p:nvSpPr>
          <p:cNvPr id="33" name="Shape 31"/>
          <p:cNvSpPr/>
          <p:nvPr/>
        </p:nvSpPr>
        <p:spPr>
          <a:xfrm>
            <a:off x="3566160" y="3995928"/>
            <a:ext cx="8076895" cy="640080"/>
          </a:xfrm>
          <a:prstGeom prst="roundRect">
            <a:avLst>
              <a:gd name="adj" fmla="val 11429"/>
            </a:avLst>
          </a:prstGeom>
          <a:solidFill>
            <a:srgbClr val="FFFFFF"/>
          </a:solidFill>
          <a:ln w="9525">
            <a:solidFill>
              <a:srgbClr val="DCE7DF"/>
            </a:solidFill>
            <a:prstDash val="solid"/>
          </a:ln>
        </p:spPr>
      </p:sp>
      <p:sp>
        <p:nvSpPr>
          <p:cNvPr id="34" name="Text 32"/>
          <p:cNvSpPr txBox="1"/>
          <p:nvPr/>
        </p:nvSpPr>
        <p:spPr>
          <a:xfrm>
            <a:off x="3703320" y="3995928"/>
            <a:ext cx="201168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電話／HP</a:t>
            </a:r>
            <a:endParaRPr lang="en-US" sz="1150" dirty="0"/>
          </a:p>
        </p:txBody>
      </p:sp>
      <p:sp>
        <p:nvSpPr>
          <p:cNvPr id="35" name="Text 33"/>
          <p:cNvSpPr txBox="1"/>
          <p:nvPr/>
        </p:nvSpPr>
        <p:spPr>
          <a:xfrm>
            <a:off x="5806440" y="3995928"/>
            <a:ext cx="196596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見学前の案内動画</a:t>
            </a:r>
            <a:endParaRPr lang="en-US" sz="1150" dirty="0"/>
          </a:p>
        </p:txBody>
      </p:sp>
      <p:sp>
        <p:nvSpPr>
          <p:cNvPr id="36" name="Text 34"/>
          <p:cNvSpPr txBox="1"/>
          <p:nvPr/>
        </p:nvSpPr>
        <p:spPr>
          <a:xfrm>
            <a:off x="7863840" y="3995928"/>
            <a:ext cx="205740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見学の予約</a:t>
            </a:r>
            <a:endParaRPr lang="en-US" sz="1150" dirty="0"/>
          </a:p>
        </p:txBody>
      </p:sp>
      <p:sp>
        <p:nvSpPr>
          <p:cNvPr id="37" name="Text 35"/>
          <p:cNvSpPr txBox="1"/>
          <p:nvPr/>
        </p:nvSpPr>
        <p:spPr>
          <a:xfrm>
            <a:off x="10012680" y="3995928"/>
            <a:ext cx="1627632" cy="640080"/>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見学数</a:t>
            </a:r>
            <a:endParaRPr lang="en-US" sz="1150" dirty="0"/>
          </a:p>
        </p:txBody>
      </p:sp>
      <p:sp>
        <p:nvSpPr>
          <p:cNvPr id="38" name="Shape 36"/>
          <p:cNvSpPr/>
          <p:nvPr/>
        </p:nvSpPr>
        <p:spPr>
          <a:xfrm>
            <a:off x="1252728" y="4754880"/>
            <a:ext cx="1609344" cy="640080"/>
          </a:xfrm>
          <a:prstGeom prst="roundRect">
            <a:avLst>
              <a:gd name="adj" fmla="val 14286"/>
            </a:avLst>
          </a:prstGeom>
          <a:solidFill>
            <a:srgbClr val="B8652A"/>
          </a:solidFill>
          <a:ln w="12700">
            <a:solidFill>
              <a:srgbClr val="B8652A"/>
            </a:solidFill>
            <a:prstDash val="solid"/>
          </a:ln>
        </p:spPr>
      </p:sp>
      <p:sp>
        <p:nvSpPr>
          <p:cNvPr id="39" name="Text 37"/>
          <p:cNvSpPr txBox="1"/>
          <p:nvPr/>
        </p:nvSpPr>
        <p:spPr>
          <a:xfrm>
            <a:off x="1252728" y="4754880"/>
            <a:ext cx="1609344"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利用登録</a:t>
            </a:r>
            <a:endParaRPr lang="en-US" sz="1400" dirty="0"/>
          </a:p>
        </p:txBody>
      </p:sp>
      <p:sp>
        <p:nvSpPr>
          <p:cNvPr id="40" name="Shape 38"/>
          <p:cNvSpPr/>
          <p:nvPr/>
        </p:nvSpPr>
        <p:spPr>
          <a:xfrm>
            <a:off x="3566160" y="4754880"/>
            <a:ext cx="8076895" cy="640080"/>
          </a:xfrm>
          <a:prstGeom prst="roundRect">
            <a:avLst>
              <a:gd name="adj" fmla="val 11429"/>
            </a:avLst>
          </a:prstGeom>
          <a:solidFill>
            <a:srgbClr val="F6F9F7"/>
          </a:solidFill>
          <a:ln w="9525">
            <a:solidFill>
              <a:srgbClr val="DCE7DF"/>
            </a:solidFill>
            <a:prstDash val="solid"/>
          </a:ln>
        </p:spPr>
      </p:sp>
      <p:sp>
        <p:nvSpPr>
          <p:cNvPr id="41" name="Text 39"/>
          <p:cNvSpPr txBox="1"/>
          <p:nvPr/>
        </p:nvSpPr>
        <p:spPr>
          <a:xfrm>
            <a:off x="3703320" y="4754880"/>
            <a:ext cx="201168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見学・体験</a:t>
            </a:r>
            <a:endParaRPr lang="en-US" sz="1150" dirty="0"/>
          </a:p>
        </p:txBody>
      </p:sp>
      <p:sp>
        <p:nvSpPr>
          <p:cNvPr id="42" name="Text 40"/>
          <p:cNvSpPr txBox="1"/>
          <p:nvPr/>
        </p:nvSpPr>
        <p:spPr>
          <a:xfrm>
            <a:off x="5806440" y="4754880"/>
            <a:ext cx="196596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1日の流れ・ご家族向け動画</a:t>
            </a:r>
            <a:endParaRPr lang="en-US" sz="1150" dirty="0"/>
          </a:p>
        </p:txBody>
      </p:sp>
      <p:sp>
        <p:nvSpPr>
          <p:cNvPr id="43" name="Text 41"/>
          <p:cNvSpPr txBox="1"/>
          <p:nvPr/>
        </p:nvSpPr>
        <p:spPr>
          <a:xfrm>
            <a:off x="7863840" y="4754880"/>
            <a:ext cx="205740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利用登録</a:t>
            </a:r>
            <a:endParaRPr lang="en-US" sz="1150" dirty="0"/>
          </a:p>
        </p:txBody>
      </p:sp>
      <p:sp>
        <p:nvSpPr>
          <p:cNvPr id="44" name="Text 42"/>
          <p:cNvSpPr txBox="1"/>
          <p:nvPr/>
        </p:nvSpPr>
        <p:spPr>
          <a:xfrm>
            <a:off x="10012680" y="4754880"/>
            <a:ext cx="1627632" cy="640080"/>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登録数・若い世代の比率</a:t>
            </a:r>
            <a:endParaRPr lang="en-US" sz="1150" dirty="0"/>
          </a:p>
        </p:txBody>
      </p:sp>
      <p:sp>
        <p:nvSpPr>
          <p:cNvPr id="45" name="Shape 43"/>
          <p:cNvSpPr/>
          <p:nvPr/>
        </p:nvSpPr>
        <p:spPr>
          <a:xfrm>
            <a:off x="1417320" y="5513832"/>
            <a:ext cx="1280160" cy="640080"/>
          </a:xfrm>
          <a:prstGeom prst="roundRect">
            <a:avLst>
              <a:gd name="adj" fmla="val 14286"/>
            </a:avLst>
          </a:prstGeom>
          <a:solidFill>
            <a:srgbClr val="B8652A"/>
          </a:solidFill>
          <a:ln w="12700">
            <a:solidFill>
              <a:srgbClr val="B8652A"/>
            </a:solidFill>
            <a:prstDash val="solid"/>
          </a:ln>
        </p:spPr>
      </p:sp>
      <p:sp>
        <p:nvSpPr>
          <p:cNvPr id="46" name="Text 44"/>
          <p:cNvSpPr txBox="1"/>
          <p:nvPr/>
        </p:nvSpPr>
        <p:spPr>
          <a:xfrm>
            <a:off x="1417320" y="5513832"/>
            <a:ext cx="128016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継続・紹介</a:t>
            </a:r>
            <a:endParaRPr lang="en-US" sz="1400" dirty="0"/>
          </a:p>
        </p:txBody>
      </p:sp>
      <p:sp>
        <p:nvSpPr>
          <p:cNvPr id="47" name="Shape 45"/>
          <p:cNvSpPr/>
          <p:nvPr/>
        </p:nvSpPr>
        <p:spPr>
          <a:xfrm>
            <a:off x="3566160" y="5513832"/>
            <a:ext cx="8076895" cy="640080"/>
          </a:xfrm>
          <a:prstGeom prst="roundRect">
            <a:avLst>
              <a:gd name="adj" fmla="val 11429"/>
            </a:avLst>
          </a:prstGeom>
          <a:solidFill>
            <a:srgbClr val="FFFFFF"/>
          </a:solidFill>
          <a:ln w="9525">
            <a:solidFill>
              <a:srgbClr val="DCE7DF"/>
            </a:solidFill>
            <a:prstDash val="solid"/>
          </a:ln>
        </p:spPr>
      </p:sp>
      <p:sp>
        <p:nvSpPr>
          <p:cNvPr id="48" name="Text 46"/>
          <p:cNvSpPr txBox="1"/>
          <p:nvPr/>
        </p:nvSpPr>
        <p:spPr>
          <a:xfrm>
            <a:off x="3703320" y="5513832"/>
            <a:ext cx="201168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紹介元への定期配信</a:t>
            </a:r>
            <a:endParaRPr lang="en-US" sz="1150" dirty="0"/>
          </a:p>
        </p:txBody>
      </p:sp>
      <p:sp>
        <p:nvSpPr>
          <p:cNvPr id="49" name="Text 47"/>
          <p:cNvSpPr txBox="1"/>
          <p:nvPr/>
        </p:nvSpPr>
        <p:spPr>
          <a:xfrm>
            <a:off x="5806440" y="5513832"/>
            <a:ext cx="196596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季節の活動紹介動画</a:t>
            </a:r>
            <a:endParaRPr lang="en-US" sz="1150" dirty="0"/>
          </a:p>
        </p:txBody>
      </p:sp>
      <p:sp>
        <p:nvSpPr>
          <p:cNvPr id="50" name="Text 48"/>
          <p:cNvSpPr txBox="1"/>
          <p:nvPr/>
        </p:nvSpPr>
        <p:spPr>
          <a:xfrm>
            <a:off x="7863840" y="5513832"/>
            <a:ext cx="2057400" cy="640080"/>
          </a:xfrm>
          <a:prstGeom prst="rect">
            <a:avLst/>
          </a:prstGeom>
          <a:noFill/>
          <a:ln/>
        </p:spPr>
        <p:txBody>
          <a:bodyPr wrap="square" lIns="0" tIns="0" rIns="0" bIns="0" rtlCol="0" anchor="ctr"/>
          <a:lstStyle/>
          <a:p>
            <a:pPr indent="0" marL="0">
              <a:buNone/>
            </a:pPr>
            <a:r>
              <a:rPr lang="en-US" sz="1150" dirty="0">
                <a:solidFill>
                  <a:srgbClr val="2A322D"/>
                </a:solidFill>
                <a:latin typeface="Meiryo UI" pitchFamily="34" charset="0"/>
                <a:ea typeface="Meiryo UI" pitchFamily="34" charset="-122"/>
                <a:cs typeface="Meiryo UI" pitchFamily="34" charset="-120"/>
              </a:rPr>
              <a:t>紹介元・ご家族からの紹介</a:t>
            </a:r>
            <a:endParaRPr lang="en-US" sz="1150" dirty="0"/>
          </a:p>
        </p:txBody>
      </p:sp>
      <p:sp>
        <p:nvSpPr>
          <p:cNvPr id="51" name="Text 49"/>
          <p:cNvSpPr txBox="1"/>
          <p:nvPr/>
        </p:nvSpPr>
        <p:spPr>
          <a:xfrm>
            <a:off x="10012680" y="5513832"/>
            <a:ext cx="1627632" cy="640080"/>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継続率・紹介数</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04｜PULL STRATEGY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発信ガイドライン：利用者のプライバシーと尊厳を守る</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精神障害に関わる発信では、個人情報の保護と、誤解や偏見を生まない表現への配慮が欠かせません。</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16</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868680" y="2194560"/>
            <a:ext cx="777240" cy="777240"/>
          </a:xfrm>
          <a:prstGeom prst="ellipse">
            <a:avLst/>
          </a:prstGeom>
          <a:solidFill>
            <a:srgbClr val="EDF3EF"/>
          </a:solidFill>
          <a:ln w="12700">
            <a:solidFill>
              <a:srgbClr val="EDF3EF"/>
            </a:solidFill>
            <a:prstDash val="solid"/>
          </a:ln>
        </p:spPr>
      </p:sp>
      <p:pic>
        <p:nvPicPr>
          <p:cNvPr id="9" name="Image 0" descr="preencoded.png">    </p:cNvPr>
          <p:cNvPicPr>
            <a:picLocks noChangeAspect="1"/>
          </p:cNvPicPr>
          <p:nvPr/>
        </p:nvPicPr>
        <p:blipFill>
          <a:blip r:embed="rId1"/>
          <a:stretch>
            <a:fillRect/>
          </a:stretch>
        </p:blipFill>
        <p:spPr>
          <a:xfrm>
            <a:off x="1070762" y="2396642"/>
            <a:ext cx="373075" cy="373075"/>
          </a:xfrm>
          <a:prstGeom prst="rect">
            <a:avLst/>
          </a:prstGeom>
        </p:spPr>
      </p:pic>
      <p:sp>
        <p:nvSpPr>
          <p:cNvPr id="10" name="Text 7"/>
          <p:cNvSpPr txBox="1"/>
          <p:nvPr/>
        </p:nvSpPr>
        <p:spPr>
          <a:xfrm>
            <a:off x="1920240" y="2194560"/>
            <a:ext cx="3764128" cy="41148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利用者のプライバシー保護</a:t>
            </a:r>
            <a:endParaRPr lang="en-US" sz="1600" dirty="0"/>
          </a:p>
        </p:txBody>
      </p:sp>
      <p:sp>
        <p:nvSpPr>
          <p:cNvPr id="11" name="Text 8"/>
          <p:cNvSpPr txBox="1"/>
          <p:nvPr/>
        </p:nvSpPr>
        <p:spPr>
          <a:xfrm>
            <a:off x="1920240" y="2651760"/>
            <a:ext cx="3764128" cy="8686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利用者の顔・名前・病名など、個人が特定される情報は出しません。必要な場合は本人の同意を得ます。</a:t>
            </a:r>
            <a:endParaRPr lang="en-US" sz="1200" dirty="0"/>
          </a:p>
        </p:txBody>
      </p:sp>
      <p:sp>
        <p:nvSpPr>
          <p:cNvPr id="12" name="Shape 9"/>
          <p:cNvSpPr/>
          <p:nvPr/>
        </p:nvSpPr>
        <p:spPr>
          <a:xfrm>
            <a:off x="6233008" y="187452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6553048" y="2194560"/>
            <a:ext cx="777240" cy="777240"/>
          </a:xfrm>
          <a:prstGeom prst="ellipse">
            <a:avLst/>
          </a:prstGeom>
          <a:solidFill>
            <a:srgbClr val="EDF3EF"/>
          </a:solidFill>
          <a:ln w="12700">
            <a:solidFill>
              <a:srgbClr val="EDF3EF"/>
            </a:solidFill>
            <a:prstDash val="solid"/>
          </a:ln>
        </p:spPr>
      </p:sp>
      <p:pic>
        <p:nvPicPr>
          <p:cNvPr id="14" name="Image 1" descr="preencoded.png">    </p:cNvPr>
          <p:cNvPicPr>
            <a:picLocks noChangeAspect="1"/>
          </p:cNvPicPr>
          <p:nvPr/>
        </p:nvPicPr>
        <p:blipFill>
          <a:blip r:embed="rId2"/>
          <a:stretch>
            <a:fillRect/>
          </a:stretch>
        </p:blipFill>
        <p:spPr>
          <a:xfrm>
            <a:off x="6755130" y="2396642"/>
            <a:ext cx="373075" cy="373075"/>
          </a:xfrm>
          <a:prstGeom prst="rect">
            <a:avLst/>
          </a:prstGeom>
        </p:spPr>
      </p:pic>
      <p:sp>
        <p:nvSpPr>
          <p:cNvPr id="15" name="Text 11"/>
          <p:cNvSpPr txBox="1"/>
          <p:nvPr/>
        </p:nvSpPr>
        <p:spPr>
          <a:xfrm>
            <a:off x="7604608" y="2194560"/>
            <a:ext cx="3764128" cy="41148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回復や成果を約束しない</a:t>
            </a:r>
            <a:endParaRPr lang="en-US" sz="1600" dirty="0"/>
          </a:p>
        </p:txBody>
      </p:sp>
      <p:sp>
        <p:nvSpPr>
          <p:cNvPr id="16" name="Text 12"/>
          <p:cNvSpPr txBox="1"/>
          <p:nvPr/>
        </p:nvSpPr>
        <p:spPr>
          <a:xfrm>
            <a:off x="7604608" y="2651760"/>
            <a:ext cx="3764128" cy="8686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「必ず良くなる」「就職できる」など、効果や成果を断定・保証する表現は使いません。</a:t>
            </a:r>
            <a:endParaRPr lang="en-US" sz="1200" dirty="0"/>
          </a:p>
        </p:txBody>
      </p:sp>
      <p:sp>
        <p:nvSpPr>
          <p:cNvPr id="17" name="Shape 13"/>
          <p:cNvSpPr/>
          <p:nvPr/>
        </p:nvSpPr>
        <p:spPr>
          <a:xfrm>
            <a:off x="548640"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8680" y="4206240"/>
            <a:ext cx="777240" cy="777240"/>
          </a:xfrm>
          <a:prstGeom prst="ellipse">
            <a:avLst/>
          </a:prstGeom>
          <a:solidFill>
            <a:srgbClr val="EDF3EF"/>
          </a:solidFill>
          <a:ln w="12700">
            <a:solidFill>
              <a:srgbClr val="EDF3EF"/>
            </a:solidFill>
            <a:prstDash val="solid"/>
          </a:ln>
        </p:spPr>
      </p:sp>
      <p:pic>
        <p:nvPicPr>
          <p:cNvPr id="19" name="Image 2" descr="preencoded.png">    </p:cNvPr>
          <p:cNvPicPr>
            <a:picLocks noChangeAspect="1"/>
          </p:cNvPicPr>
          <p:nvPr/>
        </p:nvPicPr>
        <p:blipFill>
          <a:blip r:embed="rId3"/>
          <a:stretch>
            <a:fillRect/>
          </a:stretch>
        </p:blipFill>
        <p:spPr>
          <a:xfrm>
            <a:off x="1070762" y="4408322"/>
            <a:ext cx="373075" cy="373075"/>
          </a:xfrm>
          <a:prstGeom prst="rect">
            <a:avLst/>
          </a:prstGeom>
        </p:spPr>
      </p:pic>
      <p:sp>
        <p:nvSpPr>
          <p:cNvPr id="20" name="Text 15"/>
          <p:cNvSpPr txBox="1"/>
          <p:nvPr/>
        </p:nvSpPr>
        <p:spPr>
          <a:xfrm>
            <a:off x="1920240" y="4206240"/>
            <a:ext cx="3764128" cy="41148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偏見を生まない言葉選び</a:t>
            </a:r>
            <a:endParaRPr lang="en-US" sz="1600" dirty="0"/>
          </a:p>
        </p:txBody>
      </p:sp>
      <p:sp>
        <p:nvSpPr>
          <p:cNvPr id="21" name="Text 16"/>
          <p:cNvSpPr txBox="1"/>
          <p:nvPr/>
        </p:nvSpPr>
        <p:spPr>
          <a:xfrm>
            <a:off x="1920240" y="4663440"/>
            <a:ext cx="3764128" cy="8686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病気や障害を必要以上に強調せず、一人の人として伝える言葉を使います。</a:t>
            </a:r>
            <a:endParaRPr lang="en-US" sz="1200" dirty="0"/>
          </a:p>
        </p:txBody>
      </p:sp>
      <p:sp>
        <p:nvSpPr>
          <p:cNvPr id="22" name="Shape 17"/>
          <p:cNvSpPr/>
          <p:nvPr/>
        </p:nvSpPr>
        <p:spPr>
          <a:xfrm>
            <a:off x="6233008" y="3886200"/>
            <a:ext cx="5410048"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6553048" y="4206240"/>
            <a:ext cx="777240" cy="777240"/>
          </a:xfrm>
          <a:prstGeom prst="ellipse">
            <a:avLst/>
          </a:prstGeom>
          <a:solidFill>
            <a:srgbClr val="EDF3EF"/>
          </a:solidFill>
          <a:ln w="12700">
            <a:solidFill>
              <a:srgbClr val="EDF3EF"/>
            </a:solidFill>
            <a:prstDash val="solid"/>
          </a:ln>
        </p:spPr>
      </p:sp>
      <p:pic>
        <p:nvPicPr>
          <p:cNvPr id="24" name="Image 3" descr="preencoded.png">    </p:cNvPr>
          <p:cNvPicPr>
            <a:picLocks noChangeAspect="1"/>
          </p:cNvPicPr>
          <p:nvPr/>
        </p:nvPicPr>
        <p:blipFill>
          <a:blip r:embed="rId4"/>
          <a:stretch>
            <a:fillRect/>
          </a:stretch>
        </p:blipFill>
        <p:spPr>
          <a:xfrm>
            <a:off x="6755130" y="4408322"/>
            <a:ext cx="373075" cy="373075"/>
          </a:xfrm>
          <a:prstGeom prst="rect">
            <a:avLst/>
          </a:prstGeom>
        </p:spPr>
      </p:pic>
      <p:sp>
        <p:nvSpPr>
          <p:cNvPr id="25" name="Text 19"/>
          <p:cNvSpPr txBox="1"/>
          <p:nvPr/>
        </p:nvSpPr>
        <p:spPr>
          <a:xfrm>
            <a:off x="7604608" y="4206240"/>
            <a:ext cx="3764128" cy="411480"/>
          </a:xfrm>
          <a:prstGeom prst="rect">
            <a:avLst/>
          </a:prstGeom>
          <a:noFill/>
          <a:ln/>
        </p:spPr>
        <p:txBody>
          <a:bodyPr wrap="square" lIns="0" tIns="0" rIns="0" bIns="0" rtlCol="0" anchor="t"/>
          <a:lstStyle/>
          <a:p>
            <a:pPr indent="0" marL="0">
              <a:buNone/>
            </a:pPr>
            <a:r>
              <a:rPr lang="en-US" sz="1600" b="1" dirty="0">
                <a:solidFill>
                  <a:srgbClr val="46705A"/>
                </a:solidFill>
                <a:latin typeface="Meiryo UI" pitchFamily="34" charset="0"/>
                <a:ea typeface="Meiryo UI" pitchFamily="34" charset="-122"/>
                <a:cs typeface="Meiryo UI" pitchFamily="34" charset="-120"/>
              </a:rPr>
              <a:t>行政の事業としてのルール確認</a:t>
            </a:r>
            <a:endParaRPr lang="en-US" sz="1600" dirty="0"/>
          </a:p>
        </p:txBody>
      </p:sp>
      <p:sp>
        <p:nvSpPr>
          <p:cNvPr id="26" name="Text 20"/>
          <p:cNvSpPr txBox="1"/>
          <p:nvPr/>
        </p:nvSpPr>
        <p:spPr>
          <a:xfrm>
            <a:off x="7604608" y="4663440"/>
            <a:ext cx="3764128" cy="868680"/>
          </a:xfrm>
          <a:prstGeom prst="rect">
            <a:avLst/>
          </a:prstGeom>
          <a:noFill/>
          <a:ln/>
        </p:spPr>
        <p:txBody>
          <a:bodyPr wrap="square" lIns="0" tIns="0" rIns="0" bIns="0" rtlCol="0" anchor="t"/>
          <a:lstStyle/>
          <a:p>
            <a:pPr indent="0" marL="0">
              <a:buNone/>
            </a:pPr>
            <a:r>
              <a:rPr lang="en-US" sz="1200" dirty="0">
                <a:solidFill>
                  <a:srgbClr val="2A322D"/>
                </a:solidFill>
                <a:latin typeface="Meiryo UI" pitchFamily="34" charset="0"/>
                <a:ea typeface="Meiryo UI" pitchFamily="34" charset="-122"/>
                <a:cs typeface="Meiryo UI" pitchFamily="34" charset="-120"/>
              </a:rPr>
              <a:t>仙台市の補助・委託事業として広報のルールがあれば、事前に確認してから発信します。</a:t>
            </a:r>
            <a:endParaRPr lang="en-US" sz="1200" dirty="0"/>
          </a:p>
        </p:txBody>
      </p:sp>
      <p:sp>
        <p:nvSpPr>
          <p:cNvPr id="27" name="Text 21"/>
          <p:cNvSpPr txBox="1"/>
          <p:nvPr/>
        </p:nvSpPr>
        <p:spPr>
          <a:xfrm>
            <a:off x="548640" y="5943600"/>
            <a:ext cx="11094415" cy="365760"/>
          </a:xfrm>
          <a:prstGeom prst="rect">
            <a:avLst/>
          </a:prstGeom>
          <a:noFill/>
          <a:ln/>
        </p:spPr>
        <p:txBody>
          <a:bodyPr wrap="square" lIns="0" tIns="0" rIns="0" bIns="0" rtlCol="0" anchor="t"/>
          <a:lstStyle/>
          <a:p>
            <a:pPr algn="ctr" indent="0" marL="0">
              <a:buNone/>
            </a:pPr>
            <a:r>
              <a:rPr lang="en-US" sz="1250" b="1" dirty="0">
                <a:solidFill>
                  <a:srgbClr val="B8652A"/>
                </a:solidFill>
                <a:latin typeface="Meiryo UI" pitchFamily="34" charset="0"/>
                <a:ea typeface="Meiryo UI" pitchFamily="34" charset="-122"/>
                <a:cs typeface="Meiryo UI" pitchFamily="34" charset="-120"/>
              </a:rPr>
              <a:t>“あたたかさ”と“正確さ”を両立する言葉選びを、台本の段階から徹底します。</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無料3本は「サービス紹介」ではなく「効果検証のプロトタイプ」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371600"/>
            <a:ext cx="11094415" cy="822960"/>
          </a:xfrm>
          <a:prstGeom prst="roundRect">
            <a:avLst>
              <a:gd name="adj" fmla="val 13333"/>
            </a:avLst>
          </a:prstGeom>
          <a:solidFill>
            <a:srgbClr val="2F4D3D"/>
          </a:solidFill>
          <a:ln w="12700">
            <a:solidFill>
              <a:srgbClr val="2F4D3D"/>
            </a:solidFill>
            <a:prstDash val="solid"/>
          </a:ln>
        </p:spPr>
      </p:sp>
      <p:sp>
        <p:nvSpPr>
          <p:cNvPr id="7" name="Text 5"/>
          <p:cNvSpPr txBox="1"/>
          <p:nvPr/>
        </p:nvSpPr>
        <p:spPr>
          <a:xfrm>
            <a:off x="914400" y="1371600"/>
            <a:ext cx="10362895"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UI" pitchFamily="34" charset="0"/>
                <a:ea typeface="Meiryo UI" pitchFamily="34" charset="-122"/>
                <a:cs typeface="Meiryo UI" pitchFamily="34" charset="-120"/>
              </a:rPr>
              <a:t>プッシュとプル、どの型・どの相手・どのチャネルが最も成果につながるかを、</a:t>
            </a:r>
            <a:endParaRPr lang="en-US" sz="1500" dirty="0"/>
          </a:p>
          <a:p>
            <a:pPr indent="0" marL="0">
              <a:buNone/>
            </a:pPr>
            <a:r>
              <a:rPr lang="en-US" sz="1500" b="1" dirty="0">
                <a:solidFill>
                  <a:srgbClr val="FFFFFF"/>
                </a:solidFill>
                <a:latin typeface="Meiryo UI" pitchFamily="34" charset="0"/>
                <a:ea typeface="Meiryo UI" pitchFamily="34" charset="-122"/>
                <a:cs typeface="Meiryo UI" pitchFamily="34" charset="-120"/>
              </a:rPr>
              <a:t>あえて条件を変えた3本で同時に比較検証します。</a:t>
            </a:r>
            <a:endParaRPr lang="en-US" sz="1500" dirty="0"/>
          </a:p>
        </p:txBody>
      </p:sp>
      <p:sp>
        <p:nvSpPr>
          <p:cNvPr id="8" name="Shape 6"/>
          <p:cNvSpPr/>
          <p:nvPr/>
        </p:nvSpPr>
        <p:spPr>
          <a:xfrm>
            <a:off x="548640"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777240" y="2606040"/>
            <a:ext cx="502920" cy="502920"/>
          </a:xfrm>
          <a:prstGeom prst="ellipse">
            <a:avLst/>
          </a:prstGeom>
          <a:solidFill>
            <a:srgbClr val="B8652A"/>
          </a:solidFill>
          <a:ln w="12700">
            <a:solidFill>
              <a:srgbClr val="B8652A"/>
            </a:solidFill>
            <a:prstDash val="solid"/>
          </a:ln>
        </p:spPr>
      </p:sp>
      <p:sp>
        <p:nvSpPr>
          <p:cNvPr id="10" name="Text 8"/>
          <p:cNvSpPr txBox="1"/>
          <p:nvPr/>
        </p:nvSpPr>
        <p:spPr>
          <a:xfrm>
            <a:off x="77724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11" name="Text 9"/>
          <p:cNvSpPr txBox="1"/>
          <p:nvPr/>
        </p:nvSpPr>
        <p:spPr>
          <a:xfrm>
            <a:off x="1417320" y="2560320"/>
            <a:ext cx="2509418" cy="347472"/>
          </a:xfrm>
          <a:prstGeom prst="rect">
            <a:avLst/>
          </a:prstGeom>
          <a:noFill/>
          <a:ln/>
        </p:spPr>
        <p:txBody>
          <a:bodyPr wrap="square" lIns="0" tIns="0" rIns="0" bIns="0" rtlCol="0" anchor="t"/>
          <a:lstStyle/>
          <a:p>
            <a:pPr indent="0" marL="0">
              <a:buNone/>
            </a:pPr>
            <a:r>
              <a:rPr lang="en-US" sz="1500" b="1" dirty="0">
                <a:solidFill>
                  <a:srgbClr val="46705A"/>
                </a:solidFill>
                <a:latin typeface="Meiryo UI" pitchFamily="34" charset="0"/>
                <a:ea typeface="Meiryo UI" pitchFamily="34" charset="-122"/>
                <a:cs typeface="Meiryo UI" pitchFamily="34" charset="-120"/>
              </a:rPr>
              <a:t>プッシュ検証</a:t>
            </a:r>
            <a:endParaRPr lang="en-US" sz="1500" dirty="0"/>
          </a:p>
        </p:txBody>
      </p:sp>
      <p:sp>
        <p:nvSpPr>
          <p:cNvPr id="12" name="Text 10"/>
          <p:cNvSpPr txBox="1"/>
          <p:nvPr/>
        </p:nvSpPr>
        <p:spPr>
          <a:xfrm>
            <a:off x="1417320" y="2880360"/>
            <a:ext cx="2509418" cy="274320"/>
          </a:xfrm>
          <a:prstGeom prst="rect">
            <a:avLst/>
          </a:prstGeom>
          <a:noFill/>
          <a:ln/>
        </p:spPr>
        <p:txBody>
          <a:bodyPr wrap="square" lIns="0" tIns="0" rIns="0" bIns="0" rtlCol="0" anchor="t"/>
          <a:lstStyle/>
          <a:p>
            <a:pPr indent="0" marL="0">
              <a:buNone/>
            </a:pPr>
            <a:r>
              <a:rPr lang="en-US" sz="1150" b="1" dirty="0">
                <a:solidFill>
                  <a:srgbClr val="B8652A"/>
                </a:solidFill>
                <a:latin typeface="Meiryo UI" pitchFamily="34" charset="0"/>
                <a:ea typeface="Meiryo UI" pitchFamily="34" charset="-122"/>
                <a:cs typeface="Meiryo UI" pitchFamily="34" charset="-120"/>
              </a:rPr>
              <a:t>長尺解説型</a:t>
            </a:r>
            <a:endParaRPr lang="en-US" sz="1150" dirty="0"/>
          </a:p>
        </p:txBody>
      </p:sp>
      <p:sp>
        <p:nvSpPr>
          <p:cNvPr id="13" name="Text 11"/>
          <p:cNvSpPr txBox="1"/>
          <p:nvPr/>
        </p:nvSpPr>
        <p:spPr>
          <a:xfrm>
            <a:off x="777240" y="3319272"/>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ターゲット</a:t>
            </a:r>
            <a:endParaRPr lang="en-US" sz="1050" dirty="0"/>
          </a:p>
        </p:txBody>
      </p:sp>
      <p:sp>
        <p:nvSpPr>
          <p:cNvPr id="14" name="Text 12"/>
          <p:cNvSpPr txBox="1"/>
          <p:nvPr/>
        </p:nvSpPr>
        <p:spPr>
          <a:xfrm>
            <a:off x="1828800" y="3319272"/>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区役所・相談支援事業所・医療機関などの紹介元</a:t>
            </a:r>
            <a:endParaRPr lang="en-US" sz="1100" dirty="0"/>
          </a:p>
        </p:txBody>
      </p:sp>
      <p:sp>
        <p:nvSpPr>
          <p:cNvPr id="15" name="Text 13"/>
          <p:cNvSpPr txBox="1"/>
          <p:nvPr/>
        </p:nvSpPr>
        <p:spPr>
          <a:xfrm>
            <a:off x="777240" y="3895344"/>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テーマ案</a:t>
            </a:r>
            <a:endParaRPr lang="en-US" sz="1050" dirty="0"/>
          </a:p>
        </p:txBody>
      </p:sp>
      <p:sp>
        <p:nvSpPr>
          <p:cNvPr id="16" name="Text 14"/>
          <p:cNvSpPr txBox="1"/>
          <p:nvPr/>
        </p:nvSpPr>
        <p:spPr>
          <a:xfrm>
            <a:off x="1828800" y="3895344"/>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創働舎のご紹介 ― 支援の考え方と1日の流れ</a:t>
            </a:r>
            <a:endParaRPr lang="en-US" sz="1100" dirty="0"/>
          </a:p>
        </p:txBody>
      </p:sp>
      <p:sp>
        <p:nvSpPr>
          <p:cNvPr id="17" name="Text 15"/>
          <p:cNvSpPr txBox="1"/>
          <p:nvPr/>
        </p:nvSpPr>
        <p:spPr>
          <a:xfrm>
            <a:off x="777240" y="4471416"/>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配信先</a:t>
            </a:r>
            <a:endParaRPr lang="en-US" sz="1050" dirty="0"/>
          </a:p>
        </p:txBody>
      </p:sp>
      <p:sp>
        <p:nvSpPr>
          <p:cNvPr id="18" name="Text 16"/>
          <p:cNvSpPr txBox="1"/>
          <p:nvPr/>
        </p:nvSpPr>
        <p:spPr>
          <a:xfrm>
            <a:off x="1828800" y="4471416"/>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紹介元への案内メール、訪問時の共有、ハンドブックのQR</a:t>
            </a:r>
            <a:endParaRPr lang="en-US" sz="1100" dirty="0"/>
          </a:p>
        </p:txBody>
      </p:sp>
      <p:sp>
        <p:nvSpPr>
          <p:cNvPr id="19" name="Text 17"/>
          <p:cNvSpPr txBox="1"/>
          <p:nvPr/>
        </p:nvSpPr>
        <p:spPr>
          <a:xfrm>
            <a:off x="777240" y="5047488"/>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検証する仮説</a:t>
            </a:r>
            <a:endParaRPr lang="en-US" sz="1050" dirty="0"/>
          </a:p>
        </p:txBody>
      </p:sp>
      <p:sp>
        <p:nvSpPr>
          <p:cNvPr id="20" name="Text 18"/>
          <p:cNvSpPr txBox="1"/>
          <p:nvPr/>
        </p:nvSpPr>
        <p:spPr>
          <a:xfrm>
            <a:off x="1828800" y="5047488"/>
            <a:ext cx="2052218" cy="530352"/>
          </a:xfrm>
          <a:prstGeom prst="rect">
            <a:avLst/>
          </a:prstGeom>
          <a:noFill/>
          <a:ln/>
        </p:spPr>
        <p:txBody>
          <a:bodyPr wrap="square" lIns="0" tIns="0" rIns="0" bIns="0" rtlCol="0" anchor="t"/>
          <a:lstStyle/>
          <a:p>
            <a:pPr indent="0" marL="0">
              <a:buNone/>
            </a:pPr>
            <a:r>
              <a:rPr lang="en-US" sz="1100" b="1" dirty="0">
                <a:solidFill>
                  <a:srgbClr val="2A322D"/>
                </a:solidFill>
                <a:latin typeface="Meiryo UI" pitchFamily="34" charset="0"/>
                <a:ea typeface="Meiryo UI" pitchFamily="34" charset="-122"/>
                <a:cs typeface="Meiryo UI" pitchFamily="34" charset="-120"/>
              </a:rPr>
              <a:t>紹介元に動画を届けると、見学・相談の紹介は増えるか</a:t>
            </a:r>
            <a:endParaRPr lang="en-US" sz="1100" dirty="0"/>
          </a:p>
        </p:txBody>
      </p:sp>
      <p:sp>
        <p:nvSpPr>
          <p:cNvPr id="21" name="Text 19"/>
          <p:cNvSpPr txBox="1"/>
          <p:nvPr/>
        </p:nvSpPr>
        <p:spPr>
          <a:xfrm>
            <a:off x="777240" y="5623560"/>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主なKPI</a:t>
            </a:r>
            <a:endParaRPr lang="en-US" sz="1050" dirty="0"/>
          </a:p>
        </p:txBody>
      </p:sp>
      <p:sp>
        <p:nvSpPr>
          <p:cNvPr id="22" name="Text 20"/>
          <p:cNvSpPr txBox="1"/>
          <p:nvPr/>
        </p:nvSpPr>
        <p:spPr>
          <a:xfrm>
            <a:off x="1828800" y="5623560"/>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視聴率／紹介件数／見学数</a:t>
            </a:r>
            <a:endParaRPr lang="en-US" sz="1100" dirty="0"/>
          </a:p>
        </p:txBody>
      </p:sp>
      <p:sp>
        <p:nvSpPr>
          <p:cNvPr id="23" name="Shape 21"/>
          <p:cNvSpPr/>
          <p:nvPr/>
        </p:nvSpPr>
        <p:spPr>
          <a:xfrm>
            <a:off x="4338218"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2606040"/>
            <a:ext cx="502920" cy="502920"/>
          </a:xfrm>
          <a:prstGeom prst="ellipse">
            <a:avLst/>
          </a:prstGeom>
          <a:solidFill>
            <a:srgbClr val="B8652A"/>
          </a:solidFill>
          <a:ln w="12700">
            <a:solidFill>
              <a:srgbClr val="B8652A"/>
            </a:solidFill>
            <a:prstDash val="solid"/>
          </a:ln>
        </p:spPr>
      </p:sp>
      <p:sp>
        <p:nvSpPr>
          <p:cNvPr id="25" name="Text 23"/>
          <p:cNvSpPr txBox="1"/>
          <p:nvPr/>
        </p:nvSpPr>
        <p:spPr>
          <a:xfrm>
            <a:off x="456681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26" name="Text 24"/>
          <p:cNvSpPr txBox="1"/>
          <p:nvPr/>
        </p:nvSpPr>
        <p:spPr>
          <a:xfrm>
            <a:off x="5206898" y="2560320"/>
            <a:ext cx="2509418" cy="347472"/>
          </a:xfrm>
          <a:prstGeom prst="rect">
            <a:avLst/>
          </a:prstGeom>
          <a:noFill/>
          <a:ln/>
        </p:spPr>
        <p:txBody>
          <a:bodyPr wrap="square" lIns="0" tIns="0" rIns="0" bIns="0" rtlCol="0" anchor="t"/>
          <a:lstStyle/>
          <a:p>
            <a:pPr indent="0" marL="0">
              <a:buNone/>
            </a:pPr>
            <a:r>
              <a:rPr lang="en-US" sz="1500" b="1" dirty="0">
                <a:solidFill>
                  <a:srgbClr val="46705A"/>
                </a:solidFill>
                <a:latin typeface="Meiryo UI" pitchFamily="34" charset="0"/>
                <a:ea typeface="Meiryo UI" pitchFamily="34" charset="-122"/>
                <a:cs typeface="Meiryo UI" pitchFamily="34" charset="-120"/>
              </a:rPr>
              <a:t>プル検証（信頼形成）</a:t>
            </a:r>
            <a:endParaRPr lang="en-US" sz="1500" dirty="0"/>
          </a:p>
        </p:txBody>
      </p:sp>
      <p:sp>
        <p:nvSpPr>
          <p:cNvPr id="27" name="Text 25"/>
          <p:cNvSpPr txBox="1"/>
          <p:nvPr/>
        </p:nvSpPr>
        <p:spPr>
          <a:xfrm>
            <a:off x="5206898" y="2880360"/>
            <a:ext cx="2509418" cy="274320"/>
          </a:xfrm>
          <a:prstGeom prst="rect">
            <a:avLst/>
          </a:prstGeom>
          <a:noFill/>
          <a:ln/>
        </p:spPr>
        <p:txBody>
          <a:bodyPr wrap="square" lIns="0" tIns="0" rIns="0" bIns="0" rtlCol="0" anchor="t"/>
          <a:lstStyle/>
          <a:p>
            <a:pPr indent="0" marL="0">
              <a:buNone/>
            </a:pPr>
            <a:r>
              <a:rPr lang="en-US" sz="1150" b="1" dirty="0">
                <a:solidFill>
                  <a:srgbClr val="B8652A"/>
                </a:solidFill>
                <a:latin typeface="Meiryo UI" pitchFamily="34" charset="0"/>
                <a:ea typeface="Meiryo UI" pitchFamily="34" charset="-122"/>
                <a:cs typeface="Meiryo UI" pitchFamily="34" charset="-120"/>
              </a:rPr>
              <a:t>デザイン重視型</a:t>
            </a:r>
            <a:endParaRPr lang="en-US" sz="1150" dirty="0"/>
          </a:p>
        </p:txBody>
      </p:sp>
      <p:sp>
        <p:nvSpPr>
          <p:cNvPr id="28" name="Text 26"/>
          <p:cNvSpPr txBox="1"/>
          <p:nvPr/>
        </p:nvSpPr>
        <p:spPr>
          <a:xfrm>
            <a:off x="4566818" y="3319272"/>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ターゲット</a:t>
            </a:r>
            <a:endParaRPr lang="en-US" sz="1050" dirty="0"/>
          </a:p>
        </p:txBody>
      </p:sp>
      <p:sp>
        <p:nvSpPr>
          <p:cNvPr id="29" name="Text 27"/>
          <p:cNvSpPr txBox="1"/>
          <p:nvPr/>
        </p:nvSpPr>
        <p:spPr>
          <a:xfrm>
            <a:off x="5618378" y="3319272"/>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ご本人・ご家族</a:t>
            </a:r>
            <a:endParaRPr lang="en-US" sz="1100" dirty="0"/>
          </a:p>
        </p:txBody>
      </p:sp>
      <p:sp>
        <p:nvSpPr>
          <p:cNvPr id="30" name="Text 28"/>
          <p:cNvSpPr txBox="1"/>
          <p:nvPr/>
        </p:nvSpPr>
        <p:spPr>
          <a:xfrm>
            <a:off x="4566818" y="3895344"/>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テーマ案</a:t>
            </a:r>
            <a:endParaRPr lang="en-US" sz="1050" dirty="0"/>
          </a:p>
        </p:txBody>
      </p:sp>
      <p:sp>
        <p:nvSpPr>
          <p:cNvPr id="31" name="Text 29"/>
          <p:cNvSpPr txBox="1"/>
          <p:nvPr/>
        </p:nvSpPr>
        <p:spPr>
          <a:xfrm>
            <a:off x="5618378" y="3895344"/>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ここは、あなたの居場所になる。</a:t>
            </a:r>
            <a:endParaRPr lang="en-US" sz="1100" dirty="0"/>
          </a:p>
        </p:txBody>
      </p:sp>
      <p:sp>
        <p:nvSpPr>
          <p:cNvPr id="32" name="Text 30"/>
          <p:cNvSpPr txBox="1"/>
          <p:nvPr/>
        </p:nvSpPr>
        <p:spPr>
          <a:xfrm>
            <a:off x="4566818" y="4471416"/>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配信先</a:t>
            </a:r>
            <a:endParaRPr lang="en-US" sz="1050" dirty="0"/>
          </a:p>
        </p:txBody>
      </p:sp>
      <p:sp>
        <p:nvSpPr>
          <p:cNvPr id="33" name="Text 31"/>
          <p:cNvSpPr txBox="1"/>
          <p:nvPr/>
        </p:nvSpPr>
        <p:spPr>
          <a:xfrm>
            <a:off x="5618378" y="4471416"/>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Instagram、HP、Googleビジネスプロフィール</a:t>
            </a:r>
            <a:endParaRPr lang="en-US" sz="1100" dirty="0"/>
          </a:p>
        </p:txBody>
      </p:sp>
      <p:sp>
        <p:nvSpPr>
          <p:cNvPr id="34" name="Text 32"/>
          <p:cNvSpPr txBox="1"/>
          <p:nvPr/>
        </p:nvSpPr>
        <p:spPr>
          <a:xfrm>
            <a:off x="4566818" y="5047488"/>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検証する仮説</a:t>
            </a:r>
            <a:endParaRPr lang="en-US" sz="1050" dirty="0"/>
          </a:p>
        </p:txBody>
      </p:sp>
      <p:sp>
        <p:nvSpPr>
          <p:cNvPr id="35" name="Text 33"/>
          <p:cNvSpPr txBox="1"/>
          <p:nvPr/>
        </p:nvSpPr>
        <p:spPr>
          <a:xfrm>
            <a:off x="5618378" y="5047488"/>
            <a:ext cx="2052218" cy="530352"/>
          </a:xfrm>
          <a:prstGeom prst="rect">
            <a:avLst/>
          </a:prstGeom>
          <a:noFill/>
          <a:ln/>
        </p:spPr>
        <p:txBody>
          <a:bodyPr wrap="square" lIns="0" tIns="0" rIns="0" bIns="0" rtlCol="0" anchor="t"/>
          <a:lstStyle/>
          <a:p>
            <a:pPr indent="0" marL="0">
              <a:buNone/>
            </a:pPr>
            <a:r>
              <a:rPr lang="en-US" sz="1100" b="1" dirty="0">
                <a:solidFill>
                  <a:srgbClr val="2A322D"/>
                </a:solidFill>
                <a:latin typeface="Meiryo UI" pitchFamily="34" charset="0"/>
                <a:ea typeface="Meiryo UI" pitchFamily="34" charset="-122"/>
                <a:cs typeface="Meiryo UI" pitchFamily="34" charset="-120"/>
              </a:rPr>
              <a:t>あたたかい雰囲気の動画で、見学の相談は発生するか</a:t>
            </a:r>
            <a:endParaRPr lang="en-US" sz="1100" dirty="0"/>
          </a:p>
        </p:txBody>
      </p:sp>
      <p:sp>
        <p:nvSpPr>
          <p:cNvPr id="36" name="Text 34"/>
          <p:cNvSpPr txBox="1"/>
          <p:nvPr/>
        </p:nvSpPr>
        <p:spPr>
          <a:xfrm>
            <a:off x="4566818" y="5623560"/>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主なKPI</a:t>
            </a:r>
            <a:endParaRPr lang="en-US" sz="1050" dirty="0"/>
          </a:p>
        </p:txBody>
      </p:sp>
      <p:sp>
        <p:nvSpPr>
          <p:cNvPr id="37" name="Text 35"/>
          <p:cNvSpPr txBox="1"/>
          <p:nvPr/>
        </p:nvSpPr>
        <p:spPr>
          <a:xfrm>
            <a:off x="5618378" y="5623560"/>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保存数／HP遷移／問い合わせ数</a:t>
            </a:r>
            <a:endParaRPr lang="en-US" sz="1100" dirty="0"/>
          </a:p>
        </p:txBody>
      </p:sp>
      <p:sp>
        <p:nvSpPr>
          <p:cNvPr id="38" name="Shape 36"/>
          <p:cNvSpPr/>
          <p:nvPr/>
        </p:nvSpPr>
        <p:spPr>
          <a:xfrm>
            <a:off x="8127797" y="2423160"/>
            <a:ext cx="3515258" cy="3840480"/>
          </a:xfrm>
          <a:prstGeom prst="roundRect">
            <a:avLst>
              <a:gd name="adj" fmla="val 312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7"/>
          <p:cNvSpPr/>
          <p:nvPr/>
        </p:nvSpPr>
        <p:spPr>
          <a:xfrm>
            <a:off x="8356397" y="2606040"/>
            <a:ext cx="502920" cy="502920"/>
          </a:xfrm>
          <a:prstGeom prst="ellipse">
            <a:avLst/>
          </a:prstGeom>
          <a:solidFill>
            <a:srgbClr val="B8652A"/>
          </a:solidFill>
          <a:ln w="12700">
            <a:solidFill>
              <a:srgbClr val="B8652A"/>
            </a:solidFill>
            <a:prstDash val="solid"/>
          </a:ln>
        </p:spPr>
      </p:sp>
      <p:sp>
        <p:nvSpPr>
          <p:cNvPr id="40" name="Text 38"/>
          <p:cNvSpPr txBox="1"/>
          <p:nvPr/>
        </p:nvSpPr>
        <p:spPr>
          <a:xfrm>
            <a:off x="8356397"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41" name="Text 39"/>
          <p:cNvSpPr txBox="1"/>
          <p:nvPr/>
        </p:nvSpPr>
        <p:spPr>
          <a:xfrm>
            <a:off x="8996477" y="2560320"/>
            <a:ext cx="2509418" cy="347472"/>
          </a:xfrm>
          <a:prstGeom prst="rect">
            <a:avLst/>
          </a:prstGeom>
          <a:noFill/>
          <a:ln/>
        </p:spPr>
        <p:txBody>
          <a:bodyPr wrap="square" lIns="0" tIns="0" rIns="0" bIns="0" rtlCol="0" anchor="t"/>
          <a:lstStyle/>
          <a:p>
            <a:pPr indent="0" marL="0">
              <a:buNone/>
            </a:pPr>
            <a:r>
              <a:rPr lang="en-US" sz="1500" b="1" dirty="0">
                <a:solidFill>
                  <a:srgbClr val="46705A"/>
                </a:solidFill>
                <a:latin typeface="Meiryo UI" pitchFamily="34" charset="0"/>
                <a:ea typeface="Meiryo UI" pitchFamily="34" charset="-122"/>
                <a:cs typeface="Meiryo UI" pitchFamily="34" charset="-120"/>
              </a:rPr>
              <a:t>プル検証（認知拡大）</a:t>
            </a:r>
            <a:endParaRPr lang="en-US" sz="1500" dirty="0"/>
          </a:p>
        </p:txBody>
      </p:sp>
      <p:sp>
        <p:nvSpPr>
          <p:cNvPr id="42" name="Text 40"/>
          <p:cNvSpPr txBox="1"/>
          <p:nvPr/>
        </p:nvSpPr>
        <p:spPr>
          <a:xfrm>
            <a:off x="8996477" y="2880360"/>
            <a:ext cx="2509418" cy="274320"/>
          </a:xfrm>
          <a:prstGeom prst="rect">
            <a:avLst/>
          </a:prstGeom>
          <a:noFill/>
          <a:ln/>
        </p:spPr>
        <p:txBody>
          <a:bodyPr wrap="square" lIns="0" tIns="0" rIns="0" bIns="0" rtlCol="0" anchor="t"/>
          <a:lstStyle/>
          <a:p>
            <a:pPr indent="0" marL="0">
              <a:buNone/>
            </a:pPr>
            <a:r>
              <a:rPr lang="en-US" sz="1150" b="1" dirty="0">
                <a:solidFill>
                  <a:srgbClr val="B8652A"/>
                </a:solidFill>
                <a:latin typeface="Meiryo UI" pitchFamily="34" charset="0"/>
                <a:ea typeface="Meiryo UI" pitchFamily="34" charset="-122"/>
                <a:cs typeface="Meiryo UI" pitchFamily="34" charset="-120"/>
              </a:rPr>
              <a:t>縦型ショート型</a:t>
            </a:r>
            <a:endParaRPr lang="en-US" sz="1150" dirty="0"/>
          </a:p>
        </p:txBody>
      </p:sp>
      <p:sp>
        <p:nvSpPr>
          <p:cNvPr id="43" name="Text 41"/>
          <p:cNvSpPr txBox="1"/>
          <p:nvPr/>
        </p:nvSpPr>
        <p:spPr>
          <a:xfrm>
            <a:off x="8356397" y="3319272"/>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ターゲット</a:t>
            </a:r>
            <a:endParaRPr lang="en-US" sz="1050" dirty="0"/>
          </a:p>
        </p:txBody>
      </p:sp>
      <p:sp>
        <p:nvSpPr>
          <p:cNvPr id="44" name="Text 42"/>
          <p:cNvSpPr txBox="1"/>
          <p:nvPr/>
        </p:nvSpPr>
        <p:spPr>
          <a:xfrm>
            <a:off x="9407957" y="3319272"/>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PC特化の事業所しか知らない若い世代</a:t>
            </a:r>
            <a:endParaRPr lang="en-US" sz="1100" dirty="0"/>
          </a:p>
        </p:txBody>
      </p:sp>
      <p:sp>
        <p:nvSpPr>
          <p:cNvPr id="45" name="Text 43"/>
          <p:cNvSpPr txBox="1"/>
          <p:nvPr/>
        </p:nvSpPr>
        <p:spPr>
          <a:xfrm>
            <a:off x="8356397" y="3895344"/>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テーマ案</a:t>
            </a:r>
            <a:endParaRPr lang="en-US" sz="1050" dirty="0"/>
          </a:p>
        </p:txBody>
      </p:sp>
      <p:sp>
        <p:nvSpPr>
          <p:cNvPr id="46" name="Text 44"/>
          <p:cNvSpPr txBox="1"/>
          <p:nvPr/>
        </p:nvSpPr>
        <p:spPr>
          <a:xfrm>
            <a:off x="9407957" y="3895344"/>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「PCが苦手」でも大丈夫な場所あります</a:t>
            </a:r>
            <a:endParaRPr lang="en-US" sz="1100" dirty="0"/>
          </a:p>
        </p:txBody>
      </p:sp>
      <p:sp>
        <p:nvSpPr>
          <p:cNvPr id="47" name="Text 45"/>
          <p:cNvSpPr txBox="1"/>
          <p:nvPr/>
        </p:nvSpPr>
        <p:spPr>
          <a:xfrm>
            <a:off x="8356397" y="4471416"/>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配信先</a:t>
            </a:r>
            <a:endParaRPr lang="en-US" sz="1050" dirty="0"/>
          </a:p>
        </p:txBody>
      </p:sp>
      <p:sp>
        <p:nvSpPr>
          <p:cNvPr id="48" name="Text 46"/>
          <p:cNvSpPr txBox="1"/>
          <p:nvPr/>
        </p:nvSpPr>
        <p:spPr>
          <a:xfrm>
            <a:off x="9407957" y="4471416"/>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TikTok、YouTubeショート、リール</a:t>
            </a:r>
            <a:endParaRPr lang="en-US" sz="1100" dirty="0"/>
          </a:p>
        </p:txBody>
      </p:sp>
      <p:sp>
        <p:nvSpPr>
          <p:cNvPr id="49" name="Text 47"/>
          <p:cNvSpPr txBox="1"/>
          <p:nvPr/>
        </p:nvSpPr>
        <p:spPr>
          <a:xfrm>
            <a:off x="8356397" y="5047488"/>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検証する仮説</a:t>
            </a:r>
            <a:endParaRPr lang="en-US" sz="1050" dirty="0"/>
          </a:p>
        </p:txBody>
      </p:sp>
      <p:sp>
        <p:nvSpPr>
          <p:cNvPr id="50" name="Text 48"/>
          <p:cNvSpPr txBox="1"/>
          <p:nvPr/>
        </p:nvSpPr>
        <p:spPr>
          <a:xfrm>
            <a:off x="9407957" y="5047488"/>
            <a:ext cx="2052218" cy="530352"/>
          </a:xfrm>
          <a:prstGeom prst="rect">
            <a:avLst/>
          </a:prstGeom>
          <a:noFill/>
          <a:ln/>
        </p:spPr>
        <p:txBody>
          <a:bodyPr wrap="square" lIns="0" tIns="0" rIns="0" bIns="0" rtlCol="0" anchor="t"/>
          <a:lstStyle/>
          <a:p>
            <a:pPr indent="0" marL="0">
              <a:buNone/>
            </a:pPr>
            <a:r>
              <a:rPr lang="en-US" sz="1100" b="1" dirty="0">
                <a:solidFill>
                  <a:srgbClr val="2A322D"/>
                </a:solidFill>
                <a:latin typeface="Meiryo UI" pitchFamily="34" charset="0"/>
                <a:ea typeface="Meiryo UI" pitchFamily="34" charset="-122"/>
                <a:cs typeface="Meiryo UI" pitchFamily="34" charset="-120"/>
              </a:rPr>
              <a:t>若い世代にどのテーマが届くか</a:t>
            </a:r>
            <a:endParaRPr lang="en-US" sz="1100" dirty="0"/>
          </a:p>
        </p:txBody>
      </p:sp>
      <p:sp>
        <p:nvSpPr>
          <p:cNvPr id="51" name="Text 49"/>
          <p:cNvSpPr txBox="1"/>
          <p:nvPr/>
        </p:nvSpPr>
        <p:spPr>
          <a:xfrm>
            <a:off x="8356397" y="5623560"/>
            <a:ext cx="1051560" cy="5029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主なKPI</a:t>
            </a:r>
            <a:endParaRPr lang="en-US" sz="1050" dirty="0"/>
          </a:p>
        </p:txBody>
      </p:sp>
      <p:sp>
        <p:nvSpPr>
          <p:cNvPr id="52" name="Text 50"/>
          <p:cNvSpPr txBox="1"/>
          <p:nvPr/>
        </p:nvSpPr>
        <p:spPr>
          <a:xfrm>
            <a:off x="9407957" y="5623560"/>
            <a:ext cx="2052218" cy="530352"/>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再生数／視聴維持率／プロフィール遷移数</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05｜PHASE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フェーズ1の進め方（約6週間）と、3本だけで終える限界</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Text 4"/>
          <p:cNvSpPr txBox="1"/>
          <p:nvPr/>
        </p:nvSpPr>
        <p:spPr>
          <a:xfrm>
            <a:off x="548640" y="1371600"/>
            <a:ext cx="2743200" cy="320040"/>
          </a:xfrm>
          <a:prstGeom prst="rect">
            <a:avLst/>
          </a:prstGeom>
          <a:noFill/>
          <a:ln/>
        </p:spPr>
        <p:txBody>
          <a:bodyPr wrap="square" lIns="0" tIns="0" rIns="0" bIns="0" rtlCol="0" anchor="t"/>
          <a:lstStyle/>
          <a:p>
            <a:pPr indent="0" marL="0">
              <a:buNone/>
            </a:pPr>
            <a:r>
              <a:rPr lang="en-US" sz="1400" b="1" dirty="0">
                <a:solidFill>
                  <a:srgbClr val="B8652A"/>
                </a:solidFill>
                <a:latin typeface="Meiryo UI" pitchFamily="34" charset="0"/>
                <a:ea typeface="Meiryo UI" pitchFamily="34" charset="-122"/>
                <a:cs typeface="Meiryo UI" pitchFamily="34" charset="-120"/>
              </a:rPr>
              <a:t>スケジュール</a:t>
            </a:r>
            <a:endParaRPr lang="en-US" sz="1400" dirty="0"/>
          </a:p>
        </p:txBody>
      </p:sp>
      <p:sp>
        <p:nvSpPr>
          <p:cNvPr id="7" name="Shape 5"/>
          <p:cNvSpPr/>
          <p:nvPr/>
        </p:nvSpPr>
        <p:spPr>
          <a:xfrm>
            <a:off x="548640" y="1783080"/>
            <a:ext cx="1280160" cy="932688"/>
          </a:xfrm>
          <a:prstGeom prst="roundRect">
            <a:avLst>
              <a:gd name="adj" fmla="val 11765"/>
            </a:avLst>
          </a:prstGeom>
          <a:solidFill>
            <a:srgbClr val="46705A"/>
          </a:solidFill>
          <a:ln w="12700">
            <a:solidFill>
              <a:srgbClr val="46705A"/>
            </a:solidFill>
            <a:prstDash val="solid"/>
          </a:ln>
        </p:spPr>
      </p:sp>
      <p:sp>
        <p:nvSpPr>
          <p:cNvPr id="8" name="Text 6"/>
          <p:cNvSpPr txBox="1"/>
          <p:nvPr/>
        </p:nvSpPr>
        <p:spPr>
          <a:xfrm>
            <a:off x="548640" y="1874520"/>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1週目</a:t>
            </a:r>
            <a:endParaRPr lang="en-US" sz="1400" dirty="0"/>
          </a:p>
        </p:txBody>
      </p:sp>
      <p:sp>
        <p:nvSpPr>
          <p:cNvPr id="9" name="Text 7"/>
          <p:cNvSpPr txBox="1"/>
          <p:nvPr/>
        </p:nvSpPr>
        <p:spPr>
          <a:xfrm>
            <a:off x="548640" y="2240280"/>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キックオフ</a:t>
            </a:r>
            <a:endParaRPr lang="en-US" sz="1100" dirty="0"/>
          </a:p>
        </p:txBody>
      </p:sp>
      <p:sp>
        <p:nvSpPr>
          <p:cNvPr id="10" name="Shape 8"/>
          <p:cNvSpPr/>
          <p:nvPr/>
        </p:nvSpPr>
        <p:spPr>
          <a:xfrm>
            <a:off x="1965960" y="1783080"/>
            <a:ext cx="5257800" cy="932688"/>
          </a:xfrm>
          <a:prstGeom prst="roundRect">
            <a:avLst>
              <a:gd name="adj" fmla="val 11765"/>
            </a:avLst>
          </a:prstGeom>
          <a:solidFill>
            <a:srgbClr val="F6F9F7"/>
          </a:solidFill>
          <a:ln w="12700">
            <a:solidFill>
              <a:srgbClr val="F6F9F7"/>
            </a:solidFill>
            <a:prstDash val="solid"/>
          </a:ln>
        </p:spPr>
      </p:sp>
      <p:sp>
        <p:nvSpPr>
          <p:cNvPr id="11" name="Text 9"/>
          <p:cNvSpPr txBox="1"/>
          <p:nvPr/>
        </p:nvSpPr>
        <p:spPr>
          <a:xfrm>
            <a:off x="2148840" y="1874520"/>
            <a:ext cx="4892040" cy="41148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現状数値の確認／KPI設定／台本作成</a:t>
            </a:r>
            <a:endParaRPr lang="en-US" sz="1250" dirty="0"/>
          </a:p>
        </p:txBody>
      </p:sp>
      <p:sp>
        <p:nvSpPr>
          <p:cNvPr id="12" name="Text 10"/>
          <p:cNvSpPr txBox="1"/>
          <p:nvPr/>
        </p:nvSpPr>
        <p:spPr>
          <a:xfrm>
            <a:off x="2148840" y="2286000"/>
            <a:ext cx="4892040" cy="347472"/>
          </a:xfrm>
          <a:prstGeom prst="rect">
            <a:avLst/>
          </a:prstGeom>
          <a:noFill/>
          <a:ln/>
        </p:spPr>
        <p:txBody>
          <a:bodyPr wrap="square" lIns="0" tIns="0" rIns="0" bIns="0" rtlCol="0" anchor="ctr"/>
          <a:lstStyle/>
          <a:p>
            <a:pPr indent="0" marL="0">
              <a:buNone/>
            </a:pPr>
            <a:r>
              <a:rPr lang="en-US" sz="1050" dirty="0">
                <a:solidFill>
                  <a:srgbClr val="66776C"/>
                </a:solidFill>
                <a:latin typeface="Meiryo UI" pitchFamily="34" charset="0"/>
                <a:ea typeface="Meiryo UI" pitchFamily="34" charset="-122"/>
                <a:cs typeface="Meiryo UI" pitchFamily="34" charset="-120"/>
              </a:rPr>
              <a:t>貴法人：施設の写真（利用者が写らないもの）・パンフレット、現状数値のご共有</a:t>
            </a:r>
            <a:endParaRPr lang="en-US" sz="1050" dirty="0"/>
          </a:p>
        </p:txBody>
      </p:sp>
      <p:sp>
        <p:nvSpPr>
          <p:cNvPr id="13" name="Shape 11"/>
          <p:cNvSpPr/>
          <p:nvPr/>
        </p:nvSpPr>
        <p:spPr>
          <a:xfrm>
            <a:off x="548640" y="2898648"/>
            <a:ext cx="1280160" cy="932688"/>
          </a:xfrm>
          <a:prstGeom prst="roundRect">
            <a:avLst>
              <a:gd name="adj" fmla="val 11765"/>
            </a:avLst>
          </a:prstGeom>
          <a:solidFill>
            <a:srgbClr val="46705A"/>
          </a:solidFill>
          <a:ln w="12700">
            <a:solidFill>
              <a:srgbClr val="46705A"/>
            </a:solidFill>
            <a:prstDash val="solid"/>
          </a:ln>
        </p:spPr>
      </p:sp>
      <p:sp>
        <p:nvSpPr>
          <p:cNvPr id="14" name="Text 12"/>
          <p:cNvSpPr txBox="1"/>
          <p:nvPr/>
        </p:nvSpPr>
        <p:spPr>
          <a:xfrm>
            <a:off x="548640" y="2990088"/>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2週目</a:t>
            </a:r>
            <a:endParaRPr lang="en-US" sz="1400" dirty="0"/>
          </a:p>
        </p:txBody>
      </p:sp>
      <p:sp>
        <p:nvSpPr>
          <p:cNvPr id="15" name="Text 13"/>
          <p:cNvSpPr txBox="1"/>
          <p:nvPr/>
        </p:nvSpPr>
        <p:spPr>
          <a:xfrm>
            <a:off x="548640" y="3355848"/>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制作</a:t>
            </a:r>
            <a:endParaRPr lang="en-US" sz="1100" dirty="0"/>
          </a:p>
        </p:txBody>
      </p:sp>
      <p:sp>
        <p:nvSpPr>
          <p:cNvPr id="16" name="Shape 14"/>
          <p:cNvSpPr/>
          <p:nvPr/>
        </p:nvSpPr>
        <p:spPr>
          <a:xfrm>
            <a:off x="1965960" y="2898648"/>
            <a:ext cx="5257800" cy="932688"/>
          </a:xfrm>
          <a:prstGeom prst="roundRect">
            <a:avLst>
              <a:gd name="adj" fmla="val 11765"/>
            </a:avLst>
          </a:prstGeom>
          <a:solidFill>
            <a:srgbClr val="F6F9F7"/>
          </a:solidFill>
          <a:ln w="12700">
            <a:solidFill>
              <a:srgbClr val="F6F9F7"/>
            </a:solidFill>
            <a:prstDash val="solid"/>
          </a:ln>
        </p:spPr>
      </p:sp>
      <p:sp>
        <p:nvSpPr>
          <p:cNvPr id="17" name="Text 15"/>
          <p:cNvSpPr txBox="1"/>
          <p:nvPr/>
        </p:nvSpPr>
        <p:spPr>
          <a:xfrm>
            <a:off x="2148840" y="2990088"/>
            <a:ext cx="4892040" cy="41148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3本の制作・初稿確認・修正</a:t>
            </a:r>
            <a:endParaRPr lang="en-US" sz="1250" dirty="0"/>
          </a:p>
        </p:txBody>
      </p:sp>
      <p:sp>
        <p:nvSpPr>
          <p:cNvPr id="18" name="Text 16"/>
          <p:cNvSpPr txBox="1"/>
          <p:nvPr/>
        </p:nvSpPr>
        <p:spPr>
          <a:xfrm>
            <a:off x="2148840" y="3401568"/>
            <a:ext cx="4892040" cy="347472"/>
          </a:xfrm>
          <a:prstGeom prst="rect">
            <a:avLst/>
          </a:prstGeom>
          <a:noFill/>
          <a:ln/>
        </p:spPr>
        <p:txBody>
          <a:bodyPr wrap="square" lIns="0" tIns="0" rIns="0" bIns="0" rtlCol="0" anchor="ctr"/>
          <a:lstStyle/>
          <a:p>
            <a:pPr indent="0" marL="0">
              <a:buNone/>
            </a:pPr>
            <a:r>
              <a:rPr lang="en-US" sz="1050" dirty="0">
                <a:solidFill>
                  <a:srgbClr val="66776C"/>
                </a:solidFill>
                <a:latin typeface="Meiryo UI" pitchFamily="34" charset="0"/>
                <a:ea typeface="Meiryo UI" pitchFamily="34" charset="-122"/>
                <a:cs typeface="Meiryo UI" pitchFamily="34" charset="-120"/>
              </a:rPr>
              <a:t>貴法人：初稿のご確認（30分程度）</a:t>
            </a:r>
            <a:endParaRPr lang="en-US" sz="1050" dirty="0"/>
          </a:p>
        </p:txBody>
      </p:sp>
      <p:sp>
        <p:nvSpPr>
          <p:cNvPr id="19" name="Shape 17"/>
          <p:cNvSpPr/>
          <p:nvPr/>
        </p:nvSpPr>
        <p:spPr>
          <a:xfrm>
            <a:off x="548640" y="4014216"/>
            <a:ext cx="1280160" cy="932688"/>
          </a:xfrm>
          <a:prstGeom prst="roundRect">
            <a:avLst>
              <a:gd name="adj" fmla="val 11765"/>
            </a:avLst>
          </a:prstGeom>
          <a:solidFill>
            <a:srgbClr val="46705A"/>
          </a:solidFill>
          <a:ln w="12700">
            <a:solidFill>
              <a:srgbClr val="46705A"/>
            </a:solidFill>
            <a:prstDash val="solid"/>
          </a:ln>
        </p:spPr>
      </p:sp>
      <p:sp>
        <p:nvSpPr>
          <p:cNvPr id="20" name="Text 18"/>
          <p:cNvSpPr txBox="1"/>
          <p:nvPr/>
        </p:nvSpPr>
        <p:spPr>
          <a:xfrm>
            <a:off x="548640" y="4105656"/>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3〜5週目</a:t>
            </a:r>
            <a:endParaRPr lang="en-US" sz="1400" dirty="0"/>
          </a:p>
        </p:txBody>
      </p:sp>
      <p:sp>
        <p:nvSpPr>
          <p:cNvPr id="21" name="Text 19"/>
          <p:cNvSpPr txBox="1"/>
          <p:nvPr/>
        </p:nvSpPr>
        <p:spPr>
          <a:xfrm>
            <a:off x="548640" y="4471416"/>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配信・送付</a:t>
            </a:r>
            <a:endParaRPr lang="en-US" sz="1100" dirty="0"/>
          </a:p>
        </p:txBody>
      </p:sp>
      <p:sp>
        <p:nvSpPr>
          <p:cNvPr id="22" name="Shape 20"/>
          <p:cNvSpPr/>
          <p:nvPr/>
        </p:nvSpPr>
        <p:spPr>
          <a:xfrm>
            <a:off x="1965960" y="4014216"/>
            <a:ext cx="5257800" cy="932688"/>
          </a:xfrm>
          <a:prstGeom prst="roundRect">
            <a:avLst>
              <a:gd name="adj" fmla="val 11765"/>
            </a:avLst>
          </a:prstGeom>
          <a:solidFill>
            <a:srgbClr val="F6F9F7"/>
          </a:solidFill>
          <a:ln w="12700">
            <a:solidFill>
              <a:srgbClr val="F6F9F7"/>
            </a:solidFill>
            <a:prstDash val="solid"/>
          </a:ln>
        </p:spPr>
      </p:sp>
      <p:sp>
        <p:nvSpPr>
          <p:cNvPr id="23" name="Text 21"/>
          <p:cNvSpPr txBox="1"/>
          <p:nvPr/>
        </p:nvSpPr>
        <p:spPr>
          <a:xfrm>
            <a:off x="2148840" y="4105656"/>
            <a:ext cx="4892040" cy="41148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プッシュ：紹介元への案内／プル：SNS投稿・HP掲載</a:t>
            </a:r>
            <a:endParaRPr lang="en-US" sz="1250" dirty="0"/>
          </a:p>
        </p:txBody>
      </p:sp>
      <p:sp>
        <p:nvSpPr>
          <p:cNvPr id="24" name="Text 22"/>
          <p:cNvSpPr txBox="1"/>
          <p:nvPr/>
        </p:nvSpPr>
        <p:spPr>
          <a:xfrm>
            <a:off x="2148840" y="4517136"/>
            <a:ext cx="4892040" cy="347472"/>
          </a:xfrm>
          <a:prstGeom prst="rect">
            <a:avLst/>
          </a:prstGeom>
          <a:noFill/>
          <a:ln/>
        </p:spPr>
        <p:txBody>
          <a:bodyPr wrap="square" lIns="0" tIns="0" rIns="0" bIns="0" rtlCol="0" anchor="ctr"/>
          <a:lstStyle/>
          <a:p>
            <a:pPr indent="0" marL="0">
              <a:buNone/>
            </a:pPr>
            <a:r>
              <a:rPr lang="en-US" sz="1050" dirty="0">
                <a:solidFill>
                  <a:srgbClr val="66776C"/>
                </a:solidFill>
                <a:latin typeface="Meiryo UI" pitchFamily="34" charset="0"/>
                <a:ea typeface="Meiryo UI" pitchFamily="34" charset="-122"/>
                <a:cs typeface="Meiryo UI" pitchFamily="34" charset="-120"/>
              </a:rPr>
              <a:t>貴法人：見学・相談の場での動画活用</a:t>
            </a:r>
            <a:endParaRPr lang="en-US" sz="1050" dirty="0"/>
          </a:p>
        </p:txBody>
      </p:sp>
      <p:sp>
        <p:nvSpPr>
          <p:cNvPr id="25" name="Shape 23"/>
          <p:cNvSpPr/>
          <p:nvPr/>
        </p:nvSpPr>
        <p:spPr>
          <a:xfrm>
            <a:off x="548640" y="5129784"/>
            <a:ext cx="1280160" cy="932688"/>
          </a:xfrm>
          <a:prstGeom prst="roundRect">
            <a:avLst>
              <a:gd name="adj" fmla="val 11765"/>
            </a:avLst>
          </a:prstGeom>
          <a:solidFill>
            <a:srgbClr val="B8652A"/>
          </a:solidFill>
          <a:ln w="12700">
            <a:solidFill>
              <a:srgbClr val="B8652A"/>
            </a:solidFill>
            <a:prstDash val="solid"/>
          </a:ln>
        </p:spPr>
      </p:sp>
      <p:sp>
        <p:nvSpPr>
          <p:cNvPr id="26" name="Text 24"/>
          <p:cNvSpPr txBox="1"/>
          <p:nvPr/>
        </p:nvSpPr>
        <p:spPr>
          <a:xfrm>
            <a:off x="548640" y="5221224"/>
            <a:ext cx="12801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UI" pitchFamily="34" charset="0"/>
                <a:ea typeface="Meiryo UI" pitchFamily="34" charset="-122"/>
                <a:cs typeface="Meiryo UI" pitchFamily="34" charset="-120"/>
              </a:rPr>
              <a:t>6週目</a:t>
            </a:r>
            <a:endParaRPr lang="en-US" sz="1400" dirty="0"/>
          </a:p>
        </p:txBody>
      </p:sp>
      <p:sp>
        <p:nvSpPr>
          <p:cNvPr id="27" name="Text 25"/>
          <p:cNvSpPr txBox="1"/>
          <p:nvPr/>
        </p:nvSpPr>
        <p:spPr>
          <a:xfrm>
            <a:off x="548640" y="5586984"/>
            <a:ext cx="128016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eiryo UI" pitchFamily="34" charset="0"/>
                <a:ea typeface="Meiryo UI" pitchFamily="34" charset="-122"/>
                <a:cs typeface="Meiryo UI" pitchFamily="34" charset="-120"/>
              </a:rPr>
              <a:t>検証レポート会</a:t>
            </a:r>
            <a:endParaRPr lang="en-US" sz="1100" dirty="0"/>
          </a:p>
        </p:txBody>
      </p:sp>
      <p:sp>
        <p:nvSpPr>
          <p:cNvPr id="28" name="Shape 26"/>
          <p:cNvSpPr/>
          <p:nvPr/>
        </p:nvSpPr>
        <p:spPr>
          <a:xfrm>
            <a:off x="1965960" y="5129784"/>
            <a:ext cx="5257800" cy="932688"/>
          </a:xfrm>
          <a:prstGeom prst="roundRect">
            <a:avLst>
              <a:gd name="adj" fmla="val 11765"/>
            </a:avLst>
          </a:prstGeom>
          <a:solidFill>
            <a:srgbClr val="F6F9F7"/>
          </a:solidFill>
          <a:ln w="12700">
            <a:solidFill>
              <a:srgbClr val="F6F9F7"/>
            </a:solidFill>
            <a:prstDash val="solid"/>
          </a:ln>
        </p:spPr>
      </p:sp>
      <p:sp>
        <p:nvSpPr>
          <p:cNvPr id="29" name="Text 27"/>
          <p:cNvSpPr txBox="1"/>
          <p:nvPr/>
        </p:nvSpPr>
        <p:spPr>
          <a:xfrm>
            <a:off x="2148840" y="5221224"/>
            <a:ext cx="4892040" cy="41148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効果検証レポート＆フェーズ2設計会</a:t>
            </a:r>
            <a:endParaRPr lang="en-US" sz="1250" dirty="0"/>
          </a:p>
        </p:txBody>
      </p:sp>
      <p:sp>
        <p:nvSpPr>
          <p:cNvPr id="30" name="Text 28"/>
          <p:cNvSpPr txBox="1"/>
          <p:nvPr/>
        </p:nvSpPr>
        <p:spPr>
          <a:xfrm>
            <a:off x="2148840" y="5632704"/>
            <a:ext cx="4892040" cy="347472"/>
          </a:xfrm>
          <a:prstGeom prst="rect">
            <a:avLst/>
          </a:prstGeom>
          <a:noFill/>
          <a:ln/>
        </p:spPr>
        <p:txBody>
          <a:bodyPr wrap="square" lIns="0" tIns="0" rIns="0" bIns="0" rtlCol="0" anchor="ctr"/>
          <a:lstStyle/>
          <a:p>
            <a:pPr indent="0" marL="0">
              <a:buNone/>
            </a:pPr>
            <a:r>
              <a:rPr lang="en-US" sz="1050" dirty="0">
                <a:solidFill>
                  <a:srgbClr val="66776C"/>
                </a:solidFill>
                <a:latin typeface="Meiryo UI" pitchFamily="34" charset="0"/>
                <a:ea typeface="Meiryo UI" pitchFamily="34" charset="-122"/>
                <a:cs typeface="Meiryo UI" pitchFamily="34" charset="-120"/>
              </a:rPr>
              <a:t>貴法人：結果のご確認・次の打ち手の合意</a:t>
            </a:r>
            <a:endParaRPr lang="en-US" sz="1050" dirty="0"/>
          </a:p>
        </p:txBody>
      </p:sp>
      <p:sp>
        <p:nvSpPr>
          <p:cNvPr id="31" name="Shape 29"/>
          <p:cNvSpPr/>
          <p:nvPr/>
        </p:nvSpPr>
        <p:spPr>
          <a:xfrm>
            <a:off x="7589520" y="1371600"/>
            <a:ext cx="4053535" cy="4892040"/>
          </a:xfrm>
          <a:prstGeom prst="roundRect">
            <a:avLst>
              <a:gd name="adj" fmla="val 2707"/>
            </a:avLst>
          </a:prstGeom>
          <a:solidFill>
            <a:srgbClr val="FBEFE4"/>
          </a:solidFill>
          <a:ln w="12700">
            <a:solidFill>
              <a:srgbClr val="FBEFE4"/>
            </a:solidFill>
            <a:prstDash val="solid"/>
          </a:ln>
        </p:spPr>
      </p:sp>
      <p:sp>
        <p:nvSpPr>
          <p:cNvPr id="32" name="Shape 30"/>
          <p:cNvSpPr/>
          <p:nvPr/>
        </p:nvSpPr>
        <p:spPr>
          <a:xfrm>
            <a:off x="7863840" y="1600200"/>
            <a:ext cx="548640" cy="548640"/>
          </a:xfrm>
          <a:prstGeom prst="ellipse">
            <a:avLst/>
          </a:prstGeom>
          <a:solidFill>
            <a:srgbClr val="B8652A"/>
          </a:solidFill>
          <a:ln w="12700">
            <a:solidFill>
              <a:srgbClr val="B8652A"/>
            </a:solidFill>
            <a:prstDash val="solid"/>
          </a:ln>
        </p:spPr>
      </p:sp>
      <p:pic>
        <p:nvPicPr>
          <p:cNvPr id="33" name="Image 0" descr="preencoded.png">    </p:cNvPr>
          <p:cNvPicPr>
            <a:picLocks noChangeAspect="1"/>
          </p:cNvPicPr>
          <p:nvPr/>
        </p:nvPicPr>
        <p:blipFill>
          <a:blip r:embed="rId1"/>
          <a:stretch>
            <a:fillRect/>
          </a:stretch>
        </p:blipFill>
        <p:spPr>
          <a:xfrm>
            <a:off x="8006486" y="1742846"/>
            <a:ext cx="263347" cy="263347"/>
          </a:xfrm>
          <a:prstGeom prst="rect">
            <a:avLst/>
          </a:prstGeom>
        </p:spPr>
      </p:pic>
      <p:sp>
        <p:nvSpPr>
          <p:cNvPr id="34" name="Text 31"/>
          <p:cNvSpPr txBox="1"/>
          <p:nvPr/>
        </p:nvSpPr>
        <p:spPr>
          <a:xfrm>
            <a:off x="8549640" y="1600200"/>
            <a:ext cx="2910535" cy="548640"/>
          </a:xfrm>
          <a:prstGeom prst="rect">
            <a:avLst/>
          </a:prstGeom>
          <a:noFill/>
          <a:ln/>
        </p:spPr>
        <p:txBody>
          <a:bodyPr wrap="square" lIns="0" tIns="0" rIns="0" bIns="0" rtlCol="0" anchor="ctr"/>
          <a:lstStyle/>
          <a:p>
            <a:pPr indent="0" marL="0">
              <a:buNone/>
            </a:pPr>
            <a:r>
              <a:rPr lang="en-US" sz="1500" b="1" dirty="0">
                <a:solidFill>
                  <a:srgbClr val="B8652A"/>
                </a:solidFill>
                <a:latin typeface="Meiryo UI" pitchFamily="34" charset="0"/>
                <a:ea typeface="Meiryo UI" pitchFamily="34" charset="-122"/>
                <a:cs typeface="Meiryo UI" pitchFamily="34" charset="-120"/>
              </a:rPr>
              <a:t>3本だけで終えた場合の限界</a:t>
            </a:r>
            <a:endParaRPr lang="en-US" sz="1500" dirty="0"/>
          </a:p>
        </p:txBody>
      </p:sp>
      <p:sp>
        <p:nvSpPr>
          <p:cNvPr id="35" name="Text 32"/>
          <p:cNvSpPr txBox="1"/>
          <p:nvPr/>
        </p:nvSpPr>
        <p:spPr>
          <a:xfrm>
            <a:off x="7863840" y="2377440"/>
            <a:ext cx="3504895" cy="320040"/>
          </a:xfrm>
          <a:prstGeom prst="rect">
            <a:avLst/>
          </a:prstGeom>
          <a:noFill/>
          <a:ln/>
        </p:spPr>
        <p:txBody>
          <a:bodyPr wrap="square" lIns="0" tIns="0" rIns="0" bIns="0" rtlCol="0" anchor="t"/>
          <a:lstStyle/>
          <a:p>
            <a:pPr indent="0" marL="0">
              <a:buNone/>
            </a:pPr>
            <a:r>
              <a:rPr lang="en-US" sz="1300" b="1" dirty="0">
                <a:solidFill>
                  <a:srgbClr val="2F4D3D"/>
                </a:solidFill>
                <a:latin typeface="Meiryo UI" pitchFamily="34" charset="0"/>
                <a:ea typeface="Meiryo UI" pitchFamily="34" charset="-122"/>
                <a:cs typeface="Meiryo UI" pitchFamily="34" charset="-120"/>
              </a:rPr>
              <a:t>2027年4月に間に合わない</a:t>
            </a:r>
            <a:endParaRPr lang="en-US" sz="1300" dirty="0"/>
          </a:p>
        </p:txBody>
      </p:sp>
      <p:sp>
        <p:nvSpPr>
          <p:cNvPr id="36" name="Text 33"/>
          <p:cNvSpPr txBox="1"/>
          <p:nvPr/>
        </p:nvSpPr>
        <p:spPr>
          <a:xfrm>
            <a:off x="7863840" y="2715768"/>
            <a:ext cx="3504895" cy="59436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3本で止めると、新年度・GH立ち上げまでに集客と体制の準備が整わない</a:t>
            </a:r>
            <a:endParaRPr lang="en-US" sz="1150" dirty="0"/>
          </a:p>
        </p:txBody>
      </p:sp>
      <p:sp>
        <p:nvSpPr>
          <p:cNvPr id="37" name="Text 34"/>
          <p:cNvSpPr txBox="1"/>
          <p:nvPr/>
        </p:nvSpPr>
        <p:spPr>
          <a:xfrm>
            <a:off x="7863840" y="3401568"/>
            <a:ext cx="3504895" cy="320040"/>
          </a:xfrm>
          <a:prstGeom prst="rect">
            <a:avLst/>
          </a:prstGeom>
          <a:noFill/>
          <a:ln/>
        </p:spPr>
        <p:txBody>
          <a:bodyPr wrap="square" lIns="0" tIns="0" rIns="0" bIns="0" rtlCol="0" anchor="t"/>
          <a:lstStyle/>
          <a:p>
            <a:pPr indent="0" marL="0">
              <a:buNone/>
            </a:pPr>
            <a:r>
              <a:rPr lang="en-US" sz="1300" b="1" dirty="0">
                <a:solidFill>
                  <a:srgbClr val="2F4D3D"/>
                </a:solidFill>
                <a:latin typeface="Meiryo UI" pitchFamily="34" charset="0"/>
                <a:ea typeface="Meiryo UI" pitchFamily="34" charset="-122"/>
                <a:cs typeface="Meiryo UI" pitchFamily="34" charset="-120"/>
              </a:rPr>
              <a:t>SNS・HPの積み上げがリセット</a:t>
            </a:r>
            <a:endParaRPr lang="en-US" sz="1300" dirty="0"/>
          </a:p>
        </p:txBody>
      </p:sp>
      <p:sp>
        <p:nvSpPr>
          <p:cNvPr id="38" name="Text 35"/>
          <p:cNvSpPr txBox="1"/>
          <p:nvPr/>
        </p:nvSpPr>
        <p:spPr>
          <a:xfrm>
            <a:off x="7863840" y="3739896"/>
            <a:ext cx="3504895" cy="59436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発信は継続性が評価されるため、止めると積み上げが消える</a:t>
            </a:r>
            <a:endParaRPr lang="en-US" sz="1150" dirty="0"/>
          </a:p>
        </p:txBody>
      </p:sp>
      <p:sp>
        <p:nvSpPr>
          <p:cNvPr id="39" name="Text 36"/>
          <p:cNvSpPr txBox="1"/>
          <p:nvPr/>
        </p:nvSpPr>
        <p:spPr>
          <a:xfrm>
            <a:off x="7863840" y="4425696"/>
            <a:ext cx="3504895" cy="320040"/>
          </a:xfrm>
          <a:prstGeom prst="rect">
            <a:avLst/>
          </a:prstGeom>
          <a:noFill/>
          <a:ln/>
        </p:spPr>
        <p:txBody>
          <a:bodyPr wrap="square" lIns="0" tIns="0" rIns="0" bIns="0" rtlCol="0" anchor="t"/>
          <a:lstStyle/>
          <a:p>
            <a:pPr indent="0" marL="0">
              <a:buNone/>
            </a:pPr>
            <a:r>
              <a:rPr lang="en-US" sz="1300" b="1" dirty="0">
                <a:solidFill>
                  <a:srgbClr val="2F4D3D"/>
                </a:solidFill>
                <a:latin typeface="Meiryo UI" pitchFamily="34" charset="0"/>
                <a:ea typeface="Meiryo UI" pitchFamily="34" charset="-122"/>
                <a:cs typeface="Meiryo UI" pitchFamily="34" charset="-120"/>
              </a:rPr>
              <a:t>紹介元に忘れられる</a:t>
            </a:r>
            <a:endParaRPr lang="en-US" sz="1300" dirty="0"/>
          </a:p>
        </p:txBody>
      </p:sp>
      <p:sp>
        <p:nvSpPr>
          <p:cNvPr id="40" name="Text 37"/>
          <p:cNvSpPr txBox="1"/>
          <p:nvPr/>
        </p:nvSpPr>
        <p:spPr>
          <a:xfrm>
            <a:off x="7863840" y="4764024"/>
            <a:ext cx="3504895" cy="59436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紹介は繰り返しの接点で生まれる。単発の案内では思い出してもらえない</a:t>
            </a:r>
            <a:endParaRPr lang="en-US" sz="1150" dirty="0"/>
          </a:p>
        </p:txBody>
      </p:sp>
      <p:sp>
        <p:nvSpPr>
          <p:cNvPr id="41" name="Text 38"/>
          <p:cNvSpPr txBox="1"/>
          <p:nvPr/>
        </p:nvSpPr>
        <p:spPr>
          <a:xfrm>
            <a:off x="7863840" y="5486400"/>
            <a:ext cx="3504895" cy="64008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だからこそ、フェーズ1は伴走プランの“初月”として設計します。</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有料伴走で実施すること：広報から事務・立ち上げの実務まで</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19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822960" y="1737360"/>
            <a:ext cx="685800" cy="685800"/>
          </a:xfrm>
          <a:prstGeom prst="ellipse">
            <a:avLst/>
          </a:prstGeom>
          <a:solidFill>
            <a:srgbClr val="46705A"/>
          </a:solidFill>
          <a:ln w="12700">
            <a:solidFill>
              <a:srgbClr val="46705A"/>
            </a:solidFill>
            <a:prstDash val="solid"/>
          </a:ln>
        </p:spPr>
      </p:sp>
      <p:pic>
        <p:nvPicPr>
          <p:cNvPr id="8" name="Image 0"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9" name="Text 6"/>
          <p:cNvSpPr txBox="1"/>
          <p:nvPr/>
        </p:nvSpPr>
        <p:spPr>
          <a:xfrm>
            <a:off x="1645920" y="1737360"/>
            <a:ext cx="2235098" cy="68580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動画の追加生成</a:t>
            </a:r>
            <a:endParaRPr lang="en-US" sz="1500" dirty="0"/>
          </a:p>
        </p:txBody>
      </p:sp>
      <p:sp>
        <p:nvSpPr>
          <p:cNvPr id="10" name="Text 7"/>
          <p:cNvSpPr txBox="1"/>
          <p:nvPr/>
        </p:nvSpPr>
        <p:spPr>
          <a:xfrm>
            <a:off x="822960"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22D"/>
                </a:solidFill>
                <a:latin typeface="Meiryo UI" pitchFamily="34" charset="0"/>
                <a:ea typeface="Meiryo UI" pitchFamily="34" charset="-122"/>
                <a:cs typeface="Meiryo UI" pitchFamily="34" charset="-120"/>
              </a:rPr>
              <a:t>成果の出た型を軸に、ご本人・ご家族・支援者・企業向けにテーマ別に継続制作</a:t>
            </a:r>
            <a:endParaRPr lang="en-US" sz="1250" dirty="0"/>
          </a:p>
        </p:txBody>
      </p:sp>
      <p:sp>
        <p:nvSpPr>
          <p:cNvPr id="11" name="Shape 8"/>
          <p:cNvSpPr/>
          <p:nvPr/>
        </p:nvSpPr>
        <p:spPr>
          <a:xfrm>
            <a:off x="4338218"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612538" y="1737360"/>
            <a:ext cx="685800" cy="685800"/>
          </a:xfrm>
          <a:prstGeom prst="ellipse">
            <a:avLst/>
          </a:prstGeom>
          <a:solidFill>
            <a:srgbClr val="46705A"/>
          </a:solidFill>
          <a:ln w="12700">
            <a:solidFill>
              <a:srgbClr val="46705A"/>
            </a:solidFill>
            <a:prstDash val="solid"/>
          </a:ln>
        </p:spPr>
      </p:sp>
      <p:pic>
        <p:nvPicPr>
          <p:cNvPr id="13" name="Image 1" descr="preencoded.png">    </p:cNvPr>
          <p:cNvPicPr>
            <a:picLocks noChangeAspect="1"/>
          </p:cNvPicPr>
          <p:nvPr/>
        </p:nvPicPr>
        <p:blipFill>
          <a:blip r:embed="rId2"/>
          <a:stretch>
            <a:fillRect/>
          </a:stretch>
        </p:blipFill>
        <p:spPr>
          <a:xfrm>
            <a:off x="4790846" y="1915668"/>
            <a:ext cx="329184" cy="329184"/>
          </a:xfrm>
          <a:prstGeom prst="rect">
            <a:avLst/>
          </a:prstGeom>
        </p:spPr>
      </p:pic>
      <p:sp>
        <p:nvSpPr>
          <p:cNvPr id="14" name="Text 10"/>
          <p:cNvSpPr txBox="1"/>
          <p:nvPr/>
        </p:nvSpPr>
        <p:spPr>
          <a:xfrm>
            <a:off x="5435498" y="1737360"/>
            <a:ext cx="2235098" cy="68580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Web・広報の運用代行</a:t>
            </a:r>
            <a:endParaRPr lang="en-US" sz="1500" dirty="0"/>
          </a:p>
        </p:txBody>
      </p:sp>
      <p:sp>
        <p:nvSpPr>
          <p:cNvPr id="15" name="Text 11"/>
          <p:cNvSpPr txBox="1"/>
          <p:nvPr/>
        </p:nvSpPr>
        <p:spPr>
          <a:xfrm>
            <a:off x="4612538"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22D"/>
                </a:solidFill>
                <a:latin typeface="Meiryo UI" pitchFamily="34" charset="0"/>
                <a:ea typeface="Meiryo UI" pitchFamily="34" charset="-122"/>
                <a:cs typeface="Meiryo UI" pitchFamily="34" charset="-120"/>
              </a:rPr>
              <a:t>HPの改善、Instagram運用、Googleマップ（MEO）の整備を外付けチームが担当</a:t>
            </a:r>
            <a:endParaRPr lang="en-US" sz="1250" dirty="0"/>
          </a:p>
        </p:txBody>
      </p:sp>
      <p:sp>
        <p:nvSpPr>
          <p:cNvPr id="16" name="Shape 12"/>
          <p:cNvSpPr/>
          <p:nvPr/>
        </p:nvSpPr>
        <p:spPr>
          <a:xfrm>
            <a:off x="8127797" y="146304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402117" y="1737360"/>
            <a:ext cx="685800" cy="685800"/>
          </a:xfrm>
          <a:prstGeom prst="ellipse">
            <a:avLst/>
          </a:prstGeom>
          <a:solidFill>
            <a:srgbClr val="46705A"/>
          </a:solidFill>
          <a:ln w="12700">
            <a:solidFill>
              <a:srgbClr val="46705A"/>
            </a:solidFill>
            <a:prstDash val="solid"/>
          </a:ln>
        </p:spPr>
      </p:sp>
      <p:pic>
        <p:nvPicPr>
          <p:cNvPr id="18" name="Image 2" descr="preencoded.png">    </p:cNvPr>
          <p:cNvPicPr>
            <a:picLocks noChangeAspect="1"/>
          </p:cNvPicPr>
          <p:nvPr/>
        </p:nvPicPr>
        <p:blipFill>
          <a:blip r:embed="rId3"/>
          <a:stretch>
            <a:fillRect/>
          </a:stretch>
        </p:blipFill>
        <p:spPr>
          <a:xfrm>
            <a:off x="8580425" y="1915668"/>
            <a:ext cx="329184" cy="329184"/>
          </a:xfrm>
          <a:prstGeom prst="rect">
            <a:avLst/>
          </a:prstGeom>
        </p:spPr>
      </p:pic>
      <p:sp>
        <p:nvSpPr>
          <p:cNvPr id="19" name="Text 14"/>
          <p:cNvSpPr txBox="1"/>
          <p:nvPr/>
        </p:nvSpPr>
        <p:spPr>
          <a:xfrm>
            <a:off x="9225077" y="1737360"/>
            <a:ext cx="2235098" cy="68580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事務・バックオフィスの実働支援</a:t>
            </a:r>
            <a:endParaRPr lang="en-US" sz="1500" dirty="0"/>
          </a:p>
        </p:txBody>
      </p:sp>
      <p:sp>
        <p:nvSpPr>
          <p:cNvPr id="20" name="Text 15"/>
          <p:cNvSpPr txBox="1"/>
          <p:nvPr/>
        </p:nvSpPr>
        <p:spPr>
          <a:xfrm>
            <a:off x="8402117" y="260604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22D"/>
                </a:solidFill>
                <a:latin typeface="Meiryo UI" pitchFamily="34" charset="0"/>
                <a:ea typeface="Meiryo UI" pitchFamily="34" charset="-122"/>
                <a:cs typeface="Meiryo UI" pitchFamily="34" charset="-120"/>
              </a:rPr>
              <a:t>代表の事務を棚卸し・マニュアル化し、事務スタッフのアサインで代表の時間をつくる</a:t>
            </a:r>
            <a:endParaRPr lang="en-US" sz="1250" dirty="0"/>
          </a:p>
        </p:txBody>
      </p:sp>
      <p:sp>
        <p:nvSpPr>
          <p:cNvPr id="21" name="Shape 16"/>
          <p:cNvSpPr/>
          <p:nvPr/>
        </p:nvSpPr>
        <p:spPr>
          <a:xfrm>
            <a:off x="548640"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822960" y="4160520"/>
            <a:ext cx="685800" cy="685800"/>
          </a:xfrm>
          <a:prstGeom prst="ellipse">
            <a:avLst/>
          </a:prstGeom>
          <a:solidFill>
            <a:srgbClr val="46705A"/>
          </a:solidFill>
          <a:ln w="12700">
            <a:solidFill>
              <a:srgbClr val="46705A"/>
            </a:solidFill>
            <a:prstDash val="solid"/>
          </a:ln>
        </p:spPr>
      </p:sp>
      <p:pic>
        <p:nvPicPr>
          <p:cNvPr id="23" name="Image 3" descr="preencoded.png">    </p:cNvPr>
          <p:cNvPicPr>
            <a:picLocks noChangeAspect="1"/>
          </p:cNvPicPr>
          <p:nvPr/>
        </p:nvPicPr>
        <p:blipFill>
          <a:blip r:embed="rId4"/>
          <a:stretch>
            <a:fillRect/>
          </a:stretch>
        </p:blipFill>
        <p:spPr>
          <a:xfrm>
            <a:off x="1001268" y="4338828"/>
            <a:ext cx="329184" cy="329184"/>
          </a:xfrm>
          <a:prstGeom prst="rect">
            <a:avLst/>
          </a:prstGeom>
        </p:spPr>
      </p:pic>
      <p:sp>
        <p:nvSpPr>
          <p:cNvPr id="24" name="Text 18"/>
          <p:cNvSpPr txBox="1"/>
          <p:nvPr/>
        </p:nvSpPr>
        <p:spPr>
          <a:xfrm>
            <a:off x="1645920" y="4160520"/>
            <a:ext cx="2235098" cy="68580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GH立ち上げの実務支援</a:t>
            </a:r>
            <a:endParaRPr lang="en-US" sz="1500" dirty="0"/>
          </a:p>
        </p:txBody>
      </p:sp>
      <p:sp>
        <p:nvSpPr>
          <p:cNvPr id="25" name="Text 19"/>
          <p:cNvSpPr txBox="1"/>
          <p:nvPr/>
        </p:nvSpPr>
        <p:spPr>
          <a:xfrm>
            <a:off x="822960"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22D"/>
                </a:solidFill>
                <a:latin typeface="Meiryo UI" pitchFamily="34" charset="0"/>
                <a:ea typeface="Meiryo UI" pitchFamily="34" charset="-122"/>
                <a:cs typeface="Meiryo UI" pitchFamily="34" charset="-120"/>
              </a:rPr>
              <a:t>2027年4月から逆算したスケジュール管理と、職員採用・書類づくりなどの実務を支援</a:t>
            </a:r>
            <a:endParaRPr lang="en-US" sz="1250" dirty="0"/>
          </a:p>
        </p:txBody>
      </p:sp>
      <p:sp>
        <p:nvSpPr>
          <p:cNvPr id="26" name="Shape 20"/>
          <p:cNvSpPr/>
          <p:nvPr/>
        </p:nvSpPr>
        <p:spPr>
          <a:xfrm>
            <a:off x="4338218"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612538" y="4160520"/>
            <a:ext cx="685800" cy="685800"/>
          </a:xfrm>
          <a:prstGeom prst="ellipse">
            <a:avLst/>
          </a:prstGeom>
          <a:solidFill>
            <a:srgbClr val="46705A"/>
          </a:solidFill>
          <a:ln w="12700">
            <a:solidFill>
              <a:srgbClr val="46705A"/>
            </a:solidFill>
            <a:prstDash val="solid"/>
          </a:ln>
        </p:spPr>
      </p:sp>
      <p:pic>
        <p:nvPicPr>
          <p:cNvPr id="28" name="Image 4" descr="preencoded.png">    </p:cNvPr>
          <p:cNvPicPr>
            <a:picLocks noChangeAspect="1"/>
          </p:cNvPicPr>
          <p:nvPr/>
        </p:nvPicPr>
        <p:blipFill>
          <a:blip r:embed="rId5"/>
          <a:stretch>
            <a:fillRect/>
          </a:stretch>
        </p:blipFill>
        <p:spPr>
          <a:xfrm>
            <a:off x="4790846" y="4338828"/>
            <a:ext cx="329184" cy="329184"/>
          </a:xfrm>
          <a:prstGeom prst="rect">
            <a:avLst/>
          </a:prstGeom>
        </p:spPr>
      </p:pic>
      <p:sp>
        <p:nvSpPr>
          <p:cNvPr id="29" name="Text 22"/>
          <p:cNvSpPr txBox="1"/>
          <p:nvPr/>
        </p:nvSpPr>
        <p:spPr>
          <a:xfrm>
            <a:off x="5435498" y="4160520"/>
            <a:ext cx="2235098" cy="68580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分析・改善</a:t>
            </a:r>
            <a:endParaRPr lang="en-US" sz="1500" dirty="0"/>
          </a:p>
        </p:txBody>
      </p:sp>
      <p:sp>
        <p:nvSpPr>
          <p:cNvPr id="30" name="Text 23"/>
          <p:cNvSpPr txBox="1"/>
          <p:nvPr/>
        </p:nvSpPr>
        <p:spPr>
          <a:xfrm>
            <a:off x="4612538"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22D"/>
                </a:solidFill>
                <a:latin typeface="Meiryo UI" pitchFamily="34" charset="0"/>
                <a:ea typeface="Meiryo UI" pitchFamily="34" charset="-122"/>
                <a:cs typeface="Meiryo UI" pitchFamily="34" charset="-120"/>
              </a:rPr>
              <a:t>月次レポート（視聴・問い合わせ・見学・登録の経路分析）と改善提案</a:t>
            </a:r>
            <a:endParaRPr lang="en-US" sz="1250" dirty="0"/>
          </a:p>
        </p:txBody>
      </p:sp>
      <p:sp>
        <p:nvSpPr>
          <p:cNvPr id="31" name="Shape 24"/>
          <p:cNvSpPr/>
          <p:nvPr/>
        </p:nvSpPr>
        <p:spPr>
          <a:xfrm>
            <a:off x="8127797" y="3886200"/>
            <a:ext cx="3515258" cy="2148840"/>
          </a:xfrm>
          <a:prstGeom prst="roundRect">
            <a:avLst>
              <a:gd name="adj" fmla="val 51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402117" y="4160520"/>
            <a:ext cx="685800" cy="685800"/>
          </a:xfrm>
          <a:prstGeom prst="ellipse">
            <a:avLst/>
          </a:prstGeom>
          <a:solidFill>
            <a:srgbClr val="46705A"/>
          </a:solidFill>
          <a:ln w="12700">
            <a:solidFill>
              <a:srgbClr val="46705A"/>
            </a:solidFill>
            <a:prstDash val="solid"/>
          </a:ln>
        </p:spPr>
      </p:sp>
      <p:pic>
        <p:nvPicPr>
          <p:cNvPr id="33" name="Image 5" descr="preencoded.png">    </p:cNvPr>
          <p:cNvPicPr>
            <a:picLocks noChangeAspect="1"/>
          </p:cNvPicPr>
          <p:nvPr/>
        </p:nvPicPr>
        <p:blipFill>
          <a:blip r:embed="rId6"/>
          <a:stretch>
            <a:fillRect/>
          </a:stretch>
        </p:blipFill>
        <p:spPr>
          <a:xfrm>
            <a:off x="8580425" y="4338828"/>
            <a:ext cx="329184" cy="329184"/>
          </a:xfrm>
          <a:prstGeom prst="rect">
            <a:avLst/>
          </a:prstGeom>
        </p:spPr>
      </p:pic>
      <p:sp>
        <p:nvSpPr>
          <p:cNvPr id="34" name="Text 26"/>
          <p:cNvSpPr txBox="1"/>
          <p:nvPr/>
        </p:nvSpPr>
        <p:spPr>
          <a:xfrm>
            <a:off x="9225077" y="4160520"/>
            <a:ext cx="2235098" cy="685800"/>
          </a:xfrm>
          <a:prstGeom prst="rect">
            <a:avLst/>
          </a:prstGeom>
          <a:noFill/>
          <a:ln/>
        </p:spPr>
        <p:txBody>
          <a:bodyPr wrap="square" lIns="0" tIns="0" rIns="0" bIns="0" rtlCol="0" anchor="ctr"/>
          <a:lstStyle/>
          <a:p>
            <a:pPr indent="0" marL="0">
              <a:buNone/>
            </a:pPr>
            <a:r>
              <a:rPr lang="en-US" sz="1500" b="1" dirty="0">
                <a:solidFill>
                  <a:srgbClr val="46705A"/>
                </a:solidFill>
                <a:latin typeface="Meiryo UI" pitchFamily="34" charset="0"/>
                <a:ea typeface="Meiryo UI" pitchFamily="34" charset="-122"/>
                <a:cs typeface="Meiryo UI" pitchFamily="34" charset="-120"/>
              </a:rPr>
              <a:t>定例ミーティング</a:t>
            </a:r>
            <a:endParaRPr lang="en-US" sz="1500" dirty="0"/>
          </a:p>
        </p:txBody>
      </p:sp>
      <p:sp>
        <p:nvSpPr>
          <p:cNvPr id="35" name="Text 27"/>
          <p:cNvSpPr txBox="1"/>
          <p:nvPr/>
        </p:nvSpPr>
        <p:spPr>
          <a:xfrm>
            <a:off x="8402117" y="5029200"/>
            <a:ext cx="2966618" cy="868680"/>
          </a:xfrm>
          <a:prstGeom prst="rect">
            <a:avLst/>
          </a:prstGeom>
          <a:noFill/>
          <a:ln/>
        </p:spPr>
        <p:txBody>
          <a:bodyPr wrap="square" lIns="0" tIns="0" rIns="0" bIns="0" rtlCol="0" anchor="t"/>
          <a:lstStyle/>
          <a:p>
            <a:pPr indent="0" marL="0">
              <a:lnSpc>
                <a:spcPct val="110000"/>
              </a:lnSpc>
              <a:buNone/>
            </a:pPr>
            <a:r>
              <a:rPr lang="en-US" sz="1250" dirty="0">
                <a:solidFill>
                  <a:srgbClr val="2A322D"/>
                </a:solidFill>
                <a:latin typeface="Meiryo UI" pitchFamily="34" charset="0"/>
                <a:ea typeface="Meiryo UI" pitchFamily="34" charset="-122"/>
                <a:cs typeface="Meiryo UI" pitchFamily="34" charset="-120"/>
              </a:rPr>
              <a:t>月1回の定例で成果を確認し、翌月の施策を決定</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06｜PHASE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2027年4月から逆算した12ヶ月の伴走ロードマップ</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20</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2919908" cy="914400"/>
          </a:xfrm>
          <a:prstGeom prst="homePlate">
            <a:avLst/>
          </a:prstGeom>
          <a:solidFill>
            <a:srgbClr val="B8652A"/>
          </a:solidFill>
          <a:ln w="12700">
            <a:solidFill>
              <a:srgbClr val="B8652A"/>
            </a:solidFill>
            <a:prstDash val="solid"/>
          </a:ln>
        </p:spPr>
      </p:sp>
      <p:sp>
        <p:nvSpPr>
          <p:cNvPr id="7" name="Text 5"/>
          <p:cNvSpPr txBox="1"/>
          <p:nvPr/>
        </p:nvSpPr>
        <p:spPr>
          <a:xfrm>
            <a:off x="868680"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1〜1.5ヶ月目</a:t>
            </a:r>
            <a:endParaRPr lang="en-US" sz="1200" dirty="0"/>
          </a:p>
        </p:txBody>
      </p:sp>
      <p:sp>
        <p:nvSpPr>
          <p:cNvPr id="8" name="Text 6"/>
          <p:cNvSpPr txBox="1"/>
          <p:nvPr/>
        </p:nvSpPr>
        <p:spPr>
          <a:xfrm>
            <a:off x="868680"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助走期（フェーズ1）</a:t>
            </a:r>
            <a:endParaRPr lang="en-US" sz="1500" dirty="0"/>
          </a:p>
        </p:txBody>
      </p:sp>
      <p:sp>
        <p:nvSpPr>
          <p:cNvPr id="9" name="Shape 7"/>
          <p:cNvSpPr/>
          <p:nvPr/>
        </p:nvSpPr>
        <p:spPr>
          <a:xfrm>
            <a:off x="548640" y="2651760"/>
            <a:ext cx="2691308" cy="2148840"/>
          </a:xfrm>
          <a:prstGeom prst="roundRect">
            <a:avLst>
              <a:gd name="adj" fmla="val 5106"/>
            </a:avLst>
          </a:prstGeom>
          <a:solidFill>
            <a:srgbClr val="F6F9F7"/>
          </a:solidFill>
          <a:ln w="12700">
            <a:solidFill>
              <a:srgbClr val="F6F9F7"/>
            </a:solidFill>
            <a:prstDash val="solid"/>
          </a:ln>
        </p:spPr>
      </p:sp>
      <p:sp>
        <p:nvSpPr>
          <p:cNvPr id="10" name="Text 8"/>
          <p:cNvSpPr txBox="1"/>
          <p:nvPr/>
        </p:nvSpPr>
        <p:spPr>
          <a:xfrm>
            <a:off x="777240" y="2761488"/>
            <a:ext cx="2234108"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主な実施内容</a:t>
            </a:r>
            <a:endParaRPr lang="en-US" sz="1050" dirty="0"/>
          </a:p>
        </p:txBody>
      </p:sp>
      <p:sp>
        <p:nvSpPr>
          <p:cNvPr id="11" name="Text 9"/>
          <p:cNvSpPr txBox="1"/>
          <p:nvPr/>
        </p:nvSpPr>
        <p:spPr>
          <a:xfrm>
            <a:off x="777240"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無料3本の制作・配信</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代表の事務作業の棚卸し</a:t>
            </a:r>
            <a:endParaRPr lang="en-US" sz="1150" dirty="0"/>
          </a:p>
        </p:txBody>
      </p:sp>
      <p:sp>
        <p:nvSpPr>
          <p:cNvPr id="12" name="Shape 10"/>
          <p:cNvSpPr/>
          <p:nvPr/>
        </p:nvSpPr>
        <p:spPr>
          <a:xfrm>
            <a:off x="548640" y="4983480"/>
            <a:ext cx="2691308" cy="1234440"/>
          </a:xfrm>
          <a:prstGeom prst="roundRect">
            <a:avLst>
              <a:gd name="adj" fmla="val 8889"/>
            </a:avLst>
          </a:prstGeom>
          <a:solidFill>
            <a:srgbClr val="EDF3EF"/>
          </a:solidFill>
          <a:ln w="12700">
            <a:solidFill>
              <a:srgbClr val="EDF3EF"/>
            </a:solidFill>
            <a:prstDash val="solid"/>
          </a:ln>
        </p:spPr>
      </p:sp>
      <p:sp>
        <p:nvSpPr>
          <p:cNvPr id="13" name="Text 11"/>
          <p:cNvSpPr txBox="1"/>
          <p:nvPr/>
        </p:nvSpPr>
        <p:spPr>
          <a:xfrm>
            <a:off x="777240" y="5074920"/>
            <a:ext cx="2234108"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到達目標</a:t>
            </a:r>
            <a:endParaRPr lang="en-US" sz="1050" dirty="0"/>
          </a:p>
        </p:txBody>
      </p:sp>
      <p:sp>
        <p:nvSpPr>
          <p:cNvPr id="14" name="Text 12"/>
          <p:cNvSpPr txBox="1"/>
          <p:nvPr/>
        </p:nvSpPr>
        <p:spPr>
          <a:xfrm>
            <a:off x="777240" y="5349240"/>
            <a:ext cx="2234108" cy="777240"/>
          </a:xfrm>
          <a:prstGeom prst="rect">
            <a:avLst/>
          </a:prstGeom>
          <a:noFill/>
          <a:ln/>
        </p:spPr>
        <p:txBody>
          <a:bodyPr wrap="square" lIns="0" tIns="0" rIns="0" bIns="0" rtlCol="0" anchor="t"/>
          <a:lstStyle/>
          <a:p>
            <a:pPr indent="0" marL="0">
              <a:buNone/>
            </a:pPr>
            <a:r>
              <a:rPr lang="en-US" sz="1250" b="1" dirty="0">
                <a:solidFill>
                  <a:srgbClr val="2F4D3D"/>
                </a:solidFill>
                <a:latin typeface="Meiryo UI" pitchFamily="34" charset="0"/>
                <a:ea typeface="Meiryo UI" pitchFamily="34" charset="-122"/>
                <a:cs typeface="Meiryo UI" pitchFamily="34" charset="-120"/>
              </a:rPr>
              <a:t>勝ちパターンと事務負担の見える化</a:t>
            </a:r>
            <a:endParaRPr lang="en-US" sz="1250" dirty="0"/>
          </a:p>
        </p:txBody>
      </p:sp>
      <p:sp>
        <p:nvSpPr>
          <p:cNvPr id="15" name="Shape 13"/>
          <p:cNvSpPr/>
          <p:nvPr/>
        </p:nvSpPr>
        <p:spPr>
          <a:xfrm>
            <a:off x="3349676" y="1463040"/>
            <a:ext cx="2919908" cy="914400"/>
          </a:xfrm>
          <a:prstGeom prst="chevron">
            <a:avLst/>
          </a:prstGeom>
          <a:solidFill>
            <a:srgbClr val="46705A">
              <a:alpha val="80000"/>
            </a:srgbClr>
          </a:solidFill>
          <a:ln w="12700">
            <a:solidFill>
              <a:srgbClr val="46705A"/>
            </a:solidFill>
            <a:prstDash val="solid"/>
          </a:ln>
        </p:spPr>
      </p:sp>
      <p:sp>
        <p:nvSpPr>
          <p:cNvPr id="16" name="Text 14"/>
          <p:cNvSpPr txBox="1"/>
          <p:nvPr/>
        </p:nvSpPr>
        <p:spPr>
          <a:xfrm>
            <a:off x="3669716"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2〜3ヶ月目</a:t>
            </a:r>
            <a:endParaRPr lang="en-US" sz="1200" dirty="0"/>
          </a:p>
        </p:txBody>
      </p:sp>
      <p:sp>
        <p:nvSpPr>
          <p:cNvPr id="17" name="Text 15"/>
          <p:cNvSpPr txBox="1"/>
          <p:nvPr/>
        </p:nvSpPr>
        <p:spPr>
          <a:xfrm>
            <a:off x="3669716"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立ち上げ期</a:t>
            </a:r>
            <a:endParaRPr lang="en-US" sz="1500" dirty="0"/>
          </a:p>
        </p:txBody>
      </p:sp>
      <p:sp>
        <p:nvSpPr>
          <p:cNvPr id="18" name="Shape 16"/>
          <p:cNvSpPr/>
          <p:nvPr/>
        </p:nvSpPr>
        <p:spPr>
          <a:xfrm>
            <a:off x="3349676" y="2651760"/>
            <a:ext cx="2691308" cy="2148840"/>
          </a:xfrm>
          <a:prstGeom prst="roundRect">
            <a:avLst>
              <a:gd name="adj" fmla="val 5106"/>
            </a:avLst>
          </a:prstGeom>
          <a:solidFill>
            <a:srgbClr val="F6F9F7"/>
          </a:solidFill>
          <a:ln w="12700">
            <a:solidFill>
              <a:srgbClr val="F6F9F7"/>
            </a:solidFill>
            <a:prstDash val="solid"/>
          </a:ln>
        </p:spPr>
      </p:sp>
      <p:sp>
        <p:nvSpPr>
          <p:cNvPr id="19" name="Text 17"/>
          <p:cNvSpPr txBox="1"/>
          <p:nvPr/>
        </p:nvSpPr>
        <p:spPr>
          <a:xfrm>
            <a:off x="3578276" y="2761488"/>
            <a:ext cx="2234108"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主な実施内容</a:t>
            </a:r>
            <a:endParaRPr lang="en-US" sz="1050" dirty="0"/>
          </a:p>
        </p:txBody>
      </p:sp>
      <p:sp>
        <p:nvSpPr>
          <p:cNvPr id="20" name="Text 18"/>
          <p:cNvSpPr txBox="1"/>
          <p:nvPr/>
        </p:nvSpPr>
        <p:spPr>
          <a:xfrm>
            <a:off x="3578276"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勝ちパターンの横展開</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紹介元への定期配信</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事務スタッフによる代行開始</a:t>
            </a:r>
            <a:endParaRPr lang="en-US" sz="1150" dirty="0"/>
          </a:p>
        </p:txBody>
      </p:sp>
      <p:sp>
        <p:nvSpPr>
          <p:cNvPr id="21" name="Shape 19"/>
          <p:cNvSpPr/>
          <p:nvPr/>
        </p:nvSpPr>
        <p:spPr>
          <a:xfrm>
            <a:off x="3349676" y="4983480"/>
            <a:ext cx="2691308" cy="1234440"/>
          </a:xfrm>
          <a:prstGeom prst="roundRect">
            <a:avLst>
              <a:gd name="adj" fmla="val 8889"/>
            </a:avLst>
          </a:prstGeom>
          <a:solidFill>
            <a:srgbClr val="EDF3EF"/>
          </a:solidFill>
          <a:ln w="12700">
            <a:solidFill>
              <a:srgbClr val="EDF3EF"/>
            </a:solidFill>
            <a:prstDash val="solid"/>
          </a:ln>
        </p:spPr>
      </p:sp>
      <p:sp>
        <p:nvSpPr>
          <p:cNvPr id="22" name="Text 20"/>
          <p:cNvSpPr txBox="1"/>
          <p:nvPr/>
        </p:nvSpPr>
        <p:spPr>
          <a:xfrm>
            <a:off x="3578276" y="5074920"/>
            <a:ext cx="2234108"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到達目標</a:t>
            </a:r>
            <a:endParaRPr lang="en-US" sz="1050" dirty="0"/>
          </a:p>
        </p:txBody>
      </p:sp>
      <p:sp>
        <p:nvSpPr>
          <p:cNvPr id="23" name="Text 21"/>
          <p:cNvSpPr txBox="1"/>
          <p:nvPr/>
        </p:nvSpPr>
        <p:spPr>
          <a:xfrm>
            <a:off x="3578276" y="5349240"/>
            <a:ext cx="2234108" cy="777240"/>
          </a:xfrm>
          <a:prstGeom prst="rect">
            <a:avLst/>
          </a:prstGeom>
          <a:noFill/>
          <a:ln/>
        </p:spPr>
        <p:txBody>
          <a:bodyPr wrap="square" lIns="0" tIns="0" rIns="0" bIns="0" rtlCol="0" anchor="t"/>
          <a:lstStyle/>
          <a:p>
            <a:pPr indent="0" marL="0">
              <a:buNone/>
            </a:pPr>
            <a:r>
              <a:rPr lang="en-US" sz="1250" b="1" dirty="0">
                <a:solidFill>
                  <a:srgbClr val="2F4D3D"/>
                </a:solidFill>
                <a:latin typeface="Meiryo UI" pitchFamily="34" charset="0"/>
                <a:ea typeface="Meiryo UI" pitchFamily="34" charset="-122"/>
                <a:cs typeface="Meiryo UI" pitchFamily="34" charset="-120"/>
              </a:rPr>
              <a:t>代表の事務時間を削減</a:t>
            </a:r>
            <a:endParaRPr lang="en-US" sz="1250" dirty="0"/>
          </a:p>
        </p:txBody>
      </p:sp>
      <p:sp>
        <p:nvSpPr>
          <p:cNvPr id="24" name="Shape 22"/>
          <p:cNvSpPr/>
          <p:nvPr/>
        </p:nvSpPr>
        <p:spPr>
          <a:xfrm>
            <a:off x="6150712" y="1463040"/>
            <a:ext cx="2919908" cy="914400"/>
          </a:xfrm>
          <a:prstGeom prst="chevron">
            <a:avLst/>
          </a:prstGeom>
          <a:solidFill>
            <a:srgbClr val="46705A">
              <a:alpha val="90000"/>
            </a:srgbClr>
          </a:solidFill>
          <a:ln w="12700">
            <a:solidFill>
              <a:srgbClr val="46705A"/>
            </a:solidFill>
            <a:prstDash val="solid"/>
          </a:ln>
        </p:spPr>
      </p:sp>
      <p:sp>
        <p:nvSpPr>
          <p:cNvPr id="25" name="Text 23"/>
          <p:cNvSpPr txBox="1"/>
          <p:nvPr/>
        </p:nvSpPr>
        <p:spPr>
          <a:xfrm>
            <a:off x="6470752"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4〜6ヶ月目</a:t>
            </a:r>
            <a:endParaRPr lang="en-US" sz="1200" dirty="0"/>
          </a:p>
        </p:txBody>
      </p:sp>
      <p:sp>
        <p:nvSpPr>
          <p:cNvPr id="26" name="Text 24"/>
          <p:cNvSpPr txBox="1"/>
          <p:nvPr/>
        </p:nvSpPr>
        <p:spPr>
          <a:xfrm>
            <a:off x="6470752"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拡大期</a:t>
            </a:r>
            <a:endParaRPr lang="en-US" sz="1500" dirty="0"/>
          </a:p>
        </p:txBody>
      </p:sp>
      <p:sp>
        <p:nvSpPr>
          <p:cNvPr id="27" name="Shape 25"/>
          <p:cNvSpPr/>
          <p:nvPr/>
        </p:nvSpPr>
        <p:spPr>
          <a:xfrm>
            <a:off x="6150712" y="2651760"/>
            <a:ext cx="2691308" cy="2148840"/>
          </a:xfrm>
          <a:prstGeom prst="roundRect">
            <a:avLst>
              <a:gd name="adj" fmla="val 5106"/>
            </a:avLst>
          </a:prstGeom>
          <a:solidFill>
            <a:srgbClr val="F6F9F7"/>
          </a:solidFill>
          <a:ln w="12700">
            <a:solidFill>
              <a:srgbClr val="F6F9F7"/>
            </a:solidFill>
            <a:prstDash val="solid"/>
          </a:ln>
        </p:spPr>
      </p:sp>
      <p:sp>
        <p:nvSpPr>
          <p:cNvPr id="28" name="Text 26"/>
          <p:cNvSpPr txBox="1"/>
          <p:nvPr/>
        </p:nvSpPr>
        <p:spPr>
          <a:xfrm>
            <a:off x="6379312" y="2761488"/>
            <a:ext cx="2234108"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主な実施内容</a:t>
            </a:r>
            <a:endParaRPr lang="en-US" sz="1050" dirty="0"/>
          </a:p>
        </p:txBody>
      </p:sp>
      <p:sp>
        <p:nvSpPr>
          <p:cNvPr id="29" name="Text 27"/>
          <p:cNvSpPr txBox="1"/>
          <p:nvPr/>
        </p:nvSpPr>
        <p:spPr>
          <a:xfrm>
            <a:off x="6379312"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HP・Instagramからの見学相談の強化</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GH職員の採用活動</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受託作業の新規開拓</a:t>
            </a:r>
            <a:endParaRPr lang="en-US" sz="1150" dirty="0"/>
          </a:p>
        </p:txBody>
      </p:sp>
      <p:sp>
        <p:nvSpPr>
          <p:cNvPr id="30" name="Shape 28"/>
          <p:cNvSpPr/>
          <p:nvPr/>
        </p:nvSpPr>
        <p:spPr>
          <a:xfrm>
            <a:off x="6150712" y="4983480"/>
            <a:ext cx="2691308" cy="1234440"/>
          </a:xfrm>
          <a:prstGeom prst="roundRect">
            <a:avLst>
              <a:gd name="adj" fmla="val 8889"/>
            </a:avLst>
          </a:prstGeom>
          <a:solidFill>
            <a:srgbClr val="EDF3EF"/>
          </a:solidFill>
          <a:ln w="12700">
            <a:solidFill>
              <a:srgbClr val="EDF3EF"/>
            </a:solidFill>
            <a:prstDash val="solid"/>
          </a:ln>
        </p:spPr>
      </p:sp>
      <p:sp>
        <p:nvSpPr>
          <p:cNvPr id="31" name="Text 29"/>
          <p:cNvSpPr txBox="1"/>
          <p:nvPr/>
        </p:nvSpPr>
        <p:spPr>
          <a:xfrm>
            <a:off x="6379312" y="5074920"/>
            <a:ext cx="2234108" cy="274320"/>
          </a:xfrm>
          <a:prstGeom prst="rect">
            <a:avLst/>
          </a:prstGeom>
          <a:noFill/>
          <a:ln/>
        </p:spPr>
        <p:txBody>
          <a:bodyPr wrap="square" lIns="0" tIns="0" rIns="0" bIns="0" rtlCol="0" anchor="t"/>
          <a:lstStyle/>
          <a:p>
            <a:pPr indent="0" marL="0">
              <a:buNone/>
            </a:pPr>
            <a:r>
              <a:rPr lang="en-US" sz="1050" b="1" dirty="0">
                <a:solidFill>
                  <a:srgbClr val="B8652A"/>
                </a:solidFill>
                <a:latin typeface="Meiryo UI" pitchFamily="34" charset="0"/>
                <a:ea typeface="Meiryo UI" pitchFamily="34" charset="-122"/>
                <a:cs typeface="Meiryo UI" pitchFamily="34" charset="-120"/>
              </a:rPr>
              <a:t>到達目標</a:t>
            </a:r>
            <a:endParaRPr lang="en-US" sz="1050" dirty="0"/>
          </a:p>
        </p:txBody>
      </p:sp>
      <p:sp>
        <p:nvSpPr>
          <p:cNvPr id="32" name="Text 30"/>
          <p:cNvSpPr txBox="1"/>
          <p:nvPr/>
        </p:nvSpPr>
        <p:spPr>
          <a:xfrm>
            <a:off x="6379312" y="5349240"/>
            <a:ext cx="2234108" cy="777240"/>
          </a:xfrm>
          <a:prstGeom prst="rect">
            <a:avLst/>
          </a:prstGeom>
          <a:noFill/>
          <a:ln/>
        </p:spPr>
        <p:txBody>
          <a:bodyPr wrap="square" lIns="0" tIns="0" rIns="0" bIns="0" rtlCol="0" anchor="t"/>
          <a:lstStyle/>
          <a:p>
            <a:pPr indent="0" marL="0">
              <a:buNone/>
            </a:pPr>
            <a:r>
              <a:rPr lang="en-US" sz="1250" b="1" dirty="0">
                <a:solidFill>
                  <a:srgbClr val="2F4D3D"/>
                </a:solidFill>
                <a:latin typeface="Meiryo UI" pitchFamily="34" charset="0"/>
                <a:ea typeface="Meiryo UI" pitchFamily="34" charset="-122"/>
                <a:cs typeface="Meiryo UI" pitchFamily="34" charset="-120"/>
              </a:rPr>
              <a:t>見学・相談と受託の継続的な増加</a:t>
            </a:r>
            <a:endParaRPr lang="en-US" sz="1250" dirty="0"/>
          </a:p>
        </p:txBody>
      </p:sp>
      <p:sp>
        <p:nvSpPr>
          <p:cNvPr id="33" name="Shape 31"/>
          <p:cNvSpPr/>
          <p:nvPr/>
        </p:nvSpPr>
        <p:spPr>
          <a:xfrm>
            <a:off x="8951747" y="1463040"/>
            <a:ext cx="2691308" cy="914400"/>
          </a:xfrm>
          <a:prstGeom prst="chevron">
            <a:avLst/>
          </a:prstGeom>
          <a:solidFill>
            <a:srgbClr val="46705A"/>
          </a:solidFill>
          <a:ln w="12700">
            <a:solidFill>
              <a:srgbClr val="46705A"/>
            </a:solidFill>
            <a:prstDash val="solid"/>
          </a:ln>
        </p:spPr>
      </p:sp>
      <p:sp>
        <p:nvSpPr>
          <p:cNvPr id="34" name="Text 32"/>
          <p:cNvSpPr txBox="1"/>
          <p:nvPr/>
        </p:nvSpPr>
        <p:spPr>
          <a:xfrm>
            <a:off x="9271787" y="1508760"/>
            <a:ext cx="2234108" cy="365760"/>
          </a:xfrm>
          <a:prstGeom prst="rect">
            <a:avLst/>
          </a:prstGeom>
          <a:noFill/>
          <a:ln/>
        </p:spPr>
        <p:txBody>
          <a:bodyPr wrap="square" lIns="0" tIns="0" rIns="0" bIns="0" rtlCol="0" anchor="t"/>
          <a:lstStyle/>
          <a:p>
            <a:pPr algn="ctr" indent="0" marL="0">
              <a:buNone/>
            </a:pPr>
            <a:r>
              <a:rPr lang="en-US" sz="1200" b="1" dirty="0">
                <a:solidFill>
                  <a:srgbClr val="FFFFFF"/>
                </a:solidFill>
                <a:latin typeface="Meiryo UI" pitchFamily="34" charset="0"/>
                <a:ea typeface="Meiryo UI" pitchFamily="34" charset="-122"/>
                <a:cs typeface="Meiryo UI" pitchFamily="34" charset="-120"/>
              </a:rPr>
              <a:t>7〜12ヶ月目</a:t>
            </a:r>
            <a:endParaRPr lang="en-US" sz="1200" dirty="0"/>
          </a:p>
        </p:txBody>
      </p:sp>
      <p:sp>
        <p:nvSpPr>
          <p:cNvPr id="35" name="Text 33"/>
          <p:cNvSpPr txBox="1"/>
          <p:nvPr/>
        </p:nvSpPr>
        <p:spPr>
          <a:xfrm>
            <a:off x="9271787" y="1847088"/>
            <a:ext cx="2234108"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Meiryo UI" pitchFamily="34" charset="0"/>
                <a:ea typeface="Meiryo UI" pitchFamily="34" charset="-122"/>
                <a:cs typeface="Meiryo UI" pitchFamily="34" charset="-120"/>
              </a:rPr>
              <a:t>定着期</a:t>
            </a:r>
            <a:endParaRPr lang="en-US" sz="1500" dirty="0"/>
          </a:p>
        </p:txBody>
      </p:sp>
      <p:sp>
        <p:nvSpPr>
          <p:cNvPr id="36" name="Shape 34"/>
          <p:cNvSpPr/>
          <p:nvPr/>
        </p:nvSpPr>
        <p:spPr>
          <a:xfrm>
            <a:off x="8951747" y="2651760"/>
            <a:ext cx="2691308" cy="2148840"/>
          </a:xfrm>
          <a:prstGeom prst="roundRect">
            <a:avLst>
              <a:gd name="adj" fmla="val 5106"/>
            </a:avLst>
          </a:prstGeom>
          <a:solidFill>
            <a:srgbClr val="F6F9F7"/>
          </a:solidFill>
          <a:ln w="12700">
            <a:solidFill>
              <a:srgbClr val="F6F9F7"/>
            </a:solidFill>
            <a:prstDash val="solid"/>
          </a:ln>
        </p:spPr>
      </p:sp>
      <p:sp>
        <p:nvSpPr>
          <p:cNvPr id="37" name="Text 35"/>
          <p:cNvSpPr txBox="1"/>
          <p:nvPr/>
        </p:nvSpPr>
        <p:spPr>
          <a:xfrm>
            <a:off x="9180347" y="2761488"/>
            <a:ext cx="2234108" cy="274320"/>
          </a:xfrm>
          <a:prstGeom prst="rect">
            <a:avLst/>
          </a:prstGeom>
          <a:noFill/>
          <a:ln/>
        </p:spPr>
        <p:txBody>
          <a:bodyPr wrap="square" lIns="0" tIns="0" rIns="0" bIns="0" rtlCol="0" anchor="t"/>
          <a:lstStyle/>
          <a:p>
            <a:pPr indent="0" marL="0">
              <a:buNone/>
            </a:pPr>
            <a:r>
              <a:rPr lang="en-US" sz="1050" b="1" dirty="0">
                <a:solidFill>
                  <a:srgbClr val="66776C"/>
                </a:solidFill>
                <a:latin typeface="Meiryo UI" pitchFamily="34" charset="0"/>
                <a:ea typeface="Meiryo UI" pitchFamily="34" charset="-122"/>
                <a:cs typeface="Meiryo UI" pitchFamily="34" charset="-120"/>
              </a:rPr>
              <a:t>主な実施内容</a:t>
            </a:r>
            <a:endParaRPr lang="en-US" sz="1050" dirty="0"/>
          </a:p>
        </p:txBody>
      </p:sp>
      <p:sp>
        <p:nvSpPr>
          <p:cNvPr id="38" name="Text 36"/>
          <p:cNvSpPr txBox="1"/>
          <p:nvPr/>
        </p:nvSpPr>
        <p:spPr>
          <a:xfrm>
            <a:off x="9180347" y="3063240"/>
            <a:ext cx="2325548"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2027年4月 新年度・GH立ち上げ</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動画ライブラリの完成</a:t>
            </a:r>
            <a:endParaRPr lang="en-US" sz="1150" dirty="0"/>
          </a:p>
          <a:p>
            <a:pPr marL="342900" indent="-342900">
              <a:spcAft>
                <a:spcPts val="500"/>
              </a:spcAft>
              <a:buSzPct val="100000"/>
              <a:buChar char="•"/>
            </a:pPr>
            <a:r>
              <a:rPr lang="en-US" sz="1150" dirty="0">
                <a:solidFill>
                  <a:srgbClr val="2A322D"/>
                </a:solidFill>
                <a:latin typeface="Meiryo UI" pitchFamily="34" charset="0"/>
                <a:ea typeface="Meiryo UI" pitchFamily="34" charset="-122"/>
                <a:cs typeface="Meiryo UI" pitchFamily="34" charset="-120"/>
              </a:rPr>
              <a:t>運用の定着</a:t>
            </a:r>
            <a:endParaRPr lang="en-US" sz="1150" dirty="0"/>
          </a:p>
        </p:txBody>
      </p:sp>
      <p:sp>
        <p:nvSpPr>
          <p:cNvPr id="39" name="Shape 37"/>
          <p:cNvSpPr/>
          <p:nvPr/>
        </p:nvSpPr>
        <p:spPr>
          <a:xfrm>
            <a:off x="8951747" y="4983480"/>
            <a:ext cx="2691308" cy="1234440"/>
          </a:xfrm>
          <a:prstGeom prst="roundRect">
            <a:avLst>
              <a:gd name="adj" fmla="val 8889"/>
            </a:avLst>
          </a:prstGeom>
          <a:solidFill>
            <a:srgbClr val="2F4D3D"/>
          </a:solidFill>
          <a:ln w="12700">
            <a:solidFill>
              <a:srgbClr val="2F4D3D"/>
            </a:solidFill>
            <a:prstDash val="solid"/>
          </a:ln>
        </p:spPr>
      </p:sp>
      <p:sp>
        <p:nvSpPr>
          <p:cNvPr id="40" name="Text 38"/>
          <p:cNvSpPr txBox="1"/>
          <p:nvPr/>
        </p:nvSpPr>
        <p:spPr>
          <a:xfrm>
            <a:off x="9180347" y="5074920"/>
            <a:ext cx="2234108" cy="274320"/>
          </a:xfrm>
          <a:prstGeom prst="rect">
            <a:avLst/>
          </a:prstGeom>
          <a:noFill/>
          <a:ln/>
        </p:spPr>
        <p:txBody>
          <a:bodyPr wrap="square" lIns="0" tIns="0" rIns="0" bIns="0" rtlCol="0" anchor="t"/>
          <a:lstStyle/>
          <a:p>
            <a:pPr indent="0" marL="0">
              <a:buNone/>
            </a:pPr>
            <a:r>
              <a:rPr lang="en-US" sz="1050" b="1" dirty="0">
                <a:solidFill>
                  <a:srgbClr val="F2C19A"/>
                </a:solidFill>
                <a:latin typeface="Meiryo UI" pitchFamily="34" charset="0"/>
                <a:ea typeface="Meiryo UI" pitchFamily="34" charset="-122"/>
                <a:cs typeface="Meiryo UI" pitchFamily="34" charset="-120"/>
              </a:rPr>
              <a:t>到達目標</a:t>
            </a:r>
            <a:endParaRPr lang="en-US" sz="1050" dirty="0"/>
          </a:p>
        </p:txBody>
      </p:sp>
      <p:sp>
        <p:nvSpPr>
          <p:cNvPr id="41" name="Text 39"/>
          <p:cNvSpPr txBox="1"/>
          <p:nvPr/>
        </p:nvSpPr>
        <p:spPr>
          <a:xfrm>
            <a:off x="9180347" y="5349240"/>
            <a:ext cx="2234108" cy="777240"/>
          </a:xfrm>
          <a:prstGeom prst="rect">
            <a:avLst/>
          </a:prstGeom>
          <a:noFill/>
          <a:ln/>
        </p:spPr>
        <p:txBody>
          <a:bodyPr wrap="square" lIns="0" tIns="0" rIns="0" bIns="0" rtlCol="0" anchor="t"/>
          <a:lstStyle/>
          <a:p>
            <a:pPr indent="0" marL="0">
              <a:buNone/>
            </a:pPr>
            <a:r>
              <a:rPr lang="en-US" sz="1250" b="1" dirty="0">
                <a:solidFill>
                  <a:srgbClr val="FFFFFF"/>
                </a:solidFill>
                <a:latin typeface="Meiryo UI" pitchFamily="34" charset="0"/>
                <a:ea typeface="Meiryo UI" pitchFamily="34" charset="-122"/>
                <a:cs typeface="Meiryo UI" pitchFamily="34" charset="-120"/>
              </a:rPr>
              <a:t>代表が支援と新規事業に集中できる体制</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アイドマ・ホールディングスがご提供する体制（全体像）</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ハートライフせんだいの専属チームとして、MiTokと各ユニットが連携して「仕組化」から「運用」までを担います。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21</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2423160" y="1737360"/>
            <a:ext cx="2377440" cy="960120"/>
          </a:xfrm>
          <a:prstGeom prst="triangle">
            <a:avLst/>
          </a:prstGeom>
          <a:solidFill>
            <a:srgbClr val="2F4D3D"/>
          </a:solidFill>
          <a:ln w="12700">
            <a:solidFill>
              <a:srgbClr val="2F4D3D"/>
            </a:solidFill>
            <a:prstDash val="solid"/>
          </a:ln>
        </p:spPr>
      </p:sp>
      <p:sp>
        <p:nvSpPr>
          <p:cNvPr id="8" name="Text 6"/>
          <p:cNvSpPr txBox="1"/>
          <p:nvPr/>
        </p:nvSpPr>
        <p:spPr>
          <a:xfrm>
            <a:off x="2423160" y="2194560"/>
            <a:ext cx="237744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UI" pitchFamily="34" charset="0"/>
                <a:ea typeface="Meiryo UI" pitchFamily="34" charset="-122"/>
                <a:cs typeface="Meiryo UI" pitchFamily="34" charset="-120"/>
              </a:rPr>
              <a:t>ハートライフせんだい</a:t>
            </a:r>
            <a:endParaRPr lang="en-US" sz="1250" dirty="0"/>
          </a:p>
        </p:txBody>
      </p:sp>
      <p:sp>
        <p:nvSpPr>
          <p:cNvPr id="9" name="Shape 7"/>
          <p:cNvSpPr/>
          <p:nvPr/>
        </p:nvSpPr>
        <p:spPr>
          <a:xfrm>
            <a:off x="3611880" y="2697480"/>
            <a:ext cx="0" cy="109728"/>
          </a:xfrm>
          <a:prstGeom prst="line">
            <a:avLst/>
          </a:prstGeom>
          <a:noFill/>
          <a:ln w="25400">
            <a:solidFill>
              <a:srgbClr val="2F4D3D"/>
            </a:solidFill>
            <a:prstDash val="solid"/>
          </a:ln>
        </p:spPr>
      </p:sp>
      <p:sp>
        <p:nvSpPr>
          <p:cNvPr id="10" name="Shape 8"/>
          <p:cNvSpPr/>
          <p:nvPr/>
        </p:nvSpPr>
        <p:spPr>
          <a:xfrm>
            <a:off x="1691640" y="2807208"/>
            <a:ext cx="3840480" cy="457200"/>
          </a:xfrm>
          <a:prstGeom prst="roundRect">
            <a:avLst>
              <a:gd name="adj" fmla="val 12000"/>
            </a:avLst>
          </a:prstGeom>
          <a:solidFill>
            <a:srgbClr val="46705A"/>
          </a:solidFill>
          <a:ln w="12700">
            <a:solidFill>
              <a:srgbClr val="46705A"/>
            </a:solidFill>
            <a:prstDash val="solid"/>
          </a:ln>
        </p:spPr>
      </p:sp>
      <p:sp>
        <p:nvSpPr>
          <p:cNvPr id="11" name="Text 9"/>
          <p:cNvSpPr txBox="1"/>
          <p:nvPr/>
        </p:nvSpPr>
        <p:spPr>
          <a:xfrm>
            <a:off x="1691640" y="2807208"/>
            <a:ext cx="38404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アイドマ・ホールディングス　外付け専属チーム</a:t>
            </a:r>
            <a:endParaRPr lang="en-US" sz="1200" dirty="0"/>
          </a:p>
        </p:txBody>
      </p:sp>
      <p:sp>
        <p:nvSpPr>
          <p:cNvPr id="12" name="Shape 10"/>
          <p:cNvSpPr/>
          <p:nvPr/>
        </p:nvSpPr>
        <p:spPr>
          <a:xfrm>
            <a:off x="1097280" y="3337560"/>
            <a:ext cx="5029200" cy="457200"/>
          </a:xfrm>
          <a:prstGeom prst="roundRect">
            <a:avLst>
              <a:gd name="adj" fmla="val 12000"/>
            </a:avLst>
          </a:prstGeom>
          <a:solidFill>
            <a:srgbClr val="EDF3EF"/>
          </a:solidFill>
          <a:ln w="12700">
            <a:solidFill>
              <a:srgbClr val="EDF3EF"/>
            </a:solidFill>
            <a:prstDash val="solid"/>
          </a:ln>
        </p:spPr>
      </p:sp>
      <p:sp>
        <p:nvSpPr>
          <p:cNvPr id="13" name="Text 11"/>
          <p:cNvSpPr txBox="1"/>
          <p:nvPr/>
        </p:nvSpPr>
        <p:spPr>
          <a:xfrm>
            <a:off x="1097280" y="3337560"/>
            <a:ext cx="5029200" cy="457200"/>
          </a:xfrm>
          <a:prstGeom prst="rect">
            <a:avLst/>
          </a:prstGeom>
          <a:noFill/>
          <a:ln/>
        </p:spPr>
        <p:txBody>
          <a:bodyPr wrap="square" lIns="0" tIns="0" rIns="0" bIns="0" rtlCol="0" anchor="ctr"/>
          <a:lstStyle/>
          <a:p>
            <a:pPr algn="ctr" indent="0" marL="0">
              <a:buNone/>
            </a:pPr>
            <a:r>
              <a:rPr lang="en-US" sz="1100" b="1" dirty="0">
                <a:solidFill>
                  <a:srgbClr val="46705A"/>
                </a:solidFill>
                <a:latin typeface="Meiryo UI" pitchFamily="34" charset="0"/>
                <a:ea typeface="Meiryo UI" pitchFamily="34" charset="-122"/>
                <a:cs typeface="Meiryo UI" pitchFamily="34" charset="-120"/>
              </a:rPr>
              <a:t>各ユニットの専属マネージャー・ディレクター（戦略立案・チーム組成）</a:t>
            </a:r>
            <a:endParaRPr lang="en-US" sz="1100" dirty="0"/>
          </a:p>
        </p:txBody>
      </p:sp>
      <p:sp>
        <p:nvSpPr>
          <p:cNvPr id="14" name="Shape 12"/>
          <p:cNvSpPr/>
          <p:nvPr/>
        </p:nvSpPr>
        <p:spPr>
          <a:xfrm>
            <a:off x="640080" y="3867912"/>
            <a:ext cx="5943600" cy="2395728"/>
          </a:xfrm>
          <a:prstGeom prst="roundRect">
            <a:avLst>
              <a:gd name="adj" fmla="val 3053"/>
            </a:avLst>
          </a:prstGeom>
          <a:solidFill>
            <a:srgbClr val="FBEFE4"/>
          </a:solidFill>
          <a:ln w="15875">
            <a:solidFill>
              <a:srgbClr val="B8652A"/>
            </a:solidFill>
            <a:prstDash val="dash"/>
          </a:ln>
        </p:spPr>
      </p:sp>
      <p:sp>
        <p:nvSpPr>
          <p:cNvPr id="15" name="Text 13"/>
          <p:cNvSpPr txBox="1"/>
          <p:nvPr/>
        </p:nvSpPr>
        <p:spPr>
          <a:xfrm>
            <a:off x="640080" y="3913632"/>
            <a:ext cx="5943600" cy="274320"/>
          </a:xfrm>
          <a:prstGeom prst="rect">
            <a:avLst/>
          </a:prstGeom>
          <a:noFill/>
          <a:ln/>
        </p:spPr>
        <p:txBody>
          <a:bodyPr wrap="square" lIns="0" tIns="0" rIns="0" bIns="0" rtlCol="0" anchor="t"/>
          <a:lstStyle/>
          <a:p>
            <a:pPr algn="ctr" indent="0" marL="0">
              <a:buNone/>
            </a:pPr>
            <a:r>
              <a:rPr lang="en-US" sz="1050" b="1" dirty="0">
                <a:solidFill>
                  <a:srgbClr val="B8652A"/>
                </a:solidFill>
                <a:latin typeface="Meiryo UI" pitchFamily="34" charset="0"/>
                <a:ea typeface="Meiryo UI" pitchFamily="34" charset="-122"/>
                <a:cs typeface="Meiryo UI" pitchFamily="34" charset="-120"/>
              </a:rPr>
              <a:t>実務チーム（スペシャリスト）</a:t>
            </a:r>
            <a:endParaRPr lang="en-US" sz="1050" dirty="0"/>
          </a:p>
        </p:txBody>
      </p:sp>
      <p:sp>
        <p:nvSpPr>
          <p:cNvPr id="16" name="Shape 14"/>
          <p:cNvSpPr/>
          <p:nvPr/>
        </p:nvSpPr>
        <p:spPr>
          <a:xfrm>
            <a:off x="822960" y="4233672"/>
            <a:ext cx="1786128" cy="891540"/>
          </a:xfrm>
          <a:prstGeom prst="roundRect">
            <a:avLst>
              <a:gd name="adj" fmla="val 12308"/>
            </a:avLst>
          </a:prstGeom>
          <a:solidFill>
            <a:srgbClr val="46705A"/>
          </a:solidFill>
          <a:ln w="12700">
            <a:solidFill>
              <a:srgbClr val="46705A"/>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1533144" y="4306824"/>
            <a:ext cx="365760" cy="36576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1"/>
          <a:stretch>
            <a:fillRect/>
          </a:stretch>
        </p:blipFill>
        <p:spPr>
          <a:xfrm>
            <a:off x="1628242" y="4401922"/>
            <a:ext cx="175565" cy="175565"/>
          </a:xfrm>
          <a:prstGeom prst="rect">
            <a:avLst/>
          </a:prstGeom>
        </p:spPr>
      </p:pic>
      <p:sp>
        <p:nvSpPr>
          <p:cNvPr id="19" name="Text 16"/>
          <p:cNvSpPr txBox="1"/>
          <p:nvPr/>
        </p:nvSpPr>
        <p:spPr>
          <a:xfrm>
            <a:off x="868680" y="4690872"/>
            <a:ext cx="1694688" cy="274320"/>
          </a:xfrm>
          <a:prstGeom prst="rect">
            <a:avLst/>
          </a:prstGeom>
          <a:noFill/>
          <a:ln/>
        </p:spPr>
        <p:txBody>
          <a:bodyPr wrap="square" lIns="0" tIns="0" rIns="0" bIns="0" rtlCol="0" anchor="t"/>
          <a:lstStyle/>
          <a:p>
            <a:pPr algn="ctr" indent="0" marL="0">
              <a:buNone/>
            </a:pPr>
            <a:r>
              <a:rPr lang="en-US" sz="1150" b="1" dirty="0">
                <a:solidFill>
                  <a:srgbClr val="FFFFFF"/>
                </a:solidFill>
                <a:latin typeface="Meiryo UI" pitchFamily="34" charset="0"/>
                <a:ea typeface="Meiryo UI" pitchFamily="34" charset="-122"/>
                <a:cs typeface="Meiryo UI" pitchFamily="34" charset="-120"/>
              </a:rPr>
              <a:t>MiTok</a:t>
            </a:r>
            <a:endParaRPr lang="en-US" sz="1150" dirty="0"/>
          </a:p>
        </p:txBody>
      </p:sp>
      <p:sp>
        <p:nvSpPr>
          <p:cNvPr id="20" name="Text 17"/>
          <p:cNvSpPr txBox="1"/>
          <p:nvPr/>
        </p:nvSpPr>
        <p:spPr>
          <a:xfrm>
            <a:off x="868680" y="4946904"/>
            <a:ext cx="1694688" cy="228600"/>
          </a:xfrm>
          <a:prstGeom prst="rect">
            <a:avLst/>
          </a:prstGeom>
          <a:noFill/>
          <a:ln/>
        </p:spPr>
        <p:txBody>
          <a:bodyPr wrap="square" lIns="0" tIns="0" rIns="0" bIns="0" rtlCol="0" anchor="t"/>
          <a:lstStyle/>
          <a:p>
            <a:pPr algn="ctr" indent="0" marL="0">
              <a:buNone/>
            </a:pPr>
            <a:r>
              <a:rPr lang="en-US" sz="850" dirty="0">
                <a:solidFill>
                  <a:srgbClr val="D8E6DC"/>
                </a:solidFill>
                <a:latin typeface="Meiryo UI" pitchFamily="34" charset="0"/>
                <a:ea typeface="Meiryo UI" pitchFamily="34" charset="-122"/>
                <a:cs typeface="Meiryo UI" pitchFamily="34" charset="-120"/>
              </a:rPr>
              <a:t>動画・発信</a:t>
            </a:r>
            <a:endParaRPr lang="en-US" sz="850" dirty="0"/>
          </a:p>
        </p:txBody>
      </p:sp>
      <p:sp>
        <p:nvSpPr>
          <p:cNvPr id="21" name="Shape 18"/>
          <p:cNvSpPr/>
          <p:nvPr/>
        </p:nvSpPr>
        <p:spPr>
          <a:xfrm>
            <a:off x="2718816" y="4233672"/>
            <a:ext cx="1786128" cy="891540"/>
          </a:xfrm>
          <a:prstGeom prst="roundRect">
            <a:avLst>
              <a:gd name="adj" fmla="val 1230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3429000" y="4306824"/>
            <a:ext cx="365760" cy="365760"/>
          </a:xfrm>
          <a:prstGeom prst="ellipse">
            <a:avLst/>
          </a:prstGeom>
          <a:solidFill>
            <a:srgbClr val="46705A"/>
          </a:solidFill>
          <a:ln w="12700">
            <a:solidFill>
              <a:srgbClr val="46705A"/>
            </a:solidFill>
            <a:prstDash val="solid"/>
          </a:ln>
        </p:spPr>
      </p:sp>
      <p:pic>
        <p:nvPicPr>
          <p:cNvPr id="23" name="Image 1" descr="preencoded.png">    </p:cNvPr>
          <p:cNvPicPr>
            <a:picLocks noChangeAspect="1"/>
          </p:cNvPicPr>
          <p:nvPr/>
        </p:nvPicPr>
        <p:blipFill>
          <a:blip r:embed="rId2"/>
          <a:stretch>
            <a:fillRect/>
          </a:stretch>
        </p:blipFill>
        <p:spPr>
          <a:xfrm>
            <a:off x="3524098" y="4401922"/>
            <a:ext cx="175565" cy="175565"/>
          </a:xfrm>
          <a:prstGeom prst="rect">
            <a:avLst/>
          </a:prstGeom>
        </p:spPr>
      </p:pic>
      <p:sp>
        <p:nvSpPr>
          <p:cNvPr id="24" name="Text 20"/>
          <p:cNvSpPr txBox="1"/>
          <p:nvPr/>
        </p:nvSpPr>
        <p:spPr>
          <a:xfrm>
            <a:off x="2764536" y="4690872"/>
            <a:ext cx="1694688" cy="274320"/>
          </a:xfrm>
          <a:prstGeom prst="rect">
            <a:avLst/>
          </a:prstGeom>
          <a:noFill/>
          <a:ln/>
        </p:spPr>
        <p:txBody>
          <a:bodyPr wrap="square" lIns="0" tIns="0" rIns="0" bIns="0" rtlCol="0" anchor="t"/>
          <a:lstStyle/>
          <a:p>
            <a:pPr algn="ctr" indent="0" marL="0">
              <a:buNone/>
            </a:pPr>
            <a:r>
              <a:rPr lang="en-US" sz="1150" b="1" dirty="0">
                <a:solidFill>
                  <a:srgbClr val="2F4D3D"/>
                </a:solidFill>
                <a:latin typeface="Meiryo UI" pitchFamily="34" charset="0"/>
                <a:ea typeface="Meiryo UI" pitchFamily="34" charset="-122"/>
                <a:cs typeface="Meiryo UI" pitchFamily="34" charset="-120"/>
              </a:rPr>
              <a:t>フィールドワーク</a:t>
            </a:r>
            <a:endParaRPr lang="en-US" sz="1150" dirty="0"/>
          </a:p>
        </p:txBody>
      </p:sp>
      <p:sp>
        <p:nvSpPr>
          <p:cNvPr id="25" name="Text 21"/>
          <p:cNvSpPr txBox="1"/>
          <p:nvPr/>
        </p:nvSpPr>
        <p:spPr>
          <a:xfrm>
            <a:off x="2764536" y="4946904"/>
            <a:ext cx="1694688" cy="228600"/>
          </a:xfrm>
          <a:prstGeom prst="rect">
            <a:avLst/>
          </a:prstGeom>
          <a:noFill/>
          <a:ln/>
        </p:spPr>
        <p:txBody>
          <a:bodyPr wrap="square" lIns="0" tIns="0" rIns="0" bIns="0" rtlCol="0" anchor="t"/>
          <a:lstStyle/>
          <a:p>
            <a:pPr algn="ctr" indent="0" marL="0">
              <a:buNone/>
            </a:pPr>
            <a:r>
              <a:rPr lang="en-US" sz="850" dirty="0">
                <a:solidFill>
                  <a:srgbClr val="66776C"/>
                </a:solidFill>
                <a:latin typeface="Meiryo UI" pitchFamily="34" charset="0"/>
                <a:ea typeface="Meiryo UI" pitchFamily="34" charset="-122"/>
                <a:cs typeface="Meiryo UI" pitchFamily="34" charset="-120"/>
              </a:rPr>
              <a:t>［フィールドワークチーム］</a:t>
            </a:r>
            <a:endParaRPr lang="en-US" sz="850" dirty="0"/>
          </a:p>
        </p:txBody>
      </p:sp>
      <p:sp>
        <p:nvSpPr>
          <p:cNvPr id="26" name="Shape 22"/>
          <p:cNvSpPr/>
          <p:nvPr/>
        </p:nvSpPr>
        <p:spPr>
          <a:xfrm>
            <a:off x="4614672" y="4233672"/>
            <a:ext cx="1786128" cy="891540"/>
          </a:xfrm>
          <a:prstGeom prst="roundRect">
            <a:avLst>
              <a:gd name="adj" fmla="val 1230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3"/>
          <p:cNvSpPr/>
          <p:nvPr/>
        </p:nvSpPr>
        <p:spPr>
          <a:xfrm>
            <a:off x="5324856" y="4306824"/>
            <a:ext cx="365760" cy="365760"/>
          </a:xfrm>
          <a:prstGeom prst="ellipse">
            <a:avLst/>
          </a:prstGeom>
          <a:solidFill>
            <a:srgbClr val="46705A"/>
          </a:solidFill>
          <a:ln w="12700">
            <a:solidFill>
              <a:srgbClr val="46705A"/>
            </a:solidFill>
            <a:prstDash val="solid"/>
          </a:ln>
        </p:spPr>
      </p:sp>
      <p:pic>
        <p:nvPicPr>
          <p:cNvPr id="28" name="Image 2" descr="preencoded.png">    </p:cNvPr>
          <p:cNvPicPr>
            <a:picLocks noChangeAspect="1"/>
          </p:cNvPicPr>
          <p:nvPr/>
        </p:nvPicPr>
        <p:blipFill>
          <a:blip r:embed="rId3"/>
          <a:stretch>
            <a:fillRect/>
          </a:stretch>
        </p:blipFill>
        <p:spPr>
          <a:xfrm>
            <a:off x="5419954" y="4401922"/>
            <a:ext cx="175565" cy="175565"/>
          </a:xfrm>
          <a:prstGeom prst="rect">
            <a:avLst/>
          </a:prstGeom>
        </p:spPr>
      </p:pic>
      <p:sp>
        <p:nvSpPr>
          <p:cNvPr id="29" name="Text 24"/>
          <p:cNvSpPr txBox="1"/>
          <p:nvPr/>
        </p:nvSpPr>
        <p:spPr>
          <a:xfrm>
            <a:off x="4660392" y="4690872"/>
            <a:ext cx="1694688" cy="274320"/>
          </a:xfrm>
          <a:prstGeom prst="rect">
            <a:avLst/>
          </a:prstGeom>
          <a:noFill/>
          <a:ln/>
        </p:spPr>
        <p:txBody>
          <a:bodyPr wrap="square" lIns="0" tIns="0" rIns="0" bIns="0" rtlCol="0" anchor="t"/>
          <a:lstStyle/>
          <a:p>
            <a:pPr algn="ctr" indent="0" marL="0">
              <a:buNone/>
            </a:pPr>
            <a:r>
              <a:rPr lang="en-US" sz="1150" b="1" dirty="0">
                <a:solidFill>
                  <a:srgbClr val="2F4D3D"/>
                </a:solidFill>
                <a:latin typeface="Meiryo UI" pitchFamily="34" charset="0"/>
                <a:ea typeface="Meiryo UI" pitchFamily="34" charset="-122"/>
                <a:cs typeface="Meiryo UI" pitchFamily="34" charset="-120"/>
              </a:rPr>
              <a:t>WEB・制作</a:t>
            </a:r>
            <a:endParaRPr lang="en-US" sz="1150" dirty="0"/>
          </a:p>
        </p:txBody>
      </p:sp>
      <p:sp>
        <p:nvSpPr>
          <p:cNvPr id="30" name="Text 25"/>
          <p:cNvSpPr txBox="1"/>
          <p:nvPr/>
        </p:nvSpPr>
        <p:spPr>
          <a:xfrm>
            <a:off x="4660392" y="4946904"/>
            <a:ext cx="1694688" cy="228600"/>
          </a:xfrm>
          <a:prstGeom prst="rect">
            <a:avLst/>
          </a:prstGeom>
          <a:noFill/>
          <a:ln/>
        </p:spPr>
        <p:txBody>
          <a:bodyPr wrap="square" lIns="0" tIns="0" rIns="0" bIns="0" rtlCol="0" anchor="t"/>
          <a:lstStyle/>
          <a:p>
            <a:pPr algn="ctr" indent="0" marL="0">
              <a:buNone/>
            </a:pPr>
            <a:r>
              <a:rPr lang="en-US" sz="850" dirty="0">
                <a:solidFill>
                  <a:srgbClr val="66776C"/>
                </a:solidFill>
                <a:latin typeface="Meiryo UI" pitchFamily="34" charset="0"/>
                <a:ea typeface="Meiryo UI" pitchFamily="34" charset="-122"/>
                <a:cs typeface="Meiryo UI" pitchFamily="34" charset="-120"/>
              </a:rPr>
              <a:t>［クラプロ］</a:t>
            </a:r>
            <a:endParaRPr lang="en-US" sz="850" dirty="0"/>
          </a:p>
        </p:txBody>
      </p:sp>
      <p:sp>
        <p:nvSpPr>
          <p:cNvPr id="31" name="Shape 26"/>
          <p:cNvSpPr/>
          <p:nvPr/>
        </p:nvSpPr>
        <p:spPr>
          <a:xfrm>
            <a:off x="822960" y="5216652"/>
            <a:ext cx="1786128" cy="891540"/>
          </a:xfrm>
          <a:prstGeom prst="roundRect">
            <a:avLst>
              <a:gd name="adj" fmla="val 1230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27"/>
          <p:cNvSpPr/>
          <p:nvPr/>
        </p:nvSpPr>
        <p:spPr>
          <a:xfrm>
            <a:off x="1533144" y="5289804"/>
            <a:ext cx="365760" cy="365760"/>
          </a:xfrm>
          <a:prstGeom prst="ellipse">
            <a:avLst/>
          </a:prstGeom>
          <a:solidFill>
            <a:srgbClr val="46705A"/>
          </a:solidFill>
          <a:ln w="12700">
            <a:solidFill>
              <a:srgbClr val="46705A"/>
            </a:solidFill>
            <a:prstDash val="solid"/>
          </a:ln>
        </p:spPr>
      </p:sp>
      <p:pic>
        <p:nvPicPr>
          <p:cNvPr id="33" name="Image 3" descr="preencoded.png">    </p:cNvPr>
          <p:cNvPicPr>
            <a:picLocks noChangeAspect="1"/>
          </p:cNvPicPr>
          <p:nvPr/>
        </p:nvPicPr>
        <p:blipFill>
          <a:blip r:embed="rId4"/>
          <a:stretch>
            <a:fillRect/>
          </a:stretch>
        </p:blipFill>
        <p:spPr>
          <a:xfrm>
            <a:off x="1628242" y="5384902"/>
            <a:ext cx="175565" cy="175565"/>
          </a:xfrm>
          <a:prstGeom prst="rect">
            <a:avLst/>
          </a:prstGeom>
        </p:spPr>
      </p:pic>
      <p:sp>
        <p:nvSpPr>
          <p:cNvPr id="34" name="Text 28"/>
          <p:cNvSpPr txBox="1"/>
          <p:nvPr/>
        </p:nvSpPr>
        <p:spPr>
          <a:xfrm>
            <a:off x="868680" y="5673852"/>
            <a:ext cx="1694688" cy="274320"/>
          </a:xfrm>
          <a:prstGeom prst="rect">
            <a:avLst/>
          </a:prstGeom>
          <a:noFill/>
          <a:ln/>
        </p:spPr>
        <p:txBody>
          <a:bodyPr wrap="square" lIns="0" tIns="0" rIns="0" bIns="0" rtlCol="0" anchor="t"/>
          <a:lstStyle/>
          <a:p>
            <a:pPr algn="ctr" indent="0" marL="0">
              <a:buNone/>
            </a:pPr>
            <a:r>
              <a:rPr lang="en-US" sz="1150" b="1" dirty="0">
                <a:solidFill>
                  <a:srgbClr val="2F4D3D"/>
                </a:solidFill>
                <a:latin typeface="Meiryo UI" pitchFamily="34" charset="0"/>
                <a:ea typeface="Meiryo UI" pitchFamily="34" charset="-122"/>
                <a:cs typeface="Meiryo UI" pitchFamily="34" charset="-120"/>
              </a:rPr>
              <a:t>人事支援</a:t>
            </a:r>
            <a:endParaRPr lang="en-US" sz="1150" dirty="0"/>
          </a:p>
        </p:txBody>
      </p:sp>
      <p:sp>
        <p:nvSpPr>
          <p:cNvPr id="35" name="Text 29"/>
          <p:cNvSpPr txBox="1"/>
          <p:nvPr/>
        </p:nvSpPr>
        <p:spPr>
          <a:xfrm>
            <a:off x="868680" y="5929884"/>
            <a:ext cx="1694688" cy="228600"/>
          </a:xfrm>
          <a:prstGeom prst="rect">
            <a:avLst/>
          </a:prstGeom>
          <a:noFill/>
          <a:ln/>
        </p:spPr>
        <p:txBody>
          <a:bodyPr wrap="square" lIns="0" tIns="0" rIns="0" bIns="0" rtlCol="0" anchor="t"/>
          <a:lstStyle/>
          <a:p>
            <a:pPr algn="ctr" indent="0" marL="0">
              <a:buNone/>
            </a:pPr>
            <a:r>
              <a:rPr lang="en-US" sz="850" dirty="0">
                <a:solidFill>
                  <a:srgbClr val="66776C"/>
                </a:solidFill>
                <a:latin typeface="Meiryo UI" pitchFamily="34" charset="0"/>
                <a:ea typeface="Meiryo UI" pitchFamily="34" charset="-122"/>
                <a:cs typeface="Meiryo UI" pitchFamily="34" charset="-120"/>
              </a:rPr>
              <a:t>［HRユニット］</a:t>
            </a:r>
            <a:endParaRPr lang="en-US" sz="850" dirty="0"/>
          </a:p>
        </p:txBody>
      </p:sp>
      <p:sp>
        <p:nvSpPr>
          <p:cNvPr id="36" name="Shape 30"/>
          <p:cNvSpPr/>
          <p:nvPr/>
        </p:nvSpPr>
        <p:spPr>
          <a:xfrm>
            <a:off x="2718816" y="5216652"/>
            <a:ext cx="1786128" cy="891540"/>
          </a:xfrm>
          <a:prstGeom prst="roundRect">
            <a:avLst>
              <a:gd name="adj" fmla="val 1230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1"/>
          <p:cNvSpPr/>
          <p:nvPr/>
        </p:nvSpPr>
        <p:spPr>
          <a:xfrm>
            <a:off x="3429000" y="5289804"/>
            <a:ext cx="365760" cy="365760"/>
          </a:xfrm>
          <a:prstGeom prst="ellipse">
            <a:avLst/>
          </a:prstGeom>
          <a:solidFill>
            <a:srgbClr val="46705A"/>
          </a:solidFill>
          <a:ln w="12700">
            <a:solidFill>
              <a:srgbClr val="46705A"/>
            </a:solidFill>
            <a:prstDash val="solid"/>
          </a:ln>
        </p:spPr>
      </p:sp>
      <p:pic>
        <p:nvPicPr>
          <p:cNvPr id="38" name="Image 4" descr="preencoded.png">    </p:cNvPr>
          <p:cNvPicPr>
            <a:picLocks noChangeAspect="1"/>
          </p:cNvPicPr>
          <p:nvPr/>
        </p:nvPicPr>
        <p:blipFill>
          <a:blip r:embed="rId5"/>
          <a:stretch>
            <a:fillRect/>
          </a:stretch>
        </p:blipFill>
        <p:spPr>
          <a:xfrm>
            <a:off x="3524098" y="5384902"/>
            <a:ext cx="175565" cy="175565"/>
          </a:xfrm>
          <a:prstGeom prst="rect">
            <a:avLst/>
          </a:prstGeom>
        </p:spPr>
      </p:pic>
      <p:sp>
        <p:nvSpPr>
          <p:cNvPr id="39" name="Text 32"/>
          <p:cNvSpPr txBox="1"/>
          <p:nvPr/>
        </p:nvSpPr>
        <p:spPr>
          <a:xfrm>
            <a:off x="2764536" y="5673852"/>
            <a:ext cx="1694688" cy="274320"/>
          </a:xfrm>
          <a:prstGeom prst="rect">
            <a:avLst/>
          </a:prstGeom>
          <a:noFill/>
          <a:ln/>
        </p:spPr>
        <p:txBody>
          <a:bodyPr wrap="square" lIns="0" tIns="0" rIns="0" bIns="0" rtlCol="0" anchor="t"/>
          <a:lstStyle/>
          <a:p>
            <a:pPr algn="ctr" indent="0" marL="0">
              <a:buNone/>
            </a:pPr>
            <a:r>
              <a:rPr lang="en-US" sz="1150" b="1" dirty="0">
                <a:solidFill>
                  <a:srgbClr val="2F4D3D"/>
                </a:solidFill>
                <a:latin typeface="Meiryo UI" pitchFamily="34" charset="0"/>
                <a:ea typeface="Meiryo UI" pitchFamily="34" charset="-122"/>
                <a:cs typeface="Meiryo UI" pitchFamily="34" charset="-120"/>
              </a:rPr>
              <a:t>商談支援</a:t>
            </a:r>
            <a:endParaRPr lang="en-US" sz="1150" dirty="0"/>
          </a:p>
        </p:txBody>
      </p:sp>
      <p:sp>
        <p:nvSpPr>
          <p:cNvPr id="40" name="Text 33"/>
          <p:cNvSpPr txBox="1"/>
          <p:nvPr/>
        </p:nvSpPr>
        <p:spPr>
          <a:xfrm>
            <a:off x="2764536" y="5929884"/>
            <a:ext cx="1694688" cy="228600"/>
          </a:xfrm>
          <a:prstGeom prst="rect">
            <a:avLst/>
          </a:prstGeom>
          <a:noFill/>
          <a:ln/>
        </p:spPr>
        <p:txBody>
          <a:bodyPr wrap="square" lIns="0" tIns="0" rIns="0" bIns="0" rtlCol="0" anchor="t"/>
          <a:lstStyle/>
          <a:p>
            <a:pPr algn="ctr" indent="0" marL="0">
              <a:buNone/>
            </a:pPr>
            <a:r>
              <a:rPr lang="en-US" sz="850" dirty="0">
                <a:solidFill>
                  <a:srgbClr val="66776C"/>
                </a:solidFill>
                <a:latin typeface="Meiryo UI" pitchFamily="34" charset="0"/>
                <a:ea typeface="Meiryo UI" pitchFamily="34" charset="-122"/>
                <a:cs typeface="Meiryo UI" pitchFamily="34" charset="-120"/>
              </a:rPr>
              <a:t>［セールスユニット］</a:t>
            </a:r>
            <a:endParaRPr lang="en-US" sz="850" dirty="0"/>
          </a:p>
        </p:txBody>
      </p:sp>
      <p:sp>
        <p:nvSpPr>
          <p:cNvPr id="41" name="Shape 34"/>
          <p:cNvSpPr/>
          <p:nvPr/>
        </p:nvSpPr>
        <p:spPr>
          <a:xfrm>
            <a:off x="4614672" y="5216652"/>
            <a:ext cx="1786128" cy="891540"/>
          </a:xfrm>
          <a:prstGeom prst="roundRect">
            <a:avLst>
              <a:gd name="adj" fmla="val 1230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35"/>
          <p:cNvSpPr/>
          <p:nvPr/>
        </p:nvSpPr>
        <p:spPr>
          <a:xfrm>
            <a:off x="5324856" y="5289804"/>
            <a:ext cx="365760" cy="365760"/>
          </a:xfrm>
          <a:prstGeom prst="ellipse">
            <a:avLst/>
          </a:prstGeom>
          <a:solidFill>
            <a:srgbClr val="46705A"/>
          </a:solidFill>
          <a:ln w="12700">
            <a:solidFill>
              <a:srgbClr val="46705A"/>
            </a:solidFill>
            <a:prstDash val="solid"/>
          </a:ln>
        </p:spPr>
      </p:sp>
      <p:pic>
        <p:nvPicPr>
          <p:cNvPr id="43" name="Image 5" descr="preencoded.png">    </p:cNvPr>
          <p:cNvPicPr>
            <a:picLocks noChangeAspect="1"/>
          </p:cNvPicPr>
          <p:nvPr/>
        </p:nvPicPr>
        <p:blipFill>
          <a:blip r:embed="rId6"/>
          <a:stretch>
            <a:fillRect/>
          </a:stretch>
        </p:blipFill>
        <p:spPr>
          <a:xfrm>
            <a:off x="5419954" y="5384902"/>
            <a:ext cx="175565" cy="175565"/>
          </a:xfrm>
          <a:prstGeom prst="rect">
            <a:avLst/>
          </a:prstGeom>
        </p:spPr>
      </p:pic>
      <p:sp>
        <p:nvSpPr>
          <p:cNvPr id="44" name="Text 36"/>
          <p:cNvSpPr txBox="1"/>
          <p:nvPr/>
        </p:nvSpPr>
        <p:spPr>
          <a:xfrm>
            <a:off x="4660392" y="5673852"/>
            <a:ext cx="1694688" cy="274320"/>
          </a:xfrm>
          <a:prstGeom prst="rect">
            <a:avLst/>
          </a:prstGeom>
          <a:noFill/>
          <a:ln/>
        </p:spPr>
        <p:txBody>
          <a:bodyPr wrap="square" lIns="0" tIns="0" rIns="0" bIns="0" rtlCol="0" anchor="t"/>
          <a:lstStyle/>
          <a:p>
            <a:pPr algn="ctr" indent="0" marL="0">
              <a:buNone/>
            </a:pPr>
            <a:r>
              <a:rPr lang="en-US" sz="1150" b="1" dirty="0">
                <a:solidFill>
                  <a:srgbClr val="2F4D3D"/>
                </a:solidFill>
                <a:latin typeface="Meiryo UI" pitchFamily="34" charset="0"/>
                <a:ea typeface="Meiryo UI" pitchFamily="34" charset="-122"/>
                <a:cs typeface="Meiryo UI" pitchFamily="34" charset="-120"/>
              </a:rPr>
              <a:t>営業支援</a:t>
            </a:r>
            <a:endParaRPr lang="en-US" sz="1150" dirty="0"/>
          </a:p>
        </p:txBody>
      </p:sp>
      <p:sp>
        <p:nvSpPr>
          <p:cNvPr id="45" name="Text 37"/>
          <p:cNvSpPr txBox="1"/>
          <p:nvPr/>
        </p:nvSpPr>
        <p:spPr>
          <a:xfrm>
            <a:off x="4660392" y="5929884"/>
            <a:ext cx="1694688" cy="228600"/>
          </a:xfrm>
          <a:prstGeom prst="rect">
            <a:avLst/>
          </a:prstGeom>
          <a:noFill/>
          <a:ln/>
        </p:spPr>
        <p:txBody>
          <a:bodyPr wrap="square" lIns="0" tIns="0" rIns="0" bIns="0" rtlCol="0" anchor="t"/>
          <a:lstStyle/>
          <a:p>
            <a:pPr algn="ctr" indent="0" marL="0">
              <a:buNone/>
            </a:pPr>
            <a:r>
              <a:rPr lang="en-US" sz="850" dirty="0">
                <a:solidFill>
                  <a:srgbClr val="66776C"/>
                </a:solidFill>
                <a:latin typeface="Meiryo UI" pitchFamily="34" charset="0"/>
                <a:ea typeface="Meiryo UI" pitchFamily="34" charset="-122"/>
                <a:cs typeface="Meiryo UI" pitchFamily="34" charset="-120"/>
              </a:rPr>
              <a:t>［セールスプラットフォーム］</a:t>
            </a:r>
            <a:endParaRPr lang="en-US" sz="850" dirty="0"/>
          </a:p>
        </p:txBody>
      </p:sp>
      <p:sp>
        <p:nvSpPr>
          <p:cNvPr id="46" name="Text 38"/>
          <p:cNvSpPr txBox="1"/>
          <p:nvPr/>
        </p:nvSpPr>
        <p:spPr>
          <a:xfrm>
            <a:off x="6903720" y="1737360"/>
            <a:ext cx="4739335" cy="320040"/>
          </a:xfrm>
          <a:prstGeom prst="rect">
            <a:avLst/>
          </a:prstGeom>
          <a:noFill/>
          <a:ln/>
        </p:spPr>
        <p:txBody>
          <a:bodyPr wrap="square" lIns="0" tIns="0" rIns="0" bIns="0" rtlCol="0" anchor="t"/>
          <a:lstStyle/>
          <a:p>
            <a:pPr indent="0" marL="0">
              <a:buNone/>
            </a:pPr>
            <a:r>
              <a:rPr lang="en-US" sz="1400" b="1" dirty="0">
                <a:solidFill>
                  <a:srgbClr val="B8652A"/>
                </a:solidFill>
                <a:latin typeface="Meiryo UI" pitchFamily="34" charset="0"/>
                <a:ea typeface="Meiryo UI" pitchFamily="34" charset="-122"/>
                <a:cs typeface="Meiryo UI" pitchFamily="34" charset="-120"/>
              </a:rPr>
              <a:t>各チームの役割</a:t>
            </a:r>
            <a:endParaRPr lang="en-US" sz="1400" dirty="0"/>
          </a:p>
        </p:txBody>
      </p:sp>
      <p:sp>
        <p:nvSpPr>
          <p:cNvPr id="47" name="Shape 39"/>
          <p:cNvSpPr/>
          <p:nvPr/>
        </p:nvSpPr>
        <p:spPr>
          <a:xfrm>
            <a:off x="6903720" y="2194560"/>
            <a:ext cx="384048" cy="384048"/>
          </a:xfrm>
          <a:prstGeom prst="ellipse">
            <a:avLst/>
          </a:prstGeom>
          <a:solidFill>
            <a:srgbClr val="B8652A"/>
          </a:solidFill>
          <a:ln w="12700">
            <a:solidFill>
              <a:srgbClr val="B8652A"/>
            </a:solidFill>
            <a:prstDash val="solid"/>
          </a:ln>
        </p:spPr>
      </p:sp>
      <p:pic>
        <p:nvPicPr>
          <p:cNvPr id="48" name="Image 6" descr="preencoded.png">    </p:cNvPr>
          <p:cNvPicPr>
            <a:picLocks noChangeAspect="1"/>
          </p:cNvPicPr>
          <p:nvPr/>
        </p:nvPicPr>
        <p:blipFill>
          <a:blip r:embed="rId7"/>
          <a:stretch>
            <a:fillRect/>
          </a:stretch>
        </p:blipFill>
        <p:spPr>
          <a:xfrm>
            <a:off x="7003572" y="2294412"/>
            <a:ext cx="184343" cy="184343"/>
          </a:xfrm>
          <a:prstGeom prst="rect">
            <a:avLst/>
          </a:prstGeom>
        </p:spPr>
      </p:pic>
      <p:sp>
        <p:nvSpPr>
          <p:cNvPr id="49" name="Text 40"/>
          <p:cNvSpPr txBox="1"/>
          <p:nvPr/>
        </p:nvSpPr>
        <p:spPr>
          <a:xfrm>
            <a:off x="7406640" y="2148840"/>
            <a:ext cx="4236415"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MiTok</a:t>
            </a:r>
            <a:endParaRPr lang="en-US" sz="1100" dirty="0"/>
          </a:p>
        </p:txBody>
      </p:sp>
      <p:sp>
        <p:nvSpPr>
          <p:cNvPr id="50" name="Text 41"/>
          <p:cNvSpPr txBox="1"/>
          <p:nvPr/>
        </p:nvSpPr>
        <p:spPr>
          <a:xfrm>
            <a:off x="7406640" y="2404872"/>
            <a:ext cx="4236415" cy="411480"/>
          </a:xfrm>
          <a:prstGeom prst="rect">
            <a:avLst/>
          </a:prstGeom>
          <a:noFill/>
          <a:ln/>
        </p:spPr>
        <p:txBody>
          <a:bodyPr wrap="square" lIns="0" tIns="0" rIns="0" bIns="0" rtlCol="0" anchor="t"/>
          <a:lstStyle/>
          <a:p>
            <a:pPr indent="0" marL="0">
              <a:buNone/>
            </a:pPr>
            <a:r>
              <a:rPr lang="en-US" sz="950" dirty="0">
                <a:solidFill>
                  <a:srgbClr val="2A322D"/>
                </a:solidFill>
                <a:latin typeface="Meiryo UI" pitchFamily="34" charset="0"/>
                <a:ea typeface="Meiryo UI" pitchFamily="34" charset="-122"/>
                <a:cs typeface="Meiryo UI" pitchFamily="34" charset="-120"/>
              </a:rPr>
              <a:t>動画で施設の想いと雰囲気を届け、見学・相談の入口をつくる</a:t>
            </a:r>
            <a:endParaRPr lang="en-US" sz="950" dirty="0"/>
          </a:p>
        </p:txBody>
      </p:sp>
      <p:sp>
        <p:nvSpPr>
          <p:cNvPr id="51" name="Shape 42"/>
          <p:cNvSpPr/>
          <p:nvPr/>
        </p:nvSpPr>
        <p:spPr>
          <a:xfrm>
            <a:off x="6903720" y="2880360"/>
            <a:ext cx="384048" cy="384048"/>
          </a:xfrm>
          <a:prstGeom prst="ellipse">
            <a:avLst/>
          </a:prstGeom>
          <a:solidFill>
            <a:srgbClr val="46705A"/>
          </a:solidFill>
          <a:ln w="12700">
            <a:solidFill>
              <a:srgbClr val="46705A"/>
            </a:solidFill>
            <a:prstDash val="solid"/>
          </a:ln>
        </p:spPr>
      </p:sp>
      <p:pic>
        <p:nvPicPr>
          <p:cNvPr id="52" name="Image 7" descr="preencoded.png">    </p:cNvPr>
          <p:cNvPicPr>
            <a:picLocks noChangeAspect="1"/>
          </p:cNvPicPr>
          <p:nvPr/>
        </p:nvPicPr>
        <p:blipFill>
          <a:blip r:embed="rId8"/>
          <a:stretch>
            <a:fillRect/>
          </a:stretch>
        </p:blipFill>
        <p:spPr>
          <a:xfrm>
            <a:off x="7003572" y="2980212"/>
            <a:ext cx="184343" cy="184343"/>
          </a:xfrm>
          <a:prstGeom prst="rect">
            <a:avLst/>
          </a:prstGeom>
        </p:spPr>
      </p:pic>
      <p:sp>
        <p:nvSpPr>
          <p:cNvPr id="53" name="Text 43"/>
          <p:cNvSpPr txBox="1"/>
          <p:nvPr/>
        </p:nvSpPr>
        <p:spPr>
          <a:xfrm>
            <a:off x="7406640" y="2834640"/>
            <a:ext cx="4236415"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フィールドワーク支援［フィールドワークチームユニット］</a:t>
            </a:r>
            <a:endParaRPr lang="en-US" sz="1100" dirty="0"/>
          </a:p>
        </p:txBody>
      </p:sp>
      <p:sp>
        <p:nvSpPr>
          <p:cNvPr id="54" name="Text 44"/>
          <p:cNvSpPr txBox="1"/>
          <p:nvPr/>
        </p:nvSpPr>
        <p:spPr>
          <a:xfrm>
            <a:off x="7406640" y="3090672"/>
            <a:ext cx="4236415" cy="411480"/>
          </a:xfrm>
          <a:prstGeom prst="rect">
            <a:avLst/>
          </a:prstGeom>
          <a:noFill/>
          <a:ln/>
        </p:spPr>
        <p:txBody>
          <a:bodyPr wrap="square" lIns="0" tIns="0" rIns="0" bIns="0" rtlCol="0" anchor="t"/>
          <a:lstStyle/>
          <a:p>
            <a:pPr indent="0" marL="0">
              <a:buNone/>
            </a:pPr>
            <a:r>
              <a:rPr lang="en-US" sz="950" dirty="0">
                <a:solidFill>
                  <a:srgbClr val="2A322D"/>
                </a:solidFill>
                <a:latin typeface="Meiryo UI" pitchFamily="34" charset="0"/>
                <a:ea typeface="Meiryo UI" pitchFamily="34" charset="-122"/>
                <a:cs typeface="Meiryo UI" pitchFamily="34" charset="-120"/>
              </a:rPr>
              <a:t>代表の事務作業を棚卸し・マニュアル化し、事務スタッフが実務を担う</a:t>
            </a:r>
            <a:endParaRPr lang="en-US" sz="950" dirty="0"/>
          </a:p>
        </p:txBody>
      </p:sp>
      <p:sp>
        <p:nvSpPr>
          <p:cNvPr id="55" name="Shape 45"/>
          <p:cNvSpPr/>
          <p:nvPr/>
        </p:nvSpPr>
        <p:spPr>
          <a:xfrm>
            <a:off x="6903720" y="3566160"/>
            <a:ext cx="384048" cy="384048"/>
          </a:xfrm>
          <a:prstGeom prst="ellipse">
            <a:avLst/>
          </a:prstGeom>
          <a:solidFill>
            <a:srgbClr val="46705A"/>
          </a:solidFill>
          <a:ln w="12700">
            <a:solidFill>
              <a:srgbClr val="46705A"/>
            </a:solidFill>
            <a:prstDash val="solid"/>
          </a:ln>
        </p:spPr>
      </p:sp>
      <p:pic>
        <p:nvPicPr>
          <p:cNvPr id="56" name="Image 8" descr="preencoded.png">    </p:cNvPr>
          <p:cNvPicPr>
            <a:picLocks noChangeAspect="1"/>
          </p:cNvPicPr>
          <p:nvPr/>
        </p:nvPicPr>
        <p:blipFill>
          <a:blip r:embed="rId9"/>
          <a:stretch>
            <a:fillRect/>
          </a:stretch>
        </p:blipFill>
        <p:spPr>
          <a:xfrm>
            <a:off x="7003572" y="3666012"/>
            <a:ext cx="184343" cy="184343"/>
          </a:xfrm>
          <a:prstGeom prst="rect">
            <a:avLst/>
          </a:prstGeom>
        </p:spPr>
      </p:pic>
      <p:sp>
        <p:nvSpPr>
          <p:cNvPr id="57" name="Text 46"/>
          <p:cNvSpPr txBox="1"/>
          <p:nvPr/>
        </p:nvSpPr>
        <p:spPr>
          <a:xfrm>
            <a:off x="7406640" y="3520440"/>
            <a:ext cx="4236415"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WEBマーケティング&amp;制作支援［クラプロ］</a:t>
            </a:r>
            <a:endParaRPr lang="en-US" sz="1100" dirty="0"/>
          </a:p>
        </p:txBody>
      </p:sp>
      <p:sp>
        <p:nvSpPr>
          <p:cNvPr id="58" name="Text 47"/>
          <p:cNvSpPr txBox="1"/>
          <p:nvPr/>
        </p:nvSpPr>
        <p:spPr>
          <a:xfrm>
            <a:off x="7406640" y="3776472"/>
            <a:ext cx="4236415" cy="411480"/>
          </a:xfrm>
          <a:prstGeom prst="rect">
            <a:avLst/>
          </a:prstGeom>
          <a:noFill/>
          <a:ln/>
        </p:spPr>
        <p:txBody>
          <a:bodyPr wrap="square" lIns="0" tIns="0" rIns="0" bIns="0" rtlCol="0" anchor="t"/>
          <a:lstStyle/>
          <a:p>
            <a:pPr indent="0" marL="0">
              <a:buNone/>
            </a:pPr>
            <a:r>
              <a:rPr lang="en-US" sz="950" dirty="0">
                <a:solidFill>
                  <a:srgbClr val="2A322D"/>
                </a:solidFill>
                <a:latin typeface="Meiryo UI" pitchFamily="34" charset="0"/>
                <a:ea typeface="Meiryo UI" pitchFamily="34" charset="-122"/>
                <a:cs typeface="Meiryo UI" pitchFamily="34" charset="-120"/>
              </a:rPr>
              <a:t>HP・Instagram・Googleマップの制作と運用を代行</a:t>
            </a:r>
            <a:endParaRPr lang="en-US" sz="950" dirty="0"/>
          </a:p>
        </p:txBody>
      </p:sp>
      <p:sp>
        <p:nvSpPr>
          <p:cNvPr id="59" name="Shape 48"/>
          <p:cNvSpPr/>
          <p:nvPr/>
        </p:nvSpPr>
        <p:spPr>
          <a:xfrm>
            <a:off x="6903720" y="4251960"/>
            <a:ext cx="384048" cy="384048"/>
          </a:xfrm>
          <a:prstGeom prst="ellipse">
            <a:avLst/>
          </a:prstGeom>
          <a:solidFill>
            <a:srgbClr val="46705A"/>
          </a:solidFill>
          <a:ln w="12700">
            <a:solidFill>
              <a:srgbClr val="46705A"/>
            </a:solidFill>
            <a:prstDash val="solid"/>
          </a:ln>
        </p:spPr>
      </p:sp>
      <p:pic>
        <p:nvPicPr>
          <p:cNvPr id="60" name="Image 9" descr="preencoded.png">    </p:cNvPr>
          <p:cNvPicPr>
            <a:picLocks noChangeAspect="1"/>
          </p:cNvPicPr>
          <p:nvPr/>
        </p:nvPicPr>
        <p:blipFill>
          <a:blip r:embed="rId10"/>
          <a:stretch>
            <a:fillRect/>
          </a:stretch>
        </p:blipFill>
        <p:spPr>
          <a:xfrm>
            <a:off x="7003572" y="4351812"/>
            <a:ext cx="184343" cy="184343"/>
          </a:xfrm>
          <a:prstGeom prst="rect">
            <a:avLst/>
          </a:prstGeom>
        </p:spPr>
      </p:pic>
      <p:sp>
        <p:nvSpPr>
          <p:cNvPr id="61" name="Text 49"/>
          <p:cNvSpPr txBox="1"/>
          <p:nvPr/>
        </p:nvSpPr>
        <p:spPr>
          <a:xfrm>
            <a:off x="7406640" y="4206240"/>
            <a:ext cx="4236415"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人事支援［HRユニット］</a:t>
            </a:r>
            <a:endParaRPr lang="en-US" sz="1100" dirty="0"/>
          </a:p>
        </p:txBody>
      </p:sp>
      <p:sp>
        <p:nvSpPr>
          <p:cNvPr id="62" name="Text 50"/>
          <p:cNvSpPr txBox="1"/>
          <p:nvPr/>
        </p:nvSpPr>
        <p:spPr>
          <a:xfrm>
            <a:off x="7406640" y="4462272"/>
            <a:ext cx="4236415" cy="411480"/>
          </a:xfrm>
          <a:prstGeom prst="rect">
            <a:avLst/>
          </a:prstGeom>
          <a:noFill/>
          <a:ln/>
        </p:spPr>
        <p:txBody>
          <a:bodyPr wrap="square" lIns="0" tIns="0" rIns="0" bIns="0" rtlCol="0" anchor="t"/>
          <a:lstStyle/>
          <a:p>
            <a:pPr indent="0" marL="0">
              <a:buNone/>
            </a:pPr>
            <a:r>
              <a:rPr lang="en-US" sz="950" dirty="0">
                <a:solidFill>
                  <a:srgbClr val="2A322D"/>
                </a:solidFill>
                <a:latin typeface="Meiryo UI" pitchFamily="34" charset="0"/>
                <a:ea typeface="Meiryo UI" pitchFamily="34" charset="-122"/>
                <a:cs typeface="Meiryo UI" pitchFamily="34" charset="-120"/>
              </a:rPr>
              <a:t>GH立ち上げに向けた職員採用と、人事労務書類の作成</a:t>
            </a:r>
            <a:endParaRPr lang="en-US" sz="950" dirty="0"/>
          </a:p>
        </p:txBody>
      </p:sp>
      <p:sp>
        <p:nvSpPr>
          <p:cNvPr id="63" name="Shape 51"/>
          <p:cNvSpPr/>
          <p:nvPr/>
        </p:nvSpPr>
        <p:spPr>
          <a:xfrm>
            <a:off x="6903720" y="4937760"/>
            <a:ext cx="384048" cy="384048"/>
          </a:xfrm>
          <a:prstGeom prst="ellipse">
            <a:avLst/>
          </a:prstGeom>
          <a:solidFill>
            <a:srgbClr val="46705A"/>
          </a:solidFill>
          <a:ln w="12700">
            <a:solidFill>
              <a:srgbClr val="46705A"/>
            </a:solidFill>
            <a:prstDash val="solid"/>
          </a:ln>
        </p:spPr>
      </p:sp>
      <p:pic>
        <p:nvPicPr>
          <p:cNvPr id="64" name="Image 10" descr="preencoded.png">    </p:cNvPr>
          <p:cNvPicPr>
            <a:picLocks noChangeAspect="1"/>
          </p:cNvPicPr>
          <p:nvPr/>
        </p:nvPicPr>
        <p:blipFill>
          <a:blip r:embed="rId11"/>
          <a:stretch>
            <a:fillRect/>
          </a:stretch>
        </p:blipFill>
        <p:spPr>
          <a:xfrm>
            <a:off x="7003572" y="5037612"/>
            <a:ext cx="184343" cy="184343"/>
          </a:xfrm>
          <a:prstGeom prst="rect">
            <a:avLst/>
          </a:prstGeom>
        </p:spPr>
      </p:pic>
      <p:sp>
        <p:nvSpPr>
          <p:cNvPr id="65" name="Text 52"/>
          <p:cNvSpPr txBox="1"/>
          <p:nvPr/>
        </p:nvSpPr>
        <p:spPr>
          <a:xfrm>
            <a:off x="7406640" y="4892040"/>
            <a:ext cx="4236415"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商談支援［セールスユニット］</a:t>
            </a:r>
            <a:endParaRPr lang="en-US" sz="1100" dirty="0"/>
          </a:p>
        </p:txBody>
      </p:sp>
      <p:sp>
        <p:nvSpPr>
          <p:cNvPr id="66" name="Text 53"/>
          <p:cNvSpPr txBox="1"/>
          <p:nvPr/>
        </p:nvSpPr>
        <p:spPr>
          <a:xfrm>
            <a:off x="7406640" y="5148072"/>
            <a:ext cx="4236415" cy="411480"/>
          </a:xfrm>
          <a:prstGeom prst="rect">
            <a:avLst/>
          </a:prstGeom>
          <a:noFill/>
          <a:ln/>
        </p:spPr>
        <p:txBody>
          <a:bodyPr wrap="square" lIns="0" tIns="0" rIns="0" bIns="0" rtlCol="0" anchor="t"/>
          <a:lstStyle/>
          <a:p>
            <a:pPr indent="0" marL="0">
              <a:buNone/>
            </a:pPr>
            <a:r>
              <a:rPr lang="en-US" sz="950" dirty="0">
                <a:solidFill>
                  <a:srgbClr val="2A322D"/>
                </a:solidFill>
                <a:latin typeface="Meiryo UI" pitchFamily="34" charset="0"/>
                <a:ea typeface="Meiryo UI" pitchFamily="34" charset="-122"/>
                <a:cs typeface="Meiryo UI" pitchFamily="34" charset="-120"/>
              </a:rPr>
              <a:t>紹介元への説明と見学対応の型づくりで、利用登録につなげる</a:t>
            </a:r>
            <a:endParaRPr lang="en-US" sz="950" dirty="0"/>
          </a:p>
        </p:txBody>
      </p:sp>
      <p:sp>
        <p:nvSpPr>
          <p:cNvPr id="67" name="Shape 54"/>
          <p:cNvSpPr/>
          <p:nvPr/>
        </p:nvSpPr>
        <p:spPr>
          <a:xfrm>
            <a:off x="6903720" y="5623560"/>
            <a:ext cx="384048" cy="384048"/>
          </a:xfrm>
          <a:prstGeom prst="ellipse">
            <a:avLst/>
          </a:prstGeom>
          <a:solidFill>
            <a:srgbClr val="46705A"/>
          </a:solidFill>
          <a:ln w="12700">
            <a:solidFill>
              <a:srgbClr val="46705A"/>
            </a:solidFill>
            <a:prstDash val="solid"/>
          </a:ln>
        </p:spPr>
      </p:sp>
      <p:pic>
        <p:nvPicPr>
          <p:cNvPr id="68" name="Image 11" descr="preencoded.png">    </p:cNvPr>
          <p:cNvPicPr>
            <a:picLocks noChangeAspect="1"/>
          </p:cNvPicPr>
          <p:nvPr/>
        </p:nvPicPr>
        <p:blipFill>
          <a:blip r:embed="rId12"/>
          <a:stretch>
            <a:fillRect/>
          </a:stretch>
        </p:blipFill>
        <p:spPr>
          <a:xfrm>
            <a:off x="7003572" y="5723412"/>
            <a:ext cx="184343" cy="184343"/>
          </a:xfrm>
          <a:prstGeom prst="rect">
            <a:avLst/>
          </a:prstGeom>
        </p:spPr>
      </p:pic>
      <p:sp>
        <p:nvSpPr>
          <p:cNvPr id="69" name="Text 55"/>
          <p:cNvSpPr txBox="1"/>
          <p:nvPr/>
        </p:nvSpPr>
        <p:spPr>
          <a:xfrm>
            <a:off x="7406640" y="5577840"/>
            <a:ext cx="4236415"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営業支援［セールスプラットフォーム］</a:t>
            </a:r>
            <a:endParaRPr lang="en-US" sz="1100" dirty="0"/>
          </a:p>
        </p:txBody>
      </p:sp>
      <p:sp>
        <p:nvSpPr>
          <p:cNvPr id="70" name="Text 56"/>
          <p:cNvSpPr txBox="1"/>
          <p:nvPr/>
        </p:nvSpPr>
        <p:spPr>
          <a:xfrm>
            <a:off x="7406640" y="5833872"/>
            <a:ext cx="4236415" cy="411480"/>
          </a:xfrm>
          <a:prstGeom prst="rect">
            <a:avLst/>
          </a:prstGeom>
          <a:noFill/>
          <a:ln/>
        </p:spPr>
        <p:txBody>
          <a:bodyPr wrap="square" lIns="0" tIns="0" rIns="0" bIns="0" rtlCol="0" anchor="t"/>
          <a:lstStyle/>
          <a:p>
            <a:pPr indent="0" marL="0">
              <a:buNone/>
            </a:pPr>
            <a:r>
              <a:rPr lang="en-US" sz="950" dirty="0">
                <a:solidFill>
                  <a:srgbClr val="2A322D"/>
                </a:solidFill>
                <a:latin typeface="Meiryo UI" pitchFamily="34" charset="0"/>
                <a:ea typeface="Meiryo UI" pitchFamily="34" charset="-122"/>
                <a:cs typeface="Meiryo UI" pitchFamily="34" charset="-120"/>
              </a:rPr>
              <a:t>受託作業（内職・ポスティング）を発注する地域企業を開拓</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課題とサービスの対応</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前回伺ったハートライフせんだいの課題に対して、どのチームが何を担うかを整理しました。</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4023360"/>
                <a:gridCol w="1178509"/>
                <a:gridCol w="1178509"/>
                <a:gridCol w="1178509"/>
                <a:gridCol w="1178509"/>
                <a:gridCol w="1178509"/>
                <a:gridCol w="1178509"/>
              </a:tblGrid>
              <a:tr h="457200">
                <a:tc>
                  <a:txBody>
                    <a:bodyPr/>
                    <a:lstStyle/>
                    <a:p>
                      <a:pPr algn="l" indent="0" marL="0">
                        <a:buNone/>
                      </a:pPr>
                      <a:r>
                        <a:rPr lang="en-US" sz="1150" b="1" dirty="0">
                          <a:solidFill>
                            <a:srgbClr val="FFFFFF"/>
                          </a:solidFill>
                          <a:latin typeface="Meiryo UI" pitchFamily="34" charset="0"/>
                          <a:ea typeface="Meiryo UI" pitchFamily="34" charset="-122"/>
                          <a:cs typeface="Meiryo UI" pitchFamily="34" charset="-120"/>
                        </a:rPr>
                        <a:t>課題</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2F4D3D"/>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MiTok</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46705A"/>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フィールドワーク</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46705A"/>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WEB・制作</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46705A"/>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人事支援</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46705A"/>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商談支援</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46705A"/>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営業支援</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46705A"/>
                    </a:solidFill>
                  </a:tcPr>
                </a:tc>
              </a:tr>
              <a:tr h="566928">
                <a:tc>
                  <a:txBody>
                    <a:bodyPr/>
                    <a:lstStyle/>
                    <a:p>
                      <a:pPr indent="0" marL="0">
                        <a:buNone/>
                      </a:pPr>
                      <a:r>
                        <a:rPr lang="en-US" sz="1150" b="1" dirty="0">
                          <a:solidFill>
                            <a:srgbClr val="2F4D3D"/>
                          </a:solidFill>
                          <a:latin typeface="Meiryo UI" pitchFamily="34" charset="0"/>
                          <a:ea typeface="Meiryo UI" pitchFamily="34" charset="-122"/>
                          <a:cs typeface="Meiryo UI" pitchFamily="34" charset="-120"/>
                        </a:rPr>
                        <a:t>代表への事務の集中</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B8652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BEFE4"/>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F4D3D"/>
                          </a:solidFill>
                          <a:latin typeface="Meiryo UI" pitchFamily="34" charset="0"/>
                          <a:ea typeface="Meiryo UI" pitchFamily="34" charset="-122"/>
                          <a:cs typeface="Meiryo UI" pitchFamily="34" charset="-120"/>
                        </a:rPr>
                        <a:t>Webが放置されている</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r>
                        <a:rPr lang="en-US" sz="1800" b="1" dirty="0">
                          <a:solidFill>
                            <a:srgbClr val="B8652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BEFE4"/>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r>
              <a:tr h="566928">
                <a:tc>
                  <a:txBody>
                    <a:bodyPr/>
                    <a:lstStyle/>
                    <a:p>
                      <a:pPr indent="0" marL="0">
                        <a:buNone/>
                      </a:pPr>
                      <a:r>
                        <a:rPr lang="en-US" sz="1150" b="1" dirty="0">
                          <a:solidFill>
                            <a:srgbClr val="2F4D3D"/>
                          </a:solidFill>
                          <a:latin typeface="Meiryo UI" pitchFamily="34" charset="0"/>
                          <a:ea typeface="Meiryo UI" pitchFamily="34" charset="-122"/>
                          <a:cs typeface="Meiryo UI" pitchFamily="34" charset="-120"/>
                        </a:rPr>
                        <a:t>若い世代の流出・利用者の高齢化</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B8652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BEFE4"/>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F4D3D"/>
                          </a:solidFill>
                          <a:latin typeface="Meiryo UI" pitchFamily="34" charset="0"/>
                          <a:ea typeface="Meiryo UI" pitchFamily="34" charset="-122"/>
                          <a:cs typeface="Meiryo UI" pitchFamily="34" charset="-120"/>
                        </a:rPr>
                        <a:t>紹介がアナログ中心</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r>
                        <a:rPr lang="en-US" sz="1800" b="1" dirty="0">
                          <a:solidFill>
                            <a:srgbClr val="B8652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BEFE4"/>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r>
              <a:tr h="566928">
                <a:tc>
                  <a:txBody>
                    <a:bodyPr/>
                    <a:lstStyle/>
                    <a:p>
                      <a:pPr indent="0" marL="0">
                        <a:buNone/>
                      </a:pPr>
                      <a:r>
                        <a:rPr lang="en-US" sz="1150" b="1" dirty="0">
                          <a:solidFill>
                            <a:srgbClr val="2F4D3D"/>
                          </a:solidFill>
                          <a:latin typeface="Meiryo UI" pitchFamily="34" charset="0"/>
                          <a:ea typeface="Meiryo UI" pitchFamily="34" charset="-122"/>
                          <a:cs typeface="Meiryo UI" pitchFamily="34" charset="-120"/>
                        </a:rPr>
                        <a:t>GH立ち上げ・4月の準備の遅れ</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B8652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BEFE4"/>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F4D3D"/>
                          </a:solidFill>
                          <a:latin typeface="Meiryo UI" pitchFamily="34" charset="0"/>
                          <a:ea typeface="Meiryo UI" pitchFamily="34" charset="-122"/>
                          <a:cs typeface="Meiryo UI" pitchFamily="34" charset="-120"/>
                        </a:rPr>
                        <a:t>受託作業の開拓（工賃）</a:t>
                      </a:r>
                      <a:endParaRPr lang="en-US" sz="115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r>
                        <a:rPr lang="en-US" sz="1800" b="1" dirty="0">
                          <a:solidFill>
                            <a:srgbClr val="46705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6F9F7"/>
                    </a:solidFill>
                  </a:tcPr>
                </a:tc>
                <a:tc>
                  <a:txBody>
                    <a:bodyPr/>
                    <a:lstStyle/>
                    <a:p>
                      <a:pPr algn="ctr" indent="0" marL="0">
                        <a:buNone/>
                      </a:pPr>
                      <a:r>
                        <a:rPr lang="en-US" sz="1800" b="1" dirty="0">
                          <a:solidFill>
                            <a:srgbClr val="B8652A"/>
                          </a:solidFill>
                          <a:latin typeface="Meiryo UI" pitchFamily="34" charset="0"/>
                          <a:ea typeface="Meiryo UI" pitchFamily="34" charset="-122"/>
                          <a:cs typeface="Meiryo UI" pitchFamily="34" charset="-120"/>
                        </a:rPr>
                        <a:t>◎</a:t>
                      </a:r>
                      <a:endParaRPr lang="en-US" sz="1800" dirty="0">
                        <a:latin typeface="Meiryo UI" charset="0"/>
                        <a:ea typeface="Meiryo UI" charset="0"/>
                        <a:cs typeface="Meiryo UI" charset="0"/>
                      </a:endParaRPr>
                    </a:p>
                  </a:txBody>
                  <a:tcPr marL="109728" marR="109728" marT="45720" marB="45720" anchor="ctr">
                    <a:lnL w="9525" cap="flat" cmpd="sng" algn="ctr">
                      <a:solidFill>
                        <a:srgbClr val="DCE7DF"/>
                      </a:solidFill>
                      <a:prstDash val="solid"/>
                      <a:round/>
                      <a:headEnd type="none" w="med" len="med"/>
                      <a:tailEnd type="none" w="med" len="med"/>
                    </a:lnL>
                    <a:lnR w="9525" cap="flat" cmpd="sng" algn="ctr">
                      <a:solidFill>
                        <a:srgbClr val="DCE7DF"/>
                      </a:solidFill>
                      <a:prstDash val="solid"/>
                      <a:round/>
                      <a:headEnd type="none" w="med" len="med"/>
                      <a:tailEnd type="none" w="med" len="med"/>
                    </a:lnR>
                    <a:lnT w="9525" cap="flat" cmpd="sng" algn="ctr">
                      <a:solidFill>
                        <a:srgbClr val="DCE7DF"/>
                      </a:solidFill>
                      <a:prstDash val="solid"/>
                      <a:round/>
                      <a:headEnd type="none" w="med" len="med"/>
                      <a:tailEnd type="none" w="med" len="med"/>
                    </a:lnT>
                    <a:lnB w="9525" cap="flat" cmpd="sng" algn="ctr">
                      <a:solidFill>
                        <a:srgbClr val="DCE7DF"/>
                      </a:solidFill>
                      <a:prstDash val="solid"/>
                      <a:round/>
                      <a:headEnd type="none" w="med" len="med"/>
                      <a:tailEnd type="none" w="med" len="med"/>
                    </a:lnB>
                    <a:solidFill>
                      <a:srgbClr val="FBEFE4"/>
                    </a:solidFill>
                  </a:tcPr>
                </a:tc>
              </a:tr>
            </a:tbl>
          </a:graphicData>
        </a:graphic>
      </p:graphicFrame>
      <p:sp>
        <p:nvSpPr>
          <p:cNvPr id="8" name="Text 5"/>
          <p:cNvSpPr txBox="1"/>
          <p:nvPr/>
        </p:nvSpPr>
        <p:spPr>
          <a:xfrm>
            <a:off x="548640" y="5733288"/>
            <a:ext cx="11094415" cy="274320"/>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◎：主に解決するチーム　○：あわせて支援するチーム</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 1</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フィールドワーク支援［フィールドワークチームユニット］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243584"/>
            <a:ext cx="612648" cy="274320"/>
          </a:xfrm>
          <a:prstGeom prst="roundRect">
            <a:avLst>
              <a:gd name="adj" fmla="val 26667"/>
            </a:avLst>
          </a:prstGeom>
          <a:solidFill>
            <a:srgbClr val="EDF3EF"/>
          </a:solidFill>
          <a:ln w="12700">
            <a:solidFill>
              <a:srgbClr val="EDF3EF"/>
            </a:solidFill>
            <a:prstDash val="solid"/>
          </a:ln>
        </p:spPr>
      </p:sp>
      <p:sp>
        <p:nvSpPr>
          <p:cNvPr id="7" name="Text 5"/>
          <p:cNvSpPr txBox="1"/>
          <p:nvPr/>
        </p:nvSpPr>
        <p:spPr>
          <a:xfrm>
            <a:off x="548640" y="1243584"/>
            <a:ext cx="612648"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営業</a:t>
            </a:r>
            <a:endParaRPr lang="en-US" sz="1000" dirty="0"/>
          </a:p>
        </p:txBody>
      </p:sp>
      <p:sp>
        <p:nvSpPr>
          <p:cNvPr id="8" name="Shape 6"/>
          <p:cNvSpPr/>
          <p:nvPr/>
        </p:nvSpPr>
        <p:spPr>
          <a:xfrm>
            <a:off x="1271016" y="1243584"/>
            <a:ext cx="1636776" cy="274320"/>
          </a:xfrm>
          <a:prstGeom prst="roundRect">
            <a:avLst>
              <a:gd name="adj" fmla="val 26667"/>
            </a:avLst>
          </a:prstGeom>
          <a:solidFill>
            <a:srgbClr val="EDF3EF"/>
          </a:solidFill>
          <a:ln w="12700">
            <a:solidFill>
              <a:srgbClr val="EDF3EF"/>
            </a:solidFill>
            <a:prstDash val="solid"/>
          </a:ln>
        </p:spPr>
      </p:sp>
      <p:sp>
        <p:nvSpPr>
          <p:cNvPr id="9" name="Text 7"/>
          <p:cNvSpPr txBox="1"/>
          <p:nvPr/>
        </p:nvSpPr>
        <p:spPr>
          <a:xfrm>
            <a:off x="1271016" y="1243584"/>
            <a:ext cx="1636776"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アウトソーシング型</a:t>
            </a:r>
            <a:endParaRPr lang="en-US" sz="1000" dirty="0"/>
          </a:p>
        </p:txBody>
      </p:sp>
      <p:sp>
        <p:nvSpPr>
          <p:cNvPr id="10" name="Text 8"/>
          <p:cNvSpPr txBox="1"/>
          <p:nvPr/>
        </p:nvSpPr>
        <p:spPr>
          <a:xfrm>
            <a:off x="548640" y="1609344"/>
            <a:ext cx="11094415" cy="502920"/>
          </a:xfrm>
          <a:prstGeom prst="rect">
            <a:avLst/>
          </a:prstGeom>
          <a:noFill/>
          <a:ln/>
        </p:spPr>
        <p:txBody>
          <a:bodyPr wrap="square" lIns="0" tIns="0" rIns="0" bIns="0" rtlCol="0" anchor="ctr"/>
          <a:lstStyle/>
          <a:p>
            <a:pPr algn="ctr" indent="0" marL="0">
              <a:buNone/>
            </a:pPr>
            <a:r>
              <a:rPr lang="en-US" sz="1300" b="1" dirty="0">
                <a:solidFill>
                  <a:srgbClr val="2F4D3D"/>
                </a:solidFill>
                <a:latin typeface="Meiryo UI" pitchFamily="34" charset="0"/>
                <a:ea typeface="Meiryo UI" pitchFamily="34" charset="-122"/>
                <a:cs typeface="Meiryo UI" pitchFamily="34" charset="-120"/>
              </a:rPr>
              <a:t>当社の「フィールドワークチーム」×「スペシャリスト」が業務の成功パターンを見つけ、「再現性のある業務の仕組み」として納品します。</a:t>
            </a:r>
            <a:endParaRPr lang="en-US" sz="1300" dirty="0"/>
          </a:p>
        </p:txBody>
      </p:sp>
      <p:sp>
        <p:nvSpPr>
          <p:cNvPr id="11" name="Shape 9"/>
          <p:cNvSpPr/>
          <p:nvPr/>
        </p:nvSpPr>
        <p:spPr>
          <a:xfrm>
            <a:off x="548640" y="2176272"/>
            <a:ext cx="4572000" cy="365760"/>
          </a:xfrm>
          <a:prstGeom prst="homePlate">
            <a:avLst/>
          </a:prstGeom>
          <a:solidFill>
            <a:srgbClr val="46705A"/>
          </a:solidFill>
          <a:ln w="12700">
            <a:solidFill>
              <a:srgbClr val="46705A"/>
            </a:solidFill>
            <a:prstDash val="solid"/>
          </a:ln>
        </p:spPr>
      </p:sp>
      <p:sp>
        <p:nvSpPr>
          <p:cNvPr id="12" name="Text 10"/>
          <p:cNvSpPr txBox="1"/>
          <p:nvPr/>
        </p:nvSpPr>
        <p:spPr>
          <a:xfrm>
            <a:off x="548640" y="2176272"/>
            <a:ext cx="4297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仕組化</a:t>
            </a:r>
            <a:endParaRPr lang="en-US" sz="1300" dirty="0"/>
          </a:p>
        </p:txBody>
      </p:sp>
      <p:sp>
        <p:nvSpPr>
          <p:cNvPr id="13" name="Shape 11"/>
          <p:cNvSpPr/>
          <p:nvPr/>
        </p:nvSpPr>
        <p:spPr>
          <a:xfrm>
            <a:off x="5029200" y="2176272"/>
            <a:ext cx="6613855" cy="365760"/>
          </a:xfrm>
          <a:prstGeom prst="chevron">
            <a:avLst/>
          </a:prstGeom>
          <a:solidFill>
            <a:srgbClr val="B8652A"/>
          </a:solidFill>
          <a:ln w="12700">
            <a:solidFill>
              <a:srgbClr val="B8652A"/>
            </a:solidFill>
            <a:prstDash val="solid"/>
          </a:ln>
        </p:spPr>
      </p:sp>
      <p:sp>
        <p:nvSpPr>
          <p:cNvPr id="14" name="Text 12"/>
          <p:cNvSpPr txBox="1"/>
          <p:nvPr/>
        </p:nvSpPr>
        <p:spPr>
          <a:xfrm>
            <a:off x="5074920" y="2176272"/>
            <a:ext cx="6568135"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運用</a:t>
            </a:r>
            <a:endParaRPr lang="en-US" sz="1300" dirty="0"/>
          </a:p>
        </p:txBody>
      </p:sp>
      <p:sp>
        <p:nvSpPr>
          <p:cNvPr id="15" name="Shape 13"/>
          <p:cNvSpPr/>
          <p:nvPr/>
        </p:nvSpPr>
        <p:spPr>
          <a:xfrm>
            <a:off x="548640" y="2697480"/>
            <a:ext cx="4297680" cy="2898648"/>
          </a:xfrm>
          <a:prstGeom prst="roundRect">
            <a:avLst>
              <a:gd name="adj" fmla="val 3785"/>
            </a:avLst>
          </a:prstGeom>
          <a:solidFill>
            <a:srgbClr val="F6F9F7"/>
          </a:solidFill>
          <a:ln w="12700">
            <a:solidFill>
              <a:srgbClr val="F6F9F7"/>
            </a:solidFill>
            <a:prstDash val="solid"/>
          </a:ln>
        </p:spPr>
      </p:sp>
      <p:sp>
        <p:nvSpPr>
          <p:cNvPr id="16" name="Text 14"/>
          <p:cNvSpPr txBox="1"/>
          <p:nvPr/>
        </p:nvSpPr>
        <p:spPr>
          <a:xfrm>
            <a:off x="685800" y="2788920"/>
            <a:ext cx="4023360" cy="329184"/>
          </a:xfrm>
          <a:prstGeom prst="rect">
            <a:avLst/>
          </a:prstGeom>
          <a:noFill/>
          <a:ln/>
        </p:spPr>
        <p:txBody>
          <a:bodyPr wrap="square" lIns="0" tIns="0" rIns="0" bIns="0" rtlCol="0" anchor="t"/>
          <a:lstStyle/>
          <a:p>
            <a:pPr algn="ctr" indent="0" marL="0">
              <a:buNone/>
            </a:pPr>
            <a:r>
              <a:rPr lang="en-US" sz="1450" b="1" dirty="0">
                <a:solidFill>
                  <a:srgbClr val="46705A"/>
                </a:solidFill>
                <a:latin typeface="Meiryo UI" pitchFamily="34" charset="0"/>
                <a:ea typeface="Meiryo UI" pitchFamily="34" charset="-122"/>
                <a:cs typeface="Meiryo UI" pitchFamily="34" charset="-120"/>
              </a:rPr>
              <a:t>「フィールドワークチーム」</a:t>
            </a:r>
            <a:endParaRPr lang="en-US" sz="1450" dirty="0"/>
          </a:p>
        </p:txBody>
      </p:sp>
      <p:sp>
        <p:nvSpPr>
          <p:cNvPr id="17" name="Text 15"/>
          <p:cNvSpPr txBox="1"/>
          <p:nvPr/>
        </p:nvSpPr>
        <p:spPr>
          <a:xfrm>
            <a:off x="777240" y="3136392"/>
            <a:ext cx="3840480" cy="457200"/>
          </a:xfrm>
          <a:prstGeom prst="rect">
            <a:avLst/>
          </a:prstGeom>
          <a:noFill/>
          <a:ln/>
        </p:spPr>
        <p:txBody>
          <a:bodyPr wrap="square" lIns="0" tIns="0" rIns="0" bIns="0" rtlCol="0" anchor="t"/>
          <a:lstStyle/>
          <a:p>
            <a:pPr algn="ctr" indent="0" marL="0">
              <a:buNone/>
            </a:pPr>
            <a:r>
              <a:rPr lang="en-US" sz="1000" dirty="0">
                <a:solidFill>
                  <a:srgbClr val="2A322D"/>
                </a:solidFill>
                <a:latin typeface="Meiryo UI" pitchFamily="34" charset="0"/>
                <a:ea typeface="Meiryo UI" pitchFamily="34" charset="-122"/>
                <a:cs typeface="Meiryo UI" pitchFamily="34" charset="-120"/>
              </a:rPr>
              <a:t>貴社専属のフィールドワークマネージャーが、課題解決のために業務分析、戦略立案、実務チームを組成。</a:t>
            </a:r>
            <a:endParaRPr lang="en-US" sz="1000" dirty="0"/>
          </a:p>
        </p:txBody>
      </p:sp>
      <p:sp>
        <p:nvSpPr>
          <p:cNvPr id="18" name="Shape 16"/>
          <p:cNvSpPr/>
          <p:nvPr/>
        </p:nvSpPr>
        <p:spPr>
          <a:xfrm>
            <a:off x="2135124" y="3611880"/>
            <a:ext cx="1124712" cy="457200"/>
          </a:xfrm>
          <a:prstGeom prst="triangle">
            <a:avLst/>
          </a:prstGeom>
          <a:solidFill>
            <a:srgbClr val="46705A"/>
          </a:solidFill>
          <a:ln w="12700">
            <a:solidFill>
              <a:srgbClr val="46705A"/>
            </a:solidFill>
            <a:prstDash val="solid"/>
          </a:ln>
        </p:spPr>
      </p:sp>
      <p:sp>
        <p:nvSpPr>
          <p:cNvPr id="19" name="Text 17"/>
          <p:cNvSpPr txBox="1"/>
          <p:nvPr/>
        </p:nvSpPr>
        <p:spPr>
          <a:xfrm>
            <a:off x="2135124" y="3817620"/>
            <a:ext cx="1124712" cy="2514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貴社</a:t>
            </a:r>
            <a:endParaRPr lang="en-US" sz="1100" dirty="0"/>
          </a:p>
        </p:txBody>
      </p:sp>
      <p:sp>
        <p:nvSpPr>
          <p:cNvPr id="20" name="Shape 18"/>
          <p:cNvSpPr/>
          <p:nvPr/>
        </p:nvSpPr>
        <p:spPr>
          <a:xfrm>
            <a:off x="2697480" y="4069080"/>
            <a:ext cx="0" cy="91440"/>
          </a:xfrm>
          <a:prstGeom prst="line">
            <a:avLst/>
          </a:prstGeom>
          <a:noFill/>
          <a:ln w="25400">
            <a:solidFill>
              <a:srgbClr val="46705A"/>
            </a:solidFill>
            <a:prstDash val="solid"/>
          </a:ln>
        </p:spPr>
      </p:sp>
      <p:sp>
        <p:nvSpPr>
          <p:cNvPr id="21" name="Shape 19"/>
          <p:cNvSpPr/>
          <p:nvPr/>
        </p:nvSpPr>
        <p:spPr>
          <a:xfrm>
            <a:off x="1722730" y="4160520"/>
            <a:ext cx="1949501" cy="329184"/>
          </a:xfrm>
          <a:prstGeom prst="roundRect">
            <a:avLst>
              <a:gd name="adj" fmla="val 16667"/>
            </a:avLst>
          </a:prstGeom>
          <a:solidFill>
            <a:srgbClr val="46705A"/>
          </a:solidFill>
          <a:ln w="12700">
            <a:solidFill>
              <a:srgbClr val="46705A"/>
            </a:solidFill>
            <a:prstDash val="solid"/>
          </a:ln>
        </p:spPr>
      </p:sp>
      <p:sp>
        <p:nvSpPr>
          <p:cNvPr id="22" name="Text 20"/>
          <p:cNvSpPr txBox="1"/>
          <p:nvPr/>
        </p:nvSpPr>
        <p:spPr>
          <a:xfrm>
            <a:off x="1722730" y="4160520"/>
            <a:ext cx="194950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外付け専属チーム</a:t>
            </a:r>
            <a:endParaRPr lang="en-US" sz="1150" dirty="0"/>
          </a:p>
        </p:txBody>
      </p:sp>
      <p:sp>
        <p:nvSpPr>
          <p:cNvPr id="23" name="Shape 21"/>
          <p:cNvSpPr/>
          <p:nvPr/>
        </p:nvSpPr>
        <p:spPr>
          <a:xfrm>
            <a:off x="1272845" y="4553712"/>
            <a:ext cx="2849270" cy="347472"/>
          </a:xfrm>
          <a:prstGeom prst="roundRect">
            <a:avLst>
              <a:gd name="adj" fmla="val 15789"/>
            </a:avLst>
          </a:prstGeom>
          <a:solidFill>
            <a:srgbClr val="EDF3EF"/>
          </a:solidFill>
          <a:ln w="12700">
            <a:solidFill>
              <a:srgbClr val="EDF3EF"/>
            </a:solidFill>
            <a:prstDash val="solid"/>
          </a:ln>
        </p:spPr>
      </p:sp>
      <p:sp>
        <p:nvSpPr>
          <p:cNvPr id="24" name="Text 22"/>
          <p:cNvSpPr txBox="1"/>
          <p:nvPr/>
        </p:nvSpPr>
        <p:spPr>
          <a:xfrm>
            <a:off x="1272845" y="4553712"/>
            <a:ext cx="2849270" cy="347472"/>
          </a:xfrm>
          <a:prstGeom prst="rect">
            <a:avLst/>
          </a:prstGeom>
          <a:noFill/>
          <a:ln/>
        </p:spPr>
        <p:txBody>
          <a:bodyPr wrap="square" lIns="0" tIns="0" rIns="0" bIns="0" rtlCol="0" anchor="ctr"/>
          <a:lstStyle/>
          <a:p>
            <a:pPr algn="ctr" indent="0" marL="0">
              <a:buNone/>
            </a:pPr>
            <a:r>
              <a:rPr lang="en-US" sz="1100" b="1" dirty="0">
                <a:solidFill>
                  <a:srgbClr val="46705A"/>
                </a:solidFill>
                <a:latin typeface="Meiryo UI" pitchFamily="34" charset="0"/>
                <a:ea typeface="Meiryo UI" pitchFamily="34" charset="-122"/>
                <a:cs typeface="Meiryo UI" pitchFamily="34" charset="-120"/>
              </a:rPr>
              <a:t>フィールドセールスマネージャー</a:t>
            </a:r>
            <a:endParaRPr lang="en-US" sz="1100" dirty="0"/>
          </a:p>
        </p:txBody>
      </p:sp>
      <p:sp>
        <p:nvSpPr>
          <p:cNvPr id="25" name="Shape 23"/>
          <p:cNvSpPr/>
          <p:nvPr/>
        </p:nvSpPr>
        <p:spPr>
          <a:xfrm>
            <a:off x="822960" y="4965192"/>
            <a:ext cx="3749040" cy="402336"/>
          </a:xfrm>
          <a:prstGeom prst="roundRect">
            <a:avLst>
              <a:gd name="adj" fmla="val 13636"/>
            </a:avLst>
          </a:prstGeom>
          <a:solidFill>
            <a:srgbClr val="FBEFE4"/>
          </a:solidFill>
          <a:ln w="15875">
            <a:solidFill>
              <a:srgbClr val="B8652A"/>
            </a:solidFill>
            <a:prstDash val="dash"/>
          </a:ln>
        </p:spPr>
      </p:sp>
      <p:sp>
        <p:nvSpPr>
          <p:cNvPr id="26" name="Text 24"/>
          <p:cNvSpPr txBox="1"/>
          <p:nvPr/>
        </p:nvSpPr>
        <p:spPr>
          <a:xfrm>
            <a:off x="822960" y="4965192"/>
            <a:ext cx="3749040" cy="402336"/>
          </a:xfrm>
          <a:prstGeom prst="rect">
            <a:avLst/>
          </a:prstGeom>
          <a:noFill/>
          <a:ln/>
        </p:spPr>
        <p:txBody>
          <a:bodyPr wrap="square" lIns="0" tIns="0" rIns="0" bIns="0" rtlCol="0" anchor="ctr"/>
          <a:lstStyle/>
          <a:p>
            <a:pPr algn="ctr" indent="0" marL="0">
              <a:buNone/>
            </a:pPr>
            <a:r>
              <a:rPr lang="en-US" sz="1100" b="1" dirty="0">
                <a:solidFill>
                  <a:srgbClr val="2F4D3D"/>
                </a:solidFill>
                <a:latin typeface="Meiryo UI" pitchFamily="34" charset="0"/>
                <a:ea typeface="Meiryo UI" pitchFamily="34" charset="-122"/>
                <a:cs typeface="Meiryo UI" pitchFamily="34" charset="-120"/>
              </a:rPr>
              <a:t>実行スタッフ・事務スタッフ</a:t>
            </a:r>
            <a:endParaRPr lang="en-US" sz="1100" dirty="0"/>
          </a:p>
        </p:txBody>
      </p:sp>
      <p:sp>
        <p:nvSpPr>
          <p:cNvPr id="27" name="Shape 25"/>
          <p:cNvSpPr/>
          <p:nvPr/>
        </p:nvSpPr>
        <p:spPr>
          <a:xfrm>
            <a:off x="5074920" y="2697480"/>
            <a:ext cx="6568135" cy="2898648"/>
          </a:xfrm>
          <a:prstGeom prst="roundRect">
            <a:avLst>
              <a:gd name="adj" fmla="val 3785"/>
            </a:avLst>
          </a:prstGeom>
          <a:solidFill>
            <a:srgbClr val="FBEFE4"/>
          </a:solidFill>
          <a:ln w="12700">
            <a:solidFill>
              <a:srgbClr val="FBEFE4"/>
            </a:solidFill>
            <a:prstDash val="solid"/>
          </a:ln>
        </p:spPr>
      </p:sp>
      <p:sp>
        <p:nvSpPr>
          <p:cNvPr id="28" name="Text 26"/>
          <p:cNvSpPr txBox="1"/>
          <p:nvPr/>
        </p:nvSpPr>
        <p:spPr>
          <a:xfrm>
            <a:off x="5257800" y="2788920"/>
            <a:ext cx="6202375" cy="329184"/>
          </a:xfrm>
          <a:prstGeom prst="rect">
            <a:avLst/>
          </a:prstGeom>
          <a:noFill/>
          <a:ln/>
        </p:spPr>
        <p:txBody>
          <a:bodyPr wrap="square" lIns="0" tIns="0" rIns="0" bIns="0" rtlCol="0" anchor="t"/>
          <a:lstStyle/>
          <a:p>
            <a:pPr algn="ctr" indent="0" marL="0">
              <a:buNone/>
            </a:pPr>
            <a:r>
              <a:rPr lang="en-US" sz="1450" b="1" dirty="0">
                <a:solidFill>
                  <a:srgbClr val="B8652A"/>
                </a:solidFill>
                <a:latin typeface="Meiryo UI" pitchFamily="34" charset="0"/>
                <a:ea typeface="Meiryo UI" pitchFamily="34" charset="-122"/>
                <a:cs typeface="Meiryo UI" pitchFamily="34" charset="-120"/>
              </a:rPr>
              <a:t>「スペシャリスト」</a:t>
            </a:r>
            <a:endParaRPr lang="en-US" sz="1450" dirty="0"/>
          </a:p>
        </p:txBody>
      </p:sp>
      <p:sp>
        <p:nvSpPr>
          <p:cNvPr id="29" name="Shape 27"/>
          <p:cNvSpPr/>
          <p:nvPr/>
        </p:nvSpPr>
        <p:spPr>
          <a:xfrm>
            <a:off x="5303520" y="3200400"/>
            <a:ext cx="292608" cy="292608"/>
          </a:xfrm>
          <a:prstGeom prst="ellipse">
            <a:avLst/>
          </a:prstGeom>
          <a:solidFill>
            <a:srgbClr val="B8652A"/>
          </a:solidFill>
          <a:ln w="12700">
            <a:solidFill>
              <a:srgbClr val="B8652A"/>
            </a:solidFill>
            <a:prstDash val="solid"/>
          </a:ln>
        </p:spPr>
      </p:sp>
      <p:sp>
        <p:nvSpPr>
          <p:cNvPr id="30" name="Text 28"/>
          <p:cNvSpPr txBox="1"/>
          <p:nvPr/>
        </p:nvSpPr>
        <p:spPr>
          <a:xfrm>
            <a:off x="5303520" y="32004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31" name="Text 29"/>
          <p:cNvSpPr txBox="1"/>
          <p:nvPr/>
        </p:nvSpPr>
        <p:spPr>
          <a:xfrm>
            <a:off x="5650992" y="3200400"/>
            <a:ext cx="1567586" cy="29260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業務分析</a:t>
            </a:r>
            <a:endParaRPr lang="en-US" sz="1200" dirty="0"/>
          </a:p>
        </p:txBody>
      </p:sp>
      <p:sp>
        <p:nvSpPr>
          <p:cNvPr id="32" name="Text 30"/>
          <p:cNvSpPr txBox="1"/>
          <p:nvPr/>
        </p:nvSpPr>
        <p:spPr>
          <a:xfrm>
            <a:off x="5303520" y="3538728"/>
            <a:ext cx="1915058" cy="548640"/>
          </a:xfrm>
          <a:prstGeom prst="rect">
            <a:avLst/>
          </a:prstGeom>
          <a:noFill/>
          <a:ln/>
        </p:spPr>
        <p:txBody>
          <a:bodyPr wrap="square" lIns="0" tIns="0" rIns="0" bIns="0" rtlCol="0" anchor="t"/>
          <a:lstStyle/>
          <a:p>
            <a:pPr indent="0" marL="0">
              <a:buNone/>
            </a:pPr>
            <a:r>
              <a:rPr lang="en-US" sz="900" dirty="0">
                <a:solidFill>
                  <a:srgbClr val="2A322D"/>
                </a:solidFill>
                <a:latin typeface="Meiryo UI" pitchFamily="34" charset="0"/>
                <a:ea typeface="Meiryo UI" pitchFamily="34" charset="-122"/>
                <a:cs typeface="Meiryo UI" pitchFamily="34" charset="-120"/>
              </a:rPr>
              <a:t>業務内容のヒアリングと視察から、業務の棚卸しと改善案を作成</a:t>
            </a:r>
            <a:endParaRPr lang="en-US" sz="900" dirty="0"/>
          </a:p>
        </p:txBody>
      </p:sp>
      <p:sp>
        <p:nvSpPr>
          <p:cNvPr id="33" name="Shape 31"/>
          <p:cNvSpPr/>
          <p:nvPr/>
        </p:nvSpPr>
        <p:spPr>
          <a:xfrm>
            <a:off x="5303520" y="4114800"/>
            <a:ext cx="1915058" cy="237744"/>
          </a:xfrm>
          <a:prstGeom prst="roundRect">
            <a:avLst>
              <a:gd name="adj" fmla="val 15385"/>
            </a:avLst>
          </a:prstGeom>
          <a:solidFill>
            <a:srgbClr val="FFFFFF"/>
          </a:solidFill>
          <a:ln w="12700">
            <a:solidFill>
              <a:srgbClr val="FFFFFF"/>
            </a:solidFill>
            <a:prstDash val="solid"/>
          </a:ln>
        </p:spPr>
      </p:sp>
      <p:pic>
        <p:nvPicPr>
          <p:cNvPr id="34" name="Image 0" descr="preencoded.png">    </p:cNvPr>
          <p:cNvPicPr>
            <a:picLocks noChangeAspect="1"/>
          </p:cNvPicPr>
          <p:nvPr/>
        </p:nvPicPr>
        <p:blipFill>
          <a:blip r:embed="rId1"/>
          <a:stretch>
            <a:fillRect/>
          </a:stretch>
        </p:blipFill>
        <p:spPr>
          <a:xfrm>
            <a:off x="5367528" y="4151376"/>
            <a:ext cx="164592" cy="164592"/>
          </a:xfrm>
          <a:prstGeom prst="rect">
            <a:avLst/>
          </a:prstGeom>
        </p:spPr>
      </p:pic>
      <p:sp>
        <p:nvSpPr>
          <p:cNvPr id="35" name="Text 32"/>
          <p:cNvSpPr txBox="1"/>
          <p:nvPr/>
        </p:nvSpPr>
        <p:spPr>
          <a:xfrm>
            <a:off x="5577840" y="4114800"/>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業務ヒアリング</a:t>
            </a:r>
            <a:endParaRPr lang="en-US" sz="900" dirty="0"/>
          </a:p>
        </p:txBody>
      </p:sp>
      <p:sp>
        <p:nvSpPr>
          <p:cNvPr id="36" name="Shape 33"/>
          <p:cNvSpPr/>
          <p:nvPr/>
        </p:nvSpPr>
        <p:spPr>
          <a:xfrm>
            <a:off x="5303520" y="4398264"/>
            <a:ext cx="1915058" cy="237744"/>
          </a:xfrm>
          <a:prstGeom prst="roundRect">
            <a:avLst>
              <a:gd name="adj" fmla="val 15385"/>
            </a:avLst>
          </a:prstGeom>
          <a:solidFill>
            <a:srgbClr val="FFFFFF"/>
          </a:solidFill>
          <a:ln w="12700">
            <a:solidFill>
              <a:srgbClr val="FFFFFF"/>
            </a:solidFill>
            <a:prstDash val="solid"/>
          </a:ln>
        </p:spPr>
      </p:sp>
      <p:pic>
        <p:nvPicPr>
          <p:cNvPr id="37" name="Image 1" descr="preencoded.png">    </p:cNvPr>
          <p:cNvPicPr>
            <a:picLocks noChangeAspect="1"/>
          </p:cNvPicPr>
          <p:nvPr/>
        </p:nvPicPr>
        <p:blipFill>
          <a:blip r:embed="rId2"/>
          <a:stretch>
            <a:fillRect/>
          </a:stretch>
        </p:blipFill>
        <p:spPr>
          <a:xfrm>
            <a:off x="5367528" y="4434840"/>
            <a:ext cx="164592" cy="164592"/>
          </a:xfrm>
          <a:prstGeom prst="rect">
            <a:avLst/>
          </a:prstGeom>
        </p:spPr>
      </p:pic>
      <p:sp>
        <p:nvSpPr>
          <p:cNvPr id="38" name="Text 34"/>
          <p:cNvSpPr txBox="1"/>
          <p:nvPr/>
        </p:nvSpPr>
        <p:spPr>
          <a:xfrm>
            <a:off x="5577840" y="4398264"/>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現地視察</a:t>
            </a:r>
            <a:endParaRPr lang="en-US" sz="900" dirty="0"/>
          </a:p>
        </p:txBody>
      </p:sp>
      <p:sp>
        <p:nvSpPr>
          <p:cNvPr id="39" name="Shape 35"/>
          <p:cNvSpPr/>
          <p:nvPr/>
        </p:nvSpPr>
        <p:spPr>
          <a:xfrm>
            <a:off x="5303520" y="4681728"/>
            <a:ext cx="1915058" cy="237744"/>
          </a:xfrm>
          <a:prstGeom prst="roundRect">
            <a:avLst>
              <a:gd name="adj" fmla="val 15385"/>
            </a:avLst>
          </a:prstGeom>
          <a:solidFill>
            <a:srgbClr val="FFFFFF"/>
          </a:solidFill>
          <a:ln w="12700">
            <a:solidFill>
              <a:srgbClr val="FFFFFF"/>
            </a:solidFill>
            <a:prstDash val="solid"/>
          </a:ln>
        </p:spPr>
      </p:sp>
      <p:pic>
        <p:nvPicPr>
          <p:cNvPr id="40" name="Image 2" descr="preencoded.png">    </p:cNvPr>
          <p:cNvPicPr>
            <a:picLocks noChangeAspect="1"/>
          </p:cNvPicPr>
          <p:nvPr/>
        </p:nvPicPr>
        <p:blipFill>
          <a:blip r:embed="rId3"/>
          <a:stretch>
            <a:fillRect/>
          </a:stretch>
        </p:blipFill>
        <p:spPr>
          <a:xfrm>
            <a:off x="5367528" y="4718304"/>
            <a:ext cx="164592" cy="164592"/>
          </a:xfrm>
          <a:prstGeom prst="rect">
            <a:avLst/>
          </a:prstGeom>
        </p:spPr>
      </p:pic>
      <p:sp>
        <p:nvSpPr>
          <p:cNvPr id="41" name="Text 36"/>
          <p:cNvSpPr txBox="1"/>
          <p:nvPr/>
        </p:nvSpPr>
        <p:spPr>
          <a:xfrm>
            <a:off x="5577840" y="4681728"/>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業務棚卸</a:t>
            </a:r>
            <a:endParaRPr lang="en-US" sz="900" dirty="0"/>
          </a:p>
        </p:txBody>
      </p:sp>
      <p:pic>
        <p:nvPicPr>
          <p:cNvPr id="42" name="Image 3" descr="preencoded.png">    </p:cNvPr>
          <p:cNvPicPr>
            <a:picLocks noChangeAspect="1"/>
          </p:cNvPicPr>
          <p:nvPr/>
        </p:nvPicPr>
        <p:blipFill>
          <a:blip r:embed="rId4"/>
          <a:stretch>
            <a:fillRect/>
          </a:stretch>
        </p:blipFill>
        <p:spPr>
          <a:xfrm>
            <a:off x="7255154" y="4709160"/>
            <a:ext cx="109728" cy="201168"/>
          </a:xfrm>
          <a:prstGeom prst="rect">
            <a:avLst/>
          </a:prstGeom>
        </p:spPr>
      </p:pic>
      <p:sp>
        <p:nvSpPr>
          <p:cNvPr id="43" name="Shape 37"/>
          <p:cNvSpPr/>
          <p:nvPr/>
        </p:nvSpPr>
        <p:spPr>
          <a:xfrm>
            <a:off x="7401458" y="3200400"/>
            <a:ext cx="292608" cy="292608"/>
          </a:xfrm>
          <a:prstGeom prst="ellipse">
            <a:avLst/>
          </a:prstGeom>
          <a:solidFill>
            <a:srgbClr val="B8652A"/>
          </a:solidFill>
          <a:ln w="12700">
            <a:solidFill>
              <a:srgbClr val="B8652A"/>
            </a:solidFill>
            <a:prstDash val="solid"/>
          </a:ln>
        </p:spPr>
      </p:sp>
      <p:sp>
        <p:nvSpPr>
          <p:cNvPr id="44" name="Text 38"/>
          <p:cNvSpPr txBox="1"/>
          <p:nvPr/>
        </p:nvSpPr>
        <p:spPr>
          <a:xfrm>
            <a:off x="7401458" y="32004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45" name="Text 39"/>
          <p:cNvSpPr txBox="1"/>
          <p:nvPr/>
        </p:nvSpPr>
        <p:spPr>
          <a:xfrm>
            <a:off x="7748930" y="3200400"/>
            <a:ext cx="1567586" cy="29260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フィールドワーク</a:t>
            </a:r>
            <a:endParaRPr lang="en-US" sz="1200" dirty="0"/>
          </a:p>
        </p:txBody>
      </p:sp>
      <p:sp>
        <p:nvSpPr>
          <p:cNvPr id="46" name="Text 40"/>
          <p:cNvSpPr txBox="1"/>
          <p:nvPr/>
        </p:nvSpPr>
        <p:spPr>
          <a:xfrm>
            <a:off x="7401458" y="3538728"/>
            <a:ext cx="1915058" cy="548640"/>
          </a:xfrm>
          <a:prstGeom prst="rect">
            <a:avLst/>
          </a:prstGeom>
          <a:noFill/>
          <a:ln/>
        </p:spPr>
        <p:txBody>
          <a:bodyPr wrap="square" lIns="0" tIns="0" rIns="0" bIns="0" rtlCol="0" anchor="t"/>
          <a:lstStyle/>
          <a:p>
            <a:pPr indent="0" marL="0">
              <a:buNone/>
            </a:pPr>
            <a:r>
              <a:rPr lang="en-US" sz="900" dirty="0">
                <a:solidFill>
                  <a:srgbClr val="2A322D"/>
                </a:solidFill>
                <a:latin typeface="Meiryo UI" pitchFamily="34" charset="0"/>
                <a:ea typeface="Meiryo UI" pitchFamily="34" charset="-122"/>
                <a:cs typeface="Meiryo UI" pitchFamily="34" charset="-120"/>
              </a:rPr>
              <a:t>現地スタッフへのレクチャー、スタッフアサイン、管理を実行</a:t>
            </a:r>
            <a:endParaRPr lang="en-US" sz="900" dirty="0"/>
          </a:p>
        </p:txBody>
      </p:sp>
      <p:sp>
        <p:nvSpPr>
          <p:cNvPr id="47" name="Shape 41"/>
          <p:cNvSpPr/>
          <p:nvPr/>
        </p:nvSpPr>
        <p:spPr>
          <a:xfrm>
            <a:off x="7401458" y="4114800"/>
            <a:ext cx="1915058" cy="237744"/>
          </a:xfrm>
          <a:prstGeom prst="roundRect">
            <a:avLst>
              <a:gd name="adj" fmla="val 15385"/>
            </a:avLst>
          </a:prstGeom>
          <a:solidFill>
            <a:srgbClr val="FFFFFF"/>
          </a:solidFill>
          <a:ln w="12700">
            <a:solidFill>
              <a:srgbClr val="FFFFFF"/>
            </a:solidFill>
            <a:prstDash val="solid"/>
          </a:ln>
        </p:spPr>
      </p:sp>
      <p:pic>
        <p:nvPicPr>
          <p:cNvPr id="48" name="Image 4" descr="preencoded.png">    </p:cNvPr>
          <p:cNvPicPr>
            <a:picLocks noChangeAspect="1"/>
          </p:cNvPicPr>
          <p:nvPr/>
        </p:nvPicPr>
        <p:blipFill>
          <a:blip r:embed="rId5"/>
          <a:stretch>
            <a:fillRect/>
          </a:stretch>
        </p:blipFill>
        <p:spPr>
          <a:xfrm>
            <a:off x="7465466" y="4151376"/>
            <a:ext cx="164592" cy="164592"/>
          </a:xfrm>
          <a:prstGeom prst="rect">
            <a:avLst/>
          </a:prstGeom>
        </p:spPr>
      </p:pic>
      <p:sp>
        <p:nvSpPr>
          <p:cNvPr id="49" name="Text 42"/>
          <p:cNvSpPr txBox="1"/>
          <p:nvPr/>
        </p:nvSpPr>
        <p:spPr>
          <a:xfrm>
            <a:off x="7675778" y="4114800"/>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業務マニュアルの作成</a:t>
            </a:r>
            <a:endParaRPr lang="en-US" sz="900" dirty="0"/>
          </a:p>
        </p:txBody>
      </p:sp>
      <p:sp>
        <p:nvSpPr>
          <p:cNvPr id="50" name="Shape 43"/>
          <p:cNvSpPr/>
          <p:nvPr/>
        </p:nvSpPr>
        <p:spPr>
          <a:xfrm>
            <a:off x="7401458" y="4398264"/>
            <a:ext cx="1915058" cy="237744"/>
          </a:xfrm>
          <a:prstGeom prst="roundRect">
            <a:avLst>
              <a:gd name="adj" fmla="val 15385"/>
            </a:avLst>
          </a:prstGeom>
          <a:solidFill>
            <a:srgbClr val="FFFFFF"/>
          </a:solidFill>
          <a:ln w="12700">
            <a:solidFill>
              <a:srgbClr val="FFFFFF"/>
            </a:solidFill>
            <a:prstDash val="solid"/>
          </a:ln>
        </p:spPr>
      </p:sp>
      <p:pic>
        <p:nvPicPr>
          <p:cNvPr id="51" name="Image 5" descr="preencoded.png">    </p:cNvPr>
          <p:cNvPicPr>
            <a:picLocks noChangeAspect="1"/>
          </p:cNvPicPr>
          <p:nvPr/>
        </p:nvPicPr>
        <p:blipFill>
          <a:blip r:embed="rId6"/>
          <a:stretch>
            <a:fillRect/>
          </a:stretch>
        </p:blipFill>
        <p:spPr>
          <a:xfrm>
            <a:off x="7465466" y="4434840"/>
            <a:ext cx="164592" cy="164592"/>
          </a:xfrm>
          <a:prstGeom prst="rect">
            <a:avLst/>
          </a:prstGeom>
        </p:spPr>
      </p:pic>
      <p:sp>
        <p:nvSpPr>
          <p:cNvPr id="52" name="Text 44"/>
          <p:cNvSpPr txBox="1"/>
          <p:nvPr/>
        </p:nvSpPr>
        <p:spPr>
          <a:xfrm>
            <a:off x="7675778" y="4398264"/>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事前レクチャー</a:t>
            </a:r>
            <a:endParaRPr lang="en-US" sz="900" dirty="0"/>
          </a:p>
        </p:txBody>
      </p:sp>
      <p:sp>
        <p:nvSpPr>
          <p:cNvPr id="53" name="Shape 45"/>
          <p:cNvSpPr/>
          <p:nvPr/>
        </p:nvSpPr>
        <p:spPr>
          <a:xfrm>
            <a:off x="7401458" y="4681728"/>
            <a:ext cx="1915058" cy="237744"/>
          </a:xfrm>
          <a:prstGeom prst="roundRect">
            <a:avLst>
              <a:gd name="adj" fmla="val 15385"/>
            </a:avLst>
          </a:prstGeom>
          <a:solidFill>
            <a:srgbClr val="FFFFFF"/>
          </a:solidFill>
          <a:ln w="12700">
            <a:solidFill>
              <a:srgbClr val="FFFFFF"/>
            </a:solidFill>
            <a:prstDash val="solid"/>
          </a:ln>
        </p:spPr>
      </p:sp>
      <p:pic>
        <p:nvPicPr>
          <p:cNvPr id="54" name="Image 6" descr="preencoded.png">    </p:cNvPr>
          <p:cNvPicPr>
            <a:picLocks noChangeAspect="1"/>
          </p:cNvPicPr>
          <p:nvPr/>
        </p:nvPicPr>
        <p:blipFill>
          <a:blip r:embed="rId7"/>
          <a:stretch>
            <a:fillRect/>
          </a:stretch>
        </p:blipFill>
        <p:spPr>
          <a:xfrm>
            <a:off x="7465466" y="4718304"/>
            <a:ext cx="164592" cy="164592"/>
          </a:xfrm>
          <a:prstGeom prst="rect">
            <a:avLst/>
          </a:prstGeom>
        </p:spPr>
      </p:pic>
      <p:sp>
        <p:nvSpPr>
          <p:cNvPr id="55" name="Text 46"/>
          <p:cNvSpPr txBox="1"/>
          <p:nvPr/>
        </p:nvSpPr>
        <p:spPr>
          <a:xfrm>
            <a:off x="7675778" y="4681728"/>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人材アサイン</a:t>
            </a:r>
            <a:endParaRPr lang="en-US" sz="900" dirty="0"/>
          </a:p>
        </p:txBody>
      </p:sp>
      <p:sp>
        <p:nvSpPr>
          <p:cNvPr id="56" name="Shape 47"/>
          <p:cNvSpPr/>
          <p:nvPr/>
        </p:nvSpPr>
        <p:spPr>
          <a:xfrm>
            <a:off x="7401458" y="4965192"/>
            <a:ext cx="1915058" cy="237744"/>
          </a:xfrm>
          <a:prstGeom prst="roundRect">
            <a:avLst>
              <a:gd name="adj" fmla="val 15385"/>
            </a:avLst>
          </a:prstGeom>
          <a:solidFill>
            <a:srgbClr val="FFFFFF"/>
          </a:solidFill>
          <a:ln w="12700">
            <a:solidFill>
              <a:srgbClr val="FFFFFF"/>
            </a:solidFill>
            <a:prstDash val="solid"/>
          </a:ln>
        </p:spPr>
      </p:sp>
      <p:pic>
        <p:nvPicPr>
          <p:cNvPr id="57" name="Image 7" descr="preencoded.png">    </p:cNvPr>
          <p:cNvPicPr>
            <a:picLocks noChangeAspect="1"/>
          </p:cNvPicPr>
          <p:nvPr/>
        </p:nvPicPr>
        <p:blipFill>
          <a:blip r:embed="rId8"/>
          <a:stretch>
            <a:fillRect/>
          </a:stretch>
        </p:blipFill>
        <p:spPr>
          <a:xfrm>
            <a:off x="7465466" y="5001768"/>
            <a:ext cx="164592" cy="164592"/>
          </a:xfrm>
          <a:prstGeom prst="rect">
            <a:avLst/>
          </a:prstGeom>
        </p:spPr>
      </p:pic>
      <p:sp>
        <p:nvSpPr>
          <p:cNvPr id="58" name="Text 48"/>
          <p:cNvSpPr txBox="1"/>
          <p:nvPr/>
        </p:nvSpPr>
        <p:spPr>
          <a:xfrm>
            <a:off x="7675778" y="4965192"/>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業務実施</a:t>
            </a:r>
            <a:endParaRPr lang="en-US" sz="900" dirty="0"/>
          </a:p>
        </p:txBody>
      </p:sp>
      <p:sp>
        <p:nvSpPr>
          <p:cNvPr id="59" name="Shape 49"/>
          <p:cNvSpPr/>
          <p:nvPr/>
        </p:nvSpPr>
        <p:spPr>
          <a:xfrm>
            <a:off x="7401458" y="5248656"/>
            <a:ext cx="1915058" cy="237744"/>
          </a:xfrm>
          <a:prstGeom prst="roundRect">
            <a:avLst>
              <a:gd name="adj" fmla="val 15385"/>
            </a:avLst>
          </a:prstGeom>
          <a:solidFill>
            <a:srgbClr val="FFFFFF"/>
          </a:solidFill>
          <a:ln w="12700">
            <a:solidFill>
              <a:srgbClr val="FFFFFF"/>
            </a:solidFill>
            <a:prstDash val="solid"/>
          </a:ln>
        </p:spPr>
      </p:sp>
      <p:pic>
        <p:nvPicPr>
          <p:cNvPr id="60" name="Image 8" descr="preencoded.png">    </p:cNvPr>
          <p:cNvPicPr>
            <a:picLocks noChangeAspect="1"/>
          </p:cNvPicPr>
          <p:nvPr/>
        </p:nvPicPr>
        <p:blipFill>
          <a:blip r:embed="rId9"/>
          <a:stretch>
            <a:fillRect/>
          </a:stretch>
        </p:blipFill>
        <p:spPr>
          <a:xfrm>
            <a:off x="7465466" y="5285232"/>
            <a:ext cx="164592" cy="164592"/>
          </a:xfrm>
          <a:prstGeom prst="rect">
            <a:avLst/>
          </a:prstGeom>
        </p:spPr>
      </p:pic>
      <p:sp>
        <p:nvSpPr>
          <p:cNvPr id="61" name="Text 50"/>
          <p:cNvSpPr txBox="1"/>
          <p:nvPr/>
        </p:nvSpPr>
        <p:spPr>
          <a:xfrm>
            <a:off x="7675778" y="5248656"/>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結果報告</a:t>
            </a:r>
            <a:endParaRPr lang="en-US" sz="900" dirty="0"/>
          </a:p>
        </p:txBody>
      </p:sp>
      <p:pic>
        <p:nvPicPr>
          <p:cNvPr id="62" name="Image 9" descr="preencoded.png">    </p:cNvPr>
          <p:cNvPicPr>
            <a:picLocks noChangeAspect="1"/>
          </p:cNvPicPr>
          <p:nvPr/>
        </p:nvPicPr>
        <p:blipFill>
          <a:blip r:embed="rId10"/>
          <a:stretch>
            <a:fillRect/>
          </a:stretch>
        </p:blipFill>
        <p:spPr>
          <a:xfrm>
            <a:off x="9353093" y="4709160"/>
            <a:ext cx="109728" cy="201168"/>
          </a:xfrm>
          <a:prstGeom prst="rect">
            <a:avLst/>
          </a:prstGeom>
        </p:spPr>
      </p:pic>
      <p:sp>
        <p:nvSpPr>
          <p:cNvPr id="63" name="Shape 51"/>
          <p:cNvSpPr/>
          <p:nvPr/>
        </p:nvSpPr>
        <p:spPr>
          <a:xfrm>
            <a:off x="9499397" y="3200400"/>
            <a:ext cx="292608" cy="292608"/>
          </a:xfrm>
          <a:prstGeom prst="ellipse">
            <a:avLst/>
          </a:prstGeom>
          <a:solidFill>
            <a:srgbClr val="B8652A"/>
          </a:solidFill>
          <a:ln w="12700">
            <a:solidFill>
              <a:srgbClr val="B8652A"/>
            </a:solidFill>
            <a:prstDash val="solid"/>
          </a:ln>
        </p:spPr>
      </p:sp>
      <p:sp>
        <p:nvSpPr>
          <p:cNvPr id="64" name="Text 52"/>
          <p:cNvSpPr txBox="1"/>
          <p:nvPr/>
        </p:nvSpPr>
        <p:spPr>
          <a:xfrm>
            <a:off x="9499397" y="32004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65" name="Text 53"/>
          <p:cNvSpPr txBox="1"/>
          <p:nvPr/>
        </p:nvSpPr>
        <p:spPr>
          <a:xfrm>
            <a:off x="9846869" y="3200400"/>
            <a:ext cx="1567586" cy="292608"/>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マニュアル改善</a:t>
            </a:r>
            <a:endParaRPr lang="en-US" sz="1200" dirty="0"/>
          </a:p>
        </p:txBody>
      </p:sp>
      <p:sp>
        <p:nvSpPr>
          <p:cNvPr id="66" name="Text 54"/>
          <p:cNvSpPr txBox="1"/>
          <p:nvPr/>
        </p:nvSpPr>
        <p:spPr>
          <a:xfrm>
            <a:off x="9499397" y="3538728"/>
            <a:ext cx="1915058" cy="548640"/>
          </a:xfrm>
          <a:prstGeom prst="rect">
            <a:avLst/>
          </a:prstGeom>
          <a:noFill/>
          <a:ln/>
        </p:spPr>
        <p:txBody>
          <a:bodyPr wrap="square" lIns="0" tIns="0" rIns="0" bIns="0" rtlCol="0" anchor="t"/>
          <a:lstStyle/>
          <a:p>
            <a:pPr indent="0" marL="0">
              <a:buNone/>
            </a:pPr>
            <a:r>
              <a:rPr lang="en-US" sz="900" dirty="0">
                <a:solidFill>
                  <a:srgbClr val="2A322D"/>
                </a:solidFill>
                <a:latin typeface="Meiryo UI" pitchFamily="34" charset="0"/>
                <a:ea typeface="Meiryo UI" pitchFamily="34" charset="-122"/>
                <a:cs typeface="Meiryo UI" pitchFamily="34" charset="-120"/>
              </a:rPr>
              <a:t>実行結果から、業務の改善点などをマニュアルにまとめて納品</a:t>
            </a:r>
            <a:endParaRPr lang="en-US" sz="900" dirty="0"/>
          </a:p>
        </p:txBody>
      </p:sp>
      <p:sp>
        <p:nvSpPr>
          <p:cNvPr id="67" name="Shape 55"/>
          <p:cNvSpPr/>
          <p:nvPr/>
        </p:nvSpPr>
        <p:spPr>
          <a:xfrm>
            <a:off x="9499397" y="4114800"/>
            <a:ext cx="1915058" cy="237744"/>
          </a:xfrm>
          <a:prstGeom prst="roundRect">
            <a:avLst>
              <a:gd name="adj" fmla="val 15385"/>
            </a:avLst>
          </a:prstGeom>
          <a:solidFill>
            <a:srgbClr val="FFFFFF"/>
          </a:solidFill>
          <a:ln w="12700">
            <a:solidFill>
              <a:srgbClr val="FFFFFF"/>
            </a:solidFill>
            <a:prstDash val="solid"/>
          </a:ln>
        </p:spPr>
      </p:sp>
      <p:pic>
        <p:nvPicPr>
          <p:cNvPr id="68" name="Image 10" descr="preencoded.png">    </p:cNvPr>
          <p:cNvPicPr>
            <a:picLocks noChangeAspect="1"/>
          </p:cNvPicPr>
          <p:nvPr/>
        </p:nvPicPr>
        <p:blipFill>
          <a:blip r:embed="rId11"/>
          <a:stretch>
            <a:fillRect/>
          </a:stretch>
        </p:blipFill>
        <p:spPr>
          <a:xfrm>
            <a:off x="9563405" y="4151376"/>
            <a:ext cx="164592" cy="164592"/>
          </a:xfrm>
          <a:prstGeom prst="rect">
            <a:avLst/>
          </a:prstGeom>
        </p:spPr>
      </p:pic>
      <p:sp>
        <p:nvSpPr>
          <p:cNvPr id="69" name="Text 56"/>
          <p:cNvSpPr txBox="1"/>
          <p:nvPr/>
        </p:nvSpPr>
        <p:spPr>
          <a:xfrm>
            <a:off x="9773717" y="4114800"/>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イレギュラー対応の抽出</a:t>
            </a:r>
            <a:endParaRPr lang="en-US" sz="900" dirty="0"/>
          </a:p>
        </p:txBody>
      </p:sp>
      <p:sp>
        <p:nvSpPr>
          <p:cNvPr id="70" name="Shape 57"/>
          <p:cNvSpPr/>
          <p:nvPr/>
        </p:nvSpPr>
        <p:spPr>
          <a:xfrm>
            <a:off x="9499397" y="4398264"/>
            <a:ext cx="1915058" cy="237744"/>
          </a:xfrm>
          <a:prstGeom prst="roundRect">
            <a:avLst>
              <a:gd name="adj" fmla="val 15385"/>
            </a:avLst>
          </a:prstGeom>
          <a:solidFill>
            <a:srgbClr val="FFFFFF"/>
          </a:solidFill>
          <a:ln w="12700">
            <a:solidFill>
              <a:srgbClr val="FFFFFF"/>
            </a:solidFill>
            <a:prstDash val="solid"/>
          </a:ln>
        </p:spPr>
      </p:sp>
      <p:pic>
        <p:nvPicPr>
          <p:cNvPr id="71" name="Image 11" descr="preencoded.png">    </p:cNvPr>
          <p:cNvPicPr>
            <a:picLocks noChangeAspect="1"/>
          </p:cNvPicPr>
          <p:nvPr/>
        </p:nvPicPr>
        <p:blipFill>
          <a:blip r:embed="rId12"/>
          <a:stretch>
            <a:fillRect/>
          </a:stretch>
        </p:blipFill>
        <p:spPr>
          <a:xfrm>
            <a:off x="9563405" y="4434840"/>
            <a:ext cx="164592" cy="164592"/>
          </a:xfrm>
          <a:prstGeom prst="rect">
            <a:avLst/>
          </a:prstGeom>
        </p:spPr>
      </p:pic>
      <p:sp>
        <p:nvSpPr>
          <p:cNvPr id="72" name="Text 58"/>
          <p:cNvSpPr txBox="1"/>
          <p:nvPr/>
        </p:nvSpPr>
        <p:spPr>
          <a:xfrm>
            <a:off x="9773717" y="4398264"/>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マニュアル改善</a:t>
            </a:r>
            <a:endParaRPr lang="en-US" sz="900" dirty="0"/>
          </a:p>
        </p:txBody>
      </p:sp>
      <p:sp>
        <p:nvSpPr>
          <p:cNvPr id="73" name="Shape 59"/>
          <p:cNvSpPr/>
          <p:nvPr/>
        </p:nvSpPr>
        <p:spPr>
          <a:xfrm>
            <a:off x="9499397" y="4681728"/>
            <a:ext cx="1915058" cy="237744"/>
          </a:xfrm>
          <a:prstGeom prst="roundRect">
            <a:avLst>
              <a:gd name="adj" fmla="val 15385"/>
            </a:avLst>
          </a:prstGeom>
          <a:solidFill>
            <a:srgbClr val="FFFFFF"/>
          </a:solidFill>
          <a:ln w="12700">
            <a:solidFill>
              <a:srgbClr val="FFFFFF"/>
            </a:solidFill>
            <a:prstDash val="solid"/>
          </a:ln>
        </p:spPr>
      </p:sp>
      <p:pic>
        <p:nvPicPr>
          <p:cNvPr id="74" name="Image 12" descr="preencoded.png">    </p:cNvPr>
          <p:cNvPicPr>
            <a:picLocks noChangeAspect="1"/>
          </p:cNvPicPr>
          <p:nvPr/>
        </p:nvPicPr>
        <p:blipFill>
          <a:blip r:embed="rId13"/>
          <a:stretch>
            <a:fillRect/>
          </a:stretch>
        </p:blipFill>
        <p:spPr>
          <a:xfrm>
            <a:off x="9563405" y="4718304"/>
            <a:ext cx="164592" cy="164592"/>
          </a:xfrm>
          <a:prstGeom prst="rect">
            <a:avLst/>
          </a:prstGeom>
        </p:spPr>
      </p:pic>
      <p:sp>
        <p:nvSpPr>
          <p:cNvPr id="75" name="Text 60"/>
          <p:cNvSpPr txBox="1"/>
          <p:nvPr/>
        </p:nvSpPr>
        <p:spPr>
          <a:xfrm>
            <a:off x="9773717" y="4681728"/>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マニュアル作成</a:t>
            </a:r>
            <a:endParaRPr lang="en-US" sz="900" dirty="0"/>
          </a:p>
        </p:txBody>
      </p:sp>
      <p:sp>
        <p:nvSpPr>
          <p:cNvPr id="76" name="Shape 61"/>
          <p:cNvSpPr/>
          <p:nvPr/>
        </p:nvSpPr>
        <p:spPr>
          <a:xfrm>
            <a:off x="9499397" y="4965192"/>
            <a:ext cx="1915058" cy="237744"/>
          </a:xfrm>
          <a:prstGeom prst="roundRect">
            <a:avLst>
              <a:gd name="adj" fmla="val 15385"/>
            </a:avLst>
          </a:prstGeom>
          <a:solidFill>
            <a:srgbClr val="FFFFFF"/>
          </a:solidFill>
          <a:ln w="12700">
            <a:solidFill>
              <a:srgbClr val="FFFFFF"/>
            </a:solidFill>
            <a:prstDash val="solid"/>
          </a:ln>
        </p:spPr>
      </p:sp>
      <p:pic>
        <p:nvPicPr>
          <p:cNvPr id="77" name="Image 13" descr="preencoded.png">    </p:cNvPr>
          <p:cNvPicPr>
            <a:picLocks noChangeAspect="1"/>
          </p:cNvPicPr>
          <p:nvPr/>
        </p:nvPicPr>
        <p:blipFill>
          <a:blip r:embed="rId14"/>
          <a:stretch>
            <a:fillRect/>
          </a:stretch>
        </p:blipFill>
        <p:spPr>
          <a:xfrm>
            <a:off x="9563405" y="5001768"/>
            <a:ext cx="164592" cy="164592"/>
          </a:xfrm>
          <a:prstGeom prst="rect">
            <a:avLst/>
          </a:prstGeom>
        </p:spPr>
      </p:pic>
      <p:sp>
        <p:nvSpPr>
          <p:cNvPr id="78" name="Text 62"/>
          <p:cNvSpPr txBox="1"/>
          <p:nvPr/>
        </p:nvSpPr>
        <p:spPr>
          <a:xfrm>
            <a:off x="9773717" y="4965192"/>
            <a:ext cx="1622450" cy="237744"/>
          </a:xfrm>
          <a:prstGeom prst="rect">
            <a:avLst/>
          </a:prstGeom>
          <a:noFill/>
          <a:ln/>
        </p:spPr>
        <p:txBody>
          <a:bodyPr wrap="square" lIns="0" tIns="0" rIns="0" bIns="0" rtlCol="0" anchor="ctr"/>
          <a:lstStyle/>
          <a:p>
            <a:pPr indent="0" marL="0">
              <a:buNone/>
            </a:pPr>
            <a:r>
              <a:rPr lang="en-US" sz="900" b="1" dirty="0">
                <a:solidFill>
                  <a:srgbClr val="2F4D3D"/>
                </a:solidFill>
                <a:latin typeface="Meiryo UI" pitchFamily="34" charset="0"/>
                <a:ea typeface="Meiryo UI" pitchFamily="34" charset="-122"/>
                <a:cs typeface="Meiryo UI" pitchFamily="34" charset="-120"/>
              </a:rPr>
              <a:t>マニュアルレクチャー</a:t>
            </a:r>
            <a:endParaRPr lang="en-US" sz="900" dirty="0"/>
          </a:p>
        </p:txBody>
      </p:sp>
      <p:sp>
        <p:nvSpPr>
          <p:cNvPr id="79" name="Shape 63"/>
          <p:cNvSpPr/>
          <p:nvPr/>
        </p:nvSpPr>
        <p:spPr>
          <a:xfrm>
            <a:off x="548640" y="5715000"/>
            <a:ext cx="11094415" cy="621792"/>
          </a:xfrm>
          <a:prstGeom prst="roundRect">
            <a:avLst>
              <a:gd name="adj" fmla="val 17647"/>
            </a:avLst>
          </a:prstGeom>
          <a:solidFill>
            <a:srgbClr val="EDF3EF"/>
          </a:solidFill>
          <a:ln w="12700">
            <a:solidFill>
              <a:srgbClr val="EDF3EF"/>
            </a:solidFill>
            <a:prstDash val="solid"/>
          </a:ln>
        </p:spPr>
      </p:sp>
      <p:sp>
        <p:nvSpPr>
          <p:cNvPr id="80" name="Shape 64"/>
          <p:cNvSpPr/>
          <p:nvPr/>
        </p:nvSpPr>
        <p:spPr>
          <a:xfrm>
            <a:off x="685800" y="5815584"/>
            <a:ext cx="420624" cy="420624"/>
          </a:xfrm>
          <a:prstGeom prst="ellipse">
            <a:avLst/>
          </a:prstGeom>
          <a:solidFill>
            <a:srgbClr val="46705A"/>
          </a:solidFill>
          <a:ln w="12700">
            <a:solidFill>
              <a:srgbClr val="46705A"/>
            </a:solidFill>
            <a:prstDash val="solid"/>
          </a:ln>
        </p:spPr>
      </p:sp>
      <p:pic>
        <p:nvPicPr>
          <p:cNvPr id="81" name="Image 14" descr="preencoded.png">    </p:cNvPr>
          <p:cNvPicPr>
            <a:picLocks noChangeAspect="1"/>
          </p:cNvPicPr>
          <p:nvPr/>
        </p:nvPicPr>
        <p:blipFill>
          <a:blip r:embed="rId15"/>
          <a:stretch>
            <a:fillRect/>
          </a:stretch>
        </p:blipFill>
        <p:spPr>
          <a:xfrm>
            <a:off x="795162" y="5924946"/>
            <a:ext cx="201900" cy="201900"/>
          </a:xfrm>
          <a:prstGeom prst="rect">
            <a:avLst/>
          </a:prstGeom>
        </p:spPr>
      </p:pic>
      <p:sp>
        <p:nvSpPr>
          <p:cNvPr id="82" name="Text 65"/>
          <p:cNvSpPr txBox="1"/>
          <p:nvPr/>
        </p:nvSpPr>
        <p:spPr>
          <a:xfrm>
            <a:off x="1234440" y="5715000"/>
            <a:ext cx="10271455" cy="621792"/>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貴法人での活用イメージ：</a:t>
            </a:r>
            <a:pPr indent="0" marL="0">
              <a:buNone/>
            </a:pPr>
            <a:r>
              <a:rPr lang="en-US" sz="1150" dirty="0">
                <a:solidFill>
                  <a:srgbClr val="2A322D"/>
                </a:solidFill>
                <a:latin typeface="Meiryo UI" pitchFamily="34" charset="0"/>
                <a:ea typeface="Meiryo UI" pitchFamily="34" charset="-122"/>
                <a:cs typeface="Meiryo UI" pitchFamily="34" charset="-120"/>
              </a:rPr>
              <a:t>代表が抱える経理・書類などの事務をヒアリングで棚卸しし、マニュアル化したうえで事務スタッフをアサイン。“代表がいなくても回る”バックオフィスをつくります。</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 2</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WEBマーケティング&amp;制作支援［クラプロ］</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24</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243584"/>
            <a:ext cx="612648" cy="274320"/>
          </a:xfrm>
          <a:prstGeom prst="roundRect">
            <a:avLst>
              <a:gd name="adj" fmla="val 26667"/>
            </a:avLst>
          </a:prstGeom>
          <a:solidFill>
            <a:srgbClr val="EDF3EF"/>
          </a:solidFill>
          <a:ln w="12700">
            <a:solidFill>
              <a:srgbClr val="EDF3EF"/>
            </a:solidFill>
            <a:prstDash val="solid"/>
          </a:ln>
        </p:spPr>
      </p:sp>
      <p:sp>
        <p:nvSpPr>
          <p:cNvPr id="7" name="Text 5"/>
          <p:cNvSpPr txBox="1"/>
          <p:nvPr/>
        </p:nvSpPr>
        <p:spPr>
          <a:xfrm>
            <a:off x="548640" y="1243584"/>
            <a:ext cx="612648"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営業</a:t>
            </a:r>
            <a:endParaRPr lang="en-US" sz="1000" dirty="0"/>
          </a:p>
        </p:txBody>
      </p:sp>
      <p:sp>
        <p:nvSpPr>
          <p:cNvPr id="8" name="Shape 6"/>
          <p:cNvSpPr/>
          <p:nvPr/>
        </p:nvSpPr>
        <p:spPr>
          <a:xfrm>
            <a:off x="1271016" y="1243584"/>
            <a:ext cx="1344168" cy="274320"/>
          </a:xfrm>
          <a:prstGeom prst="roundRect">
            <a:avLst>
              <a:gd name="adj" fmla="val 26667"/>
            </a:avLst>
          </a:prstGeom>
          <a:solidFill>
            <a:srgbClr val="EDF3EF"/>
          </a:solidFill>
          <a:ln w="12700">
            <a:solidFill>
              <a:srgbClr val="EDF3EF"/>
            </a:solidFill>
            <a:prstDash val="solid"/>
          </a:ln>
        </p:spPr>
      </p:sp>
      <p:sp>
        <p:nvSpPr>
          <p:cNvPr id="9" name="Text 7"/>
          <p:cNvSpPr txBox="1"/>
          <p:nvPr/>
        </p:nvSpPr>
        <p:spPr>
          <a:xfrm>
            <a:off x="1271016" y="1243584"/>
            <a:ext cx="1344168"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クリエイティブ</a:t>
            </a:r>
            <a:endParaRPr lang="en-US" sz="1000" dirty="0"/>
          </a:p>
        </p:txBody>
      </p:sp>
      <p:sp>
        <p:nvSpPr>
          <p:cNvPr id="10" name="Shape 8"/>
          <p:cNvSpPr/>
          <p:nvPr/>
        </p:nvSpPr>
        <p:spPr>
          <a:xfrm>
            <a:off x="2724912" y="1243584"/>
            <a:ext cx="1051560" cy="274320"/>
          </a:xfrm>
          <a:prstGeom prst="roundRect">
            <a:avLst>
              <a:gd name="adj" fmla="val 26667"/>
            </a:avLst>
          </a:prstGeom>
          <a:solidFill>
            <a:srgbClr val="EDF3EF"/>
          </a:solidFill>
          <a:ln w="12700">
            <a:solidFill>
              <a:srgbClr val="EDF3EF"/>
            </a:solidFill>
            <a:prstDash val="solid"/>
          </a:ln>
        </p:spPr>
      </p:sp>
      <p:sp>
        <p:nvSpPr>
          <p:cNvPr id="11" name="Text 9"/>
          <p:cNvSpPr txBox="1"/>
          <p:nvPr/>
        </p:nvSpPr>
        <p:spPr>
          <a:xfrm>
            <a:off x="2724912" y="1243584"/>
            <a:ext cx="1051560"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リード獲得</a:t>
            </a:r>
            <a:endParaRPr lang="en-US" sz="1000" dirty="0"/>
          </a:p>
        </p:txBody>
      </p:sp>
      <p:sp>
        <p:nvSpPr>
          <p:cNvPr id="12" name="Shape 10"/>
          <p:cNvSpPr/>
          <p:nvPr/>
        </p:nvSpPr>
        <p:spPr>
          <a:xfrm>
            <a:off x="3886200" y="1243584"/>
            <a:ext cx="1051560" cy="274320"/>
          </a:xfrm>
          <a:prstGeom prst="roundRect">
            <a:avLst>
              <a:gd name="adj" fmla="val 26667"/>
            </a:avLst>
          </a:prstGeom>
          <a:solidFill>
            <a:srgbClr val="EDF3EF"/>
          </a:solidFill>
          <a:ln w="12700">
            <a:solidFill>
              <a:srgbClr val="EDF3EF"/>
            </a:solidFill>
            <a:prstDash val="solid"/>
          </a:ln>
        </p:spPr>
      </p:sp>
      <p:sp>
        <p:nvSpPr>
          <p:cNvPr id="13" name="Text 11"/>
          <p:cNvSpPr txBox="1"/>
          <p:nvPr/>
        </p:nvSpPr>
        <p:spPr>
          <a:xfrm>
            <a:off x="3886200" y="1243584"/>
            <a:ext cx="1051560"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受注率向上</a:t>
            </a:r>
            <a:endParaRPr lang="en-US" sz="1000" dirty="0"/>
          </a:p>
        </p:txBody>
      </p:sp>
      <p:sp>
        <p:nvSpPr>
          <p:cNvPr id="14" name="Shape 12"/>
          <p:cNvSpPr/>
          <p:nvPr/>
        </p:nvSpPr>
        <p:spPr>
          <a:xfrm>
            <a:off x="5047488" y="1243584"/>
            <a:ext cx="1636776" cy="274320"/>
          </a:xfrm>
          <a:prstGeom prst="roundRect">
            <a:avLst>
              <a:gd name="adj" fmla="val 26667"/>
            </a:avLst>
          </a:prstGeom>
          <a:solidFill>
            <a:srgbClr val="EDF3EF"/>
          </a:solidFill>
          <a:ln w="12700">
            <a:solidFill>
              <a:srgbClr val="EDF3EF"/>
            </a:solidFill>
            <a:prstDash val="solid"/>
          </a:ln>
        </p:spPr>
      </p:sp>
      <p:sp>
        <p:nvSpPr>
          <p:cNvPr id="15" name="Text 13"/>
          <p:cNvSpPr txBox="1"/>
          <p:nvPr/>
        </p:nvSpPr>
        <p:spPr>
          <a:xfrm>
            <a:off x="5047488" y="1243584"/>
            <a:ext cx="1636776"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アウトソーシング型</a:t>
            </a:r>
            <a:endParaRPr lang="en-US" sz="1000" dirty="0"/>
          </a:p>
        </p:txBody>
      </p:sp>
      <p:sp>
        <p:nvSpPr>
          <p:cNvPr id="16" name="Text 14"/>
          <p:cNvSpPr txBox="1"/>
          <p:nvPr/>
        </p:nvSpPr>
        <p:spPr>
          <a:xfrm>
            <a:off x="548640" y="1609344"/>
            <a:ext cx="11094415" cy="502920"/>
          </a:xfrm>
          <a:prstGeom prst="rect">
            <a:avLst/>
          </a:prstGeom>
          <a:noFill/>
          <a:ln/>
        </p:spPr>
        <p:txBody>
          <a:bodyPr wrap="square" lIns="0" tIns="0" rIns="0" bIns="0" rtlCol="0" anchor="ctr"/>
          <a:lstStyle/>
          <a:p>
            <a:pPr algn="ctr" indent="0" marL="0">
              <a:buNone/>
            </a:pPr>
            <a:r>
              <a:rPr lang="en-US" sz="1300" b="1" dirty="0">
                <a:solidFill>
                  <a:srgbClr val="2F4D3D"/>
                </a:solidFill>
                <a:latin typeface="Meiryo UI" pitchFamily="34" charset="0"/>
                <a:ea typeface="Meiryo UI" pitchFamily="34" charset="-122"/>
                <a:cs typeface="Meiryo UI" pitchFamily="34" charset="-120"/>
              </a:rPr>
              <a:t>当社の「WEBディレクター」×「スペシャリスト」が、貴社の課題にあわせたWEBマーケティング戦略立案からチーム組成、制作までを実行いたします。</a:t>
            </a:r>
            <a:endParaRPr lang="en-US" sz="1300" dirty="0"/>
          </a:p>
        </p:txBody>
      </p:sp>
      <p:sp>
        <p:nvSpPr>
          <p:cNvPr id="17" name="Shape 15"/>
          <p:cNvSpPr/>
          <p:nvPr/>
        </p:nvSpPr>
        <p:spPr>
          <a:xfrm>
            <a:off x="548640" y="2176272"/>
            <a:ext cx="4572000" cy="365760"/>
          </a:xfrm>
          <a:prstGeom prst="homePlate">
            <a:avLst/>
          </a:prstGeom>
          <a:solidFill>
            <a:srgbClr val="46705A"/>
          </a:solidFill>
          <a:ln w="12700">
            <a:solidFill>
              <a:srgbClr val="46705A"/>
            </a:solidFill>
            <a:prstDash val="solid"/>
          </a:ln>
        </p:spPr>
      </p:sp>
      <p:sp>
        <p:nvSpPr>
          <p:cNvPr id="18" name="Text 16"/>
          <p:cNvSpPr txBox="1"/>
          <p:nvPr/>
        </p:nvSpPr>
        <p:spPr>
          <a:xfrm>
            <a:off x="548640" y="2176272"/>
            <a:ext cx="4297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仕組化</a:t>
            </a:r>
            <a:endParaRPr lang="en-US" sz="1300" dirty="0"/>
          </a:p>
        </p:txBody>
      </p:sp>
      <p:sp>
        <p:nvSpPr>
          <p:cNvPr id="19" name="Shape 17"/>
          <p:cNvSpPr/>
          <p:nvPr/>
        </p:nvSpPr>
        <p:spPr>
          <a:xfrm>
            <a:off x="5029200" y="2176272"/>
            <a:ext cx="6613855" cy="365760"/>
          </a:xfrm>
          <a:prstGeom prst="chevron">
            <a:avLst/>
          </a:prstGeom>
          <a:solidFill>
            <a:srgbClr val="B8652A"/>
          </a:solidFill>
          <a:ln w="12700">
            <a:solidFill>
              <a:srgbClr val="B8652A"/>
            </a:solidFill>
            <a:prstDash val="solid"/>
          </a:ln>
        </p:spPr>
      </p:sp>
      <p:sp>
        <p:nvSpPr>
          <p:cNvPr id="20" name="Text 18"/>
          <p:cNvSpPr txBox="1"/>
          <p:nvPr/>
        </p:nvSpPr>
        <p:spPr>
          <a:xfrm>
            <a:off x="5074920" y="2176272"/>
            <a:ext cx="6568135"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運用</a:t>
            </a:r>
            <a:endParaRPr lang="en-US" sz="1300" dirty="0"/>
          </a:p>
        </p:txBody>
      </p:sp>
      <p:sp>
        <p:nvSpPr>
          <p:cNvPr id="21" name="Shape 19"/>
          <p:cNvSpPr/>
          <p:nvPr/>
        </p:nvSpPr>
        <p:spPr>
          <a:xfrm>
            <a:off x="548640" y="2697480"/>
            <a:ext cx="4297680" cy="2898648"/>
          </a:xfrm>
          <a:prstGeom prst="roundRect">
            <a:avLst>
              <a:gd name="adj" fmla="val 3785"/>
            </a:avLst>
          </a:prstGeom>
          <a:solidFill>
            <a:srgbClr val="F6F9F7"/>
          </a:solidFill>
          <a:ln w="12700">
            <a:solidFill>
              <a:srgbClr val="F6F9F7"/>
            </a:solidFill>
            <a:prstDash val="solid"/>
          </a:ln>
        </p:spPr>
      </p:sp>
      <p:sp>
        <p:nvSpPr>
          <p:cNvPr id="22" name="Text 20"/>
          <p:cNvSpPr txBox="1"/>
          <p:nvPr/>
        </p:nvSpPr>
        <p:spPr>
          <a:xfrm>
            <a:off x="685800" y="2788920"/>
            <a:ext cx="4023360" cy="329184"/>
          </a:xfrm>
          <a:prstGeom prst="rect">
            <a:avLst/>
          </a:prstGeom>
          <a:noFill/>
          <a:ln/>
        </p:spPr>
        <p:txBody>
          <a:bodyPr wrap="square" lIns="0" tIns="0" rIns="0" bIns="0" rtlCol="0" anchor="t"/>
          <a:lstStyle/>
          <a:p>
            <a:pPr algn="ctr" indent="0" marL="0">
              <a:buNone/>
            </a:pPr>
            <a:r>
              <a:rPr lang="en-US" sz="1450" b="1" dirty="0">
                <a:solidFill>
                  <a:srgbClr val="46705A"/>
                </a:solidFill>
                <a:latin typeface="Meiryo UI" pitchFamily="34" charset="0"/>
                <a:ea typeface="Meiryo UI" pitchFamily="34" charset="-122"/>
                <a:cs typeface="Meiryo UI" pitchFamily="34" charset="-120"/>
              </a:rPr>
              <a:t>「WEBディレクター」</a:t>
            </a:r>
            <a:endParaRPr lang="en-US" sz="1450" dirty="0"/>
          </a:p>
        </p:txBody>
      </p:sp>
      <p:sp>
        <p:nvSpPr>
          <p:cNvPr id="23" name="Text 21"/>
          <p:cNvSpPr txBox="1"/>
          <p:nvPr/>
        </p:nvSpPr>
        <p:spPr>
          <a:xfrm>
            <a:off x="777240" y="3136392"/>
            <a:ext cx="3840480" cy="457200"/>
          </a:xfrm>
          <a:prstGeom prst="rect">
            <a:avLst/>
          </a:prstGeom>
          <a:noFill/>
          <a:ln/>
        </p:spPr>
        <p:txBody>
          <a:bodyPr wrap="square" lIns="0" tIns="0" rIns="0" bIns="0" rtlCol="0" anchor="t"/>
          <a:lstStyle/>
          <a:p>
            <a:pPr algn="ctr" indent="0" marL="0">
              <a:buNone/>
            </a:pPr>
            <a:r>
              <a:rPr lang="en-US" sz="1000" dirty="0">
                <a:solidFill>
                  <a:srgbClr val="2A322D"/>
                </a:solidFill>
                <a:latin typeface="Meiryo UI" pitchFamily="34" charset="0"/>
                <a:ea typeface="Meiryo UI" pitchFamily="34" charset="-122"/>
                <a:cs typeface="Meiryo UI" pitchFamily="34" charset="-120"/>
              </a:rPr>
              <a:t>貴社専属のディレクターが、戦略立案からチーム組成・管理までを実行。</a:t>
            </a:r>
            <a:endParaRPr lang="en-US" sz="1000" dirty="0"/>
          </a:p>
        </p:txBody>
      </p:sp>
      <p:sp>
        <p:nvSpPr>
          <p:cNvPr id="24" name="Shape 22"/>
          <p:cNvSpPr/>
          <p:nvPr/>
        </p:nvSpPr>
        <p:spPr>
          <a:xfrm>
            <a:off x="2135124" y="3611880"/>
            <a:ext cx="1124712" cy="457200"/>
          </a:xfrm>
          <a:prstGeom prst="triangle">
            <a:avLst/>
          </a:prstGeom>
          <a:solidFill>
            <a:srgbClr val="46705A"/>
          </a:solidFill>
          <a:ln w="12700">
            <a:solidFill>
              <a:srgbClr val="46705A"/>
            </a:solidFill>
            <a:prstDash val="solid"/>
          </a:ln>
        </p:spPr>
      </p:sp>
      <p:sp>
        <p:nvSpPr>
          <p:cNvPr id="25" name="Text 23"/>
          <p:cNvSpPr txBox="1"/>
          <p:nvPr/>
        </p:nvSpPr>
        <p:spPr>
          <a:xfrm>
            <a:off x="2135124" y="3817620"/>
            <a:ext cx="1124712" cy="2514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貴社</a:t>
            </a:r>
            <a:endParaRPr lang="en-US" sz="1100" dirty="0"/>
          </a:p>
        </p:txBody>
      </p:sp>
      <p:sp>
        <p:nvSpPr>
          <p:cNvPr id="26" name="Shape 24"/>
          <p:cNvSpPr/>
          <p:nvPr/>
        </p:nvSpPr>
        <p:spPr>
          <a:xfrm>
            <a:off x="2697480" y="4069080"/>
            <a:ext cx="0" cy="91440"/>
          </a:xfrm>
          <a:prstGeom prst="line">
            <a:avLst/>
          </a:prstGeom>
          <a:noFill/>
          <a:ln w="25400">
            <a:solidFill>
              <a:srgbClr val="46705A"/>
            </a:solidFill>
            <a:prstDash val="solid"/>
          </a:ln>
        </p:spPr>
      </p:sp>
      <p:sp>
        <p:nvSpPr>
          <p:cNvPr id="27" name="Shape 25"/>
          <p:cNvSpPr/>
          <p:nvPr/>
        </p:nvSpPr>
        <p:spPr>
          <a:xfrm>
            <a:off x="1722730" y="4160520"/>
            <a:ext cx="1949501" cy="329184"/>
          </a:xfrm>
          <a:prstGeom prst="roundRect">
            <a:avLst>
              <a:gd name="adj" fmla="val 16667"/>
            </a:avLst>
          </a:prstGeom>
          <a:solidFill>
            <a:srgbClr val="46705A"/>
          </a:solidFill>
          <a:ln w="12700">
            <a:solidFill>
              <a:srgbClr val="46705A"/>
            </a:solidFill>
            <a:prstDash val="solid"/>
          </a:ln>
        </p:spPr>
      </p:sp>
      <p:sp>
        <p:nvSpPr>
          <p:cNvPr id="28" name="Text 26"/>
          <p:cNvSpPr txBox="1"/>
          <p:nvPr/>
        </p:nvSpPr>
        <p:spPr>
          <a:xfrm>
            <a:off x="1722730" y="4160520"/>
            <a:ext cx="194950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外付け専属チーム</a:t>
            </a:r>
            <a:endParaRPr lang="en-US" sz="1150" dirty="0"/>
          </a:p>
        </p:txBody>
      </p:sp>
      <p:sp>
        <p:nvSpPr>
          <p:cNvPr id="29" name="Shape 27"/>
          <p:cNvSpPr/>
          <p:nvPr/>
        </p:nvSpPr>
        <p:spPr>
          <a:xfrm>
            <a:off x="1272845" y="4553712"/>
            <a:ext cx="2849270" cy="347472"/>
          </a:xfrm>
          <a:prstGeom prst="roundRect">
            <a:avLst>
              <a:gd name="adj" fmla="val 15789"/>
            </a:avLst>
          </a:prstGeom>
          <a:solidFill>
            <a:srgbClr val="EDF3EF"/>
          </a:solidFill>
          <a:ln w="12700">
            <a:solidFill>
              <a:srgbClr val="EDF3EF"/>
            </a:solidFill>
            <a:prstDash val="solid"/>
          </a:ln>
        </p:spPr>
      </p:sp>
      <p:sp>
        <p:nvSpPr>
          <p:cNvPr id="30" name="Text 28"/>
          <p:cNvSpPr txBox="1"/>
          <p:nvPr/>
        </p:nvSpPr>
        <p:spPr>
          <a:xfrm>
            <a:off x="1272845" y="4553712"/>
            <a:ext cx="2849270" cy="347472"/>
          </a:xfrm>
          <a:prstGeom prst="rect">
            <a:avLst/>
          </a:prstGeom>
          <a:noFill/>
          <a:ln/>
        </p:spPr>
        <p:txBody>
          <a:bodyPr wrap="square" lIns="0" tIns="0" rIns="0" bIns="0" rtlCol="0" anchor="ctr"/>
          <a:lstStyle/>
          <a:p>
            <a:pPr algn="ctr" indent="0" marL="0">
              <a:buNone/>
            </a:pPr>
            <a:r>
              <a:rPr lang="en-US" sz="1100" b="1" dirty="0">
                <a:solidFill>
                  <a:srgbClr val="46705A"/>
                </a:solidFill>
                <a:latin typeface="Meiryo UI" pitchFamily="34" charset="0"/>
                <a:ea typeface="Meiryo UI" pitchFamily="34" charset="-122"/>
                <a:cs typeface="Meiryo UI" pitchFamily="34" charset="-120"/>
              </a:rPr>
              <a:t>専属WEBディレクター</a:t>
            </a:r>
            <a:endParaRPr lang="en-US" sz="1100" dirty="0"/>
          </a:p>
        </p:txBody>
      </p:sp>
      <p:sp>
        <p:nvSpPr>
          <p:cNvPr id="31" name="Shape 29"/>
          <p:cNvSpPr/>
          <p:nvPr/>
        </p:nvSpPr>
        <p:spPr>
          <a:xfrm>
            <a:off x="822960" y="4965192"/>
            <a:ext cx="3749040" cy="402336"/>
          </a:xfrm>
          <a:prstGeom prst="roundRect">
            <a:avLst>
              <a:gd name="adj" fmla="val 13636"/>
            </a:avLst>
          </a:prstGeom>
          <a:solidFill>
            <a:srgbClr val="FBEFE4"/>
          </a:solidFill>
          <a:ln w="15875">
            <a:solidFill>
              <a:srgbClr val="B8652A"/>
            </a:solidFill>
            <a:prstDash val="dash"/>
          </a:ln>
        </p:spPr>
      </p:sp>
      <p:sp>
        <p:nvSpPr>
          <p:cNvPr id="32" name="Text 30"/>
          <p:cNvSpPr txBox="1"/>
          <p:nvPr/>
        </p:nvSpPr>
        <p:spPr>
          <a:xfrm>
            <a:off x="822960" y="4965192"/>
            <a:ext cx="3749040" cy="402336"/>
          </a:xfrm>
          <a:prstGeom prst="rect">
            <a:avLst/>
          </a:prstGeom>
          <a:noFill/>
          <a:ln/>
        </p:spPr>
        <p:txBody>
          <a:bodyPr wrap="square" lIns="0" tIns="0" rIns="0" bIns="0" rtlCol="0" anchor="ctr"/>
          <a:lstStyle/>
          <a:p>
            <a:pPr algn="ctr" indent="0" marL="0">
              <a:buNone/>
            </a:pPr>
            <a:r>
              <a:rPr lang="en-US" sz="1100" b="1" dirty="0">
                <a:solidFill>
                  <a:srgbClr val="2F4D3D"/>
                </a:solidFill>
                <a:latin typeface="Meiryo UI" pitchFamily="34" charset="0"/>
                <a:ea typeface="Meiryo UI" pitchFamily="34" charset="-122"/>
                <a:cs typeface="Meiryo UI" pitchFamily="34" charset="-120"/>
              </a:rPr>
              <a:t>クリエイティブスペシャリストチーム</a:t>
            </a:r>
            <a:endParaRPr lang="en-US" sz="1100" dirty="0"/>
          </a:p>
        </p:txBody>
      </p:sp>
      <p:sp>
        <p:nvSpPr>
          <p:cNvPr id="33" name="Shape 31"/>
          <p:cNvSpPr/>
          <p:nvPr/>
        </p:nvSpPr>
        <p:spPr>
          <a:xfrm>
            <a:off x="658368" y="3657600"/>
            <a:ext cx="960120" cy="566928"/>
          </a:xfrm>
          <a:prstGeom prst="roundRect">
            <a:avLst>
              <a:gd name="adj" fmla="val 12903"/>
            </a:avLst>
          </a:prstGeom>
          <a:solidFill>
            <a:srgbClr val="FFFFFF"/>
          </a:solidFill>
          <a:ln w="12700">
            <a:solidFill>
              <a:srgbClr val="B8652A"/>
            </a:solidFill>
            <a:prstDash val="solid"/>
          </a:ln>
        </p:spPr>
      </p:sp>
      <p:sp>
        <p:nvSpPr>
          <p:cNvPr id="34" name="Text 32"/>
          <p:cNvSpPr txBox="1"/>
          <p:nvPr/>
        </p:nvSpPr>
        <p:spPr>
          <a:xfrm>
            <a:off x="658368" y="3657600"/>
            <a:ext cx="960120" cy="566928"/>
          </a:xfrm>
          <a:prstGeom prst="rect">
            <a:avLst/>
          </a:prstGeom>
          <a:noFill/>
          <a:ln/>
        </p:spPr>
        <p:txBody>
          <a:bodyPr wrap="square" lIns="0" tIns="0" rIns="0" bIns="0" rtlCol="0" anchor="ctr"/>
          <a:lstStyle/>
          <a:p>
            <a:pPr algn="ctr" indent="0" marL="0">
              <a:buNone/>
            </a:pPr>
            <a:r>
              <a:rPr lang="en-US" sz="850" dirty="0">
                <a:solidFill>
                  <a:srgbClr val="2F4D3D"/>
                </a:solidFill>
                <a:latin typeface="Meiryo UI" pitchFamily="34" charset="0"/>
                <a:ea typeface="Meiryo UI" pitchFamily="34" charset="-122"/>
                <a:cs typeface="Meiryo UI" pitchFamily="34" charset="-120"/>
              </a:rPr>
              <a:t>雇用コスト</a:t>
            </a:r>
            <a:endParaRPr lang="en-US" sz="850" dirty="0"/>
          </a:p>
          <a:p>
            <a:pPr algn="ctr" indent="0" marL="0">
              <a:buNone/>
            </a:pPr>
            <a:r>
              <a:rPr lang="en-US" sz="1500" b="1" dirty="0">
                <a:solidFill>
                  <a:srgbClr val="B8652A"/>
                </a:solidFill>
                <a:latin typeface="Meiryo UI" pitchFamily="34" charset="0"/>
                <a:ea typeface="Meiryo UI" pitchFamily="34" charset="-122"/>
                <a:cs typeface="Meiryo UI" pitchFamily="34" charset="-120"/>
              </a:rPr>
              <a:t>1名分</a:t>
            </a:r>
            <a:endParaRPr lang="en-US" sz="850" dirty="0"/>
          </a:p>
        </p:txBody>
      </p:sp>
      <p:sp>
        <p:nvSpPr>
          <p:cNvPr id="35" name="Shape 33"/>
          <p:cNvSpPr/>
          <p:nvPr/>
        </p:nvSpPr>
        <p:spPr>
          <a:xfrm>
            <a:off x="5074920" y="2697480"/>
            <a:ext cx="6568135" cy="2898648"/>
          </a:xfrm>
          <a:prstGeom prst="roundRect">
            <a:avLst>
              <a:gd name="adj" fmla="val 3785"/>
            </a:avLst>
          </a:prstGeom>
          <a:solidFill>
            <a:srgbClr val="FBEFE4"/>
          </a:solidFill>
          <a:ln w="12700">
            <a:solidFill>
              <a:srgbClr val="FBEFE4"/>
            </a:solidFill>
            <a:prstDash val="solid"/>
          </a:ln>
        </p:spPr>
      </p:sp>
      <p:sp>
        <p:nvSpPr>
          <p:cNvPr id="36" name="Text 34"/>
          <p:cNvSpPr txBox="1"/>
          <p:nvPr/>
        </p:nvSpPr>
        <p:spPr>
          <a:xfrm>
            <a:off x="5257800" y="2788920"/>
            <a:ext cx="6202375" cy="329184"/>
          </a:xfrm>
          <a:prstGeom prst="rect">
            <a:avLst/>
          </a:prstGeom>
          <a:noFill/>
          <a:ln/>
        </p:spPr>
        <p:txBody>
          <a:bodyPr wrap="square" lIns="0" tIns="0" rIns="0" bIns="0" rtlCol="0" anchor="t"/>
          <a:lstStyle/>
          <a:p>
            <a:pPr algn="ctr" indent="0" marL="0">
              <a:buNone/>
            </a:pPr>
            <a:r>
              <a:rPr lang="en-US" sz="1450" b="1" dirty="0">
                <a:solidFill>
                  <a:srgbClr val="B8652A"/>
                </a:solidFill>
                <a:latin typeface="Meiryo UI" pitchFamily="34" charset="0"/>
                <a:ea typeface="Meiryo UI" pitchFamily="34" charset="-122"/>
                <a:cs typeface="Meiryo UI" pitchFamily="34" charset="-120"/>
              </a:rPr>
              <a:t>「スペシャリスト」</a:t>
            </a:r>
            <a:endParaRPr lang="en-US" sz="1450" dirty="0"/>
          </a:p>
        </p:txBody>
      </p:sp>
      <p:sp>
        <p:nvSpPr>
          <p:cNvPr id="37" name="Text 35"/>
          <p:cNvSpPr txBox="1"/>
          <p:nvPr/>
        </p:nvSpPr>
        <p:spPr>
          <a:xfrm>
            <a:off x="5349240" y="3136392"/>
            <a:ext cx="6019495" cy="2743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各マーケティング施策に精通したメンバーを、戦略に合わせてアサイン</a:t>
            </a:r>
            <a:endParaRPr lang="en-US" sz="1050" dirty="0"/>
          </a:p>
        </p:txBody>
      </p:sp>
      <p:sp>
        <p:nvSpPr>
          <p:cNvPr id="38" name="Shape 36"/>
          <p:cNvSpPr/>
          <p:nvPr/>
        </p:nvSpPr>
        <p:spPr>
          <a:xfrm>
            <a:off x="5349240" y="3502152"/>
            <a:ext cx="2941168" cy="365760"/>
          </a:xfrm>
          <a:prstGeom prst="roundRect">
            <a:avLst>
              <a:gd name="adj" fmla="val 12500"/>
            </a:avLst>
          </a:prstGeom>
          <a:solidFill>
            <a:srgbClr val="FFFFFF"/>
          </a:solidFill>
          <a:ln w="12700">
            <a:solidFill>
              <a:srgbClr val="FFFFFF"/>
            </a:solidFill>
            <a:prstDash val="solid"/>
          </a:ln>
        </p:spPr>
      </p:sp>
      <p:pic>
        <p:nvPicPr>
          <p:cNvPr id="39" name="Image 0" descr="preencoded.png">    </p:cNvPr>
          <p:cNvPicPr>
            <a:picLocks noChangeAspect="1"/>
          </p:cNvPicPr>
          <p:nvPr/>
        </p:nvPicPr>
        <p:blipFill>
          <a:blip r:embed="rId1"/>
          <a:stretch>
            <a:fillRect/>
          </a:stretch>
        </p:blipFill>
        <p:spPr>
          <a:xfrm>
            <a:off x="5458968" y="3575304"/>
            <a:ext cx="219456" cy="219456"/>
          </a:xfrm>
          <a:prstGeom prst="rect">
            <a:avLst/>
          </a:prstGeom>
        </p:spPr>
      </p:pic>
      <p:sp>
        <p:nvSpPr>
          <p:cNvPr id="40" name="Text 37"/>
          <p:cNvSpPr txBox="1"/>
          <p:nvPr/>
        </p:nvSpPr>
        <p:spPr>
          <a:xfrm>
            <a:off x="5760720" y="3502152"/>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HP・LP制作／ECサイト</a:t>
            </a:r>
            <a:endParaRPr lang="en-US" sz="1050" dirty="0"/>
          </a:p>
        </p:txBody>
      </p:sp>
      <p:sp>
        <p:nvSpPr>
          <p:cNvPr id="41" name="Shape 38"/>
          <p:cNvSpPr/>
          <p:nvPr/>
        </p:nvSpPr>
        <p:spPr>
          <a:xfrm>
            <a:off x="8427568" y="3502152"/>
            <a:ext cx="2941168" cy="365760"/>
          </a:xfrm>
          <a:prstGeom prst="roundRect">
            <a:avLst>
              <a:gd name="adj" fmla="val 12500"/>
            </a:avLst>
          </a:prstGeom>
          <a:solidFill>
            <a:srgbClr val="FFFFFF"/>
          </a:solidFill>
          <a:ln w="12700">
            <a:solidFill>
              <a:srgbClr val="FFFFFF"/>
            </a:solidFill>
            <a:prstDash val="solid"/>
          </a:ln>
        </p:spPr>
      </p:sp>
      <p:pic>
        <p:nvPicPr>
          <p:cNvPr id="42" name="Image 1" descr="preencoded.png">    </p:cNvPr>
          <p:cNvPicPr>
            <a:picLocks noChangeAspect="1"/>
          </p:cNvPicPr>
          <p:nvPr/>
        </p:nvPicPr>
        <p:blipFill>
          <a:blip r:embed="rId2"/>
          <a:stretch>
            <a:fillRect/>
          </a:stretch>
        </p:blipFill>
        <p:spPr>
          <a:xfrm>
            <a:off x="8537296" y="3575304"/>
            <a:ext cx="219456" cy="219456"/>
          </a:xfrm>
          <a:prstGeom prst="rect">
            <a:avLst/>
          </a:prstGeom>
        </p:spPr>
      </p:pic>
      <p:sp>
        <p:nvSpPr>
          <p:cNvPr id="43" name="Text 39"/>
          <p:cNvSpPr txBox="1"/>
          <p:nvPr/>
        </p:nvSpPr>
        <p:spPr>
          <a:xfrm>
            <a:off x="8839048" y="3502152"/>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広告バナー・チラシ</a:t>
            </a:r>
            <a:endParaRPr lang="en-US" sz="1050" dirty="0"/>
          </a:p>
        </p:txBody>
      </p:sp>
      <p:sp>
        <p:nvSpPr>
          <p:cNvPr id="44" name="Shape 40"/>
          <p:cNvSpPr/>
          <p:nvPr/>
        </p:nvSpPr>
        <p:spPr>
          <a:xfrm>
            <a:off x="5349240" y="3931920"/>
            <a:ext cx="2941168" cy="365760"/>
          </a:xfrm>
          <a:prstGeom prst="roundRect">
            <a:avLst>
              <a:gd name="adj" fmla="val 12500"/>
            </a:avLst>
          </a:prstGeom>
          <a:solidFill>
            <a:srgbClr val="FFFFFF"/>
          </a:solidFill>
          <a:ln w="12700">
            <a:solidFill>
              <a:srgbClr val="FFFFFF"/>
            </a:solidFill>
            <a:prstDash val="solid"/>
          </a:ln>
        </p:spPr>
      </p:sp>
      <p:pic>
        <p:nvPicPr>
          <p:cNvPr id="45" name="Image 2" descr="preencoded.png">    </p:cNvPr>
          <p:cNvPicPr>
            <a:picLocks noChangeAspect="1"/>
          </p:cNvPicPr>
          <p:nvPr/>
        </p:nvPicPr>
        <p:blipFill>
          <a:blip r:embed="rId3"/>
          <a:stretch>
            <a:fillRect/>
          </a:stretch>
        </p:blipFill>
        <p:spPr>
          <a:xfrm>
            <a:off x="5458968" y="4005072"/>
            <a:ext cx="219456" cy="219456"/>
          </a:xfrm>
          <a:prstGeom prst="rect">
            <a:avLst/>
          </a:prstGeom>
        </p:spPr>
      </p:pic>
      <p:sp>
        <p:nvSpPr>
          <p:cNvPr id="46" name="Text 41"/>
          <p:cNvSpPr txBox="1"/>
          <p:nvPr/>
        </p:nvSpPr>
        <p:spPr>
          <a:xfrm>
            <a:off x="5760720" y="3931920"/>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Google広告／Yahoo!広告</a:t>
            </a:r>
            <a:endParaRPr lang="en-US" sz="1050" dirty="0"/>
          </a:p>
        </p:txBody>
      </p:sp>
      <p:sp>
        <p:nvSpPr>
          <p:cNvPr id="47" name="Shape 42"/>
          <p:cNvSpPr/>
          <p:nvPr/>
        </p:nvSpPr>
        <p:spPr>
          <a:xfrm>
            <a:off x="8427568" y="3931920"/>
            <a:ext cx="2941168" cy="365760"/>
          </a:xfrm>
          <a:prstGeom prst="roundRect">
            <a:avLst>
              <a:gd name="adj" fmla="val 12500"/>
            </a:avLst>
          </a:prstGeom>
          <a:solidFill>
            <a:srgbClr val="FFFFFF"/>
          </a:solidFill>
          <a:ln w="12700">
            <a:solidFill>
              <a:srgbClr val="FFFFFF"/>
            </a:solidFill>
            <a:prstDash val="solid"/>
          </a:ln>
        </p:spPr>
      </p:sp>
      <p:pic>
        <p:nvPicPr>
          <p:cNvPr id="48" name="Image 3" descr="preencoded.png">    </p:cNvPr>
          <p:cNvPicPr>
            <a:picLocks noChangeAspect="1"/>
          </p:cNvPicPr>
          <p:nvPr/>
        </p:nvPicPr>
        <p:blipFill>
          <a:blip r:embed="rId4"/>
          <a:stretch>
            <a:fillRect/>
          </a:stretch>
        </p:blipFill>
        <p:spPr>
          <a:xfrm>
            <a:off x="8537296" y="4005072"/>
            <a:ext cx="219456" cy="219456"/>
          </a:xfrm>
          <a:prstGeom prst="rect">
            <a:avLst/>
          </a:prstGeom>
        </p:spPr>
      </p:pic>
      <p:sp>
        <p:nvSpPr>
          <p:cNvPr id="49" name="Text 43"/>
          <p:cNvSpPr txBox="1"/>
          <p:nvPr/>
        </p:nvSpPr>
        <p:spPr>
          <a:xfrm>
            <a:off x="8839048" y="3931920"/>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SEO</a:t>
            </a:r>
            <a:endParaRPr lang="en-US" sz="1050" dirty="0"/>
          </a:p>
        </p:txBody>
      </p:sp>
      <p:sp>
        <p:nvSpPr>
          <p:cNvPr id="50" name="Shape 44"/>
          <p:cNvSpPr/>
          <p:nvPr/>
        </p:nvSpPr>
        <p:spPr>
          <a:xfrm>
            <a:off x="5349240" y="4361688"/>
            <a:ext cx="2941168" cy="365760"/>
          </a:xfrm>
          <a:prstGeom prst="roundRect">
            <a:avLst>
              <a:gd name="adj" fmla="val 12500"/>
            </a:avLst>
          </a:prstGeom>
          <a:solidFill>
            <a:srgbClr val="FFFFFF"/>
          </a:solidFill>
          <a:ln w="12700">
            <a:solidFill>
              <a:srgbClr val="FFFFFF"/>
            </a:solidFill>
            <a:prstDash val="solid"/>
          </a:ln>
        </p:spPr>
      </p:sp>
      <p:pic>
        <p:nvPicPr>
          <p:cNvPr id="51" name="Image 4" descr="preencoded.png">    </p:cNvPr>
          <p:cNvPicPr>
            <a:picLocks noChangeAspect="1"/>
          </p:cNvPicPr>
          <p:nvPr/>
        </p:nvPicPr>
        <p:blipFill>
          <a:blip r:embed="rId5"/>
          <a:stretch>
            <a:fillRect/>
          </a:stretch>
        </p:blipFill>
        <p:spPr>
          <a:xfrm>
            <a:off x="5458968" y="4434840"/>
            <a:ext cx="219456" cy="219456"/>
          </a:xfrm>
          <a:prstGeom prst="rect">
            <a:avLst/>
          </a:prstGeom>
        </p:spPr>
      </p:pic>
      <p:sp>
        <p:nvSpPr>
          <p:cNvPr id="52" name="Text 45"/>
          <p:cNvSpPr txBox="1"/>
          <p:nvPr/>
        </p:nvSpPr>
        <p:spPr>
          <a:xfrm>
            <a:off x="5760720" y="4361688"/>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YouTube運用代行・広告</a:t>
            </a:r>
            <a:endParaRPr lang="en-US" sz="1050" dirty="0"/>
          </a:p>
        </p:txBody>
      </p:sp>
      <p:sp>
        <p:nvSpPr>
          <p:cNvPr id="53" name="Shape 46"/>
          <p:cNvSpPr/>
          <p:nvPr/>
        </p:nvSpPr>
        <p:spPr>
          <a:xfrm>
            <a:off x="8427568" y="4361688"/>
            <a:ext cx="2941168" cy="365760"/>
          </a:xfrm>
          <a:prstGeom prst="roundRect">
            <a:avLst>
              <a:gd name="adj" fmla="val 12500"/>
            </a:avLst>
          </a:prstGeom>
          <a:solidFill>
            <a:srgbClr val="FFFFFF"/>
          </a:solidFill>
          <a:ln w="12700">
            <a:solidFill>
              <a:srgbClr val="FFFFFF"/>
            </a:solidFill>
            <a:prstDash val="solid"/>
          </a:ln>
        </p:spPr>
      </p:sp>
      <p:pic>
        <p:nvPicPr>
          <p:cNvPr id="54" name="Image 5" descr="preencoded.png">    </p:cNvPr>
          <p:cNvPicPr>
            <a:picLocks noChangeAspect="1"/>
          </p:cNvPicPr>
          <p:nvPr/>
        </p:nvPicPr>
        <p:blipFill>
          <a:blip r:embed="rId6"/>
          <a:stretch>
            <a:fillRect/>
          </a:stretch>
        </p:blipFill>
        <p:spPr>
          <a:xfrm>
            <a:off x="8537296" y="4434840"/>
            <a:ext cx="219456" cy="219456"/>
          </a:xfrm>
          <a:prstGeom prst="rect">
            <a:avLst/>
          </a:prstGeom>
        </p:spPr>
      </p:pic>
      <p:sp>
        <p:nvSpPr>
          <p:cNvPr id="55" name="Text 47"/>
          <p:cNvSpPr txBox="1"/>
          <p:nvPr/>
        </p:nvSpPr>
        <p:spPr>
          <a:xfrm>
            <a:off x="8839048" y="4361688"/>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TikTok運用代行・広告</a:t>
            </a:r>
            <a:endParaRPr lang="en-US" sz="1050" dirty="0"/>
          </a:p>
        </p:txBody>
      </p:sp>
      <p:sp>
        <p:nvSpPr>
          <p:cNvPr id="56" name="Shape 48"/>
          <p:cNvSpPr/>
          <p:nvPr/>
        </p:nvSpPr>
        <p:spPr>
          <a:xfrm>
            <a:off x="5349240" y="4791456"/>
            <a:ext cx="2941168" cy="365760"/>
          </a:xfrm>
          <a:prstGeom prst="roundRect">
            <a:avLst>
              <a:gd name="adj" fmla="val 12500"/>
            </a:avLst>
          </a:prstGeom>
          <a:solidFill>
            <a:srgbClr val="FFFFFF"/>
          </a:solidFill>
          <a:ln w="12700">
            <a:solidFill>
              <a:srgbClr val="FFFFFF"/>
            </a:solidFill>
            <a:prstDash val="solid"/>
          </a:ln>
        </p:spPr>
      </p:sp>
      <p:pic>
        <p:nvPicPr>
          <p:cNvPr id="57" name="Image 6" descr="preencoded.png">    </p:cNvPr>
          <p:cNvPicPr>
            <a:picLocks noChangeAspect="1"/>
          </p:cNvPicPr>
          <p:nvPr/>
        </p:nvPicPr>
        <p:blipFill>
          <a:blip r:embed="rId7"/>
          <a:stretch>
            <a:fillRect/>
          </a:stretch>
        </p:blipFill>
        <p:spPr>
          <a:xfrm>
            <a:off x="5458968" y="4864608"/>
            <a:ext cx="219456" cy="219456"/>
          </a:xfrm>
          <a:prstGeom prst="rect">
            <a:avLst/>
          </a:prstGeom>
        </p:spPr>
      </p:pic>
      <p:sp>
        <p:nvSpPr>
          <p:cNvPr id="58" name="Text 49"/>
          <p:cNvSpPr txBox="1"/>
          <p:nvPr/>
        </p:nvSpPr>
        <p:spPr>
          <a:xfrm>
            <a:off x="5760720" y="4791456"/>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Instagram運用代行・広告</a:t>
            </a:r>
            <a:endParaRPr lang="en-US" sz="1050" dirty="0"/>
          </a:p>
        </p:txBody>
      </p:sp>
      <p:sp>
        <p:nvSpPr>
          <p:cNvPr id="59" name="Shape 50"/>
          <p:cNvSpPr/>
          <p:nvPr/>
        </p:nvSpPr>
        <p:spPr>
          <a:xfrm>
            <a:off x="8427568" y="4791456"/>
            <a:ext cx="2941168" cy="365760"/>
          </a:xfrm>
          <a:prstGeom prst="roundRect">
            <a:avLst>
              <a:gd name="adj" fmla="val 12500"/>
            </a:avLst>
          </a:prstGeom>
          <a:solidFill>
            <a:srgbClr val="FFFFFF"/>
          </a:solidFill>
          <a:ln w="12700">
            <a:solidFill>
              <a:srgbClr val="FFFFFF"/>
            </a:solidFill>
            <a:prstDash val="solid"/>
          </a:ln>
        </p:spPr>
      </p:sp>
      <p:pic>
        <p:nvPicPr>
          <p:cNvPr id="60" name="Image 7" descr="preencoded.png">    </p:cNvPr>
          <p:cNvPicPr>
            <a:picLocks noChangeAspect="1"/>
          </p:cNvPicPr>
          <p:nvPr/>
        </p:nvPicPr>
        <p:blipFill>
          <a:blip r:embed="rId8"/>
          <a:stretch>
            <a:fillRect/>
          </a:stretch>
        </p:blipFill>
        <p:spPr>
          <a:xfrm>
            <a:off x="8537296" y="4864608"/>
            <a:ext cx="219456" cy="219456"/>
          </a:xfrm>
          <a:prstGeom prst="rect">
            <a:avLst/>
          </a:prstGeom>
        </p:spPr>
      </p:pic>
      <p:sp>
        <p:nvSpPr>
          <p:cNvPr id="61" name="Text 51"/>
          <p:cNvSpPr txBox="1"/>
          <p:nvPr/>
        </p:nvSpPr>
        <p:spPr>
          <a:xfrm>
            <a:off x="8839048" y="4791456"/>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MEO</a:t>
            </a:r>
            <a:endParaRPr lang="en-US" sz="1050" dirty="0"/>
          </a:p>
        </p:txBody>
      </p:sp>
      <p:sp>
        <p:nvSpPr>
          <p:cNvPr id="62" name="Shape 52"/>
          <p:cNvSpPr/>
          <p:nvPr/>
        </p:nvSpPr>
        <p:spPr>
          <a:xfrm>
            <a:off x="5349240" y="5221224"/>
            <a:ext cx="2941168" cy="365760"/>
          </a:xfrm>
          <a:prstGeom prst="roundRect">
            <a:avLst>
              <a:gd name="adj" fmla="val 12500"/>
            </a:avLst>
          </a:prstGeom>
          <a:solidFill>
            <a:srgbClr val="FFFFFF"/>
          </a:solidFill>
          <a:ln w="12700">
            <a:solidFill>
              <a:srgbClr val="FFFFFF"/>
            </a:solidFill>
            <a:prstDash val="solid"/>
          </a:ln>
        </p:spPr>
      </p:sp>
      <p:pic>
        <p:nvPicPr>
          <p:cNvPr id="63" name="Image 8" descr="preencoded.png">    </p:cNvPr>
          <p:cNvPicPr>
            <a:picLocks noChangeAspect="1"/>
          </p:cNvPicPr>
          <p:nvPr/>
        </p:nvPicPr>
        <p:blipFill>
          <a:blip r:embed="rId9"/>
          <a:stretch>
            <a:fillRect/>
          </a:stretch>
        </p:blipFill>
        <p:spPr>
          <a:xfrm>
            <a:off x="5458968" y="5294376"/>
            <a:ext cx="219456" cy="219456"/>
          </a:xfrm>
          <a:prstGeom prst="rect">
            <a:avLst/>
          </a:prstGeom>
        </p:spPr>
      </p:pic>
      <p:sp>
        <p:nvSpPr>
          <p:cNvPr id="64" name="Text 53"/>
          <p:cNvSpPr txBox="1"/>
          <p:nvPr/>
        </p:nvSpPr>
        <p:spPr>
          <a:xfrm>
            <a:off x="5760720" y="5221224"/>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アフィリエイト</a:t>
            </a:r>
            <a:endParaRPr lang="en-US" sz="1050" dirty="0"/>
          </a:p>
        </p:txBody>
      </p:sp>
      <p:sp>
        <p:nvSpPr>
          <p:cNvPr id="65" name="Shape 54"/>
          <p:cNvSpPr/>
          <p:nvPr/>
        </p:nvSpPr>
        <p:spPr>
          <a:xfrm>
            <a:off x="8427568" y="5221224"/>
            <a:ext cx="2941168" cy="365760"/>
          </a:xfrm>
          <a:prstGeom prst="roundRect">
            <a:avLst>
              <a:gd name="adj" fmla="val 12500"/>
            </a:avLst>
          </a:prstGeom>
          <a:solidFill>
            <a:srgbClr val="FFFFFF"/>
          </a:solidFill>
          <a:ln w="12700">
            <a:solidFill>
              <a:srgbClr val="FFFFFF"/>
            </a:solidFill>
            <a:prstDash val="solid"/>
          </a:ln>
        </p:spPr>
      </p:sp>
      <p:pic>
        <p:nvPicPr>
          <p:cNvPr id="66" name="Image 9" descr="preencoded.png">    </p:cNvPr>
          <p:cNvPicPr>
            <a:picLocks noChangeAspect="1"/>
          </p:cNvPicPr>
          <p:nvPr/>
        </p:nvPicPr>
        <p:blipFill>
          <a:blip r:embed="rId10"/>
          <a:stretch>
            <a:fillRect/>
          </a:stretch>
        </p:blipFill>
        <p:spPr>
          <a:xfrm>
            <a:off x="8537296" y="5294376"/>
            <a:ext cx="219456" cy="219456"/>
          </a:xfrm>
          <a:prstGeom prst="rect">
            <a:avLst/>
          </a:prstGeom>
        </p:spPr>
      </p:pic>
      <p:sp>
        <p:nvSpPr>
          <p:cNvPr id="67" name="Text 55"/>
          <p:cNvSpPr txBox="1"/>
          <p:nvPr/>
        </p:nvSpPr>
        <p:spPr>
          <a:xfrm>
            <a:off x="8839048" y="5221224"/>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メルマガ</a:t>
            </a:r>
            <a:endParaRPr lang="en-US" sz="1050" dirty="0"/>
          </a:p>
        </p:txBody>
      </p:sp>
      <p:sp>
        <p:nvSpPr>
          <p:cNvPr id="68" name="Shape 56"/>
          <p:cNvSpPr/>
          <p:nvPr/>
        </p:nvSpPr>
        <p:spPr>
          <a:xfrm>
            <a:off x="548640" y="5715000"/>
            <a:ext cx="11094415" cy="621792"/>
          </a:xfrm>
          <a:prstGeom prst="roundRect">
            <a:avLst>
              <a:gd name="adj" fmla="val 17647"/>
            </a:avLst>
          </a:prstGeom>
          <a:solidFill>
            <a:srgbClr val="EDF3EF"/>
          </a:solidFill>
          <a:ln w="12700">
            <a:solidFill>
              <a:srgbClr val="EDF3EF"/>
            </a:solidFill>
            <a:prstDash val="solid"/>
          </a:ln>
        </p:spPr>
      </p:sp>
      <p:sp>
        <p:nvSpPr>
          <p:cNvPr id="69" name="Shape 57"/>
          <p:cNvSpPr/>
          <p:nvPr/>
        </p:nvSpPr>
        <p:spPr>
          <a:xfrm>
            <a:off x="685800" y="5815584"/>
            <a:ext cx="420624" cy="420624"/>
          </a:xfrm>
          <a:prstGeom prst="ellipse">
            <a:avLst/>
          </a:prstGeom>
          <a:solidFill>
            <a:srgbClr val="46705A"/>
          </a:solidFill>
          <a:ln w="12700">
            <a:solidFill>
              <a:srgbClr val="46705A"/>
            </a:solidFill>
            <a:prstDash val="solid"/>
          </a:ln>
        </p:spPr>
      </p:sp>
      <p:pic>
        <p:nvPicPr>
          <p:cNvPr id="70" name="Image 10" descr="preencoded.png">    </p:cNvPr>
          <p:cNvPicPr>
            <a:picLocks noChangeAspect="1"/>
          </p:cNvPicPr>
          <p:nvPr/>
        </p:nvPicPr>
        <p:blipFill>
          <a:blip r:embed="rId11"/>
          <a:stretch>
            <a:fillRect/>
          </a:stretch>
        </p:blipFill>
        <p:spPr>
          <a:xfrm>
            <a:off x="795162" y="5924946"/>
            <a:ext cx="201900" cy="201900"/>
          </a:xfrm>
          <a:prstGeom prst="rect">
            <a:avLst/>
          </a:prstGeom>
        </p:spPr>
      </p:pic>
      <p:sp>
        <p:nvSpPr>
          <p:cNvPr id="71" name="Text 58"/>
          <p:cNvSpPr txBox="1"/>
          <p:nvPr/>
        </p:nvSpPr>
        <p:spPr>
          <a:xfrm>
            <a:off x="1234440" y="5715000"/>
            <a:ext cx="10271455" cy="621792"/>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貴法人での活用イメージ：</a:t>
            </a:r>
            <a:pPr indent="0" marL="0">
              <a:buNone/>
            </a:pPr>
            <a:r>
              <a:rPr lang="en-US" sz="1150" dirty="0">
                <a:solidFill>
                  <a:srgbClr val="2A322D"/>
                </a:solidFill>
                <a:latin typeface="Meiryo UI" pitchFamily="34" charset="0"/>
                <a:ea typeface="Meiryo UI" pitchFamily="34" charset="-122"/>
                <a:cs typeface="Meiryo UI" pitchFamily="34" charset="-120"/>
              </a:rPr>
              <a:t>HPを見学・相談の入口に作り直し、Instagram運用とGoogleマップ（MEO）の整備を代行。地域メディアへの掲載に使える紹介文・画像もあわせて制作します。</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 3</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人事支援［HRユニット］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25</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243584"/>
            <a:ext cx="612648" cy="274320"/>
          </a:xfrm>
          <a:prstGeom prst="roundRect">
            <a:avLst>
              <a:gd name="adj" fmla="val 26667"/>
            </a:avLst>
          </a:prstGeom>
          <a:solidFill>
            <a:srgbClr val="EDF3EF"/>
          </a:solidFill>
          <a:ln w="12700">
            <a:solidFill>
              <a:srgbClr val="EDF3EF"/>
            </a:solidFill>
            <a:prstDash val="solid"/>
          </a:ln>
        </p:spPr>
      </p:sp>
      <p:sp>
        <p:nvSpPr>
          <p:cNvPr id="7" name="Text 5"/>
          <p:cNvSpPr txBox="1"/>
          <p:nvPr/>
        </p:nvSpPr>
        <p:spPr>
          <a:xfrm>
            <a:off x="548640" y="1243584"/>
            <a:ext cx="612648"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人事</a:t>
            </a:r>
            <a:endParaRPr lang="en-US" sz="1000" dirty="0"/>
          </a:p>
        </p:txBody>
      </p:sp>
      <p:sp>
        <p:nvSpPr>
          <p:cNvPr id="8" name="Shape 6"/>
          <p:cNvSpPr/>
          <p:nvPr/>
        </p:nvSpPr>
        <p:spPr>
          <a:xfrm>
            <a:off x="1271016" y="1243584"/>
            <a:ext cx="1636776" cy="274320"/>
          </a:xfrm>
          <a:prstGeom prst="roundRect">
            <a:avLst>
              <a:gd name="adj" fmla="val 26667"/>
            </a:avLst>
          </a:prstGeom>
          <a:solidFill>
            <a:srgbClr val="EDF3EF"/>
          </a:solidFill>
          <a:ln w="12700">
            <a:solidFill>
              <a:srgbClr val="EDF3EF"/>
            </a:solidFill>
            <a:prstDash val="solid"/>
          </a:ln>
        </p:spPr>
      </p:sp>
      <p:sp>
        <p:nvSpPr>
          <p:cNvPr id="9" name="Text 7"/>
          <p:cNvSpPr txBox="1"/>
          <p:nvPr/>
        </p:nvSpPr>
        <p:spPr>
          <a:xfrm>
            <a:off x="1271016" y="1243584"/>
            <a:ext cx="1636776"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アウトソーシング型</a:t>
            </a:r>
            <a:endParaRPr lang="en-US" sz="1000" dirty="0"/>
          </a:p>
        </p:txBody>
      </p:sp>
      <p:sp>
        <p:nvSpPr>
          <p:cNvPr id="10" name="Text 8"/>
          <p:cNvSpPr txBox="1"/>
          <p:nvPr/>
        </p:nvSpPr>
        <p:spPr>
          <a:xfrm>
            <a:off x="548640" y="1609344"/>
            <a:ext cx="11094415" cy="502920"/>
          </a:xfrm>
          <a:prstGeom prst="rect">
            <a:avLst/>
          </a:prstGeom>
          <a:noFill/>
          <a:ln/>
        </p:spPr>
        <p:txBody>
          <a:bodyPr wrap="square" lIns="0" tIns="0" rIns="0" bIns="0" rtlCol="0" anchor="ctr"/>
          <a:lstStyle/>
          <a:p>
            <a:pPr algn="ctr" indent="0" marL="0">
              <a:buNone/>
            </a:pPr>
            <a:r>
              <a:rPr lang="en-US" sz="1300" b="1" dirty="0">
                <a:solidFill>
                  <a:srgbClr val="2F4D3D"/>
                </a:solidFill>
                <a:latin typeface="Meiryo UI" pitchFamily="34" charset="0"/>
                <a:ea typeface="Meiryo UI" pitchFamily="34" charset="-122"/>
                <a:cs typeface="Meiryo UI" pitchFamily="34" charset="-120"/>
              </a:rPr>
              <a:t>当社の「人事チーム」×「スペシャリスト」が人事業務の成功パターンを見つけ、「再現性のある人事業務の仕組み」として納品します。</a:t>
            </a:r>
            <a:endParaRPr lang="en-US" sz="1300" dirty="0"/>
          </a:p>
        </p:txBody>
      </p:sp>
      <p:sp>
        <p:nvSpPr>
          <p:cNvPr id="11" name="Shape 9"/>
          <p:cNvSpPr/>
          <p:nvPr/>
        </p:nvSpPr>
        <p:spPr>
          <a:xfrm>
            <a:off x="548640" y="2176272"/>
            <a:ext cx="4572000" cy="365760"/>
          </a:xfrm>
          <a:prstGeom prst="homePlate">
            <a:avLst/>
          </a:prstGeom>
          <a:solidFill>
            <a:srgbClr val="46705A"/>
          </a:solidFill>
          <a:ln w="12700">
            <a:solidFill>
              <a:srgbClr val="46705A"/>
            </a:solidFill>
            <a:prstDash val="solid"/>
          </a:ln>
        </p:spPr>
      </p:sp>
      <p:sp>
        <p:nvSpPr>
          <p:cNvPr id="12" name="Text 10"/>
          <p:cNvSpPr txBox="1"/>
          <p:nvPr/>
        </p:nvSpPr>
        <p:spPr>
          <a:xfrm>
            <a:off x="548640" y="2176272"/>
            <a:ext cx="4297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仕組化</a:t>
            </a:r>
            <a:endParaRPr lang="en-US" sz="1300" dirty="0"/>
          </a:p>
        </p:txBody>
      </p:sp>
      <p:sp>
        <p:nvSpPr>
          <p:cNvPr id="13" name="Shape 11"/>
          <p:cNvSpPr/>
          <p:nvPr/>
        </p:nvSpPr>
        <p:spPr>
          <a:xfrm>
            <a:off x="5029200" y="2176272"/>
            <a:ext cx="6613855" cy="365760"/>
          </a:xfrm>
          <a:prstGeom prst="chevron">
            <a:avLst/>
          </a:prstGeom>
          <a:solidFill>
            <a:srgbClr val="B8652A"/>
          </a:solidFill>
          <a:ln w="12700">
            <a:solidFill>
              <a:srgbClr val="B8652A"/>
            </a:solidFill>
            <a:prstDash val="solid"/>
          </a:ln>
        </p:spPr>
      </p:sp>
      <p:sp>
        <p:nvSpPr>
          <p:cNvPr id="14" name="Text 12"/>
          <p:cNvSpPr txBox="1"/>
          <p:nvPr/>
        </p:nvSpPr>
        <p:spPr>
          <a:xfrm>
            <a:off x="5074920" y="2176272"/>
            <a:ext cx="6568135"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運用</a:t>
            </a:r>
            <a:endParaRPr lang="en-US" sz="1300" dirty="0"/>
          </a:p>
        </p:txBody>
      </p:sp>
      <p:sp>
        <p:nvSpPr>
          <p:cNvPr id="15" name="Shape 13"/>
          <p:cNvSpPr/>
          <p:nvPr/>
        </p:nvSpPr>
        <p:spPr>
          <a:xfrm>
            <a:off x="548640" y="2697480"/>
            <a:ext cx="4297680" cy="2898648"/>
          </a:xfrm>
          <a:prstGeom prst="roundRect">
            <a:avLst>
              <a:gd name="adj" fmla="val 3785"/>
            </a:avLst>
          </a:prstGeom>
          <a:solidFill>
            <a:srgbClr val="F6F9F7"/>
          </a:solidFill>
          <a:ln w="12700">
            <a:solidFill>
              <a:srgbClr val="F6F9F7"/>
            </a:solidFill>
            <a:prstDash val="solid"/>
          </a:ln>
        </p:spPr>
      </p:sp>
      <p:sp>
        <p:nvSpPr>
          <p:cNvPr id="16" name="Text 14"/>
          <p:cNvSpPr txBox="1"/>
          <p:nvPr/>
        </p:nvSpPr>
        <p:spPr>
          <a:xfrm>
            <a:off x="685800" y="2788920"/>
            <a:ext cx="4023360" cy="329184"/>
          </a:xfrm>
          <a:prstGeom prst="rect">
            <a:avLst/>
          </a:prstGeom>
          <a:noFill/>
          <a:ln/>
        </p:spPr>
        <p:txBody>
          <a:bodyPr wrap="square" lIns="0" tIns="0" rIns="0" bIns="0" rtlCol="0" anchor="t"/>
          <a:lstStyle/>
          <a:p>
            <a:pPr algn="ctr" indent="0" marL="0">
              <a:buNone/>
            </a:pPr>
            <a:r>
              <a:rPr lang="en-US" sz="1450" b="1" dirty="0">
                <a:solidFill>
                  <a:srgbClr val="46705A"/>
                </a:solidFill>
                <a:latin typeface="Meiryo UI" pitchFamily="34" charset="0"/>
                <a:ea typeface="Meiryo UI" pitchFamily="34" charset="-122"/>
                <a:cs typeface="Meiryo UI" pitchFamily="34" charset="-120"/>
              </a:rPr>
              <a:t>「人事チーム」</a:t>
            </a:r>
            <a:endParaRPr lang="en-US" sz="1450" dirty="0"/>
          </a:p>
        </p:txBody>
      </p:sp>
      <p:sp>
        <p:nvSpPr>
          <p:cNvPr id="17" name="Text 15"/>
          <p:cNvSpPr txBox="1"/>
          <p:nvPr/>
        </p:nvSpPr>
        <p:spPr>
          <a:xfrm>
            <a:off x="777240" y="3136392"/>
            <a:ext cx="3840480" cy="457200"/>
          </a:xfrm>
          <a:prstGeom prst="rect">
            <a:avLst/>
          </a:prstGeom>
          <a:noFill/>
          <a:ln/>
        </p:spPr>
        <p:txBody>
          <a:bodyPr wrap="square" lIns="0" tIns="0" rIns="0" bIns="0" rtlCol="0" anchor="t"/>
          <a:lstStyle/>
          <a:p>
            <a:pPr algn="ctr" indent="0" marL="0">
              <a:buNone/>
            </a:pPr>
            <a:r>
              <a:rPr lang="en-US" sz="1000" dirty="0">
                <a:solidFill>
                  <a:srgbClr val="2A322D"/>
                </a:solidFill>
                <a:latin typeface="Meiryo UI" pitchFamily="34" charset="0"/>
                <a:ea typeface="Meiryo UI" pitchFamily="34" charset="-122"/>
                <a:cs typeface="Meiryo UI" pitchFamily="34" charset="-120"/>
              </a:rPr>
              <a:t>貴社専属の人事マネージャーが、課題解決のために戦略立案、実務チームを組成。</a:t>
            </a:r>
            <a:endParaRPr lang="en-US" sz="1000" dirty="0"/>
          </a:p>
        </p:txBody>
      </p:sp>
      <p:sp>
        <p:nvSpPr>
          <p:cNvPr id="18" name="Shape 16"/>
          <p:cNvSpPr/>
          <p:nvPr/>
        </p:nvSpPr>
        <p:spPr>
          <a:xfrm>
            <a:off x="2135124" y="3611880"/>
            <a:ext cx="1124712" cy="457200"/>
          </a:xfrm>
          <a:prstGeom prst="triangle">
            <a:avLst/>
          </a:prstGeom>
          <a:solidFill>
            <a:srgbClr val="46705A"/>
          </a:solidFill>
          <a:ln w="12700">
            <a:solidFill>
              <a:srgbClr val="46705A"/>
            </a:solidFill>
            <a:prstDash val="solid"/>
          </a:ln>
        </p:spPr>
      </p:sp>
      <p:sp>
        <p:nvSpPr>
          <p:cNvPr id="19" name="Text 17"/>
          <p:cNvSpPr txBox="1"/>
          <p:nvPr/>
        </p:nvSpPr>
        <p:spPr>
          <a:xfrm>
            <a:off x="2135124" y="3817620"/>
            <a:ext cx="1124712" cy="2514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貴社</a:t>
            </a:r>
            <a:endParaRPr lang="en-US" sz="1100" dirty="0"/>
          </a:p>
        </p:txBody>
      </p:sp>
      <p:sp>
        <p:nvSpPr>
          <p:cNvPr id="20" name="Shape 18"/>
          <p:cNvSpPr/>
          <p:nvPr/>
        </p:nvSpPr>
        <p:spPr>
          <a:xfrm>
            <a:off x="2697480" y="4069080"/>
            <a:ext cx="0" cy="91440"/>
          </a:xfrm>
          <a:prstGeom prst="line">
            <a:avLst/>
          </a:prstGeom>
          <a:noFill/>
          <a:ln w="25400">
            <a:solidFill>
              <a:srgbClr val="46705A"/>
            </a:solidFill>
            <a:prstDash val="solid"/>
          </a:ln>
        </p:spPr>
      </p:sp>
      <p:sp>
        <p:nvSpPr>
          <p:cNvPr id="21" name="Shape 19"/>
          <p:cNvSpPr/>
          <p:nvPr/>
        </p:nvSpPr>
        <p:spPr>
          <a:xfrm>
            <a:off x="1722730" y="4160520"/>
            <a:ext cx="1949501" cy="329184"/>
          </a:xfrm>
          <a:prstGeom prst="roundRect">
            <a:avLst>
              <a:gd name="adj" fmla="val 16667"/>
            </a:avLst>
          </a:prstGeom>
          <a:solidFill>
            <a:srgbClr val="46705A"/>
          </a:solidFill>
          <a:ln w="12700">
            <a:solidFill>
              <a:srgbClr val="46705A"/>
            </a:solidFill>
            <a:prstDash val="solid"/>
          </a:ln>
        </p:spPr>
      </p:sp>
      <p:sp>
        <p:nvSpPr>
          <p:cNvPr id="22" name="Text 20"/>
          <p:cNvSpPr txBox="1"/>
          <p:nvPr/>
        </p:nvSpPr>
        <p:spPr>
          <a:xfrm>
            <a:off x="1722730" y="4160520"/>
            <a:ext cx="194950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外付け専属チーム</a:t>
            </a:r>
            <a:endParaRPr lang="en-US" sz="1150" dirty="0"/>
          </a:p>
        </p:txBody>
      </p:sp>
      <p:sp>
        <p:nvSpPr>
          <p:cNvPr id="23" name="Shape 21"/>
          <p:cNvSpPr/>
          <p:nvPr/>
        </p:nvSpPr>
        <p:spPr>
          <a:xfrm>
            <a:off x="1272845" y="4553712"/>
            <a:ext cx="2849270" cy="347472"/>
          </a:xfrm>
          <a:prstGeom prst="roundRect">
            <a:avLst>
              <a:gd name="adj" fmla="val 15789"/>
            </a:avLst>
          </a:prstGeom>
          <a:solidFill>
            <a:srgbClr val="EDF3EF"/>
          </a:solidFill>
          <a:ln w="12700">
            <a:solidFill>
              <a:srgbClr val="EDF3EF"/>
            </a:solidFill>
            <a:prstDash val="solid"/>
          </a:ln>
        </p:spPr>
      </p:sp>
      <p:sp>
        <p:nvSpPr>
          <p:cNvPr id="24" name="Text 22"/>
          <p:cNvSpPr txBox="1"/>
          <p:nvPr/>
        </p:nvSpPr>
        <p:spPr>
          <a:xfrm>
            <a:off x="1272845" y="4553712"/>
            <a:ext cx="2849270" cy="347472"/>
          </a:xfrm>
          <a:prstGeom prst="rect">
            <a:avLst/>
          </a:prstGeom>
          <a:noFill/>
          <a:ln/>
        </p:spPr>
        <p:txBody>
          <a:bodyPr wrap="square" lIns="0" tIns="0" rIns="0" bIns="0" rtlCol="0" anchor="ctr"/>
          <a:lstStyle/>
          <a:p>
            <a:pPr algn="ctr" indent="0" marL="0">
              <a:buNone/>
            </a:pPr>
            <a:r>
              <a:rPr lang="en-US" sz="1100" b="1" dirty="0">
                <a:solidFill>
                  <a:srgbClr val="46705A"/>
                </a:solidFill>
                <a:latin typeface="Meiryo UI" pitchFamily="34" charset="0"/>
                <a:ea typeface="Meiryo UI" pitchFamily="34" charset="-122"/>
                <a:cs typeface="Meiryo UI" pitchFamily="34" charset="-120"/>
              </a:rPr>
              <a:t>人事マネージャー</a:t>
            </a:r>
            <a:endParaRPr lang="en-US" sz="1100" dirty="0"/>
          </a:p>
        </p:txBody>
      </p:sp>
      <p:sp>
        <p:nvSpPr>
          <p:cNvPr id="25" name="Shape 23"/>
          <p:cNvSpPr/>
          <p:nvPr/>
        </p:nvSpPr>
        <p:spPr>
          <a:xfrm>
            <a:off x="822960" y="4965192"/>
            <a:ext cx="3749040" cy="402336"/>
          </a:xfrm>
          <a:prstGeom prst="roundRect">
            <a:avLst>
              <a:gd name="adj" fmla="val 13636"/>
            </a:avLst>
          </a:prstGeom>
          <a:solidFill>
            <a:srgbClr val="FBEFE4"/>
          </a:solidFill>
          <a:ln w="15875">
            <a:solidFill>
              <a:srgbClr val="B8652A"/>
            </a:solidFill>
            <a:prstDash val="dash"/>
          </a:ln>
        </p:spPr>
      </p:sp>
      <p:sp>
        <p:nvSpPr>
          <p:cNvPr id="26" name="Text 24"/>
          <p:cNvSpPr txBox="1"/>
          <p:nvPr/>
        </p:nvSpPr>
        <p:spPr>
          <a:xfrm>
            <a:off x="822960" y="4965192"/>
            <a:ext cx="3749040" cy="402336"/>
          </a:xfrm>
          <a:prstGeom prst="rect">
            <a:avLst/>
          </a:prstGeom>
          <a:noFill/>
          <a:ln/>
        </p:spPr>
        <p:txBody>
          <a:bodyPr wrap="square" lIns="0" tIns="0" rIns="0" bIns="0" rtlCol="0" anchor="ctr"/>
          <a:lstStyle/>
          <a:p>
            <a:pPr algn="ctr" indent="0" marL="0">
              <a:buNone/>
            </a:pPr>
            <a:r>
              <a:rPr lang="en-US" sz="1100" b="1" dirty="0">
                <a:solidFill>
                  <a:srgbClr val="2F4D3D"/>
                </a:solidFill>
                <a:latin typeface="Meiryo UI" pitchFamily="34" charset="0"/>
                <a:ea typeface="Meiryo UI" pitchFamily="34" charset="-122"/>
                <a:cs typeface="Meiryo UI" pitchFamily="34" charset="-120"/>
              </a:rPr>
              <a:t>人事スペシャリストチーム</a:t>
            </a:r>
            <a:endParaRPr lang="en-US" sz="1100" dirty="0"/>
          </a:p>
        </p:txBody>
      </p:sp>
      <p:sp>
        <p:nvSpPr>
          <p:cNvPr id="27" name="Shape 25"/>
          <p:cNvSpPr/>
          <p:nvPr/>
        </p:nvSpPr>
        <p:spPr>
          <a:xfrm>
            <a:off x="658368" y="3657600"/>
            <a:ext cx="960120" cy="566928"/>
          </a:xfrm>
          <a:prstGeom prst="roundRect">
            <a:avLst>
              <a:gd name="adj" fmla="val 12903"/>
            </a:avLst>
          </a:prstGeom>
          <a:solidFill>
            <a:srgbClr val="FFFFFF"/>
          </a:solidFill>
          <a:ln w="12700">
            <a:solidFill>
              <a:srgbClr val="B8652A"/>
            </a:solidFill>
            <a:prstDash val="solid"/>
          </a:ln>
        </p:spPr>
      </p:sp>
      <p:sp>
        <p:nvSpPr>
          <p:cNvPr id="28" name="Text 26"/>
          <p:cNvSpPr txBox="1"/>
          <p:nvPr/>
        </p:nvSpPr>
        <p:spPr>
          <a:xfrm>
            <a:off x="658368" y="3657600"/>
            <a:ext cx="960120" cy="566928"/>
          </a:xfrm>
          <a:prstGeom prst="rect">
            <a:avLst/>
          </a:prstGeom>
          <a:noFill/>
          <a:ln/>
        </p:spPr>
        <p:txBody>
          <a:bodyPr wrap="square" lIns="0" tIns="0" rIns="0" bIns="0" rtlCol="0" anchor="ctr"/>
          <a:lstStyle/>
          <a:p>
            <a:pPr algn="ctr" indent="0" marL="0">
              <a:buNone/>
            </a:pPr>
            <a:r>
              <a:rPr lang="en-US" sz="850" dirty="0">
                <a:solidFill>
                  <a:srgbClr val="2F4D3D"/>
                </a:solidFill>
                <a:latin typeface="Meiryo UI" pitchFamily="34" charset="0"/>
                <a:ea typeface="Meiryo UI" pitchFamily="34" charset="-122"/>
                <a:cs typeface="Meiryo UI" pitchFamily="34" charset="-120"/>
              </a:rPr>
              <a:t>雇用コスト</a:t>
            </a:r>
            <a:endParaRPr lang="en-US" sz="850" dirty="0"/>
          </a:p>
          <a:p>
            <a:pPr algn="ctr" indent="0" marL="0">
              <a:buNone/>
            </a:pPr>
            <a:r>
              <a:rPr lang="en-US" sz="1500" b="1" dirty="0">
                <a:solidFill>
                  <a:srgbClr val="B8652A"/>
                </a:solidFill>
                <a:latin typeface="Meiryo UI" pitchFamily="34" charset="0"/>
                <a:ea typeface="Meiryo UI" pitchFamily="34" charset="-122"/>
                <a:cs typeface="Meiryo UI" pitchFamily="34" charset="-120"/>
              </a:rPr>
              <a:t>1名分</a:t>
            </a:r>
            <a:endParaRPr lang="en-US" sz="850" dirty="0"/>
          </a:p>
        </p:txBody>
      </p:sp>
      <p:sp>
        <p:nvSpPr>
          <p:cNvPr id="29" name="Shape 27"/>
          <p:cNvSpPr/>
          <p:nvPr/>
        </p:nvSpPr>
        <p:spPr>
          <a:xfrm>
            <a:off x="5074920" y="2697480"/>
            <a:ext cx="6568135" cy="2898648"/>
          </a:xfrm>
          <a:prstGeom prst="roundRect">
            <a:avLst>
              <a:gd name="adj" fmla="val 3785"/>
            </a:avLst>
          </a:prstGeom>
          <a:solidFill>
            <a:srgbClr val="FBEFE4"/>
          </a:solidFill>
          <a:ln w="12700">
            <a:solidFill>
              <a:srgbClr val="FBEFE4"/>
            </a:solidFill>
            <a:prstDash val="solid"/>
          </a:ln>
        </p:spPr>
      </p:sp>
      <p:sp>
        <p:nvSpPr>
          <p:cNvPr id="30" name="Text 28"/>
          <p:cNvSpPr txBox="1"/>
          <p:nvPr/>
        </p:nvSpPr>
        <p:spPr>
          <a:xfrm>
            <a:off x="5257800" y="2788920"/>
            <a:ext cx="6202375" cy="329184"/>
          </a:xfrm>
          <a:prstGeom prst="rect">
            <a:avLst/>
          </a:prstGeom>
          <a:noFill/>
          <a:ln/>
        </p:spPr>
        <p:txBody>
          <a:bodyPr wrap="square" lIns="0" tIns="0" rIns="0" bIns="0" rtlCol="0" anchor="t"/>
          <a:lstStyle/>
          <a:p>
            <a:pPr algn="ctr" indent="0" marL="0">
              <a:buNone/>
            </a:pPr>
            <a:r>
              <a:rPr lang="en-US" sz="1450" b="1" dirty="0">
                <a:solidFill>
                  <a:srgbClr val="B8652A"/>
                </a:solidFill>
                <a:latin typeface="Meiryo UI" pitchFamily="34" charset="0"/>
                <a:ea typeface="Meiryo UI" pitchFamily="34" charset="-122"/>
                <a:cs typeface="Meiryo UI" pitchFamily="34" charset="-120"/>
              </a:rPr>
              <a:t>「スペシャリスト」</a:t>
            </a:r>
            <a:endParaRPr lang="en-US" sz="1450" dirty="0"/>
          </a:p>
        </p:txBody>
      </p:sp>
      <p:sp>
        <p:nvSpPr>
          <p:cNvPr id="31" name="Text 29"/>
          <p:cNvSpPr txBox="1"/>
          <p:nvPr/>
        </p:nvSpPr>
        <p:spPr>
          <a:xfrm>
            <a:off x="5349240" y="3136392"/>
            <a:ext cx="6019495" cy="2743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人事業務における各業務のスペシャリストをチームにアサインし、業務を運用</a:t>
            </a:r>
            <a:endParaRPr lang="en-US" sz="1050" dirty="0"/>
          </a:p>
        </p:txBody>
      </p:sp>
      <p:sp>
        <p:nvSpPr>
          <p:cNvPr id="32" name="Shape 30"/>
          <p:cNvSpPr/>
          <p:nvPr/>
        </p:nvSpPr>
        <p:spPr>
          <a:xfrm>
            <a:off x="5349240" y="3502152"/>
            <a:ext cx="2941168" cy="365760"/>
          </a:xfrm>
          <a:prstGeom prst="roundRect">
            <a:avLst>
              <a:gd name="adj" fmla="val 12500"/>
            </a:avLst>
          </a:prstGeom>
          <a:solidFill>
            <a:srgbClr val="FFFFFF"/>
          </a:solidFill>
          <a:ln w="12700">
            <a:solidFill>
              <a:srgbClr val="FFFFFF"/>
            </a:solidFill>
            <a:prstDash val="solid"/>
          </a:ln>
        </p:spPr>
      </p:sp>
      <p:pic>
        <p:nvPicPr>
          <p:cNvPr id="33" name="Image 0" descr="preencoded.png">    </p:cNvPr>
          <p:cNvPicPr>
            <a:picLocks noChangeAspect="1"/>
          </p:cNvPicPr>
          <p:nvPr/>
        </p:nvPicPr>
        <p:blipFill>
          <a:blip r:embed="rId1"/>
          <a:stretch>
            <a:fillRect/>
          </a:stretch>
        </p:blipFill>
        <p:spPr>
          <a:xfrm>
            <a:off x="5458968" y="3575304"/>
            <a:ext cx="219456" cy="219456"/>
          </a:xfrm>
          <a:prstGeom prst="rect">
            <a:avLst/>
          </a:prstGeom>
        </p:spPr>
      </p:pic>
      <p:sp>
        <p:nvSpPr>
          <p:cNvPr id="34" name="Text 31"/>
          <p:cNvSpPr txBox="1"/>
          <p:nvPr/>
        </p:nvSpPr>
        <p:spPr>
          <a:xfrm>
            <a:off x="5760720" y="3502152"/>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母集団形成</a:t>
            </a:r>
            <a:endParaRPr lang="en-US" sz="1050" dirty="0"/>
          </a:p>
        </p:txBody>
      </p:sp>
      <p:sp>
        <p:nvSpPr>
          <p:cNvPr id="35" name="Shape 32"/>
          <p:cNvSpPr/>
          <p:nvPr/>
        </p:nvSpPr>
        <p:spPr>
          <a:xfrm>
            <a:off x="8427568" y="3502152"/>
            <a:ext cx="2941168" cy="365760"/>
          </a:xfrm>
          <a:prstGeom prst="roundRect">
            <a:avLst>
              <a:gd name="adj" fmla="val 12500"/>
            </a:avLst>
          </a:prstGeom>
          <a:solidFill>
            <a:srgbClr val="FFFFFF"/>
          </a:solidFill>
          <a:ln w="12700">
            <a:solidFill>
              <a:srgbClr val="FFFFFF"/>
            </a:solidFill>
            <a:prstDash val="solid"/>
          </a:ln>
        </p:spPr>
      </p:sp>
      <p:pic>
        <p:nvPicPr>
          <p:cNvPr id="36" name="Image 1" descr="preencoded.png">    </p:cNvPr>
          <p:cNvPicPr>
            <a:picLocks noChangeAspect="1"/>
          </p:cNvPicPr>
          <p:nvPr/>
        </p:nvPicPr>
        <p:blipFill>
          <a:blip r:embed="rId2"/>
          <a:stretch>
            <a:fillRect/>
          </a:stretch>
        </p:blipFill>
        <p:spPr>
          <a:xfrm>
            <a:off x="8537296" y="3575304"/>
            <a:ext cx="219456" cy="219456"/>
          </a:xfrm>
          <a:prstGeom prst="rect">
            <a:avLst/>
          </a:prstGeom>
        </p:spPr>
      </p:pic>
      <p:sp>
        <p:nvSpPr>
          <p:cNvPr id="37" name="Text 33"/>
          <p:cNvSpPr txBox="1"/>
          <p:nvPr/>
        </p:nvSpPr>
        <p:spPr>
          <a:xfrm>
            <a:off x="8839048" y="3502152"/>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オンライン面接</a:t>
            </a:r>
            <a:endParaRPr lang="en-US" sz="1050" dirty="0"/>
          </a:p>
        </p:txBody>
      </p:sp>
      <p:sp>
        <p:nvSpPr>
          <p:cNvPr id="38" name="Shape 34"/>
          <p:cNvSpPr/>
          <p:nvPr/>
        </p:nvSpPr>
        <p:spPr>
          <a:xfrm>
            <a:off x="5349240" y="3931920"/>
            <a:ext cx="2941168" cy="365760"/>
          </a:xfrm>
          <a:prstGeom prst="roundRect">
            <a:avLst>
              <a:gd name="adj" fmla="val 12500"/>
            </a:avLst>
          </a:prstGeom>
          <a:solidFill>
            <a:srgbClr val="FFFFFF"/>
          </a:solidFill>
          <a:ln w="12700">
            <a:solidFill>
              <a:srgbClr val="FFFFFF"/>
            </a:solidFill>
            <a:prstDash val="solid"/>
          </a:ln>
        </p:spPr>
      </p:sp>
      <p:pic>
        <p:nvPicPr>
          <p:cNvPr id="39" name="Image 2" descr="preencoded.png">    </p:cNvPr>
          <p:cNvPicPr>
            <a:picLocks noChangeAspect="1"/>
          </p:cNvPicPr>
          <p:nvPr/>
        </p:nvPicPr>
        <p:blipFill>
          <a:blip r:embed="rId3"/>
          <a:stretch>
            <a:fillRect/>
          </a:stretch>
        </p:blipFill>
        <p:spPr>
          <a:xfrm>
            <a:off x="5458968" y="4005072"/>
            <a:ext cx="219456" cy="219456"/>
          </a:xfrm>
          <a:prstGeom prst="rect">
            <a:avLst/>
          </a:prstGeom>
        </p:spPr>
      </p:pic>
      <p:sp>
        <p:nvSpPr>
          <p:cNvPr id="40" name="Text 35"/>
          <p:cNvSpPr txBox="1"/>
          <p:nvPr/>
        </p:nvSpPr>
        <p:spPr>
          <a:xfrm>
            <a:off x="5760720" y="3931920"/>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オリエンテーション</a:t>
            </a:r>
            <a:endParaRPr lang="en-US" sz="1050" dirty="0"/>
          </a:p>
        </p:txBody>
      </p:sp>
      <p:sp>
        <p:nvSpPr>
          <p:cNvPr id="41" name="Shape 36"/>
          <p:cNvSpPr/>
          <p:nvPr/>
        </p:nvSpPr>
        <p:spPr>
          <a:xfrm>
            <a:off x="8427568" y="3931920"/>
            <a:ext cx="2941168" cy="365760"/>
          </a:xfrm>
          <a:prstGeom prst="roundRect">
            <a:avLst>
              <a:gd name="adj" fmla="val 12500"/>
            </a:avLst>
          </a:prstGeom>
          <a:solidFill>
            <a:srgbClr val="FFFFFF"/>
          </a:solidFill>
          <a:ln w="12700">
            <a:solidFill>
              <a:srgbClr val="FFFFFF"/>
            </a:solidFill>
            <a:prstDash val="solid"/>
          </a:ln>
        </p:spPr>
      </p:sp>
      <p:pic>
        <p:nvPicPr>
          <p:cNvPr id="42" name="Image 3" descr="preencoded.png">    </p:cNvPr>
          <p:cNvPicPr>
            <a:picLocks noChangeAspect="1"/>
          </p:cNvPicPr>
          <p:nvPr/>
        </p:nvPicPr>
        <p:blipFill>
          <a:blip r:embed="rId4"/>
          <a:stretch>
            <a:fillRect/>
          </a:stretch>
        </p:blipFill>
        <p:spPr>
          <a:xfrm>
            <a:off x="8537296" y="4005072"/>
            <a:ext cx="219456" cy="219456"/>
          </a:xfrm>
          <a:prstGeom prst="rect">
            <a:avLst/>
          </a:prstGeom>
        </p:spPr>
      </p:pic>
      <p:sp>
        <p:nvSpPr>
          <p:cNvPr id="43" name="Text 37"/>
          <p:cNvSpPr txBox="1"/>
          <p:nvPr/>
        </p:nvSpPr>
        <p:spPr>
          <a:xfrm>
            <a:off x="8839048" y="3931920"/>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求人ライティング</a:t>
            </a:r>
            <a:endParaRPr lang="en-US" sz="1050" dirty="0"/>
          </a:p>
        </p:txBody>
      </p:sp>
      <p:sp>
        <p:nvSpPr>
          <p:cNvPr id="44" name="Shape 38"/>
          <p:cNvSpPr/>
          <p:nvPr/>
        </p:nvSpPr>
        <p:spPr>
          <a:xfrm>
            <a:off x="5349240" y="4361688"/>
            <a:ext cx="2941168" cy="365760"/>
          </a:xfrm>
          <a:prstGeom prst="roundRect">
            <a:avLst>
              <a:gd name="adj" fmla="val 12500"/>
            </a:avLst>
          </a:prstGeom>
          <a:solidFill>
            <a:srgbClr val="FFFFFF"/>
          </a:solidFill>
          <a:ln w="12700">
            <a:solidFill>
              <a:srgbClr val="FFFFFF"/>
            </a:solidFill>
            <a:prstDash val="solid"/>
          </a:ln>
        </p:spPr>
      </p:sp>
      <p:pic>
        <p:nvPicPr>
          <p:cNvPr id="45" name="Image 4" descr="preencoded.png">    </p:cNvPr>
          <p:cNvPicPr>
            <a:picLocks noChangeAspect="1"/>
          </p:cNvPicPr>
          <p:nvPr/>
        </p:nvPicPr>
        <p:blipFill>
          <a:blip r:embed="rId5"/>
          <a:stretch>
            <a:fillRect/>
          </a:stretch>
        </p:blipFill>
        <p:spPr>
          <a:xfrm>
            <a:off x="5458968" y="4434840"/>
            <a:ext cx="219456" cy="219456"/>
          </a:xfrm>
          <a:prstGeom prst="rect">
            <a:avLst/>
          </a:prstGeom>
        </p:spPr>
      </p:pic>
      <p:sp>
        <p:nvSpPr>
          <p:cNvPr id="46" name="Text 39"/>
          <p:cNvSpPr txBox="1"/>
          <p:nvPr/>
        </p:nvSpPr>
        <p:spPr>
          <a:xfrm>
            <a:off x="5760720" y="4361688"/>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求人SNS作成〜運用</a:t>
            </a:r>
            <a:endParaRPr lang="en-US" sz="1050" dirty="0"/>
          </a:p>
        </p:txBody>
      </p:sp>
      <p:sp>
        <p:nvSpPr>
          <p:cNvPr id="47" name="Shape 40"/>
          <p:cNvSpPr/>
          <p:nvPr/>
        </p:nvSpPr>
        <p:spPr>
          <a:xfrm>
            <a:off x="8427568" y="4361688"/>
            <a:ext cx="2941168" cy="365760"/>
          </a:xfrm>
          <a:prstGeom prst="roundRect">
            <a:avLst>
              <a:gd name="adj" fmla="val 12500"/>
            </a:avLst>
          </a:prstGeom>
          <a:solidFill>
            <a:srgbClr val="FFFFFF"/>
          </a:solidFill>
          <a:ln w="12700">
            <a:solidFill>
              <a:srgbClr val="FFFFFF"/>
            </a:solidFill>
            <a:prstDash val="solid"/>
          </a:ln>
        </p:spPr>
      </p:sp>
      <p:pic>
        <p:nvPicPr>
          <p:cNvPr id="48" name="Image 5" descr="preencoded.png">    </p:cNvPr>
          <p:cNvPicPr>
            <a:picLocks noChangeAspect="1"/>
          </p:cNvPicPr>
          <p:nvPr/>
        </p:nvPicPr>
        <p:blipFill>
          <a:blip r:embed="rId6"/>
          <a:stretch>
            <a:fillRect/>
          </a:stretch>
        </p:blipFill>
        <p:spPr>
          <a:xfrm>
            <a:off x="8537296" y="4434840"/>
            <a:ext cx="219456" cy="219456"/>
          </a:xfrm>
          <a:prstGeom prst="rect">
            <a:avLst/>
          </a:prstGeom>
        </p:spPr>
      </p:pic>
      <p:sp>
        <p:nvSpPr>
          <p:cNvPr id="49" name="Text 41"/>
          <p:cNvSpPr txBox="1"/>
          <p:nvPr/>
        </p:nvSpPr>
        <p:spPr>
          <a:xfrm>
            <a:off x="8839048" y="4361688"/>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マニュアル・カリキュラム作成</a:t>
            </a:r>
            <a:endParaRPr lang="en-US" sz="1050" dirty="0"/>
          </a:p>
        </p:txBody>
      </p:sp>
      <p:sp>
        <p:nvSpPr>
          <p:cNvPr id="50" name="Shape 42"/>
          <p:cNvSpPr/>
          <p:nvPr/>
        </p:nvSpPr>
        <p:spPr>
          <a:xfrm>
            <a:off x="5349240" y="4791456"/>
            <a:ext cx="2941168" cy="365760"/>
          </a:xfrm>
          <a:prstGeom prst="roundRect">
            <a:avLst>
              <a:gd name="adj" fmla="val 12500"/>
            </a:avLst>
          </a:prstGeom>
          <a:solidFill>
            <a:srgbClr val="FFFFFF"/>
          </a:solidFill>
          <a:ln w="12700">
            <a:solidFill>
              <a:srgbClr val="FFFFFF"/>
            </a:solidFill>
            <a:prstDash val="solid"/>
          </a:ln>
        </p:spPr>
      </p:sp>
      <p:pic>
        <p:nvPicPr>
          <p:cNvPr id="51" name="Image 6" descr="preencoded.png">    </p:cNvPr>
          <p:cNvPicPr>
            <a:picLocks noChangeAspect="1"/>
          </p:cNvPicPr>
          <p:nvPr/>
        </p:nvPicPr>
        <p:blipFill>
          <a:blip r:embed="rId7"/>
          <a:stretch>
            <a:fillRect/>
          </a:stretch>
        </p:blipFill>
        <p:spPr>
          <a:xfrm>
            <a:off x="5458968" y="4864608"/>
            <a:ext cx="219456" cy="219456"/>
          </a:xfrm>
          <a:prstGeom prst="rect">
            <a:avLst/>
          </a:prstGeom>
        </p:spPr>
      </p:pic>
      <p:sp>
        <p:nvSpPr>
          <p:cNvPr id="52" name="Text 43"/>
          <p:cNvSpPr txBox="1"/>
          <p:nvPr/>
        </p:nvSpPr>
        <p:spPr>
          <a:xfrm>
            <a:off x="5760720" y="4791456"/>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退職防止策</a:t>
            </a:r>
            <a:endParaRPr lang="en-US" sz="1050" dirty="0"/>
          </a:p>
        </p:txBody>
      </p:sp>
      <p:sp>
        <p:nvSpPr>
          <p:cNvPr id="53" name="Shape 44"/>
          <p:cNvSpPr/>
          <p:nvPr/>
        </p:nvSpPr>
        <p:spPr>
          <a:xfrm>
            <a:off x="8427568" y="4791456"/>
            <a:ext cx="2941168" cy="365760"/>
          </a:xfrm>
          <a:prstGeom prst="roundRect">
            <a:avLst>
              <a:gd name="adj" fmla="val 12500"/>
            </a:avLst>
          </a:prstGeom>
          <a:solidFill>
            <a:srgbClr val="FFFFFF"/>
          </a:solidFill>
          <a:ln w="12700">
            <a:solidFill>
              <a:srgbClr val="FFFFFF"/>
            </a:solidFill>
            <a:prstDash val="solid"/>
          </a:ln>
        </p:spPr>
      </p:sp>
      <p:pic>
        <p:nvPicPr>
          <p:cNvPr id="54" name="Image 7" descr="preencoded.png">    </p:cNvPr>
          <p:cNvPicPr>
            <a:picLocks noChangeAspect="1"/>
          </p:cNvPicPr>
          <p:nvPr/>
        </p:nvPicPr>
        <p:blipFill>
          <a:blip r:embed="rId8"/>
          <a:stretch>
            <a:fillRect/>
          </a:stretch>
        </p:blipFill>
        <p:spPr>
          <a:xfrm>
            <a:off x="8537296" y="4864608"/>
            <a:ext cx="219456" cy="219456"/>
          </a:xfrm>
          <a:prstGeom prst="rect">
            <a:avLst/>
          </a:prstGeom>
        </p:spPr>
      </p:pic>
      <p:sp>
        <p:nvSpPr>
          <p:cNvPr id="55" name="Text 45"/>
          <p:cNvSpPr txBox="1"/>
          <p:nvPr/>
        </p:nvSpPr>
        <p:spPr>
          <a:xfrm>
            <a:off x="8839048" y="4791456"/>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評価制度</a:t>
            </a:r>
            <a:endParaRPr lang="en-US" sz="1050" dirty="0"/>
          </a:p>
        </p:txBody>
      </p:sp>
      <p:sp>
        <p:nvSpPr>
          <p:cNvPr id="56" name="Shape 46"/>
          <p:cNvSpPr/>
          <p:nvPr/>
        </p:nvSpPr>
        <p:spPr>
          <a:xfrm>
            <a:off x="5349240" y="5221224"/>
            <a:ext cx="2941168" cy="365760"/>
          </a:xfrm>
          <a:prstGeom prst="roundRect">
            <a:avLst>
              <a:gd name="adj" fmla="val 12500"/>
            </a:avLst>
          </a:prstGeom>
          <a:solidFill>
            <a:srgbClr val="FFFFFF"/>
          </a:solidFill>
          <a:ln w="12700">
            <a:solidFill>
              <a:srgbClr val="FFFFFF"/>
            </a:solidFill>
            <a:prstDash val="solid"/>
          </a:ln>
        </p:spPr>
      </p:sp>
      <p:pic>
        <p:nvPicPr>
          <p:cNvPr id="57" name="Image 8" descr="preencoded.png">    </p:cNvPr>
          <p:cNvPicPr>
            <a:picLocks noChangeAspect="1"/>
          </p:cNvPicPr>
          <p:nvPr/>
        </p:nvPicPr>
        <p:blipFill>
          <a:blip r:embed="rId9"/>
          <a:stretch>
            <a:fillRect/>
          </a:stretch>
        </p:blipFill>
        <p:spPr>
          <a:xfrm>
            <a:off x="5458968" y="5294376"/>
            <a:ext cx="219456" cy="219456"/>
          </a:xfrm>
          <a:prstGeom prst="rect">
            <a:avLst/>
          </a:prstGeom>
        </p:spPr>
      </p:pic>
      <p:sp>
        <p:nvSpPr>
          <p:cNvPr id="58" name="Text 47"/>
          <p:cNvSpPr txBox="1"/>
          <p:nvPr/>
        </p:nvSpPr>
        <p:spPr>
          <a:xfrm>
            <a:off x="5760720" y="5221224"/>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研修制度の構築・導入</a:t>
            </a:r>
            <a:endParaRPr lang="en-US" sz="1050" dirty="0"/>
          </a:p>
        </p:txBody>
      </p:sp>
      <p:sp>
        <p:nvSpPr>
          <p:cNvPr id="59" name="Shape 48"/>
          <p:cNvSpPr/>
          <p:nvPr/>
        </p:nvSpPr>
        <p:spPr>
          <a:xfrm>
            <a:off x="8427568" y="5221224"/>
            <a:ext cx="2941168" cy="365760"/>
          </a:xfrm>
          <a:prstGeom prst="roundRect">
            <a:avLst>
              <a:gd name="adj" fmla="val 12500"/>
            </a:avLst>
          </a:prstGeom>
          <a:solidFill>
            <a:srgbClr val="FFFFFF"/>
          </a:solidFill>
          <a:ln w="12700">
            <a:solidFill>
              <a:srgbClr val="FFFFFF"/>
            </a:solidFill>
            <a:prstDash val="solid"/>
          </a:ln>
        </p:spPr>
      </p:sp>
      <p:pic>
        <p:nvPicPr>
          <p:cNvPr id="60" name="Image 9" descr="preencoded.png">    </p:cNvPr>
          <p:cNvPicPr>
            <a:picLocks noChangeAspect="1"/>
          </p:cNvPicPr>
          <p:nvPr/>
        </p:nvPicPr>
        <p:blipFill>
          <a:blip r:embed="rId10"/>
          <a:stretch>
            <a:fillRect/>
          </a:stretch>
        </p:blipFill>
        <p:spPr>
          <a:xfrm>
            <a:off x="8537296" y="5294376"/>
            <a:ext cx="219456" cy="219456"/>
          </a:xfrm>
          <a:prstGeom prst="rect">
            <a:avLst/>
          </a:prstGeom>
        </p:spPr>
      </p:pic>
      <p:sp>
        <p:nvSpPr>
          <p:cNvPr id="61" name="Text 49"/>
          <p:cNvSpPr txBox="1"/>
          <p:nvPr/>
        </p:nvSpPr>
        <p:spPr>
          <a:xfrm>
            <a:off x="8839048" y="5221224"/>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各種人事労務書類作成</a:t>
            </a:r>
            <a:endParaRPr lang="en-US" sz="1050" dirty="0"/>
          </a:p>
        </p:txBody>
      </p:sp>
      <p:sp>
        <p:nvSpPr>
          <p:cNvPr id="62" name="Shape 50"/>
          <p:cNvSpPr/>
          <p:nvPr/>
        </p:nvSpPr>
        <p:spPr>
          <a:xfrm>
            <a:off x="548640" y="5715000"/>
            <a:ext cx="11094415" cy="621792"/>
          </a:xfrm>
          <a:prstGeom prst="roundRect">
            <a:avLst>
              <a:gd name="adj" fmla="val 17647"/>
            </a:avLst>
          </a:prstGeom>
          <a:solidFill>
            <a:srgbClr val="EDF3EF"/>
          </a:solidFill>
          <a:ln w="12700">
            <a:solidFill>
              <a:srgbClr val="EDF3EF"/>
            </a:solidFill>
            <a:prstDash val="solid"/>
          </a:ln>
        </p:spPr>
      </p:sp>
      <p:sp>
        <p:nvSpPr>
          <p:cNvPr id="63" name="Shape 51"/>
          <p:cNvSpPr/>
          <p:nvPr/>
        </p:nvSpPr>
        <p:spPr>
          <a:xfrm>
            <a:off x="685800" y="5815584"/>
            <a:ext cx="420624" cy="420624"/>
          </a:xfrm>
          <a:prstGeom prst="ellipse">
            <a:avLst/>
          </a:prstGeom>
          <a:solidFill>
            <a:srgbClr val="46705A"/>
          </a:solidFill>
          <a:ln w="12700">
            <a:solidFill>
              <a:srgbClr val="46705A"/>
            </a:solidFill>
            <a:prstDash val="solid"/>
          </a:ln>
        </p:spPr>
      </p:sp>
      <p:pic>
        <p:nvPicPr>
          <p:cNvPr id="64" name="Image 10" descr="preencoded.png">    </p:cNvPr>
          <p:cNvPicPr>
            <a:picLocks noChangeAspect="1"/>
          </p:cNvPicPr>
          <p:nvPr/>
        </p:nvPicPr>
        <p:blipFill>
          <a:blip r:embed="rId11"/>
          <a:stretch>
            <a:fillRect/>
          </a:stretch>
        </p:blipFill>
        <p:spPr>
          <a:xfrm>
            <a:off x="795162" y="5924946"/>
            <a:ext cx="201900" cy="201900"/>
          </a:xfrm>
          <a:prstGeom prst="rect">
            <a:avLst/>
          </a:prstGeom>
        </p:spPr>
      </p:pic>
      <p:sp>
        <p:nvSpPr>
          <p:cNvPr id="65" name="Text 52"/>
          <p:cNvSpPr txBox="1"/>
          <p:nvPr/>
        </p:nvSpPr>
        <p:spPr>
          <a:xfrm>
            <a:off x="1234440" y="5715000"/>
            <a:ext cx="10271455" cy="621792"/>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貴法人での活用イメージ：</a:t>
            </a:r>
            <a:pPr indent="0" marL="0">
              <a:buNone/>
            </a:pPr>
            <a:r>
              <a:rPr lang="en-US" sz="1150" dirty="0">
                <a:solidFill>
                  <a:srgbClr val="2A322D"/>
                </a:solidFill>
                <a:latin typeface="Meiryo UI" pitchFamily="34" charset="0"/>
                <a:ea typeface="Meiryo UI" pitchFamily="34" charset="-122"/>
                <a:cs typeface="Meiryo UI" pitchFamily="34" charset="-120"/>
              </a:rPr>
              <a:t>グループホーム立ち上げに必要な職員の採用（母集団形成・求人ライティング）と、各種人事労務書類の作成で、代表の手を空けます。</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 4</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商談支援［セールスユニット］</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26</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243584"/>
            <a:ext cx="612648" cy="274320"/>
          </a:xfrm>
          <a:prstGeom prst="roundRect">
            <a:avLst>
              <a:gd name="adj" fmla="val 26667"/>
            </a:avLst>
          </a:prstGeom>
          <a:solidFill>
            <a:srgbClr val="EDF3EF"/>
          </a:solidFill>
          <a:ln w="12700">
            <a:solidFill>
              <a:srgbClr val="EDF3EF"/>
            </a:solidFill>
            <a:prstDash val="solid"/>
          </a:ln>
        </p:spPr>
      </p:sp>
      <p:sp>
        <p:nvSpPr>
          <p:cNvPr id="7" name="Text 5"/>
          <p:cNvSpPr txBox="1"/>
          <p:nvPr/>
        </p:nvSpPr>
        <p:spPr>
          <a:xfrm>
            <a:off x="548640" y="1243584"/>
            <a:ext cx="612648"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営業</a:t>
            </a:r>
            <a:endParaRPr lang="en-US" sz="1000" dirty="0"/>
          </a:p>
        </p:txBody>
      </p:sp>
      <p:sp>
        <p:nvSpPr>
          <p:cNvPr id="8" name="Shape 6"/>
          <p:cNvSpPr/>
          <p:nvPr/>
        </p:nvSpPr>
        <p:spPr>
          <a:xfrm>
            <a:off x="1271016" y="1243584"/>
            <a:ext cx="1051560" cy="274320"/>
          </a:xfrm>
          <a:prstGeom prst="roundRect">
            <a:avLst>
              <a:gd name="adj" fmla="val 26667"/>
            </a:avLst>
          </a:prstGeom>
          <a:solidFill>
            <a:srgbClr val="EDF3EF"/>
          </a:solidFill>
          <a:ln w="12700">
            <a:solidFill>
              <a:srgbClr val="EDF3EF"/>
            </a:solidFill>
            <a:prstDash val="solid"/>
          </a:ln>
        </p:spPr>
      </p:sp>
      <p:sp>
        <p:nvSpPr>
          <p:cNvPr id="9" name="Text 7"/>
          <p:cNvSpPr txBox="1"/>
          <p:nvPr/>
        </p:nvSpPr>
        <p:spPr>
          <a:xfrm>
            <a:off x="1271016" y="1243584"/>
            <a:ext cx="1051560"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受注率向上</a:t>
            </a:r>
            <a:endParaRPr lang="en-US" sz="1000" dirty="0"/>
          </a:p>
        </p:txBody>
      </p:sp>
      <p:sp>
        <p:nvSpPr>
          <p:cNvPr id="10" name="Shape 8"/>
          <p:cNvSpPr/>
          <p:nvPr/>
        </p:nvSpPr>
        <p:spPr>
          <a:xfrm>
            <a:off x="2432304" y="1243584"/>
            <a:ext cx="1636776" cy="274320"/>
          </a:xfrm>
          <a:prstGeom prst="roundRect">
            <a:avLst>
              <a:gd name="adj" fmla="val 26667"/>
            </a:avLst>
          </a:prstGeom>
          <a:solidFill>
            <a:srgbClr val="EDF3EF"/>
          </a:solidFill>
          <a:ln w="12700">
            <a:solidFill>
              <a:srgbClr val="EDF3EF"/>
            </a:solidFill>
            <a:prstDash val="solid"/>
          </a:ln>
        </p:spPr>
      </p:sp>
      <p:sp>
        <p:nvSpPr>
          <p:cNvPr id="11" name="Text 9"/>
          <p:cNvSpPr txBox="1"/>
          <p:nvPr/>
        </p:nvSpPr>
        <p:spPr>
          <a:xfrm>
            <a:off x="2432304" y="1243584"/>
            <a:ext cx="1636776"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アウトソーシング型</a:t>
            </a:r>
            <a:endParaRPr lang="en-US" sz="1000" dirty="0"/>
          </a:p>
        </p:txBody>
      </p:sp>
      <p:sp>
        <p:nvSpPr>
          <p:cNvPr id="12" name="Text 10"/>
          <p:cNvSpPr txBox="1"/>
          <p:nvPr/>
        </p:nvSpPr>
        <p:spPr>
          <a:xfrm>
            <a:off x="548640" y="1609344"/>
            <a:ext cx="11094415" cy="502920"/>
          </a:xfrm>
          <a:prstGeom prst="rect">
            <a:avLst/>
          </a:prstGeom>
          <a:noFill/>
          <a:ln/>
        </p:spPr>
        <p:txBody>
          <a:bodyPr wrap="square" lIns="0" tIns="0" rIns="0" bIns="0" rtlCol="0" anchor="ctr"/>
          <a:lstStyle/>
          <a:p>
            <a:pPr algn="ctr" indent="0" marL="0">
              <a:buNone/>
            </a:pPr>
            <a:r>
              <a:rPr lang="en-US" sz="1300" b="1" dirty="0">
                <a:solidFill>
                  <a:srgbClr val="2F4D3D"/>
                </a:solidFill>
                <a:latin typeface="Meiryo UI" pitchFamily="34" charset="0"/>
                <a:ea typeface="Meiryo UI" pitchFamily="34" charset="-122"/>
                <a:cs typeface="Meiryo UI" pitchFamily="34" charset="-120"/>
              </a:rPr>
              <a:t>当社の「商談チーム」×「スペシャリスト」が商談の成功パターンを見つけ、「再現性のある商談の仕組み」として納品します。</a:t>
            </a:r>
            <a:endParaRPr lang="en-US" sz="1300" dirty="0"/>
          </a:p>
        </p:txBody>
      </p:sp>
      <p:sp>
        <p:nvSpPr>
          <p:cNvPr id="13" name="Shape 11"/>
          <p:cNvSpPr/>
          <p:nvPr/>
        </p:nvSpPr>
        <p:spPr>
          <a:xfrm>
            <a:off x="548640" y="2176272"/>
            <a:ext cx="4572000" cy="365760"/>
          </a:xfrm>
          <a:prstGeom prst="homePlate">
            <a:avLst/>
          </a:prstGeom>
          <a:solidFill>
            <a:srgbClr val="46705A"/>
          </a:solidFill>
          <a:ln w="12700">
            <a:solidFill>
              <a:srgbClr val="46705A"/>
            </a:solidFill>
            <a:prstDash val="solid"/>
          </a:ln>
        </p:spPr>
      </p:sp>
      <p:sp>
        <p:nvSpPr>
          <p:cNvPr id="14" name="Text 12"/>
          <p:cNvSpPr txBox="1"/>
          <p:nvPr/>
        </p:nvSpPr>
        <p:spPr>
          <a:xfrm>
            <a:off x="548640" y="2176272"/>
            <a:ext cx="4297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仕組化</a:t>
            </a:r>
            <a:endParaRPr lang="en-US" sz="1300" dirty="0"/>
          </a:p>
        </p:txBody>
      </p:sp>
      <p:sp>
        <p:nvSpPr>
          <p:cNvPr id="15" name="Shape 13"/>
          <p:cNvSpPr/>
          <p:nvPr/>
        </p:nvSpPr>
        <p:spPr>
          <a:xfrm>
            <a:off x="5029200" y="2176272"/>
            <a:ext cx="6613855" cy="365760"/>
          </a:xfrm>
          <a:prstGeom prst="chevron">
            <a:avLst/>
          </a:prstGeom>
          <a:solidFill>
            <a:srgbClr val="B8652A"/>
          </a:solidFill>
          <a:ln w="12700">
            <a:solidFill>
              <a:srgbClr val="B8652A"/>
            </a:solidFill>
            <a:prstDash val="solid"/>
          </a:ln>
        </p:spPr>
      </p:sp>
      <p:sp>
        <p:nvSpPr>
          <p:cNvPr id="16" name="Text 14"/>
          <p:cNvSpPr txBox="1"/>
          <p:nvPr/>
        </p:nvSpPr>
        <p:spPr>
          <a:xfrm>
            <a:off x="5074920" y="2176272"/>
            <a:ext cx="6568135"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運用</a:t>
            </a:r>
            <a:endParaRPr lang="en-US" sz="1300" dirty="0"/>
          </a:p>
        </p:txBody>
      </p:sp>
      <p:sp>
        <p:nvSpPr>
          <p:cNvPr id="17" name="Shape 15"/>
          <p:cNvSpPr/>
          <p:nvPr/>
        </p:nvSpPr>
        <p:spPr>
          <a:xfrm>
            <a:off x="548640" y="2697480"/>
            <a:ext cx="4297680" cy="2898648"/>
          </a:xfrm>
          <a:prstGeom prst="roundRect">
            <a:avLst>
              <a:gd name="adj" fmla="val 3785"/>
            </a:avLst>
          </a:prstGeom>
          <a:solidFill>
            <a:srgbClr val="F6F9F7"/>
          </a:solidFill>
          <a:ln w="12700">
            <a:solidFill>
              <a:srgbClr val="F6F9F7"/>
            </a:solidFill>
            <a:prstDash val="solid"/>
          </a:ln>
        </p:spPr>
      </p:sp>
      <p:sp>
        <p:nvSpPr>
          <p:cNvPr id="18" name="Text 16"/>
          <p:cNvSpPr txBox="1"/>
          <p:nvPr/>
        </p:nvSpPr>
        <p:spPr>
          <a:xfrm>
            <a:off x="685800" y="2788920"/>
            <a:ext cx="4023360" cy="329184"/>
          </a:xfrm>
          <a:prstGeom prst="rect">
            <a:avLst/>
          </a:prstGeom>
          <a:noFill/>
          <a:ln/>
        </p:spPr>
        <p:txBody>
          <a:bodyPr wrap="square" lIns="0" tIns="0" rIns="0" bIns="0" rtlCol="0" anchor="t"/>
          <a:lstStyle/>
          <a:p>
            <a:pPr algn="ctr" indent="0" marL="0">
              <a:buNone/>
            </a:pPr>
            <a:r>
              <a:rPr lang="en-US" sz="1450" b="1" dirty="0">
                <a:solidFill>
                  <a:srgbClr val="46705A"/>
                </a:solidFill>
                <a:latin typeface="Meiryo UI" pitchFamily="34" charset="0"/>
                <a:ea typeface="Meiryo UI" pitchFamily="34" charset="-122"/>
                <a:cs typeface="Meiryo UI" pitchFamily="34" charset="-120"/>
              </a:rPr>
              <a:t>「商談チーム」</a:t>
            </a:r>
            <a:endParaRPr lang="en-US" sz="1450" dirty="0"/>
          </a:p>
        </p:txBody>
      </p:sp>
      <p:sp>
        <p:nvSpPr>
          <p:cNvPr id="19" name="Text 17"/>
          <p:cNvSpPr txBox="1"/>
          <p:nvPr/>
        </p:nvSpPr>
        <p:spPr>
          <a:xfrm>
            <a:off x="777240" y="3136392"/>
            <a:ext cx="3840480" cy="457200"/>
          </a:xfrm>
          <a:prstGeom prst="rect">
            <a:avLst/>
          </a:prstGeom>
          <a:noFill/>
          <a:ln/>
        </p:spPr>
        <p:txBody>
          <a:bodyPr wrap="square" lIns="0" tIns="0" rIns="0" bIns="0" rtlCol="0" anchor="t"/>
          <a:lstStyle/>
          <a:p>
            <a:pPr algn="ctr" indent="0" marL="0">
              <a:buNone/>
            </a:pPr>
            <a:r>
              <a:rPr lang="en-US" sz="1000" dirty="0">
                <a:solidFill>
                  <a:srgbClr val="2A322D"/>
                </a:solidFill>
                <a:latin typeface="Meiryo UI" pitchFamily="34" charset="0"/>
                <a:ea typeface="Meiryo UI" pitchFamily="34" charset="-122"/>
                <a:cs typeface="Meiryo UI" pitchFamily="34" charset="-120"/>
              </a:rPr>
              <a:t>外付け商談部隊を活用し、商談の仕組み化を実行。外付け商談部隊が戦略から実行までサポート。</a:t>
            </a:r>
            <a:endParaRPr lang="en-US" sz="1000" dirty="0"/>
          </a:p>
        </p:txBody>
      </p:sp>
      <p:sp>
        <p:nvSpPr>
          <p:cNvPr id="20" name="Shape 18"/>
          <p:cNvSpPr/>
          <p:nvPr/>
        </p:nvSpPr>
        <p:spPr>
          <a:xfrm>
            <a:off x="2135124" y="3611880"/>
            <a:ext cx="1124712" cy="457200"/>
          </a:xfrm>
          <a:prstGeom prst="triangle">
            <a:avLst/>
          </a:prstGeom>
          <a:solidFill>
            <a:srgbClr val="46705A"/>
          </a:solidFill>
          <a:ln w="12700">
            <a:solidFill>
              <a:srgbClr val="46705A"/>
            </a:solidFill>
            <a:prstDash val="solid"/>
          </a:ln>
        </p:spPr>
      </p:sp>
      <p:sp>
        <p:nvSpPr>
          <p:cNvPr id="21" name="Text 19"/>
          <p:cNvSpPr txBox="1"/>
          <p:nvPr/>
        </p:nvSpPr>
        <p:spPr>
          <a:xfrm>
            <a:off x="2135124" y="3817620"/>
            <a:ext cx="1124712" cy="2514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貴社</a:t>
            </a:r>
            <a:endParaRPr lang="en-US" sz="1100" dirty="0"/>
          </a:p>
        </p:txBody>
      </p:sp>
      <p:sp>
        <p:nvSpPr>
          <p:cNvPr id="22" name="Shape 20"/>
          <p:cNvSpPr/>
          <p:nvPr/>
        </p:nvSpPr>
        <p:spPr>
          <a:xfrm>
            <a:off x="2697480" y="4069080"/>
            <a:ext cx="0" cy="91440"/>
          </a:xfrm>
          <a:prstGeom prst="line">
            <a:avLst/>
          </a:prstGeom>
          <a:noFill/>
          <a:ln w="25400">
            <a:solidFill>
              <a:srgbClr val="46705A"/>
            </a:solidFill>
            <a:prstDash val="solid"/>
          </a:ln>
        </p:spPr>
      </p:sp>
      <p:sp>
        <p:nvSpPr>
          <p:cNvPr id="23" name="Shape 21"/>
          <p:cNvSpPr/>
          <p:nvPr/>
        </p:nvSpPr>
        <p:spPr>
          <a:xfrm>
            <a:off x="1722730" y="4160520"/>
            <a:ext cx="1949501" cy="329184"/>
          </a:xfrm>
          <a:prstGeom prst="roundRect">
            <a:avLst>
              <a:gd name="adj" fmla="val 16667"/>
            </a:avLst>
          </a:prstGeom>
          <a:solidFill>
            <a:srgbClr val="46705A"/>
          </a:solidFill>
          <a:ln w="12700">
            <a:solidFill>
              <a:srgbClr val="46705A"/>
            </a:solidFill>
            <a:prstDash val="solid"/>
          </a:ln>
        </p:spPr>
      </p:sp>
      <p:sp>
        <p:nvSpPr>
          <p:cNvPr id="24" name="Text 22"/>
          <p:cNvSpPr txBox="1"/>
          <p:nvPr/>
        </p:nvSpPr>
        <p:spPr>
          <a:xfrm>
            <a:off x="1722730" y="4160520"/>
            <a:ext cx="194950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外付け専属チーム</a:t>
            </a:r>
            <a:endParaRPr lang="en-US" sz="1150" dirty="0"/>
          </a:p>
        </p:txBody>
      </p:sp>
      <p:sp>
        <p:nvSpPr>
          <p:cNvPr id="25" name="Shape 23"/>
          <p:cNvSpPr/>
          <p:nvPr/>
        </p:nvSpPr>
        <p:spPr>
          <a:xfrm>
            <a:off x="1272845" y="4553712"/>
            <a:ext cx="2849270" cy="347472"/>
          </a:xfrm>
          <a:prstGeom prst="roundRect">
            <a:avLst>
              <a:gd name="adj" fmla="val 15789"/>
            </a:avLst>
          </a:prstGeom>
          <a:solidFill>
            <a:srgbClr val="EDF3EF"/>
          </a:solidFill>
          <a:ln w="12700">
            <a:solidFill>
              <a:srgbClr val="EDF3EF"/>
            </a:solidFill>
            <a:prstDash val="solid"/>
          </a:ln>
        </p:spPr>
      </p:sp>
      <p:sp>
        <p:nvSpPr>
          <p:cNvPr id="26" name="Text 24"/>
          <p:cNvSpPr txBox="1"/>
          <p:nvPr/>
        </p:nvSpPr>
        <p:spPr>
          <a:xfrm>
            <a:off x="1272845" y="4553712"/>
            <a:ext cx="2849270" cy="347472"/>
          </a:xfrm>
          <a:prstGeom prst="rect">
            <a:avLst/>
          </a:prstGeom>
          <a:noFill/>
          <a:ln/>
        </p:spPr>
        <p:txBody>
          <a:bodyPr wrap="square" lIns="0" tIns="0" rIns="0" bIns="0" rtlCol="0" anchor="ctr"/>
          <a:lstStyle/>
          <a:p>
            <a:pPr algn="ctr" indent="0" marL="0">
              <a:buNone/>
            </a:pPr>
            <a:r>
              <a:rPr lang="en-US" sz="1100" b="1" dirty="0">
                <a:solidFill>
                  <a:srgbClr val="46705A"/>
                </a:solidFill>
                <a:latin typeface="Meiryo UI" pitchFamily="34" charset="0"/>
                <a:ea typeface="Meiryo UI" pitchFamily="34" charset="-122"/>
                <a:cs typeface="Meiryo UI" pitchFamily="34" charset="-120"/>
              </a:rPr>
              <a:t>営業マネージャー</a:t>
            </a:r>
            <a:endParaRPr lang="en-US" sz="1100" dirty="0"/>
          </a:p>
        </p:txBody>
      </p:sp>
      <p:sp>
        <p:nvSpPr>
          <p:cNvPr id="27" name="Shape 25"/>
          <p:cNvSpPr/>
          <p:nvPr/>
        </p:nvSpPr>
        <p:spPr>
          <a:xfrm>
            <a:off x="822960" y="4965192"/>
            <a:ext cx="3749040" cy="402336"/>
          </a:xfrm>
          <a:prstGeom prst="roundRect">
            <a:avLst>
              <a:gd name="adj" fmla="val 13636"/>
            </a:avLst>
          </a:prstGeom>
          <a:solidFill>
            <a:srgbClr val="FBEFE4"/>
          </a:solidFill>
          <a:ln w="15875">
            <a:solidFill>
              <a:srgbClr val="B8652A"/>
            </a:solidFill>
            <a:prstDash val="dash"/>
          </a:ln>
        </p:spPr>
      </p:sp>
      <p:sp>
        <p:nvSpPr>
          <p:cNvPr id="28" name="Text 26"/>
          <p:cNvSpPr txBox="1"/>
          <p:nvPr/>
        </p:nvSpPr>
        <p:spPr>
          <a:xfrm>
            <a:off x="822960" y="4965192"/>
            <a:ext cx="3749040" cy="402336"/>
          </a:xfrm>
          <a:prstGeom prst="rect">
            <a:avLst/>
          </a:prstGeom>
          <a:noFill/>
          <a:ln/>
        </p:spPr>
        <p:txBody>
          <a:bodyPr wrap="square" lIns="0" tIns="0" rIns="0" bIns="0" rtlCol="0" anchor="ctr"/>
          <a:lstStyle/>
          <a:p>
            <a:pPr algn="ctr" indent="0" marL="0">
              <a:buNone/>
            </a:pPr>
            <a:r>
              <a:rPr lang="en-US" sz="1100" b="1" dirty="0">
                <a:solidFill>
                  <a:srgbClr val="2F4D3D"/>
                </a:solidFill>
                <a:latin typeface="Meiryo UI" pitchFamily="34" charset="0"/>
                <a:ea typeface="Meiryo UI" pitchFamily="34" charset="-122"/>
                <a:cs typeface="Meiryo UI" pitchFamily="34" charset="-120"/>
              </a:rPr>
              <a:t>商談チーム</a:t>
            </a:r>
            <a:endParaRPr lang="en-US" sz="1100" dirty="0"/>
          </a:p>
        </p:txBody>
      </p:sp>
      <p:sp>
        <p:nvSpPr>
          <p:cNvPr id="29" name="Shape 27"/>
          <p:cNvSpPr/>
          <p:nvPr/>
        </p:nvSpPr>
        <p:spPr>
          <a:xfrm>
            <a:off x="658368" y="3657600"/>
            <a:ext cx="960120" cy="566928"/>
          </a:xfrm>
          <a:prstGeom prst="roundRect">
            <a:avLst>
              <a:gd name="adj" fmla="val 12903"/>
            </a:avLst>
          </a:prstGeom>
          <a:solidFill>
            <a:srgbClr val="FFFFFF"/>
          </a:solidFill>
          <a:ln w="12700">
            <a:solidFill>
              <a:srgbClr val="B8652A"/>
            </a:solidFill>
            <a:prstDash val="solid"/>
          </a:ln>
        </p:spPr>
      </p:sp>
      <p:sp>
        <p:nvSpPr>
          <p:cNvPr id="30" name="Text 28"/>
          <p:cNvSpPr txBox="1"/>
          <p:nvPr/>
        </p:nvSpPr>
        <p:spPr>
          <a:xfrm>
            <a:off x="658368" y="3657600"/>
            <a:ext cx="960120" cy="566928"/>
          </a:xfrm>
          <a:prstGeom prst="rect">
            <a:avLst/>
          </a:prstGeom>
          <a:noFill/>
          <a:ln/>
        </p:spPr>
        <p:txBody>
          <a:bodyPr wrap="square" lIns="0" tIns="0" rIns="0" bIns="0" rtlCol="0" anchor="ctr"/>
          <a:lstStyle/>
          <a:p>
            <a:pPr algn="ctr" indent="0" marL="0">
              <a:buNone/>
            </a:pPr>
            <a:r>
              <a:rPr lang="en-US" sz="850" dirty="0">
                <a:solidFill>
                  <a:srgbClr val="2F4D3D"/>
                </a:solidFill>
                <a:latin typeface="Meiryo UI" pitchFamily="34" charset="0"/>
                <a:ea typeface="Meiryo UI" pitchFamily="34" charset="-122"/>
                <a:cs typeface="Meiryo UI" pitchFamily="34" charset="-120"/>
              </a:rPr>
              <a:t>雇用コスト</a:t>
            </a:r>
            <a:endParaRPr lang="en-US" sz="850" dirty="0"/>
          </a:p>
          <a:p>
            <a:pPr algn="ctr" indent="0" marL="0">
              <a:buNone/>
            </a:pPr>
            <a:r>
              <a:rPr lang="en-US" sz="1500" b="1" dirty="0">
                <a:solidFill>
                  <a:srgbClr val="B8652A"/>
                </a:solidFill>
                <a:latin typeface="Meiryo UI" pitchFamily="34" charset="0"/>
                <a:ea typeface="Meiryo UI" pitchFamily="34" charset="-122"/>
                <a:cs typeface="Meiryo UI" pitchFamily="34" charset="-120"/>
              </a:rPr>
              <a:t>1名分</a:t>
            </a:r>
            <a:endParaRPr lang="en-US" sz="850" dirty="0"/>
          </a:p>
        </p:txBody>
      </p:sp>
      <p:sp>
        <p:nvSpPr>
          <p:cNvPr id="31" name="Shape 29"/>
          <p:cNvSpPr/>
          <p:nvPr/>
        </p:nvSpPr>
        <p:spPr>
          <a:xfrm>
            <a:off x="5074920" y="2697480"/>
            <a:ext cx="6568135" cy="2898648"/>
          </a:xfrm>
          <a:prstGeom prst="roundRect">
            <a:avLst>
              <a:gd name="adj" fmla="val 3785"/>
            </a:avLst>
          </a:prstGeom>
          <a:solidFill>
            <a:srgbClr val="FBEFE4"/>
          </a:solidFill>
          <a:ln w="12700">
            <a:solidFill>
              <a:srgbClr val="FBEFE4"/>
            </a:solidFill>
            <a:prstDash val="solid"/>
          </a:ln>
        </p:spPr>
      </p:sp>
      <p:sp>
        <p:nvSpPr>
          <p:cNvPr id="32" name="Text 30"/>
          <p:cNvSpPr txBox="1"/>
          <p:nvPr/>
        </p:nvSpPr>
        <p:spPr>
          <a:xfrm>
            <a:off x="5257800" y="2788920"/>
            <a:ext cx="6202375" cy="329184"/>
          </a:xfrm>
          <a:prstGeom prst="rect">
            <a:avLst/>
          </a:prstGeom>
          <a:noFill/>
          <a:ln/>
        </p:spPr>
        <p:txBody>
          <a:bodyPr wrap="square" lIns="0" tIns="0" rIns="0" bIns="0" rtlCol="0" anchor="t"/>
          <a:lstStyle/>
          <a:p>
            <a:pPr algn="ctr" indent="0" marL="0">
              <a:buNone/>
            </a:pPr>
            <a:r>
              <a:rPr lang="en-US" sz="1450" b="1" dirty="0">
                <a:solidFill>
                  <a:srgbClr val="B8652A"/>
                </a:solidFill>
                <a:latin typeface="Meiryo UI" pitchFamily="34" charset="0"/>
                <a:ea typeface="Meiryo UI" pitchFamily="34" charset="-122"/>
                <a:cs typeface="Meiryo UI" pitchFamily="34" charset="-120"/>
              </a:rPr>
              <a:t>「スペシャリスト」</a:t>
            </a:r>
            <a:endParaRPr lang="en-US" sz="1450" dirty="0"/>
          </a:p>
        </p:txBody>
      </p:sp>
      <p:sp>
        <p:nvSpPr>
          <p:cNvPr id="33" name="Text 31"/>
          <p:cNvSpPr txBox="1"/>
          <p:nvPr/>
        </p:nvSpPr>
        <p:spPr>
          <a:xfrm>
            <a:off x="5349240" y="3136392"/>
            <a:ext cx="6019495" cy="2743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商談における各業務のスペシャリストをチームにアサインし、業務を運用</a:t>
            </a:r>
            <a:endParaRPr lang="en-US" sz="1050" dirty="0"/>
          </a:p>
        </p:txBody>
      </p:sp>
      <p:sp>
        <p:nvSpPr>
          <p:cNvPr id="34" name="Shape 32"/>
          <p:cNvSpPr/>
          <p:nvPr/>
        </p:nvSpPr>
        <p:spPr>
          <a:xfrm>
            <a:off x="5349240" y="3502152"/>
            <a:ext cx="2941168" cy="365760"/>
          </a:xfrm>
          <a:prstGeom prst="roundRect">
            <a:avLst>
              <a:gd name="adj" fmla="val 12500"/>
            </a:avLst>
          </a:prstGeom>
          <a:solidFill>
            <a:srgbClr val="FFFFFF"/>
          </a:solidFill>
          <a:ln w="12700">
            <a:solidFill>
              <a:srgbClr val="FFFFFF"/>
            </a:solidFill>
            <a:prstDash val="solid"/>
          </a:ln>
        </p:spPr>
      </p:sp>
      <p:pic>
        <p:nvPicPr>
          <p:cNvPr id="35" name="Image 0" descr="preencoded.png">    </p:cNvPr>
          <p:cNvPicPr>
            <a:picLocks noChangeAspect="1"/>
          </p:cNvPicPr>
          <p:nvPr/>
        </p:nvPicPr>
        <p:blipFill>
          <a:blip r:embed="rId1"/>
          <a:stretch>
            <a:fillRect/>
          </a:stretch>
        </p:blipFill>
        <p:spPr>
          <a:xfrm>
            <a:off x="5458968" y="3575304"/>
            <a:ext cx="219456" cy="219456"/>
          </a:xfrm>
          <a:prstGeom prst="rect">
            <a:avLst/>
          </a:prstGeom>
        </p:spPr>
      </p:pic>
      <p:sp>
        <p:nvSpPr>
          <p:cNvPr id="36" name="Text 33"/>
          <p:cNvSpPr txBox="1"/>
          <p:nvPr/>
        </p:nvSpPr>
        <p:spPr>
          <a:xfrm>
            <a:off x="5760720" y="3502152"/>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商談台本作成</a:t>
            </a:r>
            <a:endParaRPr lang="en-US" sz="1050" dirty="0"/>
          </a:p>
        </p:txBody>
      </p:sp>
      <p:sp>
        <p:nvSpPr>
          <p:cNvPr id="37" name="Shape 34"/>
          <p:cNvSpPr/>
          <p:nvPr/>
        </p:nvSpPr>
        <p:spPr>
          <a:xfrm>
            <a:off x="8427568" y="3502152"/>
            <a:ext cx="2941168" cy="365760"/>
          </a:xfrm>
          <a:prstGeom prst="roundRect">
            <a:avLst>
              <a:gd name="adj" fmla="val 12500"/>
            </a:avLst>
          </a:prstGeom>
          <a:solidFill>
            <a:srgbClr val="FFFFFF"/>
          </a:solidFill>
          <a:ln w="12700">
            <a:solidFill>
              <a:srgbClr val="FFFFFF"/>
            </a:solidFill>
            <a:prstDash val="solid"/>
          </a:ln>
        </p:spPr>
      </p:sp>
      <p:pic>
        <p:nvPicPr>
          <p:cNvPr id="38" name="Image 1" descr="preencoded.png">    </p:cNvPr>
          <p:cNvPicPr>
            <a:picLocks noChangeAspect="1"/>
          </p:cNvPicPr>
          <p:nvPr/>
        </p:nvPicPr>
        <p:blipFill>
          <a:blip r:embed="rId2"/>
          <a:stretch>
            <a:fillRect/>
          </a:stretch>
        </p:blipFill>
        <p:spPr>
          <a:xfrm>
            <a:off x="8537296" y="3575304"/>
            <a:ext cx="219456" cy="219456"/>
          </a:xfrm>
          <a:prstGeom prst="rect">
            <a:avLst/>
          </a:prstGeom>
        </p:spPr>
      </p:pic>
      <p:sp>
        <p:nvSpPr>
          <p:cNvPr id="39" name="Text 35"/>
          <p:cNvSpPr txBox="1"/>
          <p:nvPr/>
        </p:nvSpPr>
        <p:spPr>
          <a:xfrm>
            <a:off x="8839048" y="3502152"/>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オンライン商談</a:t>
            </a:r>
            <a:endParaRPr lang="en-US" sz="1050" dirty="0"/>
          </a:p>
        </p:txBody>
      </p:sp>
      <p:sp>
        <p:nvSpPr>
          <p:cNvPr id="40" name="Shape 36"/>
          <p:cNvSpPr/>
          <p:nvPr/>
        </p:nvSpPr>
        <p:spPr>
          <a:xfrm>
            <a:off x="5349240" y="3931920"/>
            <a:ext cx="2941168" cy="365760"/>
          </a:xfrm>
          <a:prstGeom prst="roundRect">
            <a:avLst>
              <a:gd name="adj" fmla="val 12500"/>
            </a:avLst>
          </a:prstGeom>
          <a:solidFill>
            <a:srgbClr val="FFFFFF"/>
          </a:solidFill>
          <a:ln w="12700">
            <a:solidFill>
              <a:srgbClr val="FFFFFF"/>
            </a:solidFill>
            <a:prstDash val="solid"/>
          </a:ln>
        </p:spPr>
      </p:sp>
      <p:pic>
        <p:nvPicPr>
          <p:cNvPr id="41" name="Image 2" descr="preencoded.png">    </p:cNvPr>
          <p:cNvPicPr>
            <a:picLocks noChangeAspect="1"/>
          </p:cNvPicPr>
          <p:nvPr/>
        </p:nvPicPr>
        <p:blipFill>
          <a:blip r:embed="rId3"/>
          <a:stretch>
            <a:fillRect/>
          </a:stretch>
        </p:blipFill>
        <p:spPr>
          <a:xfrm>
            <a:off x="5458968" y="4005072"/>
            <a:ext cx="219456" cy="219456"/>
          </a:xfrm>
          <a:prstGeom prst="rect">
            <a:avLst/>
          </a:prstGeom>
        </p:spPr>
      </p:pic>
      <p:sp>
        <p:nvSpPr>
          <p:cNvPr id="42" name="Text 37"/>
          <p:cNvSpPr txBox="1"/>
          <p:nvPr/>
        </p:nvSpPr>
        <p:spPr>
          <a:xfrm>
            <a:off x="5760720" y="3931920"/>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ロープレ</a:t>
            </a:r>
            <a:endParaRPr lang="en-US" sz="1050" dirty="0"/>
          </a:p>
        </p:txBody>
      </p:sp>
      <p:sp>
        <p:nvSpPr>
          <p:cNvPr id="43" name="Shape 38"/>
          <p:cNvSpPr/>
          <p:nvPr/>
        </p:nvSpPr>
        <p:spPr>
          <a:xfrm>
            <a:off x="8427568" y="3931920"/>
            <a:ext cx="2941168" cy="365760"/>
          </a:xfrm>
          <a:prstGeom prst="roundRect">
            <a:avLst>
              <a:gd name="adj" fmla="val 12500"/>
            </a:avLst>
          </a:prstGeom>
          <a:solidFill>
            <a:srgbClr val="FFFFFF"/>
          </a:solidFill>
          <a:ln w="12700">
            <a:solidFill>
              <a:srgbClr val="FFFFFF"/>
            </a:solidFill>
            <a:prstDash val="solid"/>
          </a:ln>
        </p:spPr>
      </p:sp>
      <p:pic>
        <p:nvPicPr>
          <p:cNvPr id="44" name="Image 3" descr="preencoded.png">    </p:cNvPr>
          <p:cNvPicPr>
            <a:picLocks noChangeAspect="1"/>
          </p:cNvPicPr>
          <p:nvPr/>
        </p:nvPicPr>
        <p:blipFill>
          <a:blip r:embed="rId4"/>
          <a:stretch>
            <a:fillRect/>
          </a:stretch>
        </p:blipFill>
        <p:spPr>
          <a:xfrm>
            <a:off x="8537296" y="4005072"/>
            <a:ext cx="219456" cy="219456"/>
          </a:xfrm>
          <a:prstGeom prst="rect">
            <a:avLst/>
          </a:prstGeom>
        </p:spPr>
      </p:pic>
      <p:sp>
        <p:nvSpPr>
          <p:cNvPr id="45" name="Text 39"/>
          <p:cNvSpPr txBox="1"/>
          <p:nvPr/>
        </p:nvSpPr>
        <p:spPr>
          <a:xfrm>
            <a:off x="8839048" y="3931920"/>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競合調査</a:t>
            </a:r>
            <a:endParaRPr lang="en-US" sz="1050" dirty="0"/>
          </a:p>
        </p:txBody>
      </p:sp>
      <p:sp>
        <p:nvSpPr>
          <p:cNvPr id="46" name="Shape 40"/>
          <p:cNvSpPr/>
          <p:nvPr/>
        </p:nvSpPr>
        <p:spPr>
          <a:xfrm>
            <a:off x="5349240" y="4361688"/>
            <a:ext cx="2941168" cy="365760"/>
          </a:xfrm>
          <a:prstGeom prst="roundRect">
            <a:avLst>
              <a:gd name="adj" fmla="val 12500"/>
            </a:avLst>
          </a:prstGeom>
          <a:solidFill>
            <a:srgbClr val="FFFFFF"/>
          </a:solidFill>
          <a:ln w="12700">
            <a:solidFill>
              <a:srgbClr val="FFFFFF"/>
            </a:solidFill>
            <a:prstDash val="solid"/>
          </a:ln>
        </p:spPr>
      </p:sp>
      <p:pic>
        <p:nvPicPr>
          <p:cNvPr id="47" name="Image 4" descr="preencoded.png">    </p:cNvPr>
          <p:cNvPicPr>
            <a:picLocks noChangeAspect="1"/>
          </p:cNvPicPr>
          <p:nvPr/>
        </p:nvPicPr>
        <p:blipFill>
          <a:blip r:embed="rId5"/>
          <a:stretch>
            <a:fillRect/>
          </a:stretch>
        </p:blipFill>
        <p:spPr>
          <a:xfrm>
            <a:off x="5458968" y="4434840"/>
            <a:ext cx="219456" cy="219456"/>
          </a:xfrm>
          <a:prstGeom prst="rect">
            <a:avLst/>
          </a:prstGeom>
        </p:spPr>
      </p:pic>
      <p:sp>
        <p:nvSpPr>
          <p:cNvPr id="48" name="Text 41"/>
          <p:cNvSpPr txBox="1"/>
          <p:nvPr/>
        </p:nvSpPr>
        <p:spPr>
          <a:xfrm>
            <a:off x="5760720" y="4361688"/>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ビジネスマッチング</a:t>
            </a:r>
            <a:endParaRPr lang="en-US" sz="1050" dirty="0"/>
          </a:p>
        </p:txBody>
      </p:sp>
      <p:sp>
        <p:nvSpPr>
          <p:cNvPr id="49" name="Shape 42"/>
          <p:cNvSpPr/>
          <p:nvPr/>
        </p:nvSpPr>
        <p:spPr>
          <a:xfrm>
            <a:off x="8427568" y="4361688"/>
            <a:ext cx="2941168" cy="365760"/>
          </a:xfrm>
          <a:prstGeom prst="roundRect">
            <a:avLst>
              <a:gd name="adj" fmla="val 12500"/>
            </a:avLst>
          </a:prstGeom>
          <a:solidFill>
            <a:srgbClr val="FFFFFF"/>
          </a:solidFill>
          <a:ln w="12700">
            <a:solidFill>
              <a:srgbClr val="FFFFFF"/>
            </a:solidFill>
            <a:prstDash val="solid"/>
          </a:ln>
        </p:spPr>
      </p:sp>
      <p:pic>
        <p:nvPicPr>
          <p:cNvPr id="50" name="Image 5" descr="preencoded.png">    </p:cNvPr>
          <p:cNvPicPr>
            <a:picLocks noChangeAspect="1"/>
          </p:cNvPicPr>
          <p:nvPr/>
        </p:nvPicPr>
        <p:blipFill>
          <a:blip r:embed="rId6"/>
          <a:stretch>
            <a:fillRect/>
          </a:stretch>
        </p:blipFill>
        <p:spPr>
          <a:xfrm>
            <a:off x="8537296" y="4434840"/>
            <a:ext cx="219456" cy="219456"/>
          </a:xfrm>
          <a:prstGeom prst="rect">
            <a:avLst/>
          </a:prstGeom>
        </p:spPr>
      </p:pic>
      <p:sp>
        <p:nvSpPr>
          <p:cNvPr id="51" name="Text 43"/>
          <p:cNvSpPr txBox="1"/>
          <p:nvPr/>
        </p:nvSpPr>
        <p:spPr>
          <a:xfrm>
            <a:off x="8839048" y="4361688"/>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マニュアル・カリキュラム作成</a:t>
            </a:r>
            <a:endParaRPr lang="en-US" sz="1050" dirty="0"/>
          </a:p>
        </p:txBody>
      </p:sp>
      <p:sp>
        <p:nvSpPr>
          <p:cNvPr id="52" name="Shape 44"/>
          <p:cNvSpPr/>
          <p:nvPr/>
        </p:nvSpPr>
        <p:spPr>
          <a:xfrm>
            <a:off x="5349240" y="4791456"/>
            <a:ext cx="2941168" cy="365760"/>
          </a:xfrm>
          <a:prstGeom prst="roundRect">
            <a:avLst>
              <a:gd name="adj" fmla="val 12500"/>
            </a:avLst>
          </a:prstGeom>
          <a:solidFill>
            <a:srgbClr val="FFFFFF"/>
          </a:solidFill>
          <a:ln w="12700">
            <a:solidFill>
              <a:srgbClr val="FFFFFF"/>
            </a:solidFill>
            <a:prstDash val="solid"/>
          </a:ln>
        </p:spPr>
      </p:sp>
      <p:pic>
        <p:nvPicPr>
          <p:cNvPr id="53" name="Image 6" descr="preencoded.png">    </p:cNvPr>
          <p:cNvPicPr>
            <a:picLocks noChangeAspect="1"/>
          </p:cNvPicPr>
          <p:nvPr/>
        </p:nvPicPr>
        <p:blipFill>
          <a:blip r:embed="rId7"/>
          <a:stretch>
            <a:fillRect/>
          </a:stretch>
        </p:blipFill>
        <p:spPr>
          <a:xfrm>
            <a:off x="5458968" y="4864608"/>
            <a:ext cx="219456" cy="219456"/>
          </a:xfrm>
          <a:prstGeom prst="rect">
            <a:avLst/>
          </a:prstGeom>
        </p:spPr>
      </p:pic>
      <p:sp>
        <p:nvSpPr>
          <p:cNvPr id="54" name="Text 45"/>
          <p:cNvSpPr txBox="1"/>
          <p:nvPr/>
        </p:nvSpPr>
        <p:spPr>
          <a:xfrm>
            <a:off x="5760720" y="4791456"/>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失注先へのフォローアプローチ</a:t>
            </a:r>
            <a:endParaRPr lang="en-US" sz="1050" dirty="0"/>
          </a:p>
        </p:txBody>
      </p:sp>
      <p:sp>
        <p:nvSpPr>
          <p:cNvPr id="55" name="Shape 46"/>
          <p:cNvSpPr/>
          <p:nvPr/>
        </p:nvSpPr>
        <p:spPr>
          <a:xfrm>
            <a:off x="8427568" y="4791456"/>
            <a:ext cx="2941168" cy="365760"/>
          </a:xfrm>
          <a:prstGeom prst="roundRect">
            <a:avLst>
              <a:gd name="adj" fmla="val 12500"/>
            </a:avLst>
          </a:prstGeom>
          <a:solidFill>
            <a:srgbClr val="FFFFFF"/>
          </a:solidFill>
          <a:ln w="12700">
            <a:solidFill>
              <a:srgbClr val="FFFFFF"/>
            </a:solidFill>
            <a:prstDash val="solid"/>
          </a:ln>
        </p:spPr>
      </p:sp>
      <p:pic>
        <p:nvPicPr>
          <p:cNvPr id="56" name="Image 7" descr="preencoded.png">    </p:cNvPr>
          <p:cNvPicPr>
            <a:picLocks noChangeAspect="1"/>
          </p:cNvPicPr>
          <p:nvPr/>
        </p:nvPicPr>
        <p:blipFill>
          <a:blip r:embed="rId8"/>
          <a:stretch>
            <a:fillRect/>
          </a:stretch>
        </p:blipFill>
        <p:spPr>
          <a:xfrm>
            <a:off x="8537296" y="4864608"/>
            <a:ext cx="219456" cy="219456"/>
          </a:xfrm>
          <a:prstGeom prst="rect">
            <a:avLst/>
          </a:prstGeom>
        </p:spPr>
      </p:pic>
      <p:sp>
        <p:nvSpPr>
          <p:cNvPr id="57" name="Text 47"/>
          <p:cNvSpPr txBox="1"/>
          <p:nvPr/>
        </p:nvSpPr>
        <p:spPr>
          <a:xfrm>
            <a:off x="8839048" y="4791456"/>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料金表修正</a:t>
            </a:r>
            <a:endParaRPr lang="en-US" sz="1050" dirty="0"/>
          </a:p>
        </p:txBody>
      </p:sp>
      <p:sp>
        <p:nvSpPr>
          <p:cNvPr id="58" name="Shape 48"/>
          <p:cNvSpPr/>
          <p:nvPr/>
        </p:nvSpPr>
        <p:spPr>
          <a:xfrm>
            <a:off x="5349240" y="5221224"/>
            <a:ext cx="2941168" cy="365760"/>
          </a:xfrm>
          <a:prstGeom prst="roundRect">
            <a:avLst>
              <a:gd name="adj" fmla="val 12500"/>
            </a:avLst>
          </a:prstGeom>
          <a:solidFill>
            <a:srgbClr val="FFFFFF"/>
          </a:solidFill>
          <a:ln w="12700">
            <a:solidFill>
              <a:srgbClr val="FFFFFF"/>
            </a:solidFill>
            <a:prstDash val="solid"/>
          </a:ln>
        </p:spPr>
      </p:sp>
      <p:pic>
        <p:nvPicPr>
          <p:cNvPr id="59" name="Image 8" descr="preencoded.png">    </p:cNvPr>
          <p:cNvPicPr>
            <a:picLocks noChangeAspect="1"/>
          </p:cNvPicPr>
          <p:nvPr/>
        </p:nvPicPr>
        <p:blipFill>
          <a:blip r:embed="rId9"/>
          <a:stretch>
            <a:fillRect/>
          </a:stretch>
        </p:blipFill>
        <p:spPr>
          <a:xfrm>
            <a:off x="5458968" y="5294376"/>
            <a:ext cx="219456" cy="219456"/>
          </a:xfrm>
          <a:prstGeom prst="rect">
            <a:avLst/>
          </a:prstGeom>
        </p:spPr>
      </p:pic>
      <p:sp>
        <p:nvSpPr>
          <p:cNvPr id="60" name="Text 49"/>
          <p:cNvSpPr txBox="1"/>
          <p:nvPr/>
        </p:nvSpPr>
        <p:spPr>
          <a:xfrm>
            <a:off x="5760720" y="5221224"/>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営業研修</a:t>
            </a:r>
            <a:endParaRPr lang="en-US" sz="1050" dirty="0"/>
          </a:p>
        </p:txBody>
      </p:sp>
      <p:sp>
        <p:nvSpPr>
          <p:cNvPr id="61" name="Shape 50"/>
          <p:cNvSpPr/>
          <p:nvPr/>
        </p:nvSpPr>
        <p:spPr>
          <a:xfrm>
            <a:off x="8427568" y="5221224"/>
            <a:ext cx="2941168" cy="365760"/>
          </a:xfrm>
          <a:prstGeom prst="roundRect">
            <a:avLst>
              <a:gd name="adj" fmla="val 12500"/>
            </a:avLst>
          </a:prstGeom>
          <a:solidFill>
            <a:srgbClr val="FFFFFF"/>
          </a:solidFill>
          <a:ln w="12700">
            <a:solidFill>
              <a:srgbClr val="FFFFFF"/>
            </a:solidFill>
            <a:prstDash val="solid"/>
          </a:ln>
        </p:spPr>
      </p:sp>
      <p:pic>
        <p:nvPicPr>
          <p:cNvPr id="62" name="Image 9" descr="preencoded.png">    </p:cNvPr>
          <p:cNvPicPr>
            <a:picLocks noChangeAspect="1"/>
          </p:cNvPicPr>
          <p:nvPr/>
        </p:nvPicPr>
        <p:blipFill>
          <a:blip r:embed="rId10"/>
          <a:stretch>
            <a:fillRect/>
          </a:stretch>
        </p:blipFill>
        <p:spPr>
          <a:xfrm>
            <a:off x="8537296" y="5294376"/>
            <a:ext cx="219456" cy="219456"/>
          </a:xfrm>
          <a:prstGeom prst="rect">
            <a:avLst/>
          </a:prstGeom>
        </p:spPr>
      </p:pic>
      <p:sp>
        <p:nvSpPr>
          <p:cNvPr id="63" name="Text 51"/>
          <p:cNvSpPr txBox="1"/>
          <p:nvPr/>
        </p:nvSpPr>
        <p:spPr>
          <a:xfrm>
            <a:off x="8839048" y="5221224"/>
            <a:ext cx="2483968" cy="365760"/>
          </a:xfrm>
          <a:prstGeom prst="rect">
            <a:avLst/>
          </a:prstGeom>
          <a:noFill/>
          <a:ln/>
        </p:spPr>
        <p:txBody>
          <a:bodyPr wrap="square" lIns="0" tIns="0" rIns="0" bIns="0" rtlCol="0" anchor="ctr"/>
          <a:lstStyle/>
          <a:p>
            <a:pPr indent="0" marL="0">
              <a:buNone/>
            </a:pPr>
            <a:r>
              <a:rPr lang="en-US" sz="1050" b="1" dirty="0">
                <a:solidFill>
                  <a:srgbClr val="2F4D3D"/>
                </a:solidFill>
                <a:latin typeface="Meiryo UI" pitchFamily="34" charset="0"/>
                <a:ea typeface="Meiryo UI" pitchFamily="34" charset="-122"/>
                <a:cs typeface="Meiryo UI" pitchFamily="34" charset="-120"/>
              </a:rPr>
              <a:t>商談レポート作成</a:t>
            </a:r>
            <a:endParaRPr lang="en-US" sz="1050" dirty="0"/>
          </a:p>
        </p:txBody>
      </p:sp>
      <p:sp>
        <p:nvSpPr>
          <p:cNvPr id="64" name="Shape 52"/>
          <p:cNvSpPr/>
          <p:nvPr/>
        </p:nvSpPr>
        <p:spPr>
          <a:xfrm>
            <a:off x="548640" y="5715000"/>
            <a:ext cx="11094415" cy="621792"/>
          </a:xfrm>
          <a:prstGeom prst="roundRect">
            <a:avLst>
              <a:gd name="adj" fmla="val 17647"/>
            </a:avLst>
          </a:prstGeom>
          <a:solidFill>
            <a:srgbClr val="EDF3EF"/>
          </a:solidFill>
          <a:ln w="12700">
            <a:solidFill>
              <a:srgbClr val="EDF3EF"/>
            </a:solidFill>
            <a:prstDash val="solid"/>
          </a:ln>
        </p:spPr>
      </p:sp>
      <p:sp>
        <p:nvSpPr>
          <p:cNvPr id="65" name="Shape 53"/>
          <p:cNvSpPr/>
          <p:nvPr/>
        </p:nvSpPr>
        <p:spPr>
          <a:xfrm>
            <a:off x="685800" y="5815584"/>
            <a:ext cx="420624" cy="420624"/>
          </a:xfrm>
          <a:prstGeom prst="ellipse">
            <a:avLst/>
          </a:prstGeom>
          <a:solidFill>
            <a:srgbClr val="46705A"/>
          </a:solidFill>
          <a:ln w="12700">
            <a:solidFill>
              <a:srgbClr val="46705A"/>
            </a:solidFill>
            <a:prstDash val="solid"/>
          </a:ln>
        </p:spPr>
      </p:sp>
      <p:pic>
        <p:nvPicPr>
          <p:cNvPr id="66" name="Image 10" descr="preencoded.png">    </p:cNvPr>
          <p:cNvPicPr>
            <a:picLocks noChangeAspect="1"/>
          </p:cNvPicPr>
          <p:nvPr/>
        </p:nvPicPr>
        <p:blipFill>
          <a:blip r:embed="rId11"/>
          <a:stretch>
            <a:fillRect/>
          </a:stretch>
        </p:blipFill>
        <p:spPr>
          <a:xfrm>
            <a:off x="795162" y="5924946"/>
            <a:ext cx="201900" cy="201900"/>
          </a:xfrm>
          <a:prstGeom prst="rect">
            <a:avLst/>
          </a:prstGeom>
        </p:spPr>
      </p:pic>
      <p:sp>
        <p:nvSpPr>
          <p:cNvPr id="67" name="Text 54"/>
          <p:cNvSpPr txBox="1"/>
          <p:nvPr/>
        </p:nvSpPr>
        <p:spPr>
          <a:xfrm>
            <a:off x="1234440" y="5715000"/>
            <a:ext cx="10271455" cy="621792"/>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貴法人での活用イメージ：</a:t>
            </a:r>
            <a:pPr indent="0" marL="0">
              <a:buNone/>
            </a:pPr>
            <a:r>
              <a:rPr lang="en-US" sz="1150" dirty="0">
                <a:solidFill>
                  <a:srgbClr val="2A322D"/>
                </a:solidFill>
                <a:latin typeface="Meiryo UI" pitchFamily="34" charset="0"/>
                <a:ea typeface="Meiryo UI" pitchFamily="34" charset="-122"/>
                <a:cs typeface="Meiryo UI" pitchFamily="34" charset="-120"/>
              </a:rPr>
              <a:t>区役所・相談支援事業所への説明資料と、見学・相談の場で使う台本を整え、見学から利用登録へのつながりを強くします。</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 5</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営業支援［セールスプラットフォーム］</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27</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243584"/>
            <a:ext cx="612648" cy="274320"/>
          </a:xfrm>
          <a:prstGeom prst="roundRect">
            <a:avLst>
              <a:gd name="adj" fmla="val 26667"/>
            </a:avLst>
          </a:prstGeom>
          <a:solidFill>
            <a:srgbClr val="EDF3EF"/>
          </a:solidFill>
          <a:ln w="12700">
            <a:solidFill>
              <a:srgbClr val="EDF3EF"/>
            </a:solidFill>
            <a:prstDash val="solid"/>
          </a:ln>
        </p:spPr>
      </p:sp>
      <p:sp>
        <p:nvSpPr>
          <p:cNvPr id="7" name="Text 5"/>
          <p:cNvSpPr txBox="1"/>
          <p:nvPr/>
        </p:nvSpPr>
        <p:spPr>
          <a:xfrm>
            <a:off x="548640" y="1243584"/>
            <a:ext cx="612648"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営業</a:t>
            </a:r>
            <a:endParaRPr lang="en-US" sz="1000" dirty="0"/>
          </a:p>
        </p:txBody>
      </p:sp>
      <p:sp>
        <p:nvSpPr>
          <p:cNvPr id="8" name="Shape 6"/>
          <p:cNvSpPr/>
          <p:nvPr/>
        </p:nvSpPr>
        <p:spPr>
          <a:xfrm>
            <a:off x="1271016" y="1243584"/>
            <a:ext cx="1051560" cy="274320"/>
          </a:xfrm>
          <a:prstGeom prst="roundRect">
            <a:avLst>
              <a:gd name="adj" fmla="val 26667"/>
            </a:avLst>
          </a:prstGeom>
          <a:solidFill>
            <a:srgbClr val="EDF3EF"/>
          </a:solidFill>
          <a:ln w="12700">
            <a:solidFill>
              <a:srgbClr val="EDF3EF"/>
            </a:solidFill>
            <a:prstDash val="solid"/>
          </a:ln>
        </p:spPr>
      </p:sp>
      <p:sp>
        <p:nvSpPr>
          <p:cNvPr id="9" name="Text 7"/>
          <p:cNvSpPr txBox="1"/>
          <p:nvPr/>
        </p:nvSpPr>
        <p:spPr>
          <a:xfrm>
            <a:off x="1271016" y="1243584"/>
            <a:ext cx="1051560"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リード獲得</a:t>
            </a:r>
            <a:endParaRPr lang="en-US" sz="1000" dirty="0"/>
          </a:p>
        </p:txBody>
      </p:sp>
      <p:sp>
        <p:nvSpPr>
          <p:cNvPr id="10" name="Shape 8"/>
          <p:cNvSpPr/>
          <p:nvPr/>
        </p:nvSpPr>
        <p:spPr>
          <a:xfrm>
            <a:off x="2432304" y="1243584"/>
            <a:ext cx="1636776" cy="274320"/>
          </a:xfrm>
          <a:prstGeom prst="roundRect">
            <a:avLst>
              <a:gd name="adj" fmla="val 26667"/>
            </a:avLst>
          </a:prstGeom>
          <a:solidFill>
            <a:srgbClr val="EDF3EF"/>
          </a:solidFill>
          <a:ln w="12700">
            <a:solidFill>
              <a:srgbClr val="EDF3EF"/>
            </a:solidFill>
            <a:prstDash val="solid"/>
          </a:ln>
        </p:spPr>
      </p:sp>
      <p:sp>
        <p:nvSpPr>
          <p:cNvPr id="11" name="Text 9"/>
          <p:cNvSpPr txBox="1"/>
          <p:nvPr/>
        </p:nvSpPr>
        <p:spPr>
          <a:xfrm>
            <a:off x="2432304" y="1243584"/>
            <a:ext cx="1636776" cy="274320"/>
          </a:xfrm>
          <a:prstGeom prst="rect">
            <a:avLst/>
          </a:prstGeom>
          <a:noFill/>
          <a:ln/>
        </p:spPr>
        <p:txBody>
          <a:bodyPr wrap="square" lIns="0" tIns="0" rIns="0" bIns="0" rtlCol="0" anchor="ctr"/>
          <a:lstStyle/>
          <a:p>
            <a:pPr algn="ctr" indent="0" marL="0">
              <a:buNone/>
            </a:pPr>
            <a:r>
              <a:rPr lang="en-US" sz="1000" b="1" dirty="0">
                <a:solidFill>
                  <a:srgbClr val="46705A"/>
                </a:solidFill>
                <a:latin typeface="Meiryo UI" pitchFamily="34" charset="0"/>
                <a:ea typeface="Meiryo UI" pitchFamily="34" charset="-122"/>
                <a:cs typeface="Meiryo UI" pitchFamily="34" charset="-120"/>
              </a:rPr>
              <a:t>☑ アウトソーシング型</a:t>
            </a:r>
            <a:endParaRPr lang="en-US" sz="1000" dirty="0"/>
          </a:p>
        </p:txBody>
      </p:sp>
      <p:sp>
        <p:nvSpPr>
          <p:cNvPr id="12" name="Text 10"/>
          <p:cNvSpPr txBox="1"/>
          <p:nvPr/>
        </p:nvSpPr>
        <p:spPr>
          <a:xfrm>
            <a:off x="548640" y="1609344"/>
            <a:ext cx="11094415" cy="502920"/>
          </a:xfrm>
          <a:prstGeom prst="rect">
            <a:avLst/>
          </a:prstGeom>
          <a:noFill/>
          <a:ln/>
        </p:spPr>
        <p:txBody>
          <a:bodyPr wrap="square" lIns="0" tIns="0" rIns="0" bIns="0" rtlCol="0" anchor="ctr"/>
          <a:lstStyle/>
          <a:p>
            <a:pPr algn="ctr" indent="0" marL="0">
              <a:buNone/>
            </a:pPr>
            <a:r>
              <a:rPr lang="en-US" sz="1300" b="1" dirty="0">
                <a:solidFill>
                  <a:srgbClr val="2F4D3D"/>
                </a:solidFill>
                <a:latin typeface="Meiryo UI" pitchFamily="34" charset="0"/>
                <a:ea typeface="Meiryo UI" pitchFamily="34" charset="-122"/>
                <a:cs typeface="Meiryo UI" pitchFamily="34" charset="-120"/>
              </a:rPr>
              <a:t>当社の「人のチカラ」×「テクノロジー」が営業の成功パターンを見つけ、「再現性のある営業の仕組み」として納品します。</a:t>
            </a:r>
            <a:endParaRPr lang="en-US" sz="1300" dirty="0"/>
          </a:p>
        </p:txBody>
      </p:sp>
      <p:sp>
        <p:nvSpPr>
          <p:cNvPr id="13" name="Shape 11"/>
          <p:cNvSpPr/>
          <p:nvPr/>
        </p:nvSpPr>
        <p:spPr>
          <a:xfrm>
            <a:off x="548640" y="2176272"/>
            <a:ext cx="4572000" cy="365760"/>
          </a:xfrm>
          <a:prstGeom prst="homePlate">
            <a:avLst/>
          </a:prstGeom>
          <a:solidFill>
            <a:srgbClr val="46705A"/>
          </a:solidFill>
          <a:ln w="12700">
            <a:solidFill>
              <a:srgbClr val="46705A"/>
            </a:solidFill>
            <a:prstDash val="solid"/>
          </a:ln>
        </p:spPr>
      </p:sp>
      <p:sp>
        <p:nvSpPr>
          <p:cNvPr id="14" name="Text 12"/>
          <p:cNvSpPr txBox="1"/>
          <p:nvPr/>
        </p:nvSpPr>
        <p:spPr>
          <a:xfrm>
            <a:off x="548640" y="2176272"/>
            <a:ext cx="429768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仕組化</a:t>
            </a:r>
            <a:endParaRPr lang="en-US" sz="1300" dirty="0"/>
          </a:p>
        </p:txBody>
      </p:sp>
      <p:sp>
        <p:nvSpPr>
          <p:cNvPr id="15" name="Shape 13"/>
          <p:cNvSpPr/>
          <p:nvPr/>
        </p:nvSpPr>
        <p:spPr>
          <a:xfrm>
            <a:off x="5029200" y="2176272"/>
            <a:ext cx="6613855" cy="365760"/>
          </a:xfrm>
          <a:prstGeom prst="chevron">
            <a:avLst/>
          </a:prstGeom>
          <a:solidFill>
            <a:srgbClr val="B8652A"/>
          </a:solidFill>
          <a:ln w="12700">
            <a:solidFill>
              <a:srgbClr val="B8652A"/>
            </a:solidFill>
            <a:prstDash val="solid"/>
          </a:ln>
        </p:spPr>
      </p:sp>
      <p:sp>
        <p:nvSpPr>
          <p:cNvPr id="16" name="Text 14"/>
          <p:cNvSpPr txBox="1"/>
          <p:nvPr/>
        </p:nvSpPr>
        <p:spPr>
          <a:xfrm>
            <a:off x="5074920" y="2176272"/>
            <a:ext cx="6568135"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運用</a:t>
            </a:r>
            <a:endParaRPr lang="en-US" sz="1300" dirty="0"/>
          </a:p>
        </p:txBody>
      </p:sp>
      <p:sp>
        <p:nvSpPr>
          <p:cNvPr id="17" name="Shape 15"/>
          <p:cNvSpPr/>
          <p:nvPr/>
        </p:nvSpPr>
        <p:spPr>
          <a:xfrm>
            <a:off x="548640" y="2697480"/>
            <a:ext cx="4297680" cy="2898648"/>
          </a:xfrm>
          <a:prstGeom prst="roundRect">
            <a:avLst>
              <a:gd name="adj" fmla="val 3785"/>
            </a:avLst>
          </a:prstGeom>
          <a:solidFill>
            <a:srgbClr val="F6F9F7"/>
          </a:solidFill>
          <a:ln w="12700">
            <a:solidFill>
              <a:srgbClr val="F6F9F7"/>
            </a:solidFill>
            <a:prstDash val="solid"/>
          </a:ln>
        </p:spPr>
      </p:sp>
      <p:sp>
        <p:nvSpPr>
          <p:cNvPr id="18" name="Text 16"/>
          <p:cNvSpPr txBox="1"/>
          <p:nvPr/>
        </p:nvSpPr>
        <p:spPr>
          <a:xfrm>
            <a:off x="685800" y="2788920"/>
            <a:ext cx="4023360" cy="329184"/>
          </a:xfrm>
          <a:prstGeom prst="rect">
            <a:avLst/>
          </a:prstGeom>
          <a:noFill/>
          <a:ln/>
        </p:spPr>
        <p:txBody>
          <a:bodyPr wrap="square" lIns="0" tIns="0" rIns="0" bIns="0" rtlCol="0" anchor="t"/>
          <a:lstStyle/>
          <a:p>
            <a:pPr algn="ctr" indent="0" marL="0">
              <a:buNone/>
            </a:pPr>
            <a:r>
              <a:rPr lang="en-US" sz="1450" b="1" dirty="0">
                <a:solidFill>
                  <a:srgbClr val="46705A"/>
                </a:solidFill>
                <a:latin typeface="Meiryo UI" pitchFamily="34" charset="0"/>
                <a:ea typeface="Meiryo UI" pitchFamily="34" charset="-122"/>
                <a:cs typeface="Meiryo UI" pitchFamily="34" charset="-120"/>
              </a:rPr>
              <a:t>「人のチカラ」</a:t>
            </a:r>
            <a:endParaRPr lang="en-US" sz="1450" dirty="0"/>
          </a:p>
        </p:txBody>
      </p:sp>
      <p:sp>
        <p:nvSpPr>
          <p:cNvPr id="19" name="Text 17"/>
          <p:cNvSpPr txBox="1"/>
          <p:nvPr/>
        </p:nvSpPr>
        <p:spPr>
          <a:xfrm>
            <a:off x="777240" y="3136392"/>
            <a:ext cx="3840480" cy="457200"/>
          </a:xfrm>
          <a:prstGeom prst="rect">
            <a:avLst/>
          </a:prstGeom>
          <a:noFill/>
          <a:ln/>
        </p:spPr>
        <p:txBody>
          <a:bodyPr wrap="square" lIns="0" tIns="0" rIns="0" bIns="0" rtlCol="0" anchor="t"/>
          <a:lstStyle/>
          <a:p>
            <a:pPr algn="ctr" indent="0" marL="0">
              <a:buNone/>
            </a:pPr>
            <a:r>
              <a:rPr lang="en-US" sz="1000" dirty="0">
                <a:solidFill>
                  <a:srgbClr val="2A322D"/>
                </a:solidFill>
                <a:latin typeface="Meiryo UI" pitchFamily="34" charset="0"/>
                <a:ea typeface="Meiryo UI" pitchFamily="34" charset="-122"/>
                <a:cs typeface="Meiryo UI" pitchFamily="34" charset="-120"/>
              </a:rPr>
              <a:t>8名の外付け営業部隊を活用し、営業の仕組み化を実行。外付け営業部隊が戦略から実行までサポート。</a:t>
            </a:r>
            <a:endParaRPr lang="en-US" sz="1000" dirty="0"/>
          </a:p>
        </p:txBody>
      </p:sp>
      <p:sp>
        <p:nvSpPr>
          <p:cNvPr id="20" name="Shape 18"/>
          <p:cNvSpPr/>
          <p:nvPr/>
        </p:nvSpPr>
        <p:spPr>
          <a:xfrm>
            <a:off x="2135124" y="3611880"/>
            <a:ext cx="1124712" cy="457200"/>
          </a:xfrm>
          <a:prstGeom prst="triangle">
            <a:avLst/>
          </a:prstGeom>
          <a:solidFill>
            <a:srgbClr val="46705A"/>
          </a:solidFill>
          <a:ln w="12700">
            <a:solidFill>
              <a:srgbClr val="46705A"/>
            </a:solidFill>
            <a:prstDash val="solid"/>
          </a:ln>
        </p:spPr>
      </p:sp>
      <p:sp>
        <p:nvSpPr>
          <p:cNvPr id="21" name="Text 19"/>
          <p:cNvSpPr txBox="1"/>
          <p:nvPr/>
        </p:nvSpPr>
        <p:spPr>
          <a:xfrm>
            <a:off x="2135124" y="3817620"/>
            <a:ext cx="1124712" cy="2514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貴社</a:t>
            </a:r>
            <a:endParaRPr lang="en-US" sz="1100" dirty="0"/>
          </a:p>
        </p:txBody>
      </p:sp>
      <p:sp>
        <p:nvSpPr>
          <p:cNvPr id="22" name="Shape 20"/>
          <p:cNvSpPr/>
          <p:nvPr/>
        </p:nvSpPr>
        <p:spPr>
          <a:xfrm>
            <a:off x="2697480" y="4069080"/>
            <a:ext cx="0" cy="91440"/>
          </a:xfrm>
          <a:prstGeom prst="line">
            <a:avLst/>
          </a:prstGeom>
          <a:noFill/>
          <a:ln w="25400">
            <a:solidFill>
              <a:srgbClr val="46705A"/>
            </a:solidFill>
            <a:prstDash val="solid"/>
          </a:ln>
        </p:spPr>
      </p:sp>
      <p:sp>
        <p:nvSpPr>
          <p:cNvPr id="23" name="Shape 21"/>
          <p:cNvSpPr/>
          <p:nvPr/>
        </p:nvSpPr>
        <p:spPr>
          <a:xfrm>
            <a:off x="1722730" y="4160520"/>
            <a:ext cx="1949501" cy="329184"/>
          </a:xfrm>
          <a:prstGeom prst="roundRect">
            <a:avLst>
              <a:gd name="adj" fmla="val 16667"/>
            </a:avLst>
          </a:prstGeom>
          <a:solidFill>
            <a:srgbClr val="46705A"/>
          </a:solidFill>
          <a:ln w="12700">
            <a:solidFill>
              <a:srgbClr val="46705A"/>
            </a:solidFill>
            <a:prstDash val="solid"/>
          </a:ln>
        </p:spPr>
      </p:sp>
      <p:sp>
        <p:nvSpPr>
          <p:cNvPr id="24" name="Text 22"/>
          <p:cNvSpPr txBox="1"/>
          <p:nvPr/>
        </p:nvSpPr>
        <p:spPr>
          <a:xfrm>
            <a:off x="1722730" y="4160520"/>
            <a:ext cx="1949501"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外付け専属チーム</a:t>
            </a:r>
            <a:endParaRPr lang="en-US" sz="1150" dirty="0"/>
          </a:p>
        </p:txBody>
      </p:sp>
      <p:sp>
        <p:nvSpPr>
          <p:cNvPr id="25" name="Shape 23"/>
          <p:cNvSpPr/>
          <p:nvPr/>
        </p:nvSpPr>
        <p:spPr>
          <a:xfrm>
            <a:off x="1272845" y="4553712"/>
            <a:ext cx="2849270" cy="347472"/>
          </a:xfrm>
          <a:prstGeom prst="roundRect">
            <a:avLst>
              <a:gd name="adj" fmla="val 15789"/>
            </a:avLst>
          </a:prstGeom>
          <a:solidFill>
            <a:srgbClr val="EDF3EF"/>
          </a:solidFill>
          <a:ln w="12700">
            <a:solidFill>
              <a:srgbClr val="EDF3EF"/>
            </a:solidFill>
            <a:prstDash val="solid"/>
          </a:ln>
        </p:spPr>
      </p:sp>
      <p:sp>
        <p:nvSpPr>
          <p:cNvPr id="26" name="Text 24"/>
          <p:cNvSpPr txBox="1"/>
          <p:nvPr/>
        </p:nvSpPr>
        <p:spPr>
          <a:xfrm>
            <a:off x="1272845" y="4553712"/>
            <a:ext cx="2849270" cy="347472"/>
          </a:xfrm>
          <a:prstGeom prst="rect">
            <a:avLst/>
          </a:prstGeom>
          <a:noFill/>
          <a:ln/>
        </p:spPr>
        <p:txBody>
          <a:bodyPr wrap="square" lIns="0" tIns="0" rIns="0" bIns="0" rtlCol="0" anchor="ctr"/>
          <a:lstStyle/>
          <a:p>
            <a:pPr algn="ctr" indent="0" marL="0">
              <a:buNone/>
            </a:pPr>
            <a:r>
              <a:rPr lang="en-US" sz="1100" b="1" dirty="0">
                <a:solidFill>
                  <a:srgbClr val="46705A"/>
                </a:solidFill>
                <a:latin typeface="Meiryo UI" pitchFamily="34" charset="0"/>
                <a:ea typeface="Meiryo UI" pitchFamily="34" charset="-122"/>
                <a:cs typeface="Meiryo UI" pitchFamily="34" charset="-120"/>
              </a:rPr>
              <a:t>コンサルティングチーム</a:t>
            </a:r>
            <a:endParaRPr lang="en-US" sz="1100" dirty="0"/>
          </a:p>
        </p:txBody>
      </p:sp>
      <p:sp>
        <p:nvSpPr>
          <p:cNvPr id="27" name="Shape 25"/>
          <p:cNvSpPr/>
          <p:nvPr/>
        </p:nvSpPr>
        <p:spPr>
          <a:xfrm>
            <a:off x="822960" y="4965192"/>
            <a:ext cx="3749040" cy="402336"/>
          </a:xfrm>
          <a:prstGeom prst="roundRect">
            <a:avLst>
              <a:gd name="adj" fmla="val 13636"/>
            </a:avLst>
          </a:prstGeom>
          <a:solidFill>
            <a:srgbClr val="FBEFE4"/>
          </a:solidFill>
          <a:ln w="15875">
            <a:solidFill>
              <a:srgbClr val="B8652A"/>
            </a:solidFill>
            <a:prstDash val="dash"/>
          </a:ln>
        </p:spPr>
      </p:sp>
      <p:sp>
        <p:nvSpPr>
          <p:cNvPr id="28" name="Text 26"/>
          <p:cNvSpPr txBox="1"/>
          <p:nvPr/>
        </p:nvSpPr>
        <p:spPr>
          <a:xfrm>
            <a:off x="822960" y="4965192"/>
            <a:ext cx="3749040" cy="402336"/>
          </a:xfrm>
          <a:prstGeom prst="rect">
            <a:avLst/>
          </a:prstGeom>
          <a:noFill/>
          <a:ln/>
        </p:spPr>
        <p:txBody>
          <a:bodyPr wrap="square" lIns="0" tIns="0" rIns="0" bIns="0" rtlCol="0" anchor="ctr"/>
          <a:lstStyle/>
          <a:p>
            <a:pPr algn="ctr" indent="0" marL="0">
              <a:buNone/>
            </a:pPr>
            <a:r>
              <a:rPr lang="en-US" sz="1100" b="1" dirty="0">
                <a:solidFill>
                  <a:srgbClr val="2F4D3D"/>
                </a:solidFill>
                <a:latin typeface="Meiryo UI" pitchFamily="34" charset="0"/>
                <a:ea typeface="Meiryo UI" pitchFamily="34" charset="-122"/>
                <a:cs typeface="Meiryo UI" pitchFamily="34" charset="-120"/>
              </a:rPr>
              <a:t>マーケティングチーム</a:t>
            </a:r>
            <a:endParaRPr lang="en-US" sz="1100" dirty="0"/>
          </a:p>
        </p:txBody>
      </p:sp>
      <p:sp>
        <p:nvSpPr>
          <p:cNvPr id="29" name="Shape 27"/>
          <p:cNvSpPr/>
          <p:nvPr/>
        </p:nvSpPr>
        <p:spPr>
          <a:xfrm>
            <a:off x="658368" y="3657600"/>
            <a:ext cx="960120" cy="566928"/>
          </a:xfrm>
          <a:prstGeom prst="roundRect">
            <a:avLst>
              <a:gd name="adj" fmla="val 12903"/>
            </a:avLst>
          </a:prstGeom>
          <a:solidFill>
            <a:srgbClr val="FFFFFF"/>
          </a:solidFill>
          <a:ln w="12700">
            <a:solidFill>
              <a:srgbClr val="B8652A"/>
            </a:solidFill>
            <a:prstDash val="solid"/>
          </a:ln>
        </p:spPr>
      </p:sp>
      <p:sp>
        <p:nvSpPr>
          <p:cNvPr id="30" name="Text 28"/>
          <p:cNvSpPr txBox="1"/>
          <p:nvPr/>
        </p:nvSpPr>
        <p:spPr>
          <a:xfrm>
            <a:off x="658368" y="3657600"/>
            <a:ext cx="960120" cy="566928"/>
          </a:xfrm>
          <a:prstGeom prst="rect">
            <a:avLst/>
          </a:prstGeom>
          <a:noFill/>
          <a:ln/>
        </p:spPr>
        <p:txBody>
          <a:bodyPr wrap="square" lIns="0" tIns="0" rIns="0" bIns="0" rtlCol="0" anchor="ctr"/>
          <a:lstStyle/>
          <a:p>
            <a:pPr algn="ctr" indent="0" marL="0">
              <a:buNone/>
            </a:pPr>
            <a:r>
              <a:rPr lang="en-US" sz="850" dirty="0">
                <a:solidFill>
                  <a:srgbClr val="2F4D3D"/>
                </a:solidFill>
                <a:latin typeface="Meiryo UI" pitchFamily="34" charset="0"/>
                <a:ea typeface="Meiryo UI" pitchFamily="34" charset="-122"/>
                <a:cs typeface="Meiryo UI" pitchFamily="34" charset="-120"/>
              </a:rPr>
              <a:t>雇用コスト</a:t>
            </a:r>
            <a:endParaRPr lang="en-US" sz="850" dirty="0"/>
          </a:p>
          <a:p>
            <a:pPr algn="ctr" indent="0" marL="0">
              <a:buNone/>
            </a:pPr>
            <a:r>
              <a:rPr lang="en-US" sz="1500" b="1" dirty="0">
                <a:solidFill>
                  <a:srgbClr val="B8652A"/>
                </a:solidFill>
                <a:latin typeface="Meiryo UI" pitchFamily="34" charset="0"/>
                <a:ea typeface="Meiryo UI" pitchFamily="34" charset="-122"/>
                <a:cs typeface="Meiryo UI" pitchFamily="34" charset="-120"/>
              </a:rPr>
              <a:t>1名分</a:t>
            </a:r>
            <a:endParaRPr lang="en-US" sz="850" dirty="0"/>
          </a:p>
        </p:txBody>
      </p:sp>
      <p:sp>
        <p:nvSpPr>
          <p:cNvPr id="31" name="Shape 29"/>
          <p:cNvSpPr/>
          <p:nvPr/>
        </p:nvSpPr>
        <p:spPr>
          <a:xfrm>
            <a:off x="5074920" y="2697480"/>
            <a:ext cx="6568135" cy="2898648"/>
          </a:xfrm>
          <a:prstGeom prst="roundRect">
            <a:avLst>
              <a:gd name="adj" fmla="val 3785"/>
            </a:avLst>
          </a:prstGeom>
          <a:solidFill>
            <a:srgbClr val="FBEFE4"/>
          </a:solidFill>
          <a:ln w="12700">
            <a:solidFill>
              <a:srgbClr val="FBEFE4"/>
            </a:solidFill>
            <a:prstDash val="solid"/>
          </a:ln>
        </p:spPr>
      </p:sp>
      <p:sp>
        <p:nvSpPr>
          <p:cNvPr id="32" name="Text 30"/>
          <p:cNvSpPr txBox="1"/>
          <p:nvPr/>
        </p:nvSpPr>
        <p:spPr>
          <a:xfrm>
            <a:off x="5257800" y="2788920"/>
            <a:ext cx="6202375" cy="329184"/>
          </a:xfrm>
          <a:prstGeom prst="rect">
            <a:avLst/>
          </a:prstGeom>
          <a:noFill/>
          <a:ln/>
        </p:spPr>
        <p:txBody>
          <a:bodyPr wrap="square" lIns="0" tIns="0" rIns="0" bIns="0" rtlCol="0" anchor="t"/>
          <a:lstStyle/>
          <a:p>
            <a:pPr algn="ctr" indent="0" marL="0">
              <a:buNone/>
            </a:pPr>
            <a:r>
              <a:rPr lang="en-US" sz="1450" b="1" dirty="0">
                <a:solidFill>
                  <a:srgbClr val="B8652A"/>
                </a:solidFill>
                <a:latin typeface="Meiryo UI" pitchFamily="34" charset="0"/>
                <a:ea typeface="Meiryo UI" pitchFamily="34" charset="-122"/>
                <a:cs typeface="Meiryo UI" pitchFamily="34" charset="-120"/>
              </a:rPr>
              <a:t>「テクノロジー」</a:t>
            </a:r>
            <a:endParaRPr lang="en-US" sz="1450" dirty="0"/>
          </a:p>
        </p:txBody>
      </p:sp>
      <p:sp>
        <p:nvSpPr>
          <p:cNvPr id="33" name="Text 31"/>
          <p:cNvSpPr txBox="1"/>
          <p:nvPr/>
        </p:nvSpPr>
        <p:spPr>
          <a:xfrm>
            <a:off x="5349240" y="3136392"/>
            <a:ext cx="5105095" cy="457200"/>
          </a:xfrm>
          <a:prstGeom prst="rect">
            <a:avLst/>
          </a:prstGeom>
          <a:noFill/>
          <a:ln/>
        </p:spPr>
        <p:txBody>
          <a:bodyPr wrap="square" lIns="0" tIns="0" rIns="0" bIns="0" rtlCol="0" anchor="t"/>
          <a:lstStyle/>
          <a:p>
            <a:pPr indent="0" marL="0">
              <a:buNone/>
            </a:pPr>
            <a:r>
              <a:rPr lang="en-US" sz="1050" dirty="0">
                <a:solidFill>
                  <a:srgbClr val="2A322D"/>
                </a:solidFill>
                <a:latin typeface="Meiryo UI" pitchFamily="34" charset="0"/>
                <a:ea typeface="Meiryo UI" pitchFamily="34" charset="-122"/>
                <a:cs typeface="Meiryo UI" pitchFamily="34" charset="-120"/>
              </a:rPr>
              <a:t>テクノロジーで見込み顧客開拓を実行。運用担当は不要。営業データの蓄積・活用が可能。</a:t>
            </a:r>
            <a:endParaRPr lang="en-US" sz="1050" dirty="0"/>
          </a:p>
        </p:txBody>
      </p:sp>
      <p:sp>
        <p:nvSpPr>
          <p:cNvPr id="34" name="Shape 32"/>
          <p:cNvSpPr/>
          <p:nvPr/>
        </p:nvSpPr>
        <p:spPr>
          <a:xfrm>
            <a:off x="10500055" y="3017520"/>
            <a:ext cx="914400" cy="914400"/>
          </a:xfrm>
          <a:prstGeom prst="ellipse">
            <a:avLst/>
          </a:prstGeom>
          <a:solidFill>
            <a:srgbClr val="B8652A"/>
          </a:solidFill>
          <a:ln w="12700">
            <a:solidFill>
              <a:srgbClr val="B8652A"/>
            </a:solidFill>
            <a:prstDash val="solid"/>
          </a:ln>
        </p:spPr>
      </p:sp>
      <p:sp>
        <p:nvSpPr>
          <p:cNvPr id="35" name="Text 33"/>
          <p:cNvSpPr txBox="1"/>
          <p:nvPr/>
        </p:nvSpPr>
        <p:spPr>
          <a:xfrm>
            <a:off x="10500055" y="3017520"/>
            <a:ext cx="914400" cy="9144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マンパワー</a:t>
            </a:r>
            <a:endParaRPr lang="en-US" sz="1100" dirty="0"/>
          </a:p>
          <a:p>
            <a:pPr algn="ctr" indent="0" marL="0">
              <a:buNone/>
            </a:pPr>
            <a:r>
              <a:rPr lang="en-US" sz="1100" b="1" dirty="0">
                <a:solidFill>
                  <a:srgbClr val="FFFFFF"/>
                </a:solidFill>
                <a:latin typeface="Meiryo UI" pitchFamily="34" charset="0"/>
                <a:ea typeface="Meiryo UI" pitchFamily="34" charset="-122"/>
                <a:cs typeface="Meiryo UI" pitchFamily="34" charset="-120"/>
              </a:rPr>
              <a:t>ゼロ</a:t>
            </a:r>
            <a:endParaRPr lang="en-US" sz="1100" dirty="0"/>
          </a:p>
        </p:txBody>
      </p:sp>
      <p:sp>
        <p:nvSpPr>
          <p:cNvPr id="36" name="Text 34"/>
          <p:cNvSpPr txBox="1"/>
          <p:nvPr/>
        </p:nvSpPr>
        <p:spPr>
          <a:xfrm>
            <a:off x="5349240" y="3611880"/>
            <a:ext cx="2743200" cy="274320"/>
          </a:xfrm>
          <a:prstGeom prst="rect">
            <a:avLst/>
          </a:prstGeom>
          <a:noFill/>
          <a:ln/>
        </p:spPr>
        <p:txBody>
          <a:bodyPr wrap="square" lIns="0" tIns="0" rIns="0" bIns="0" rtlCol="0" anchor="t"/>
          <a:lstStyle/>
          <a:p>
            <a:pPr indent="0" marL="0">
              <a:buNone/>
            </a:pPr>
            <a:r>
              <a:rPr lang="en-US" sz="1200" b="1" dirty="0">
                <a:solidFill>
                  <a:srgbClr val="46705A"/>
                </a:solidFill>
                <a:latin typeface="Meiryo UI" pitchFamily="34" charset="0"/>
                <a:ea typeface="Meiryo UI" pitchFamily="34" charset="-122"/>
                <a:cs typeface="Meiryo UI" pitchFamily="34" charset="-120"/>
              </a:rPr>
              <a:t>SalesCrowd</a:t>
            </a:r>
            <a:endParaRPr lang="en-US" sz="1200" dirty="0"/>
          </a:p>
        </p:txBody>
      </p:sp>
      <p:sp>
        <p:nvSpPr>
          <p:cNvPr id="37" name="Shape 35"/>
          <p:cNvSpPr/>
          <p:nvPr/>
        </p:nvSpPr>
        <p:spPr>
          <a:xfrm>
            <a:off x="5349240" y="3931920"/>
            <a:ext cx="2941168" cy="438912"/>
          </a:xfrm>
          <a:prstGeom prst="roundRect">
            <a:avLst>
              <a:gd name="adj" fmla="val 10417"/>
            </a:avLst>
          </a:prstGeom>
          <a:solidFill>
            <a:srgbClr val="FFFFFF"/>
          </a:solidFill>
          <a:ln w="12700">
            <a:solidFill>
              <a:srgbClr val="FFFFFF"/>
            </a:solidFill>
            <a:prstDash val="solid"/>
          </a:ln>
        </p:spPr>
      </p:sp>
      <p:pic>
        <p:nvPicPr>
          <p:cNvPr id="38" name="Image 0" descr="preencoded.png">    </p:cNvPr>
          <p:cNvPicPr>
            <a:picLocks noChangeAspect="1"/>
          </p:cNvPicPr>
          <p:nvPr/>
        </p:nvPicPr>
        <p:blipFill>
          <a:blip r:embed="rId1"/>
          <a:stretch>
            <a:fillRect/>
          </a:stretch>
        </p:blipFill>
        <p:spPr>
          <a:xfrm>
            <a:off x="5458968" y="4032504"/>
            <a:ext cx="237744" cy="237744"/>
          </a:xfrm>
          <a:prstGeom prst="rect">
            <a:avLst/>
          </a:prstGeom>
        </p:spPr>
      </p:pic>
      <p:sp>
        <p:nvSpPr>
          <p:cNvPr id="39" name="Text 36"/>
          <p:cNvSpPr txBox="1"/>
          <p:nvPr/>
        </p:nvSpPr>
        <p:spPr>
          <a:xfrm>
            <a:off x="5788152" y="3931920"/>
            <a:ext cx="2456536" cy="438912"/>
          </a:xfrm>
          <a:prstGeom prst="rect">
            <a:avLst/>
          </a:prstGeom>
          <a:noFill/>
          <a:ln/>
        </p:spPr>
        <p:txBody>
          <a:bodyPr wrap="square" lIns="0" tIns="0" rIns="0" bIns="0" rtlCol="0" anchor="ctr"/>
          <a:lstStyle/>
          <a:p>
            <a:pPr indent="0" marL="0">
              <a:buNone/>
            </a:pPr>
            <a:r>
              <a:rPr lang="en-US" sz="950" b="1" dirty="0">
                <a:solidFill>
                  <a:srgbClr val="2F4D3D"/>
                </a:solidFill>
                <a:latin typeface="Meiryo UI" pitchFamily="34" charset="0"/>
                <a:ea typeface="Meiryo UI" pitchFamily="34" charset="-122"/>
                <a:cs typeface="Meiryo UI" pitchFamily="34" charset="-120"/>
              </a:rPr>
              <a:t>オンラインセールス®ツール</a:t>
            </a:r>
            <a:endParaRPr lang="en-US" sz="950" dirty="0"/>
          </a:p>
        </p:txBody>
      </p:sp>
      <p:sp>
        <p:nvSpPr>
          <p:cNvPr id="40" name="Shape 37"/>
          <p:cNvSpPr/>
          <p:nvPr/>
        </p:nvSpPr>
        <p:spPr>
          <a:xfrm>
            <a:off x="8427568" y="3931920"/>
            <a:ext cx="2941168" cy="438912"/>
          </a:xfrm>
          <a:prstGeom prst="roundRect">
            <a:avLst>
              <a:gd name="adj" fmla="val 10417"/>
            </a:avLst>
          </a:prstGeom>
          <a:solidFill>
            <a:srgbClr val="FFFFFF"/>
          </a:solidFill>
          <a:ln w="12700">
            <a:solidFill>
              <a:srgbClr val="FFFFFF"/>
            </a:solidFill>
            <a:prstDash val="solid"/>
          </a:ln>
        </p:spPr>
      </p:sp>
      <p:pic>
        <p:nvPicPr>
          <p:cNvPr id="41" name="Image 1" descr="preencoded.png">    </p:cNvPr>
          <p:cNvPicPr>
            <a:picLocks noChangeAspect="1"/>
          </p:cNvPicPr>
          <p:nvPr/>
        </p:nvPicPr>
        <p:blipFill>
          <a:blip r:embed="rId2"/>
          <a:stretch>
            <a:fillRect/>
          </a:stretch>
        </p:blipFill>
        <p:spPr>
          <a:xfrm>
            <a:off x="8537296" y="4032504"/>
            <a:ext cx="237744" cy="237744"/>
          </a:xfrm>
          <a:prstGeom prst="rect">
            <a:avLst/>
          </a:prstGeom>
        </p:spPr>
      </p:pic>
      <p:sp>
        <p:nvSpPr>
          <p:cNvPr id="42" name="Text 38"/>
          <p:cNvSpPr txBox="1"/>
          <p:nvPr/>
        </p:nvSpPr>
        <p:spPr>
          <a:xfrm>
            <a:off x="8866480" y="3931920"/>
            <a:ext cx="2456536" cy="438912"/>
          </a:xfrm>
          <a:prstGeom prst="rect">
            <a:avLst/>
          </a:prstGeom>
          <a:noFill/>
          <a:ln/>
        </p:spPr>
        <p:txBody>
          <a:bodyPr wrap="square" lIns="0" tIns="0" rIns="0" bIns="0" rtlCol="0" anchor="ctr"/>
          <a:lstStyle/>
          <a:p>
            <a:pPr indent="0" marL="0">
              <a:buNone/>
            </a:pPr>
            <a:r>
              <a:rPr lang="en-US" sz="950" b="1" dirty="0">
                <a:solidFill>
                  <a:srgbClr val="2F4D3D"/>
                </a:solidFill>
                <a:latin typeface="Meiryo UI" pitchFamily="34" charset="0"/>
                <a:ea typeface="Meiryo UI" pitchFamily="34" charset="-122"/>
                <a:cs typeface="Meiryo UI" pitchFamily="34" charset="-120"/>
              </a:rPr>
              <a:t>マーケティング</a:t>
            </a:r>
            <a:endParaRPr lang="en-US" sz="950" dirty="0"/>
          </a:p>
          <a:p>
            <a:pPr indent="0" marL="0">
              <a:buNone/>
            </a:pPr>
            <a:r>
              <a:rPr lang="en-US" sz="950" b="1" dirty="0">
                <a:solidFill>
                  <a:srgbClr val="2F4D3D"/>
                </a:solidFill>
                <a:latin typeface="Meiryo UI" pitchFamily="34" charset="0"/>
                <a:ea typeface="Meiryo UI" pitchFamily="34" charset="-122"/>
                <a:cs typeface="Meiryo UI" pitchFamily="34" charset="-120"/>
              </a:rPr>
              <a:t>オートメーションツール</a:t>
            </a:r>
            <a:endParaRPr lang="en-US" sz="950" dirty="0"/>
          </a:p>
        </p:txBody>
      </p:sp>
      <p:sp>
        <p:nvSpPr>
          <p:cNvPr id="43" name="Shape 39"/>
          <p:cNvSpPr/>
          <p:nvPr/>
        </p:nvSpPr>
        <p:spPr>
          <a:xfrm>
            <a:off x="5349240" y="4434840"/>
            <a:ext cx="2941168" cy="438912"/>
          </a:xfrm>
          <a:prstGeom prst="roundRect">
            <a:avLst>
              <a:gd name="adj" fmla="val 10417"/>
            </a:avLst>
          </a:prstGeom>
          <a:solidFill>
            <a:srgbClr val="FFFFFF"/>
          </a:solidFill>
          <a:ln w="12700">
            <a:solidFill>
              <a:srgbClr val="FFFFFF"/>
            </a:solidFill>
            <a:prstDash val="solid"/>
          </a:ln>
        </p:spPr>
      </p:sp>
      <p:pic>
        <p:nvPicPr>
          <p:cNvPr id="44" name="Image 2" descr="preencoded.png">    </p:cNvPr>
          <p:cNvPicPr>
            <a:picLocks noChangeAspect="1"/>
          </p:cNvPicPr>
          <p:nvPr/>
        </p:nvPicPr>
        <p:blipFill>
          <a:blip r:embed="rId3"/>
          <a:stretch>
            <a:fillRect/>
          </a:stretch>
        </p:blipFill>
        <p:spPr>
          <a:xfrm>
            <a:off x="5458968" y="4535424"/>
            <a:ext cx="237744" cy="237744"/>
          </a:xfrm>
          <a:prstGeom prst="rect">
            <a:avLst/>
          </a:prstGeom>
        </p:spPr>
      </p:pic>
      <p:sp>
        <p:nvSpPr>
          <p:cNvPr id="45" name="Text 40"/>
          <p:cNvSpPr txBox="1"/>
          <p:nvPr/>
        </p:nvSpPr>
        <p:spPr>
          <a:xfrm>
            <a:off x="5788152" y="4434840"/>
            <a:ext cx="2456536" cy="438912"/>
          </a:xfrm>
          <a:prstGeom prst="rect">
            <a:avLst/>
          </a:prstGeom>
          <a:noFill/>
          <a:ln/>
        </p:spPr>
        <p:txBody>
          <a:bodyPr wrap="square" lIns="0" tIns="0" rIns="0" bIns="0" rtlCol="0" anchor="ctr"/>
          <a:lstStyle/>
          <a:p>
            <a:pPr indent="0" marL="0">
              <a:buNone/>
            </a:pPr>
            <a:r>
              <a:rPr lang="en-US" sz="950" b="1" dirty="0">
                <a:solidFill>
                  <a:srgbClr val="2F4D3D"/>
                </a:solidFill>
                <a:latin typeface="Meiryo UI" pitchFamily="34" charset="0"/>
                <a:ea typeface="Meiryo UI" pitchFamily="34" charset="-122"/>
                <a:cs typeface="Meiryo UI" pitchFamily="34" charset="-120"/>
              </a:rPr>
              <a:t>SFA</a:t>
            </a:r>
            <a:endParaRPr lang="en-US" sz="950" dirty="0"/>
          </a:p>
          <a:p>
            <a:pPr indent="0" marL="0">
              <a:buNone/>
            </a:pPr>
            <a:r>
              <a:rPr lang="en-US" sz="950" b="1" dirty="0">
                <a:solidFill>
                  <a:srgbClr val="2F4D3D"/>
                </a:solidFill>
                <a:latin typeface="Meiryo UI" pitchFamily="34" charset="0"/>
                <a:ea typeface="Meiryo UI" pitchFamily="34" charset="-122"/>
                <a:cs typeface="Meiryo UI" pitchFamily="34" charset="-120"/>
              </a:rPr>
              <a:t>（セールスフォースオートメーション）</a:t>
            </a:r>
            <a:endParaRPr lang="en-US" sz="950" dirty="0"/>
          </a:p>
        </p:txBody>
      </p:sp>
      <p:sp>
        <p:nvSpPr>
          <p:cNvPr id="46" name="Shape 41"/>
          <p:cNvSpPr/>
          <p:nvPr/>
        </p:nvSpPr>
        <p:spPr>
          <a:xfrm>
            <a:off x="8427568" y="4434840"/>
            <a:ext cx="2941168" cy="438912"/>
          </a:xfrm>
          <a:prstGeom prst="roundRect">
            <a:avLst>
              <a:gd name="adj" fmla="val 10417"/>
            </a:avLst>
          </a:prstGeom>
          <a:solidFill>
            <a:srgbClr val="FFFFFF"/>
          </a:solidFill>
          <a:ln w="12700">
            <a:solidFill>
              <a:srgbClr val="FFFFFF"/>
            </a:solidFill>
            <a:prstDash val="solid"/>
          </a:ln>
        </p:spPr>
      </p:sp>
      <p:pic>
        <p:nvPicPr>
          <p:cNvPr id="47" name="Image 3" descr="preencoded.png">    </p:cNvPr>
          <p:cNvPicPr>
            <a:picLocks noChangeAspect="1"/>
          </p:cNvPicPr>
          <p:nvPr/>
        </p:nvPicPr>
        <p:blipFill>
          <a:blip r:embed="rId4"/>
          <a:stretch>
            <a:fillRect/>
          </a:stretch>
        </p:blipFill>
        <p:spPr>
          <a:xfrm>
            <a:off x="8537296" y="4535424"/>
            <a:ext cx="237744" cy="237744"/>
          </a:xfrm>
          <a:prstGeom prst="rect">
            <a:avLst/>
          </a:prstGeom>
        </p:spPr>
      </p:pic>
      <p:sp>
        <p:nvSpPr>
          <p:cNvPr id="48" name="Text 42"/>
          <p:cNvSpPr txBox="1"/>
          <p:nvPr/>
        </p:nvSpPr>
        <p:spPr>
          <a:xfrm>
            <a:off x="8866480" y="4434840"/>
            <a:ext cx="2456536" cy="438912"/>
          </a:xfrm>
          <a:prstGeom prst="rect">
            <a:avLst/>
          </a:prstGeom>
          <a:noFill/>
          <a:ln/>
        </p:spPr>
        <p:txBody>
          <a:bodyPr wrap="square" lIns="0" tIns="0" rIns="0" bIns="0" rtlCol="0" anchor="ctr"/>
          <a:lstStyle/>
          <a:p>
            <a:pPr indent="0" marL="0">
              <a:buNone/>
            </a:pPr>
            <a:r>
              <a:rPr lang="en-US" sz="950" b="1" dirty="0">
                <a:solidFill>
                  <a:srgbClr val="2F4D3D"/>
                </a:solidFill>
                <a:latin typeface="Meiryo UI" pitchFamily="34" charset="0"/>
                <a:ea typeface="Meiryo UI" pitchFamily="34" charset="-122"/>
                <a:cs typeface="Meiryo UI" pitchFamily="34" charset="-120"/>
              </a:rPr>
              <a:t>アプローチシステム</a:t>
            </a:r>
            <a:endParaRPr lang="en-US" sz="950" dirty="0"/>
          </a:p>
          <a:p>
            <a:pPr indent="0" marL="0">
              <a:buNone/>
            </a:pPr>
            <a:r>
              <a:rPr lang="en-US" sz="950" b="1" dirty="0">
                <a:solidFill>
                  <a:srgbClr val="2F4D3D"/>
                </a:solidFill>
                <a:latin typeface="Meiryo UI" pitchFamily="34" charset="0"/>
                <a:ea typeface="Meiryo UI" pitchFamily="34" charset="-122"/>
                <a:cs typeface="Meiryo UI" pitchFamily="34" charset="-120"/>
              </a:rPr>
              <a:t>（電話・メール・FAX・DM・手紙）</a:t>
            </a:r>
            <a:endParaRPr lang="en-US" sz="950" dirty="0"/>
          </a:p>
        </p:txBody>
      </p:sp>
      <p:sp>
        <p:nvSpPr>
          <p:cNvPr id="49" name="Shape 43"/>
          <p:cNvSpPr/>
          <p:nvPr/>
        </p:nvSpPr>
        <p:spPr>
          <a:xfrm>
            <a:off x="5349240" y="4937760"/>
            <a:ext cx="6019495" cy="502920"/>
          </a:xfrm>
          <a:prstGeom prst="roundRect">
            <a:avLst>
              <a:gd name="adj" fmla="val 9091"/>
            </a:avLst>
          </a:prstGeom>
          <a:solidFill>
            <a:srgbClr val="FFFFFF"/>
          </a:solidFill>
          <a:ln w="12700">
            <a:solidFill>
              <a:srgbClr val="FFFFFF"/>
            </a:solidFill>
            <a:prstDash val="solid"/>
          </a:ln>
        </p:spPr>
      </p:sp>
      <p:pic>
        <p:nvPicPr>
          <p:cNvPr id="50" name="Image 4" descr="preencoded.png">    </p:cNvPr>
          <p:cNvPicPr>
            <a:picLocks noChangeAspect="1"/>
          </p:cNvPicPr>
          <p:nvPr/>
        </p:nvPicPr>
        <p:blipFill>
          <a:blip r:embed="rId5"/>
          <a:stretch>
            <a:fillRect/>
          </a:stretch>
        </p:blipFill>
        <p:spPr>
          <a:xfrm>
            <a:off x="5458968" y="5065776"/>
            <a:ext cx="246888" cy="246888"/>
          </a:xfrm>
          <a:prstGeom prst="rect">
            <a:avLst/>
          </a:prstGeom>
        </p:spPr>
      </p:pic>
      <p:sp>
        <p:nvSpPr>
          <p:cNvPr id="51" name="Text 44"/>
          <p:cNvSpPr txBox="1"/>
          <p:nvPr/>
        </p:nvSpPr>
        <p:spPr>
          <a:xfrm>
            <a:off x="5806440" y="4937760"/>
            <a:ext cx="3642055" cy="502920"/>
          </a:xfrm>
          <a:prstGeom prst="rect">
            <a:avLst/>
          </a:prstGeom>
          <a:noFill/>
          <a:ln/>
        </p:spPr>
        <p:txBody>
          <a:bodyPr wrap="square" lIns="0" tIns="0" rIns="0" bIns="0" rtlCol="0" anchor="ctr"/>
          <a:lstStyle/>
          <a:p>
            <a:pPr indent="0" marL="0">
              <a:buNone/>
            </a:pPr>
            <a:r>
              <a:rPr lang="en-US" sz="1300" b="1" dirty="0">
                <a:solidFill>
                  <a:srgbClr val="46705A"/>
                </a:solidFill>
                <a:latin typeface="Meiryo UI" pitchFamily="34" charset="0"/>
                <a:ea typeface="Meiryo UI" pitchFamily="34" charset="-122"/>
                <a:cs typeface="Meiryo UI" pitchFamily="34" charset="-120"/>
              </a:rPr>
              <a:t>BIZMAPS</a:t>
            </a:r>
            <a:pPr indent="0" marL="0">
              <a:buNone/>
            </a:pPr>
            <a:r>
              <a:rPr lang="en-US" sz="1050" dirty="0">
                <a:solidFill>
                  <a:srgbClr val="2F4D3D"/>
                </a:solidFill>
                <a:latin typeface="Meiryo UI" pitchFamily="34" charset="0"/>
                <a:ea typeface="Meiryo UI" pitchFamily="34" charset="-122"/>
                <a:cs typeface="Meiryo UI" pitchFamily="34" charset="-120"/>
              </a:rPr>
              <a:t>　国内最大級 法人データベース</a:t>
            </a:r>
            <a:endParaRPr lang="en-US" sz="1300" dirty="0"/>
          </a:p>
        </p:txBody>
      </p:sp>
      <p:sp>
        <p:nvSpPr>
          <p:cNvPr id="52" name="Shape 45"/>
          <p:cNvSpPr/>
          <p:nvPr/>
        </p:nvSpPr>
        <p:spPr>
          <a:xfrm>
            <a:off x="9585655" y="5001768"/>
            <a:ext cx="1691640" cy="374904"/>
          </a:xfrm>
          <a:prstGeom prst="roundRect">
            <a:avLst>
              <a:gd name="adj" fmla="val 12195"/>
            </a:avLst>
          </a:prstGeom>
          <a:solidFill>
            <a:srgbClr val="B8652A"/>
          </a:solidFill>
          <a:ln w="12700">
            <a:solidFill>
              <a:srgbClr val="B8652A"/>
            </a:solidFill>
            <a:prstDash val="solid"/>
          </a:ln>
        </p:spPr>
      </p:sp>
      <p:sp>
        <p:nvSpPr>
          <p:cNvPr id="53" name="Text 46"/>
          <p:cNvSpPr txBox="1"/>
          <p:nvPr/>
        </p:nvSpPr>
        <p:spPr>
          <a:xfrm>
            <a:off x="9585655" y="5001768"/>
            <a:ext cx="1691640" cy="374904"/>
          </a:xfrm>
          <a:prstGeom prst="rect">
            <a:avLst/>
          </a:prstGeom>
          <a:noFill/>
          <a:ln/>
        </p:spPr>
        <p:txBody>
          <a:bodyPr wrap="square" lIns="0" tIns="0" rIns="0" bIns="0" rtlCol="0" anchor="ctr"/>
          <a:lstStyle/>
          <a:p>
            <a:pPr algn="ctr" indent="0" marL="0">
              <a:buNone/>
            </a:pPr>
            <a:r>
              <a:rPr lang="en-US" sz="900" dirty="0">
                <a:solidFill>
                  <a:srgbClr val="FFFFFF"/>
                </a:solidFill>
                <a:latin typeface="Meiryo UI" pitchFamily="34" charset="0"/>
                <a:ea typeface="Meiryo UI" pitchFamily="34" charset="-122"/>
                <a:cs typeface="Meiryo UI" pitchFamily="34" charset="-120"/>
              </a:rPr>
              <a:t>格納営業リスト </a:t>
            </a:r>
            <a:pPr algn="ctr" indent="0" marL="0">
              <a:buNone/>
            </a:pPr>
            <a:r>
              <a:rPr lang="en-US" sz="1400" b="1" dirty="0">
                <a:solidFill>
                  <a:srgbClr val="FFFFFF"/>
                </a:solidFill>
                <a:latin typeface="Meiryo UI" pitchFamily="34" charset="0"/>
                <a:ea typeface="Meiryo UI" pitchFamily="34" charset="-122"/>
                <a:cs typeface="Meiryo UI" pitchFamily="34" charset="-120"/>
              </a:rPr>
              <a:t>680万件</a:t>
            </a:r>
            <a:endParaRPr lang="en-US" sz="900" dirty="0"/>
          </a:p>
        </p:txBody>
      </p:sp>
      <p:sp>
        <p:nvSpPr>
          <p:cNvPr id="54" name="Shape 47"/>
          <p:cNvSpPr/>
          <p:nvPr/>
        </p:nvSpPr>
        <p:spPr>
          <a:xfrm>
            <a:off x="548640" y="5715000"/>
            <a:ext cx="11094415" cy="621792"/>
          </a:xfrm>
          <a:prstGeom prst="roundRect">
            <a:avLst>
              <a:gd name="adj" fmla="val 17647"/>
            </a:avLst>
          </a:prstGeom>
          <a:solidFill>
            <a:srgbClr val="EDF3EF"/>
          </a:solidFill>
          <a:ln w="12700">
            <a:solidFill>
              <a:srgbClr val="EDF3EF"/>
            </a:solidFill>
            <a:prstDash val="solid"/>
          </a:ln>
        </p:spPr>
      </p:sp>
      <p:sp>
        <p:nvSpPr>
          <p:cNvPr id="55" name="Shape 48"/>
          <p:cNvSpPr/>
          <p:nvPr/>
        </p:nvSpPr>
        <p:spPr>
          <a:xfrm>
            <a:off x="685800" y="5815584"/>
            <a:ext cx="420624" cy="420624"/>
          </a:xfrm>
          <a:prstGeom prst="ellipse">
            <a:avLst/>
          </a:prstGeom>
          <a:solidFill>
            <a:srgbClr val="46705A"/>
          </a:solidFill>
          <a:ln w="12700">
            <a:solidFill>
              <a:srgbClr val="46705A"/>
            </a:solidFill>
            <a:prstDash val="solid"/>
          </a:ln>
        </p:spPr>
      </p:sp>
      <p:pic>
        <p:nvPicPr>
          <p:cNvPr id="56" name="Image 5" descr="preencoded.png">    </p:cNvPr>
          <p:cNvPicPr>
            <a:picLocks noChangeAspect="1"/>
          </p:cNvPicPr>
          <p:nvPr/>
        </p:nvPicPr>
        <p:blipFill>
          <a:blip r:embed="rId6"/>
          <a:stretch>
            <a:fillRect/>
          </a:stretch>
        </p:blipFill>
        <p:spPr>
          <a:xfrm>
            <a:off x="795162" y="5924946"/>
            <a:ext cx="201900" cy="201900"/>
          </a:xfrm>
          <a:prstGeom prst="rect">
            <a:avLst/>
          </a:prstGeom>
        </p:spPr>
      </p:pic>
      <p:sp>
        <p:nvSpPr>
          <p:cNvPr id="57" name="Text 49"/>
          <p:cNvSpPr txBox="1"/>
          <p:nvPr/>
        </p:nvSpPr>
        <p:spPr>
          <a:xfrm>
            <a:off x="1234440" y="5715000"/>
            <a:ext cx="10271455" cy="621792"/>
          </a:xfrm>
          <a:prstGeom prst="rect">
            <a:avLst/>
          </a:prstGeom>
          <a:noFill/>
          <a:ln/>
        </p:spPr>
        <p:txBody>
          <a:bodyPr wrap="square" lIns="0" tIns="0" rIns="0" bIns="0" rtlCol="0" anchor="ctr"/>
          <a:lstStyle/>
          <a:p>
            <a:pPr indent="0" marL="0">
              <a:buNone/>
            </a:pPr>
            <a:r>
              <a:rPr lang="en-US" sz="1150" b="1" dirty="0">
                <a:solidFill>
                  <a:srgbClr val="46705A"/>
                </a:solidFill>
                <a:latin typeface="Meiryo UI" pitchFamily="34" charset="0"/>
                <a:ea typeface="Meiryo UI" pitchFamily="34" charset="-122"/>
                <a:cs typeface="Meiryo UI" pitchFamily="34" charset="-120"/>
              </a:rPr>
              <a:t>貴法人での活用イメージ：</a:t>
            </a:r>
            <a:pPr indent="0" marL="0">
              <a:buNone/>
            </a:pPr>
            <a:r>
              <a:rPr lang="en-US" sz="1150" dirty="0">
                <a:solidFill>
                  <a:srgbClr val="2A322D"/>
                </a:solidFill>
                <a:latin typeface="Meiryo UI" pitchFamily="34" charset="0"/>
                <a:ea typeface="Meiryo UI" pitchFamily="34" charset="-122"/>
                <a:cs typeface="Meiryo UI" pitchFamily="34" charset="-120"/>
              </a:rPr>
              <a:t>内職・軽作業・ポスティングを発注してくれる地域企業をBIZMAPSから抽出し、受託の新規開拓を代行。工賃の底上げにつなげます。</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AIDMA SERVICE</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ご提案の組み合わせと導入の順番</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28</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508760"/>
            <a:ext cx="2036003" cy="502920"/>
          </a:xfrm>
          <a:prstGeom prst="roundRect">
            <a:avLst>
              <a:gd name="adj" fmla="val 21818"/>
            </a:avLst>
          </a:prstGeom>
          <a:solidFill>
            <a:srgbClr val="B8652A"/>
          </a:solidFill>
          <a:ln w="12700">
            <a:solidFill>
              <a:srgbClr val="B8652A"/>
            </a:solidFill>
            <a:prstDash val="solid"/>
          </a:ln>
        </p:spPr>
      </p:sp>
      <p:sp>
        <p:nvSpPr>
          <p:cNvPr id="7" name="Text 5"/>
          <p:cNvSpPr txBox="1"/>
          <p:nvPr/>
        </p:nvSpPr>
        <p:spPr>
          <a:xfrm>
            <a:off x="548640" y="1508760"/>
            <a:ext cx="2036003"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UI" pitchFamily="34" charset="0"/>
                <a:ea typeface="Meiryo UI" pitchFamily="34" charset="-122"/>
                <a:cs typeface="Meiryo UI" pitchFamily="34" charset="-120"/>
              </a:rPr>
              <a:t>1ヶ月目</a:t>
            </a:r>
            <a:endParaRPr lang="en-US" sz="1250" dirty="0"/>
          </a:p>
        </p:txBody>
      </p:sp>
      <p:sp>
        <p:nvSpPr>
          <p:cNvPr id="8" name="Shape 6"/>
          <p:cNvSpPr/>
          <p:nvPr/>
        </p:nvSpPr>
        <p:spPr>
          <a:xfrm>
            <a:off x="548640" y="2148840"/>
            <a:ext cx="2036003" cy="2743200"/>
          </a:xfrm>
          <a:prstGeom prst="roundRect">
            <a:avLst>
              <a:gd name="adj" fmla="val 538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1246602" y="2331720"/>
            <a:ext cx="640080" cy="640080"/>
          </a:xfrm>
          <a:prstGeom prst="ellipse">
            <a:avLst/>
          </a:prstGeom>
          <a:solidFill>
            <a:srgbClr val="B8652A"/>
          </a:solidFill>
          <a:ln w="12700">
            <a:solidFill>
              <a:srgbClr val="B8652A"/>
            </a:solidFill>
            <a:prstDash val="solid"/>
          </a:ln>
        </p:spPr>
      </p:sp>
      <p:pic>
        <p:nvPicPr>
          <p:cNvPr id="10" name="Image 0" descr="preencoded.png">    </p:cNvPr>
          <p:cNvPicPr>
            <a:picLocks noChangeAspect="1"/>
          </p:cNvPicPr>
          <p:nvPr/>
        </p:nvPicPr>
        <p:blipFill>
          <a:blip r:embed="rId1"/>
          <a:stretch>
            <a:fillRect/>
          </a:stretch>
        </p:blipFill>
        <p:spPr>
          <a:xfrm>
            <a:off x="1413022" y="2498141"/>
            <a:ext cx="307238" cy="307238"/>
          </a:xfrm>
          <a:prstGeom prst="rect">
            <a:avLst/>
          </a:prstGeom>
        </p:spPr>
      </p:pic>
      <p:sp>
        <p:nvSpPr>
          <p:cNvPr id="11" name="Text 8"/>
          <p:cNvSpPr txBox="1"/>
          <p:nvPr/>
        </p:nvSpPr>
        <p:spPr>
          <a:xfrm>
            <a:off x="640080" y="3063240"/>
            <a:ext cx="1853123" cy="320040"/>
          </a:xfrm>
          <a:prstGeom prst="rect">
            <a:avLst/>
          </a:prstGeom>
          <a:noFill/>
          <a:ln/>
        </p:spPr>
        <p:txBody>
          <a:bodyPr wrap="square" lIns="0" tIns="0" rIns="0" bIns="0" rtlCol="0" anchor="t"/>
          <a:lstStyle/>
          <a:p>
            <a:pPr algn="ctr" indent="0" marL="0">
              <a:buNone/>
            </a:pPr>
            <a:r>
              <a:rPr lang="en-US" sz="1400" b="1" dirty="0">
                <a:solidFill>
                  <a:srgbClr val="46705A"/>
                </a:solidFill>
                <a:latin typeface="Meiryo UI" pitchFamily="34" charset="0"/>
                <a:ea typeface="Meiryo UI" pitchFamily="34" charset="-122"/>
                <a:cs typeface="Meiryo UI" pitchFamily="34" charset="-120"/>
              </a:rPr>
              <a:t>MiTok</a:t>
            </a:r>
            <a:endParaRPr lang="en-US" sz="1400" dirty="0"/>
          </a:p>
        </p:txBody>
      </p:sp>
      <p:sp>
        <p:nvSpPr>
          <p:cNvPr id="12" name="Text 9"/>
          <p:cNvSpPr txBox="1"/>
          <p:nvPr/>
        </p:nvSpPr>
        <p:spPr>
          <a:xfrm>
            <a:off x="640080" y="3383280"/>
            <a:ext cx="1853123" cy="457200"/>
          </a:xfrm>
          <a:prstGeom prst="rect">
            <a:avLst/>
          </a:prstGeom>
          <a:noFill/>
          <a:ln/>
        </p:spPr>
        <p:txBody>
          <a:bodyPr wrap="square" lIns="0" tIns="0" rIns="0" bIns="0" rtlCol="0" anchor="t"/>
          <a:lstStyle/>
          <a:p>
            <a:pPr algn="ctr" indent="0" marL="0">
              <a:buNone/>
            </a:pPr>
            <a:r>
              <a:rPr lang="en-US" sz="950" dirty="0">
                <a:solidFill>
                  <a:srgbClr val="66776C"/>
                </a:solidFill>
                <a:latin typeface="Meiryo UI" pitchFamily="34" charset="0"/>
                <a:ea typeface="Meiryo UI" pitchFamily="34" charset="-122"/>
                <a:cs typeface="Meiryo UI" pitchFamily="34" charset="-120"/>
              </a:rPr>
              <a:t>（無料3本の検証）</a:t>
            </a:r>
            <a:endParaRPr lang="en-US" sz="950" dirty="0"/>
          </a:p>
        </p:txBody>
      </p:sp>
      <p:sp>
        <p:nvSpPr>
          <p:cNvPr id="13" name="Text 10"/>
          <p:cNvSpPr txBox="1"/>
          <p:nvPr/>
        </p:nvSpPr>
        <p:spPr>
          <a:xfrm>
            <a:off x="731520" y="3886200"/>
            <a:ext cx="1670243" cy="91440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無料3本で、どのテーマ・紹介元に届くかを検証</a:t>
            </a:r>
            <a:endParaRPr lang="en-US" sz="1100" dirty="0"/>
          </a:p>
        </p:txBody>
      </p:sp>
      <p:pic>
        <p:nvPicPr>
          <p:cNvPr id="14" name="Image 1" descr="preencoded.png">    </p:cNvPr>
          <p:cNvPicPr>
            <a:picLocks noChangeAspect="1"/>
          </p:cNvPicPr>
          <p:nvPr/>
        </p:nvPicPr>
        <p:blipFill>
          <a:blip r:embed="rId2"/>
          <a:stretch>
            <a:fillRect/>
          </a:stretch>
        </p:blipFill>
        <p:spPr>
          <a:xfrm>
            <a:off x="2630363" y="3566160"/>
            <a:ext cx="137160" cy="274320"/>
          </a:xfrm>
          <a:prstGeom prst="rect">
            <a:avLst/>
          </a:prstGeom>
        </p:spPr>
      </p:pic>
      <p:sp>
        <p:nvSpPr>
          <p:cNvPr id="15" name="Shape 11"/>
          <p:cNvSpPr/>
          <p:nvPr/>
        </p:nvSpPr>
        <p:spPr>
          <a:xfrm>
            <a:off x="2813243" y="1508760"/>
            <a:ext cx="2036003" cy="502920"/>
          </a:xfrm>
          <a:prstGeom prst="roundRect">
            <a:avLst>
              <a:gd name="adj" fmla="val 21818"/>
            </a:avLst>
          </a:prstGeom>
          <a:solidFill>
            <a:srgbClr val="46705A"/>
          </a:solidFill>
          <a:ln w="12700">
            <a:solidFill>
              <a:srgbClr val="46705A"/>
            </a:solidFill>
            <a:prstDash val="solid"/>
          </a:ln>
        </p:spPr>
      </p:sp>
      <p:sp>
        <p:nvSpPr>
          <p:cNvPr id="16" name="Text 12"/>
          <p:cNvSpPr txBox="1"/>
          <p:nvPr/>
        </p:nvSpPr>
        <p:spPr>
          <a:xfrm>
            <a:off x="2813243" y="1508760"/>
            <a:ext cx="2036003"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UI" pitchFamily="34" charset="0"/>
                <a:ea typeface="Meiryo UI" pitchFamily="34" charset="-122"/>
                <a:cs typeface="Meiryo UI" pitchFamily="34" charset="-120"/>
              </a:rPr>
              <a:t>1ヶ月目〜</a:t>
            </a:r>
            <a:endParaRPr lang="en-US" sz="1250" dirty="0"/>
          </a:p>
        </p:txBody>
      </p:sp>
      <p:sp>
        <p:nvSpPr>
          <p:cNvPr id="17" name="Shape 13"/>
          <p:cNvSpPr/>
          <p:nvPr/>
        </p:nvSpPr>
        <p:spPr>
          <a:xfrm>
            <a:off x="2813243" y="2148840"/>
            <a:ext cx="2036003" cy="2743200"/>
          </a:xfrm>
          <a:prstGeom prst="roundRect">
            <a:avLst>
              <a:gd name="adj" fmla="val 538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3511205" y="2331720"/>
            <a:ext cx="640080" cy="640080"/>
          </a:xfrm>
          <a:prstGeom prst="ellipse">
            <a:avLst/>
          </a:prstGeom>
          <a:solidFill>
            <a:srgbClr val="46705A"/>
          </a:solidFill>
          <a:ln w="12700">
            <a:solidFill>
              <a:srgbClr val="46705A"/>
            </a:solidFill>
            <a:prstDash val="solid"/>
          </a:ln>
        </p:spPr>
      </p:sp>
      <p:pic>
        <p:nvPicPr>
          <p:cNvPr id="19" name="Image 2" descr="preencoded.png">    </p:cNvPr>
          <p:cNvPicPr>
            <a:picLocks noChangeAspect="1"/>
          </p:cNvPicPr>
          <p:nvPr/>
        </p:nvPicPr>
        <p:blipFill>
          <a:blip r:embed="rId3"/>
          <a:stretch>
            <a:fillRect/>
          </a:stretch>
        </p:blipFill>
        <p:spPr>
          <a:xfrm>
            <a:off x="3677625" y="2498141"/>
            <a:ext cx="307238" cy="307238"/>
          </a:xfrm>
          <a:prstGeom prst="rect">
            <a:avLst/>
          </a:prstGeom>
        </p:spPr>
      </p:pic>
      <p:sp>
        <p:nvSpPr>
          <p:cNvPr id="20" name="Text 15"/>
          <p:cNvSpPr txBox="1"/>
          <p:nvPr/>
        </p:nvSpPr>
        <p:spPr>
          <a:xfrm>
            <a:off x="2904683" y="3063240"/>
            <a:ext cx="1853123" cy="320040"/>
          </a:xfrm>
          <a:prstGeom prst="rect">
            <a:avLst/>
          </a:prstGeom>
          <a:noFill/>
          <a:ln/>
        </p:spPr>
        <p:txBody>
          <a:bodyPr wrap="square" lIns="0" tIns="0" rIns="0" bIns="0" rtlCol="0" anchor="t"/>
          <a:lstStyle/>
          <a:p>
            <a:pPr algn="ctr" indent="0" marL="0">
              <a:buNone/>
            </a:pPr>
            <a:r>
              <a:rPr lang="en-US" sz="1400" b="1" dirty="0">
                <a:solidFill>
                  <a:srgbClr val="46705A"/>
                </a:solidFill>
                <a:latin typeface="Meiryo UI" pitchFamily="34" charset="0"/>
                <a:ea typeface="Meiryo UI" pitchFamily="34" charset="-122"/>
                <a:cs typeface="Meiryo UI" pitchFamily="34" charset="-120"/>
              </a:rPr>
              <a:t>フィールドワーク</a:t>
            </a:r>
            <a:endParaRPr lang="en-US" sz="1400" dirty="0"/>
          </a:p>
        </p:txBody>
      </p:sp>
      <p:sp>
        <p:nvSpPr>
          <p:cNvPr id="21" name="Text 16"/>
          <p:cNvSpPr txBox="1"/>
          <p:nvPr/>
        </p:nvSpPr>
        <p:spPr>
          <a:xfrm>
            <a:off x="2904683" y="3383280"/>
            <a:ext cx="1853123" cy="457200"/>
          </a:xfrm>
          <a:prstGeom prst="rect">
            <a:avLst/>
          </a:prstGeom>
          <a:noFill/>
          <a:ln/>
        </p:spPr>
        <p:txBody>
          <a:bodyPr wrap="square" lIns="0" tIns="0" rIns="0" bIns="0" rtlCol="0" anchor="t"/>
          <a:lstStyle/>
          <a:p>
            <a:pPr algn="ctr" indent="0" marL="0">
              <a:buNone/>
            </a:pPr>
            <a:r>
              <a:rPr lang="en-US" sz="950" dirty="0">
                <a:solidFill>
                  <a:srgbClr val="66776C"/>
                </a:solidFill>
                <a:latin typeface="Meiryo UI" pitchFamily="34" charset="0"/>
                <a:ea typeface="Meiryo UI" pitchFamily="34" charset="-122"/>
                <a:cs typeface="Meiryo UI" pitchFamily="34" charset="-120"/>
              </a:rPr>
              <a:t>［フィールドワークチーム］</a:t>
            </a:r>
            <a:endParaRPr lang="en-US" sz="950" dirty="0"/>
          </a:p>
        </p:txBody>
      </p:sp>
      <p:sp>
        <p:nvSpPr>
          <p:cNvPr id="22" name="Text 17"/>
          <p:cNvSpPr txBox="1"/>
          <p:nvPr/>
        </p:nvSpPr>
        <p:spPr>
          <a:xfrm>
            <a:off x="2996123" y="3886200"/>
            <a:ext cx="1670243" cy="91440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代表の事務作業を棚卸しし、事務スタッフへの引き継ぎを開始</a:t>
            </a:r>
            <a:endParaRPr lang="en-US" sz="1100" dirty="0"/>
          </a:p>
        </p:txBody>
      </p:sp>
      <p:pic>
        <p:nvPicPr>
          <p:cNvPr id="23" name="Image 3" descr="preencoded.png">    </p:cNvPr>
          <p:cNvPicPr>
            <a:picLocks noChangeAspect="1"/>
          </p:cNvPicPr>
          <p:nvPr/>
        </p:nvPicPr>
        <p:blipFill>
          <a:blip r:embed="rId4"/>
          <a:stretch>
            <a:fillRect/>
          </a:stretch>
        </p:blipFill>
        <p:spPr>
          <a:xfrm>
            <a:off x="4894966" y="3566160"/>
            <a:ext cx="137160" cy="274320"/>
          </a:xfrm>
          <a:prstGeom prst="rect">
            <a:avLst/>
          </a:prstGeom>
        </p:spPr>
      </p:pic>
      <p:sp>
        <p:nvSpPr>
          <p:cNvPr id="24" name="Shape 18"/>
          <p:cNvSpPr/>
          <p:nvPr/>
        </p:nvSpPr>
        <p:spPr>
          <a:xfrm>
            <a:off x="5077846" y="1508760"/>
            <a:ext cx="2036003" cy="502920"/>
          </a:xfrm>
          <a:prstGeom prst="roundRect">
            <a:avLst>
              <a:gd name="adj" fmla="val 21818"/>
            </a:avLst>
          </a:prstGeom>
          <a:solidFill>
            <a:srgbClr val="46705A"/>
          </a:solidFill>
          <a:ln w="12700">
            <a:solidFill>
              <a:srgbClr val="46705A"/>
            </a:solidFill>
            <a:prstDash val="solid"/>
          </a:ln>
        </p:spPr>
      </p:sp>
      <p:sp>
        <p:nvSpPr>
          <p:cNvPr id="25" name="Text 19"/>
          <p:cNvSpPr txBox="1"/>
          <p:nvPr/>
        </p:nvSpPr>
        <p:spPr>
          <a:xfrm>
            <a:off x="5077846" y="1508760"/>
            <a:ext cx="2036003"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UI" pitchFamily="34" charset="0"/>
                <a:ea typeface="Meiryo UI" pitchFamily="34" charset="-122"/>
                <a:cs typeface="Meiryo UI" pitchFamily="34" charset="-120"/>
              </a:rPr>
              <a:t>2ヶ月目〜</a:t>
            </a:r>
            <a:endParaRPr lang="en-US" sz="1250" dirty="0"/>
          </a:p>
        </p:txBody>
      </p:sp>
      <p:sp>
        <p:nvSpPr>
          <p:cNvPr id="26" name="Shape 20"/>
          <p:cNvSpPr/>
          <p:nvPr/>
        </p:nvSpPr>
        <p:spPr>
          <a:xfrm>
            <a:off x="5077846" y="2148840"/>
            <a:ext cx="2036003" cy="2743200"/>
          </a:xfrm>
          <a:prstGeom prst="roundRect">
            <a:avLst>
              <a:gd name="adj" fmla="val 538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5775808" y="2331720"/>
            <a:ext cx="640080" cy="640080"/>
          </a:xfrm>
          <a:prstGeom prst="ellipse">
            <a:avLst/>
          </a:prstGeom>
          <a:solidFill>
            <a:srgbClr val="46705A"/>
          </a:solidFill>
          <a:ln w="12700">
            <a:solidFill>
              <a:srgbClr val="46705A"/>
            </a:solidFill>
            <a:prstDash val="solid"/>
          </a:ln>
        </p:spPr>
      </p:sp>
      <p:pic>
        <p:nvPicPr>
          <p:cNvPr id="28" name="Image 4" descr="preencoded.png">    </p:cNvPr>
          <p:cNvPicPr>
            <a:picLocks noChangeAspect="1"/>
          </p:cNvPicPr>
          <p:nvPr/>
        </p:nvPicPr>
        <p:blipFill>
          <a:blip r:embed="rId5"/>
          <a:stretch>
            <a:fillRect/>
          </a:stretch>
        </p:blipFill>
        <p:spPr>
          <a:xfrm>
            <a:off x="5942228" y="2498141"/>
            <a:ext cx="307238" cy="307238"/>
          </a:xfrm>
          <a:prstGeom prst="rect">
            <a:avLst/>
          </a:prstGeom>
        </p:spPr>
      </p:pic>
      <p:sp>
        <p:nvSpPr>
          <p:cNvPr id="29" name="Text 22"/>
          <p:cNvSpPr txBox="1"/>
          <p:nvPr/>
        </p:nvSpPr>
        <p:spPr>
          <a:xfrm>
            <a:off x="5169286" y="3063240"/>
            <a:ext cx="1853123" cy="320040"/>
          </a:xfrm>
          <a:prstGeom prst="rect">
            <a:avLst/>
          </a:prstGeom>
          <a:noFill/>
          <a:ln/>
        </p:spPr>
        <p:txBody>
          <a:bodyPr wrap="square" lIns="0" tIns="0" rIns="0" bIns="0" rtlCol="0" anchor="t"/>
          <a:lstStyle/>
          <a:p>
            <a:pPr algn="ctr" indent="0" marL="0">
              <a:buNone/>
            </a:pPr>
            <a:r>
              <a:rPr lang="en-US" sz="1400" b="1" dirty="0">
                <a:solidFill>
                  <a:srgbClr val="46705A"/>
                </a:solidFill>
                <a:latin typeface="Meiryo UI" pitchFamily="34" charset="0"/>
                <a:ea typeface="Meiryo UI" pitchFamily="34" charset="-122"/>
                <a:cs typeface="Meiryo UI" pitchFamily="34" charset="-120"/>
              </a:rPr>
              <a:t>WEB・制作</a:t>
            </a:r>
            <a:endParaRPr lang="en-US" sz="1400" dirty="0"/>
          </a:p>
        </p:txBody>
      </p:sp>
      <p:sp>
        <p:nvSpPr>
          <p:cNvPr id="30" name="Text 23"/>
          <p:cNvSpPr txBox="1"/>
          <p:nvPr/>
        </p:nvSpPr>
        <p:spPr>
          <a:xfrm>
            <a:off x="5169286" y="3383280"/>
            <a:ext cx="1853123" cy="457200"/>
          </a:xfrm>
          <a:prstGeom prst="rect">
            <a:avLst/>
          </a:prstGeom>
          <a:noFill/>
          <a:ln/>
        </p:spPr>
        <p:txBody>
          <a:bodyPr wrap="square" lIns="0" tIns="0" rIns="0" bIns="0" rtlCol="0" anchor="t"/>
          <a:lstStyle/>
          <a:p>
            <a:pPr algn="ctr" indent="0" marL="0">
              <a:buNone/>
            </a:pPr>
            <a:r>
              <a:rPr lang="en-US" sz="950" dirty="0">
                <a:solidFill>
                  <a:srgbClr val="66776C"/>
                </a:solidFill>
                <a:latin typeface="Meiryo UI" pitchFamily="34" charset="0"/>
                <a:ea typeface="Meiryo UI" pitchFamily="34" charset="-122"/>
                <a:cs typeface="Meiryo UI" pitchFamily="34" charset="-120"/>
              </a:rPr>
              <a:t>［クラプロ］</a:t>
            </a:r>
            <a:endParaRPr lang="en-US" sz="950" dirty="0"/>
          </a:p>
        </p:txBody>
      </p:sp>
      <p:sp>
        <p:nvSpPr>
          <p:cNvPr id="31" name="Text 24"/>
          <p:cNvSpPr txBox="1"/>
          <p:nvPr/>
        </p:nvSpPr>
        <p:spPr>
          <a:xfrm>
            <a:off x="5260726" y="3886200"/>
            <a:ext cx="1670243" cy="91440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HP・Instagram・Googleマップを整え、見学・相談の入口をつくる</a:t>
            </a:r>
            <a:endParaRPr lang="en-US" sz="1100" dirty="0"/>
          </a:p>
        </p:txBody>
      </p:sp>
      <p:pic>
        <p:nvPicPr>
          <p:cNvPr id="32" name="Image 5" descr="preencoded.png">    </p:cNvPr>
          <p:cNvPicPr>
            <a:picLocks noChangeAspect="1"/>
          </p:cNvPicPr>
          <p:nvPr/>
        </p:nvPicPr>
        <p:blipFill>
          <a:blip r:embed="rId6"/>
          <a:stretch>
            <a:fillRect/>
          </a:stretch>
        </p:blipFill>
        <p:spPr>
          <a:xfrm>
            <a:off x="7159569" y="3566160"/>
            <a:ext cx="137160" cy="274320"/>
          </a:xfrm>
          <a:prstGeom prst="rect">
            <a:avLst/>
          </a:prstGeom>
        </p:spPr>
      </p:pic>
      <p:sp>
        <p:nvSpPr>
          <p:cNvPr id="33" name="Shape 25"/>
          <p:cNvSpPr/>
          <p:nvPr/>
        </p:nvSpPr>
        <p:spPr>
          <a:xfrm>
            <a:off x="7342449" y="1508760"/>
            <a:ext cx="2036003" cy="502920"/>
          </a:xfrm>
          <a:prstGeom prst="roundRect">
            <a:avLst>
              <a:gd name="adj" fmla="val 21818"/>
            </a:avLst>
          </a:prstGeom>
          <a:solidFill>
            <a:srgbClr val="46705A"/>
          </a:solidFill>
          <a:ln w="12700">
            <a:solidFill>
              <a:srgbClr val="46705A"/>
            </a:solidFill>
            <a:prstDash val="solid"/>
          </a:ln>
        </p:spPr>
      </p:sp>
      <p:sp>
        <p:nvSpPr>
          <p:cNvPr id="34" name="Text 26"/>
          <p:cNvSpPr txBox="1"/>
          <p:nvPr/>
        </p:nvSpPr>
        <p:spPr>
          <a:xfrm>
            <a:off x="7342449" y="1508760"/>
            <a:ext cx="2036003"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UI" pitchFamily="34" charset="0"/>
                <a:ea typeface="Meiryo UI" pitchFamily="34" charset="-122"/>
                <a:cs typeface="Meiryo UI" pitchFamily="34" charset="-120"/>
              </a:rPr>
              <a:t>4ヶ月目〜</a:t>
            </a:r>
            <a:endParaRPr lang="en-US" sz="1250" dirty="0"/>
          </a:p>
        </p:txBody>
      </p:sp>
      <p:sp>
        <p:nvSpPr>
          <p:cNvPr id="35" name="Shape 27"/>
          <p:cNvSpPr/>
          <p:nvPr/>
        </p:nvSpPr>
        <p:spPr>
          <a:xfrm>
            <a:off x="7342449" y="2148840"/>
            <a:ext cx="2036003" cy="2743200"/>
          </a:xfrm>
          <a:prstGeom prst="roundRect">
            <a:avLst>
              <a:gd name="adj" fmla="val 538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6" name="Shape 28"/>
          <p:cNvSpPr/>
          <p:nvPr/>
        </p:nvSpPr>
        <p:spPr>
          <a:xfrm>
            <a:off x="8040411" y="2331720"/>
            <a:ext cx="640080" cy="640080"/>
          </a:xfrm>
          <a:prstGeom prst="ellipse">
            <a:avLst/>
          </a:prstGeom>
          <a:solidFill>
            <a:srgbClr val="46705A"/>
          </a:solidFill>
          <a:ln w="12700">
            <a:solidFill>
              <a:srgbClr val="46705A"/>
            </a:solidFill>
            <a:prstDash val="solid"/>
          </a:ln>
        </p:spPr>
      </p:sp>
      <p:pic>
        <p:nvPicPr>
          <p:cNvPr id="37" name="Image 6" descr="preencoded.png">    </p:cNvPr>
          <p:cNvPicPr>
            <a:picLocks noChangeAspect="1"/>
          </p:cNvPicPr>
          <p:nvPr/>
        </p:nvPicPr>
        <p:blipFill>
          <a:blip r:embed="rId7"/>
          <a:stretch>
            <a:fillRect/>
          </a:stretch>
        </p:blipFill>
        <p:spPr>
          <a:xfrm>
            <a:off x="8206831" y="2498141"/>
            <a:ext cx="307238" cy="307238"/>
          </a:xfrm>
          <a:prstGeom prst="rect">
            <a:avLst/>
          </a:prstGeom>
        </p:spPr>
      </p:pic>
      <p:sp>
        <p:nvSpPr>
          <p:cNvPr id="38" name="Text 29"/>
          <p:cNvSpPr txBox="1"/>
          <p:nvPr/>
        </p:nvSpPr>
        <p:spPr>
          <a:xfrm>
            <a:off x="7433889" y="3063240"/>
            <a:ext cx="1853123" cy="320040"/>
          </a:xfrm>
          <a:prstGeom prst="rect">
            <a:avLst/>
          </a:prstGeom>
          <a:noFill/>
          <a:ln/>
        </p:spPr>
        <p:txBody>
          <a:bodyPr wrap="square" lIns="0" tIns="0" rIns="0" bIns="0" rtlCol="0" anchor="t"/>
          <a:lstStyle/>
          <a:p>
            <a:pPr algn="ctr" indent="0" marL="0">
              <a:buNone/>
            </a:pPr>
            <a:r>
              <a:rPr lang="en-US" sz="1400" b="1" dirty="0">
                <a:solidFill>
                  <a:srgbClr val="46705A"/>
                </a:solidFill>
                <a:latin typeface="Meiryo UI" pitchFamily="34" charset="0"/>
                <a:ea typeface="Meiryo UI" pitchFamily="34" charset="-122"/>
                <a:cs typeface="Meiryo UI" pitchFamily="34" charset="-120"/>
              </a:rPr>
              <a:t>人事支援</a:t>
            </a:r>
            <a:endParaRPr lang="en-US" sz="1400" dirty="0"/>
          </a:p>
        </p:txBody>
      </p:sp>
      <p:sp>
        <p:nvSpPr>
          <p:cNvPr id="39" name="Text 30"/>
          <p:cNvSpPr txBox="1"/>
          <p:nvPr/>
        </p:nvSpPr>
        <p:spPr>
          <a:xfrm>
            <a:off x="7433889" y="3383280"/>
            <a:ext cx="1853123" cy="457200"/>
          </a:xfrm>
          <a:prstGeom prst="rect">
            <a:avLst/>
          </a:prstGeom>
          <a:noFill/>
          <a:ln/>
        </p:spPr>
        <p:txBody>
          <a:bodyPr wrap="square" lIns="0" tIns="0" rIns="0" bIns="0" rtlCol="0" anchor="t"/>
          <a:lstStyle/>
          <a:p>
            <a:pPr algn="ctr" indent="0" marL="0">
              <a:buNone/>
            </a:pPr>
            <a:r>
              <a:rPr lang="en-US" sz="950" dirty="0">
                <a:solidFill>
                  <a:srgbClr val="66776C"/>
                </a:solidFill>
                <a:latin typeface="Meiryo UI" pitchFamily="34" charset="0"/>
                <a:ea typeface="Meiryo UI" pitchFamily="34" charset="-122"/>
                <a:cs typeface="Meiryo UI" pitchFamily="34" charset="-120"/>
              </a:rPr>
              <a:t>［HRユニット］</a:t>
            </a:r>
            <a:endParaRPr lang="en-US" sz="950" dirty="0"/>
          </a:p>
        </p:txBody>
      </p:sp>
      <p:sp>
        <p:nvSpPr>
          <p:cNvPr id="40" name="Text 31"/>
          <p:cNvSpPr txBox="1"/>
          <p:nvPr/>
        </p:nvSpPr>
        <p:spPr>
          <a:xfrm>
            <a:off x="7525329" y="3886200"/>
            <a:ext cx="1670243" cy="91440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GH立ち上げに向けた職員の採用と書類づくり</a:t>
            </a:r>
            <a:endParaRPr lang="en-US" sz="1100" dirty="0"/>
          </a:p>
        </p:txBody>
      </p:sp>
      <p:pic>
        <p:nvPicPr>
          <p:cNvPr id="41" name="Image 7" descr="preencoded.png">    </p:cNvPr>
          <p:cNvPicPr>
            <a:picLocks noChangeAspect="1"/>
          </p:cNvPicPr>
          <p:nvPr/>
        </p:nvPicPr>
        <p:blipFill>
          <a:blip r:embed="rId8"/>
          <a:stretch>
            <a:fillRect/>
          </a:stretch>
        </p:blipFill>
        <p:spPr>
          <a:xfrm>
            <a:off x="9424172" y="3566160"/>
            <a:ext cx="137160" cy="274320"/>
          </a:xfrm>
          <a:prstGeom prst="rect">
            <a:avLst/>
          </a:prstGeom>
        </p:spPr>
      </p:pic>
      <p:sp>
        <p:nvSpPr>
          <p:cNvPr id="42" name="Shape 32"/>
          <p:cNvSpPr/>
          <p:nvPr/>
        </p:nvSpPr>
        <p:spPr>
          <a:xfrm>
            <a:off x="9607052" y="1508760"/>
            <a:ext cx="2036003" cy="502920"/>
          </a:xfrm>
          <a:prstGeom prst="roundRect">
            <a:avLst>
              <a:gd name="adj" fmla="val 21818"/>
            </a:avLst>
          </a:prstGeom>
          <a:solidFill>
            <a:srgbClr val="46705A"/>
          </a:solidFill>
          <a:ln w="12700">
            <a:solidFill>
              <a:srgbClr val="46705A"/>
            </a:solidFill>
            <a:prstDash val="solid"/>
          </a:ln>
        </p:spPr>
      </p:sp>
      <p:sp>
        <p:nvSpPr>
          <p:cNvPr id="43" name="Text 33"/>
          <p:cNvSpPr txBox="1"/>
          <p:nvPr/>
        </p:nvSpPr>
        <p:spPr>
          <a:xfrm>
            <a:off x="9607052" y="1508760"/>
            <a:ext cx="2036003"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Meiryo UI" pitchFamily="34" charset="0"/>
                <a:ea typeface="Meiryo UI" pitchFamily="34" charset="-122"/>
                <a:cs typeface="Meiryo UI" pitchFamily="34" charset="-120"/>
              </a:rPr>
              <a:t>必要に応じて</a:t>
            </a:r>
            <a:endParaRPr lang="en-US" sz="1250" dirty="0"/>
          </a:p>
        </p:txBody>
      </p:sp>
      <p:sp>
        <p:nvSpPr>
          <p:cNvPr id="44" name="Shape 34"/>
          <p:cNvSpPr/>
          <p:nvPr/>
        </p:nvSpPr>
        <p:spPr>
          <a:xfrm>
            <a:off x="9607052" y="2148840"/>
            <a:ext cx="2036003" cy="2743200"/>
          </a:xfrm>
          <a:prstGeom prst="roundRect">
            <a:avLst>
              <a:gd name="adj" fmla="val 538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5" name="Shape 35"/>
          <p:cNvSpPr/>
          <p:nvPr/>
        </p:nvSpPr>
        <p:spPr>
          <a:xfrm>
            <a:off x="10305014" y="2331720"/>
            <a:ext cx="640080" cy="640080"/>
          </a:xfrm>
          <a:prstGeom prst="ellipse">
            <a:avLst/>
          </a:prstGeom>
          <a:solidFill>
            <a:srgbClr val="46705A"/>
          </a:solidFill>
          <a:ln w="12700">
            <a:solidFill>
              <a:srgbClr val="46705A"/>
            </a:solidFill>
            <a:prstDash val="solid"/>
          </a:ln>
        </p:spPr>
      </p:sp>
      <p:pic>
        <p:nvPicPr>
          <p:cNvPr id="46" name="Image 8" descr="preencoded.png">    </p:cNvPr>
          <p:cNvPicPr>
            <a:picLocks noChangeAspect="1"/>
          </p:cNvPicPr>
          <p:nvPr/>
        </p:nvPicPr>
        <p:blipFill>
          <a:blip r:embed="rId9"/>
          <a:stretch>
            <a:fillRect/>
          </a:stretch>
        </p:blipFill>
        <p:spPr>
          <a:xfrm>
            <a:off x="10471434" y="2498141"/>
            <a:ext cx="307238" cy="307238"/>
          </a:xfrm>
          <a:prstGeom prst="rect">
            <a:avLst/>
          </a:prstGeom>
        </p:spPr>
      </p:pic>
      <p:sp>
        <p:nvSpPr>
          <p:cNvPr id="47" name="Text 36"/>
          <p:cNvSpPr txBox="1"/>
          <p:nvPr/>
        </p:nvSpPr>
        <p:spPr>
          <a:xfrm>
            <a:off x="9698492" y="3063240"/>
            <a:ext cx="1853123" cy="320040"/>
          </a:xfrm>
          <a:prstGeom prst="rect">
            <a:avLst/>
          </a:prstGeom>
          <a:noFill/>
          <a:ln/>
        </p:spPr>
        <p:txBody>
          <a:bodyPr wrap="square" lIns="0" tIns="0" rIns="0" bIns="0" rtlCol="0" anchor="t"/>
          <a:lstStyle/>
          <a:p>
            <a:pPr algn="ctr" indent="0" marL="0">
              <a:buNone/>
            </a:pPr>
            <a:r>
              <a:rPr lang="en-US" sz="1400" b="1" dirty="0">
                <a:solidFill>
                  <a:srgbClr val="46705A"/>
                </a:solidFill>
                <a:latin typeface="Meiryo UI" pitchFamily="34" charset="0"/>
                <a:ea typeface="Meiryo UI" pitchFamily="34" charset="-122"/>
                <a:cs typeface="Meiryo UI" pitchFamily="34" charset="-120"/>
              </a:rPr>
              <a:t>商談支援</a:t>
            </a:r>
            <a:endParaRPr lang="en-US" sz="1400" dirty="0"/>
          </a:p>
        </p:txBody>
      </p:sp>
      <p:sp>
        <p:nvSpPr>
          <p:cNvPr id="48" name="Text 37"/>
          <p:cNvSpPr txBox="1"/>
          <p:nvPr/>
        </p:nvSpPr>
        <p:spPr>
          <a:xfrm>
            <a:off x="9698492" y="3383280"/>
            <a:ext cx="1853123" cy="457200"/>
          </a:xfrm>
          <a:prstGeom prst="rect">
            <a:avLst/>
          </a:prstGeom>
          <a:noFill/>
          <a:ln/>
        </p:spPr>
        <p:txBody>
          <a:bodyPr wrap="square" lIns="0" tIns="0" rIns="0" bIns="0" rtlCol="0" anchor="t"/>
          <a:lstStyle/>
          <a:p>
            <a:pPr algn="ctr" indent="0" marL="0">
              <a:buNone/>
            </a:pPr>
            <a:r>
              <a:rPr lang="en-US" sz="950" dirty="0">
                <a:solidFill>
                  <a:srgbClr val="66776C"/>
                </a:solidFill>
                <a:latin typeface="Meiryo UI" pitchFamily="34" charset="0"/>
                <a:ea typeface="Meiryo UI" pitchFamily="34" charset="-122"/>
                <a:cs typeface="Meiryo UI" pitchFamily="34" charset="-120"/>
              </a:rPr>
              <a:t>［セールスユニット］</a:t>
            </a:r>
            <a:endParaRPr lang="en-US" sz="950" dirty="0"/>
          </a:p>
        </p:txBody>
      </p:sp>
      <p:sp>
        <p:nvSpPr>
          <p:cNvPr id="49" name="Text 38"/>
          <p:cNvSpPr txBox="1"/>
          <p:nvPr/>
        </p:nvSpPr>
        <p:spPr>
          <a:xfrm>
            <a:off x="9789932" y="3886200"/>
            <a:ext cx="1670243" cy="914400"/>
          </a:xfrm>
          <a:prstGeom prst="rect">
            <a:avLst/>
          </a:prstGeom>
          <a:noFill/>
          <a:ln/>
        </p:spPr>
        <p:txBody>
          <a:bodyPr wrap="square" lIns="0" tIns="0" rIns="0" bIns="0" rtlCol="0" anchor="t"/>
          <a:lstStyle/>
          <a:p>
            <a:pPr indent="0" marL="0">
              <a:buNone/>
            </a:pPr>
            <a:r>
              <a:rPr lang="en-US" sz="1100" dirty="0">
                <a:solidFill>
                  <a:srgbClr val="2A322D"/>
                </a:solidFill>
                <a:latin typeface="Meiryo UI" pitchFamily="34" charset="0"/>
                <a:ea typeface="Meiryo UI" pitchFamily="34" charset="-122"/>
                <a:cs typeface="Meiryo UI" pitchFamily="34" charset="-120"/>
              </a:rPr>
              <a:t>紹介元への説明と見学対応の型をつくる</a:t>
            </a:r>
            <a:endParaRPr lang="en-US" sz="1100" dirty="0"/>
          </a:p>
        </p:txBody>
      </p:sp>
      <p:sp>
        <p:nvSpPr>
          <p:cNvPr id="50" name="Shape 39"/>
          <p:cNvSpPr/>
          <p:nvPr/>
        </p:nvSpPr>
        <p:spPr>
          <a:xfrm>
            <a:off x="548640" y="5166360"/>
            <a:ext cx="11094415" cy="640080"/>
          </a:xfrm>
          <a:prstGeom prst="roundRect">
            <a:avLst>
              <a:gd name="adj" fmla="val 17143"/>
            </a:avLst>
          </a:prstGeom>
          <a:solidFill>
            <a:srgbClr val="EDF3EF"/>
          </a:solidFill>
          <a:ln w="12700">
            <a:solidFill>
              <a:srgbClr val="EDF3EF"/>
            </a:solidFill>
            <a:prstDash val="solid"/>
          </a:ln>
        </p:spPr>
      </p:sp>
      <p:sp>
        <p:nvSpPr>
          <p:cNvPr id="51" name="Text 40"/>
          <p:cNvSpPr txBox="1"/>
          <p:nvPr/>
        </p:nvSpPr>
        <p:spPr>
          <a:xfrm>
            <a:off x="822960" y="5166360"/>
            <a:ext cx="10545775" cy="640080"/>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費用を抑えるため、まずはMiTok（無料3本）と事務の棚卸しから小さく始め、効果を確かめながら必要なユニットだけを追加します。受託作業の開拓（営業支援）は工賃を増やしたい時期に合わせてご提案します。</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06｜SEAMLESS TRANSITION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「テスト（無料3本）」から「本格展開」へ、止めずにつなぐ</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29</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2011680" y="1371600"/>
            <a:ext cx="4663440" cy="502920"/>
          </a:xfrm>
          <a:prstGeom prst="roundRect">
            <a:avLst>
              <a:gd name="adj" fmla="val 21818"/>
            </a:avLst>
          </a:prstGeom>
          <a:solidFill>
            <a:srgbClr val="EEF0EE"/>
          </a:solidFill>
          <a:ln w="12700">
            <a:solidFill>
              <a:srgbClr val="EEF0EE"/>
            </a:solidFill>
            <a:prstDash val="solid"/>
          </a:ln>
        </p:spPr>
      </p:sp>
      <p:sp>
        <p:nvSpPr>
          <p:cNvPr id="7" name="Text 5"/>
          <p:cNvSpPr txBox="1"/>
          <p:nvPr/>
        </p:nvSpPr>
        <p:spPr>
          <a:xfrm>
            <a:off x="2011680" y="1371600"/>
            <a:ext cx="4663440" cy="502920"/>
          </a:xfrm>
          <a:prstGeom prst="rect">
            <a:avLst/>
          </a:prstGeom>
          <a:noFill/>
          <a:ln/>
        </p:spPr>
        <p:txBody>
          <a:bodyPr wrap="square" lIns="0" tIns="0" rIns="0" bIns="0" rtlCol="0" anchor="ctr"/>
          <a:lstStyle/>
          <a:p>
            <a:pPr algn="ctr" indent="0" marL="0">
              <a:buNone/>
            </a:pPr>
            <a:r>
              <a:rPr lang="en-US" sz="1300" b="1" dirty="0">
                <a:solidFill>
                  <a:srgbClr val="7B857E"/>
                </a:solidFill>
                <a:latin typeface="Meiryo UI" pitchFamily="34" charset="0"/>
                <a:ea typeface="Meiryo UI" pitchFamily="34" charset="-122"/>
                <a:cs typeface="Meiryo UI" pitchFamily="34" charset="-120"/>
              </a:rPr>
              <a:t>様子見（無料3本 → 結果を見て検討）</a:t>
            </a:r>
            <a:endParaRPr lang="en-US" sz="1300" dirty="0"/>
          </a:p>
        </p:txBody>
      </p:sp>
      <p:sp>
        <p:nvSpPr>
          <p:cNvPr id="8" name="Shape 6"/>
          <p:cNvSpPr/>
          <p:nvPr/>
        </p:nvSpPr>
        <p:spPr>
          <a:xfrm>
            <a:off x="6858000" y="1371600"/>
            <a:ext cx="4663440" cy="502920"/>
          </a:xfrm>
          <a:prstGeom prst="roundRect">
            <a:avLst>
              <a:gd name="adj" fmla="val 21818"/>
            </a:avLst>
          </a:prstGeom>
          <a:solidFill>
            <a:srgbClr val="B8652A"/>
          </a:solidFill>
          <a:ln w="12700">
            <a:solidFill>
              <a:srgbClr val="B8652A"/>
            </a:solidFill>
            <a:prstDash val="solid"/>
          </a:ln>
        </p:spPr>
      </p:sp>
      <p:sp>
        <p:nvSpPr>
          <p:cNvPr id="9" name="Text 7"/>
          <p:cNvSpPr txBox="1"/>
          <p:nvPr/>
        </p:nvSpPr>
        <p:spPr>
          <a:xfrm>
            <a:off x="6858000" y="1371600"/>
            <a:ext cx="466344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UI" pitchFamily="34" charset="0"/>
                <a:ea typeface="Meiryo UI" pitchFamily="34" charset="-122"/>
                <a:cs typeface="Meiryo UI" pitchFamily="34" charset="-120"/>
              </a:rPr>
              <a:t>早期ご決定（無料3本を伴走の初月に組み込み）</a:t>
            </a:r>
            <a:endParaRPr lang="en-US" sz="1300" dirty="0"/>
          </a:p>
        </p:txBody>
      </p:sp>
      <p:sp>
        <p:nvSpPr>
          <p:cNvPr id="10" name="Text 8"/>
          <p:cNvSpPr txBox="1"/>
          <p:nvPr/>
        </p:nvSpPr>
        <p:spPr>
          <a:xfrm>
            <a:off x="548640" y="1965960"/>
            <a:ext cx="1371600" cy="45720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検証設計</a:t>
            </a:r>
            <a:endParaRPr lang="en-US" sz="1250" dirty="0"/>
          </a:p>
        </p:txBody>
      </p:sp>
      <p:sp>
        <p:nvSpPr>
          <p:cNvPr id="11" name="Shape 9"/>
          <p:cNvSpPr/>
          <p:nvPr/>
        </p:nvSpPr>
        <p:spPr>
          <a:xfrm>
            <a:off x="2011680" y="1965960"/>
            <a:ext cx="4663440" cy="457200"/>
          </a:xfrm>
          <a:prstGeom prst="roundRect">
            <a:avLst>
              <a:gd name="adj" fmla="val 24000"/>
            </a:avLst>
          </a:prstGeom>
          <a:solidFill>
            <a:srgbClr val="F6F9F7"/>
          </a:solidFill>
          <a:ln w="12700">
            <a:solidFill>
              <a:srgbClr val="F6F9F7"/>
            </a:solidFill>
            <a:prstDash val="solid"/>
          </a:ln>
        </p:spPr>
      </p:sp>
      <p:sp>
        <p:nvSpPr>
          <p:cNvPr id="12" name="Text 10"/>
          <p:cNvSpPr txBox="1"/>
          <p:nvPr/>
        </p:nvSpPr>
        <p:spPr>
          <a:xfrm>
            <a:off x="2194560" y="1965960"/>
            <a:ext cx="4297680" cy="457200"/>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3本を「作ること」がゴールになりがち</a:t>
            </a:r>
            <a:endParaRPr lang="en-US" sz="1200" dirty="0"/>
          </a:p>
        </p:txBody>
      </p:sp>
      <p:sp>
        <p:nvSpPr>
          <p:cNvPr id="13" name="Shape 11"/>
          <p:cNvSpPr/>
          <p:nvPr/>
        </p:nvSpPr>
        <p:spPr>
          <a:xfrm>
            <a:off x="6858000" y="1965960"/>
            <a:ext cx="4663440" cy="457200"/>
          </a:xfrm>
          <a:prstGeom prst="roundRect">
            <a:avLst>
              <a:gd name="adj" fmla="val 24000"/>
            </a:avLst>
          </a:prstGeom>
          <a:solidFill>
            <a:srgbClr val="FBEFE4"/>
          </a:solidFill>
          <a:ln w="12700">
            <a:solidFill>
              <a:srgbClr val="FBEFE4"/>
            </a:solidFill>
            <a:prstDash val="solid"/>
          </a:ln>
        </p:spPr>
      </p:sp>
      <p:sp>
        <p:nvSpPr>
          <p:cNvPr id="14" name="Text 12"/>
          <p:cNvSpPr txBox="1"/>
          <p:nvPr/>
        </p:nvSpPr>
        <p:spPr>
          <a:xfrm>
            <a:off x="7040880" y="1965960"/>
            <a:ext cx="4297680" cy="457200"/>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最初からKPI・比較軸を設計し、検証として実施</a:t>
            </a:r>
            <a:endParaRPr lang="en-US" sz="1200" dirty="0"/>
          </a:p>
        </p:txBody>
      </p:sp>
      <p:sp>
        <p:nvSpPr>
          <p:cNvPr id="15" name="Text 13"/>
          <p:cNvSpPr txBox="1"/>
          <p:nvPr/>
        </p:nvSpPr>
        <p:spPr>
          <a:xfrm>
            <a:off x="548640" y="2496312"/>
            <a:ext cx="1371600" cy="45720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検証後</a:t>
            </a:r>
            <a:endParaRPr lang="en-US" sz="1250" dirty="0"/>
          </a:p>
        </p:txBody>
      </p:sp>
      <p:sp>
        <p:nvSpPr>
          <p:cNvPr id="16" name="Shape 14"/>
          <p:cNvSpPr/>
          <p:nvPr/>
        </p:nvSpPr>
        <p:spPr>
          <a:xfrm>
            <a:off x="2011680" y="2496312"/>
            <a:ext cx="4663440" cy="457200"/>
          </a:xfrm>
          <a:prstGeom prst="roundRect">
            <a:avLst>
              <a:gd name="adj" fmla="val 24000"/>
            </a:avLst>
          </a:prstGeom>
          <a:solidFill>
            <a:srgbClr val="F6F9F7"/>
          </a:solidFill>
          <a:ln w="12700">
            <a:solidFill>
              <a:srgbClr val="F6F9F7"/>
            </a:solidFill>
            <a:prstDash val="solid"/>
          </a:ln>
        </p:spPr>
      </p:sp>
      <p:sp>
        <p:nvSpPr>
          <p:cNvPr id="17" name="Text 15"/>
          <p:cNvSpPr txBox="1"/>
          <p:nvPr/>
        </p:nvSpPr>
        <p:spPr>
          <a:xfrm>
            <a:off x="2194560" y="2496312"/>
            <a:ext cx="4297680" cy="457200"/>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理事会・見積り・契約で1〜2ヶ月の空白</a:t>
            </a:r>
            <a:endParaRPr lang="en-US" sz="1200" dirty="0"/>
          </a:p>
        </p:txBody>
      </p:sp>
      <p:sp>
        <p:nvSpPr>
          <p:cNvPr id="18" name="Shape 16"/>
          <p:cNvSpPr/>
          <p:nvPr/>
        </p:nvSpPr>
        <p:spPr>
          <a:xfrm>
            <a:off x="6858000" y="2496312"/>
            <a:ext cx="4663440" cy="457200"/>
          </a:xfrm>
          <a:prstGeom prst="roundRect">
            <a:avLst>
              <a:gd name="adj" fmla="val 24000"/>
            </a:avLst>
          </a:prstGeom>
          <a:solidFill>
            <a:srgbClr val="FBEFE4"/>
          </a:solidFill>
          <a:ln w="12700">
            <a:solidFill>
              <a:srgbClr val="FBEFE4"/>
            </a:solidFill>
            <a:prstDash val="solid"/>
          </a:ln>
        </p:spPr>
      </p:sp>
      <p:sp>
        <p:nvSpPr>
          <p:cNvPr id="19" name="Text 17"/>
          <p:cNvSpPr txBox="1"/>
          <p:nvPr/>
        </p:nvSpPr>
        <p:spPr>
          <a:xfrm>
            <a:off x="7040880" y="2496312"/>
            <a:ext cx="4297680" cy="457200"/>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検証レポート当日に次の一手へ即着手</a:t>
            </a:r>
            <a:endParaRPr lang="en-US" sz="1200" dirty="0"/>
          </a:p>
        </p:txBody>
      </p:sp>
      <p:sp>
        <p:nvSpPr>
          <p:cNvPr id="20" name="Text 18"/>
          <p:cNvSpPr txBox="1"/>
          <p:nvPr/>
        </p:nvSpPr>
        <p:spPr>
          <a:xfrm>
            <a:off x="548640" y="3026664"/>
            <a:ext cx="1371600" cy="45720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SNS・HP</a:t>
            </a:r>
            <a:endParaRPr lang="en-US" sz="1250" dirty="0"/>
          </a:p>
        </p:txBody>
      </p:sp>
      <p:sp>
        <p:nvSpPr>
          <p:cNvPr id="21" name="Shape 19"/>
          <p:cNvSpPr/>
          <p:nvPr/>
        </p:nvSpPr>
        <p:spPr>
          <a:xfrm>
            <a:off x="2011680" y="3026664"/>
            <a:ext cx="4663440" cy="457200"/>
          </a:xfrm>
          <a:prstGeom prst="roundRect">
            <a:avLst>
              <a:gd name="adj" fmla="val 24000"/>
            </a:avLst>
          </a:prstGeom>
          <a:solidFill>
            <a:srgbClr val="F6F9F7"/>
          </a:solidFill>
          <a:ln w="12700">
            <a:solidFill>
              <a:srgbClr val="F6F9F7"/>
            </a:solidFill>
            <a:prstDash val="solid"/>
          </a:ln>
        </p:spPr>
      </p:sp>
      <p:sp>
        <p:nvSpPr>
          <p:cNvPr id="22" name="Text 20"/>
          <p:cNvSpPr txBox="1"/>
          <p:nvPr/>
        </p:nvSpPr>
        <p:spPr>
          <a:xfrm>
            <a:off x="2194560" y="3026664"/>
            <a:ext cx="4297680" cy="457200"/>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投稿・掲載が止まり、積み上げがリセット</a:t>
            </a:r>
            <a:endParaRPr lang="en-US" sz="1200" dirty="0"/>
          </a:p>
        </p:txBody>
      </p:sp>
      <p:sp>
        <p:nvSpPr>
          <p:cNvPr id="23" name="Shape 21"/>
          <p:cNvSpPr/>
          <p:nvPr/>
        </p:nvSpPr>
        <p:spPr>
          <a:xfrm>
            <a:off x="6858000" y="3026664"/>
            <a:ext cx="4663440" cy="457200"/>
          </a:xfrm>
          <a:prstGeom prst="roundRect">
            <a:avLst>
              <a:gd name="adj" fmla="val 24000"/>
            </a:avLst>
          </a:prstGeom>
          <a:solidFill>
            <a:srgbClr val="FBEFE4"/>
          </a:solidFill>
          <a:ln w="12700">
            <a:solidFill>
              <a:srgbClr val="FBEFE4"/>
            </a:solidFill>
            <a:prstDash val="solid"/>
          </a:ln>
        </p:spPr>
      </p:sp>
      <p:sp>
        <p:nvSpPr>
          <p:cNvPr id="24" name="Text 22"/>
          <p:cNvSpPr txBox="1"/>
          <p:nvPr/>
        </p:nvSpPr>
        <p:spPr>
          <a:xfrm>
            <a:off x="7040880" y="3026664"/>
            <a:ext cx="4297680" cy="457200"/>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発信が途切れず、見学・相談が積み上がる</a:t>
            </a:r>
            <a:endParaRPr lang="en-US" sz="1200" dirty="0"/>
          </a:p>
        </p:txBody>
      </p:sp>
      <p:sp>
        <p:nvSpPr>
          <p:cNvPr id="25" name="Text 23"/>
          <p:cNvSpPr txBox="1"/>
          <p:nvPr/>
        </p:nvSpPr>
        <p:spPr>
          <a:xfrm>
            <a:off x="548640" y="3557016"/>
            <a:ext cx="1371600" cy="45720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2027年4月</a:t>
            </a:r>
            <a:endParaRPr lang="en-US" sz="1250" dirty="0"/>
          </a:p>
        </p:txBody>
      </p:sp>
      <p:sp>
        <p:nvSpPr>
          <p:cNvPr id="26" name="Shape 24"/>
          <p:cNvSpPr/>
          <p:nvPr/>
        </p:nvSpPr>
        <p:spPr>
          <a:xfrm>
            <a:off x="2011680" y="3557016"/>
            <a:ext cx="4663440" cy="457200"/>
          </a:xfrm>
          <a:prstGeom prst="roundRect">
            <a:avLst>
              <a:gd name="adj" fmla="val 24000"/>
            </a:avLst>
          </a:prstGeom>
          <a:solidFill>
            <a:srgbClr val="F6F9F7"/>
          </a:solidFill>
          <a:ln w="12700">
            <a:solidFill>
              <a:srgbClr val="F6F9F7"/>
            </a:solidFill>
            <a:prstDash val="solid"/>
          </a:ln>
        </p:spPr>
      </p:sp>
      <p:sp>
        <p:nvSpPr>
          <p:cNvPr id="27" name="Text 25"/>
          <p:cNvSpPr txBox="1"/>
          <p:nvPr/>
        </p:nvSpPr>
        <p:spPr>
          <a:xfrm>
            <a:off x="2194560" y="3557016"/>
            <a:ext cx="4297680" cy="457200"/>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準備期間が短くなり、立ち上げに間に合わない</a:t>
            </a:r>
            <a:endParaRPr lang="en-US" sz="1200" dirty="0"/>
          </a:p>
        </p:txBody>
      </p:sp>
      <p:sp>
        <p:nvSpPr>
          <p:cNvPr id="28" name="Shape 26"/>
          <p:cNvSpPr/>
          <p:nvPr/>
        </p:nvSpPr>
        <p:spPr>
          <a:xfrm>
            <a:off x="6858000" y="3557016"/>
            <a:ext cx="4663440" cy="457200"/>
          </a:xfrm>
          <a:prstGeom prst="roundRect">
            <a:avLst>
              <a:gd name="adj" fmla="val 24000"/>
            </a:avLst>
          </a:prstGeom>
          <a:solidFill>
            <a:srgbClr val="FBEFE4"/>
          </a:solidFill>
          <a:ln w="12700">
            <a:solidFill>
              <a:srgbClr val="FBEFE4"/>
            </a:solidFill>
            <a:prstDash val="solid"/>
          </a:ln>
        </p:spPr>
      </p:sp>
      <p:sp>
        <p:nvSpPr>
          <p:cNvPr id="29" name="Text 27"/>
          <p:cNvSpPr txBox="1"/>
          <p:nvPr/>
        </p:nvSpPr>
        <p:spPr>
          <a:xfrm>
            <a:off x="7040880" y="3557016"/>
            <a:ext cx="4297680" cy="457200"/>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4月から逆算して準備が進む</a:t>
            </a:r>
            <a:endParaRPr lang="en-US" sz="1200" dirty="0"/>
          </a:p>
        </p:txBody>
      </p:sp>
      <p:sp>
        <p:nvSpPr>
          <p:cNvPr id="30" name="Text 28"/>
          <p:cNvSpPr txBox="1"/>
          <p:nvPr/>
        </p:nvSpPr>
        <p:spPr>
          <a:xfrm>
            <a:off x="548640" y="4087368"/>
            <a:ext cx="1371600" cy="45720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代表の時間</a:t>
            </a:r>
            <a:endParaRPr lang="en-US" sz="1250" dirty="0"/>
          </a:p>
        </p:txBody>
      </p:sp>
      <p:sp>
        <p:nvSpPr>
          <p:cNvPr id="31" name="Shape 29"/>
          <p:cNvSpPr/>
          <p:nvPr/>
        </p:nvSpPr>
        <p:spPr>
          <a:xfrm>
            <a:off x="2011680" y="4087368"/>
            <a:ext cx="4663440" cy="457200"/>
          </a:xfrm>
          <a:prstGeom prst="roundRect">
            <a:avLst>
              <a:gd name="adj" fmla="val 24000"/>
            </a:avLst>
          </a:prstGeom>
          <a:solidFill>
            <a:srgbClr val="F6F9F7"/>
          </a:solidFill>
          <a:ln w="12700">
            <a:solidFill>
              <a:srgbClr val="F6F9F7"/>
            </a:solidFill>
            <a:prstDash val="solid"/>
          </a:ln>
        </p:spPr>
      </p:sp>
      <p:sp>
        <p:nvSpPr>
          <p:cNvPr id="32" name="Text 30"/>
          <p:cNvSpPr txBox="1"/>
          <p:nvPr/>
        </p:nvSpPr>
        <p:spPr>
          <a:xfrm>
            <a:off x="2194560" y="4087368"/>
            <a:ext cx="4297680" cy="457200"/>
          </a:xfrm>
          <a:prstGeom prst="rect">
            <a:avLst/>
          </a:prstGeom>
          <a:noFill/>
          <a:ln/>
        </p:spPr>
        <p:txBody>
          <a:bodyPr wrap="square" lIns="0" tIns="0" rIns="0" bIns="0" rtlCol="0" anchor="ctr"/>
          <a:lstStyle/>
          <a:p>
            <a:pPr indent="0" marL="0">
              <a:buNone/>
            </a:pPr>
            <a:r>
              <a:rPr lang="en-US" sz="1200" dirty="0">
                <a:solidFill>
                  <a:srgbClr val="7B857E"/>
                </a:solidFill>
                <a:latin typeface="Meiryo UI" pitchFamily="34" charset="0"/>
                <a:ea typeface="Meiryo UI" pitchFamily="34" charset="-122"/>
                <a:cs typeface="Meiryo UI" pitchFamily="34" charset="-120"/>
              </a:rPr>
              <a:t>様子見の間も事務の負担は変わらない</a:t>
            </a:r>
            <a:endParaRPr lang="en-US" sz="1200" dirty="0"/>
          </a:p>
        </p:txBody>
      </p:sp>
      <p:sp>
        <p:nvSpPr>
          <p:cNvPr id="33" name="Shape 31"/>
          <p:cNvSpPr/>
          <p:nvPr/>
        </p:nvSpPr>
        <p:spPr>
          <a:xfrm>
            <a:off x="6858000" y="4087368"/>
            <a:ext cx="4663440" cy="457200"/>
          </a:xfrm>
          <a:prstGeom prst="roundRect">
            <a:avLst>
              <a:gd name="adj" fmla="val 24000"/>
            </a:avLst>
          </a:prstGeom>
          <a:solidFill>
            <a:srgbClr val="FBEFE4"/>
          </a:solidFill>
          <a:ln w="12700">
            <a:solidFill>
              <a:srgbClr val="FBEFE4"/>
            </a:solidFill>
            <a:prstDash val="solid"/>
          </a:ln>
        </p:spPr>
      </p:sp>
      <p:sp>
        <p:nvSpPr>
          <p:cNvPr id="34" name="Text 32"/>
          <p:cNvSpPr txBox="1"/>
          <p:nvPr/>
        </p:nvSpPr>
        <p:spPr>
          <a:xfrm>
            <a:off x="7040880" y="4087368"/>
            <a:ext cx="4297680" cy="457200"/>
          </a:xfrm>
          <a:prstGeom prst="rect">
            <a:avLst/>
          </a:prstGeom>
          <a:noFill/>
          <a:ln/>
        </p:spPr>
        <p:txBody>
          <a:bodyPr wrap="square" lIns="0" tIns="0" rIns="0" bIns="0" rtlCol="0" anchor="ctr"/>
          <a:lstStyle/>
          <a:p>
            <a:pPr indent="0" marL="0">
              <a:buNone/>
            </a:pPr>
            <a:r>
              <a:rPr lang="en-US" sz="1200" b="1" dirty="0">
                <a:solidFill>
                  <a:srgbClr val="2F4D3D"/>
                </a:solidFill>
                <a:latin typeface="Meiryo UI" pitchFamily="34" charset="0"/>
                <a:ea typeface="Meiryo UI" pitchFamily="34" charset="-122"/>
                <a:cs typeface="Meiryo UI" pitchFamily="34" charset="-120"/>
              </a:rPr>
              <a:t>早い段階から事務の引き継ぎが始まる</a:t>
            </a:r>
            <a:endParaRPr lang="en-US" sz="1200" dirty="0"/>
          </a:p>
        </p:txBody>
      </p:sp>
      <p:sp>
        <p:nvSpPr>
          <p:cNvPr id="35" name="Text 33"/>
          <p:cNvSpPr txBox="1"/>
          <p:nvPr/>
        </p:nvSpPr>
        <p:spPr>
          <a:xfrm>
            <a:off x="548640" y="4754880"/>
            <a:ext cx="2743200" cy="320040"/>
          </a:xfrm>
          <a:prstGeom prst="rect">
            <a:avLst/>
          </a:prstGeom>
          <a:noFill/>
          <a:ln/>
        </p:spPr>
        <p:txBody>
          <a:bodyPr wrap="square" lIns="0" tIns="0" rIns="0" bIns="0" rtlCol="0" anchor="t"/>
          <a:lstStyle/>
          <a:p>
            <a:pPr indent="0" marL="0">
              <a:buNone/>
            </a:pPr>
            <a:r>
              <a:rPr lang="en-US" sz="1400" b="1" dirty="0">
                <a:solidFill>
                  <a:srgbClr val="B8652A"/>
                </a:solidFill>
                <a:latin typeface="Meiryo UI" pitchFamily="34" charset="0"/>
                <a:ea typeface="Meiryo UI" pitchFamily="34" charset="-122"/>
                <a:cs typeface="Meiryo UI" pitchFamily="34" charset="-120"/>
              </a:rPr>
              <a:t>移行の流れ</a:t>
            </a:r>
            <a:endParaRPr lang="en-US" sz="1400" dirty="0"/>
          </a:p>
        </p:txBody>
      </p:sp>
      <p:sp>
        <p:nvSpPr>
          <p:cNvPr id="36" name="Shape 34"/>
          <p:cNvSpPr/>
          <p:nvPr/>
        </p:nvSpPr>
        <p:spPr>
          <a:xfrm>
            <a:off x="548640" y="5120640"/>
            <a:ext cx="2533574" cy="1143000"/>
          </a:xfrm>
          <a:prstGeom prst="roundRect">
            <a:avLst>
              <a:gd name="adj" fmla="val 9600"/>
            </a:avLst>
          </a:prstGeom>
          <a:solidFill>
            <a:srgbClr val="2F4D3D"/>
          </a:solidFill>
          <a:ln w="12700">
            <a:solidFill>
              <a:srgbClr val="2F4D3D"/>
            </a:solidFill>
            <a:prstDash val="solid"/>
          </a:ln>
        </p:spPr>
      </p:sp>
      <p:sp>
        <p:nvSpPr>
          <p:cNvPr id="37" name="Text 35"/>
          <p:cNvSpPr txBox="1"/>
          <p:nvPr/>
        </p:nvSpPr>
        <p:spPr>
          <a:xfrm>
            <a:off x="731520" y="5193792"/>
            <a:ext cx="2167814" cy="320040"/>
          </a:xfrm>
          <a:prstGeom prst="rect">
            <a:avLst/>
          </a:prstGeom>
          <a:noFill/>
          <a:ln/>
        </p:spPr>
        <p:txBody>
          <a:bodyPr wrap="square" lIns="0" tIns="0" rIns="0" bIns="0" rtlCol="0" anchor="t"/>
          <a:lstStyle/>
          <a:p>
            <a:pPr indent="0" marL="0">
              <a:buNone/>
            </a:pPr>
            <a:r>
              <a:rPr lang="en-US" sz="1300" b="1" dirty="0">
                <a:solidFill>
                  <a:srgbClr val="F2C19A"/>
                </a:solidFill>
                <a:latin typeface="Meiryo UI" pitchFamily="34" charset="0"/>
                <a:ea typeface="Meiryo UI" pitchFamily="34" charset="-122"/>
                <a:cs typeface="Meiryo UI" pitchFamily="34" charset="-120"/>
              </a:rPr>
              <a:t>ご契約時</a:t>
            </a:r>
            <a:endParaRPr lang="en-US" sz="1300" dirty="0"/>
          </a:p>
        </p:txBody>
      </p:sp>
      <p:sp>
        <p:nvSpPr>
          <p:cNvPr id="38" name="Text 36"/>
          <p:cNvSpPr txBox="1"/>
          <p:nvPr/>
        </p:nvSpPr>
        <p:spPr>
          <a:xfrm>
            <a:off x="731520" y="5513832"/>
            <a:ext cx="2167814" cy="685800"/>
          </a:xfrm>
          <a:prstGeom prst="rect">
            <a:avLst/>
          </a:prstGeom>
          <a:noFill/>
          <a:ln/>
        </p:spPr>
        <p:txBody>
          <a:bodyPr wrap="square" lIns="0" tIns="0" rIns="0" bIns="0" rtlCol="0" anchor="t"/>
          <a:lstStyle/>
          <a:p>
            <a:pPr indent="0" marL="0">
              <a:buNone/>
            </a:pPr>
            <a:r>
              <a:rPr lang="en-US" sz="1150" dirty="0">
                <a:solidFill>
                  <a:srgbClr val="FFFFFF"/>
                </a:solidFill>
                <a:latin typeface="Meiryo UI" pitchFamily="34" charset="0"/>
                <a:ea typeface="Meiryo UI" pitchFamily="34" charset="-122"/>
                <a:cs typeface="Meiryo UI" pitchFamily="34" charset="-120"/>
              </a:rPr>
              <a:t>伴走プランのご契約</a:t>
            </a:r>
            <a:endParaRPr lang="en-US" sz="1150" dirty="0"/>
          </a:p>
          <a:p>
            <a:pPr indent="0" marL="0">
              <a:buNone/>
            </a:pPr>
            <a:r>
              <a:rPr lang="en-US" sz="1150" dirty="0">
                <a:solidFill>
                  <a:srgbClr val="FFFFFF"/>
                </a:solidFill>
                <a:latin typeface="Meiryo UI" pitchFamily="34" charset="0"/>
                <a:ea typeface="Meiryo UI" pitchFamily="34" charset="-122"/>
                <a:cs typeface="Meiryo UI" pitchFamily="34" charset="-120"/>
              </a:rPr>
              <a:t>（フェーズ1を初月に組み込み）</a:t>
            </a:r>
            <a:endParaRPr lang="en-US" sz="1150" dirty="0"/>
          </a:p>
        </p:txBody>
      </p:sp>
      <p:pic>
        <p:nvPicPr>
          <p:cNvPr id="39" name="Image 0" descr="preencoded.png">    </p:cNvPr>
          <p:cNvPicPr>
            <a:picLocks noChangeAspect="1"/>
          </p:cNvPicPr>
          <p:nvPr/>
        </p:nvPicPr>
        <p:blipFill>
          <a:blip r:embed="rId1"/>
          <a:stretch>
            <a:fillRect/>
          </a:stretch>
        </p:blipFill>
        <p:spPr>
          <a:xfrm>
            <a:off x="3146222" y="5550408"/>
            <a:ext cx="201168" cy="274320"/>
          </a:xfrm>
          <a:prstGeom prst="rect">
            <a:avLst/>
          </a:prstGeom>
        </p:spPr>
      </p:pic>
      <p:sp>
        <p:nvSpPr>
          <p:cNvPr id="40" name="Shape 37"/>
          <p:cNvSpPr/>
          <p:nvPr/>
        </p:nvSpPr>
        <p:spPr>
          <a:xfrm>
            <a:off x="3402254" y="5120640"/>
            <a:ext cx="2533574" cy="1143000"/>
          </a:xfrm>
          <a:prstGeom prst="roundRect">
            <a:avLst>
              <a:gd name="adj" fmla="val 9600"/>
            </a:avLst>
          </a:prstGeom>
          <a:solidFill>
            <a:srgbClr val="EDF3EF"/>
          </a:solidFill>
          <a:ln w="12700">
            <a:solidFill>
              <a:srgbClr val="EDF3EF"/>
            </a:solidFill>
            <a:prstDash val="solid"/>
          </a:ln>
        </p:spPr>
      </p:sp>
      <p:sp>
        <p:nvSpPr>
          <p:cNvPr id="41" name="Text 38"/>
          <p:cNvSpPr txBox="1"/>
          <p:nvPr/>
        </p:nvSpPr>
        <p:spPr>
          <a:xfrm>
            <a:off x="3585134" y="5193792"/>
            <a:ext cx="2167814" cy="320040"/>
          </a:xfrm>
          <a:prstGeom prst="rect">
            <a:avLst/>
          </a:prstGeom>
          <a:noFill/>
          <a:ln/>
        </p:spPr>
        <p:txBody>
          <a:bodyPr wrap="square" lIns="0" tIns="0" rIns="0" bIns="0" rtlCol="0" anchor="t"/>
          <a:lstStyle/>
          <a:p>
            <a:pPr indent="0" marL="0">
              <a:buNone/>
            </a:pPr>
            <a:r>
              <a:rPr lang="en-US" sz="1300" b="1" dirty="0">
                <a:solidFill>
                  <a:srgbClr val="46705A"/>
                </a:solidFill>
                <a:latin typeface="Meiryo UI" pitchFamily="34" charset="0"/>
                <a:ea typeface="Meiryo UI" pitchFamily="34" charset="-122"/>
                <a:cs typeface="Meiryo UI" pitchFamily="34" charset="-120"/>
              </a:rPr>
              <a:t>約6週間</a:t>
            </a:r>
            <a:endParaRPr lang="en-US" sz="1300" dirty="0"/>
          </a:p>
        </p:txBody>
      </p:sp>
      <p:sp>
        <p:nvSpPr>
          <p:cNvPr id="42" name="Text 39"/>
          <p:cNvSpPr txBox="1"/>
          <p:nvPr/>
        </p:nvSpPr>
        <p:spPr>
          <a:xfrm>
            <a:off x="3585134" y="5513832"/>
            <a:ext cx="2167814" cy="68580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無料3本の検証と</a:t>
            </a:r>
            <a:endParaRPr lang="en-US" sz="1150" dirty="0"/>
          </a:p>
          <a:p>
            <a:pPr indent="0" marL="0">
              <a:buNone/>
            </a:pPr>
            <a:r>
              <a:rPr lang="en-US" sz="1150" dirty="0">
                <a:solidFill>
                  <a:srgbClr val="2A322D"/>
                </a:solidFill>
                <a:latin typeface="Meiryo UI" pitchFamily="34" charset="0"/>
                <a:ea typeface="Meiryo UI" pitchFamily="34" charset="-122"/>
                <a:cs typeface="Meiryo UI" pitchFamily="34" charset="-120"/>
              </a:rPr>
              <a:t>事務の棚卸し</a:t>
            </a:r>
            <a:endParaRPr lang="en-US" sz="1150" dirty="0"/>
          </a:p>
        </p:txBody>
      </p:sp>
      <p:pic>
        <p:nvPicPr>
          <p:cNvPr id="43" name="Image 1" descr="preencoded.png">    </p:cNvPr>
          <p:cNvPicPr>
            <a:picLocks noChangeAspect="1"/>
          </p:cNvPicPr>
          <p:nvPr/>
        </p:nvPicPr>
        <p:blipFill>
          <a:blip r:embed="rId2"/>
          <a:stretch>
            <a:fillRect/>
          </a:stretch>
        </p:blipFill>
        <p:spPr>
          <a:xfrm>
            <a:off x="5999836" y="5550408"/>
            <a:ext cx="201168" cy="274320"/>
          </a:xfrm>
          <a:prstGeom prst="rect">
            <a:avLst/>
          </a:prstGeom>
        </p:spPr>
      </p:pic>
      <p:sp>
        <p:nvSpPr>
          <p:cNvPr id="44" name="Shape 40"/>
          <p:cNvSpPr/>
          <p:nvPr/>
        </p:nvSpPr>
        <p:spPr>
          <a:xfrm>
            <a:off x="6255868" y="5120640"/>
            <a:ext cx="2533574" cy="1143000"/>
          </a:xfrm>
          <a:prstGeom prst="roundRect">
            <a:avLst>
              <a:gd name="adj" fmla="val 9600"/>
            </a:avLst>
          </a:prstGeom>
          <a:solidFill>
            <a:srgbClr val="EDF3EF"/>
          </a:solidFill>
          <a:ln w="12700">
            <a:solidFill>
              <a:srgbClr val="EDF3EF"/>
            </a:solidFill>
            <a:prstDash val="solid"/>
          </a:ln>
        </p:spPr>
      </p:sp>
      <p:sp>
        <p:nvSpPr>
          <p:cNvPr id="45" name="Text 41"/>
          <p:cNvSpPr txBox="1"/>
          <p:nvPr/>
        </p:nvSpPr>
        <p:spPr>
          <a:xfrm>
            <a:off x="6438748" y="5193792"/>
            <a:ext cx="2167814" cy="320040"/>
          </a:xfrm>
          <a:prstGeom prst="rect">
            <a:avLst/>
          </a:prstGeom>
          <a:noFill/>
          <a:ln/>
        </p:spPr>
        <p:txBody>
          <a:bodyPr wrap="square" lIns="0" tIns="0" rIns="0" bIns="0" rtlCol="0" anchor="t"/>
          <a:lstStyle/>
          <a:p>
            <a:pPr indent="0" marL="0">
              <a:buNone/>
            </a:pPr>
            <a:r>
              <a:rPr lang="en-US" sz="1300" b="1" dirty="0">
                <a:solidFill>
                  <a:srgbClr val="46705A"/>
                </a:solidFill>
                <a:latin typeface="Meiryo UI" pitchFamily="34" charset="0"/>
                <a:ea typeface="Meiryo UI" pitchFamily="34" charset="-122"/>
                <a:cs typeface="Meiryo UI" pitchFamily="34" charset="-120"/>
              </a:rPr>
              <a:t>検証レポート会</a:t>
            </a:r>
            <a:endParaRPr lang="en-US" sz="1300" dirty="0"/>
          </a:p>
        </p:txBody>
      </p:sp>
      <p:sp>
        <p:nvSpPr>
          <p:cNvPr id="46" name="Text 42"/>
          <p:cNvSpPr txBox="1"/>
          <p:nvPr/>
        </p:nvSpPr>
        <p:spPr>
          <a:xfrm>
            <a:off x="6438748" y="5513832"/>
            <a:ext cx="2167814" cy="68580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勝ちパターンの特定と</a:t>
            </a:r>
            <a:endParaRPr lang="en-US" sz="1150" dirty="0"/>
          </a:p>
          <a:p>
            <a:pPr indent="0" marL="0">
              <a:buNone/>
            </a:pPr>
            <a:r>
              <a:rPr lang="en-US" sz="1150" dirty="0">
                <a:solidFill>
                  <a:srgbClr val="2A322D"/>
                </a:solidFill>
                <a:latin typeface="Meiryo UI" pitchFamily="34" charset="0"/>
                <a:ea typeface="Meiryo UI" pitchFamily="34" charset="-122"/>
                <a:cs typeface="Meiryo UI" pitchFamily="34" charset="-120"/>
              </a:rPr>
              <a:t>フェーズ2計画の確定</a:t>
            </a:r>
            <a:endParaRPr lang="en-US" sz="1150" dirty="0"/>
          </a:p>
        </p:txBody>
      </p:sp>
      <p:pic>
        <p:nvPicPr>
          <p:cNvPr id="47" name="Image 2" descr="preencoded.png">    </p:cNvPr>
          <p:cNvPicPr>
            <a:picLocks noChangeAspect="1"/>
          </p:cNvPicPr>
          <p:nvPr/>
        </p:nvPicPr>
        <p:blipFill>
          <a:blip r:embed="rId3"/>
          <a:stretch>
            <a:fillRect/>
          </a:stretch>
        </p:blipFill>
        <p:spPr>
          <a:xfrm>
            <a:off x="8853449" y="5550408"/>
            <a:ext cx="201168" cy="274320"/>
          </a:xfrm>
          <a:prstGeom prst="rect">
            <a:avLst/>
          </a:prstGeom>
        </p:spPr>
      </p:pic>
      <p:sp>
        <p:nvSpPr>
          <p:cNvPr id="48" name="Shape 43"/>
          <p:cNvSpPr/>
          <p:nvPr/>
        </p:nvSpPr>
        <p:spPr>
          <a:xfrm>
            <a:off x="9109481" y="5120640"/>
            <a:ext cx="2533574" cy="1143000"/>
          </a:xfrm>
          <a:prstGeom prst="roundRect">
            <a:avLst>
              <a:gd name="adj" fmla="val 9600"/>
            </a:avLst>
          </a:prstGeom>
          <a:solidFill>
            <a:srgbClr val="EDF3EF"/>
          </a:solidFill>
          <a:ln w="12700">
            <a:solidFill>
              <a:srgbClr val="EDF3EF"/>
            </a:solidFill>
            <a:prstDash val="solid"/>
          </a:ln>
        </p:spPr>
      </p:sp>
      <p:sp>
        <p:nvSpPr>
          <p:cNvPr id="49" name="Text 44"/>
          <p:cNvSpPr txBox="1"/>
          <p:nvPr/>
        </p:nvSpPr>
        <p:spPr>
          <a:xfrm>
            <a:off x="9292361" y="5193792"/>
            <a:ext cx="2167814" cy="320040"/>
          </a:xfrm>
          <a:prstGeom prst="rect">
            <a:avLst/>
          </a:prstGeom>
          <a:noFill/>
          <a:ln/>
        </p:spPr>
        <p:txBody>
          <a:bodyPr wrap="square" lIns="0" tIns="0" rIns="0" bIns="0" rtlCol="0" anchor="t"/>
          <a:lstStyle/>
          <a:p>
            <a:pPr indent="0" marL="0">
              <a:buNone/>
            </a:pPr>
            <a:r>
              <a:rPr lang="en-US" sz="1300" b="1" dirty="0">
                <a:solidFill>
                  <a:srgbClr val="46705A"/>
                </a:solidFill>
                <a:latin typeface="Meiryo UI" pitchFamily="34" charset="0"/>
                <a:ea typeface="Meiryo UI" pitchFamily="34" charset="-122"/>
                <a:cs typeface="Meiryo UI" pitchFamily="34" charset="-120"/>
              </a:rPr>
              <a:t>フェーズ2開始</a:t>
            </a:r>
            <a:endParaRPr lang="en-US" sz="1300" dirty="0"/>
          </a:p>
        </p:txBody>
      </p:sp>
      <p:sp>
        <p:nvSpPr>
          <p:cNvPr id="50" name="Text 45"/>
          <p:cNvSpPr txBox="1"/>
          <p:nvPr/>
        </p:nvSpPr>
        <p:spPr>
          <a:xfrm>
            <a:off x="9292361" y="5513832"/>
            <a:ext cx="2167814" cy="685800"/>
          </a:xfrm>
          <a:prstGeom prst="rect">
            <a:avLst/>
          </a:prstGeom>
          <a:noFill/>
          <a:ln/>
        </p:spPr>
        <p:txBody>
          <a:bodyPr wrap="square" lIns="0" tIns="0" rIns="0" bIns="0" rtlCol="0" anchor="t"/>
          <a:lstStyle/>
          <a:p>
            <a:pPr indent="0" marL="0">
              <a:buNone/>
            </a:pPr>
            <a:r>
              <a:rPr lang="en-US" sz="1150" dirty="0">
                <a:solidFill>
                  <a:srgbClr val="2A322D"/>
                </a:solidFill>
                <a:latin typeface="Meiryo UI" pitchFamily="34" charset="0"/>
                <a:ea typeface="Meiryo UI" pitchFamily="34" charset="-122"/>
                <a:cs typeface="Meiryo UI" pitchFamily="34" charset="-120"/>
              </a:rPr>
              <a:t>追加制作・運用・事務支援</a:t>
            </a:r>
            <a:endParaRPr lang="en-US" sz="1150" dirty="0"/>
          </a:p>
          <a:p>
            <a:pPr indent="0" marL="0">
              <a:buNone/>
            </a:pPr>
            <a:r>
              <a:rPr lang="en-US" sz="1150" dirty="0">
                <a:solidFill>
                  <a:srgbClr val="2A322D"/>
                </a:solidFill>
                <a:latin typeface="Meiryo UI" pitchFamily="34" charset="0"/>
                <a:ea typeface="Meiryo UI" pitchFamily="34" charset="-122"/>
                <a:cs typeface="Meiryo UI" pitchFamily="34" charset="-120"/>
              </a:rPr>
              <a:t>による本格展開</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06｜COST OF WAITING</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「様子見」による“時間”の損失の考え方</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小さな組織にとって最も貴重なのは“代表の時間”。様子見の間も、事務の負担は積み上がり続けます。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30</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874520"/>
            <a:ext cx="2331720" cy="1737360"/>
          </a:xfrm>
          <a:prstGeom prst="roundRect">
            <a:avLst>
              <a:gd name="adj" fmla="val 6316"/>
            </a:avLst>
          </a:prstGeom>
          <a:solidFill>
            <a:srgbClr val="F6F9F7"/>
          </a:solidFill>
          <a:ln w="12700">
            <a:solidFill>
              <a:srgbClr val="F6F9F7"/>
            </a:solidFill>
            <a:prstDash val="solid"/>
          </a:ln>
        </p:spPr>
      </p:sp>
      <p:sp>
        <p:nvSpPr>
          <p:cNvPr id="8" name="Text 6"/>
          <p:cNvSpPr txBox="1"/>
          <p:nvPr/>
        </p:nvSpPr>
        <p:spPr>
          <a:xfrm>
            <a:off x="548640" y="1965960"/>
            <a:ext cx="2331720" cy="868680"/>
          </a:xfrm>
          <a:prstGeom prst="rect">
            <a:avLst/>
          </a:prstGeom>
          <a:noFill/>
          <a:ln/>
        </p:spPr>
        <p:txBody>
          <a:bodyPr wrap="square" lIns="0" tIns="0" rIns="0" bIns="0" rtlCol="0" anchor="ctr"/>
          <a:lstStyle/>
          <a:p>
            <a:pPr algn="ctr" indent="0" marL="0">
              <a:buNone/>
            </a:pPr>
            <a:r>
              <a:rPr lang="en-US" sz="3200" b="1" dirty="0">
                <a:solidFill>
                  <a:srgbClr val="2F4D3D"/>
                </a:solidFill>
                <a:latin typeface="Meiryo UI" pitchFamily="34" charset="0"/>
                <a:ea typeface="Meiryo UI" pitchFamily="34" charset="-122"/>
                <a:cs typeface="Meiryo UI" pitchFamily="34" charset="-120"/>
              </a:rPr>
              <a:t>週20時間</a:t>
            </a:r>
            <a:endParaRPr lang="en-US" sz="3200" dirty="0"/>
          </a:p>
        </p:txBody>
      </p:sp>
      <p:sp>
        <p:nvSpPr>
          <p:cNvPr id="9" name="Text 7"/>
          <p:cNvSpPr txBox="1"/>
          <p:nvPr/>
        </p:nvSpPr>
        <p:spPr>
          <a:xfrm>
            <a:off x="548640" y="2834640"/>
            <a:ext cx="2331720" cy="685800"/>
          </a:xfrm>
          <a:prstGeom prst="rect">
            <a:avLst/>
          </a:prstGeom>
          <a:noFill/>
          <a:ln/>
        </p:spPr>
        <p:txBody>
          <a:bodyPr wrap="square" lIns="0" tIns="0" rIns="0" bIns="0" rtlCol="0" anchor="t"/>
          <a:lstStyle/>
          <a:p>
            <a:pPr algn="ctr" indent="0" marL="0">
              <a:buNone/>
            </a:pPr>
            <a:r>
              <a:rPr lang="en-US" sz="1200" dirty="0">
                <a:solidFill>
                  <a:srgbClr val="66776C"/>
                </a:solidFill>
                <a:latin typeface="Meiryo UI" pitchFamily="34" charset="0"/>
                <a:ea typeface="Meiryo UI" pitchFamily="34" charset="-122"/>
                <a:cs typeface="Meiryo UI" pitchFamily="34" charset="-120"/>
              </a:rPr>
              <a:t>代表の事務時間</a:t>
            </a:r>
            <a:endParaRPr lang="en-US" sz="1200" dirty="0"/>
          </a:p>
          <a:p>
            <a:pPr algn="ctr" indent="0" marL="0">
              <a:buNone/>
            </a:pPr>
            <a:r>
              <a:rPr lang="en-US" sz="1200" dirty="0">
                <a:solidFill>
                  <a:srgbClr val="66776C"/>
                </a:solidFill>
                <a:latin typeface="Meiryo UI" pitchFamily="34" charset="0"/>
                <a:ea typeface="Meiryo UI" pitchFamily="34" charset="-122"/>
                <a:cs typeface="Meiryo UI" pitchFamily="34" charset="-120"/>
              </a:rPr>
              <a:t>（仮）</a:t>
            </a:r>
            <a:endParaRPr lang="en-US" sz="1200" dirty="0"/>
          </a:p>
        </p:txBody>
      </p:sp>
      <p:sp>
        <p:nvSpPr>
          <p:cNvPr id="10" name="Text 8"/>
          <p:cNvSpPr txBox="1"/>
          <p:nvPr/>
        </p:nvSpPr>
        <p:spPr>
          <a:xfrm>
            <a:off x="2880360" y="2331720"/>
            <a:ext cx="502920" cy="731520"/>
          </a:xfrm>
          <a:prstGeom prst="rect">
            <a:avLst/>
          </a:prstGeom>
          <a:noFill/>
          <a:ln/>
        </p:spPr>
        <p:txBody>
          <a:bodyPr wrap="square" lIns="0" tIns="0" rIns="0" bIns="0" rtlCol="0" anchor="ctr"/>
          <a:lstStyle/>
          <a:p>
            <a:pPr algn="ctr" indent="0" marL="0">
              <a:buNone/>
            </a:pPr>
            <a:r>
              <a:rPr lang="en-US" sz="3000" b="1" dirty="0">
                <a:solidFill>
                  <a:srgbClr val="B8652A"/>
                </a:solidFill>
                <a:latin typeface="Meiryo UI" pitchFamily="34" charset="0"/>
                <a:ea typeface="Meiryo UI" pitchFamily="34" charset="-122"/>
                <a:cs typeface="Meiryo UI" pitchFamily="34" charset="-120"/>
              </a:rPr>
              <a:t>×</a:t>
            </a:r>
            <a:endParaRPr lang="en-US" sz="3000" dirty="0"/>
          </a:p>
        </p:txBody>
      </p:sp>
      <p:sp>
        <p:nvSpPr>
          <p:cNvPr id="11" name="Shape 9"/>
          <p:cNvSpPr/>
          <p:nvPr/>
        </p:nvSpPr>
        <p:spPr>
          <a:xfrm>
            <a:off x="3383280" y="1874520"/>
            <a:ext cx="2331720" cy="1737360"/>
          </a:xfrm>
          <a:prstGeom prst="roundRect">
            <a:avLst>
              <a:gd name="adj" fmla="val 6316"/>
            </a:avLst>
          </a:prstGeom>
          <a:solidFill>
            <a:srgbClr val="F6F9F7"/>
          </a:solidFill>
          <a:ln w="12700">
            <a:solidFill>
              <a:srgbClr val="F6F9F7"/>
            </a:solidFill>
            <a:prstDash val="solid"/>
          </a:ln>
        </p:spPr>
      </p:sp>
      <p:sp>
        <p:nvSpPr>
          <p:cNvPr id="12" name="Text 10"/>
          <p:cNvSpPr txBox="1"/>
          <p:nvPr/>
        </p:nvSpPr>
        <p:spPr>
          <a:xfrm>
            <a:off x="3383280" y="1965960"/>
            <a:ext cx="2331720" cy="868680"/>
          </a:xfrm>
          <a:prstGeom prst="rect">
            <a:avLst/>
          </a:prstGeom>
          <a:noFill/>
          <a:ln/>
        </p:spPr>
        <p:txBody>
          <a:bodyPr wrap="square" lIns="0" tIns="0" rIns="0" bIns="0" rtlCol="0" anchor="ctr"/>
          <a:lstStyle/>
          <a:p>
            <a:pPr algn="ctr" indent="0" marL="0">
              <a:buNone/>
            </a:pPr>
            <a:r>
              <a:rPr lang="en-US" sz="3200" b="1" dirty="0">
                <a:solidFill>
                  <a:srgbClr val="2F4D3D"/>
                </a:solidFill>
                <a:latin typeface="Meiryo UI" pitchFamily="34" charset="0"/>
                <a:ea typeface="Meiryo UI" pitchFamily="34" charset="-122"/>
                <a:cs typeface="Meiryo UI" pitchFamily="34" charset="-120"/>
              </a:rPr>
              <a:t>25%</a:t>
            </a:r>
            <a:endParaRPr lang="en-US" sz="3200" dirty="0"/>
          </a:p>
        </p:txBody>
      </p:sp>
      <p:sp>
        <p:nvSpPr>
          <p:cNvPr id="13" name="Text 11"/>
          <p:cNvSpPr txBox="1"/>
          <p:nvPr/>
        </p:nvSpPr>
        <p:spPr>
          <a:xfrm>
            <a:off x="3383280" y="2834640"/>
            <a:ext cx="2331720" cy="685800"/>
          </a:xfrm>
          <a:prstGeom prst="rect">
            <a:avLst/>
          </a:prstGeom>
          <a:noFill/>
          <a:ln/>
        </p:spPr>
        <p:txBody>
          <a:bodyPr wrap="square" lIns="0" tIns="0" rIns="0" bIns="0" rtlCol="0" anchor="t"/>
          <a:lstStyle/>
          <a:p>
            <a:pPr algn="ctr" indent="0" marL="0">
              <a:buNone/>
            </a:pPr>
            <a:r>
              <a:rPr lang="en-US" sz="1200" dirty="0">
                <a:solidFill>
                  <a:srgbClr val="66776C"/>
                </a:solidFill>
                <a:latin typeface="Meiryo UI" pitchFamily="34" charset="0"/>
                <a:ea typeface="Meiryo UI" pitchFamily="34" charset="-122"/>
                <a:cs typeface="Meiryo UI" pitchFamily="34" charset="-120"/>
              </a:rPr>
              <a:t>削減の目標</a:t>
            </a:r>
            <a:endParaRPr lang="en-US" sz="1200" dirty="0"/>
          </a:p>
          <a:p>
            <a:pPr algn="ctr" indent="0" marL="0">
              <a:buNone/>
            </a:pPr>
            <a:r>
              <a:rPr lang="en-US" sz="1200" dirty="0">
                <a:solidFill>
                  <a:srgbClr val="66776C"/>
                </a:solidFill>
                <a:latin typeface="Meiryo UI" pitchFamily="34" charset="0"/>
                <a:ea typeface="Meiryo UI" pitchFamily="34" charset="-122"/>
                <a:cs typeface="Meiryo UI" pitchFamily="34" charset="-120"/>
              </a:rPr>
              <a:t>（仮）</a:t>
            </a:r>
            <a:endParaRPr lang="en-US" sz="1200" dirty="0"/>
          </a:p>
        </p:txBody>
      </p:sp>
      <p:sp>
        <p:nvSpPr>
          <p:cNvPr id="14" name="Text 12"/>
          <p:cNvSpPr txBox="1"/>
          <p:nvPr/>
        </p:nvSpPr>
        <p:spPr>
          <a:xfrm>
            <a:off x="5715000" y="2331720"/>
            <a:ext cx="502920" cy="731520"/>
          </a:xfrm>
          <a:prstGeom prst="rect">
            <a:avLst/>
          </a:prstGeom>
          <a:noFill/>
          <a:ln/>
        </p:spPr>
        <p:txBody>
          <a:bodyPr wrap="square" lIns="0" tIns="0" rIns="0" bIns="0" rtlCol="0" anchor="ctr"/>
          <a:lstStyle/>
          <a:p>
            <a:pPr algn="ctr" indent="0" marL="0">
              <a:buNone/>
            </a:pPr>
            <a:r>
              <a:rPr lang="en-US" sz="3000" b="1" dirty="0">
                <a:solidFill>
                  <a:srgbClr val="B8652A"/>
                </a:solidFill>
                <a:latin typeface="Meiryo UI" pitchFamily="34" charset="0"/>
                <a:ea typeface="Meiryo UI" pitchFamily="34" charset="-122"/>
                <a:cs typeface="Meiryo UI" pitchFamily="34" charset="-120"/>
              </a:rPr>
              <a:t>=</a:t>
            </a:r>
            <a:endParaRPr lang="en-US" sz="3000" dirty="0"/>
          </a:p>
        </p:txBody>
      </p:sp>
      <p:sp>
        <p:nvSpPr>
          <p:cNvPr id="15" name="Shape 13"/>
          <p:cNvSpPr/>
          <p:nvPr/>
        </p:nvSpPr>
        <p:spPr>
          <a:xfrm>
            <a:off x="6217920" y="1874520"/>
            <a:ext cx="2331720" cy="1737360"/>
          </a:xfrm>
          <a:prstGeom prst="roundRect">
            <a:avLst>
              <a:gd name="adj" fmla="val 6316"/>
            </a:avLst>
          </a:prstGeom>
          <a:solidFill>
            <a:srgbClr val="EDF3EF"/>
          </a:solidFill>
          <a:ln w="12700">
            <a:solidFill>
              <a:srgbClr val="EDF3EF"/>
            </a:solidFill>
            <a:prstDash val="solid"/>
          </a:ln>
        </p:spPr>
      </p:sp>
      <p:sp>
        <p:nvSpPr>
          <p:cNvPr id="16" name="Text 14"/>
          <p:cNvSpPr txBox="1"/>
          <p:nvPr/>
        </p:nvSpPr>
        <p:spPr>
          <a:xfrm>
            <a:off x="6217920" y="1965960"/>
            <a:ext cx="2331720" cy="868680"/>
          </a:xfrm>
          <a:prstGeom prst="rect">
            <a:avLst/>
          </a:prstGeom>
          <a:noFill/>
          <a:ln/>
        </p:spPr>
        <p:txBody>
          <a:bodyPr wrap="square" lIns="0" tIns="0" rIns="0" bIns="0" rtlCol="0" anchor="ctr"/>
          <a:lstStyle/>
          <a:p>
            <a:pPr algn="ctr" indent="0" marL="0">
              <a:buNone/>
            </a:pPr>
            <a:r>
              <a:rPr lang="en-US" sz="3200" b="1" dirty="0">
                <a:solidFill>
                  <a:srgbClr val="46705A"/>
                </a:solidFill>
                <a:latin typeface="Meiryo UI" pitchFamily="34" charset="0"/>
                <a:ea typeface="Meiryo UI" pitchFamily="34" charset="-122"/>
                <a:cs typeface="Meiryo UI" pitchFamily="34" charset="-120"/>
              </a:rPr>
              <a:t>週5時間</a:t>
            </a:r>
            <a:endParaRPr lang="en-US" sz="3200" dirty="0"/>
          </a:p>
        </p:txBody>
      </p:sp>
      <p:sp>
        <p:nvSpPr>
          <p:cNvPr id="17" name="Text 15"/>
          <p:cNvSpPr txBox="1"/>
          <p:nvPr/>
        </p:nvSpPr>
        <p:spPr>
          <a:xfrm>
            <a:off x="6217920" y="2834640"/>
            <a:ext cx="2331720" cy="685800"/>
          </a:xfrm>
          <a:prstGeom prst="rect">
            <a:avLst/>
          </a:prstGeom>
          <a:noFill/>
          <a:ln/>
        </p:spPr>
        <p:txBody>
          <a:bodyPr wrap="square" lIns="0" tIns="0" rIns="0" bIns="0" rtlCol="0" anchor="t"/>
          <a:lstStyle/>
          <a:p>
            <a:pPr algn="ctr" indent="0" marL="0">
              <a:buNone/>
            </a:pPr>
            <a:r>
              <a:rPr lang="en-US" sz="1200" dirty="0">
                <a:solidFill>
                  <a:srgbClr val="66776C"/>
                </a:solidFill>
                <a:latin typeface="Meiryo UI" pitchFamily="34" charset="0"/>
                <a:ea typeface="Meiryo UI" pitchFamily="34" charset="-122"/>
                <a:cs typeface="Meiryo UI" pitchFamily="34" charset="-120"/>
              </a:rPr>
              <a:t>代表に戻る時間</a:t>
            </a:r>
            <a:endParaRPr lang="en-US" sz="1200" dirty="0"/>
          </a:p>
        </p:txBody>
      </p:sp>
      <p:sp>
        <p:nvSpPr>
          <p:cNvPr id="18" name="Shape 16"/>
          <p:cNvSpPr/>
          <p:nvPr/>
        </p:nvSpPr>
        <p:spPr>
          <a:xfrm>
            <a:off x="8869680" y="1874520"/>
            <a:ext cx="2773375" cy="1737360"/>
          </a:xfrm>
          <a:prstGeom prst="roundRect">
            <a:avLst>
              <a:gd name="adj" fmla="val 6316"/>
            </a:avLst>
          </a:prstGeom>
          <a:solidFill>
            <a:srgbClr val="2F4D3D"/>
          </a:solidFill>
          <a:ln w="12700">
            <a:solidFill>
              <a:srgbClr val="2F4D3D"/>
            </a:solidFill>
            <a:prstDash val="solid"/>
          </a:ln>
        </p:spPr>
      </p:sp>
      <p:sp>
        <p:nvSpPr>
          <p:cNvPr id="19" name="Text 17"/>
          <p:cNvSpPr txBox="1"/>
          <p:nvPr/>
        </p:nvSpPr>
        <p:spPr>
          <a:xfrm>
            <a:off x="9052560" y="2011680"/>
            <a:ext cx="2407615" cy="274320"/>
          </a:xfrm>
          <a:prstGeom prst="rect">
            <a:avLst/>
          </a:prstGeom>
          <a:noFill/>
          <a:ln/>
        </p:spPr>
        <p:txBody>
          <a:bodyPr wrap="square" lIns="0" tIns="0" rIns="0" bIns="0" rtlCol="0" anchor="t"/>
          <a:lstStyle/>
          <a:p>
            <a:pPr algn="ctr" indent="0" marL="0">
              <a:buNone/>
            </a:pPr>
            <a:r>
              <a:rPr lang="en-US" sz="1100" dirty="0">
                <a:solidFill>
                  <a:srgbClr val="D8E6DC"/>
                </a:solidFill>
                <a:latin typeface="Meiryo UI" pitchFamily="34" charset="0"/>
                <a:ea typeface="Meiryo UI" pitchFamily="34" charset="-122"/>
                <a:cs typeface="Meiryo UI" pitchFamily="34" charset="-120"/>
              </a:rPr>
              <a:t>2027年4月まで</a:t>
            </a:r>
            <a:endParaRPr lang="en-US" sz="1100" dirty="0"/>
          </a:p>
        </p:txBody>
      </p:sp>
      <p:sp>
        <p:nvSpPr>
          <p:cNvPr id="20" name="Text 18"/>
          <p:cNvSpPr txBox="1"/>
          <p:nvPr/>
        </p:nvSpPr>
        <p:spPr>
          <a:xfrm>
            <a:off x="9052560" y="2286000"/>
            <a:ext cx="2407615"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UI" pitchFamily="34" charset="0"/>
                <a:ea typeface="Meiryo UI" pitchFamily="34" charset="-122"/>
                <a:cs typeface="Meiryo UI" pitchFamily="34" charset="-120"/>
              </a:rPr>
              <a:t>約6ヶ月</a:t>
            </a:r>
            <a:endParaRPr lang="en-US" sz="3000" dirty="0"/>
          </a:p>
        </p:txBody>
      </p:sp>
      <p:sp>
        <p:nvSpPr>
          <p:cNvPr id="21" name="Text 19"/>
          <p:cNvSpPr txBox="1"/>
          <p:nvPr/>
        </p:nvSpPr>
        <p:spPr>
          <a:xfrm>
            <a:off x="9052560" y="3063240"/>
            <a:ext cx="2407615" cy="365760"/>
          </a:xfrm>
          <a:prstGeom prst="rect">
            <a:avLst/>
          </a:prstGeom>
          <a:noFill/>
          <a:ln/>
        </p:spPr>
        <p:txBody>
          <a:bodyPr wrap="square" lIns="0" tIns="0" rIns="0" bIns="0" rtlCol="0" anchor="t"/>
          <a:lstStyle/>
          <a:p>
            <a:pPr algn="ctr" indent="0" marL="0">
              <a:buNone/>
            </a:pPr>
            <a:r>
              <a:rPr lang="en-US" sz="1050" dirty="0">
                <a:solidFill>
                  <a:srgbClr val="D8E6DC"/>
                </a:solidFill>
                <a:latin typeface="Meiryo UI" pitchFamily="34" charset="0"/>
                <a:ea typeface="Meiryo UI" pitchFamily="34" charset="-122"/>
                <a:cs typeface="Meiryo UI" pitchFamily="34" charset="-120"/>
              </a:rPr>
              <a:t>新年度・GH立ち上げまでの準備期間</a:t>
            </a:r>
            <a:endParaRPr lang="en-US" sz="1050" dirty="0"/>
          </a:p>
        </p:txBody>
      </p:sp>
      <p:sp>
        <p:nvSpPr>
          <p:cNvPr id="22" name="Shape 20"/>
          <p:cNvSpPr/>
          <p:nvPr/>
        </p:nvSpPr>
        <p:spPr>
          <a:xfrm>
            <a:off x="548640" y="3931920"/>
            <a:ext cx="11094415" cy="1600200"/>
          </a:xfrm>
          <a:prstGeom prst="roundRect">
            <a:avLst>
              <a:gd name="adj" fmla="val 6857"/>
            </a:avLst>
          </a:prstGeom>
          <a:solidFill>
            <a:srgbClr val="FBEFE4"/>
          </a:solidFill>
          <a:ln w="12700">
            <a:solidFill>
              <a:srgbClr val="FBEFE4"/>
            </a:solidFill>
            <a:prstDash val="solid"/>
          </a:ln>
        </p:spPr>
      </p:sp>
      <p:sp>
        <p:nvSpPr>
          <p:cNvPr id="23" name="Text 21"/>
          <p:cNvSpPr txBox="1"/>
          <p:nvPr/>
        </p:nvSpPr>
        <p:spPr>
          <a:xfrm>
            <a:off x="914400" y="4069080"/>
            <a:ext cx="5943600" cy="365760"/>
          </a:xfrm>
          <a:prstGeom prst="rect">
            <a:avLst/>
          </a:prstGeom>
          <a:noFill/>
          <a:ln/>
        </p:spPr>
        <p:txBody>
          <a:bodyPr wrap="square" lIns="0" tIns="0" rIns="0" bIns="0" rtlCol="0" anchor="t"/>
          <a:lstStyle/>
          <a:p>
            <a:pPr indent="0" marL="0">
              <a:buNone/>
            </a:pPr>
            <a:r>
              <a:rPr lang="en-US" sz="1400" b="1" dirty="0">
                <a:solidFill>
                  <a:srgbClr val="2F4D3D"/>
                </a:solidFill>
                <a:latin typeface="Meiryo UI" pitchFamily="34" charset="0"/>
                <a:ea typeface="Meiryo UI" pitchFamily="34" charset="-122"/>
                <a:cs typeface="Meiryo UI" pitchFamily="34" charset="-120"/>
              </a:rPr>
              <a:t>仮に3ヶ月「様子見」をすると……</a:t>
            </a:r>
            <a:endParaRPr lang="en-US" sz="1400" dirty="0"/>
          </a:p>
        </p:txBody>
      </p:sp>
      <p:sp>
        <p:nvSpPr>
          <p:cNvPr id="24" name="Text 22"/>
          <p:cNvSpPr txBox="1"/>
          <p:nvPr/>
        </p:nvSpPr>
        <p:spPr>
          <a:xfrm>
            <a:off x="914400" y="4526280"/>
            <a:ext cx="4572000" cy="822960"/>
          </a:xfrm>
          <a:prstGeom prst="rect">
            <a:avLst/>
          </a:prstGeom>
          <a:noFill/>
          <a:ln/>
        </p:spPr>
        <p:txBody>
          <a:bodyPr wrap="square" lIns="0" tIns="0" rIns="0" bIns="0" rtlCol="0" anchor="ctr"/>
          <a:lstStyle/>
          <a:p>
            <a:pPr indent="0" marL="0">
              <a:buNone/>
            </a:pPr>
            <a:r>
              <a:rPr lang="en-US" sz="2600" b="1" dirty="0">
                <a:solidFill>
                  <a:srgbClr val="2F4D3D"/>
                </a:solidFill>
                <a:latin typeface="Meiryo UI" pitchFamily="34" charset="0"/>
                <a:ea typeface="Meiryo UI" pitchFamily="34" charset="-122"/>
                <a:cs typeface="Meiryo UI" pitchFamily="34" charset="-120"/>
              </a:rPr>
              <a:t>週5時間 × 約13週 ＝</a:t>
            </a:r>
            <a:endParaRPr lang="en-US" sz="2600" dirty="0"/>
          </a:p>
        </p:txBody>
      </p:sp>
      <p:sp>
        <p:nvSpPr>
          <p:cNvPr id="25" name="Text 23"/>
          <p:cNvSpPr txBox="1"/>
          <p:nvPr/>
        </p:nvSpPr>
        <p:spPr>
          <a:xfrm>
            <a:off x="5303520" y="4389120"/>
            <a:ext cx="4114800" cy="1005840"/>
          </a:xfrm>
          <a:prstGeom prst="rect">
            <a:avLst/>
          </a:prstGeom>
          <a:noFill/>
          <a:ln/>
        </p:spPr>
        <p:txBody>
          <a:bodyPr wrap="square" lIns="0" tIns="0" rIns="0" bIns="0" rtlCol="0" anchor="ctr"/>
          <a:lstStyle/>
          <a:p>
            <a:pPr indent="0" marL="0">
              <a:buNone/>
            </a:pPr>
            <a:r>
              <a:rPr lang="en-US" sz="4800" b="1" dirty="0">
                <a:solidFill>
                  <a:srgbClr val="B8652A"/>
                </a:solidFill>
                <a:latin typeface="Meiryo UI" pitchFamily="34" charset="0"/>
                <a:ea typeface="Meiryo UI" pitchFamily="34" charset="-122"/>
                <a:cs typeface="Meiryo UI" pitchFamily="34" charset="-120"/>
              </a:rPr>
              <a:t>約65時間</a:t>
            </a:r>
            <a:endParaRPr lang="en-US" sz="4800" dirty="0"/>
          </a:p>
        </p:txBody>
      </p:sp>
      <p:sp>
        <p:nvSpPr>
          <p:cNvPr id="26" name="Text 24"/>
          <p:cNvSpPr txBox="1"/>
          <p:nvPr/>
        </p:nvSpPr>
        <p:spPr>
          <a:xfrm>
            <a:off x="9281160" y="4526280"/>
            <a:ext cx="2194560" cy="822960"/>
          </a:xfrm>
          <a:prstGeom prst="rect">
            <a:avLst/>
          </a:prstGeom>
          <a:noFill/>
          <a:ln/>
        </p:spPr>
        <p:txBody>
          <a:bodyPr wrap="square" lIns="0" tIns="0" rIns="0" bIns="0" rtlCol="0" anchor="ctr"/>
          <a:lstStyle/>
          <a:p>
            <a:pPr indent="0" marL="0">
              <a:buNone/>
            </a:pPr>
            <a:r>
              <a:rPr lang="en-US" sz="2000" b="1" dirty="0">
                <a:solidFill>
                  <a:srgbClr val="2F4D3D"/>
                </a:solidFill>
                <a:latin typeface="Meiryo UI" pitchFamily="34" charset="0"/>
                <a:ea typeface="Meiryo UI" pitchFamily="34" charset="-122"/>
                <a:cs typeface="Meiryo UI" pitchFamily="34" charset="-120"/>
              </a:rPr>
              <a:t>の時間の損失</a:t>
            </a:r>
            <a:endParaRPr lang="en-US" sz="2000" dirty="0"/>
          </a:p>
        </p:txBody>
      </p:sp>
      <p:sp>
        <p:nvSpPr>
          <p:cNvPr id="27" name="Text 25"/>
          <p:cNvSpPr txBox="1"/>
          <p:nvPr/>
        </p:nvSpPr>
        <p:spPr>
          <a:xfrm>
            <a:off x="548640" y="5715000"/>
            <a:ext cx="11094415" cy="45720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※上記は考え方を示すための仮置きの数値です。あわせて、4月までの準備期間（約6ヶ月）が半分になります。本日、実際の事務時間を伺い、再計算させてください。</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07｜TODAY</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本日ご確認させていただきたいこと</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31</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548640"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77240" y="1719072"/>
            <a:ext cx="512064" cy="512064"/>
          </a:xfrm>
          <a:prstGeom prst="ellipse">
            <a:avLst/>
          </a:prstGeom>
          <a:solidFill>
            <a:srgbClr val="46705A"/>
          </a:solidFill>
          <a:ln w="12700">
            <a:solidFill>
              <a:srgbClr val="46705A"/>
            </a:solidFill>
            <a:prstDash val="solid"/>
          </a:ln>
        </p:spPr>
      </p:sp>
      <p:sp>
        <p:nvSpPr>
          <p:cNvPr id="8" name="Text 6"/>
          <p:cNvSpPr txBox="1"/>
          <p:nvPr/>
        </p:nvSpPr>
        <p:spPr>
          <a:xfrm>
            <a:off x="777240"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1</a:t>
            </a:r>
            <a:endParaRPr lang="en-US" sz="1500" dirty="0"/>
          </a:p>
        </p:txBody>
      </p:sp>
      <p:sp>
        <p:nvSpPr>
          <p:cNvPr id="9" name="Text 7"/>
          <p:cNvSpPr txBox="1"/>
          <p:nvPr/>
        </p:nvSpPr>
        <p:spPr>
          <a:xfrm>
            <a:off x="1463040" y="157276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登録利用者数・年齢構成と、受け入れ上限</a:t>
            </a:r>
            <a:endParaRPr lang="en-US" sz="1250" dirty="0"/>
          </a:p>
        </p:txBody>
      </p:sp>
      <p:sp>
        <p:nvSpPr>
          <p:cNvPr id="10" name="Text 8"/>
          <p:cNvSpPr txBox="1"/>
          <p:nvPr/>
        </p:nvSpPr>
        <p:spPr>
          <a:xfrm>
            <a:off x="1463040" y="212140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目的：KPI・目標値の設定</a:t>
            </a:r>
            <a:endParaRPr lang="en-US" sz="1100" dirty="0"/>
          </a:p>
        </p:txBody>
      </p:sp>
      <p:sp>
        <p:nvSpPr>
          <p:cNvPr id="11" name="Shape 9"/>
          <p:cNvSpPr/>
          <p:nvPr/>
        </p:nvSpPr>
        <p:spPr>
          <a:xfrm>
            <a:off x="548640"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77240" y="2907792"/>
            <a:ext cx="512064" cy="512064"/>
          </a:xfrm>
          <a:prstGeom prst="ellipse">
            <a:avLst/>
          </a:prstGeom>
          <a:solidFill>
            <a:srgbClr val="46705A"/>
          </a:solidFill>
          <a:ln w="12700">
            <a:solidFill>
              <a:srgbClr val="46705A"/>
            </a:solidFill>
            <a:prstDash val="solid"/>
          </a:ln>
        </p:spPr>
      </p:sp>
      <p:sp>
        <p:nvSpPr>
          <p:cNvPr id="13" name="Text 11"/>
          <p:cNvSpPr txBox="1"/>
          <p:nvPr/>
        </p:nvSpPr>
        <p:spPr>
          <a:xfrm>
            <a:off x="777240"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2</a:t>
            </a:r>
            <a:endParaRPr lang="en-US" sz="1500" dirty="0"/>
          </a:p>
        </p:txBody>
      </p:sp>
      <p:sp>
        <p:nvSpPr>
          <p:cNvPr id="14" name="Text 12"/>
          <p:cNvSpPr txBox="1"/>
          <p:nvPr/>
        </p:nvSpPr>
        <p:spPr>
          <a:xfrm>
            <a:off x="1463040" y="276148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月あたりの見学・相談件数と、利用登録までの割合</a:t>
            </a:r>
            <a:endParaRPr lang="en-US" sz="1250" dirty="0"/>
          </a:p>
        </p:txBody>
      </p:sp>
      <p:sp>
        <p:nvSpPr>
          <p:cNvPr id="15" name="Text 13"/>
          <p:cNvSpPr txBox="1"/>
          <p:nvPr/>
        </p:nvSpPr>
        <p:spPr>
          <a:xfrm>
            <a:off x="1463040" y="331012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目的：転換率の把握</a:t>
            </a:r>
            <a:endParaRPr lang="en-US" sz="1100" dirty="0"/>
          </a:p>
        </p:txBody>
      </p:sp>
      <p:sp>
        <p:nvSpPr>
          <p:cNvPr id="16" name="Shape 14"/>
          <p:cNvSpPr/>
          <p:nvPr/>
        </p:nvSpPr>
        <p:spPr>
          <a:xfrm>
            <a:off x="548640"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77240" y="4096512"/>
            <a:ext cx="512064" cy="512064"/>
          </a:xfrm>
          <a:prstGeom prst="ellipse">
            <a:avLst/>
          </a:prstGeom>
          <a:solidFill>
            <a:srgbClr val="46705A"/>
          </a:solidFill>
          <a:ln w="12700">
            <a:solidFill>
              <a:srgbClr val="46705A"/>
            </a:solidFill>
            <a:prstDash val="solid"/>
          </a:ln>
        </p:spPr>
      </p:sp>
      <p:sp>
        <p:nvSpPr>
          <p:cNvPr id="18" name="Text 16"/>
          <p:cNvSpPr txBox="1"/>
          <p:nvPr/>
        </p:nvSpPr>
        <p:spPr>
          <a:xfrm>
            <a:off x="777240"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3</a:t>
            </a:r>
            <a:endParaRPr lang="en-US" sz="1500" dirty="0"/>
          </a:p>
        </p:txBody>
      </p:sp>
      <p:sp>
        <p:nvSpPr>
          <p:cNvPr id="19" name="Text 17"/>
          <p:cNvSpPr txBox="1"/>
          <p:nvPr/>
        </p:nvSpPr>
        <p:spPr>
          <a:xfrm>
            <a:off x="1463040" y="395020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紹介元（区役所・相談支援事業所・医療機関・家族会）の内訳</a:t>
            </a:r>
            <a:endParaRPr lang="en-US" sz="1250" dirty="0"/>
          </a:p>
        </p:txBody>
      </p:sp>
      <p:sp>
        <p:nvSpPr>
          <p:cNvPr id="20" name="Text 18"/>
          <p:cNvSpPr txBox="1"/>
          <p:nvPr/>
        </p:nvSpPr>
        <p:spPr>
          <a:xfrm>
            <a:off x="1463040" y="449884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目的：プッシュ施策の設計</a:t>
            </a:r>
            <a:endParaRPr lang="en-US" sz="1100" dirty="0"/>
          </a:p>
        </p:txBody>
      </p:sp>
      <p:sp>
        <p:nvSpPr>
          <p:cNvPr id="21" name="Shape 19"/>
          <p:cNvSpPr/>
          <p:nvPr/>
        </p:nvSpPr>
        <p:spPr>
          <a:xfrm>
            <a:off x="548640"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77240" y="5285232"/>
            <a:ext cx="512064" cy="512064"/>
          </a:xfrm>
          <a:prstGeom prst="ellipse">
            <a:avLst/>
          </a:prstGeom>
          <a:solidFill>
            <a:srgbClr val="46705A"/>
          </a:solidFill>
          <a:ln w="12700">
            <a:solidFill>
              <a:srgbClr val="46705A"/>
            </a:solidFill>
            <a:prstDash val="solid"/>
          </a:ln>
        </p:spPr>
      </p:sp>
      <p:sp>
        <p:nvSpPr>
          <p:cNvPr id="23" name="Text 21"/>
          <p:cNvSpPr txBox="1"/>
          <p:nvPr/>
        </p:nvSpPr>
        <p:spPr>
          <a:xfrm>
            <a:off x="777240"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4</a:t>
            </a:r>
            <a:endParaRPr lang="en-US" sz="1500" dirty="0"/>
          </a:p>
        </p:txBody>
      </p:sp>
      <p:sp>
        <p:nvSpPr>
          <p:cNvPr id="24" name="Text 22"/>
          <p:cNvSpPr txBox="1"/>
          <p:nvPr/>
        </p:nvSpPr>
        <p:spPr>
          <a:xfrm>
            <a:off x="1463040" y="513892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代表の事務作業の内訳と、週あたりの時間</a:t>
            </a:r>
            <a:endParaRPr lang="en-US" sz="1250" dirty="0"/>
          </a:p>
        </p:txBody>
      </p:sp>
      <p:sp>
        <p:nvSpPr>
          <p:cNvPr id="25" name="Text 23"/>
          <p:cNvSpPr txBox="1"/>
          <p:nvPr/>
        </p:nvSpPr>
        <p:spPr>
          <a:xfrm>
            <a:off x="1463040" y="568756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目的：事務支援の範囲の設計</a:t>
            </a:r>
            <a:endParaRPr lang="en-US" sz="1100" dirty="0"/>
          </a:p>
        </p:txBody>
      </p:sp>
      <p:sp>
        <p:nvSpPr>
          <p:cNvPr id="26" name="Shape 24"/>
          <p:cNvSpPr/>
          <p:nvPr/>
        </p:nvSpPr>
        <p:spPr>
          <a:xfrm>
            <a:off x="6233008" y="146304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6461608" y="1719072"/>
            <a:ext cx="512064" cy="512064"/>
          </a:xfrm>
          <a:prstGeom prst="ellipse">
            <a:avLst/>
          </a:prstGeom>
          <a:solidFill>
            <a:srgbClr val="46705A"/>
          </a:solidFill>
          <a:ln w="12700">
            <a:solidFill>
              <a:srgbClr val="46705A"/>
            </a:solidFill>
            <a:prstDash val="solid"/>
          </a:ln>
        </p:spPr>
      </p:sp>
      <p:sp>
        <p:nvSpPr>
          <p:cNvPr id="28" name="Text 26"/>
          <p:cNvSpPr txBox="1"/>
          <p:nvPr/>
        </p:nvSpPr>
        <p:spPr>
          <a:xfrm>
            <a:off x="6461608" y="171907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5</a:t>
            </a:r>
            <a:endParaRPr lang="en-US" sz="1500" dirty="0"/>
          </a:p>
        </p:txBody>
      </p:sp>
      <p:sp>
        <p:nvSpPr>
          <p:cNvPr id="29" name="Text 27"/>
          <p:cNvSpPr txBox="1"/>
          <p:nvPr/>
        </p:nvSpPr>
        <p:spPr>
          <a:xfrm>
            <a:off x="7147408" y="157276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受託作業（内職・ポスティング）の取引先数と月の収入</a:t>
            </a:r>
            <a:endParaRPr lang="en-US" sz="1250" dirty="0"/>
          </a:p>
        </p:txBody>
      </p:sp>
      <p:sp>
        <p:nvSpPr>
          <p:cNvPr id="30" name="Text 28"/>
          <p:cNvSpPr txBox="1"/>
          <p:nvPr/>
        </p:nvSpPr>
        <p:spPr>
          <a:xfrm>
            <a:off x="7147408" y="212140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目的：受託開拓の必要性の判断</a:t>
            </a:r>
            <a:endParaRPr lang="en-US" sz="1100" dirty="0"/>
          </a:p>
        </p:txBody>
      </p:sp>
      <p:sp>
        <p:nvSpPr>
          <p:cNvPr id="31" name="Shape 29"/>
          <p:cNvSpPr/>
          <p:nvPr/>
        </p:nvSpPr>
        <p:spPr>
          <a:xfrm>
            <a:off x="6233008" y="265176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6461608" y="2907792"/>
            <a:ext cx="512064" cy="512064"/>
          </a:xfrm>
          <a:prstGeom prst="ellipse">
            <a:avLst/>
          </a:prstGeom>
          <a:solidFill>
            <a:srgbClr val="46705A"/>
          </a:solidFill>
          <a:ln w="12700">
            <a:solidFill>
              <a:srgbClr val="46705A"/>
            </a:solidFill>
            <a:prstDash val="solid"/>
          </a:ln>
        </p:spPr>
      </p:sp>
      <p:sp>
        <p:nvSpPr>
          <p:cNvPr id="33" name="Text 31"/>
          <p:cNvSpPr txBox="1"/>
          <p:nvPr/>
        </p:nvSpPr>
        <p:spPr>
          <a:xfrm>
            <a:off x="6461608" y="29077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6</a:t>
            </a:r>
            <a:endParaRPr lang="en-US" sz="1500" dirty="0"/>
          </a:p>
        </p:txBody>
      </p:sp>
      <p:sp>
        <p:nvSpPr>
          <p:cNvPr id="34" name="Text 32"/>
          <p:cNvSpPr txBox="1"/>
          <p:nvPr/>
        </p:nvSpPr>
        <p:spPr>
          <a:xfrm>
            <a:off x="7147408" y="276148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GH立ち上げの計画（時期・定員・必要な職員）と4月に向けた準備</a:t>
            </a:r>
            <a:endParaRPr lang="en-US" sz="1250" dirty="0"/>
          </a:p>
        </p:txBody>
      </p:sp>
      <p:sp>
        <p:nvSpPr>
          <p:cNvPr id="35" name="Text 33"/>
          <p:cNvSpPr txBox="1"/>
          <p:nvPr/>
        </p:nvSpPr>
        <p:spPr>
          <a:xfrm>
            <a:off x="7147408" y="331012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目的：伴走スケジュールの設計</a:t>
            </a:r>
            <a:endParaRPr lang="en-US" sz="1100" dirty="0"/>
          </a:p>
        </p:txBody>
      </p:sp>
      <p:sp>
        <p:nvSpPr>
          <p:cNvPr id="36" name="Shape 34"/>
          <p:cNvSpPr/>
          <p:nvPr/>
        </p:nvSpPr>
        <p:spPr>
          <a:xfrm>
            <a:off x="6233008" y="384048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5"/>
          <p:cNvSpPr/>
          <p:nvPr/>
        </p:nvSpPr>
        <p:spPr>
          <a:xfrm>
            <a:off x="6461608" y="4096512"/>
            <a:ext cx="512064" cy="512064"/>
          </a:xfrm>
          <a:prstGeom prst="ellipse">
            <a:avLst/>
          </a:prstGeom>
          <a:solidFill>
            <a:srgbClr val="46705A"/>
          </a:solidFill>
          <a:ln w="12700">
            <a:solidFill>
              <a:srgbClr val="46705A"/>
            </a:solidFill>
            <a:prstDash val="solid"/>
          </a:ln>
        </p:spPr>
      </p:sp>
      <p:sp>
        <p:nvSpPr>
          <p:cNvPr id="38" name="Text 36"/>
          <p:cNvSpPr txBox="1"/>
          <p:nvPr/>
        </p:nvSpPr>
        <p:spPr>
          <a:xfrm>
            <a:off x="6461608" y="409651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7</a:t>
            </a:r>
            <a:endParaRPr lang="en-US" sz="1500" dirty="0"/>
          </a:p>
        </p:txBody>
      </p:sp>
      <p:sp>
        <p:nvSpPr>
          <p:cNvPr id="39" name="Text 37"/>
          <p:cNvSpPr txBox="1"/>
          <p:nvPr/>
        </p:nvSpPr>
        <p:spPr>
          <a:xfrm>
            <a:off x="7147408" y="395020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使える予算の範囲（補助金・委託金・助成金の活用可否）</a:t>
            </a:r>
            <a:endParaRPr lang="en-US" sz="1250" dirty="0"/>
          </a:p>
        </p:txBody>
      </p:sp>
      <p:sp>
        <p:nvSpPr>
          <p:cNvPr id="40" name="Text 38"/>
          <p:cNvSpPr txBox="1"/>
          <p:nvPr/>
        </p:nvSpPr>
        <p:spPr>
          <a:xfrm>
            <a:off x="7147408" y="449884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目的：最小構成の設計</a:t>
            </a:r>
            <a:endParaRPr lang="en-US" sz="1100" dirty="0"/>
          </a:p>
        </p:txBody>
      </p:sp>
      <p:sp>
        <p:nvSpPr>
          <p:cNvPr id="41" name="Shape 39"/>
          <p:cNvSpPr/>
          <p:nvPr/>
        </p:nvSpPr>
        <p:spPr>
          <a:xfrm>
            <a:off x="6233008" y="5029200"/>
            <a:ext cx="5410048" cy="1024128"/>
          </a:xfrm>
          <a:prstGeom prst="roundRect">
            <a:avLst>
              <a:gd name="adj" fmla="val 10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40"/>
          <p:cNvSpPr/>
          <p:nvPr/>
        </p:nvSpPr>
        <p:spPr>
          <a:xfrm>
            <a:off x="6461608" y="5285232"/>
            <a:ext cx="512064" cy="512064"/>
          </a:xfrm>
          <a:prstGeom prst="ellipse">
            <a:avLst/>
          </a:prstGeom>
          <a:solidFill>
            <a:srgbClr val="B8652A"/>
          </a:solidFill>
          <a:ln w="12700">
            <a:solidFill>
              <a:srgbClr val="B8652A"/>
            </a:solidFill>
            <a:prstDash val="solid"/>
          </a:ln>
        </p:spPr>
      </p:sp>
      <p:sp>
        <p:nvSpPr>
          <p:cNvPr id="43" name="Text 41"/>
          <p:cNvSpPr txBox="1"/>
          <p:nvPr/>
        </p:nvSpPr>
        <p:spPr>
          <a:xfrm>
            <a:off x="6461608" y="5285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UI" pitchFamily="34" charset="0"/>
                <a:ea typeface="Meiryo UI" pitchFamily="34" charset="-122"/>
                <a:cs typeface="Meiryo UI" pitchFamily="34" charset="-120"/>
              </a:rPr>
              <a:t>8</a:t>
            </a:r>
            <a:endParaRPr lang="en-US" sz="1500" dirty="0"/>
          </a:p>
        </p:txBody>
      </p:sp>
      <p:sp>
        <p:nvSpPr>
          <p:cNvPr id="44" name="Text 42"/>
          <p:cNvSpPr txBox="1"/>
          <p:nvPr/>
        </p:nvSpPr>
        <p:spPr>
          <a:xfrm>
            <a:off x="7147408" y="5138928"/>
            <a:ext cx="4312768" cy="548640"/>
          </a:xfrm>
          <a:prstGeom prst="rect">
            <a:avLst/>
          </a:prstGeom>
          <a:noFill/>
          <a:ln/>
        </p:spPr>
        <p:txBody>
          <a:bodyPr wrap="square" lIns="0" tIns="0" rIns="0" bIns="0" rtlCol="0" anchor="ctr"/>
          <a:lstStyle/>
          <a:p>
            <a:pPr indent="0" marL="0">
              <a:buNone/>
            </a:pPr>
            <a:r>
              <a:rPr lang="en-US" sz="1250" b="1" dirty="0">
                <a:solidFill>
                  <a:srgbClr val="2F4D3D"/>
                </a:solidFill>
                <a:latin typeface="Meiryo UI" pitchFamily="34" charset="0"/>
                <a:ea typeface="Meiryo UI" pitchFamily="34" charset="-122"/>
                <a:cs typeface="Meiryo UI" pitchFamily="34" charset="-120"/>
              </a:rPr>
              <a:t>本施策のご決裁フロー（理事会の承認の要否・時期）</a:t>
            </a:r>
            <a:endParaRPr lang="en-US" sz="1250" dirty="0"/>
          </a:p>
        </p:txBody>
      </p:sp>
      <p:sp>
        <p:nvSpPr>
          <p:cNvPr id="45" name="Text 43"/>
          <p:cNvSpPr txBox="1"/>
          <p:nvPr/>
        </p:nvSpPr>
        <p:spPr>
          <a:xfrm>
            <a:off x="7147408" y="5687568"/>
            <a:ext cx="4312768" cy="274320"/>
          </a:xfrm>
          <a:prstGeom prst="rect">
            <a:avLst/>
          </a:prstGeom>
          <a:noFill/>
          <a:ln/>
        </p:spPr>
        <p:txBody>
          <a:bodyPr wrap="square" lIns="0" tIns="0" rIns="0" bIns="0" rtlCol="0" anchor="t"/>
          <a:lstStyle/>
          <a:p>
            <a:pPr indent="0" marL="0">
              <a:buNone/>
            </a:pPr>
            <a:r>
              <a:rPr lang="en-US" sz="1100" dirty="0">
                <a:solidFill>
                  <a:srgbClr val="66776C"/>
                </a:solidFill>
                <a:latin typeface="Meiryo UI" pitchFamily="34" charset="0"/>
                <a:ea typeface="Meiryo UI" pitchFamily="34" charset="-122"/>
                <a:cs typeface="Meiryo UI" pitchFamily="34" charset="-120"/>
              </a:rPr>
              <a:t>目的：導入スケジュールの確定</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07｜SIMULATION</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目標値シミュレーション（ご提案）</a:t>
            </a:r>
            <a:endParaRPr lang="en-US" sz="2600" dirty="0"/>
          </a:p>
        </p:txBody>
      </p:sp>
      <p:sp>
        <p:nvSpPr>
          <p:cNvPr id="4" name="Text 2"/>
          <p:cNvSpPr txBox="1"/>
          <p:nvPr/>
        </p:nvSpPr>
        <p:spPr>
          <a:xfrm>
            <a:off x="548640" y="1207008"/>
            <a:ext cx="11094415" cy="365760"/>
          </a:xfrm>
          <a:prstGeom prst="rect">
            <a:avLst/>
          </a:prstGeom>
          <a:noFill/>
          <a:ln/>
        </p:spPr>
        <p:txBody>
          <a:bodyPr wrap="square" lIns="0" tIns="0" rIns="0" bIns="0" rtlCol="0" anchor="ctr"/>
          <a:lstStyle/>
          <a:p>
            <a:pPr indent="0" marL="0">
              <a:buNone/>
            </a:pPr>
            <a:r>
              <a:rPr lang="en-US" sz="1300" dirty="0">
                <a:solidFill>
                  <a:srgbClr val="66776C"/>
                </a:solidFill>
                <a:latin typeface="Meiryo UI" pitchFamily="34" charset="0"/>
                <a:ea typeface="Meiryo UI" pitchFamily="34" charset="-122"/>
                <a:cs typeface="Meiryo UI" pitchFamily="34" charset="-120"/>
              </a:rPr>
              <a:t>本日伺った数値を反映し、次回お打ち合わせで目標として合意するための試算です。※下記は現時点の仮置き値です。</a:t>
            </a:r>
            <a:endParaRPr lang="en-US" sz="1300" dirty="0"/>
          </a:p>
        </p:txBody>
      </p:sp>
      <p:sp>
        <p:nvSpPr>
          <p:cNvPr id="5" name="Text 3"/>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32</a:t>
            </a:r>
            <a:endParaRPr lang="en-US" sz="1000" dirty="0"/>
          </a:p>
        </p:txBody>
      </p:sp>
      <p:sp>
        <p:nvSpPr>
          <p:cNvPr id="6" name="Text 4"/>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7" name="Shape 5"/>
          <p:cNvSpPr/>
          <p:nvPr/>
        </p:nvSpPr>
        <p:spPr>
          <a:xfrm>
            <a:off x="548640" y="1691640"/>
            <a:ext cx="11094415" cy="685800"/>
          </a:xfrm>
          <a:prstGeom prst="roundRect">
            <a:avLst>
              <a:gd name="adj" fmla="val 16000"/>
            </a:avLst>
          </a:prstGeom>
          <a:solidFill>
            <a:srgbClr val="EDF3EF"/>
          </a:solidFill>
          <a:ln w="12700">
            <a:solidFill>
              <a:srgbClr val="EDF3EF"/>
            </a:solidFill>
            <a:prstDash val="solid"/>
          </a:ln>
        </p:spPr>
      </p:sp>
      <p:sp>
        <p:nvSpPr>
          <p:cNvPr id="8" name="Text 6"/>
          <p:cNvSpPr txBox="1"/>
          <p:nvPr/>
        </p:nvSpPr>
        <p:spPr>
          <a:xfrm>
            <a:off x="777240" y="1691640"/>
            <a:ext cx="2468880" cy="685800"/>
          </a:xfrm>
          <a:prstGeom prst="rect">
            <a:avLst/>
          </a:prstGeom>
          <a:noFill/>
          <a:ln/>
        </p:spPr>
        <p:txBody>
          <a:bodyPr wrap="square" lIns="0" tIns="0" rIns="0" bIns="0" rtlCol="0" anchor="ctr"/>
          <a:lstStyle/>
          <a:p>
            <a:pPr indent="0" marL="0">
              <a:buNone/>
            </a:pPr>
            <a:r>
              <a:rPr lang="en-US" sz="1250" b="1" dirty="0">
                <a:solidFill>
                  <a:srgbClr val="46705A"/>
                </a:solidFill>
                <a:latin typeface="Meiryo UI" pitchFamily="34" charset="0"/>
                <a:ea typeface="Meiryo UI" pitchFamily="34" charset="-122"/>
                <a:cs typeface="Meiryo UI" pitchFamily="34" charset="-120"/>
              </a:rPr>
              <a:t>現状（本日のヒアリング値）</a:t>
            </a:r>
            <a:endParaRPr lang="en-US" sz="1250" dirty="0"/>
          </a:p>
        </p:txBody>
      </p:sp>
      <p:sp>
        <p:nvSpPr>
          <p:cNvPr id="9" name="Text 7"/>
          <p:cNvSpPr txBox="1"/>
          <p:nvPr/>
        </p:nvSpPr>
        <p:spPr>
          <a:xfrm>
            <a:off x="3291840" y="1764792"/>
            <a:ext cx="1578803" cy="256032"/>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登録利用者数</a:t>
            </a:r>
            <a:endParaRPr lang="en-US" sz="1050" dirty="0"/>
          </a:p>
        </p:txBody>
      </p:sp>
      <p:sp>
        <p:nvSpPr>
          <p:cNvPr id="10" name="Text 8"/>
          <p:cNvSpPr txBox="1"/>
          <p:nvPr/>
        </p:nvSpPr>
        <p:spPr>
          <a:xfrm>
            <a:off x="3291840" y="2011680"/>
            <a:ext cx="1578803" cy="310896"/>
          </a:xfrm>
          <a:prstGeom prst="rect">
            <a:avLst/>
          </a:prstGeom>
          <a:noFill/>
          <a:ln/>
        </p:spPr>
        <p:txBody>
          <a:bodyPr wrap="square" lIns="0" tIns="0" rIns="0" bIns="0" rtlCol="0" anchor="t"/>
          <a:lstStyle/>
          <a:p>
            <a:pPr indent="0" marL="0">
              <a:buNone/>
            </a:pPr>
            <a:r>
              <a:rPr lang="en-US" sz="1500" b="1" dirty="0">
                <a:solidFill>
                  <a:srgbClr val="2F4D3D"/>
                </a:solidFill>
                <a:latin typeface="Meiryo UI" pitchFamily="34" charset="0"/>
                <a:ea typeface="Meiryo UI" pitchFamily="34" charset="-122"/>
                <a:cs typeface="Meiryo UI" pitchFamily="34" charset="-120"/>
              </a:rPr>
              <a:t>〇名</a:t>
            </a:r>
            <a:endParaRPr lang="en-US" sz="1500" dirty="0"/>
          </a:p>
        </p:txBody>
      </p:sp>
      <p:sp>
        <p:nvSpPr>
          <p:cNvPr id="11" name="Text 9"/>
          <p:cNvSpPr txBox="1"/>
          <p:nvPr/>
        </p:nvSpPr>
        <p:spPr>
          <a:xfrm>
            <a:off x="4962083" y="1764792"/>
            <a:ext cx="1578803" cy="256032"/>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平均年齢</a:t>
            </a:r>
            <a:endParaRPr lang="en-US" sz="1050" dirty="0"/>
          </a:p>
        </p:txBody>
      </p:sp>
      <p:sp>
        <p:nvSpPr>
          <p:cNvPr id="12" name="Text 10"/>
          <p:cNvSpPr txBox="1"/>
          <p:nvPr/>
        </p:nvSpPr>
        <p:spPr>
          <a:xfrm>
            <a:off x="4962083" y="2011680"/>
            <a:ext cx="1578803" cy="310896"/>
          </a:xfrm>
          <a:prstGeom prst="rect">
            <a:avLst/>
          </a:prstGeom>
          <a:noFill/>
          <a:ln/>
        </p:spPr>
        <p:txBody>
          <a:bodyPr wrap="square" lIns="0" tIns="0" rIns="0" bIns="0" rtlCol="0" anchor="t"/>
          <a:lstStyle/>
          <a:p>
            <a:pPr indent="0" marL="0">
              <a:buNone/>
            </a:pPr>
            <a:r>
              <a:rPr lang="en-US" sz="1500" b="1" dirty="0">
                <a:solidFill>
                  <a:srgbClr val="2F4D3D"/>
                </a:solidFill>
                <a:latin typeface="Meiryo UI" pitchFamily="34" charset="0"/>
                <a:ea typeface="Meiryo UI" pitchFamily="34" charset="-122"/>
                <a:cs typeface="Meiryo UI" pitchFamily="34" charset="-120"/>
              </a:rPr>
              <a:t>〇歳</a:t>
            </a:r>
            <a:endParaRPr lang="en-US" sz="1500" dirty="0"/>
          </a:p>
        </p:txBody>
      </p:sp>
      <p:sp>
        <p:nvSpPr>
          <p:cNvPr id="13" name="Text 11"/>
          <p:cNvSpPr txBox="1"/>
          <p:nvPr/>
        </p:nvSpPr>
        <p:spPr>
          <a:xfrm>
            <a:off x="6632326" y="1764792"/>
            <a:ext cx="1578803" cy="256032"/>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月間の見学・相談</a:t>
            </a:r>
            <a:endParaRPr lang="en-US" sz="1050" dirty="0"/>
          </a:p>
        </p:txBody>
      </p:sp>
      <p:sp>
        <p:nvSpPr>
          <p:cNvPr id="14" name="Text 12"/>
          <p:cNvSpPr txBox="1"/>
          <p:nvPr/>
        </p:nvSpPr>
        <p:spPr>
          <a:xfrm>
            <a:off x="6632326" y="2011680"/>
            <a:ext cx="1578803" cy="310896"/>
          </a:xfrm>
          <a:prstGeom prst="rect">
            <a:avLst/>
          </a:prstGeom>
          <a:noFill/>
          <a:ln/>
        </p:spPr>
        <p:txBody>
          <a:bodyPr wrap="square" lIns="0" tIns="0" rIns="0" bIns="0" rtlCol="0" anchor="t"/>
          <a:lstStyle/>
          <a:p>
            <a:pPr indent="0" marL="0">
              <a:buNone/>
            </a:pPr>
            <a:r>
              <a:rPr lang="en-US" sz="1500" b="1" dirty="0">
                <a:solidFill>
                  <a:srgbClr val="2F4D3D"/>
                </a:solidFill>
                <a:latin typeface="Meiryo UI" pitchFamily="34" charset="0"/>
                <a:ea typeface="Meiryo UI" pitchFamily="34" charset="-122"/>
                <a:cs typeface="Meiryo UI" pitchFamily="34" charset="-120"/>
              </a:rPr>
              <a:t>〇件</a:t>
            </a:r>
            <a:endParaRPr lang="en-US" sz="1500" dirty="0"/>
          </a:p>
        </p:txBody>
      </p:sp>
      <p:sp>
        <p:nvSpPr>
          <p:cNvPr id="15" name="Text 13"/>
          <p:cNvSpPr txBox="1"/>
          <p:nvPr/>
        </p:nvSpPr>
        <p:spPr>
          <a:xfrm>
            <a:off x="8302569" y="1764792"/>
            <a:ext cx="1578803" cy="256032"/>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代表の事務時間</a:t>
            </a:r>
            <a:endParaRPr lang="en-US" sz="1050" dirty="0"/>
          </a:p>
        </p:txBody>
      </p:sp>
      <p:sp>
        <p:nvSpPr>
          <p:cNvPr id="16" name="Text 14"/>
          <p:cNvSpPr txBox="1"/>
          <p:nvPr/>
        </p:nvSpPr>
        <p:spPr>
          <a:xfrm>
            <a:off x="8302569" y="2011680"/>
            <a:ext cx="1578803" cy="310896"/>
          </a:xfrm>
          <a:prstGeom prst="rect">
            <a:avLst/>
          </a:prstGeom>
          <a:noFill/>
          <a:ln/>
        </p:spPr>
        <p:txBody>
          <a:bodyPr wrap="square" lIns="0" tIns="0" rIns="0" bIns="0" rtlCol="0" anchor="t"/>
          <a:lstStyle/>
          <a:p>
            <a:pPr indent="0" marL="0">
              <a:buNone/>
            </a:pPr>
            <a:r>
              <a:rPr lang="en-US" sz="1500" b="1" dirty="0">
                <a:solidFill>
                  <a:srgbClr val="2F4D3D"/>
                </a:solidFill>
                <a:latin typeface="Meiryo UI" pitchFamily="34" charset="0"/>
                <a:ea typeface="Meiryo UI" pitchFamily="34" charset="-122"/>
                <a:cs typeface="Meiryo UI" pitchFamily="34" charset="-120"/>
              </a:rPr>
              <a:t>〇時間/週</a:t>
            </a:r>
            <a:endParaRPr lang="en-US" sz="1500" dirty="0"/>
          </a:p>
        </p:txBody>
      </p:sp>
      <p:sp>
        <p:nvSpPr>
          <p:cNvPr id="17" name="Text 15"/>
          <p:cNvSpPr txBox="1"/>
          <p:nvPr/>
        </p:nvSpPr>
        <p:spPr>
          <a:xfrm>
            <a:off x="9972812" y="1764792"/>
            <a:ext cx="1578803" cy="256032"/>
          </a:xfrm>
          <a:prstGeom prst="rect">
            <a:avLst/>
          </a:prstGeom>
          <a:noFill/>
          <a:ln/>
        </p:spPr>
        <p:txBody>
          <a:bodyPr wrap="square" lIns="0" tIns="0" rIns="0" bIns="0" rtlCol="0" anchor="t"/>
          <a:lstStyle/>
          <a:p>
            <a:pPr indent="0" marL="0">
              <a:buNone/>
            </a:pPr>
            <a:r>
              <a:rPr lang="en-US" sz="1050" dirty="0">
                <a:solidFill>
                  <a:srgbClr val="66776C"/>
                </a:solidFill>
                <a:latin typeface="Meiryo UI" pitchFamily="34" charset="0"/>
                <a:ea typeface="Meiryo UI" pitchFamily="34" charset="-122"/>
                <a:cs typeface="Meiryo UI" pitchFamily="34" charset="-120"/>
              </a:rPr>
              <a:t>受け入れ上限</a:t>
            </a:r>
            <a:endParaRPr lang="en-US" sz="1050" dirty="0"/>
          </a:p>
        </p:txBody>
      </p:sp>
      <p:sp>
        <p:nvSpPr>
          <p:cNvPr id="18" name="Text 16"/>
          <p:cNvSpPr txBox="1"/>
          <p:nvPr/>
        </p:nvSpPr>
        <p:spPr>
          <a:xfrm>
            <a:off x="9972812" y="2011680"/>
            <a:ext cx="1578803" cy="310896"/>
          </a:xfrm>
          <a:prstGeom prst="rect">
            <a:avLst/>
          </a:prstGeom>
          <a:noFill/>
          <a:ln/>
        </p:spPr>
        <p:txBody>
          <a:bodyPr wrap="square" lIns="0" tIns="0" rIns="0" bIns="0" rtlCol="0" anchor="t"/>
          <a:lstStyle/>
          <a:p>
            <a:pPr indent="0" marL="0">
              <a:buNone/>
            </a:pPr>
            <a:r>
              <a:rPr lang="en-US" sz="1500" b="1" dirty="0">
                <a:solidFill>
                  <a:srgbClr val="2F4D3D"/>
                </a:solidFill>
                <a:latin typeface="Meiryo UI" pitchFamily="34" charset="0"/>
                <a:ea typeface="Meiryo UI" pitchFamily="34" charset="-122"/>
                <a:cs typeface="Meiryo UI" pitchFamily="34" charset="-120"/>
              </a:rPr>
              <a:t>〇名</a:t>
            </a:r>
            <a:endParaRPr lang="en-US" sz="1500" dirty="0"/>
          </a:p>
        </p:txBody>
      </p:sp>
      <p:sp>
        <p:nvSpPr>
          <p:cNvPr id="19" name="Text 17"/>
          <p:cNvSpPr txBox="1"/>
          <p:nvPr/>
        </p:nvSpPr>
        <p:spPr>
          <a:xfrm>
            <a:off x="548640" y="2606040"/>
            <a:ext cx="4937760" cy="320040"/>
          </a:xfrm>
          <a:prstGeom prst="rect">
            <a:avLst/>
          </a:prstGeom>
          <a:noFill/>
          <a:ln/>
        </p:spPr>
        <p:txBody>
          <a:bodyPr wrap="square" lIns="0" tIns="0" rIns="0" bIns="0" rtlCol="0" anchor="t"/>
          <a:lstStyle/>
          <a:p>
            <a:pPr indent="0" marL="0">
              <a:buNone/>
            </a:pPr>
            <a:r>
              <a:rPr lang="en-US" sz="1350" b="1" dirty="0">
                <a:solidFill>
                  <a:srgbClr val="B8652A"/>
                </a:solidFill>
                <a:latin typeface="Meiryo UI" pitchFamily="34" charset="0"/>
                <a:ea typeface="Meiryo UI" pitchFamily="34" charset="-122"/>
                <a:cs typeface="Meiryo UI" pitchFamily="34" charset="-120"/>
              </a:rPr>
              <a:t>拡大期（4ヶ月目以降）の月間KPI試算</a:t>
            </a:r>
            <a:endParaRPr lang="en-US" sz="1350" dirty="0"/>
          </a:p>
        </p:txBody>
      </p:sp>
      <p:sp>
        <p:nvSpPr>
          <p:cNvPr id="20" name="Text 18"/>
          <p:cNvSpPr txBox="1"/>
          <p:nvPr/>
        </p:nvSpPr>
        <p:spPr>
          <a:xfrm>
            <a:off x="548640" y="2971800"/>
            <a:ext cx="2743200"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プッシュ（紹介元）</a:t>
            </a:r>
            <a:endParaRPr lang="en-US" sz="1100" dirty="0"/>
          </a:p>
        </p:txBody>
      </p:sp>
      <p:sp>
        <p:nvSpPr>
          <p:cNvPr id="21" name="Shape 19"/>
          <p:cNvSpPr/>
          <p:nvPr/>
        </p:nvSpPr>
        <p:spPr>
          <a:xfrm>
            <a:off x="548640" y="3246120"/>
            <a:ext cx="4937760" cy="347472"/>
          </a:xfrm>
          <a:prstGeom prst="roundRect">
            <a:avLst>
              <a:gd name="adj" fmla="val 15789"/>
            </a:avLst>
          </a:prstGeom>
          <a:solidFill>
            <a:srgbClr val="F6F9F7"/>
          </a:solidFill>
          <a:ln w="9525">
            <a:solidFill>
              <a:srgbClr val="DCE7DF"/>
            </a:solidFill>
            <a:prstDash val="solid"/>
          </a:ln>
        </p:spPr>
      </p:sp>
      <p:sp>
        <p:nvSpPr>
          <p:cNvPr id="22" name="Text 20"/>
          <p:cNvSpPr txBox="1"/>
          <p:nvPr/>
        </p:nvSpPr>
        <p:spPr>
          <a:xfrm>
            <a:off x="685800" y="3246120"/>
            <a:ext cx="3840480" cy="347472"/>
          </a:xfrm>
          <a:prstGeom prst="rect">
            <a:avLst/>
          </a:prstGeom>
          <a:noFill/>
          <a:ln/>
        </p:spPr>
        <p:txBody>
          <a:bodyPr wrap="square" lIns="0" tIns="0" rIns="0" bIns="0" rtlCol="0" anchor="ctr"/>
          <a:lstStyle/>
          <a:p>
            <a:pPr indent="0" marL="0">
              <a:buNone/>
            </a:pPr>
            <a:r>
              <a:rPr lang="en-US" sz="1050" dirty="0">
                <a:solidFill>
                  <a:srgbClr val="2A322D"/>
                </a:solidFill>
                <a:latin typeface="Meiryo UI" pitchFamily="34" charset="0"/>
                <a:ea typeface="Meiryo UI" pitchFamily="34" charset="-122"/>
                <a:cs typeface="Meiryo UI" pitchFamily="34" charset="-120"/>
              </a:rPr>
              <a:t>紹介元への動画案内（区役所・相談支援・医療機関）</a:t>
            </a:r>
            <a:endParaRPr lang="en-US" sz="1050" dirty="0"/>
          </a:p>
        </p:txBody>
      </p:sp>
      <p:sp>
        <p:nvSpPr>
          <p:cNvPr id="23" name="Text 21"/>
          <p:cNvSpPr txBox="1"/>
          <p:nvPr/>
        </p:nvSpPr>
        <p:spPr>
          <a:xfrm>
            <a:off x="4526280" y="3246120"/>
            <a:ext cx="868680" cy="347472"/>
          </a:xfrm>
          <a:prstGeom prst="rect">
            <a:avLst/>
          </a:prstGeom>
          <a:noFill/>
          <a:ln/>
        </p:spPr>
        <p:txBody>
          <a:bodyPr wrap="square" lIns="0" tIns="0" rIns="0" bIns="0" rtlCol="0" anchor="ctr"/>
          <a:lstStyle/>
          <a:p>
            <a:pPr algn="r" indent="0" marL="0">
              <a:buNone/>
            </a:pPr>
            <a:r>
              <a:rPr lang="en-US" sz="1200" b="1" dirty="0">
                <a:solidFill>
                  <a:srgbClr val="2F4D3D"/>
                </a:solidFill>
                <a:latin typeface="Meiryo UI" pitchFamily="34" charset="0"/>
                <a:ea typeface="Meiryo UI" pitchFamily="34" charset="-122"/>
                <a:cs typeface="Meiryo UI" pitchFamily="34" charset="-120"/>
              </a:rPr>
              <a:t>30か所</a:t>
            </a:r>
            <a:endParaRPr lang="en-US" sz="1200" dirty="0"/>
          </a:p>
        </p:txBody>
      </p:sp>
      <p:sp>
        <p:nvSpPr>
          <p:cNvPr id="24" name="Shape 22"/>
          <p:cNvSpPr/>
          <p:nvPr/>
        </p:nvSpPr>
        <p:spPr>
          <a:xfrm>
            <a:off x="548640" y="3648456"/>
            <a:ext cx="4617720" cy="347472"/>
          </a:xfrm>
          <a:prstGeom prst="roundRect">
            <a:avLst>
              <a:gd name="adj" fmla="val 15789"/>
            </a:avLst>
          </a:prstGeom>
          <a:solidFill>
            <a:srgbClr val="F6F9F7"/>
          </a:solidFill>
          <a:ln w="9525">
            <a:solidFill>
              <a:srgbClr val="DCE7DF"/>
            </a:solidFill>
            <a:prstDash val="solid"/>
          </a:ln>
        </p:spPr>
      </p:sp>
      <p:sp>
        <p:nvSpPr>
          <p:cNvPr id="25" name="Text 23"/>
          <p:cNvSpPr txBox="1"/>
          <p:nvPr/>
        </p:nvSpPr>
        <p:spPr>
          <a:xfrm>
            <a:off x="685800" y="3648456"/>
            <a:ext cx="3520440" cy="347472"/>
          </a:xfrm>
          <a:prstGeom prst="rect">
            <a:avLst/>
          </a:prstGeom>
          <a:noFill/>
          <a:ln/>
        </p:spPr>
        <p:txBody>
          <a:bodyPr wrap="square" lIns="0" tIns="0" rIns="0" bIns="0" rtlCol="0" anchor="ctr"/>
          <a:lstStyle/>
          <a:p>
            <a:pPr indent="0" marL="0">
              <a:buNone/>
            </a:pPr>
            <a:r>
              <a:rPr lang="en-US" sz="1050" dirty="0">
                <a:solidFill>
                  <a:srgbClr val="2A322D"/>
                </a:solidFill>
                <a:latin typeface="Meiryo UI" pitchFamily="34" charset="0"/>
                <a:ea typeface="Meiryo UI" pitchFamily="34" charset="-122"/>
                <a:cs typeface="Meiryo UI" pitchFamily="34" charset="-120"/>
              </a:rPr>
              <a:t>動画の視聴（50%）</a:t>
            </a:r>
            <a:endParaRPr lang="en-US" sz="1050" dirty="0"/>
          </a:p>
        </p:txBody>
      </p:sp>
      <p:sp>
        <p:nvSpPr>
          <p:cNvPr id="26" name="Text 24"/>
          <p:cNvSpPr txBox="1"/>
          <p:nvPr/>
        </p:nvSpPr>
        <p:spPr>
          <a:xfrm>
            <a:off x="4206240" y="3648456"/>
            <a:ext cx="868680" cy="347472"/>
          </a:xfrm>
          <a:prstGeom prst="rect">
            <a:avLst/>
          </a:prstGeom>
          <a:noFill/>
          <a:ln/>
        </p:spPr>
        <p:txBody>
          <a:bodyPr wrap="square" lIns="0" tIns="0" rIns="0" bIns="0" rtlCol="0" anchor="ctr"/>
          <a:lstStyle/>
          <a:p>
            <a:pPr algn="r" indent="0" marL="0">
              <a:buNone/>
            </a:pPr>
            <a:r>
              <a:rPr lang="en-US" sz="1200" b="1" dirty="0">
                <a:solidFill>
                  <a:srgbClr val="2F4D3D"/>
                </a:solidFill>
                <a:latin typeface="Meiryo UI" pitchFamily="34" charset="0"/>
                <a:ea typeface="Meiryo UI" pitchFamily="34" charset="-122"/>
                <a:cs typeface="Meiryo UI" pitchFamily="34" charset="-120"/>
              </a:rPr>
              <a:t>15か所</a:t>
            </a:r>
            <a:endParaRPr lang="en-US" sz="1200" dirty="0"/>
          </a:p>
        </p:txBody>
      </p:sp>
      <p:sp>
        <p:nvSpPr>
          <p:cNvPr id="27" name="Shape 25"/>
          <p:cNvSpPr/>
          <p:nvPr/>
        </p:nvSpPr>
        <p:spPr>
          <a:xfrm>
            <a:off x="548640" y="4050792"/>
            <a:ext cx="4297680" cy="347472"/>
          </a:xfrm>
          <a:prstGeom prst="roundRect">
            <a:avLst>
              <a:gd name="adj" fmla="val 15789"/>
            </a:avLst>
          </a:prstGeom>
          <a:solidFill>
            <a:srgbClr val="F6F9F7"/>
          </a:solidFill>
          <a:ln w="9525">
            <a:solidFill>
              <a:srgbClr val="DCE7DF"/>
            </a:solidFill>
            <a:prstDash val="solid"/>
          </a:ln>
        </p:spPr>
      </p:sp>
      <p:sp>
        <p:nvSpPr>
          <p:cNvPr id="28" name="Text 26"/>
          <p:cNvSpPr txBox="1"/>
          <p:nvPr/>
        </p:nvSpPr>
        <p:spPr>
          <a:xfrm>
            <a:off x="685800" y="4050792"/>
            <a:ext cx="3200400" cy="347472"/>
          </a:xfrm>
          <a:prstGeom prst="rect">
            <a:avLst/>
          </a:prstGeom>
          <a:noFill/>
          <a:ln/>
        </p:spPr>
        <p:txBody>
          <a:bodyPr wrap="square" lIns="0" tIns="0" rIns="0" bIns="0" rtlCol="0" anchor="ctr"/>
          <a:lstStyle/>
          <a:p>
            <a:pPr indent="0" marL="0">
              <a:buNone/>
            </a:pPr>
            <a:r>
              <a:rPr lang="en-US" sz="1050" dirty="0">
                <a:solidFill>
                  <a:srgbClr val="2A322D"/>
                </a:solidFill>
                <a:latin typeface="Meiryo UI" pitchFamily="34" charset="0"/>
                <a:ea typeface="Meiryo UI" pitchFamily="34" charset="-122"/>
                <a:cs typeface="Meiryo UI" pitchFamily="34" charset="-120"/>
              </a:rPr>
              <a:t>見学・相談の紹介</a:t>
            </a:r>
            <a:endParaRPr lang="en-US" sz="1050" dirty="0"/>
          </a:p>
        </p:txBody>
      </p:sp>
      <p:sp>
        <p:nvSpPr>
          <p:cNvPr id="29" name="Text 27"/>
          <p:cNvSpPr txBox="1"/>
          <p:nvPr/>
        </p:nvSpPr>
        <p:spPr>
          <a:xfrm>
            <a:off x="3886200" y="4050792"/>
            <a:ext cx="868680" cy="347472"/>
          </a:xfrm>
          <a:prstGeom prst="rect">
            <a:avLst/>
          </a:prstGeom>
          <a:noFill/>
          <a:ln/>
        </p:spPr>
        <p:txBody>
          <a:bodyPr wrap="square" lIns="0" tIns="0" rIns="0" bIns="0" rtlCol="0" anchor="ctr"/>
          <a:lstStyle/>
          <a:p>
            <a:pPr algn="r" indent="0" marL="0">
              <a:buNone/>
            </a:pPr>
            <a:r>
              <a:rPr lang="en-US" sz="1200" b="1" dirty="0">
                <a:solidFill>
                  <a:srgbClr val="2F4D3D"/>
                </a:solidFill>
                <a:latin typeface="Meiryo UI" pitchFamily="34" charset="0"/>
                <a:ea typeface="Meiryo UI" pitchFamily="34" charset="-122"/>
                <a:cs typeface="Meiryo UI" pitchFamily="34" charset="-120"/>
              </a:rPr>
              <a:t>約3件</a:t>
            </a:r>
            <a:endParaRPr lang="en-US" sz="1200" dirty="0"/>
          </a:p>
        </p:txBody>
      </p:sp>
      <p:sp>
        <p:nvSpPr>
          <p:cNvPr id="30" name="Shape 28"/>
          <p:cNvSpPr/>
          <p:nvPr/>
        </p:nvSpPr>
        <p:spPr>
          <a:xfrm>
            <a:off x="548640" y="4453128"/>
            <a:ext cx="3977640" cy="347472"/>
          </a:xfrm>
          <a:prstGeom prst="roundRect">
            <a:avLst>
              <a:gd name="adj" fmla="val 15789"/>
            </a:avLst>
          </a:prstGeom>
          <a:solidFill>
            <a:srgbClr val="F6F9F7"/>
          </a:solidFill>
          <a:ln w="9525">
            <a:solidFill>
              <a:srgbClr val="DCE7DF"/>
            </a:solidFill>
            <a:prstDash val="solid"/>
          </a:ln>
        </p:spPr>
      </p:sp>
      <p:sp>
        <p:nvSpPr>
          <p:cNvPr id="31" name="Text 29"/>
          <p:cNvSpPr txBox="1"/>
          <p:nvPr/>
        </p:nvSpPr>
        <p:spPr>
          <a:xfrm>
            <a:off x="685800" y="4453128"/>
            <a:ext cx="2880360" cy="347472"/>
          </a:xfrm>
          <a:prstGeom prst="rect">
            <a:avLst/>
          </a:prstGeom>
          <a:noFill/>
          <a:ln/>
        </p:spPr>
        <p:txBody>
          <a:bodyPr wrap="square" lIns="0" tIns="0" rIns="0" bIns="0" rtlCol="0" anchor="ctr"/>
          <a:lstStyle/>
          <a:p>
            <a:pPr indent="0" marL="0">
              <a:buNone/>
            </a:pPr>
            <a:r>
              <a:rPr lang="en-US" sz="1050" dirty="0">
                <a:solidFill>
                  <a:srgbClr val="2A322D"/>
                </a:solidFill>
                <a:latin typeface="Meiryo UI" pitchFamily="34" charset="0"/>
                <a:ea typeface="Meiryo UI" pitchFamily="34" charset="-122"/>
                <a:cs typeface="Meiryo UI" pitchFamily="34" charset="-120"/>
              </a:rPr>
              <a:t>見学の実施（70%）</a:t>
            </a:r>
            <a:endParaRPr lang="en-US" sz="1050" dirty="0"/>
          </a:p>
        </p:txBody>
      </p:sp>
      <p:sp>
        <p:nvSpPr>
          <p:cNvPr id="32" name="Text 30"/>
          <p:cNvSpPr txBox="1"/>
          <p:nvPr/>
        </p:nvSpPr>
        <p:spPr>
          <a:xfrm>
            <a:off x="3566160" y="4453128"/>
            <a:ext cx="868680" cy="347472"/>
          </a:xfrm>
          <a:prstGeom prst="rect">
            <a:avLst/>
          </a:prstGeom>
          <a:noFill/>
          <a:ln/>
        </p:spPr>
        <p:txBody>
          <a:bodyPr wrap="square" lIns="0" tIns="0" rIns="0" bIns="0" rtlCol="0" anchor="ctr"/>
          <a:lstStyle/>
          <a:p>
            <a:pPr algn="r" indent="0" marL="0">
              <a:buNone/>
            </a:pPr>
            <a:r>
              <a:rPr lang="en-US" sz="1200" b="1" dirty="0">
                <a:solidFill>
                  <a:srgbClr val="2F4D3D"/>
                </a:solidFill>
                <a:latin typeface="Meiryo UI" pitchFamily="34" charset="0"/>
                <a:ea typeface="Meiryo UI" pitchFamily="34" charset="-122"/>
                <a:cs typeface="Meiryo UI" pitchFamily="34" charset="-120"/>
              </a:rPr>
              <a:t>約2件</a:t>
            </a:r>
            <a:endParaRPr lang="en-US" sz="1200" dirty="0"/>
          </a:p>
        </p:txBody>
      </p:sp>
      <p:sp>
        <p:nvSpPr>
          <p:cNvPr id="33" name="Shape 31"/>
          <p:cNvSpPr/>
          <p:nvPr/>
        </p:nvSpPr>
        <p:spPr>
          <a:xfrm>
            <a:off x="548640" y="4855464"/>
            <a:ext cx="3657600" cy="347472"/>
          </a:xfrm>
          <a:prstGeom prst="roundRect">
            <a:avLst>
              <a:gd name="adj" fmla="val 15789"/>
            </a:avLst>
          </a:prstGeom>
          <a:solidFill>
            <a:srgbClr val="46705A"/>
          </a:solidFill>
          <a:ln w="9525">
            <a:solidFill>
              <a:srgbClr val="46705A"/>
            </a:solidFill>
            <a:prstDash val="solid"/>
          </a:ln>
        </p:spPr>
      </p:sp>
      <p:sp>
        <p:nvSpPr>
          <p:cNvPr id="34" name="Text 32"/>
          <p:cNvSpPr txBox="1"/>
          <p:nvPr/>
        </p:nvSpPr>
        <p:spPr>
          <a:xfrm>
            <a:off x="685800" y="4855464"/>
            <a:ext cx="2560320" cy="347472"/>
          </a:xfrm>
          <a:prstGeom prst="rect">
            <a:avLst/>
          </a:prstGeom>
          <a:noFill/>
          <a:ln/>
        </p:spPr>
        <p:txBody>
          <a:bodyPr wrap="square" lIns="0" tIns="0" rIns="0" bIns="0" rtlCol="0" anchor="ctr"/>
          <a:lstStyle/>
          <a:p>
            <a:pPr indent="0" marL="0">
              <a:buNone/>
            </a:pPr>
            <a:r>
              <a:rPr lang="en-US" sz="1050" b="1" dirty="0">
                <a:solidFill>
                  <a:srgbClr val="FFFFFF"/>
                </a:solidFill>
                <a:latin typeface="Meiryo UI" pitchFamily="34" charset="0"/>
                <a:ea typeface="Meiryo UI" pitchFamily="34" charset="-122"/>
                <a:cs typeface="Meiryo UI" pitchFamily="34" charset="-120"/>
              </a:rPr>
              <a:t>利用登録（50%）</a:t>
            </a:r>
            <a:endParaRPr lang="en-US" sz="1050" dirty="0"/>
          </a:p>
        </p:txBody>
      </p:sp>
      <p:sp>
        <p:nvSpPr>
          <p:cNvPr id="35" name="Text 33"/>
          <p:cNvSpPr txBox="1"/>
          <p:nvPr/>
        </p:nvSpPr>
        <p:spPr>
          <a:xfrm>
            <a:off x="3246120" y="4855464"/>
            <a:ext cx="868680" cy="347472"/>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約1名</a:t>
            </a:r>
            <a:endParaRPr lang="en-US" sz="1200" dirty="0"/>
          </a:p>
        </p:txBody>
      </p:sp>
      <p:sp>
        <p:nvSpPr>
          <p:cNvPr id="36" name="Text 34"/>
          <p:cNvSpPr txBox="1"/>
          <p:nvPr/>
        </p:nvSpPr>
        <p:spPr>
          <a:xfrm>
            <a:off x="548640" y="5303520"/>
            <a:ext cx="3657600" cy="256032"/>
          </a:xfrm>
          <a:prstGeom prst="rect">
            <a:avLst/>
          </a:prstGeom>
          <a:noFill/>
          <a:ln/>
        </p:spPr>
        <p:txBody>
          <a:bodyPr wrap="square" lIns="0" tIns="0" rIns="0" bIns="0" rtlCol="0" anchor="t"/>
          <a:lstStyle/>
          <a:p>
            <a:pPr indent="0" marL="0">
              <a:buNone/>
            </a:pPr>
            <a:r>
              <a:rPr lang="en-US" sz="1100" b="1" dirty="0">
                <a:solidFill>
                  <a:srgbClr val="46705A"/>
                </a:solidFill>
                <a:latin typeface="Meiryo UI" pitchFamily="34" charset="0"/>
                <a:ea typeface="Meiryo UI" pitchFamily="34" charset="-122"/>
                <a:cs typeface="Meiryo UI" pitchFamily="34" charset="-120"/>
              </a:rPr>
              <a:t>プル（HP・SNS）</a:t>
            </a:r>
            <a:endParaRPr lang="en-US" sz="1100" dirty="0"/>
          </a:p>
        </p:txBody>
      </p:sp>
      <p:sp>
        <p:nvSpPr>
          <p:cNvPr id="37" name="Shape 35"/>
          <p:cNvSpPr/>
          <p:nvPr/>
        </p:nvSpPr>
        <p:spPr>
          <a:xfrm>
            <a:off x="548640" y="5577840"/>
            <a:ext cx="4937760" cy="384048"/>
          </a:xfrm>
          <a:prstGeom prst="roundRect">
            <a:avLst>
              <a:gd name="adj" fmla="val 14286"/>
            </a:avLst>
          </a:prstGeom>
          <a:solidFill>
            <a:srgbClr val="46705A"/>
          </a:solidFill>
          <a:ln w="12700">
            <a:solidFill>
              <a:srgbClr val="46705A"/>
            </a:solidFill>
            <a:prstDash val="solid"/>
          </a:ln>
        </p:spPr>
      </p:sp>
      <p:sp>
        <p:nvSpPr>
          <p:cNvPr id="38" name="Text 36"/>
          <p:cNvSpPr txBox="1"/>
          <p:nvPr/>
        </p:nvSpPr>
        <p:spPr>
          <a:xfrm>
            <a:off x="685800" y="5577840"/>
            <a:ext cx="3931920" cy="384048"/>
          </a:xfrm>
          <a:prstGeom prst="rect">
            <a:avLst/>
          </a:prstGeom>
          <a:noFill/>
          <a:ln/>
        </p:spPr>
        <p:txBody>
          <a:bodyPr wrap="square" lIns="0" tIns="0" rIns="0" bIns="0" rtlCol="0" anchor="ctr"/>
          <a:lstStyle/>
          <a:p>
            <a:pPr indent="0" marL="0">
              <a:buNone/>
            </a:pPr>
            <a:r>
              <a:rPr lang="en-US" sz="1100" b="1" dirty="0">
                <a:solidFill>
                  <a:srgbClr val="FFFFFF"/>
                </a:solidFill>
                <a:latin typeface="Meiryo UI" pitchFamily="34" charset="0"/>
                <a:ea typeface="Meiryo UI" pitchFamily="34" charset="-122"/>
                <a:cs typeface="Meiryo UI" pitchFamily="34" charset="-120"/>
              </a:rPr>
              <a:t>動画経由の問い合わせ 月3件（利用登録率30%）</a:t>
            </a:r>
            <a:endParaRPr lang="en-US" sz="1100" dirty="0"/>
          </a:p>
        </p:txBody>
      </p:sp>
      <p:sp>
        <p:nvSpPr>
          <p:cNvPr id="39" name="Text 37"/>
          <p:cNvSpPr txBox="1"/>
          <p:nvPr/>
        </p:nvSpPr>
        <p:spPr>
          <a:xfrm>
            <a:off x="4526280" y="5577840"/>
            <a:ext cx="868680" cy="384048"/>
          </a:xfrm>
          <a:prstGeom prst="rect">
            <a:avLst/>
          </a:prstGeom>
          <a:noFill/>
          <a:ln/>
        </p:spPr>
        <p:txBody>
          <a:bodyPr wrap="square" lIns="0" tIns="0" rIns="0" bIns="0" rtlCol="0" anchor="ctr"/>
          <a:lstStyle/>
          <a:p>
            <a:pPr algn="r" indent="0" marL="0">
              <a:buNone/>
            </a:pPr>
            <a:r>
              <a:rPr lang="en-US" sz="1200" b="1" dirty="0">
                <a:solidFill>
                  <a:srgbClr val="FFFFFF"/>
                </a:solidFill>
                <a:latin typeface="Meiryo UI" pitchFamily="34" charset="0"/>
                <a:ea typeface="Meiryo UI" pitchFamily="34" charset="-122"/>
                <a:cs typeface="Meiryo UI" pitchFamily="34" charset="-120"/>
              </a:rPr>
              <a:t>約1名</a:t>
            </a:r>
            <a:endParaRPr lang="en-US" sz="1200" dirty="0"/>
          </a:p>
        </p:txBody>
      </p:sp>
      <p:sp>
        <p:nvSpPr>
          <p:cNvPr id="40" name="Shape 38"/>
          <p:cNvSpPr/>
          <p:nvPr/>
        </p:nvSpPr>
        <p:spPr>
          <a:xfrm>
            <a:off x="5852160" y="2606040"/>
            <a:ext cx="1808378" cy="1097280"/>
          </a:xfrm>
          <a:prstGeom prst="roundRect">
            <a:avLst>
              <a:gd name="adj" fmla="val 10000"/>
            </a:avLst>
          </a:prstGeom>
          <a:solidFill>
            <a:srgbClr val="F6F9F7"/>
          </a:solidFill>
          <a:ln w="12700">
            <a:solidFill>
              <a:srgbClr val="F6F9F7"/>
            </a:solidFill>
            <a:prstDash val="solid"/>
          </a:ln>
        </p:spPr>
      </p:sp>
      <p:sp>
        <p:nvSpPr>
          <p:cNvPr id="41" name="Text 39"/>
          <p:cNvSpPr txBox="1"/>
          <p:nvPr/>
        </p:nvSpPr>
        <p:spPr>
          <a:xfrm>
            <a:off x="5852160" y="2651760"/>
            <a:ext cx="1808378" cy="502920"/>
          </a:xfrm>
          <a:prstGeom prst="rect">
            <a:avLst/>
          </a:prstGeom>
          <a:noFill/>
          <a:ln/>
        </p:spPr>
        <p:txBody>
          <a:bodyPr wrap="square" lIns="0" tIns="0" rIns="0" bIns="0" rtlCol="0" anchor="ctr"/>
          <a:lstStyle/>
          <a:p>
            <a:pPr algn="ctr" indent="0" marL="0">
              <a:buNone/>
            </a:pPr>
            <a:r>
              <a:rPr lang="en-US" sz="2000" b="1" dirty="0">
                <a:solidFill>
                  <a:srgbClr val="46705A"/>
                </a:solidFill>
                <a:latin typeface="Meiryo UI" pitchFamily="34" charset="0"/>
                <a:ea typeface="Meiryo UI" pitchFamily="34" charset="-122"/>
                <a:cs typeface="Meiryo UI" pitchFamily="34" charset="-120"/>
              </a:rPr>
              <a:t>+1〜2名/月</a:t>
            </a:r>
            <a:endParaRPr lang="en-US" sz="2000" dirty="0"/>
          </a:p>
        </p:txBody>
      </p:sp>
      <p:sp>
        <p:nvSpPr>
          <p:cNvPr id="42" name="Text 40"/>
          <p:cNvSpPr txBox="1"/>
          <p:nvPr/>
        </p:nvSpPr>
        <p:spPr>
          <a:xfrm>
            <a:off x="5852160" y="3154680"/>
            <a:ext cx="1808378" cy="502920"/>
          </a:xfrm>
          <a:prstGeom prst="rect">
            <a:avLst/>
          </a:prstGeom>
          <a:noFill/>
          <a:ln/>
        </p:spPr>
        <p:txBody>
          <a:bodyPr wrap="square" lIns="0" tIns="0" rIns="0" bIns="0" rtlCol="0" anchor="t"/>
          <a:lstStyle/>
          <a:p>
            <a:pPr algn="ctr" indent="0" marL="0">
              <a:buNone/>
            </a:pPr>
            <a:r>
              <a:rPr lang="en-US" sz="1000" dirty="0">
                <a:solidFill>
                  <a:srgbClr val="66776C"/>
                </a:solidFill>
                <a:latin typeface="Meiryo UI" pitchFamily="34" charset="0"/>
                <a:ea typeface="Meiryo UI" pitchFamily="34" charset="-122"/>
                <a:cs typeface="Meiryo UI" pitchFamily="34" charset="-120"/>
              </a:rPr>
              <a:t>拡大期の新規利用登録</a:t>
            </a:r>
            <a:endParaRPr lang="en-US" sz="1000" dirty="0"/>
          </a:p>
          <a:p>
            <a:pPr algn="ctr" indent="0" marL="0">
              <a:buNone/>
            </a:pPr>
            <a:r>
              <a:rPr lang="en-US" sz="1000" dirty="0">
                <a:solidFill>
                  <a:srgbClr val="66776C"/>
                </a:solidFill>
                <a:latin typeface="Meiryo UI" pitchFamily="34" charset="0"/>
                <a:ea typeface="Meiryo UI" pitchFamily="34" charset="-122"/>
                <a:cs typeface="Meiryo UI" pitchFamily="34" charset="-120"/>
              </a:rPr>
              <a:t>（上乗せ分）</a:t>
            </a:r>
            <a:endParaRPr lang="en-US" sz="1000" dirty="0"/>
          </a:p>
        </p:txBody>
      </p:sp>
      <p:sp>
        <p:nvSpPr>
          <p:cNvPr id="43" name="Shape 41"/>
          <p:cNvSpPr/>
          <p:nvPr/>
        </p:nvSpPr>
        <p:spPr>
          <a:xfrm>
            <a:off x="7843418" y="2606040"/>
            <a:ext cx="1808378" cy="1097280"/>
          </a:xfrm>
          <a:prstGeom prst="roundRect">
            <a:avLst>
              <a:gd name="adj" fmla="val 10000"/>
            </a:avLst>
          </a:prstGeom>
          <a:solidFill>
            <a:srgbClr val="F6F9F7"/>
          </a:solidFill>
          <a:ln w="12700">
            <a:solidFill>
              <a:srgbClr val="F6F9F7"/>
            </a:solidFill>
            <a:prstDash val="solid"/>
          </a:ln>
        </p:spPr>
      </p:sp>
      <p:sp>
        <p:nvSpPr>
          <p:cNvPr id="44" name="Text 42"/>
          <p:cNvSpPr txBox="1"/>
          <p:nvPr/>
        </p:nvSpPr>
        <p:spPr>
          <a:xfrm>
            <a:off x="7843418" y="2651760"/>
            <a:ext cx="1808378" cy="502920"/>
          </a:xfrm>
          <a:prstGeom prst="rect">
            <a:avLst/>
          </a:prstGeom>
          <a:noFill/>
          <a:ln/>
        </p:spPr>
        <p:txBody>
          <a:bodyPr wrap="square" lIns="0" tIns="0" rIns="0" bIns="0" rtlCol="0" anchor="ctr"/>
          <a:lstStyle/>
          <a:p>
            <a:pPr algn="ctr" indent="0" marL="0">
              <a:buNone/>
            </a:pPr>
            <a:r>
              <a:rPr lang="en-US" sz="2000" b="1" dirty="0">
                <a:solidFill>
                  <a:srgbClr val="46705A"/>
                </a:solidFill>
                <a:latin typeface="Meiryo UI" pitchFamily="34" charset="0"/>
                <a:ea typeface="Meiryo UI" pitchFamily="34" charset="-122"/>
                <a:cs typeface="Meiryo UI" pitchFamily="34" charset="-120"/>
              </a:rPr>
              <a:t>+12名</a:t>
            </a:r>
            <a:endParaRPr lang="en-US" sz="2000" dirty="0"/>
          </a:p>
        </p:txBody>
      </p:sp>
      <p:sp>
        <p:nvSpPr>
          <p:cNvPr id="45" name="Text 43"/>
          <p:cNvSpPr txBox="1"/>
          <p:nvPr/>
        </p:nvSpPr>
        <p:spPr>
          <a:xfrm>
            <a:off x="7843418" y="3154680"/>
            <a:ext cx="1808378" cy="502920"/>
          </a:xfrm>
          <a:prstGeom prst="rect">
            <a:avLst/>
          </a:prstGeom>
          <a:noFill/>
          <a:ln/>
        </p:spPr>
        <p:txBody>
          <a:bodyPr wrap="square" lIns="0" tIns="0" rIns="0" bIns="0" rtlCol="0" anchor="t"/>
          <a:lstStyle/>
          <a:p>
            <a:pPr algn="ctr" indent="0" marL="0">
              <a:buNone/>
            </a:pPr>
            <a:r>
              <a:rPr lang="en-US" sz="1000" dirty="0">
                <a:solidFill>
                  <a:srgbClr val="66776C"/>
                </a:solidFill>
                <a:latin typeface="Meiryo UI" pitchFamily="34" charset="0"/>
                <a:ea typeface="Meiryo UI" pitchFamily="34" charset="-122"/>
                <a:cs typeface="Meiryo UI" pitchFamily="34" charset="-120"/>
              </a:rPr>
              <a:t>12ヶ月の</a:t>
            </a:r>
            <a:endParaRPr lang="en-US" sz="1000" dirty="0"/>
          </a:p>
          <a:p>
            <a:pPr algn="ctr" indent="0" marL="0">
              <a:buNone/>
            </a:pPr>
            <a:r>
              <a:rPr lang="en-US" sz="1000" dirty="0">
                <a:solidFill>
                  <a:srgbClr val="66776C"/>
                </a:solidFill>
                <a:latin typeface="Meiryo UI" pitchFamily="34" charset="0"/>
                <a:ea typeface="Meiryo UI" pitchFamily="34" charset="-122"/>
                <a:cs typeface="Meiryo UI" pitchFamily="34" charset="-120"/>
              </a:rPr>
              <a:t>新規利用登録（累計）</a:t>
            </a:r>
            <a:endParaRPr lang="en-US" sz="1000" dirty="0"/>
          </a:p>
        </p:txBody>
      </p:sp>
      <p:sp>
        <p:nvSpPr>
          <p:cNvPr id="46" name="Shape 44"/>
          <p:cNvSpPr/>
          <p:nvPr/>
        </p:nvSpPr>
        <p:spPr>
          <a:xfrm>
            <a:off x="9834677" y="2606040"/>
            <a:ext cx="1808378" cy="1097280"/>
          </a:xfrm>
          <a:prstGeom prst="roundRect">
            <a:avLst>
              <a:gd name="adj" fmla="val 10000"/>
            </a:avLst>
          </a:prstGeom>
          <a:solidFill>
            <a:srgbClr val="FBEFE4"/>
          </a:solidFill>
          <a:ln w="12700">
            <a:solidFill>
              <a:srgbClr val="FBEFE4"/>
            </a:solidFill>
            <a:prstDash val="solid"/>
          </a:ln>
        </p:spPr>
      </p:sp>
      <p:sp>
        <p:nvSpPr>
          <p:cNvPr id="47" name="Text 45"/>
          <p:cNvSpPr txBox="1"/>
          <p:nvPr/>
        </p:nvSpPr>
        <p:spPr>
          <a:xfrm>
            <a:off x="9834677" y="2651760"/>
            <a:ext cx="1808378" cy="502920"/>
          </a:xfrm>
          <a:prstGeom prst="rect">
            <a:avLst/>
          </a:prstGeom>
          <a:noFill/>
          <a:ln/>
        </p:spPr>
        <p:txBody>
          <a:bodyPr wrap="square" lIns="0" tIns="0" rIns="0" bIns="0" rtlCol="0" anchor="ctr"/>
          <a:lstStyle/>
          <a:p>
            <a:pPr algn="ctr" indent="0" marL="0">
              <a:buNone/>
            </a:pPr>
            <a:r>
              <a:rPr lang="en-US" sz="2000" b="1" dirty="0">
                <a:solidFill>
                  <a:srgbClr val="B8652A"/>
                </a:solidFill>
                <a:latin typeface="Meiryo UI" pitchFamily="34" charset="0"/>
                <a:ea typeface="Meiryo UI" pitchFamily="34" charset="-122"/>
                <a:cs typeface="Meiryo UI" pitchFamily="34" charset="-120"/>
              </a:rPr>
              <a:t>週5時間</a:t>
            </a:r>
            <a:endParaRPr lang="en-US" sz="2000" dirty="0"/>
          </a:p>
        </p:txBody>
      </p:sp>
      <p:sp>
        <p:nvSpPr>
          <p:cNvPr id="48" name="Text 46"/>
          <p:cNvSpPr txBox="1"/>
          <p:nvPr/>
        </p:nvSpPr>
        <p:spPr>
          <a:xfrm>
            <a:off x="9834677" y="3154680"/>
            <a:ext cx="1808378" cy="502920"/>
          </a:xfrm>
          <a:prstGeom prst="rect">
            <a:avLst/>
          </a:prstGeom>
          <a:noFill/>
          <a:ln/>
        </p:spPr>
        <p:txBody>
          <a:bodyPr wrap="square" lIns="0" tIns="0" rIns="0" bIns="0" rtlCol="0" anchor="t"/>
          <a:lstStyle/>
          <a:p>
            <a:pPr algn="ctr" indent="0" marL="0">
              <a:buNone/>
            </a:pPr>
            <a:r>
              <a:rPr lang="en-US" sz="1000" dirty="0">
                <a:solidFill>
                  <a:srgbClr val="66776C"/>
                </a:solidFill>
                <a:latin typeface="Meiryo UI" pitchFamily="34" charset="0"/>
                <a:ea typeface="Meiryo UI" pitchFamily="34" charset="-122"/>
                <a:cs typeface="Meiryo UI" pitchFamily="34" charset="-120"/>
              </a:rPr>
              <a:t>代表の事務時間の</a:t>
            </a:r>
            <a:endParaRPr lang="en-US" sz="1000" dirty="0"/>
          </a:p>
          <a:p>
            <a:pPr algn="ctr" indent="0" marL="0">
              <a:buNone/>
            </a:pPr>
            <a:r>
              <a:rPr lang="en-US" sz="1000" dirty="0">
                <a:solidFill>
                  <a:srgbClr val="66776C"/>
                </a:solidFill>
                <a:latin typeface="Meiryo UI" pitchFamily="34" charset="0"/>
                <a:ea typeface="Meiryo UI" pitchFamily="34" charset="-122"/>
                <a:cs typeface="Meiryo UI" pitchFamily="34" charset="-120"/>
              </a:rPr>
              <a:t>削減目標</a:t>
            </a:r>
            <a:endParaRPr lang="en-US" sz="1000" dirty="0"/>
          </a:p>
        </p:txBody>
      </p:sp>
      <p:graphicFrame>
        <p:nvGraphicFramePr>
          <p:cNvPr id="49" name="Chart 0" descr=""/>
          <p:cNvGraphicFramePr/>
          <p:nvPr/>
        </p:nvGraphicFramePr>
        <p:xfrm>
          <a:off x="5852160" y="3840480"/>
          <a:ext cx="5790895" cy="2240280"/>
        </p:xfrm>
        <a:graphic xmlns:a="http://schemas.openxmlformats.org/drawingml/2006/main">
          <a:graphicData uri="http://schemas.openxmlformats.org/drawingml/2006/chart">
            <c:chart xmlns:c="http://schemas.openxmlformats.org/drawingml/2006/chart" r:id="rId1"/>
          </a:graphicData>
        </a:graphic>
      </p:graphicFrame>
      <p:sp>
        <p:nvSpPr>
          <p:cNvPr id="50" name="Text 47"/>
          <p:cNvSpPr txBox="1"/>
          <p:nvPr/>
        </p:nvSpPr>
        <p:spPr>
          <a:xfrm>
            <a:off x="5852160" y="6080760"/>
            <a:ext cx="5790895" cy="320040"/>
          </a:xfrm>
          <a:prstGeom prst="rect">
            <a:avLst/>
          </a:prstGeom>
          <a:noFill/>
          <a:ln/>
        </p:spPr>
        <p:txBody>
          <a:bodyPr wrap="square" lIns="0" tIns="0" rIns="0" bIns="0" rtlCol="0" anchor="t"/>
          <a:lstStyle/>
          <a:p>
            <a:pPr indent="0" marL="0">
              <a:buNone/>
            </a:pPr>
            <a:r>
              <a:rPr lang="en-US" sz="950" dirty="0">
                <a:solidFill>
                  <a:srgbClr val="66776C"/>
                </a:solidFill>
                <a:latin typeface="Meiryo UI" pitchFamily="34" charset="0"/>
                <a:ea typeface="Meiryo UI" pitchFamily="34" charset="-122"/>
                <a:cs typeface="Meiryo UI" pitchFamily="34" charset="-120"/>
              </a:rPr>
              <a:t>※受け入れ上限を超えない範囲で目標を調整します。退所・受託作業の開拓効果は含まない単純試算です。</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t"/>
          <a:lstStyle/>
          <a:p>
            <a:pPr indent="0" marL="0">
              <a:buNone/>
            </a:pPr>
            <a:r>
              <a:rPr lang="en-US" sz="1100" b="1" spc="200" kern="0" dirty="0">
                <a:solidFill>
                  <a:srgbClr val="B8652A"/>
                </a:solidFill>
                <a:latin typeface="Meiryo UI" pitchFamily="34" charset="0"/>
                <a:ea typeface="Meiryo UI" pitchFamily="34" charset="-122"/>
                <a:cs typeface="Meiryo UI" pitchFamily="34" charset="-120"/>
              </a:rPr>
              <a:t>07｜NEXT STEP</a:t>
            </a:r>
            <a:endParaRPr lang="en-US" sz="1100" dirty="0"/>
          </a:p>
        </p:txBody>
      </p:sp>
      <p:sp>
        <p:nvSpPr>
          <p:cNvPr id="3" name="Text 1"/>
          <p:cNvSpPr txBox="1"/>
          <p:nvPr/>
        </p:nvSpPr>
        <p:spPr>
          <a:xfrm>
            <a:off x="548640" y="621792"/>
            <a:ext cx="11094415" cy="566928"/>
          </a:xfrm>
          <a:prstGeom prst="rect">
            <a:avLst/>
          </a:prstGeom>
          <a:noFill/>
          <a:ln/>
        </p:spPr>
        <p:txBody>
          <a:bodyPr wrap="square" lIns="0" tIns="0" rIns="0" bIns="0" rtlCol="0" anchor="ctr"/>
          <a:lstStyle/>
          <a:p>
            <a:pPr indent="0" marL="0">
              <a:buNone/>
            </a:pPr>
            <a:r>
              <a:rPr lang="en-US" sz="2600" b="1" dirty="0">
                <a:solidFill>
                  <a:srgbClr val="46705A"/>
                </a:solidFill>
                <a:latin typeface="Meiryo UI" pitchFamily="34" charset="0"/>
                <a:ea typeface="Meiryo UI" pitchFamily="34" charset="-122"/>
                <a:cs typeface="Meiryo UI" pitchFamily="34" charset="-120"/>
              </a:rPr>
              <a:t>今後のスケジュール：次回お打ち合わせからご契約・本格始動へ</a:t>
            </a:r>
            <a:endParaRPr lang="en-US" sz="2600" dirty="0"/>
          </a:p>
        </p:txBody>
      </p:sp>
      <p:sp>
        <p:nvSpPr>
          <p:cNvPr id="4" name="Text 2"/>
          <p:cNvSpPr txBox="1"/>
          <p:nvPr/>
        </p:nvSpPr>
        <p:spPr>
          <a:xfrm>
            <a:off x="11094415" y="6419088"/>
            <a:ext cx="548640" cy="256032"/>
          </a:xfrm>
          <a:prstGeom prst="rect">
            <a:avLst/>
          </a:prstGeom>
          <a:noFill/>
          <a:ln/>
        </p:spPr>
        <p:txBody>
          <a:bodyPr wrap="square" lIns="0" tIns="0" rIns="0" bIns="0" rtlCol="0" anchor="t"/>
          <a:lstStyle/>
          <a:p>
            <a:pPr algn="r" indent="0" marL="0">
              <a:buNone/>
            </a:pPr>
            <a:r>
              <a:rPr lang="en-US" sz="1000" dirty="0">
                <a:solidFill>
                  <a:srgbClr val="7B857E"/>
                </a:solidFill>
                <a:latin typeface="Meiryo UI" pitchFamily="34" charset="0"/>
                <a:ea typeface="Meiryo UI" pitchFamily="34" charset="-122"/>
                <a:cs typeface="Meiryo UI" pitchFamily="34" charset="-120"/>
              </a:rPr>
              <a:t>33</a:t>
            </a:r>
            <a:endParaRPr lang="en-US" sz="1000" dirty="0"/>
          </a:p>
        </p:txBody>
      </p:sp>
      <p:sp>
        <p:nvSpPr>
          <p:cNvPr id="5" name="Text 3"/>
          <p:cNvSpPr txBox="1"/>
          <p:nvPr/>
        </p:nvSpPr>
        <p:spPr>
          <a:xfrm>
            <a:off x="548640" y="6419088"/>
            <a:ext cx="4572000" cy="256032"/>
          </a:xfrm>
          <a:prstGeom prst="rect">
            <a:avLst/>
          </a:prstGeom>
          <a:noFill/>
          <a:ln/>
        </p:spPr>
        <p:txBody>
          <a:bodyPr wrap="square" lIns="0" tIns="0" rIns="0" bIns="0" rtlCol="0" anchor="t"/>
          <a:lstStyle/>
          <a:p>
            <a:pPr indent="0" marL="0">
              <a:buNone/>
            </a:pPr>
            <a:r>
              <a:rPr lang="en-US" sz="900" dirty="0">
                <a:solidFill>
                  <a:srgbClr val="7B857E"/>
                </a:solidFill>
                <a:latin typeface="Meiryo UI" pitchFamily="34" charset="0"/>
                <a:ea typeface="Meiryo UI" pitchFamily="34" charset="-122"/>
                <a:cs typeface="Meiryo UI" pitchFamily="34" charset="-120"/>
              </a:rPr>
              <a:t>株式会社アイドマ・ホールディングス｜MiTok</a:t>
            </a:r>
            <a:endParaRPr lang="en-US" sz="900" dirty="0"/>
          </a:p>
        </p:txBody>
      </p:sp>
      <p:sp>
        <p:nvSpPr>
          <p:cNvPr id="6" name="Shape 4"/>
          <p:cNvSpPr/>
          <p:nvPr/>
        </p:nvSpPr>
        <p:spPr>
          <a:xfrm>
            <a:off x="1242041" y="1874520"/>
            <a:ext cx="9707613" cy="0"/>
          </a:xfrm>
          <a:prstGeom prst="line">
            <a:avLst/>
          </a:prstGeom>
          <a:noFill/>
          <a:ln w="25400">
            <a:solidFill>
              <a:srgbClr val="CBDDD0"/>
            </a:solidFill>
            <a:prstDash val="solid"/>
          </a:ln>
        </p:spPr>
      </p:sp>
      <p:sp>
        <p:nvSpPr>
          <p:cNvPr id="7" name="Shape 5"/>
          <p:cNvSpPr/>
          <p:nvPr/>
        </p:nvSpPr>
        <p:spPr>
          <a:xfrm>
            <a:off x="1086593" y="1719072"/>
            <a:ext cx="310896" cy="310896"/>
          </a:xfrm>
          <a:prstGeom prst="ellipse">
            <a:avLst/>
          </a:prstGeom>
          <a:solidFill>
            <a:srgbClr val="B8652A"/>
          </a:solidFill>
          <a:ln w="25400">
            <a:solidFill>
              <a:srgbClr val="FFFFFF"/>
            </a:solidFill>
            <a:prstDash val="solid"/>
          </a:ln>
        </p:spPr>
      </p:sp>
      <p:sp>
        <p:nvSpPr>
          <p:cNvPr id="8" name="Text 6"/>
          <p:cNvSpPr txBox="1"/>
          <p:nvPr/>
        </p:nvSpPr>
        <p:spPr>
          <a:xfrm>
            <a:off x="585216" y="2194560"/>
            <a:ext cx="1313650" cy="502920"/>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本日（9/29）</a:t>
            </a:r>
            <a:endParaRPr lang="en-US" sz="1200" dirty="0"/>
          </a:p>
        </p:txBody>
      </p:sp>
      <p:sp>
        <p:nvSpPr>
          <p:cNvPr id="9" name="Text 7"/>
          <p:cNvSpPr txBox="1"/>
          <p:nvPr/>
        </p:nvSpPr>
        <p:spPr>
          <a:xfrm>
            <a:off x="585216"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課題・現状数値の</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ヒアリング</a:t>
            </a:r>
            <a:endParaRPr lang="en-US" sz="1050" dirty="0"/>
          </a:p>
        </p:txBody>
      </p:sp>
      <p:sp>
        <p:nvSpPr>
          <p:cNvPr id="10" name="Shape 8"/>
          <p:cNvSpPr/>
          <p:nvPr/>
        </p:nvSpPr>
        <p:spPr>
          <a:xfrm>
            <a:off x="2473395" y="1719072"/>
            <a:ext cx="310896" cy="310896"/>
          </a:xfrm>
          <a:prstGeom prst="ellipse">
            <a:avLst/>
          </a:prstGeom>
          <a:solidFill>
            <a:srgbClr val="B8652A"/>
          </a:solidFill>
          <a:ln w="25400">
            <a:solidFill>
              <a:srgbClr val="FFFFFF"/>
            </a:solidFill>
            <a:prstDash val="solid"/>
          </a:ln>
        </p:spPr>
      </p:sp>
      <p:sp>
        <p:nvSpPr>
          <p:cNvPr id="11" name="Text 9"/>
          <p:cNvSpPr txBox="1"/>
          <p:nvPr/>
        </p:nvSpPr>
        <p:spPr>
          <a:xfrm>
            <a:off x="1972018" y="2194560"/>
            <a:ext cx="1313650" cy="502920"/>
          </a:xfrm>
          <a:prstGeom prst="rect">
            <a:avLst/>
          </a:prstGeom>
          <a:noFill/>
          <a:ln/>
        </p:spPr>
        <p:txBody>
          <a:bodyPr wrap="square" lIns="0" tIns="0" rIns="0" bIns="0" rtlCol="0" anchor="ctr"/>
          <a:lstStyle/>
          <a:p>
            <a:pPr algn="ctr" indent="0" marL="0">
              <a:buNone/>
            </a:pPr>
            <a:r>
              <a:rPr lang="en-US" sz="1200" b="1" dirty="0">
                <a:solidFill>
                  <a:srgbClr val="B8652A"/>
                </a:solidFill>
                <a:latin typeface="Meiryo UI" pitchFamily="34" charset="0"/>
                <a:ea typeface="Meiryo UI" pitchFamily="34" charset="-122"/>
                <a:cs typeface="Meiryo UI" pitchFamily="34" charset="-120"/>
              </a:rPr>
              <a:t>次回打ち合わせ</a:t>
            </a:r>
            <a:endParaRPr lang="en-US" sz="1200" dirty="0"/>
          </a:p>
        </p:txBody>
      </p:sp>
      <p:sp>
        <p:nvSpPr>
          <p:cNvPr id="12" name="Text 10"/>
          <p:cNvSpPr txBox="1"/>
          <p:nvPr/>
        </p:nvSpPr>
        <p:spPr>
          <a:xfrm>
            <a:off x="1972018"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試算の確定</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目標合意・正式提案</a:t>
            </a:r>
            <a:endParaRPr lang="en-US" sz="1050" dirty="0"/>
          </a:p>
        </p:txBody>
      </p:sp>
      <p:sp>
        <p:nvSpPr>
          <p:cNvPr id="13" name="Shape 11"/>
          <p:cNvSpPr/>
          <p:nvPr/>
        </p:nvSpPr>
        <p:spPr>
          <a:xfrm>
            <a:off x="3860197" y="1719072"/>
            <a:ext cx="310896" cy="310896"/>
          </a:xfrm>
          <a:prstGeom prst="ellipse">
            <a:avLst/>
          </a:prstGeom>
          <a:solidFill>
            <a:srgbClr val="46705A"/>
          </a:solidFill>
          <a:ln w="25400">
            <a:solidFill>
              <a:srgbClr val="FFFFFF"/>
            </a:solidFill>
            <a:prstDash val="solid"/>
          </a:ln>
        </p:spPr>
      </p:sp>
      <p:sp>
        <p:nvSpPr>
          <p:cNvPr id="14" name="Text 12"/>
          <p:cNvSpPr txBox="1"/>
          <p:nvPr/>
        </p:nvSpPr>
        <p:spPr>
          <a:xfrm>
            <a:off x="3358820" y="2194560"/>
            <a:ext cx="1313650" cy="502920"/>
          </a:xfrm>
          <a:prstGeom prst="rect">
            <a:avLst/>
          </a:prstGeom>
          <a:noFill/>
          <a:ln/>
        </p:spPr>
        <p:txBody>
          <a:bodyPr wrap="square" lIns="0" tIns="0" rIns="0" bIns="0" rtlCol="0" anchor="ctr"/>
          <a:lstStyle/>
          <a:p>
            <a:pPr algn="ctr" indent="0" marL="0">
              <a:buNone/>
            </a:pPr>
            <a:r>
              <a:rPr lang="en-US" sz="1200" b="1" dirty="0">
                <a:solidFill>
                  <a:srgbClr val="46705A"/>
                </a:solidFill>
                <a:latin typeface="Meiryo UI" pitchFamily="34" charset="0"/>
                <a:ea typeface="Meiryo UI" pitchFamily="34" charset="-122"/>
                <a:cs typeface="Meiryo UI" pitchFamily="34" charset="-120"/>
              </a:rPr>
              <a:t>ご契約〜1週間</a:t>
            </a:r>
            <a:endParaRPr lang="en-US" sz="1200" dirty="0"/>
          </a:p>
        </p:txBody>
      </p:sp>
      <p:sp>
        <p:nvSpPr>
          <p:cNvPr id="15" name="Text 13"/>
          <p:cNvSpPr txBox="1"/>
          <p:nvPr/>
        </p:nvSpPr>
        <p:spPr>
          <a:xfrm>
            <a:off x="3358820"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キックオフ</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KPI設定・素材確認</a:t>
            </a:r>
            <a:endParaRPr lang="en-US" sz="1050" dirty="0"/>
          </a:p>
        </p:txBody>
      </p:sp>
      <p:sp>
        <p:nvSpPr>
          <p:cNvPr id="16" name="Shape 14"/>
          <p:cNvSpPr/>
          <p:nvPr/>
        </p:nvSpPr>
        <p:spPr>
          <a:xfrm>
            <a:off x="5246999" y="1719072"/>
            <a:ext cx="310896" cy="310896"/>
          </a:xfrm>
          <a:prstGeom prst="ellipse">
            <a:avLst/>
          </a:prstGeom>
          <a:solidFill>
            <a:srgbClr val="46705A"/>
          </a:solidFill>
          <a:ln w="25400">
            <a:solidFill>
              <a:srgbClr val="FFFFFF"/>
            </a:solidFill>
            <a:prstDash val="solid"/>
          </a:ln>
        </p:spPr>
      </p:sp>
      <p:sp>
        <p:nvSpPr>
          <p:cNvPr id="17" name="Text 15"/>
          <p:cNvSpPr txBox="1"/>
          <p:nvPr/>
        </p:nvSpPr>
        <p:spPr>
          <a:xfrm>
            <a:off x="4745622" y="2194560"/>
            <a:ext cx="1313650" cy="502920"/>
          </a:xfrm>
          <a:prstGeom prst="rect">
            <a:avLst/>
          </a:prstGeom>
          <a:noFill/>
          <a:ln/>
        </p:spPr>
        <p:txBody>
          <a:bodyPr wrap="square" lIns="0" tIns="0" rIns="0" bIns="0" rtlCol="0" anchor="ctr"/>
          <a:lstStyle/>
          <a:p>
            <a:pPr algn="ctr" indent="0" marL="0">
              <a:buNone/>
            </a:pPr>
            <a:r>
              <a:rPr lang="en-US" sz="1200" b="1" dirty="0">
                <a:solidFill>
                  <a:srgbClr val="46705A"/>
                </a:solidFill>
                <a:latin typeface="Meiryo UI" pitchFamily="34" charset="0"/>
                <a:ea typeface="Meiryo UI" pitchFamily="34" charset="-122"/>
                <a:cs typeface="Meiryo UI" pitchFamily="34" charset="-120"/>
              </a:rPr>
              <a:t>〜2週間</a:t>
            </a:r>
            <a:endParaRPr lang="en-US" sz="1200" dirty="0"/>
          </a:p>
        </p:txBody>
      </p:sp>
      <p:sp>
        <p:nvSpPr>
          <p:cNvPr id="18" name="Text 16"/>
          <p:cNvSpPr txBox="1"/>
          <p:nvPr/>
        </p:nvSpPr>
        <p:spPr>
          <a:xfrm>
            <a:off x="4745622"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無料3本の制作</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事務の棚卸し開始</a:t>
            </a:r>
            <a:endParaRPr lang="en-US" sz="1050" dirty="0"/>
          </a:p>
        </p:txBody>
      </p:sp>
      <p:sp>
        <p:nvSpPr>
          <p:cNvPr id="19" name="Shape 17"/>
          <p:cNvSpPr/>
          <p:nvPr/>
        </p:nvSpPr>
        <p:spPr>
          <a:xfrm>
            <a:off x="6633801" y="1719072"/>
            <a:ext cx="310896" cy="310896"/>
          </a:xfrm>
          <a:prstGeom prst="ellipse">
            <a:avLst/>
          </a:prstGeom>
          <a:solidFill>
            <a:srgbClr val="46705A"/>
          </a:solidFill>
          <a:ln w="25400">
            <a:solidFill>
              <a:srgbClr val="FFFFFF"/>
            </a:solidFill>
            <a:prstDash val="solid"/>
          </a:ln>
        </p:spPr>
      </p:sp>
      <p:sp>
        <p:nvSpPr>
          <p:cNvPr id="20" name="Text 18"/>
          <p:cNvSpPr txBox="1"/>
          <p:nvPr/>
        </p:nvSpPr>
        <p:spPr>
          <a:xfrm>
            <a:off x="6132424" y="2194560"/>
            <a:ext cx="1313650" cy="502920"/>
          </a:xfrm>
          <a:prstGeom prst="rect">
            <a:avLst/>
          </a:prstGeom>
          <a:noFill/>
          <a:ln/>
        </p:spPr>
        <p:txBody>
          <a:bodyPr wrap="square" lIns="0" tIns="0" rIns="0" bIns="0" rtlCol="0" anchor="ctr"/>
          <a:lstStyle/>
          <a:p>
            <a:pPr algn="ctr" indent="0" marL="0">
              <a:buNone/>
            </a:pPr>
            <a:r>
              <a:rPr lang="en-US" sz="1200" b="1" dirty="0">
                <a:solidFill>
                  <a:srgbClr val="46705A"/>
                </a:solidFill>
                <a:latin typeface="Meiryo UI" pitchFamily="34" charset="0"/>
                <a:ea typeface="Meiryo UI" pitchFamily="34" charset="-122"/>
                <a:cs typeface="Meiryo UI" pitchFamily="34" charset="-120"/>
              </a:rPr>
              <a:t>3〜5週目</a:t>
            </a:r>
            <a:endParaRPr lang="en-US" sz="1200" dirty="0"/>
          </a:p>
        </p:txBody>
      </p:sp>
      <p:sp>
        <p:nvSpPr>
          <p:cNvPr id="21" name="Text 19"/>
          <p:cNvSpPr txBox="1"/>
          <p:nvPr/>
        </p:nvSpPr>
        <p:spPr>
          <a:xfrm>
            <a:off x="6132424"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配信・送付の実行</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（KPI計測開始）</a:t>
            </a:r>
            <a:endParaRPr lang="en-US" sz="1050" dirty="0"/>
          </a:p>
        </p:txBody>
      </p:sp>
      <p:sp>
        <p:nvSpPr>
          <p:cNvPr id="22" name="Shape 20"/>
          <p:cNvSpPr/>
          <p:nvPr/>
        </p:nvSpPr>
        <p:spPr>
          <a:xfrm>
            <a:off x="8020602" y="1719072"/>
            <a:ext cx="310896" cy="310896"/>
          </a:xfrm>
          <a:prstGeom prst="ellipse">
            <a:avLst/>
          </a:prstGeom>
          <a:solidFill>
            <a:srgbClr val="46705A"/>
          </a:solidFill>
          <a:ln w="25400">
            <a:solidFill>
              <a:srgbClr val="FFFFFF"/>
            </a:solidFill>
            <a:prstDash val="solid"/>
          </a:ln>
        </p:spPr>
      </p:sp>
      <p:sp>
        <p:nvSpPr>
          <p:cNvPr id="23" name="Text 21"/>
          <p:cNvSpPr txBox="1"/>
          <p:nvPr/>
        </p:nvSpPr>
        <p:spPr>
          <a:xfrm>
            <a:off x="7519226" y="2194560"/>
            <a:ext cx="1313650" cy="502920"/>
          </a:xfrm>
          <a:prstGeom prst="rect">
            <a:avLst/>
          </a:prstGeom>
          <a:noFill/>
          <a:ln/>
        </p:spPr>
        <p:txBody>
          <a:bodyPr wrap="square" lIns="0" tIns="0" rIns="0" bIns="0" rtlCol="0" anchor="ctr"/>
          <a:lstStyle/>
          <a:p>
            <a:pPr algn="ctr" indent="0" marL="0">
              <a:buNone/>
            </a:pPr>
            <a:r>
              <a:rPr lang="en-US" sz="1200" b="1" dirty="0">
                <a:solidFill>
                  <a:srgbClr val="46705A"/>
                </a:solidFill>
                <a:latin typeface="Meiryo UI" pitchFamily="34" charset="0"/>
                <a:ea typeface="Meiryo UI" pitchFamily="34" charset="-122"/>
                <a:cs typeface="Meiryo UI" pitchFamily="34" charset="-120"/>
              </a:rPr>
              <a:t>6週目</a:t>
            </a:r>
            <a:endParaRPr lang="en-US" sz="1200" dirty="0"/>
          </a:p>
        </p:txBody>
      </p:sp>
      <p:sp>
        <p:nvSpPr>
          <p:cNvPr id="24" name="Text 22"/>
          <p:cNvSpPr txBox="1"/>
          <p:nvPr/>
        </p:nvSpPr>
        <p:spPr>
          <a:xfrm>
            <a:off x="7519226"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効果検証レポート会</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 フェーズ2へ</a:t>
            </a:r>
            <a:endParaRPr lang="en-US" sz="1050" dirty="0"/>
          </a:p>
        </p:txBody>
      </p:sp>
      <p:sp>
        <p:nvSpPr>
          <p:cNvPr id="25" name="Shape 23"/>
          <p:cNvSpPr/>
          <p:nvPr/>
        </p:nvSpPr>
        <p:spPr>
          <a:xfrm>
            <a:off x="9407404" y="1719072"/>
            <a:ext cx="310896" cy="310896"/>
          </a:xfrm>
          <a:prstGeom prst="ellipse">
            <a:avLst/>
          </a:prstGeom>
          <a:solidFill>
            <a:srgbClr val="2F4D3D"/>
          </a:solidFill>
          <a:ln w="25400">
            <a:solidFill>
              <a:srgbClr val="FFFFFF"/>
            </a:solidFill>
            <a:prstDash val="solid"/>
          </a:ln>
        </p:spPr>
      </p:sp>
      <p:sp>
        <p:nvSpPr>
          <p:cNvPr id="26" name="Text 24"/>
          <p:cNvSpPr txBox="1"/>
          <p:nvPr/>
        </p:nvSpPr>
        <p:spPr>
          <a:xfrm>
            <a:off x="8906027" y="2194560"/>
            <a:ext cx="1313650" cy="502920"/>
          </a:xfrm>
          <a:prstGeom prst="rect">
            <a:avLst/>
          </a:prstGeom>
          <a:noFill/>
          <a:ln/>
        </p:spPr>
        <p:txBody>
          <a:bodyPr wrap="square" lIns="0" tIns="0" rIns="0" bIns="0" rtlCol="0" anchor="ctr"/>
          <a:lstStyle/>
          <a:p>
            <a:pPr algn="ctr" indent="0" marL="0">
              <a:buNone/>
            </a:pPr>
            <a:r>
              <a:rPr lang="en-US" sz="1200" b="1" dirty="0">
                <a:solidFill>
                  <a:srgbClr val="2F4D3D"/>
                </a:solidFill>
                <a:latin typeface="Meiryo UI" pitchFamily="34" charset="0"/>
                <a:ea typeface="Meiryo UI" pitchFamily="34" charset="-122"/>
                <a:cs typeface="Meiryo UI" pitchFamily="34" charset="-120"/>
              </a:rPr>
              <a:t>2027年4月</a:t>
            </a:r>
            <a:endParaRPr lang="en-US" sz="1200" dirty="0"/>
          </a:p>
        </p:txBody>
      </p:sp>
      <p:sp>
        <p:nvSpPr>
          <p:cNvPr id="27" name="Text 25"/>
          <p:cNvSpPr txBox="1"/>
          <p:nvPr/>
        </p:nvSpPr>
        <p:spPr>
          <a:xfrm>
            <a:off x="8906027"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新年度</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GH立ち上げ</a:t>
            </a:r>
            <a:endParaRPr lang="en-US" sz="1050" dirty="0"/>
          </a:p>
        </p:txBody>
      </p:sp>
      <p:sp>
        <p:nvSpPr>
          <p:cNvPr id="28" name="Shape 26"/>
          <p:cNvSpPr/>
          <p:nvPr/>
        </p:nvSpPr>
        <p:spPr>
          <a:xfrm>
            <a:off x="10794206" y="1719072"/>
            <a:ext cx="310896" cy="310896"/>
          </a:xfrm>
          <a:prstGeom prst="ellipse">
            <a:avLst/>
          </a:prstGeom>
          <a:solidFill>
            <a:srgbClr val="2F4D3D"/>
          </a:solidFill>
          <a:ln w="25400">
            <a:solidFill>
              <a:srgbClr val="FFFFFF"/>
            </a:solidFill>
            <a:prstDash val="solid"/>
          </a:ln>
        </p:spPr>
      </p:sp>
      <p:sp>
        <p:nvSpPr>
          <p:cNvPr id="29" name="Text 27"/>
          <p:cNvSpPr txBox="1"/>
          <p:nvPr/>
        </p:nvSpPr>
        <p:spPr>
          <a:xfrm>
            <a:off x="10292829" y="2194560"/>
            <a:ext cx="1313650" cy="502920"/>
          </a:xfrm>
          <a:prstGeom prst="rect">
            <a:avLst/>
          </a:prstGeom>
          <a:noFill/>
          <a:ln/>
        </p:spPr>
        <p:txBody>
          <a:bodyPr wrap="square" lIns="0" tIns="0" rIns="0" bIns="0" rtlCol="0" anchor="ctr"/>
          <a:lstStyle/>
          <a:p>
            <a:pPr algn="ctr" indent="0" marL="0">
              <a:buNone/>
            </a:pPr>
            <a:r>
              <a:rPr lang="en-US" sz="1200" b="1" dirty="0">
                <a:solidFill>
                  <a:srgbClr val="2F4D3D"/>
                </a:solidFill>
                <a:latin typeface="Meiryo UI" pitchFamily="34" charset="0"/>
                <a:ea typeface="Meiryo UI" pitchFamily="34" charset="-122"/>
                <a:cs typeface="Meiryo UI" pitchFamily="34" charset="-120"/>
              </a:rPr>
              <a:t>12ヶ月目</a:t>
            </a:r>
            <a:endParaRPr lang="en-US" sz="1200" dirty="0"/>
          </a:p>
        </p:txBody>
      </p:sp>
      <p:sp>
        <p:nvSpPr>
          <p:cNvPr id="30" name="Text 28"/>
          <p:cNvSpPr txBox="1"/>
          <p:nvPr/>
        </p:nvSpPr>
        <p:spPr>
          <a:xfrm>
            <a:off x="10292829" y="2697480"/>
            <a:ext cx="1313650" cy="731520"/>
          </a:xfrm>
          <a:prstGeom prst="rect">
            <a:avLst/>
          </a:prstGeom>
          <a:noFill/>
          <a:ln/>
        </p:spPr>
        <p:txBody>
          <a:bodyPr wrap="square" lIns="0" tIns="0" rIns="0" bIns="0" rtlCol="0" anchor="t"/>
          <a:lstStyle/>
          <a:p>
            <a:pPr algn="ctr" indent="0" marL="0">
              <a:buNone/>
            </a:pPr>
            <a:r>
              <a:rPr lang="en-US" sz="1050" dirty="0">
                <a:solidFill>
                  <a:srgbClr val="2A322D"/>
                </a:solidFill>
                <a:latin typeface="Meiryo UI" pitchFamily="34" charset="0"/>
                <a:ea typeface="Meiryo UI" pitchFamily="34" charset="-122"/>
                <a:cs typeface="Meiryo UI" pitchFamily="34" charset="-120"/>
              </a:rPr>
              <a:t>年間振り返り</a:t>
            </a:r>
            <a:endParaRPr lang="en-US" sz="1050" dirty="0"/>
          </a:p>
          <a:p>
            <a:pPr algn="ctr" indent="0" marL="0">
              <a:buNone/>
            </a:pPr>
            <a:r>
              <a:rPr lang="en-US" sz="1050" dirty="0">
                <a:solidFill>
                  <a:srgbClr val="2A322D"/>
                </a:solidFill>
                <a:latin typeface="Meiryo UI" pitchFamily="34" charset="0"/>
                <a:ea typeface="Meiryo UI" pitchFamily="34" charset="-122"/>
                <a:cs typeface="Meiryo UI" pitchFamily="34" charset="-120"/>
              </a:rPr>
              <a:t>次年度計画</a:t>
            </a:r>
            <a:endParaRPr lang="en-US" sz="1050" dirty="0"/>
          </a:p>
        </p:txBody>
      </p:sp>
      <p:sp>
        <p:nvSpPr>
          <p:cNvPr id="31" name="Shape 29"/>
          <p:cNvSpPr/>
          <p:nvPr/>
        </p:nvSpPr>
        <p:spPr>
          <a:xfrm>
            <a:off x="1981162" y="1463040"/>
            <a:ext cx="1295362" cy="2057400"/>
          </a:xfrm>
          <a:prstGeom prst="roundRect">
            <a:avLst>
              <a:gd name="adj" fmla="val 7059"/>
            </a:avLst>
          </a:prstGeom>
          <a:solidFill>
            <a:srgbClr val="B8652A">
              <a:alpha val="12000"/>
            </a:srgbClr>
          </a:solidFill>
          <a:ln w="15875">
            <a:solidFill>
              <a:srgbClr val="B8652A"/>
            </a:solidFill>
            <a:prstDash val="dash"/>
          </a:ln>
        </p:spPr>
      </p:sp>
      <p:sp>
        <p:nvSpPr>
          <p:cNvPr id="32" name="Shape 30"/>
          <p:cNvSpPr/>
          <p:nvPr/>
        </p:nvSpPr>
        <p:spPr>
          <a:xfrm>
            <a:off x="548640" y="3931920"/>
            <a:ext cx="5410048" cy="2011680"/>
          </a:xfrm>
          <a:prstGeom prst="roundRect">
            <a:avLst>
              <a:gd name="adj" fmla="val 5455"/>
            </a:avLst>
          </a:prstGeom>
          <a:solidFill>
            <a:srgbClr val="FBEFE4"/>
          </a:solidFill>
          <a:ln w="12700">
            <a:solidFill>
              <a:srgbClr val="FBEFE4"/>
            </a:solidFill>
            <a:prstDash val="solid"/>
          </a:ln>
        </p:spPr>
      </p:sp>
      <p:sp>
        <p:nvSpPr>
          <p:cNvPr id="33" name="Shape 31"/>
          <p:cNvSpPr/>
          <p:nvPr/>
        </p:nvSpPr>
        <p:spPr>
          <a:xfrm>
            <a:off x="822960" y="4160520"/>
            <a:ext cx="548640" cy="548640"/>
          </a:xfrm>
          <a:prstGeom prst="ellipse">
            <a:avLst/>
          </a:prstGeom>
          <a:solidFill>
            <a:srgbClr val="B8652A"/>
          </a:solidFill>
          <a:ln w="12700">
            <a:solidFill>
              <a:srgbClr val="B8652A"/>
            </a:solidFill>
            <a:prstDash val="solid"/>
          </a:ln>
        </p:spPr>
      </p:sp>
      <p:pic>
        <p:nvPicPr>
          <p:cNvPr id="34" name="Image 0" descr="preencoded.png">    </p:cNvPr>
          <p:cNvPicPr>
            <a:picLocks noChangeAspect="1"/>
          </p:cNvPicPr>
          <p:nvPr/>
        </p:nvPicPr>
        <p:blipFill>
          <a:blip r:embed="rId1"/>
          <a:stretch>
            <a:fillRect/>
          </a:stretch>
        </p:blipFill>
        <p:spPr>
          <a:xfrm>
            <a:off x="965606" y="4303166"/>
            <a:ext cx="263347" cy="263347"/>
          </a:xfrm>
          <a:prstGeom prst="rect">
            <a:avLst/>
          </a:prstGeom>
        </p:spPr>
      </p:pic>
      <p:sp>
        <p:nvSpPr>
          <p:cNvPr id="35" name="Text 32"/>
          <p:cNvSpPr txBox="1"/>
          <p:nvPr/>
        </p:nvSpPr>
        <p:spPr>
          <a:xfrm>
            <a:off x="1508760" y="4160520"/>
            <a:ext cx="4267048" cy="548640"/>
          </a:xfrm>
          <a:prstGeom prst="rect">
            <a:avLst/>
          </a:prstGeom>
          <a:noFill/>
          <a:ln/>
        </p:spPr>
        <p:txBody>
          <a:bodyPr wrap="square" lIns="0" tIns="0" rIns="0" bIns="0" rtlCol="0" anchor="ctr"/>
          <a:lstStyle/>
          <a:p>
            <a:pPr indent="0" marL="0">
              <a:buNone/>
            </a:pPr>
            <a:r>
              <a:rPr lang="en-US" sz="1400" b="1" dirty="0">
                <a:solidFill>
                  <a:srgbClr val="2F4D3D"/>
                </a:solidFill>
                <a:latin typeface="Meiryo UI" pitchFamily="34" charset="0"/>
                <a:ea typeface="Meiryo UI" pitchFamily="34" charset="-122"/>
                <a:cs typeface="Meiryo UI" pitchFamily="34" charset="-120"/>
              </a:rPr>
              <a:t>次回までに貴法人にご準備いただきたいこと</a:t>
            </a:r>
            <a:endParaRPr lang="en-US" sz="1400" dirty="0"/>
          </a:p>
        </p:txBody>
      </p:sp>
      <p:sp>
        <p:nvSpPr>
          <p:cNvPr id="36" name="Text 33"/>
          <p:cNvSpPr txBox="1"/>
          <p:nvPr/>
        </p:nvSpPr>
        <p:spPr>
          <a:xfrm>
            <a:off x="868680"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22D"/>
                </a:solidFill>
                <a:latin typeface="Meiryo UI" pitchFamily="34" charset="0"/>
                <a:ea typeface="Meiryo UI" pitchFamily="34" charset="-122"/>
                <a:cs typeface="Meiryo UI" pitchFamily="34" charset="-120"/>
              </a:rPr>
              <a:t>現状数値（利用者数・年齢構成・見学相談数）</a:t>
            </a:r>
            <a:endParaRPr lang="en-US" sz="1250" dirty="0"/>
          </a:p>
          <a:p>
            <a:pPr marL="342900" indent="-342900">
              <a:spcAft>
                <a:spcPts val="600"/>
              </a:spcAft>
              <a:buSzPct val="100000"/>
              <a:buChar char="•"/>
            </a:pPr>
            <a:r>
              <a:rPr lang="en-US" sz="1250" dirty="0">
                <a:solidFill>
                  <a:srgbClr val="2A322D"/>
                </a:solidFill>
                <a:latin typeface="Meiryo UI" pitchFamily="34" charset="0"/>
                <a:ea typeface="Meiryo UI" pitchFamily="34" charset="-122"/>
                <a:cs typeface="Meiryo UI" pitchFamily="34" charset="-120"/>
              </a:rPr>
              <a:t>代表の事務作業の一覧と、おおよその所要時間</a:t>
            </a:r>
            <a:endParaRPr lang="en-US" sz="1250" dirty="0"/>
          </a:p>
          <a:p>
            <a:pPr marL="342900" indent="-342900">
              <a:spcAft>
                <a:spcPts val="600"/>
              </a:spcAft>
              <a:buSzPct val="100000"/>
              <a:buChar char="•"/>
            </a:pPr>
            <a:r>
              <a:rPr lang="en-US" sz="1250" dirty="0">
                <a:solidFill>
                  <a:srgbClr val="2A322D"/>
                </a:solidFill>
                <a:latin typeface="Meiryo UI" pitchFamily="34" charset="0"/>
                <a:ea typeface="Meiryo UI" pitchFamily="34" charset="-122"/>
                <a:cs typeface="Meiryo UI" pitchFamily="34" charset="-120"/>
              </a:rPr>
              <a:t>GH立ち上げ計画と、使える予算・補助金の範囲</a:t>
            </a:r>
            <a:endParaRPr lang="en-US" sz="1250" dirty="0"/>
          </a:p>
        </p:txBody>
      </p:sp>
      <p:sp>
        <p:nvSpPr>
          <p:cNvPr id="37" name="Shape 34"/>
          <p:cNvSpPr/>
          <p:nvPr/>
        </p:nvSpPr>
        <p:spPr>
          <a:xfrm>
            <a:off x="6233008" y="3931920"/>
            <a:ext cx="5410048" cy="2011680"/>
          </a:xfrm>
          <a:prstGeom prst="roundRect">
            <a:avLst>
              <a:gd name="adj" fmla="val 5455"/>
            </a:avLst>
          </a:prstGeom>
          <a:solidFill>
            <a:srgbClr val="EDF3EF"/>
          </a:solidFill>
          <a:ln w="12700">
            <a:solidFill>
              <a:srgbClr val="EDF3EF"/>
            </a:solidFill>
            <a:prstDash val="solid"/>
          </a:ln>
        </p:spPr>
      </p:sp>
      <p:sp>
        <p:nvSpPr>
          <p:cNvPr id="38" name="Shape 35"/>
          <p:cNvSpPr/>
          <p:nvPr/>
        </p:nvSpPr>
        <p:spPr>
          <a:xfrm>
            <a:off x="6507328" y="4160520"/>
            <a:ext cx="548640" cy="548640"/>
          </a:xfrm>
          <a:prstGeom prst="ellipse">
            <a:avLst/>
          </a:prstGeom>
          <a:solidFill>
            <a:srgbClr val="46705A"/>
          </a:solidFill>
          <a:ln w="12700">
            <a:solidFill>
              <a:srgbClr val="46705A"/>
            </a:solidFill>
            <a:prstDash val="solid"/>
          </a:ln>
        </p:spPr>
      </p:sp>
      <p:pic>
        <p:nvPicPr>
          <p:cNvPr id="39" name="Image 1" descr="preencoded.png">    </p:cNvPr>
          <p:cNvPicPr>
            <a:picLocks noChangeAspect="1"/>
          </p:cNvPicPr>
          <p:nvPr/>
        </p:nvPicPr>
        <p:blipFill>
          <a:blip r:embed="rId2"/>
          <a:stretch>
            <a:fillRect/>
          </a:stretch>
        </p:blipFill>
        <p:spPr>
          <a:xfrm>
            <a:off x="6649974" y="4303166"/>
            <a:ext cx="263347" cy="263347"/>
          </a:xfrm>
          <a:prstGeom prst="rect">
            <a:avLst/>
          </a:prstGeom>
        </p:spPr>
      </p:pic>
      <p:sp>
        <p:nvSpPr>
          <p:cNvPr id="40" name="Text 36"/>
          <p:cNvSpPr txBox="1"/>
          <p:nvPr/>
        </p:nvSpPr>
        <p:spPr>
          <a:xfrm>
            <a:off x="7193128" y="4160520"/>
            <a:ext cx="4267048" cy="548640"/>
          </a:xfrm>
          <a:prstGeom prst="rect">
            <a:avLst/>
          </a:prstGeom>
          <a:noFill/>
          <a:ln/>
        </p:spPr>
        <p:txBody>
          <a:bodyPr wrap="square" lIns="0" tIns="0" rIns="0" bIns="0" rtlCol="0" anchor="ctr"/>
          <a:lstStyle/>
          <a:p>
            <a:pPr indent="0" marL="0">
              <a:buNone/>
            </a:pPr>
            <a:r>
              <a:rPr lang="en-US" sz="1400" b="1" dirty="0">
                <a:solidFill>
                  <a:srgbClr val="2F4D3D"/>
                </a:solidFill>
                <a:latin typeface="Meiryo UI" pitchFamily="34" charset="0"/>
                <a:ea typeface="Meiryo UI" pitchFamily="34" charset="-122"/>
                <a:cs typeface="Meiryo UI" pitchFamily="34" charset="-120"/>
              </a:rPr>
              <a:t>次回お打ち合わせで弊社がご提示するもの</a:t>
            </a:r>
            <a:endParaRPr lang="en-US" sz="1400" dirty="0"/>
          </a:p>
        </p:txBody>
      </p:sp>
      <p:sp>
        <p:nvSpPr>
          <p:cNvPr id="41" name="Text 37"/>
          <p:cNvSpPr txBox="1"/>
          <p:nvPr/>
        </p:nvSpPr>
        <p:spPr>
          <a:xfrm>
            <a:off x="6553048" y="4846320"/>
            <a:ext cx="4769968" cy="10058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2A322D"/>
                </a:solidFill>
                <a:latin typeface="Meiryo UI" pitchFamily="34" charset="0"/>
                <a:ea typeface="Meiryo UI" pitchFamily="34" charset="-122"/>
                <a:cs typeface="Meiryo UI" pitchFamily="34" charset="-120"/>
              </a:rPr>
              <a:t>実数値を反映した目標値シミュレーション（確定版）</a:t>
            </a:r>
            <a:endParaRPr lang="en-US" sz="1250" dirty="0"/>
          </a:p>
          <a:p>
            <a:pPr marL="342900" indent="-342900">
              <a:spcAft>
                <a:spcPts val="600"/>
              </a:spcAft>
              <a:buSzPct val="100000"/>
              <a:buChar char="•"/>
            </a:pPr>
            <a:r>
              <a:rPr lang="en-US" sz="1250" dirty="0">
                <a:solidFill>
                  <a:srgbClr val="2A322D"/>
                </a:solidFill>
                <a:latin typeface="Meiryo UI" pitchFamily="34" charset="0"/>
                <a:ea typeface="Meiryo UI" pitchFamily="34" charset="-122"/>
                <a:cs typeface="Meiryo UI" pitchFamily="34" charset="-120"/>
              </a:rPr>
              <a:t>無料3本の台本ドラフト</a:t>
            </a:r>
            <a:endParaRPr lang="en-US" sz="1250" dirty="0"/>
          </a:p>
          <a:p>
            <a:pPr marL="342900" indent="-342900">
              <a:spcAft>
                <a:spcPts val="600"/>
              </a:spcAft>
              <a:buSzPct val="100000"/>
              <a:buChar char="•"/>
            </a:pPr>
            <a:r>
              <a:rPr lang="en-US" sz="1250" dirty="0">
                <a:solidFill>
                  <a:srgbClr val="2A322D"/>
                </a:solidFill>
                <a:latin typeface="Meiryo UI" pitchFamily="34" charset="0"/>
                <a:ea typeface="Meiryo UI" pitchFamily="34" charset="-122"/>
                <a:cs typeface="Meiryo UI" pitchFamily="34" charset="-120"/>
              </a:rPr>
              <a:t>事務代行・実働支援の具体プラン（最小構成から）</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F4D3D"/>
        </a:solidFill>
      </p:bgPr>
    </p:bg>
    <p:spTree>
      <p:nvGrpSpPr>
        <p:cNvPr id="1" name=""/>
        <p:cNvGrpSpPr/>
        <p:nvPr/>
      </p:nvGrpSpPr>
      <p:grpSpPr>
        <a:xfrm>
          <a:off x="0" y="0"/>
          <a:ext cx="0" cy="0"/>
          <a:chOff x="0" y="0"/>
          <a:chExt cx="0" cy="0"/>
        </a:xfrm>
      </p:grpSpPr>
      <p:sp>
        <p:nvSpPr>
          <p:cNvPr id="2" name="Shape 0"/>
          <p:cNvSpPr/>
          <p:nvPr/>
        </p:nvSpPr>
        <p:spPr>
          <a:xfrm>
            <a:off x="-1097280" y="3840480"/>
            <a:ext cx="4114800" cy="4114800"/>
          </a:xfrm>
          <a:prstGeom prst="ellipse">
            <a:avLst/>
          </a:prstGeom>
          <a:solidFill>
            <a:srgbClr val="46705A"/>
          </a:solidFill>
          <a:ln w="12700">
            <a:solidFill>
              <a:srgbClr val="46705A"/>
            </a:solidFill>
            <a:prstDash val="solid"/>
          </a:ln>
        </p:spPr>
      </p:sp>
      <p:sp>
        <p:nvSpPr>
          <p:cNvPr id="3" name="Shape 1"/>
          <p:cNvSpPr/>
          <p:nvPr/>
        </p:nvSpPr>
        <p:spPr>
          <a:xfrm>
            <a:off x="10332720" y="-731520"/>
            <a:ext cx="2377440" cy="2377440"/>
          </a:xfrm>
          <a:prstGeom prst="ellipse">
            <a:avLst/>
          </a:prstGeom>
          <a:solidFill>
            <a:srgbClr val="E08E4A">
              <a:alpha val="80000"/>
            </a:srgbClr>
          </a:solidFill>
          <a:ln w="12700">
            <a:solidFill>
              <a:srgbClr val="E08E4A"/>
            </a:solidFill>
            <a:prstDash val="solid"/>
          </a:ln>
        </p:spPr>
      </p:sp>
      <p:sp>
        <p:nvSpPr>
          <p:cNvPr id="4" name="Text 2"/>
          <p:cNvSpPr txBox="1"/>
          <p:nvPr/>
        </p:nvSpPr>
        <p:spPr>
          <a:xfrm>
            <a:off x="1097280" y="822960"/>
            <a:ext cx="5486400" cy="365760"/>
          </a:xfrm>
          <a:prstGeom prst="rect">
            <a:avLst/>
          </a:prstGeom>
          <a:noFill/>
          <a:ln/>
        </p:spPr>
        <p:txBody>
          <a:bodyPr wrap="square" lIns="0" tIns="0" rIns="0" bIns="0" rtlCol="0" anchor="t"/>
          <a:lstStyle/>
          <a:p>
            <a:pPr indent="0" marL="0">
              <a:buNone/>
            </a:pPr>
            <a:r>
              <a:rPr lang="en-US" sz="1400" b="1" spc="200" kern="0" dirty="0">
                <a:solidFill>
                  <a:srgbClr val="F2C19A"/>
                </a:solidFill>
                <a:latin typeface="Meiryo UI" pitchFamily="34" charset="0"/>
                <a:ea typeface="Meiryo UI" pitchFamily="34" charset="-122"/>
                <a:cs typeface="Meiryo UI" pitchFamily="34" charset="-120"/>
              </a:rPr>
              <a:t>おわりに</a:t>
            </a:r>
            <a:endParaRPr lang="en-US" sz="1400" dirty="0"/>
          </a:p>
        </p:txBody>
      </p:sp>
      <p:sp>
        <p:nvSpPr>
          <p:cNvPr id="5" name="Text 3"/>
          <p:cNvSpPr txBox="1"/>
          <p:nvPr/>
        </p:nvSpPr>
        <p:spPr>
          <a:xfrm>
            <a:off x="1097280" y="1325880"/>
            <a:ext cx="10515600" cy="1463040"/>
          </a:xfrm>
          <a:prstGeom prst="rect">
            <a:avLst/>
          </a:prstGeom>
          <a:noFill/>
          <a:ln/>
        </p:spPr>
        <p:txBody>
          <a:bodyPr wrap="square" lIns="0" tIns="0" rIns="0" bIns="0" rtlCol="0" anchor="t"/>
          <a:lstStyle/>
          <a:p>
            <a:pPr indent="0" marL="0">
              <a:lnSpc>
                <a:spcPct val="110000"/>
              </a:lnSpc>
              <a:buNone/>
            </a:pPr>
            <a:r>
              <a:rPr lang="en-US" sz="2800" b="1" dirty="0">
                <a:solidFill>
                  <a:srgbClr val="FFFFFF"/>
                </a:solidFill>
                <a:latin typeface="Meiryo UI" pitchFamily="34" charset="0"/>
                <a:ea typeface="Meiryo UI" pitchFamily="34" charset="-122"/>
                <a:cs typeface="Meiryo UI" pitchFamily="34" charset="-120"/>
              </a:rPr>
              <a:t>「動画をつくる」のではなく、</a:t>
            </a:r>
            <a:endParaRPr lang="en-US" sz="2800" dirty="0"/>
          </a:p>
          <a:p>
            <a:pPr indent="0" marL="0">
              <a:lnSpc>
                <a:spcPct val="110000"/>
              </a:lnSpc>
              <a:buNone/>
            </a:pPr>
            <a:r>
              <a:rPr lang="en-US" sz="2800" b="1" dirty="0">
                <a:solidFill>
                  <a:srgbClr val="FFFFFF"/>
                </a:solidFill>
                <a:latin typeface="Meiryo UI" pitchFamily="34" charset="0"/>
                <a:ea typeface="Meiryo UI" pitchFamily="34" charset="-122"/>
                <a:cs typeface="Meiryo UI" pitchFamily="34" charset="-120"/>
              </a:rPr>
              <a:t>「地域の居場所を次の10年へつなぐ」ことにコミットします。</a:t>
            </a:r>
            <a:endParaRPr lang="en-US" sz="2800" dirty="0"/>
          </a:p>
        </p:txBody>
      </p:sp>
      <p:sp>
        <p:nvSpPr>
          <p:cNvPr id="6" name="Text 4"/>
          <p:cNvSpPr txBox="1"/>
          <p:nvPr/>
        </p:nvSpPr>
        <p:spPr>
          <a:xfrm>
            <a:off x="3566160" y="3063240"/>
            <a:ext cx="7863840" cy="2194560"/>
          </a:xfrm>
          <a:prstGeom prst="rect">
            <a:avLst/>
          </a:prstGeom>
          <a:noFill/>
          <a:ln/>
        </p:spPr>
        <p:txBody>
          <a:bodyPr wrap="square" lIns="0" tIns="0" rIns="0" bIns="0" rtlCol="0" anchor="t"/>
          <a:lstStyle/>
          <a:p>
            <a:pPr indent="0" marL="0">
              <a:lnSpc>
                <a:spcPct val="125000"/>
              </a:lnSpc>
              <a:buNone/>
            </a:pPr>
            <a:r>
              <a:rPr lang="en-US" sz="1400" dirty="0">
                <a:solidFill>
                  <a:srgbClr val="D8E6DC"/>
                </a:solidFill>
                <a:latin typeface="Meiryo UI" pitchFamily="34" charset="0"/>
                <a:ea typeface="Meiryo UI" pitchFamily="34" charset="-122"/>
                <a:cs typeface="Meiryo UI" pitchFamily="34" charset="-120"/>
              </a:rPr>
              <a:t>貴法人は、引き継ぎのない中で10年間地域を守り、10年間スタッフが一人も欠けない現場をつくってきました。</a:t>
            </a:r>
            <a:endParaRPr lang="en-US" sz="1400" dirty="0"/>
          </a:p>
          <a:p>
            <a:pPr indent="0" marL="0">
              <a:lnSpc>
                <a:spcPct val="125000"/>
              </a:lnSpc>
              <a:buNone/>
            </a:pPr>
            <a:endParaRPr lang="en-US" sz="1400" dirty="0"/>
          </a:p>
          <a:p>
            <a:pPr indent="0" marL="0">
              <a:lnSpc>
                <a:spcPct val="125000"/>
              </a:lnSpc>
              <a:buNone/>
            </a:pPr>
            <a:r>
              <a:rPr lang="en-US" sz="1400" dirty="0">
                <a:solidFill>
                  <a:srgbClr val="D8E6DC"/>
                </a:solidFill>
                <a:latin typeface="Meiryo UI" pitchFamily="34" charset="0"/>
                <a:ea typeface="Meiryo UI" pitchFamily="34" charset="-122"/>
                <a:cs typeface="Meiryo UI" pitchFamily="34" charset="-120"/>
              </a:rPr>
              <a:t>その“想い”と“支援の質”を動画と仕組みで必要な人に届け、代表の時間を利用者と新しい挑戦に取り戻す。2027年4月を控えた今が、その絶好のタイミングです。</a:t>
            </a:r>
            <a:endParaRPr lang="en-US" sz="1400" dirty="0"/>
          </a:p>
        </p:txBody>
      </p:sp>
      <p:sp>
        <p:nvSpPr>
          <p:cNvPr id="7" name="Text 5"/>
          <p:cNvSpPr txBox="1"/>
          <p:nvPr/>
        </p:nvSpPr>
        <p:spPr>
          <a:xfrm>
            <a:off x="3566160" y="5440680"/>
            <a:ext cx="7863840" cy="457200"/>
          </a:xfrm>
          <a:prstGeom prst="rect">
            <a:avLst/>
          </a:prstGeom>
          <a:noFill/>
          <a:ln/>
        </p:spPr>
        <p:txBody>
          <a:bodyPr wrap="square" lIns="0" tIns="0" rIns="0" bIns="0" rtlCol="0" anchor="t"/>
          <a:lstStyle/>
          <a:p>
            <a:pPr indent="0" marL="0">
              <a:buNone/>
            </a:pPr>
            <a:r>
              <a:rPr lang="en-US" sz="1700" b="1" dirty="0">
                <a:solidFill>
                  <a:srgbClr val="F2C19A"/>
                </a:solidFill>
                <a:latin typeface="Meiryo UI" pitchFamily="34" charset="0"/>
                <a:ea typeface="Meiryo UI" pitchFamily="34" charset="-122"/>
                <a:cs typeface="Meiryo UI" pitchFamily="34" charset="-120"/>
              </a:rPr>
              <a:t>次回お打ち合わせで、ぜひ次の一歩をご一緒に踏み出させてください。</a:t>
            </a:r>
            <a:endParaRPr lang="en-US" sz="1700" dirty="0"/>
          </a:p>
        </p:txBody>
      </p:sp>
      <p:sp>
        <p:nvSpPr>
          <p:cNvPr id="8" name="Text 6"/>
          <p:cNvSpPr txBox="1"/>
          <p:nvPr/>
        </p:nvSpPr>
        <p:spPr>
          <a:xfrm>
            <a:off x="3566160" y="6080760"/>
            <a:ext cx="7863840" cy="320040"/>
          </a:xfrm>
          <a:prstGeom prst="rect">
            <a:avLst/>
          </a:prstGeom>
          <a:noFill/>
          <a:ln/>
        </p:spPr>
        <p:txBody>
          <a:bodyPr wrap="square" lIns="0" tIns="0" rIns="0" bIns="0" rtlCol="0" anchor="t"/>
          <a:lstStyle/>
          <a:p>
            <a:pPr indent="0" marL="0">
              <a:buNone/>
            </a:pPr>
            <a:r>
              <a:rPr lang="en-US" sz="1200" dirty="0">
                <a:solidFill>
                  <a:srgbClr val="FFFFFF"/>
                </a:solidFill>
                <a:latin typeface="Meiryo UI" pitchFamily="34" charset="0"/>
                <a:ea typeface="Meiryo UI" pitchFamily="34" charset="-122"/>
                <a:cs typeface="Meiryo UI" pitchFamily="34" charset="-120"/>
              </a:rPr>
              <a:t>株式会社アイドマ・ホールディングス　MiTok事業部</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株式会社アイドマ・ホールディングス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認知拡大・運営体制強化 営業・マーケティング総合改革提案書</dc:title>
  <dc:subject>PptxGenJS Presentation</dc:subject>
  <dc:creator>PptxGenJS</dc:creator>
  <cp:lastModifiedBy>PptxGenJS</cp:lastModifiedBy>
  <cp:revision>1</cp:revision>
  <dcterms:created xsi:type="dcterms:W3CDTF">2026-09-28T16:09:31Z</dcterms:created>
  <dcterms:modified xsi:type="dcterms:W3CDTF">2026-09-28T16:09:31Z</dcterms:modified>
</cp:coreProperties>
</file>