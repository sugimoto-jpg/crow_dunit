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6303A"/>
                </a:solidFill>
                <a:latin typeface="Meiryo UI"/>
              </a:defRPr>
            </a:pPr>
            <a:r>
              <a:rPr sz="1100" b="0" i="0" u="none" strike="noStrike">
                <a:solidFill>
                  <a:srgbClr val="26303A"/>
                </a:solidFill>
                <a:latin typeface="Meiryo UI"/>
              </a:rPr>
              <a:t>上乗せ受注件数（累計）の推移　※月（ヶ月目）</a:t>
            </a:r>
          </a:p>
        </c:rich>
      </c:tx>
      <c:layout/>
      <c:overlay val="0"/>
    </c:title>
    <c:autoTitleDeleted val="0"/>
    <c:plotArea>
      <c:layout/>
      <c:barChart>
        <c:barDir val="col"/>
        <c:grouping val="clustered"/>
        <c:varyColors val="0"/>
        <c:ser>
          <c:idx val="0"/>
          <c:order val="0"/>
          <c:tx>
            <c:strRef>
              <c:f>Sheet1!$B$1</c:f>
              <c:strCache>
                <c:ptCount val="1"/>
                <c:pt idx="0">
                  <c:v>上乗せ受注件数（累計）</c:v>
                </c:pt>
              </c:strCache>
            </c:strRef>
          </c:tx>
          <c:spPr>
            <a:solidFill>
              <a:srgbClr val="1F5F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c:v>
                </c:pt>
                <c:pt idx="1">
                  <c:v>1</c:v>
                </c:pt>
                <c:pt idx="2">
                  <c:v>2</c:v>
                </c:pt>
                <c:pt idx="3">
                  <c:v>4</c:v>
                </c:pt>
                <c:pt idx="4">
                  <c:v>7</c:v>
                </c:pt>
                <c:pt idx="5">
                  <c:v>10</c:v>
                </c:pt>
                <c:pt idx="6">
                  <c:v>14</c:v>
                </c:pt>
                <c:pt idx="7">
                  <c:v>18</c:v>
                </c:pt>
                <c:pt idx="8">
                  <c:v>22</c:v>
                </c:pt>
                <c:pt idx="9">
                  <c:v>26</c:v>
                </c:pt>
                <c:pt idx="10">
                  <c:v>30</c:v>
                </c:pt>
                <c:pt idx="11">
                  <c:v>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7585"/>
                </a:solidFill>
                <a:latin typeface="Meiryo UI"/>
              </a:defRPr>
            </a:pPr>
            <a:endParaRPr lang="en-US"/>
          </a:p>
        </c:txPr>
        <c:crossAx val="2094734552"/>
        <c:crosses val="autoZero"/>
        <c:auto val="1"/>
        <c:lblAlgn val="ctr"/>
        <c:noMultiLvlLbl val="1"/>
      </c:catAx>
      <c:valAx>
        <c:axId val="2094734552"/>
        <c:scaling>
          <c:orientation val="minMax"/>
          <c:max val="40"/>
        </c:scaling>
        <c:delete val="0"/>
        <c:axPos val="l"/>
        <c:majorGridlines>
          <c:spPr>
            <a:ln w="9525" cap="flat">
              <a:solidFill>
                <a:srgbClr val="E3ECF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7585"/>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【営業担当者用・事前確認】
・お打ち合わせ：来月14日（月）18:00〜（または17:00〜）、オンラインで30分前後。
・30分で全26枚は話せない。中心は 2（結論）→5（課題）→8（プッシュ）→13（サムネイル）→17（無料3本）→21（移行）→23〜25（ヒアリング・試算・スケジュール）。ほかは補足資料として見せる程度にする。
・お話しした国井伸寛様は代表と想定されるが、役職と決裁フローを冒頭で確認する。
・【費用の注意】月額固定・長期の契約縛り（3〜5年）・1件ごとの課金には強い拒否感あり。作業完了後の成果報酬（くらしのマーケットの20%のような形）なら受け入れやすいとのこと。本資料には料金を載せていない。料金体系（成果連動・短期契約の可否）は社内で事前に確認し、次回に提示できるよう準備しておく。その場で約束はしない。
・前回のお約束：MiTok動画の活用方法の最大化、他社の成功事例、業務改善・販路拡大（コンサルティングチーム）のご紹介。成功事例はこの資料と別に用意しておく。
・貴社HP（kirei3939.com）は資料作成時に参照できていないため、商談前に担当者が目を通し、対応エリア・許認可・料金の表示を確認しておくこと。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の変化は傾向として伝える。高額請求トラブルの件数などを出す場合は、国民生活センター等の最新データを事前に確認すること。「悪質な業者に捕まってしまうお客様を減らしたい」という国井様の想い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の「顧客にたどり着き、しっかり説明さえできれば良さを分かってもらえる」という認識の一致がこのページの核心。⑥の“会えるまでが遠い”を動画で埋める、という流れで8ページへつなぐ。「月に何件くらい相見積もりで負けていますか？」と数字を聞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「無料のショート動画を作って様子を見る」進め方そのものが成果の出ない進め方であることを、第三者の事例として伝える。お客様を否定しない。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殊清掃・ゴミ屋敷は現場を撮影して見せにくい業種。「撮影しなくても人柄と考え方が伝わる」ことがMiTokの強み。3番の業務改善・販路拡大は前回お約束した内容なので、ここでコンサルティングチームの事例を紹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関東圏に広げる際は、エリアごとに社協・地域包括・施設・不動産会社のリストを作ってフォーム営業やDMで動画を届ける。紹介元が依頼者にそのまま転送できる動画にすることで、紹介時の説明負担も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「片付け 業者 選び方」「遺品整理 費用」などの検索に答えるYouTube動画は、ポータルサイトに代わる“自社の直接の入口”になる。Googleビジネスプロフィール（Googleマップ）への掲載・動画投稿もあわせて提案する。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kのAI掛け合い形式（依頼者役が質問し、代表役が答える）を前提としたラフ。無料3本はこの3つの型を1本ずつ制作する。前回「無料のショート動画」とお伝えしているため、3本のうち長尺・デザイン型も短尺版を切り出せることを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「無料3本」の完成イメージを具体的に見せ、活用シーンを想像していただく。TikTokの「その見積もり、高すぎない？」は、悪質業者から依頼者を守りたいという国井様の想いをそのまま発信にした例。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絵コンテは台本作成前のたたき台。「きれいライフサービスの約束」の3点は前回伺った内容から起こした仮の表現なので、国井様の言葉で直していただく。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家庭から出る不用品の回収には、原則として市町村の一般廃棄物収集運搬の許可（または委託）が必要で、許可は自治体ごと。関東全域に広げる場合、エリアごとに自社で回収できるか、許可業者との連携が必要かを確認する必要がある（23ページのヒアリング項目5）。法令の解釈は断定せず、貴社にご確認いただく前提で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「無料3本＝お試し」ではなく「検証」であることを強調。検証である以上、KPIと比較軸を最初に決める必要があり、その設計自体が伴走の価値であると伝える。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前回お約束した「業務改善・販路拡大（コンサルティングチーム）」は5番のカードで具体化する。担当チームの事例があればここで紹介する。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来月中旬にご契約・キックオフの場合、2〜3ヶ月目が年末の繁忙期に重なる想定。開始時期に応じて季節の施策を入れ替える。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無料の動画を見てから考えたい」への切り返し：「もちろん3本の成果はしっかり検証します。ただ、検証後に検討を始めると1〜2ヶ月の空白が生まれ、年末の繁忙期に集客の準備が間に合わなくなります。検証を“伴走の初月”として設計しておけば、結果が出た当日に次の一手を打てます」
【費用の注意】国井様は月額固定・長期の契約縛りに強い拒否感がある。このページでは料金に触れず「空白期間をつくらない」価値に絞る。契約期間・料金体系（成果連動の可否など）は社内で確認のうえ次回に提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平均単価15万円・月4件はすべて仮置き。画面共有で国井様と一緒に実数値（平均単価・月の問い合わせ数・成約率）を入れて再計算する。ポータルの手数料20%との比較は、「直接の集客窓口を持つこと自体が利益率を上げる」という話につなげる。リピート・紹介の二次効果は含んでい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8番（決裁フロー）は冒頭で確認。5番のエリアと許認可は関東展開の前提条件になるため必ず聞く（一般廃棄物の許可は自治体ごと）。30分の商談のため、1・3・5・8を優先する。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スライドで伺った数値（問い合わせ数・成約率・平均単価・対応可能件数・紹介元の数）を上部の帯に記入し、その場で試算を調整する。確定値は次回お打ち合わせで「目標値」として合意する。対応可能件数を超える場合は、体制づくり（人員・提携先）もあわせて相談する。
試算ロジック：紹介元40か所×視聴50%→月約4件の紹介×見積もり75%×成約60%≒2件／月、プル（直接の問い合わせ4件×成約50%）≒2件／月。累計：1ヶ月目0、2〜3ヶ月目+1/月、4ヶ月目+2、5〜6ヶ月目+3/月、7〜12ヶ月目+4/月 → 12ヶ月で34件、売上の上乗せ34件×15万円＝510万円。ポータル経由（手数料20%）なら約102万円の手数料に相当。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最後に、次回お打ち合わせの日程をその場で確定させる。次回は「シミュレーション確定＋台本ドラフト＋販路拡大のご提案」という具体的な成果物を持参することを約束し、次回の場で契約判断をいただける状態をつくる。料金体系（成果連動・短期契約の可否）も次回までに社内で確認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E5C"/>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1F5F8B"/>
          </a:solidFill>
          <a:ln w="12700">
            <a:solidFill>
              <a:srgbClr val="1F5F8B"/>
            </a:solidFill>
            <a:prstDash val="solid"/>
          </a:ln>
        </p:spPr>
      </p:sp>
      <p:sp>
        <p:nvSpPr>
          <p:cNvPr id="3" name="Shape 1"/>
          <p:cNvSpPr/>
          <p:nvPr/>
        </p:nvSpPr>
        <p:spPr>
          <a:xfrm>
            <a:off x="9326880" y="365760"/>
            <a:ext cx="2011680" cy="2011680"/>
          </a:xfrm>
          <a:prstGeom prst="ellipse">
            <a:avLst/>
          </a:prstGeom>
          <a:solidFill>
            <a:srgbClr val="E08A3C">
              <a:alpha val="85000"/>
            </a:srgbClr>
          </a:solidFill>
          <a:ln w="12700">
            <a:solidFill>
              <a:srgbClr val="E08A3C"/>
            </a:solidFill>
            <a:prstDash val="solid"/>
          </a:ln>
        </p:spPr>
      </p:sp>
      <p:pic>
        <p:nvPicPr>
          <p:cNvPr id="4" name="Image 0" descr="preencoded.png">    </p:cNvPr>
          <p:cNvPicPr>
            <a:picLocks noChangeAspect="1"/>
          </p:cNvPicPr>
          <p:nvPr/>
        </p:nvPicPr>
        <p:blipFill>
          <a:blip r:embed="rId1"/>
          <a:stretch>
            <a:fillRect/>
          </a:stretch>
        </p:blipFill>
        <p:spPr>
          <a:xfrm>
            <a:off x="9464040" y="2514600"/>
            <a:ext cx="1920240" cy="1920240"/>
          </a:xfrm>
          <a:prstGeom prst="rect">
            <a:avLst/>
          </a:prstGeom>
        </p:spPr>
      </p:pic>
      <p:sp>
        <p:nvSpPr>
          <p:cNvPr id="5" name="Text 2"/>
          <p:cNvSpPr txBox="1"/>
          <p:nvPr/>
        </p:nvSpPr>
        <p:spPr>
          <a:xfrm>
            <a:off x="640080" y="731520"/>
            <a:ext cx="6400800" cy="365760"/>
          </a:xfrm>
          <a:prstGeom prst="rect">
            <a:avLst/>
          </a:prstGeom>
          <a:noFill/>
          <a:ln/>
        </p:spPr>
        <p:txBody>
          <a:bodyPr wrap="square" lIns="0" tIns="0" rIns="0" bIns="0" rtlCol="0" anchor="t"/>
          <a:lstStyle/>
          <a:p>
            <a:pPr indent="0" marL="0">
              <a:buNone/>
            </a:pPr>
            <a:r>
              <a:rPr lang="en-US" sz="1600" dirty="0">
                <a:solidFill>
                  <a:srgbClr val="D4E4F1"/>
                </a:solidFill>
                <a:latin typeface="Meiryo UI" pitchFamily="34" charset="0"/>
                <a:ea typeface="Meiryo UI" pitchFamily="34" charset="-122"/>
                <a:cs typeface="Meiryo UI" pitchFamily="34" charset="-120"/>
              </a:rPr>
              <a:t>株式会社きれいライフサービス 御中</a:t>
            </a:r>
            <a:endParaRPr lang="en-US" sz="1600" dirty="0"/>
          </a:p>
        </p:txBody>
      </p:sp>
      <p:sp>
        <p:nvSpPr>
          <p:cNvPr id="6" name="Text 3"/>
          <p:cNvSpPr txBox="1"/>
          <p:nvPr/>
        </p:nvSpPr>
        <p:spPr>
          <a:xfrm>
            <a:off x="640080" y="1463040"/>
            <a:ext cx="7498080" cy="246888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片付け・遺品整理事業</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営業・マーケティング</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総合改革提案書</a:t>
            </a:r>
            <a:endParaRPr lang="en-US" sz="4000" dirty="0"/>
          </a:p>
        </p:txBody>
      </p:sp>
      <p:sp>
        <p:nvSpPr>
          <p:cNvPr id="7" name="Text 4"/>
          <p:cNvSpPr txBox="1"/>
          <p:nvPr/>
        </p:nvSpPr>
        <p:spPr>
          <a:xfrm>
            <a:off x="640080" y="4069080"/>
            <a:ext cx="7680960" cy="457200"/>
          </a:xfrm>
          <a:prstGeom prst="rect">
            <a:avLst/>
          </a:prstGeom>
          <a:noFill/>
          <a:ln/>
        </p:spPr>
        <p:txBody>
          <a:bodyPr wrap="square" lIns="0" tIns="0" rIns="0" bIns="0" rtlCol="0" anchor="t"/>
          <a:lstStyle/>
          <a:p>
            <a:pPr indent="0" marL="0">
              <a:buNone/>
            </a:pPr>
            <a:r>
              <a:rPr lang="en-US" sz="1800" b="1" dirty="0">
                <a:solidFill>
                  <a:srgbClr val="F5C08C"/>
                </a:solidFill>
                <a:latin typeface="Meiryo UI" pitchFamily="34" charset="0"/>
                <a:ea typeface="Meiryo UI" pitchFamily="34" charset="-122"/>
                <a:cs typeface="Meiryo UI" pitchFamily="34" charset="-120"/>
              </a:rPr>
              <a:t>「価格」ではなく「姿勢」で選ばれる仕組みへ</a:t>
            </a:r>
            <a:endParaRPr lang="en-US" sz="1800" dirty="0"/>
          </a:p>
        </p:txBody>
      </p:sp>
      <p:sp>
        <p:nvSpPr>
          <p:cNvPr id="8" name="Text 5"/>
          <p:cNvSpPr txBox="1"/>
          <p:nvPr/>
        </p:nvSpPr>
        <p:spPr>
          <a:xfrm>
            <a:off x="640080" y="4709160"/>
            <a:ext cx="7498080" cy="365760"/>
          </a:xfrm>
          <a:prstGeom prst="rect">
            <a:avLst/>
          </a:prstGeom>
          <a:noFill/>
          <a:ln/>
        </p:spPr>
        <p:txBody>
          <a:bodyPr wrap="square" lIns="0" tIns="0" rIns="0" bIns="0" rtlCol="0" anchor="t"/>
          <a:lstStyle/>
          <a:p>
            <a:pPr indent="0" marL="0">
              <a:buNone/>
            </a:pPr>
            <a:r>
              <a:rPr lang="en-US" sz="1300" dirty="0">
                <a:solidFill>
                  <a:srgbClr val="D4E4F1"/>
                </a:solidFill>
                <a:latin typeface="Meiryo UI" pitchFamily="34" charset="0"/>
                <a:ea typeface="Meiryo UI" pitchFamily="34" charset="-122"/>
                <a:cs typeface="Meiryo UI" pitchFamily="34" charset="-120"/>
              </a:rPr>
              <a:t>AI対話・動画プラットフォーム「MiTok（ミトク）」ご活用提案／第2回お打ち合わせ資料</a:t>
            </a:r>
            <a:endParaRPr lang="en-US" sz="1300" dirty="0"/>
          </a:p>
        </p:txBody>
      </p:sp>
      <p:sp>
        <p:nvSpPr>
          <p:cNvPr id="9" name="Text 6"/>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b="1"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EXECUTIVE SUMMARY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結論：MiTokで「姿勢で選ばれる」直接集客の入口をつくる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960120"/>
          </a:xfrm>
          <a:prstGeom prst="roundRect">
            <a:avLst>
              <a:gd name="adj" fmla="val 11429"/>
            </a:avLst>
          </a:prstGeom>
          <a:solidFill>
            <a:srgbClr val="EAF2F8"/>
          </a:solidFill>
          <a:ln w="12700">
            <a:solidFill>
              <a:srgbClr val="EAF2F8"/>
            </a:solidFill>
            <a:prstDash val="solid"/>
          </a:ln>
        </p:spPr>
      </p:sp>
      <p:sp>
        <p:nvSpPr>
          <p:cNvPr id="7" name="Text 5"/>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1550" b="1" dirty="0">
                <a:solidFill>
                  <a:srgbClr val="143E5C"/>
                </a:solidFill>
                <a:latin typeface="Meiryo UI" pitchFamily="34" charset="0"/>
                <a:ea typeface="Meiryo UI" pitchFamily="34" charset="-122"/>
                <a:cs typeface="Meiryo UI" pitchFamily="34" charset="-120"/>
              </a:rPr>
              <a:t>地元の紹介や掲示に頼った集客から、動画で「福祉の視点の親身さ」と「嘘のない姿勢」が伝わり、</a:t>
            </a:r>
            <a:endParaRPr lang="en-US" sz="1550" dirty="0"/>
          </a:p>
          <a:p>
            <a:pPr indent="0" marL="0">
              <a:buNone/>
            </a:pPr>
            <a:r>
              <a:rPr lang="en-US" sz="1550" b="1" dirty="0">
                <a:solidFill>
                  <a:srgbClr val="143E5C"/>
                </a:solidFill>
                <a:latin typeface="Meiryo UI" pitchFamily="34" charset="0"/>
                <a:ea typeface="Meiryo UI" pitchFamily="34" charset="-122"/>
                <a:cs typeface="Meiryo UI" pitchFamily="34" charset="-120"/>
              </a:rPr>
              <a:t>関東全域から“価格ではなく姿勢で”指名される集客体制へ転換することをご提案します。</a:t>
            </a:r>
            <a:endParaRPr lang="en-US" sz="1550" dirty="0"/>
          </a:p>
        </p:txBody>
      </p:sp>
      <p:sp>
        <p:nvSpPr>
          <p:cNvPr id="8" name="Shape 6"/>
          <p:cNvSpPr/>
          <p:nvPr/>
        </p:nvSpPr>
        <p:spPr>
          <a:xfrm>
            <a:off x="548640"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822960" y="2834640"/>
            <a:ext cx="640080" cy="640080"/>
          </a:xfrm>
          <a:prstGeom prst="ellipse">
            <a:avLst/>
          </a:prstGeom>
          <a:solidFill>
            <a:srgbClr val="1F5F8B"/>
          </a:solidFill>
          <a:ln w="12700">
            <a:solidFill>
              <a:srgbClr val="1F5F8B"/>
            </a:solidFill>
            <a:prstDash val="solid"/>
          </a:ln>
        </p:spPr>
      </p:sp>
      <p:pic>
        <p:nvPicPr>
          <p:cNvPr id="10" name="Image 0" descr="preencoded.png">    </p:cNvPr>
          <p:cNvPicPr>
            <a:picLocks noChangeAspect="1"/>
          </p:cNvPicPr>
          <p:nvPr/>
        </p:nvPicPr>
        <p:blipFill>
          <a:blip r:embed="rId1"/>
          <a:stretch>
            <a:fillRect/>
          </a:stretch>
        </p:blipFill>
        <p:spPr>
          <a:xfrm>
            <a:off x="989381" y="3001061"/>
            <a:ext cx="307238" cy="307238"/>
          </a:xfrm>
          <a:prstGeom prst="rect">
            <a:avLst/>
          </a:prstGeom>
        </p:spPr>
      </p:pic>
      <p:sp>
        <p:nvSpPr>
          <p:cNvPr id="11" name="Text 8"/>
          <p:cNvSpPr txBox="1"/>
          <p:nvPr/>
        </p:nvSpPr>
        <p:spPr>
          <a:xfrm>
            <a:off x="1600200" y="2834640"/>
            <a:ext cx="2280818" cy="640080"/>
          </a:xfrm>
          <a:prstGeom prst="rect">
            <a:avLst/>
          </a:prstGeom>
          <a:noFill/>
          <a:ln/>
        </p:spPr>
        <p:txBody>
          <a:bodyPr wrap="square" lIns="0" tIns="0" rIns="0" bIns="0" rtlCol="0" anchor="ctr"/>
          <a:lstStyle/>
          <a:p>
            <a:pPr indent="0" marL="0">
              <a:buNone/>
            </a:pPr>
            <a:r>
              <a:rPr lang="en-US" sz="1500" b="1" dirty="0">
                <a:solidFill>
                  <a:srgbClr val="1F5F8B"/>
                </a:solidFill>
                <a:latin typeface="Meiryo UI" pitchFamily="34" charset="0"/>
                <a:ea typeface="Meiryo UI" pitchFamily="34" charset="-122"/>
                <a:cs typeface="Meiryo UI" pitchFamily="34" charset="-120"/>
              </a:rPr>
              <a:t>プッシュ｜紹介元との関係を深める</a:t>
            </a:r>
            <a:endParaRPr lang="en-US" sz="1500" dirty="0"/>
          </a:p>
        </p:txBody>
      </p:sp>
      <p:sp>
        <p:nvSpPr>
          <p:cNvPr id="12" name="Text 9"/>
          <p:cNvSpPr txBox="1"/>
          <p:nvPr/>
        </p:nvSpPr>
        <p:spPr>
          <a:xfrm>
            <a:off x="822960"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6303A"/>
                </a:solidFill>
                <a:latin typeface="Meiryo UI" pitchFamily="34" charset="0"/>
                <a:ea typeface="Meiryo UI" pitchFamily="34" charset="-122"/>
                <a:cs typeface="Meiryo UI" pitchFamily="34" charset="-120"/>
              </a:rPr>
              <a:t>社会福祉協議会・不動産会社・ケアマネジャー・老人ホームなどの紹介元と見積もり相談者に動画を届け、紹介件数と成約率を引き上げる。</a:t>
            </a:r>
            <a:endParaRPr lang="en-US" sz="1250" dirty="0"/>
          </a:p>
        </p:txBody>
      </p:sp>
      <p:sp>
        <p:nvSpPr>
          <p:cNvPr id="13" name="Shape 10"/>
          <p:cNvSpPr/>
          <p:nvPr/>
        </p:nvSpPr>
        <p:spPr>
          <a:xfrm>
            <a:off x="4338218"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612538" y="2834640"/>
            <a:ext cx="640080" cy="640080"/>
          </a:xfrm>
          <a:prstGeom prst="ellipse">
            <a:avLst/>
          </a:prstGeom>
          <a:solidFill>
            <a:srgbClr val="1F5F8B"/>
          </a:solidFill>
          <a:ln w="12700">
            <a:solidFill>
              <a:srgbClr val="1F5F8B"/>
            </a:solidFill>
            <a:prstDash val="solid"/>
          </a:ln>
        </p:spPr>
      </p:sp>
      <p:pic>
        <p:nvPicPr>
          <p:cNvPr id="15" name="Image 1" descr="preencoded.png">    </p:cNvPr>
          <p:cNvPicPr>
            <a:picLocks noChangeAspect="1"/>
          </p:cNvPicPr>
          <p:nvPr/>
        </p:nvPicPr>
        <p:blipFill>
          <a:blip r:embed="rId2"/>
          <a:stretch>
            <a:fillRect/>
          </a:stretch>
        </p:blipFill>
        <p:spPr>
          <a:xfrm>
            <a:off x="4778959" y="3001061"/>
            <a:ext cx="307238" cy="307238"/>
          </a:xfrm>
          <a:prstGeom prst="rect">
            <a:avLst/>
          </a:prstGeom>
        </p:spPr>
      </p:pic>
      <p:sp>
        <p:nvSpPr>
          <p:cNvPr id="16" name="Text 12"/>
          <p:cNvSpPr txBox="1"/>
          <p:nvPr/>
        </p:nvSpPr>
        <p:spPr>
          <a:xfrm>
            <a:off x="5389778" y="2834640"/>
            <a:ext cx="2280818" cy="640080"/>
          </a:xfrm>
          <a:prstGeom prst="rect">
            <a:avLst/>
          </a:prstGeom>
          <a:noFill/>
          <a:ln/>
        </p:spPr>
        <p:txBody>
          <a:bodyPr wrap="square" lIns="0" tIns="0" rIns="0" bIns="0" rtlCol="0" anchor="ctr"/>
          <a:lstStyle/>
          <a:p>
            <a:pPr indent="0" marL="0">
              <a:buNone/>
            </a:pPr>
            <a:r>
              <a:rPr lang="en-US" sz="1500" b="1" dirty="0">
                <a:solidFill>
                  <a:srgbClr val="1F5F8B"/>
                </a:solidFill>
                <a:latin typeface="Meiryo UI" pitchFamily="34" charset="0"/>
                <a:ea typeface="Meiryo UI" pitchFamily="34" charset="-122"/>
                <a:cs typeface="Meiryo UI" pitchFamily="34" charset="-120"/>
              </a:rPr>
              <a:t>プル｜関東全域からの直接指名</a:t>
            </a:r>
            <a:endParaRPr lang="en-US" sz="1500" dirty="0"/>
          </a:p>
        </p:txBody>
      </p:sp>
      <p:sp>
        <p:nvSpPr>
          <p:cNvPr id="17" name="Text 13"/>
          <p:cNvSpPr txBox="1"/>
          <p:nvPr/>
        </p:nvSpPr>
        <p:spPr>
          <a:xfrm>
            <a:off x="4612538"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6303A"/>
                </a:solidFill>
                <a:latin typeface="Meiryo UI" pitchFamily="34" charset="0"/>
                <a:ea typeface="Meiryo UI" pitchFamily="34" charset="-122"/>
                <a:cs typeface="Meiryo UI" pitchFamily="34" charset="-120"/>
              </a:rPr>
              <a:t>YouTube／Instagram／TikTokで作業の考え方や業者選びのポイントを発信し、ポータルサイトに頼らない直接の問い合わせを増やす。</a:t>
            </a:r>
            <a:endParaRPr lang="en-US" sz="1250" dirty="0"/>
          </a:p>
        </p:txBody>
      </p:sp>
      <p:sp>
        <p:nvSpPr>
          <p:cNvPr id="18" name="Shape 14"/>
          <p:cNvSpPr/>
          <p:nvPr/>
        </p:nvSpPr>
        <p:spPr>
          <a:xfrm>
            <a:off x="8127797"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402117" y="2834640"/>
            <a:ext cx="640080" cy="640080"/>
          </a:xfrm>
          <a:prstGeom prst="ellipse">
            <a:avLst/>
          </a:prstGeom>
          <a:solidFill>
            <a:srgbClr val="1F5F8B"/>
          </a:solidFill>
          <a:ln w="12700">
            <a:solidFill>
              <a:srgbClr val="1F5F8B"/>
            </a:solidFill>
            <a:prstDash val="solid"/>
          </a:ln>
        </p:spPr>
      </p:sp>
      <p:pic>
        <p:nvPicPr>
          <p:cNvPr id="20" name="Image 2" descr="preencoded.png">    </p:cNvPr>
          <p:cNvPicPr>
            <a:picLocks noChangeAspect="1"/>
          </p:cNvPicPr>
          <p:nvPr/>
        </p:nvPicPr>
        <p:blipFill>
          <a:blip r:embed="rId3"/>
          <a:stretch>
            <a:fillRect/>
          </a:stretch>
        </p:blipFill>
        <p:spPr>
          <a:xfrm>
            <a:off x="8568538" y="3001061"/>
            <a:ext cx="307238" cy="307238"/>
          </a:xfrm>
          <a:prstGeom prst="rect">
            <a:avLst/>
          </a:prstGeom>
        </p:spPr>
      </p:pic>
      <p:sp>
        <p:nvSpPr>
          <p:cNvPr id="21" name="Text 16"/>
          <p:cNvSpPr txBox="1"/>
          <p:nvPr/>
        </p:nvSpPr>
        <p:spPr>
          <a:xfrm>
            <a:off x="9179357" y="2834640"/>
            <a:ext cx="2280818" cy="640080"/>
          </a:xfrm>
          <a:prstGeom prst="rect">
            <a:avLst/>
          </a:prstGeom>
          <a:noFill/>
          <a:ln/>
        </p:spPr>
        <p:txBody>
          <a:bodyPr wrap="square" lIns="0" tIns="0" rIns="0" bIns="0" rtlCol="0" anchor="ctr"/>
          <a:lstStyle/>
          <a:p>
            <a:pPr indent="0" marL="0">
              <a:buNone/>
            </a:pPr>
            <a:r>
              <a:rPr lang="en-US" sz="1500" b="1" dirty="0">
                <a:solidFill>
                  <a:srgbClr val="1F5F8B"/>
                </a:solidFill>
                <a:latin typeface="Meiryo UI" pitchFamily="34" charset="0"/>
                <a:ea typeface="Meiryo UI" pitchFamily="34" charset="-122"/>
                <a:cs typeface="Meiryo UI" pitchFamily="34" charset="-120"/>
              </a:rPr>
              <a:t>2フェーズの伴走</a:t>
            </a:r>
            <a:endParaRPr lang="en-US" sz="1500" dirty="0"/>
          </a:p>
        </p:txBody>
      </p:sp>
      <p:sp>
        <p:nvSpPr>
          <p:cNvPr id="22" name="Text 17"/>
          <p:cNvSpPr txBox="1"/>
          <p:nvPr/>
        </p:nvSpPr>
        <p:spPr>
          <a:xfrm>
            <a:off x="8402117"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6303A"/>
                </a:solidFill>
                <a:latin typeface="Meiryo UI" pitchFamily="34" charset="0"/>
                <a:ea typeface="Meiryo UI" pitchFamily="34" charset="-122"/>
                <a:cs typeface="Meiryo UI" pitchFamily="34" charset="-120"/>
              </a:rPr>
              <a:t>無料3本は効果検証のためのプロトタイプ。検証結果をそのまま有料伴走へ引き継ぎ、改善・量産・営業組み込みまで一気通貫で実行する。</a:t>
            </a:r>
            <a:endParaRPr lang="en-US" sz="1250" dirty="0"/>
          </a:p>
        </p:txBody>
      </p:sp>
      <p:sp>
        <p:nvSpPr>
          <p:cNvPr id="23" name="Text 18"/>
          <p:cNvSpPr txBox="1"/>
          <p:nvPr/>
        </p:nvSpPr>
        <p:spPr>
          <a:xfrm>
            <a:off x="548640" y="5193792"/>
            <a:ext cx="2743200" cy="320040"/>
          </a:xfrm>
          <a:prstGeom prst="rect">
            <a:avLst/>
          </a:prstGeom>
          <a:noFill/>
          <a:ln/>
        </p:spPr>
        <p:txBody>
          <a:bodyPr wrap="square" lIns="0" tIns="0" rIns="0" bIns="0" rtlCol="0" anchor="t"/>
          <a:lstStyle/>
          <a:p>
            <a:pPr indent="0" marL="0">
              <a:buNone/>
            </a:pPr>
            <a:r>
              <a:rPr lang="en-US" sz="1300" b="1" dirty="0">
                <a:solidFill>
                  <a:srgbClr val="D2702A"/>
                </a:solidFill>
                <a:latin typeface="Meiryo UI" pitchFamily="34" charset="0"/>
                <a:ea typeface="Meiryo UI" pitchFamily="34" charset="-122"/>
                <a:cs typeface="Meiryo UI" pitchFamily="34" charset="-120"/>
              </a:rPr>
              <a:t>12ヶ月後のゴール</a:t>
            </a:r>
            <a:endParaRPr lang="en-US" sz="1300" dirty="0"/>
          </a:p>
        </p:txBody>
      </p:sp>
      <p:sp>
        <p:nvSpPr>
          <p:cNvPr id="24" name="Shape 19"/>
          <p:cNvSpPr/>
          <p:nvPr/>
        </p:nvSpPr>
        <p:spPr>
          <a:xfrm>
            <a:off x="548640" y="5577840"/>
            <a:ext cx="365760" cy="365760"/>
          </a:xfrm>
          <a:prstGeom prst="ellipse">
            <a:avLst/>
          </a:prstGeom>
          <a:solidFill>
            <a:srgbClr val="FDF0E3"/>
          </a:solidFill>
          <a:ln w="12700">
            <a:solidFill>
              <a:srgbClr val="FDF0E3"/>
            </a:solidFill>
            <a:prstDash val="solid"/>
          </a:ln>
        </p:spPr>
      </p:sp>
      <p:pic>
        <p:nvPicPr>
          <p:cNvPr id="25" name="Image 3" descr="preencoded.png">    </p:cNvPr>
          <p:cNvPicPr>
            <a:picLocks noChangeAspect="1"/>
          </p:cNvPicPr>
          <p:nvPr/>
        </p:nvPicPr>
        <p:blipFill>
          <a:blip r:embed="rId4"/>
          <a:stretch>
            <a:fillRect/>
          </a:stretch>
        </p:blipFill>
        <p:spPr>
          <a:xfrm>
            <a:off x="643738" y="5672938"/>
            <a:ext cx="175565" cy="175565"/>
          </a:xfrm>
          <a:prstGeom prst="rect">
            <a:avLst/>
          </a:prstGeom>
        </p:spPr>
      </p:pic>
      <p:sp>
        <p:nvSpPr>
          <p:cNvPr id="26" name="Text 20"/>
          <p:cNvSpPr txBox="1"/>
          <p:nvPr/>
        </p:nvSpPr>
        <p:spPr>
          <a:xfrm>
            <a:off x="1024128" y="5532120"/>
            <a:ext cx="3012338" cy="5486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ポータルサイトに頼らず、関東全域から直接の問い合わせが届く</a:t>
            </a:r>
            <a:endParaRPr lang="en-US" sz="1200" dirty="0"/>
          </a:p>
        </p:txBody>
      </p:sp>
      <p:sp>
        <p:nvSpPr>
          <p:cNvPr id="27" name="Shape 21"/>
          <p:cNvSpPr/>
          <p:nvPr/>
        </p:nvSpPr>
        <p:spPr>
          <a:xfrm>
            <a:off x="4338218" y="5577840"/>
            <a:ext cx="365760" cy="365760"/>
          </a:xfrm>
          <a:prstGeom prst="ellipse">
            <a:avLst/>
          </a:prstGeom>
          <a:solidFill>
            <a:srgbClr val="FDF0E3"/>
          </a:solidFill>
          <a:ln w="12700">
            <a:solidFill>
              <a:srgbClr val="FDF0E3"/>
            </a:solidFill>
            <a:prstDash val="solid"/>
          </a:ln>
        </p:spPr>
      </p:sp>
      <p:pic>
        <p:nvPicPr>
          <p:cNvPr id="28" name="Image 4" descr="preencoded.png">    </p:cNvPr>
          <p:cNvPicPr>
            <a:picLocks noChangeAspect="1"/>
          </p:cNvPicPr>
          <p:nvPr/>
        </p:nvPicPr>
        <p:blipFill>
          <a:blip r:embed="rId5"/>
          <a:stretch>
            <a:fillRect/>
          </a:stretch>
        </p:blipFill>
        <p:spPr>
          <a:xfrm>
            <a:off x="4433316" y="5672938"/>
            <a:ext cx="175565" cy="175565"/>
          </a:xfrm>
          <a:prstGeom prst="rect">
            <a:avLst/>
          </a:prstGeom>
        </p:spPr>
      </p:pic>
      <p:sp>
        <p:nvSpPr>
          <p:cNvPr id="29" name="Text 22"/>
          <p:cNvSpPr txBox="1"/>
          <p:nvPr/>
        </p:nvSpPr>
        <p:spPr>
          <a:xfrm>
            <a:off x="4813706" y="5532120"/>
            <a:ext cx="3012338" cy="5486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相見積もりでも「この会社に頼みたい」と選ばれる</a:t>
            </a:r>
            <a:endParaRPr lang="en-US" sz="1200" dirty="0"/>
          </a:p>
        </p:txBody>
      </p:sp>
      <p:sp>
        <p:nvSpPr>
          <p:cNvPr id="30" name="Shape 23"/>
          <p:cNvSpPr/>
          <p:nvPr/>
        </p:nvSpPr>
        <p:spPr>
          <a:xfrm>
            <a:off x="8127797" y="5577840"/>
            <a:ext cx="365760" cy="365760"/>
          </a:xfrm>
          <a:prstGeom prst="ellipse">
            <a:avLst/>
          </a:prstGeom>
          <a:solidFill>
            <a:srgbClr val="FDF0E3"/>
          </a:solidFill>
          <a:ln w="12700">
            <a:solidFill>
              <a:srgbClr val="FDF0E3"/>
            </a:solidFill>
            <a:prstDash val="solid"/>
          </a:ln>
        </p:spPr>
      </p:sp>
      <p:pic>
        <p:nvPicPr>
          <p:cNvPr id="31" name="Image 5" descr="preencoded.png">    </p:cNvPr>
          <p:cNvPicPr>
            <a:picLocks noChangeAspect="1"/>
          </p:cNvPicPr>
          <p:nvPr/>
        </p:nvPicPr>
        <p:blipFill>
          <a:blip r:embed="rId6"/>
          <a:stretch>
            <a:fillRect/>
          </a:stretch>
        </p:blipFill>
        <p:spPr>
          <a:xfrm>
            <a:off x="8222894" y="5672938"/>
            <a:ext cx="175565" cy="175565"/>
          </a:xfrm>
          <a:prstGeom prst="rect">
            <a:avLst/>
          </a:prstGeom>
        </p:spPr>
      </p:pic>
      <p:sp>
        <p:nvSpPr>
          <p:cNvPr id="32" name="Text 24"/>
          <p:cNvSpPr txBox="1"/>
          <p:nvPr/>
        </p:nvSpPr>
        <p:spPr>
          <a:xfrm>
            <a:off x="8603285" y="5532120"/>
            <a:ext cx="3012338" cy="5486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繁忙期に偏らず、片付けの案件が年間を通じて安定する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01｜RECAP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前回お打ち合わせの振り返り</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1737360"/>
                <a:gridCol w="5760720"/>
              </a:tblGrid>
              <a:tr h="585216">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確認内容</a:t>
                      </a:r>
                      <a:endParaRPr lang="en-US" sz="12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事業</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不用品回収・遺品整理・家財整理（一軒家まるごと含む）、特殊清掃、事故物件対応、家屋解体</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強み</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元・精神保健福祉の視点での親身な提案、再び散らからないためのアドバイス、嘘のない適正価格、高いリピート・紹介率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現在の集客</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社会福祉協議会の広告、市役所内のポスター、不動産会社・知人からの紹介（ポータルサイトは撤退済み）</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課題</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新規の窓口が少なく地元だけでは限界／良さが文字では伝わらない／相見積もりで価格競争になる</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目標</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b="1" dirty="0">
                          <a:solidFill>
                            <a:srgbClr val="D2702A"/>
                          </a:solidFill>
                          <a:latin typeface="Meiryo UI" pitchFamily="34" charset="0"/>
                          <a:ea typeface="Meiryo UI" pitchFamily="34" charset="-122"/>
                          <a:cs typeface="Meiryo UI" pitchFamily="34" charset="-120"/>
                        </a:rPr>
                        <a:t>片付け系の案件を年間を通じて安定させ、関東全域からの問い合わせを増やす</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MiTokの活用</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無料のショート動画で、自社の考え方と強みをPR</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585216">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本日のお約束</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MiTok活用の最大化、他社の成功事例、業務改善・販路拡大のご紹介（＝本資料）</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bl>
          </a:graphicData>
        </a:graphic>
      </p:graphicFrame>
      <p:sp>
        <p:nvSpPr>
          <p:cNvPr id="7" name="Shape 4"/>
          <p:cNvSpPr/>
          <p:nvPr/>
        </p:nvSpPr>
        <p:spPr>
          <a:xfrm>
            <a:off x="8412480" y="1463040"/>
            <a:ext cx="3227832" cy="4572000"/>
          </a:xfrm>
          <a:prstGeom prst="roundRect">
            <a:avLst>
              <a:gd name="adj" fmla="val 3399"/>
            </a:avLst>
          </a:prstGeom>
          <a:solidFill>
            <a:srgbClr val="EAF2F8"/>
          </a:solidFill>
          <a:ln w="12700">
            <a:solidFill>
              <a:srgbClr val="EAF2F8"/>
            </a:solidFill>
            <a:prstDash val="solid"/>
          </a:ln>
        </p:spPr>
      </p:sp>
      <p:sp>
        <p:nvSpPr>
          <p:cNvPr id="8" name="Shape 5"/>
          <p:cNvSpPr/>
          <p:nvPr/>
        </p:nvSpPr>
        <p:spPr>
          <a:xfrm>
            <a:off x="8732520" y="1783080"/>
            <a:ext cx="731520" cy="731520"/>
          </a:xfrm>
          <a:prstGeom prst="ellipse">
            <a:avLst/>
          </a:prstGeom>
          <a:solidFill>
            <a:srgbClr val="1F5F8B"/>
          </a:solidFill>
          <a:ln w="12700">
            <a:solidFill>
              <a:srgbClr val="1F5F8B"/>
            </a:solidFill>
            <a:prstDash val="solid"/>
          </a:ln>
        </p:spPr>
      </p:sp>
      <p:pic>
        <p:nvPicPr>
          <p:cNvPr id="9" name="Image 0" descr="preencoded.png">    </p:cNvPr>
          <p:cNvPicPr>
            <a:picLocks noChangeAspect="1"/>
          </p:cNvPicPr>
          <p:nvPr/>
        </p:nvPicPr>
        <p:blipFill>
          <a:blip r:embed="rId1"/>
          <a:stretch>
            <a:fillRect/>
          </a:stretch>
        </p:blipFill>
        <p:spPr>
          <a:xfrm>
            <a:off x="8922715" y="1973275"/>
            <a:ext cx="351130" cy="351130"/>
          </a:xfrm>
          <a:prstGeom prst="rect">
            <a:avLst/>
          </a:prstGeom>
        </p:spPr>
      </p:pic>
      <p:sp>
        <p:nvSpPr>
          <p:cNvPr id="10" name="Text 6"/>
          <p:cNvSpPr txBox="1"/>
          <p:nvPr/>
        </p:nvSpPr>
        <p:spPr>
          <a:xfrm>
            <a:off x="8732520" y="2697480"/>
            <a:ext cx="2651760" cy="457200"/>
          </a:xfrm>
          <a:prstGeom prst="rect">
            <a:avLst/>
          </a:prstGeom>
          <a:noFill/>
          <a:ln/>
        </p:spPr>
        <p:txBody>
          <a:bodyPr wrap="square" lIns="0" tIns="0" rIns="0" bIns="0" rtlCol="0" anchor="t"/>
          <a:lstStyle/>
          <a:p>
            <a:pPr indent="0" marL="0">
              <a:buNone/>
            </a:pPr>
            <a:r>
              <a:rPr lang="en-US" sz="1500" b="1" dirty="0">
                <a:solidFill>
                  <a:srgbClr val="1F5F8B"/>
                </a:solidFill>
                <a:latin typeface="Meiryo UI" pitchFamily="34" charset="0"/>
                <a:ea typeface="Meiryo UI" pitchFamily="34" charset="-122"/>
                <a:cs typeface="Meiryo UI" pitchFamily="34" charset="-120"/>
              </a:rPr>
              <a:t>国井様の“想い”を台本の核に</a:t>
            </a:r>
            <a:endParaRPr lang="en-US" sz="1500" dirty="0"/>
          </a:p>
        </p:txBody>
      </p:sp>
      <p:sp>
        <p:nvSpPr>
          <p:cNvPr id="11" name="Text 7"/>
          <p:cNvSpPr txBox="1"/>
          <p:nvPr/>
        </p:nvSpPr>
        <p:spPr>
          <a:xfrm>
            <a:off x="8732520" y="3200400"/>
            <a:ext cx="2651760" cy="2697480"/>
          </a:xfrm>
          <a:prstGeom prst="rect">
            <a:avLst/>
          </a:prstGeom>
          <a:noFill/>
          <a:ln/>
        </p:spPr>
        <p:txBody>
          <a:bodyPr wrap="square" lIns="0" tIns="0" rIns="0" bIns="0" rtlCol="0" anchor="t"/>
          <a:lstStyle/>
          <a:p>
            <a:pPr indent="0" marL="0">
              <a:lnSpc>
                <a:spcPct val="120000"/>
              </a:lnSpc>
              <a:buNone/>
            </a:pPr>
            <a:r>
              <a:rPr lang="en-US" sz="1200" dirty="0">
                <a:solidFill>
                  <a:srgbClr val="26303A"/>
                </a:solidFill>
                <a:latin typeface="Meiryo UI" pitchFamily="34" charset="0"/>
                <a:ea typeface="Meiryo UI" pitchFamily="34" charset="-122"/>
                <a:cs typeface="Meiryo UI" pitchFamily="34" charset="-120"/>
              </a:rPr>
              <a:t>前回お話しいただいた「正直に、お客様の目線で」という考え方と、福祉の現場でのご経験を、無料3本の台本の核にします。</a:t>
            </a:r>
            <a:endParaRPr lang="en-US" sz="1200" dirty="0"/>
          </a:p>
          <a:p>
            <a:pPr indent="0" marL="0">
              <a:lnSpc>
                <a:spcPct val="120000"/>
              </a:lnSpc>
              <a:buNone/>
            </a:pPr>
            <a:endParaRPr lang="en-US" sz="1200" dirty="0"/>
          </a:p>
          <a:p>
            <a:pPr indent="0" marL="0">
              <a:lnSpc>
                <a:spcPct val="120000"/>
              </a:lnSpc>
              <a:buNone/>
            </a:pPr>
            <a:r>
              <a:rPr lang="en-US" sz="1200" dirty="0">
                <a:solidFill>
                  <a:srgbClr val="26303A"/>
                </a:solidFill>
                <a:latin typeface="Meiryo UI" pitchFamily="34" charset="0"/>
                <a:ea typeface="Meiryo UI" pitchFamily="34" charset="-122"/>
                <a:cs typeface="Meiryo UI" pitchFamily="34" charset="-120"/>
              </a:rPr>
              <a:t>会社案内や作業事例の写真をご提供いただければ、より“きれいライフサービスらしい”動画に仕上がります。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市場環境の変化：「安さ」だけで選ばれる時代は終わりつつある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1417320" y="1417320"/>
            <a:ext cx="2743200" cy="274320"/>
          </a:xfrm>
          <a:prstGeom prst="rect">
            <a:avLst/>
          </a:prstGeom>
          <a:noFill/>
          <a:ln/>
        </p:spPr>
        <p:txBody>
          <a:bodyPr wrap="square" lIns="0" tIns="0" rIns="0" bIns="0" rtlCol="0" anchor="t"/>
          <a:lstStyle/>
          <a:p>
            <a:pPr indent="0" marL="0">
              <a:buNone/>
            </a:pPr>
            <a:r>
              <a:rPr lang="en-US" sz="1100" b="1" dirty="0">
                <a:solidFill>
                  <a:srgbClr val="637585"/>
                </a:solidFill>
                <a:latin typeface="Meiryo UI" pitchFamily="34" charset="0"/>
                <a:ea typeface="Meiryo UI" pitchFamily="34" charset="-122"/>
                <a:cs typeface="Meiryo UI" pitchFamily="34" charset="-120"/>
              </a:rPr>
              <a:t>変化</a:t>
            </a:r>
            <a:endParaRPr lang="en-US" sz="1100" dirty="0"/>
          </a:p>
        </p:txBody>
      </p:sp>
      <p:sp>
        <p:nvSpPr>
          <p:cNvPr id="7" name="Text 5"/>
          <p:cNvSpPr txBox="1"/>
          <p:nvPr/>
        </p:nvSpPr>
        <p:spPr>
          <a:xfrm>
            <a:off x="3977640" y="1417320"/>
            <a:ext cx="2743200" cy="274320"/>
          </a:xfrm>
          <a:prstGeom prst="rect">
            <a:avLst/>
          </a:prstGeom>
          <a:noFill/>
          <a:ln/>
        </p:spPr>
        <p:txBody>
          <a:bodyPr wrap="square" lIns="0" tIns="0" rIns="0" bIns="0" rtlCol="0" anchor="t"/>
          <a:lstStyle/>
          <a:p>
            <a:pPr indent="0" marL="0">
              <a:buNone/>
            </a:pPr>
            <a:r>
              <a:rPr lang="en-US" sz="1100" b="1" dirty="0">
                <a:solidFill>
                  <a:srgbClr val="637585"/>
                </a:solidFill>
                <a:latin typeface="Meiryo UI" pitchFamily="34" charset="0"/>
                <a:ea typeface="Meiryo UI" pitchFamily="34" charset="-122"/>
                <a:cs typeface="Meiryo UI" pitchFamily="34" charset="-120"/>
              </a:rPr>
              <a:t>起きていること</a:t>
            </a:r>
            <a:endParaRPr lang="en-US" sz="1100" dirty="0"/>
          </a:p>
        </p:txBody>
      </p:sp>
      <p:sp>
        <p:nvSpPr>
          <p:cNvPr id="8" name="Text 6"/>
          <p:cNvSpPr txBox="1"/>
          <p:nvPr/>
        </p:nvSpPr>
        <p:spPr>
          <a:xfrm>
            <a:off x="7818120" y="1417320"/>
            <a:ext cx="2743200" cy="274320"/>
          </a:xfrm>
          <a:prstGeom prst="rect">
            <a:avLst/>
          </a:prstGeom>
          <a:noFill/>
          <a:ln/>
        </p:spPr>
        <p:txBody>
          <a:bodyPr wrap="square" lIns="0" tIns="0" rIns="0" bIns="0" rtlCol="0" anchor="t"/>
          <a:lstStyle/>
          <a:p>
            <a:pPr indent="0" marL="0">
              <a:buNone/>
            </a:pPr>
            <a:r>
              <a:rPr lang="en-US" sz="1100" b="1" dirty="0">
                <a:solidFill>
                  <a:srgbClr val="D2702A"/>
                </a:solidFill>
                <a:latin typeface="Meiryo UI" pitchFamily="34" charset="0"/>
                <a:ea typeface="Meiryo UI" pitchFamily="34" charset="-122"/>
                <a:cs typeface="Meiryo UI" pitchFamily="34" charset="-120"/>
              </a:rPr>
              <a:t>貴社への影響</a:t>
            </a:r>
            <a:endParaRPr lang="en-US" sz="1100" dirty="0"/>
          </a:p>
        </p:txBody>
      </p:sp>
      <p:sp>
        <p:nvSpPr>
          <p:cNvPr id="9" name="Shape 7"/>
          <p:cNvSpPr/>
          <p:nvPr/>
        </p:nvSpPr>
        <p:spPr>
          <a:xfrm>
            <a:off x="548640" y="1737360"/>
            <a:ext cx="11094415" cy="777240"/>
          </a:xfrm>
          <a:prstGeom prst="roundRect">
            <a:avLst>
              <a:gd name="adj" fmla="val 14118"/>
            </a:avLst>
          </a:prstGeom>
          <a:solidFill>
            <a:srgbClr val="F5F9FC"/>
          </a:solidFill>
          <a:ln w="12700">
            <a:solidFill>
              <a:srgbClr val="F5F9FC"/>
            </a:solidFill>
            <a:prstDash val="solid"/>
          </a:ln>
        </p:spPr>
      </p:sp>
      <p:sp>
        <p:nvSpPr>
          <p:cNvPr id="10" name="Shape 8"/>
          <p:cNvSpPr/>
          <p:nvPr/>
        </p:nvSpPr>
        <p:spPr>
          <a:xfrm>
            <a:off x="713232" y="1847088"/>
            <a:ext cx="548640" cy="548640"/>
          </a:xfrm>
          <a:prstGeom prst="ellipse">
            <a:avLst/>
          </a:prstGeom>
          <a:solidFill>
            <a:srgbClr val="1F5F8B"/>
          </a:solidFill>
          <a:ln w="12700">
            <a:solidFill>
              <a:srgbClr val="1F5F8B"/>
            </a:solidFill>
            <a:prstDash val="solid"/>
          </a:ln>
        </p:spPr>
      </p:sp>
      <p:pic>
        <p:nvPicPr>
          <p:cNvPr id="11" name="Image 0" descr="preencoded.png">    </p:cNvPr>
          <p:cNvPicPr>
            <a:picLocks noChangeAspect="1"/>
          </p:cNvPicPr>
          <p:nvPr/>
        </p:nvPicPr>
        <p:blipFill>
          <a:blip r:embed="rId1"/>
          <a:stretch>
            <a:fillRect/>
          </a:stretch>
        </p:blipFill>
        <p:spPr>
          <a:xfrm>
            <a:off x="855878" y="1989734"/>
            <a:ext cx="263347" cy="263347"/>
          </a:xfrm>
          <a:prstGeom prst="rect">
            <a:avLst/>
          </a:prstGeom>
        </p:spPr>
      </p:pic>
      <p:sp>
        <p:nvSpPr>
          <p:cNvPr id="12" name="Text 9"/>
          <p:cNvSpPr txBox="1"/>
          <p:nvPr/>
        </p:nvSpPr>
        <p:spPr>
          <a:xfrm>
            <a:off x="1417320" y="1737360"/>
            <a:ext cx="2514600" cy="777240"/>
          </a:xfrm>
          <a:prstGeom prst="rect">
            <a:avLst/>
          </a:prstGeom>
          <a:noFill/>
          <a:ln/>
        </p:spPr>
        <p:txBody>
          <a:bodyPr wrap="square" lIns="0" tIns="0" rIns="0" bIns="0" rtlCol="0" anchor="ctr"/>
          <a:lstStyle/>
          <a:p>
            <a:pPr indent="0" marL="0">
              <a:buNone/>
            </a:pPr>
            <a:r>
              <a:rPr lang="en-US" sz="1400" b="1" dirty="0">
                <a:solidFill>
                  <a:srgbClr val="1F5F8B"/>
                </a:solidFill>
                <a:latin typeface="Meiryo UI" pitchFamily="34" charset="0"/>
                <a:ea typeface="Meiryo UI" pitchFamily="34" charset="-122"/>
                <a:cs typeface="Meiryo UI" pitchFamily="34" charset="-120"/>
              </a:rPr>
              <a:t>実家じまい・遺品整理の増加</a:t>
            </a:r>
            <a:endParaRPr lang="en-US" sz="1400" dirty="0"/>
          </a:p>
        </p:txBody>
      </p:sp>
      <p:sp>
        <p:nvSpPr>
          <p:cNvPr id="13" name="Text 10"/>
          <p:cNvSpPr txBox="1"/>
          <p:nvPr/>
        </p:nvSpPr>
        <p:spPr>
          <a:xfrm>
            <a:off x="3977640" y="1737360"/>
            <a:ext cx="3474720" cy="7772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高齢化と一人暮らしの増加で、実家や遺品の片付けの相談が増えている</a:t>
            </a:r>
            <a:endParaRPr lang="en-US" sz="1200" dirty="0"/>
          </a:p>
        </p:txBody>
      </p:sp>
      <p:pic>
        <p:nvPicPr>
          <p:cNvPr id="14" name="Image 1" descr="preencoded.png">    </p:cNvPr>
          <p:cNvPicPr>
            <a:picLocks noChangeAspect="1"/>
          </p:cNvPicPr>
          <p:nvPr/>
        </p:nvPicPr>
        <p:blipFill>
          <a:blip r:embed="rId2"/>
          <a:stretch>
            <a:fillRect/>
          </a:stretch>
        </p:blipFill>
        <p:spPr>
          <a:xfrm>
            <a:off x="7479792" y="2011680"/>
            <a:ext cx="228600" cy="228600"/>
          </a:xfrm>
          <a:prstGeom prst="rect">
            <a:avLst/>
          </a:prstGeom>
        </p:spPr>
      </p:pic>
      <p:sp>
        <p:nvSpPr>
          <p:cNvPr id="15" name="Text 11"/>
          <p:cNvSpPr txBox="1"/>
          <p:nvPr/>
        </p:nvSpPr>
        <p:spPr>
          <a:xfrm>
            <a:off x="7818120" y="1737360"/>
            <a:ext cx="3657600" cy="777240"/>
          </a:xfrm>
          <a:prstGeom prst="rect">
            <a:avLst/>
          </a:prstGeom>
          <a:noFill/>
          <a:ln/>
        </p:spPr>
        <p:txBody>
          <a:bodyPr wrap="square" lIns="0" tIns="0" rIns="0" bIns="0" rtlCol="0" anchor="ctr"/>
          <a:lstStyle/>
          <a:p>
            <a:pPr indent="0" marL="0">
              <a:buNone/>
            </a:pPr>
            <a:r>
              <a:rPr lang="en-US" sz="1200" b="1" dirty="0">
                <a:solidFill>
                  <a:srgbClr val="26303A"/>
                </a:solidFill>
                <a:latin typeface="Meiryo UI" pitchFamily="34" charset="0"/>
                <a:ea typeface="Meiryo UI" pitchFamily="34" charset="-122"/>
                <a:cs typeface="Meiryo UI" pitchFamily="34" charset="-120"/>
              </a:rPr>
              <a:t>片付けの需要は関東全域で拡大</a:t>
            </a:r>
            <a:endParaRPr lang="en-US" sz="1200" dirty="0"/>
          </a:p>
        </p:txBody>
      </p:sp>
      <p:sp>
        <p:nvSpPr>
          <p:cNvPr id="16" name="Shape 12"/>
          <p:cNvSpPr/>
          <p:nvPr/>
        </p:nvSpPr>
        <p:spPr>
          <a:xfrm>
            <a:off x="548640" y="2651760"/>
            <a:ext cx="11094415" cy="777240"/>
          </a:xfrm>
          <a:prstGeom prst="roundRect">
            <a:avLst>
              <a:gd name="adj" fmla="val 14118"/>
            </a:avLst>
          </a:prstGeom>
          <a:solidFill>
            <a:srgbClr val="F5F9FC"/>
          </a:solidFill>
          <a:ln w="12700">
            <a:solidFill>
              <a:srgbClr val="F5F9FC"/>
            </a:solidFill>
            <a:prstDash val="solid"/>
          </a:ln>
        </p:spPr>
      </p:sp>
      <p:sp>
        <p:nvSpPr>
          <p:cNvPr id="17" name="Shape 13"/>
          <p:cNvSpPr/>
          <p:nvPr/>
        </p:nvSpPr>
        <p:spPr>
          <a:xfrm>
            <a:off x="713232" y="2761488"/>
            <a:ext cx="548640" cy="548640"/>
          </a:xfrm>
          <a:prstGeom prst="ellipse">
            <a:avLst/>
          </a:prstGeom>
          <a:solidFill>
            <a:srgbClr val="1F5F8B"/>
          </a:solidFill>
          <a:ln w="12700">
            <a:solidFill>
              <a:srgbClr val="1F5F8B"/>
            </a:solidFill>
            <a:prstDash val="solid"/>
          </a:ln>
        </p:spPr>
      </p:sp>
      <p:pic>
        <p:nvPicPr>
          <p:cNvPr id="18" name="Image 2" descr="preencoded.png">    </p:cNvPr>
          <p:cNvPicPr>
            <a:picLocks noChangeAspect="1"/>
          </p:cNvPicPr>
          <p:nvPr/>
        </p:nvPicPr>
        <p:blipFill>
          <a:blip r:embed="rId3"/>
          <a:stretch>
            <a:fillRect/>
          </a:stretch>
        </p:blipFill>
        <p:spPr>
          <a:xfrm>
            <a:off x="855878" y="2904134"/>
            <a:ext cx="263347" cy="263347"/>
          </a:xfrm>
          <a:prstGeom prst="rect">
            <a:avLst/>
          </a:prstGeom>
        </p:spPr>
      </p:pic>
      <p:sp>
        <p:nvSpPr>
          <p:cNvPr id="19" name="Text 14"/>
          <p:cNvSpPr txBox="1"/>
          <p:nvPr/>
        </p:nvSpPr>
        <p:spPr>
          <a:xfrm>
            <a:off x="1417320" y="2651760"/>
            <a:ext cx="2514600" cy="777240"/>
          </a:xfrm>
          <a:prstGeom prst="rect">
            <a:avLst/>
          </a:prstGeom>
          <a:noFill/>
          <a:ln/>
        </p:spPr>
        <p:txBody>
          <a:bodyPr wrap="square" lIns="0" tIns="0" rIns="0" bIns="0" rtlCol="0" anchor="ctr"/>
          <a:lstStyle/>
          <a:p>
            <a:pPr indent="0" marL="0">
              <a:buNone/>
            </a:pPr>
            <a:r>
              <a:rPr lang="en-US" sz="1400" b="1" dirty="0">
                <a:solidFill>
                  <a:srgbClr val="1F5F8B"/>
                </a:solidFill>
                <a:latin typeface="Meiryo UI" pitchFamily="34" charset="0"/>
                <a:ea typeface="Meiryo UI" pitchFamily="34" charset="-122"/>
                <a:cs typeface="Meiryo UI" pitchFamily="34" charset="-120"/>
              </a:rPr>
              <a:t>施設の入居・退去に伴う整理</a:t>
            </a:r>
            <a:endParaRPr lang="en-US" sz="1400" dirty="0"/>
          </a:p>
        </p:txBody>
      </p:sp>
      <p:sp>
        <p:nvSpPr>
          <p:cNvPr id="20" name="Text 15"/>
          <p:cNvSpPr txBox="1"/>
          <p:nvPr/>
        </p:nvSpPr>
        <p:spPr>
          <a:xfrm>
            <a:off x="3977640" y="2651760"/>
            <a:ext cx="3474720" cy="7772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老人ホームへの入居・退去時に、短期間での家財整理が必要になる</a:t>
            </a:r>
            <a:endParaRPr lang="en-US" sz="1200" dirty="0"/>
          </a:p>
        </p:txBody>
      </p:sp>
      <p:pic>
        <p:nvPicPr>
          <p:cNvPr id="21" name="Image 3" descr="preencoded.png">    </p:cNvPr>
          <p:cNvPicPr>
            <a:picLocks noChangeAspect="1"/>
          </p:cNvPicPr>
          <p:nvPr/>
        </p:nvPicPr>
        <p:blipFill>
          <a:blip r:embed="rId4"/>
          <a:stretch>
            <a:fillRect/>
          </a:stretch>
        </p:blipFill>
        <p:spPr>
          <a:xfrm>
            <a:off x="7479792" y="2926080"/>
            <a:ext cx="228600" cy="228600"/>
          </a:xfrm>
          <a:prstGeom prst="rect">
            <a:avLst/>
          </a:prstGeom>
        </p:spPr>
      </p:pic>
      <p:sp>
        <p:nvSpPr>
          <p:cNvPr id="22" name="Text 16"/>
          <p:cNvSpPr txBox="1"/>
          <p:nvPr/>
        </p:nvSpPr>
        <p:spPr>
          <a:xfrm>
            <a:off x="7818120" y="2651760"/>
            <a:ext cx="3657600" cy="777240"/>
          </a:xfrm>
          <a:prstGeom prst="rect">
            <a:avLst/>
          </a:prstGeom>
          <a:noFill/>
          <a:ln/>
        </p:spPr>
        <p:txBody>
          <a:bodyPr wrap="square" lIns="0" tIns="0" rIns="0" bIns="0" rtlCol="0" anchor="ctr"/>
          <a:lstStyle/>
          <a:p>
            <a:pPr indent="0" marL="0">
              <a:buNone/>
            </a:pPr>
            <a:r>
              <a:rPr lang="en-US" sz="1200" b="1" dirty="0">
                <a:solidFill>
                  <a:srgbClr val="26303A"/>
                </a:solidFill>
                <a:latin typeface="Meiryo UI" pitchFamily="34" charset="0"/>
                <a:ea typeface="Meiryo UI" pitchFamily="34" charset="-122"/>
                <a:cs typeface="Meiryo UI" pitchFamily="34" charset="-120"/>
              </a:rPr>
              <a:t>施設・ケアマネ経由の紹介に伸びしろ</a:t>
            </a:r>
            <a:endParaRPr lang="en-US" sz="1200" dirty="0"/>
          </a:p>
        </p:txBody>
      </p:sp>
      <p:sp>
        <p:nvSpPr>
          <p:cNvPr id="23" name="Shape 17"/>
          <p:cNvSpPr/>
          <p:nvPr/>
        </p:nvSpPr>
        <p:spPr>
          <a:xfrm>
            <a:off x="548640" y="3566160"/>
            <a:ext cx="11094415" cy="777240"/>
          </a:xfrm>
          <a:prstGeom prst="roundRect">
            <a:avLst>
              <a:gd name="adj" fmla="val 14118"/>
            </a:avLst>
          </a:prstGeom>
          <a:solidFill>
            <a:srgbClr val="F5F9FC"/>
          </a:solidFill>
          <a:ln w="12700">
            <a:solidFill>
              <a:srgbClr val="F5F9FC"/>
            </a:solidFill>
            <a:prstDash val="solid"/>
          </a:ln>
        </p:spPr>
      </p:sp>
      <p:sp>
        <p:nvSpPr>
          <p:cNvPr id="24" name="Shape 18"/>
          <p:cNvSpPr/>
          <p:nvPr/>
        </p:nvSpPr>
        <p:spPr>
          <a:xfrm>
            <a:off x="713232" y="3675888"/>
            <a:ext cx="548640" cy="548640"/>
          </a:xfrm>
          <a:prstGeom prst="ellipse">
            <a:avLst/>
          </a:prstGeom>
          <a:solidFill>
            <a:srgbClr val="1F5F8B"/>
          </a:solidFill>
          <a:ln w="12700">
            <a:solidFill>
              <a:srgbClr val="1F5F8B"/>
            </a:solidFill>
            <a:prstDash val="solid"/>
          </a:ln>
        </p:spPr>
      </p:sp>
      <p:pic>
        <p:nvPicPr>
          <p:cNvPr id="25" name="Image 4" descr="preencoded.png">    </p:cNvPr>
          <p:cNvPicPr>
            <a:picLocks noChangeAspect="1"/>
          </p:cNvPicPr>
          <p:nvPr/>
        </p:nvPicPr>
        <p:blipFill>
          <a:blip r:embed="rId5"/>
          <a:stretch>
            <a:fillRect/>
          </a:stretch>
        </p:blipFill>
        <p:spPr>
          <a:xfrm>
            <a:off x="855878" y="3818534"/>
            <a:ext cx="263347" cy="263347"/>
          </a:xfrm>
          <a:prstGeom prst="rect">
            <a:avLst/>
          </a:prstGeom>
        </p:spPr>
      </p:pic>
      <p:sp>
        <p:nvSpPr>
          <p:cNvPr id="26" name="Text 19"/>
          <p:cNvSpPr txBox="1"/>
          <p:nvPr/>
        </p:nvSpPr>
        <p:spPr>
          <a:xfrm>
            <a:off x="1417320" y="3566160"/>
            <a:ext cx="2514600" cy="777240"/>
          </a:xfrm>
          <a:prstGeom prst="rect">
            <a:avLst/>
          </a:prstGeom>
          <a:noFill/>
          <a:ln/>
        </p:spPr>
        <p:txBody>
          <a:bodyPr wrap="square" lIns="0" tIns="0" rIns="0" bIns="0" rtlCol="0" anchor="ctr"/>
          <a:lstStyle/>
          <a:p>
            <a:pPr indent="0" marL="0">
              <a:buNone/>
            </a:pPr>
            <a:r>
              <a:rPr lang="en-US" sz="1400" b="1" dirty="0">
                <a:solidFill>
                  <a:srgbClr val="1F5F8B"/>
                </a:solidFill>
                <a:latin typeface="Meiryo UI" pitchFamily="34" charset="0"/>
                <a:ea typeface="Meiryo UI" pitchFamily="34" charset="-122"/>
                <a:cs typeface="Meiryo UI" pitchFamily="34" charset="-120"/>
              </a:rPr>
              <a:t>悪質業者・高額請求の問題</a:t>
            </a:r>
            <a:endParaRPr lang="en-US" sz="1400" dirty="0"/>
          </a:p>
        </p:txBody>
      </p:sp>
      <p:sp>
        <p:nvSpPr>
          <p:cNvPr id="27" name="Text 20"/>
          <p:cNvSpPr txBox="1"/>
          <p:nvPr/>
        </p:nvSpPr>
        <p:spPr>
          <a:xfrm>
            <a:off x="3977640" y="3566160"/>
            <a:ext cx="3474720" cy="7772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不用品回収の高額請求トラブルが後を絶たず、依頼者は業者選びに慎重</a:t>
            </a:r>
            <a:endParaRPr lang="en-US" sz="1200" dirty="0"/>
          </a:p>
        </p:txBody>
      </p:sp>
      <p:pic>
        <p:nvPicPr>
          <p:cNvPr id="28" name="Image 5" descr="preencoded.png">    </p:cNvPr>
          <p:cNvPicPr>
            <a:picLocks noChangeAspect="1"/>
          </p:cNvPicPr>
          <p:nvPr/>
        </p:nvPicPr>
        <p:blipFill>
          <a:blip r:embed="rId6"/>
          <a:stretch>
            <a:fillRect/>
          </a:stretch>
        </p:blipFill>
        <p:spPr>
          <a:xfrm>
            <a:off x="7479792" y="3840480"/>
            <a:ext cx="228600" cy="228600"/>
          </a:xfrm>
          <a:prstGeom prst="rect">
            <a:avLst/>
          </a:prstGeom>
        </p:spPr>
      </p:pic>
      <p:sp>
        <p:nvSpPr>
          <p:cNvPr id="29" name="Text 21"/>
          <p:cNvSpPr txBox="1"/>
          <p:nvPr/>
        </p:nvSpPr>
        <p:spPr>
          <a:xfrm>
            <a:off x="7818120" y="3566160"/>
            <a:ext cx="3657600" cy="777240"/>
          </a:xfrm>
          <a:prstGeom prst="rect">
            <a:avLst/>
          </a:prstGeom>
          <a:noFill/>
          <a:ln/>
        </p:spPr>
        <p:txBody>
          <a:bodyPr wrap="square" lIns="0" tIns="0" rIns="0" bIns="0" rtlCol="0" anchor="ctr"/>
          <a:lstStyle/>
          <a:p>
            <a:pPr indent="0" marL="0">
              <a:buNone/>
            </a:pPr>
            <a:r>
              <a:rPr lang="en-US" sz="1200" b="1" dirty="0">
                <a:solidFill>
                  <a:srgbClr val="26303A"/>
                </a:solidFill>
                <a:latin typeface="Meiryo UI" pitchFamily="34" charset="0"/>
                <a:ea typeface="Meiryo UI" pitchFamily="34" charset="-122"/>
                <a:cs typeface="Meiryo UI" pitchFamily="34" charset="-120"/>
              </a:rPr>
              <a:t>「信頼できる業者か」を事前に確かめたいニーズが強い</a:t>
            </a:r>
            <a:endParaRPr lang="en-US" sz="1200" dirty="0"/>
          </a:p>
        </p:txBody>
      </p:sp>
      <p:sp>
        <p:nvSpPr>
          <p:cNvPr id="30" name="Shape 22"/>
          <p:cNvSpPr/>
          <p:nvPr/>
        </p:nvSpPr>
        <p:spPr>
          <a:xfrm>
            <a:off x="548640" y="4480560"/>
            <a:ext cx="11094415" cy="777240"/>
          </a:xfrm>
          <a:prstGeom prst="roundRect">
            <a:avLst>
              <a:gd name="adj" fmla="val 14118"/>
            </a:avLst>
          </a:prstGeom>
          <a:solidFill>
            <a:srgbClr val="F5F9FC"/>
          </a:solidFill>
          <a:ln w="12700">
            <a:solidFill>
              <a:srgbClr val="F5F9FC"/>
            </a:solidFill>
            <a:prstDash val="solid"/>
          </a:ln>
        </p:spPr>
      </p:sp>
      <p:sp>
        <p:nvSpPr>
          <p:cNvPr id="31" name="Shape 23"/>
          <p:cNvSpPr/>
          <p:nvPr/>
        </p:nvSpPr>
        <p:spPr>
          <a:xfrm>
            <a:off x="713232" y="4590288"/>
            <a:ext cx="548640" cy="548640"/>
          </a:xfrm>
          <a:prstGeom prst="ellipse">
            <a:avLst/>
          </a:prstGeom>
          <a:solidFill>
            <a:srgbClr val="1F5F8B"/>
          </a:solidFill>
          <a:ln w="12700">
            <a:solidFill>
              <a:srgbClr val="1F5F8B"/>
            </a:solidFill>
            <a:prstDash val="solid"/>
          </a:ln>
        </p:spPr>
      </p:sp>
      <p:pic>
        <p:nvPicPr>
          <p:cNvPr id="32" name="Image 6" descr="preencoded.png">    </p:cNvPr>
          <p:cNvPicPr>
            <a:picLocks noChangeAspect="1"/>
          </p:cNvPicPr>
          <p:nvPr/>
        </p:nvPicPr>
        <p:blipFill>
          <a:blip r:embed="rId7"/>
          <a:stretch>
            <a:fillRect/>
          </a:stretch>
        </p:blipFill>
        <p:spPr>
          <a:xfrm>
            <a:off x="855878" y="4732934"/>
            <a:ext cx="263347" cy="263347"/>
          </a:xfrm>
          <a:prstGeom prst="rect">
            <a:avLst/>
          </a:prstGeom>
        </p:spPr>
      </p:pic>
      <p:sp>
        <p:nvSpPr>
          <p:cNvPr id="33" name="Text 24"/>
          <p:cNvSpPr txBox="1"/>
          <p:nvPr/>
        </p:nvSpPr>
        <p:spPr>
          <a:xfrm>
            <a:off x="1417320" y="4480560"/>
            <a:ext cx="2514600" cy="777240"/>
          </a:xfrm>
          <a:prstGeom prst="rect">
            <a:avLst/>
          </a:prstGeom>
          <a:noFill/>
          <a:ln/>
        </p:spPr>
        <p:txBody>
          <a:bodyPr wrap="square" lIns="0" tIns="0" rIns="0" bIns="0" rtlCol="0" anchor="ctr"/>
          <a:lstStyle/>
          <a:p>
            <a:pPr indent="0" marL="0">
              <a:buNone/>
            </a:pPr>
            <a:r>
              <a:rPr lang="en-US" sz="1400" b="1" dirty="0">
                <a:solidFill>
                  <a:srgbClr val="1F5F8B"/>
                </a:solidFill>
                <a:latin typeface="Meiryo UI" pitchFamily="34" charset="0"/>
                <a:ea typeface="Meiryo UI" pitchFamily="34" charset="-122"/>
                <a:cs typeface="Meiryo UI" pitchFamily="34" charset="-120"/>
              </a:rPr>
              <a:t>比較サイトでの価格競争</a:t>
            </a:r>
            <a:endParaRPr lang="en-US" sz="1400" dirty="0"/>
          </a:p>
        </p:txBody>
      </p:sp>
      <p:sp>
        <p:nvSpPr>
          <p:cNvPr id="34" name="Text 25"/>
          <p:cNvSpPr txBox="1"/>
          <p:nvPr/>
        </p:nvSpPr>
        <p:spPr>
          <a:xfrm>
            <a:off x="3977640" y="4480560"/>
            <a:ext cx="3474720" cy="7772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ポータルサイトでは最初の提示額の安さばかりが比べられる</a:t>
            </a:r>
            <a:endParaRPr lang="en-US" sz="1200" dirty="0"/>
          </a:p>
        </p:txBody>
      </p:sp>
      <p:pic>
        <p:nvPicPr>
          <p:cNvPr id="35" name="Image 7" descr="preencoded.png">    </p:cNvPr>
          <p:cNvPicPr>
            <a:picLocks noChangeAspect="1"/>
          </p:cNvPicPr>
          <p:nvPr/>
        </p:nvPicPr>
        <p:blipFill>
          <a:blip r:embed="rId8"/>
          <a:stretch>
            <a:fillRect/>
          </a:stretch>
        </p:blipFill>
        <p:spPr>
          <a:xfrm>
            <a:off x="7479792" y="4754880"/>
            <a:ext cx="228600" cy="228600"/>
          </a:xfrm>
          <a:prstGeom prst="rect">
            <a:avLst/>
          </a:prstGeom>
        </p:spPr>
      </p:pic>
      <p:sp>
        <p:nvSpPr>
          <p:cNvPr id="36" name="Text 26"/>
          <p:cNvSpPr txBox="1"/>
          <p:nvPr/>
        </p:nvSpPr>
        <p:spPr>
          <a:xfrm>
            <a:off x="7818120" y="4480560"/>
            <a:ext cx="3657600" cy="777240"/>
          </a:xfrm>
          <a:prstGeom prst="rect">
            <a:avLst/>
          </a:prstGeom>
          <a:noFill/>
          <a:ln/>
        </p:spPr>
        <p:txBody>
          <a:bodyPr wrap="square" lIns="0" tIns="0" rIns="0" bIns="0" rtlCol="0" anchor="ctr"/>
          <a:lstStyle/>
          <a:p>
            <a:pPr indent="0" marL="0">
              <a:buNone/>
            </a:pPr>
            <a:r>
              <a:rPr lang="en-US" sz="1200" b="1" dirty="0">
                <a:solidFill>
                  <a:srgbClr val="26303A"/>
                </a:solidFill>
                <a:latin typeface="Meiryo UI" pitchFamily="34" charset="0"/>
                <a:ea typeface="Meiryo UI" pitchFamily="34" charset="-122"/>
                <a:cs typeface="Meiryo UI" pitchFamily="34" charset="-120"/>
              </a:rPr>
              <a:t>価格以外の判断材料を示さなければ選ばれない</a:t>
            </a:r>
            <a:endParaRPr lang="en-US" sz="1200" dirty="0"/>
          </a:p>
        </p:txBody>
      </p:sp>
      <p:sp>
        <p:nvSpPr>
          <p:cNvPr id="37" name="Shape 27"/>
          <p:cNvSpPr/>
          <p:nvPr/>
        </p:nvSpPr>
        <p:spPr>
          <a:xfrm>
            <a:off x="548640" y="5394960"/>
            <a:ext cx="11094415" cy="777240"/>
          </a:xfrm>
          <a:prstGeom prst="roundRect">
            <a:avLst>
              <a:gd name="adj" fmla="val 14118"/>
            </a:avLst>
          </a:prstGeom>
          <a:solidFill>
            <a:srgbClr val="FDF0E3"/>
          </a:solidFill>
          <a:ln w="12700">
            <a:solidFill>
              <a:srgbClr val="FDF0E3"/>
            </a:solidFill>
            <a:prstDash val="solid"/>
          </a:ln>
        </p:spPr>
      </p:sp>
      <p:sp>
        <p:nvSpPr>
          <p:cNvPr id="38" name="Shape 28"/>
          <p:cNvSpPr/>
          <p:nvPr/>
        </p:nvSpPr>
        <p:spPr>
          <a:xfrm>
            <a:off x="713232" y="5504688"/>
            <a:ext cx="548640" cy="548640"/>
          </a:xfrm>
          <a:prstGeom prst="ellipse">
            <a:avLst/>
          </a:prstGeom>
          <a:solidFill>
            <a:srgbClr val="D2702A"/>
          </a:solidFill>
          <a:ln w="12700">
            <a:solidFill>
              <a:srgbClr val="D2702A"/>
            </a:solidFill>
            <a:prstDash val="solid"/>
          </a:ln>
        </p:spPr>
      </p:sp>
      <p:pic>
        <p:nvPicPr>
          <p:cNvPr id="39" name="Image 8" descr="preencoded.png">    </p:cNvPr>
          <p:cNvPicPr>
            <a:picLocks noChangeAspect="1"/>
          </p:cNvPicPr>
          <p:nvPr/>
        </p:nvPicPr>
        <p:blipFill>
          <a:blip r:embed="rId9"/>
          <a:stretch>
            <a:fillRect/>
          </a:stretch>
        </p:blipFill>
        <p:spPr>
          <a:xfrm>
            <a:off x="855878" y="5647334"/>
            <a:ext cx="263347" cy="263347"/>
          </a:xfrm>
          <a:prstGeom prst="rect">
            <a:avLst/>
          </a:prstGeom>
        </p:spPr>
      </p:pic>
      <p:sp>
        <p:nvSpPr>
          <p:cNvPr id="40" name="Text 29"/>
          <p:cNvSpPr txBox="1"/>
          <p:nvPr/>
        </p:nvSpPr>
        <p:spPr>
          <a:xfrm>
            <a:off x="1417320" y="5394960"/>
            <a:ext cx="2514600" cy="777240"/>
          </a:xfrm>
          <a:prstGeom prst="rect">
            <a:avLst/>
          </a:prstGeom>
          <a:noFill/>
          <a:ln/>
        </p:spPr>
        <p:txBody>
          <a:bodyPr wrap="square" lIns="0" tIns="0" rIns="0" bIns="0" rtlCol="0" anchor="ctr"/>
          <a:lstStyle/>
          <a:p>
            <a:pPr indent="0" marL="0">
              <a:buNone/>
            </a:pPr>
            <a:r>
              <a:rPr lang="en-US" sz="1400" b="1" dirty="0">
                <a:solidFill>
                  <a:srgbClr val="D2702A"/>
                </a:solidFill>
                <a:latin typeface="Meiryo UI" pitchFamily="34" charset="0"/>
                <a:ea typeface="Meiryo UI" pitchFamily="34" charset="-122"/>
                <a:cs typeface="Meiryo UI" pitchFamily="34" charset="-120"/>
              </a:rPr>
              <a:t>貴社の転換点</a:t>
            </a:r>
            <a:endParaRPr lang="en-US" sz="1400" dirty="0"/>
          </a:p>
        </p:txBody>
      </p:sp>
      <p:sp>
        <p:nvSpPr>
          <p:cNvPr id="41" name="Text 30"/>
          <p:cNvSpPr txBox="1"/>
          <p:nvPr/>
        </p:nvSpPr>
        <p:spPr>
          <a:xfrm>
            <a:off x="3977640" y="5394960"/>
            <a:ext cx="3474720" cy="777240"/>
          </a:xfrm>
          <a:prstGeom prst="rect">
            <a:avLst/>
          </a:prstGeom>
          <a:noFill/>
          <a:ln/>
        </p:spPr>
        <p:txBody>
          <a:bodyPr wrap="square" lIns="0" tIns="0" rIns="0" bIns="0" rtlCol="0" anchor="ctr"/>
          <a:lstStyle/>
          <a:p>
            <a:pPr indent="0" marL="0">
              <a:buNone/>
            </a:pPr>
            <a:r>
              <a:rPr lang="en-US" sz="1200" dirty="0">
                <a:solidFill>
                  <a:srgbClr val="26303A"/>
                </a:solidFill>
                <a:latin typeface="Meiryo UI" pitchFamily="34" charset="0"/>
                <a:ea typeface="Meiryo UI" pitchFamily="34" charset="-122"/>
                <a:cs typeface="Meiryo UI" pitchFamily="34" charset="-120"/>
              </a:rPr>
              <a:t>ポータルサイトから撤退し、地元の紹介が中心。関東圏への拡大を検討中</a:t>
            </a:r>
            <a:endParaRPr lang="en-US" sz="1200" dirty="0"/>
          </a:p>
        </p:txBody>
      </p:sp>
      <p:pic>
        <p:nvPicPr>
          <p:cNvPr id="42" name="Image 9" descr="preencoded.png">    </p:cNvPr>
          <p:cNvPicPr>
            <a:picLocks noChangeAspect="1"/>
          </p:cNvPicPr>
          <p:nvPr/>
        </p:nvPicPr>
        <p:blipFill>
          <a:blip r:embed="rId10"/>
          <a:stretch>
            <a:fillRect/>
          </a:stretch>
        </p:blipFill>
        <p:spPr>
          <a:xfrm>
            <a:off x="7479792" y="5669280"/>
            <a:ext cx="228600" cy="228600"/>
          </a:xfrm>
          <a:prstGeom prst="rect">
            <a:avLst/>
          </a:prstGeom>
        </p:spPr>
      </p:pic>
      <p:sp>
        <p:nvSpPr>
          <p:cNvPr id="43" name="Text 31"/>
          <p:cNvSpPr txBox="1"/>
          <p:nvPr/>
        </p:nvSpPr>
        <p:spPr>
          <a:xfrm>
            <a:off x="7818120" y="5394960"/>
            <a:ext cx="3657600" cy="777240"/>
          </a:xfrm>
          <a:prstGeom prst="rect">
            <a:avLst/>
          </a:prstGeom>
          <a:noFill/>
          <a:ln/>
        </p:spPr>
        <p:txBody>
          <a:bodyPr wrap="square" lIns="0" tIns="0" rIns="0" bIns="0" rtlCol="0" anchor="ctr"/>
          <a:lstStyle/>
          <a:p>
            <a:pPr indent="0" marL="0">
              <a:buNone/>
            </a:pPr>
            <a:r>
              <a:rPr lang="en-US" sz="1200" b="1" dirty="0">
                <a:solidFill>
                  <a:srgbClr val="26303A"/>
                </a:solidFill>
                <a:latin typeface="Meiryo UI" pitchFamily="34" charset="0"/>
                <a:ea typeface="Meiryo UI" pitchFamily="34" charset="-122"/>
                <a:cs typeface="Meiryo UI" pitchFamily="34" charset="-120"/>
              </a:rPr>
              <a:t>自社の“直接の集客窓口”を今つくる好機</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貴社が直面している本質的課題</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37585"/>
                </a:solidFill>
                <a:latin typeface="Meiryo UI" pitchFamily="34" charset="0"/>
                <a:ea typeface="Meiryo UI" pitchFamily="34" charset="-122"/>
                <a:cs typeface="Meiryo UI" pitchFamily="34" charset="-120"/>
              </a:rPr>
              <a:t>前回伺った内容をもとに、構造的な課題として整理しました。本日、優先度と現状の数値をご確認ください。</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5</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1938528"/>
            <a:ext cx="457200" cy="457200"/>
          </a:xfrm>
          <a:prstGeom prst="ellipse">
            <a:avLst/>
          </a:prstGeom>
          <a:solidFill>
            <a:srgbClr val="1F5F8B"/>
          </a:solidFill>
          <a:ln w="12700">
            <a:solidFill>
              <a:srgbClr val="1F5F8B"/>
            </a:solidFill>
            <a:prstDash val="solid"/>
          </a:ln>
        </p:spPr>
      </p:sp>
      <p:sp>
        <p:nvSpPr>
          <p:cNvPr id="9" name="Text 7"/>
          <p:cNvSpPr txBox="1"/>
          <p:nvPr/>
        </p:nvSpPr>
        <p:spPr>
          <a:xfrm>
            <a:off x="77724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10" name="Text 8"/>
          <p:cNvSpPr txBox="1"/>
          <p:nvPr/>
        </p:nvSpPr>
        <p:spPr>
          <a:xfrm>
            <a:off x="1371600" y="1938528"/>
            <a:ext cx="2509418" cy="457200"/>
          </a:xfrm>
          <a:prstGeom prst="rect">
            <a:avLst/>
          </a:prstGeom>
          <a:noFill/>
          <a:ln/>
        </p:spPr>
        <p:txBody>
          <a:bodyPr wrap="square" lIns="0" tIns="0" rIns="0" bIns="0" rtlCol="0" anchor="ctr"/>
          <a:lstStyle/>
          <a:p>
            <a:pPr indent="0" marL="0">
              <a:buNone/>
            </a:pPr>
            <a:r>
              <a:rPr lang="en-US" sz="1450" b="1" dirty="0">
                <a:solidFill>
                  <a:srgbClr val="1F5F8B"/>
                </a:solidFill>
                <a:latin typeface="Meiryo UI" pitchFamily="34" charset="0"/>
                <a:ea typeface="Meiryo UI" pitchFamily="34" charset="-122"/>
                <a:cs typeface="Meiryo UI" pitchFamily="34" charset="-120"/>
              </a:rPr>
              <a:t>新規の窓口が少ない</a:t>
            </a:r>
            <a:endParaRPr lang="en-US" sz="1450" dirty="0"/>
          </a:p>
        </p:txBody>
      </p:sp>
      <p:sp>
        <p:nvSpPr>
          <p:cNvPr id="11" name="Text 9"/>
          <p:cNvSpPr txBox="1"/>
          <p:nvPr/>
        </p:nvSpPr>
        <p:spPr>
          <a:xfrm>
            <a:off x="777240" y="2514600"/>
            <a:ext cx="548640"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現象</a:t>
            </a:r>
            <a:endParaRPr lang="en-US" sz="1050" dirty="0"/>
          </a:p>
        </p:txBody>
      </p:sp>
      <p:sp>
        <p:nvSpPr>
          <p:cNvPr id="12" name="Text 10"/>
          <p:cNvSpPr txBox="1"/>
          <p:nvPr/>
        </p:nvSpPr>
        <p:spPr>
          <a:xfrm>
            <a:off x="1325880" y="2496312"/>
            <a:ext cx="2509418" cy="64008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集客が社協の広告・市役所のポスター・紹介に限られている</a:t>
            </a:r>
            <a:endParaRPr lang="en-US" sz="1200" dirty="0"/>
          </a:p>
        </p:txBody>
      </p:sp>
      <p:sp>
        <p:nvSpPr>
          <p:cNvPr id="13" name="Text 11"/>
          <p:cNvSpPr txBox="1"/>
          <p:nvPr/>
        </p:nvSpPr>
        <p:spPr>
          <a:xfrm>
            <a:off x="777240" y="3154680"/>
            <a:ext cx="54864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リスク</a:t>
            </a:r>
            <a:endParaRPr lang="en-US" sz="1050" dirty="0"/>
          </a:p>
        </p:txBody>
      </p:sp>
      <p:sp>
        <p:nvSpPr>
          <p:cNvPr id="14" name="Text 12"/>
          <p:cNvSpPr txBox="1"/>
          <p:nvPr/>
        </p:nvSpPr>
        <p:spPr>
          <a:xfrm>
            <a:off x="1325880" y="3136392"/>
            <a:ext cx="2509418" cy="640080"/>
          </a:xfrm>
          <a:prstGeom prst="rect">
            <a:avLst/>
          </a:prstGeom>
          <a:noFill/>
          <a:ln/>
        </p:spPr>
        <p:txBody>
          <a:bodyPr wrap="square" lIns="0" tIns="0" rIns="0" bIns="0" rtlCol="0" anchor="t"/>
          <a:lstStyle/>
          <a:p>
            <a:pPr indent="0" marL="0">
              <a:buNone/>
            </a:pPr>
            <a:r>
              <a:rPr lang="en-US" sz="1200" b="1" dirty="0">
                <a:solidFill>
                  <a:srgbClr val="26303A"/>
                </a:solidFill>
                <a:latin typeface="Meiryo UI" pitchFamily="34" charset="0"/>
                <a:ea typeface="Meiryo UI" pitchFamily="34" charset="-122"/>
                <a:cs typeface="Meiryo UI" pitchFamily="34" charset="-120"/>
              </a:rPr>
              <a:t>案件数が紹介元の状況に左右される</a:t>
            </a:r>
            <a:endParaRPr lang="en-US" sz="1200" dirty="0"/>
          </a:p>
        </p:txBody>
      </p:sp>
      <p:sp>
        <p:nvSpPr>
          <p:cNvPr id="15" name="Shape 13"/>
          <p:cNvSpPr/>
          <p:nvPr/>
        </p:nvSpPr>
        <p:spPr>
          <a:xfrm>
            <a:off x="4338218"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566818" y="1938528"/>
            <a:ext cx="457200" cy="457200"/>
          </a:xfrm>
          <a:prstGeom prst="ellipse">
            <a:avLst/>
          </a:prstGeom>
          <a:solidFill>
            <a:srgbClr val="1F5F8B"/>
          </a:solidFill>
          <a:ln w="12700">
            <a:solidFill>
              <a:srgbClr val="1F5F8B"/>
            </a:solidFill>
            <a:prstDash val="solid"/>
          </a:ln>
        </p:spPr>
      </p:sp>
      <p:sp>
        <p:nvSpPr>
          <p:cNvPr id="17" name="Text 15"/>
          <p:cNvSpPr txBox="1"/>
          <p:nvPr/>
        </p:nvSpPr>
        <p:spPr>
          <a:xfrm>
            <a:off x="456681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8" name="Text 16"/>
          <p:cNvSpPr txBox="1"/>
          <p:nvPr/>
        </p:nvSpPr>
        <p:spPr>
          <a:xfrm>
            <a:off x="5161178" y="1938528"/>
            <a:ext cx="2509418" cy="457200"/>
          </a:xfrm>
          <a:prstGeom prst="rect">
            <a:avLst/>
          </a:prstGeom>
          <a:noFill/>
          <a:ln/>
        </p:spPr>
        <p:txBody>
          <a:bodyPr wrap="square" lIns="0" tIns="0" rIns="0" bIns="0" rtlCol="0" anchor="ctr"/>
          <a:lstStyle/>
          <a:p>
            <a:pPr indent="0" marL="0">
              <a:buNone/>
            </a:pPr>
            <a:r>
              <a:rPr lang="en-US" sz="1450" b="1" dirty="0">
                <a:solidFill>
                  <a:srgbClr val="1F5F8B"/>
                </a:solidFill>
                <a:latin typeface="Meiryo UI" pitchFamily="34" charset="0"/>
                <a:ea typeface="Meiryo UI" pitchFamily="34" charset="-122"/>
                <a:cs typeface="Meiryo UI" pitchFamily="34" charset="-120"/>
              </a:rPr>
              <a:t>地元だけでは母数が限られる</a:t>
            </a:r>
            <a:endParaRPr lang="en-US" sz="1450" dirty="0"/>
          </a:p>
        </p:txBody>
      </p:sp>
      <p:sp>
        <p:nvSpPr>
          <p:cNvPr id="19" name="Text 17"/>
          <p:cNvSpPr txBox="1"/>
          <p:nvPr/>
        </p:nvSpPr>
        <p:spPr>
          <a:xfrm>
            <a:off x="4566818" y="2514600"/>
            <a:ext cx="548640"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現象</a:t>
            </a:r>
            <a:endParaRPr lang="en-US" sz="1050" dirty="0"/>
          </a:p>
        </p:txBody>
      </p:sp>
      <p:sp>
        <p:nvSpPr>
          <p:cNvPr id="20" name="Text 18"/>
          <p:cNvSpPr txBox="1"/>
          <p:nvPr/>
        </p:nvSpPr>
        <p:spPr>
          <a:xfrm>
            <a:off x="5115458" y="2496312"/>
            <a:ext cx="2509418" cy="64008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ゴミ屋敷などの案件は、地元だけでは数が少ない</a:t>
            </a:r>
            <a:endParaRPr lang="en-US" sz="1200" dirty="0"/>
          </a:p>
        </p:txBody>
      </p:sp>
      <p:sp>
        <p:nvSpPr>
          <p:cNvPr id="21" name="Text 19"/>
          <p:cNvSpPr txBox="1"/>
          <p:nvPr/>
        </p:nvSpPr>
        <p:spPr>
          <a:xfrm>
            <a:off x="4566818" y="3154680"/>
            <a:ext cx="54864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リスク</a:t>
            </a:r>
            <a:endParaRPr lang="en-US" sz="1050" dirty="0"/>
          </a:p>
        </p:txBody>
      </p:sp>
      <p:sp>
        <p:nvSpPr>
          <p:cNvPr id="22" name="Text 20"/>
          <p:cNvSpPr txBox="1"/>
          <p:nvPr/>
        </p:nvSpPr>
        <p:spPr>
          <a:xfrm>
            <a:off x="5115458" y="3136392"/>
            <a:ext cx="2509418" cy="640080"/>
          </a:xfrm>
          <a:prstGeom prst="rect">
            <a:avLst/>
          </a:prstGeom>
          <a:noFill/>
          <a:ln/>
        </p:spPr>
        <p:txBody>
          <a:bodyPr wrap="square" lIns="0" tIns="0" rIns="0" bIns="0" rtlCol="0" anchor="t"/>
          <a:lstStyle/>
          <a:p>
            <a:pPr indent="0" marL="0">
              <a:buNone/>
            </a:pPr>
            <a:r>
              <a:rPr lang="en-US" sz="1200" b="1" dirty="0">
                <a:solidFill>
                  <a:srgbClr val="26303A"/>
                </a:solidFill>
                <a:latin typeface="Meiryo UI" pitchFamily="34" charset="0"/>
                <a:ea typeface="Meiryo UI" pitchFamily="34" charset="-122"/>
                <a:cs typeface="Meiryo UI" pitchFamily="34" charset="-120"/>
              </a:rPr>
              <a:t>繁忙期以外の売上が安定しない</a:t>
            </a:r>
            <a:endParaRPr lang="en-US" sz="1200" dirty="0"/>
          </a:p>
        </p:txBody>
      </p:sp>
      <p:sp>
        <p:nvSpPr>
          <p:cNvPr id="23" name="Shape 21"/>
          <p:cNvSpPr/>
          <p:nvPr/>
        </p:nvSpPr>
        <p:spPr>
          <a:xfrm>
            <a:off x="8127797"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8356397" y="1938528"/>
            <a:ext cx="457200" cy="457200"/>
          </a:xfrm>
          <a:prstGeom prst="ellipse">
            <a:avLst/>
          </a:prstGeom>
          <a:solidFill>
            <a:srgbClr val="1F5F8B"/>
          </a:solidFill>
          <a:ln w="12700">
            <a:solidFill>
              <a:srgbClr val="1F5F8B"/>
            </a:solidFill>
            <a:prstDash val="solid"/>
          </a:ln>
        </p:spPr>
      </p:sp>
      <p:sp>
        <p:nvSpPr>
          <p:cNvPr id="25" name="Text 23"/>
          <p:cNvSpPr txBox="1"/>
          <p:nvPr/>
        </p:nvSpPr>
        <p:spPr>
          <a:xfrm>
            <a:off x="8356397"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26" name="Text 24"/>
          <p:cNvSpPr txBox="1"/>
          <p:nvPr/>
        </p:nvSpPr>
        <p:spPr>
          <a:xfrm>
            <a:off x="8950757" y="1938528"/>
            <a:ext cx="2509418" cy="457200"/>
          </a:xfrm>
          <a:prstGeom prst="rect">
            <a:avLst/>
          </a:prstGeom>
          <a:noFill/>
          <a:ln/>
        </p:spPr>
        <p:txBody>
          <a:bodyPr wrap="square" lIns="0" tIns="0" rIns="0" bIns="0" rtlCol="0" anchor="ctr"/>
          <a:lstStyle/>
          <a:p>
            <a:pPr indent="0" marL="0">
              <a:buNone/>
            </a:pPr>
            <a:r>
              <a:rPr lang="en-US" sz="1450" b="1" dirty="0">
                <a:solidFill>
                  <a:srgbClr val="1F5F8B"/>
                </a:solidFill>
                <a:latin typeface="Meiryo UI" pitchFamily="34" charset="0"/>
                <a:ea typeface="Meiryo UI" pitchFamily="34" charset="-122"/>
                <a:cs typeface="Meiryo UI" pitchFamily="34" charset="-120"/>
              </a:rPr>
              <a:t>良さが文字では伝わらない</a:t>
            </a:r>
            <a:endParaRPr lang="en-US" sz="1450" dirty="0"/>
          </a:p>
        </p:txBody>
      </p:sp>
      <p:sp>
        <p:nvSpPr>
          <p:cNvPr id="27" name="Text 25"/>
          <p:cNvSpPr txBox="1"/>
          <p:nvPr/>
        </p:nvSpPr>
        <p:spPr>
          <a:xfrm>
            <a:off x="8356397" y="2514600"/>
            <a:ext cx="548640"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現象</a:t>
            </a:r>
            <a:endParaRPr lang="en-US" sz="1050" dirty="0"/>
          </a:p>
        </p:txBody>
      </p:sp>
      <p:sp>
        <p:nvSpPr>
          <p:cNvPr id="28" name="Text 26"/>
          <p:cNvSpPr txBox="1"/>
          <p:nvPr/>
        </p:nvSpPr>
        <p:spPr>
          <a:xfrm>
            <a:off x="8905037" y="2496312"/>
            <a:ext cx="2509418" cy="64008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親身さ・福祉の視点・丁寧さがHPの文章では伝わりにくい</a:t>
            </a:r>
            <a:endParaRPr lang="en-US" sz="1200" dirty="0"/>
          </a:p>
        </p:txBody>
      </p:sp>
      <p:sp>
        <p:nvSpPr>
          <p:cNvPr id="29" name="Text 27"/>
          <p:cNvSpPr txBox="1"/>
          <p:nvPr/>
        </p:nvSpPr>
        <p:spPr>
          <a:xfrm>
            <a:off x="8356397" y="3154680"/>
            <a:ext cx="54864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リスク</a:t>
            </a:r>
            <a:endParaRPr lang="en-US" sz="1050" dirty="0"/>
          </a:p>
        </p:txBody>
      </p:sp>
      <p:sp>
        <p:nvSpPr>
          <p:cNvPr id="30" name="Text 28"/>
          <p:cNvSpPr txBox="1"/>
          <p:nvPr/>
        </p:nvSpPr>
        <p:spPr>
          <a:xfrm>
            <a:off x="8905037" y="3136392"/>
            <a:ext cx="2509418" cy="640080"/>
          </a:xfrm>
          <a:prstGeom prst="rect">
            <a:avLst/>
          </a:prstGeom>
          <a:noFill/>
          <a:ln/>
        </p:spPr>
        <p:txBody>
          <a:bodyPr wrap="square" lIns="0" tIns="0" rIns="0" bIns="0" rtlCol="0" anchor="t"/>
          <a:lstStyle/>
          <a:p>
            <a:pPr indent="0" marL="0">
              <a:buNone/>
            </a:pPr>
            <a:r>
              <a:rPr lang="en-US" sz="1200" b="1" dirty="0">
                <a:solidFill>
                  <a:srgbClr val="26303A"/>
                </a:solidFill>
                <a:latin typeface="Meiryo UI" pitchFamily="34" charset="0"/>
                <a:ea typeface="Meiryo UI" pitchFamily="34" charset="-122"/>
                <a:cs typeface="Meiryo UI" pitchFamily="34" charset="-120"/>
              </a:rPr>
              <a:t>「どこも同じ」と見られ、価格で比べられる</a:t>
            </a:r>
            <a:endParaRPr lang="en-US" sz="1200" dirty="0"/>
          </a:p>
        </p:txBody>
      </p:sp>
      <p:sp>
        <p:nvSpPr>
          <p:cNvPr id="31" name="Shape 29"/>
          <p:cNvSpPr/>
          <p:nvPr/>
        </p:nvSpPr>
        <p:spPr>
          <a:xfrm>
            <a:off x="548640"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777240" y="4242816"/>
            <a:ext cx="457200" cy="457200"/>
          </a:xfrm>
          <a:prstGeom prst="ellipse">
            <a:avLst/>
          </a:prstGeom>
          <a:solidFill>
            <a:srgbClr val="1F5F8B"/>
          </a:solidFill>
          <a:ln w="12700">
            <a:solidFill>
              <a:srgbClr val="1F5F8B"/>
            </a:solidFill>
            <a:prstDash val="solid"/>
          </a:ln>
        </p:spPr>
      </p:sp>
      <p:sp>
        <p:nvSpPr>
          <p:cNvPr id="33" name="Text 31"/>
          <p:cNvSpPr txBox="1"/>
          <p:nvPr/>
        </p:nvSpPr>
        <p:spPr>
          <a:xfrm>
            <a:off x="777240"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34" name="Text 32"/>
          <p:cNvSpPr txBox="1"/>
          <p:nvPr/>
        </p:nvSpPr>
        <p:spPr>
          <a:xfrm>
            <a:off x="1371600" y="4242816"/>
            <a:ext cx="2509418" cy="457200"/>
          </a:xfrm>
          <a:prstGeom prst="rect">
            <a:avLst/>
          </a:prstGeom>
          <a:noFill/>
          <a:ln/>
        </p:spPr>
        <p:txBody>
          <a:bodyPr wrap="square" lIns="0" tIns="0" rIns="0" bIns="0" rtlCol="0" anchor="ctr"/>
          <a:lstStyle/>
          <a:p>
            <a:pPr indent="0" marL="0">
              <a:buNone/>
            </a:pPr>
            <a:r>
              <a:rPr lang="en-US" sz="1450" b="1" dirty="0">
                <a:solidFill>
                  <a:srgbClr val="1F5F8B"/>
                </a:solidFill>
                <a:latin typeface="Meiryo UI" pitchFamily="34" charset="0"/>
                <a:ea typeface="Meiryo UI" pitchFamily="34" charset="-122"/>
                <a:cs typeface="Meiryo UI" pitchFamily="34" charset="-120"/>
              </a:rPr>
              <a:t>相見積もりでの価格競争</a:t>
            </a:r>
            <a:endParaRPr lang="en-US" sz="1450" dirty="0"/>
          </a:p>
        </p:txBody>
      </p:sp>
      <p:sp>
        <p:nvSpPr>
          <p:cNvPr id="35" name="Text 33"/>
          <p:cNvSpPr txBox="1"/>
          <p:nvPr/>
        </p:nvSpPr>
        <p:spPr>
          <a:xfrm>
            <a:off x="777240" y="4818888"/>
            <a:ext cx="548640"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現象</a:t>
            </a:r>
            <a:endParaRPr lang="en-US" sz="1050" dirty="0"/>
          </a:p>
        </p:txBody>
      </p:sp>
      <p:sp>
        <p:nvSpPr>
          <p:cNvPr id="36" name="Text 34"/>
          <p:cNvSpPr txBox="1"/>
          <p:nvPr/>
        </p:nvSpPr>
        <p:spPr>
          <a:xfrm>
            <a:off x="1325880" y="4800600"/>
            <a:ext cx="2509418" cy="64008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最初の提示額の安さで判断されやすい</a:t>
            </a:r>
            <a:endParaRPr lang="en-US" sz="1200" dirty="0"/>
          </a:p>
        </p:txBody>
      </p:sp>
      <p:sp>
        <p:nvSpPr>
          <p:cNvPr id="37" name="Text 35"/>
          <p:cNvSpPr txBox="1"/>
          <p:nvPr/>
        </p:nvSpPr>
        <p:spPr>
          <a:xfrm>
            <a:off x="777240" y="5458968"/>
            <a:ext cx="54864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リスク</a:t>
            </a:r>
            <a:endParaRPr lang="en-US" sz="1050" dirty="0"/>
          </a:p>
        </p:txBody>
      </p:sp>
      <p:sp>
        <p:nvSpPr>
          <p:cNvPr id="38" name="Text 36"/>
          <p:cNvSpPr txBox="1"/>
          <p:nvPr/>
        </p:nvSpPr>
        <p:spPr>
          <a:xfrm>
            <a:off x="1325880" y="5440680"/>
            <a:ext cx="2509418" cy="640080"/>
          </a:xfrm>
          <a:prstGeom prst="rect">
            <a:avLst/>
          </a:prstGeom>
          <a:noFill/>
          <a:ln/>
        </p:spPr>
        <p:txBody>
          <a:bodyPr wrap="square" lIns="0" tIns="0" rIns="0" bIns="0" rtlCol="0" anchor="t"/>
          <a:lstStyle/>
          <a:p>
            <a:pPr indent="0" marL="0">
              <a:buNone/>
            </a:pPr>
            <a:r>
              <a:rPr lang="en-US" sz="1200" b="1" dirty="0">
                <a:solidFill>
                  <a:srgbClr val="26303A"/>
                </a:solidFill>
                <a:latin typeface="Meiryo UI" pitchFamily="34" charset="0"/>
                <a:ea typeface="Meiryo UI" pitchFamily="34" charset="-122"/>
                <a:cs typeface="Meiryo UI" pitchFamily="34" charset="-120"/>
              </a:rPr>
              <a:t>適正価格でも失注し、安さ重視の業者に流れる</a:t>
            </a:r>
            <a:endParaRPr lang="en-US" sz="1200" dirty="0"/>
          </a:p>
        </p:txBody>
      </p:sp>
      <p:sp>
        <p:nvSpPr>
          <p:cNvPr id="39" name="Shape 37"/>
          <p:cNvSpPr/>
          <p:nvPr/>
        </p:nvSpPr>
        <p:spPr>
          <a:xfrm>
            <a:off x="4338218"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4566818" y="4242816"/>
            <a:ext cx="457200" cy="457200"/>
          </a:xfrm>
          <a:prstGeom prst="ellipse">
            <a:avLst/>
          </a:prstGeom>
          <a:solidFill>
            <a:srgbClr val="1F5F8B"/>
          </a:solidFill>
          <a:ln w="12700">
            <a:solidFill>
              <a:srgbClr val="1F5F8B"/>
            </a:solidFill>
            <a:prstDash val="solid"/>
          </a:ln>
        </p:spPr>
      </p:sp>
      <p:sp>
        <p:nvSpPr>
          <p:cNvPr id="41" name="Text 39"/>
          <p:cNvSpPr txBox="1"/>
          <p:nvPr/>
        </p:nvSpPr>
        <p:spPr>
          <a:xfrm>
            <a:off x="4566818"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42" name="Text 40"/>
          <p:cNvSpPr txBox="1"/>
          <p:nvPr/>
        </p:nvSpPr>
        <p:spPr>
          <a:xfrm>
            <a:off x="5161178" y="4242816"/>
            <a:ext cx="2509418" cy="457200"/>
          </a:xfrm>
          <a:prstGeom prst="rect">
            <a:avLst/>
          </a:prstGeom>
          <a:noFill/>
          <a:ln/>
        </p:spPr>
        <p:txBody>
          <a:bodyPr wrap="square" lIns="0" tIns="0" rIns="0" bIns="0" rtlCol="0" anchor="ctr"/>
          <a:lstStyle/>
          <a:p>
            <a:pPr indent="0" marL="0">
              <a:buNone/>
            </a:pPr>
            <a:r>
              <a:rPr lang="en-US" sz="1450" b="1" dirty="0">
                <a:solidFill>
                  <a:srgbClr val="1F5F8B"/>
                </a:solidFill>
                <a:latin typeface="Meiryo UI" pitchFamily="34" charset="0"/>
                <a:ea typeface="Meiryo UI" pitchFamily="34" charset="-122"/>
                <a:cs typeface="Meiryo UI" pitchFamily="34" charset="-120"/>
              </a:rPr>
              <a:t>ネットからの直接の入口がない</a:t>
            </a:r>
            <a:endParaRPr lang="en-US" sz="1450" dirty="0"/>
          </a:p>
        </p:txBody>
      </p:sp>
      <p:sp>
        <p:nvSpPr>
          <p:cNvPr id="43" name="Text 41"/>
          <p:cNvSpPr txBox="1"/>
          <p:nvPr/>
        </p:nvSpPr>
        <p:spPr>
          <a:xfrm>
            <a:off x="4566818" y="4818888"/>
            <a:ext cx="548640"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現象</a:t>
            </a:r>
            <a:endParaRPr lang="en-US" sz="1050" dirty="0"/>
          </a:p>
        </p:txBody>
      </p:sp>
      <p:sp>
        <p:nvSpPr>
          <p:cNvPr id="44" name="Text 42"/>
          <p:cNvSpPr txBox="1"/>
          <p:nvPr/>
        </p:nvSpPr>
        <p:spPr>
          <a:xfrm>
            <a:off x="5115458" y="4800600"/>
            <a:ext cx="2509418" cy="64008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ポータルサイト撤退後、Web経由で見つけてもらう手段がない</a:t>
            </a:r>
            <a:endParaRPr lang="en-US" sz="1200" dirty="0"/>
          </a:p>
        </p:txBody>
      </p:sp>
      <p:sp>
        <p:nvSpPr>
          <p:cNvPr id="45" name="Text 43"/>
          <p:cNvSpPr txBox="1"/>
          <p:nvPr/>
        </p:nvSpPr>
        <p:spPr>
          <a:xfrm>
            <a:off x="4566818" y="5458968"/>
            <a:ext cx="54864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リスク</a:t>
            </a:r>
            <a:endParaRPr lang="en-US" sz="1050" dirty="0"/>
          </a:p>
        </p:txBody>
      </p:sp>
      <p:sp>
        <p:nvSpPr>
          <p:cNvPr id="46" name="Text 44"/>
          <p:cNvSpPr txBox="1"/>
          <p:nvPr/>
        </p:nvSpPr>
        <p:spPr>
          <a:xfrm>
            <a:off x="5115458" y="5440680"/>
            <a:ext cx="2509418" cy="640080"/>
          </a:xfrm>
          <a:prstGeom prst="rect">
            <a:avLst/>
          </a:prstGeom>
          <a:noFill/>
          <a:ln/>
        </p:spPr>
        <p:txBody>
          <a:bodyPr wrap="square" lIns="0" tIns="0" rIns="0" bIns="0" rtlCol="0" anchor="t"/>
          <a:lstStyle/>
          <a:p>
            <a:pPr indent="0" marL="0">
              <a:buNone/>
            </a:pPr>
            <a:r>
              <a:rPr lang="en-US" sz="1200" b="1" dirty="0">
                <a:solidFill>
                  <a:srgbClr val="26303A"/>
                </a:solidFill>
                <a:latin typeface="Meiryo UI" pitchFamily="34" charset="0"/>
                <a:ea typeface="Meiryo UI" pitchFamily="34" charset="-122"/>
                <a:cs typeface="Meiryo UI" pitchFamily="34" charset="-120"/>
              </a:rPr>
              <a:t>関東圏の見込み客に存在を知られない</a:t>
            </a:r>
            <a:endParaRPr lang="en-US" sz="1200" dirty="0"/>
          </a:p>
        </p:txBody>
      </p:sp>
      <p:sp>
        <p:nvSpPr>
          <p:cNvPr id="47" name="Shape 45"/>
          <p:cNvSpPr/>
          <p:nvPr/>
        </p:nvSpPr>
        <p:spPr>
          <a:xfrm>
            <a:off x="8127797"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6"/>
          <p:cNvSpPr/>
          <p:nvPr/>
        </p:nvSpPr>
        <p:spPr>
          <a:xfrm>
            <a:off x="8356397" y="4242816"/>
            <a:ext cx="457200" cy="457200"/>
          </a:xfrm>
          <a:prstGeom prst="ellipse">
            <a:avLst/>
          </a:prstGeom>
          <a:solidFill>
            <a:srgbClr val="1F5F8B"/>
          </a:solidFill>
          <a:ln w="12700">
            <a:solidFill>
              <a:srgbClr val="1F5F8B"/>
            </a:solidFill>
            <a:prstDash val="solid"/>
          </a:ln>
        </p:spPr>
      </p:sp>
      <p:sp>
        <p:nvSpPr>
          <p:cNvPr id="49" name="Text 47"/>
          <p:cNvSpPr txBox="1"/>
          <p:nvPr/>
        </p:nvSpPr>
        <p:spPr>
          <a:xfrm>
            <a:off x="8356397"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50" name="Text 48"/>
          <p:cNvSpPr txBox="1"/>
          <p:nvPr/>
        </p:nvSpPr>
        <p:spPr>
          <a:xfrm>
            <a:off x="8950757" y="4242816"/>
            <a:ext cx="2509418" cy="457200"/>
          </a:xfrm>
          <a:prstGeom prst="rect">
            <a:avLst/>
          </a:prstGeom>
          <a:noFill/>
          <a:ln/>
        </p:spPr>
        <p:txBody>
          <a:bodyPr wrap="square" lIns="0" tIns="0" rIns="0" bIns="0" rtlCol="0" anchor="ctr"/>
          <a:lstStyle/>
          <a:p>
            <a:pPr indent="0" marL="0">
              <a:buNone/>
            </a:pPr>
            <a:r>
              <a:rPr lang="en-US" sz="1450" b="1" dirty="0">
                <a:solidFill>
                  <a:srgbClr val="1F5F8B"/>
                </a:solidFill>
                <a:latin typeface="Meiryo UI" pitchFamily="34" charset="0"/>
                <a:ea typeface="Meiryo UI" pitchFamily="34" charset="-122"/>
                <a:cs typeface="Meiryo UI" pitchFamily="34" charset="-120"/>
              </a:rPr>
              <a:t>代表の説明力に頼っている</a:t>
            </a:r>
            <a:endParaRPr lang="en-US" sz="1450" dirty="0"/>
          </a:p>
        </p:txBody>
      </p:sp>
      <p:sp>
        <p:nvSpPr>
          <p:cNvPr id="51" name="Text 49"/>
          <p:cNvSpPr txBox="1"/>
          <p:nvPr/>
        </p:nvSpPr>
        <p:spPr>
          <a:xfrm>
            <a:off x="8356397" y="4818888"/>
            <a:ext cx="548640"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現象</a:t>
            </a:r>
            <a:endParaRPr lang="en-US" sz="1050" dirty="0"/>
          </a:p>
        </p:txBody>
      </p:sp>
      <p:sp>
        <p:nvSpPr>
          <p:cNvPr id="52" name="Text 50"/>
          <p:cNvSpPr txBox="1"/>
          <p:nvPr/>
        </p:nvSpPr>
        <p:spPr>
          <a:xfrm>
            <a:off x="8905037" y="4800600"/>
            <a:ext cx="2509418" cy="64008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「会って説明すれば伝わる」が、会えるまでが遠い</a:t>
            </a:r>
            <a:endParaRPr lang="en-US" sz="1200" dirty="0"/>
          </a:p>
        </p:txBody>
      </p:sp>
      <p:sp>
        <p:nvSpPr>
          <p:cNvPr id="53" name="Text 51"/>
          <p:cNvSpPr txBox="1"/>
          <p:nvPr/>
        </p:nvSpPr>
        <p:spPr>
          <a:xfrm>
            <a:off x="8356397" y="5458968"/>
            <a:ext cx="54864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リスク</a:t>
            </a:r>
            <a:endParaRPr lang="en-US" sz="1050" dirty="0"/>
          </a:p>
        </p:txBody>
      </p:sp>
      <p:sp>
        <p:nvSpPr>
          <p:cNvPr id="54" name="Text 52"/>
          <p:cNvSpPr txBox="1"/>
          <p:nvPr/>
        </p:nvSpPr>
        <p:spPr>
          <a:xfrm>
            <a:off x="8905037" y="5440680"/>
            <a:ext cx="2509418" cy="640080"/>
          </a:xfrm>
          <a:prstGeom prst="rect">
            <a:avLst/>
          </a:prstGeom>
          <a:noFill/>
          <a:ln/>
        </p:spPr>
        <p:txBody>
          <a:bodyPr wrap="square" lIns="0" tIns="0" rIns="0" bIns="0" rtlCol="0" anchor="t"/>
          <a:lstStyle/>
          <a:p>
            <a:pPr indent="0" marL="0">
              <a:buNone/>
            </a:pPr>
            <a:r>
              <a:rPr lang="en-US" sz="1200" b="1" dirty="0">
                <a:solidFill>
                  <a:srgbClr val="26303A"/>
                </a:solidFill>
                <a:latin typeface="Meiryo UI" pitchFamily="34" charset="0"/>
                <a:ea typeface="Meiryo UI" pitchFamily="34" charset="-122"/>
                <a:cs typeface="Meiryo UI" pitchFamily="34" charset="-120"/>
              </a:rPr>
              <a:t>代表の時間そのものが集客の上限になる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「動画を作って放置する（反応待ち）」では成果が出ない理由</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286000" y="1417320"/>
            <a:ext cx="4526280" cy="548640"/>
          </a:xfrm>
          <a:prstGeom prst="roundRect">
            <a:avLst>
              <a:gd name="adj" fmla="val 20000"/>
            </a:avLst>
          </a:prstGeom>
          <a:solidFill>
            <a:srgbClr val="EEF0F2"/>
          </a:solidFill>
          <a:ln w="12700">
            <a:solidFill>
              <a:srgbClr val="EEF0F2"/>
            </a:solidFill>
            <a:prstDash val="solid"/>
          </a:ln>
        </p:spPr>
      </p:sp>
      <p:sp>
        <p:nvSpPr>
          <p:cNvPr id="7" name="Text 5"/>
          <p:cNvSpPr txBox="1"/>
          <p:nvPr/>
        </p:nvSpPr>
        <p:spPr>
          <a:xfrm>
            <a:off x="2286000" y="1417320"/>
            <a:ext cx="4526280" cy="548640"/>
          </a:xfrm>
          <a:prstGeom prst="rect">
            <a:avLst/>
          </a:prstGeom>
          <a:noFill/>
          <a:ln/>
        </p:spPr>
        <p:txBody>
          <a:bodyPr wrap="square" lIns="0" tIns="0" rIns="0" bIns="0" rtlCol="0" anchor="ctr"/>
          <a:lstStyle/>
          <a:p>
            <a:pPr algn="ctr" indent="0" marL="0">
              <a:buNone/>
            </a:pPr>
            <a:r>
              <a:rPr lang="en-US" sz="1500" b="1" dirty="0">
                <a:solidFill>
                  <a:srgbClr val="7A8591"/>
                </a:solidFill>
                <a:latin typeface="Meiryo UI" pitchFamily="34" charset="0"/>
                <a:ea typeface="Meiryo UI" pitchFamily="34" charset="-122"/>
                <a:cs typeface="Meiryo UI" pitchFamily="34" charset="-120"/>
              </a:rPr>
              <a:t>作って放置（反応待ち）</a:t>
            </a:r>
            <a:endParaRPr lang="en-US" sz="1500" dirty="0"/>
          </a:p>
        </p:txBody>
      </p:sp>
      <p:sp>
        <p:nvSpPr>
          <p:cNvPr id="8" name="Shape 6"/>
          <p:cNvSpPr/>
          <p:nvPr/>
        </p:nvSpPr>
        <p:spPr>
          <a:xfrm>
            <a:off x="7086600" y="1417320"/>
            <a:ext cx="4526280" cy="548640"/>
          </a:xfrm>
          <a:prstGeom prst="roundRect">
            <a:avLst>
              <a:gd name="adj" fmla="val 20000"/>
            </a:avLst>
          </a:prstGeom>
          <a:solidFill>
            <a:srgbClr val="1F5F8B"/>
          </a:solidFill>
          <a:ln w="12700">
            <a:solidFill>
              <a:srgbClr val="1F5F8B"/>
            </a:solidFill>
            <a:prstDash val="solid"/>
          </a:ln>
        </p:spPr>
      </p:sp>
      <p:sp>
        <p:nvSpPr>
          <p:cNvPr id="9" name="Text 7"/>
          <p:cNvSpPr txBox="1"/>
          <p:nvPr/>
        </p:nvSpPr>
        <p:spPr>
          <a:xfrm>
            <a:off x="7086600" y="1417320"/>
            <a:ext cx="45262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戦略設計 ＋ 運用</a:t>
            </a:r>
            <a:endParaRPr lang="en-US" sz="1500" dirty="0"/>
          </a:p>
        </p:txBody>
      </p:sp>
      <p:sp>
        <p:nvSpPr>
          <p:cNvPr id="10" name="Text 8"/>
          <p:cNvSpPr txBox="1"/>
          <p:nvPr/>
        </p:nvSpPr>
        <p:spPr>
          <a:xfrm>
            <a:off x="548640" y="2103120"/>
            <a:ext cx="1645920" cy="603504"/>
          </a:xfrm>
          <a:prstGeom prst="rect">
            <a:avLst/>
          </a:prstGeom>
          <a:noFill/>
          <a:ln/>
        </p:spPr>
        <p:txBody>
          <a:bodyPr wrap="square" lIns="0" tIns="0" rIns="0" bIns="0" rtlCol="0" anchor="ctr"/>
          <a:lstStyle/>
          <a:p>
            <a:pPr indent="0" marL="0">
              <a:buNone/>
            </a:pPr>
            <a:r>
              <a:rPr lang="en-US" sz="1300" b="1" dirty="0">
                <a:solidFill>
                  <a:srgbClr val="1F5F8B"/>
                </a:solidFill>
                <a:latin typeface="Meiryo UI" pitchFamily="34" charset="0"/>
                <a:ea typeface="Meiryo UI" pitchFamily="34" charset="-122"/>
                <a:cs typeface="Meiryo UI" pitchFamily="34" charset="-120"/>
              </a:rPr>
              <a:t>届く人数</a:t>
            </a:r>
            <a:endParaRPr lang="en-US" sz="1300" dirty="0"/>
          </a:p>
        </p:txBody>
      </p:sp>
      <p:sp>
        <p:nvSpPr>
          <p:cNvPr id="11" name="Shape 9"/>
          <p:cNvSpPr/>
          <p:nvPr/>
        </p:nvSpPr>
        <p:spPr>
          <a:xfrm>
            <a:off x="2286000" y="2103120"/>
            <a:ext cx="4526280" cy="603504"/>
          </a:xfrm>
          <a:prstGeom prst="roundRect">
            <a:avLst>
              <a:gd name="adj" fmla="val 18182"/>
            </a:avLst>
          </a:prstGeom>
          <a:solidFill>
            <a:srgbClr val="F5F9FC"/>
          </a:solidFill>
          <a:ln w="12700">
            <a:solidFill>
              <a:srgbClr val="F5F9FC"/>
            </a:solidFill>
            <a:prstDash val="solid"/>
          </a:ln>
        </p:spPr>
      </p:sp>
      <p:sp>
        <p:nvSpPr>
          <p:cNvPr id="12" name="Shape 10"/>
          <p:cNvSpPr/>
          <p:nvPr/>
        </p:nvSpPr>
        <p:spPr>
          <a:xfrm>
            <a:off x="2423160" y="2249424"/>
            <a:ext cx="310896" cy="310896"/>
          </a:xfrm>
          <a:prstGeom prst="ellipse">
            <a:avLst/>
          </a:prstGeom>
          <a:solidFill>
            <a:srgbClr val="D9DEE3"/>
          </a:solidFill>
          <a:ln w="12700">
            <a:solidFill>
              <a:srgbClr val="D9DEE3"/>
            </a:solidFill>
            <a:prstDash val="solid"/>
          </a:ln>
        </p:spPr>
      </p:sp>
      <p:pic>
        <p:nvPicPr>
          <p:cNvPr id="13" name="Image 0" descr="preencoded.png">    </p:cNvPr>
          <p:cNvPicPr>
            <a:picLocks noChangeAspect="1"/>
          </p:cNvPicPr>
          <p:nvPr/>
        </p:nvPicPr>
        <p:blipFill>
          <a:blip r:embed="rId1"/>
          <a:stretch>
            <a:fillRect/>
          </a:stretch>
        </p:blipFill>
        <p:spPr>
          <a:xfrm>
            <a:off x="2503993" y="2330257"/>
            <a:ext cx="149230" cy="149230"/>
          </a:xfrm>
          <a:prstGeom prst="rect">
            <a:avLst/>
          </a:prstGeom>
        </p:spPr>
      </p:pic>
      <p:sp>
        <p:nvSpPr>
          <p:cNvPr id="14" name="Text 11"/>
          <p:cNvSpPr txBox="1"/>
          <p:nvPr/>
        </p:nvSpPr>
        <p:spPr>
          <a:xfrm>
            <a:off x="2852928" y="2103120"/>
            <a:ext cx="3840480" cy="603504"/>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HPを見に来た人しか見ない</a:t>
            </a:r>
            <a:endParaRPr lang="en-US" sz="1200" dirty="0"/>
          </a:p>
        </p:txBody>
      </p:sp>
      <p:sp>
        <p:nvSpPr>
          <p:cNvPr id="15" name="Shape 12"/>
          <p:cNvSpPr/>
          <p:nvPr/>
        </p:nvSpPr>
        <p:spPr>
          <a:xfrm>
            <a:off x="7086600" y="2103120"/>
            <a:ext cx="4526280" cy="603504"/>
          </a:xfrm>
          <a:prstGeom prst="roundRect">
            <a:avLst>
              <a:gd name="adj" fmla="val 18182"/>
            </a:avLst>
          </a:prstGeom>
          <a:solidFill>
            <a:srgbClr val="EAF2F8"/>
          </a:solidFill>
          <a:ln w="12700">
            <a:solidFill>
              <a:srgbClr val="EAF2F8"/>
            </a:solidFill>
            <a:prstDash val="solid"/>
          </a:ln>
        </p:spPr>
      </p:sp>
      <p:sp>
        <p:nvSpPr>
          <p:cNvPr id="16" name="Shape 13"/>
          <p:cNvSpPr/>
          <p:nvPr/>
        </p:nvSpPr>
        <p:spPr>
          <a:xfrm>
            <a:off x="7223760" y="2249424"/>
            <a:ext cx="310896" cy="310896"/>
          </a:xfrm>
          <a:prstGeom prst="ellipse">
            <a:avLst/>
          </a:prstGeom>
          <a:solidFill>
            <a:srgbClr val="1F5F8B"/>
          </a:solidFill>
          <a:ln w="12700">
            <a:solidFill>
              <a:srgbClr val="1F5F8B"/>
            </a:solidFill>
            <a:prstDash val="solid"/>
          </a:ln>
        </p:spPr>
      </p:sp>
      <p:pic>
        <p:nvPicPr>
          <p:cNvPr id="17" name="Image 1" descr="preencoded.png">    </p:cNvPr>
          <p:cNvPicPr>
            <a:picLocks noChangeAspect="1"/>
          </p:cNvPicPr>
          <p:nvPr/>
        </p:nvPicPr>
        <p:blipFill>
          <a:blip r:embed="rId2"/>
          <a:stretch>
            <a:fillRect/>
          </a:stretch>
        </p:blipFill>
        <p:spPr>
          <a:xfrm>
            <a:off x="7304593" y="2330257"/>
            <a:ext cx="149230" cy="149230"/>
          </a:xfrm>
          <a:prstGeom prst="rect">
            <a:avLst/>
          </a:prstGeom>
        </p:spPr>
      </p:pic>
      <p:sp>
        <p:nvSpPr>
          <p:cNvPr id="18" name="Text 14"/>
          <p:cNvSpPr txBox="1"/>
          <p:nvPr/>
        </p:nvSpPr>
        <p:spPr>
          <a:xfrm>
            <a:off x="7653528" y="2103120"/>
            <a:ext cx="3840480" cy="603504"/>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紹介元・見積もり相談者・SNSへ能動的に届ける</a:t>
            </a:r>
            <a:endParaRPr lang="en-US" sz="1200" dirty="0"/>
          </a:p>
        </p:txBody>
      </p:sp>
      <p:sp>
        <p:nvSpPr>
          <p:cNvPr id="19" name="Text 15"/>
          <p:cNvSpPr txBox="1"/>
          <p:nvPr/>
        </p:nvSpPr>
        <p:spPr>
          <a:xfrm>
            <a:off x="548640" y="2816352"/>
            <a:ext cx="1645920" cy="603504"/>
          </a:xfrm>
          <a:prstGeom prst="rect">
            <a:avLst/>
          </a:prstGeom>
          <a:noFill/>
          <a:ln/>
        </p:spPr>
        <p:txBody>
          <a:bodyPr wrap="square" lIns="0" tIns="0" rIns="0" bIns="0" rtlCol="0" anchor="ctr"/>
          <a:lstStyle/>
          <a:p>
            <a:pPr indent="0" marL="0">
              <a:buNone/>
            </a:pPr>
            <a:r>
              <a:rPr lang="en-US" sz="1300" b="1" dirty="0">
                <a:solidFill>
                  <a:srgbClr val="1F5F8B"/>
                </a:solidFill>
                <a:latin typeface="Meiryo UI" pitchFamily="34" charset="0"/>
                <a:ea typeface="Meiryo UI" pitchFamily="34" charset="-122"/>
                <a:cs typeface="Meiryo UI" pitchFamily="34" charset="-120"/>
              </a:rPr>
              <a:t>判断材料</a:t>
            </a:r>
            <a:endParaRPr lang="en-US" sz="1300" dirty="0"/>
          </a:p>
        </p:txBody>
      </p:sp>
      <p:sp>
        <p:nvSpPr>
          <p:cNvPr id="20" name="Shape 16"/>
          <p:cNvSpPr/>
          <p:nvPr/>
        </p:nvSpPr>
        <p:spPr>
          <a:xfrm>
            <a:off x="2286000" y="2816352"/>
            <a:ext cx="4526280" cy="603504"/>
          </a:xfrm>
          <a:prstGeom prst="roundRect">
            <a:avLst>
              <a:gd name="adj" fmla="val 18182"/>
            </a:avLst>
          </a:prstGeom>
          <a:solidFill>
            <a:srgbClr val="F5F9FC"/>
          </a:solidFill>
          <a:ln w="12700">
            <a:solidFill>
              <a:srgbClr val="F5F9FC"/>
            </a:solidFill>
            <a:prstDash val="solid"/>
          </a:ln>
        </p:spPr>
      </p:sp>
      <p:sp>
        <p:nvSpPr>
          <p:cNvPr id="21" name="Shape 17"/>
          <p:cNvSpPr/>
          <p:nvPr/>
        </p:nvSpPr>
        <p:spPr>
          <a:xfrm>
            <a:off x="2423160" y="2962656"/>
            <a:ext cx="310896" cy="310896"/>
          </a:xfrm>
          <a:prstGeom prst="ellipse">
            <a:avLst/>
          </a:prstGeom>
          <a:solidFill>
            <a:srgbClr val="D9DEE3"/>
          </a:solidFill>
          <a:ln w="12700">
            <a:solidFill>
              <a:srgbClr val="D9DEE3"/>
            </a:solidFill>
            <a:prstDash val="solid"/>
          </a:ln>
        </p:spPr>
      </p:sp>
      <p:pic>
        <p:nvPicPr>
          <p:cNvPr id="22" name="Image 2" descr="preencoded.png">    </p:cNvPr>
          <p:cNvPicPr>
            <a:picLocks noChangeAspect="1"/>
          </p:cNvPicPr>
          <p:nvPr/>
        </p:nvPicPr>
        <p:blipFill>
          <a:blip r:embed="rId3"/>
          <a:stretch>
            <a:fillRect/>
          </a:stretch>
        </p:blipFill>
        <p:spPr>
          <a:xfrm>
            <a:off x="2503993" y="3043489"/>
            <a:ext cx="149230" cy="149230"/>
          </a:xfrm>
          <a:prstGeom prst="rect">
            <a:avLst/>
          </a:prstGeom>
        </p:spPr>
      </p:pic>
      <p:sp>
        <p:nvSpPr>
          <p:cNvPr id="23" name="Text 18"/>
          <p:cNvSpPr txBox="1"/>
          <p:nvPr/>
        </p:nvSpPr>
        <p:spPr>
          <a:xfrm>
            <a:off x="2852928" y="2816352"/>
            <a:ext cx="3840480" cy="603504"/>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再生数が少なく「効果があるのか分からない」まま終わる</a:t>
            </a:r>
            <a:endParaRPr lang="en-US" sz="1200" dirty="0"/>
          </a:p>
        </p:txBody>
      </p:sp>
      <p:sp>
        <p:nvSpPr>
          <p:cNvPr id="24" name="Shape 19"/>
          <p:cNvSpPr/>
          <p:nvPr/>
        </p:nvSpPr>
        <p:spPr>
          <a:xfrm>
            <a:off x="7086600" y="2816352"/>
            <a:ext cx="4526280" cy="603504"/>
          </a:xfrm>
          <a:prstGeom prst="roundRect">
            <a:avLst>
              <a:gd name="adj" fmla="val 18182"/>
            </a:avLst>
          </a:prstGeom>
          <a:solidFill>
            <a:srgbClr val="EAF2F8"/>
          </a:solidFill>
          <a:ln w="12700">
            <a:solidFill>
              <a:srgbClr val="EAF2F8"/>
            </a:solidFill>
            <a:prstDash val="solid"/>
          </a:ln>
        </p:spPr>
      </p:sp>
      <p:sp>
        <p:nvSpPr>
          <p:cNvPr id="25" name="Shape 20"/>
          <p:cNvSpPr/>
          <p:nvPr/>
        </p:nvSpPr>
        <p:spPr>
          <a:xfrm>
            <a:off x="7223760" y="2962656"/>
            <a:ext cx="310896" cy="310896"/>
          </a:xfrm>
          <a:prstGeom prst="ellipse">
            <a:avLst/>
          </a:prstGeom>
          <a:solidFill>
            <a:srgbClr val="1F5F8B"/>
          </a:solidFill>
          <a:ln w="12700">
            <a:solidFill>
              <a:srgbClr val="1F5F8B"/>
            </a:solidFill>
            <a:prstDash val="solid"/>
          </a:ln>
        </p:spPr>
      </p:sp>
      <p:pic>
        <p:nvPicPr>
          <p:cNvPr id="26" name="Image 3" descr="preencoded.png">    </p:cNvPr>
          <p:cNvPicPr>
            <a:picLocks noChangeAspect="1"/>
          </p:cNvPicPr>
          <p:nvPr/>
        </p:nvPicPr>
        <p:blipFill>
          <a:blip r:embed="rId4"/>
          <a:stretch>
            <a:fillRect/>
          </a:stretch>
        </p:blipFill>
        <p:spPr>
          <a:xfrm>
            <a:off x="7304593" y="3043489"/>
            <a:ext cx="149230" cy="149230"/>
          </a:xfrm>
          <a:prstGeom prst="rect">
            <a:avLst/>
          </a:prstGeom>
        </p:spPr>
      </p:pic>
      <p:sp>
        <p:nvSpPr>
          <p:cNvPr id="27" name="Text 21"/>
          <p:cNvSpPr txBox="1"/>
          <p:nvPr/>
        </p:nvSpPr>
        <p:spPr>
          <a:xfrm>
            <a:off x="7653528" y="2816352"/>
            <a:ext cx="3840480" cy="603504"/>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視聴数・問い合わせ・成約を数値で比較できる</a:t>
            </a:r>
            <a:endParaRPr lang="en-US" sz="1200" dirty="0"/>
          </a:p>
        </p:txBody>
      </p:sp>
      <p:sp>
        <p:nvSpPr>
          <p:cNvPr id="28" name="Text 22"/>
          <p:cNvSpPr txBox="1"/>
          <p:nvPr/>
        </p:nvSpPr>
        <p:spPr>
          <a:xfrm>
            <a:off x="548640" y="3529584"/>
            <a:ext cx="1645920" cy="603504"/>
          </a:xfrm>
          <a:prstGeom prst="rect">
            <a:avLst/>
          </a:prstGeom>
          <a:noFill/>
          <a:ln/>
        </p:spPr>
        <p:txBody>
          <a:bodyPr wrap="square" lIns="0" tIns="0" rIns="0" bIns="0" rtlCol="0" anchor="ctr"/>
          <a:lstStyle/>
          <a:p>
            <a:pPr indent="0" marL="0">
              <a:buNone/>
            </a:pPr>
            <a:r>
              <a:rPr lang="en-US" sz="1300" b="1" dirty="0">
                <a:solidFill>
                  <a:srgbClr val="1F5F8B"/>
                </a:solidFill>
                <a:latin typeface="Meiryo UI" pitchFamily="34" charset="0"/>
                <a:ea typeface="Meiryo UI" pitchFamily="34" charset="-122"/>
                <a:cs typeface="Meiryo UI" pitchFamily="34" charset="-120"/>
              </a:rPr>
              <a:t>改善</a:t>
            </a:r>
            <a:endParaRPr lang="en-US" sz="1300" dirty="0"/>
          </a:p>
        </p:txBody>
      </p:sp>
      <p:sp>
        <p:nvSpPr>
          <p:cNvPr id="29" name="Shape 23"/>
          <p:cNvSpPr/>
          <p:nvPr/>
        </p:nvSpPr>
        <p:spPr>
          <a:xfrm>
            <a:off x="2286000" y="3529584"/>
            <a:ext cx="4526280" cy="603504"/>
          </a:xfrm>
          <a:prstGeom prst="roundRect">
            <a:avLst>
              <a:gd name="adj" fmla="val 18182"/>
            </a:avLst>
          </a:prstGeom>
          <a:solidFill>
            <a:srgbClr val="F5F9FC"/>
          </a:solidFill>
          <a:ln w="12700">
            <a:solidFill>
              <a:srgbClr val="F5F9FC"/>
            </a:solidFill>
            <a:prstDash val="solid"/>
          </a:ln>
        </p:spPr>
      </p:sp>
      <p:sp>
        <p:nvSpPr>
          <p:cNvPr id="30" name="Shape 24"/>
          <p:cNvSpPr/>
          <p:nvPr/>
        </p:nvSpPr>
        <p:spPr>
          <a:xfrm>
            <a:off x="2423160" y="3675888"/>
            <a:ext cx="310896" cy="310896"/>
          </a:xfrm>
          <a:prstGeom prst="ellipse">
            <a:avLst/>
          </a:prstGeom>
          <a:solidFill>
            <a:srgbClr val="D9DEE3"/>
          </a:solidFill>
          <a:ln w="12700">
            <a:solidFill>
              <a:srgbClr val="D9DEE3"/>
            </a:solidFill>
            <a:prstDash val="solid"/>
          </a:ln>
        </p:spPr>
      </p:sp>
      <p:pic>
        <p:nvPicPr>
          <p:cNvPr id="31" name="Image 4" descr="preencoded.png">    </p:cNvPr>
          <p:cNvPicPr>
            <a:picLocks noChangeAspect="1"/>
          </p:cNvPicPr>
          <p:nvPr/>
        </p:nvPicPr>
        <p:blipFill>
          <a:blip r:embed="rId5"/>
          <a:stretch>
            <a:fillRect/>
          </a:stretch>
        </p:blipFill>
        <p:spPr>
          <a:xfrm>
            <a:off x="2503993" y="3756721"/>
            <a:ext cx="149230" cy="149230"/>
          </a:xfrm>
          <a:prstGeom prst="rect">
            <a:avLst/>
          </a:prstGeom>
        </p:spPr>
      </p:pic>
      <p:sp>
        <p:nvSpPr>
          <p:cNvPr id="32" name="Text 25"/>
          <p:cNvSpPr txBox="1"/>
          <p:nvPr/>
        </p:nvSpPr>
        <p:spPr>
          <a:xfrm>
            <a:off x="2852928" y="3529584"/>
            <a:ext cx="3840480" cy="603504"/>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1本で終わり、何が良く何が悪かったか学べない</a:t>
            </a:r>
            <a:endParaRPr lang="en-US" sz="1200" dirty="0"/>
          </a:p>
        </p:txBody>
      </p:sp>
      <p:sp>
        <p:nvSpPr>
          <p:cNvPr id="33" name="Shape 26"/>
          <p:cNvSpPr/>
          <p:nvPr/>
        </p:nvSpPr>
        <p:spPr>
          <a:xfrm>
            <a:off x="7086600" y="3529584"/>
            <a:ext cx="4526280" cy="603504"/>
          </a:xfrm>
          <a:prstGeom prst="roundRect">
            <a:avLst>
              <a:gd name="adj" fmla="val 18182"/>
            </a:avLst>
          </a:prstGeom>
          <a:solidFill>
            <a:srgbClr val="EAF2F8"/>
          </a:solidFill>
          <a:ln w="12700">
            <a:solidFill>
              <a:srgbClr val="EAF2F8"/>
            </a:solidFill>
            <a:prstDash val="solid"/>
          </a:ln>
        </p:spPr>
      </p:sp>
      <p:sp>
        <p:nvSpPr>
          <p:cNvPr id="34" name="Shape 27"/>
          <p:cNvSpPr/>
          <p:nvPr/>
        </p:nvSpPr>
        <p:spPr>
          <a:xfrm>
            <a:off x="7223760" y="3675888"/>
            <a:ext cx="310896" cy="310896"/>
          </a:xfrm>
          <a:prstGeom prst="ellipse">
            <a:avLst/>
          </a:prstGeom>
          <a:solidFill>
            <a:srgbClr val="1F5F8B"/>
          </a:solidFill>
          <a:ln w="12700">
            <a:solidFill>
              <a:srgbClr val="1F5F8B"/>
            </a:solidFill>
            <a:prstDash val="solid"/>
          </a:ln>
        </p:spPr>
      </p:sp>
      <p:pic>
        <p:nvPicPr>
          <p:cNvPr id="35" name="Image 5" descr="preencoded.png">    </p:cNvPr>
          <p:cNvPicPr>
            <a:picLocks noChangeAspect="1"/>
          </p:cNvPicPr>
          <p:nvPr/>
        </p:nvPicPr>
        <p:blipFill>
          <a:blip r:embed="rId6"/>
          <a:stretch>
            <a:fillRect/>
          </a:stretch>
        </p:blipFill>
        <p:spPr>
          <a:xfrm>
            <a:off x="7304593" y="3756721"/>
            <a:ext cx="149230" cy="149230"/>
          </a:xfrm>
          <a:prstGeom prst="rect">
            <a:avLst/>
          </a:prstGeom>
        </p:spPr>
      </p:pic>
      <p:sp>
        <p:nvSpPr>
          <p:cNvPr id="36" name="Text 28"/>
          <p:cNvSpPr txBox="1"/>
          <p:nvPr/>
        </p:nvSpPr>
        <p:spPr>
          <a:xfrm>
            <a:off x="7653528" y="3529584"/>
            <a:ext cx="3840480" cy="603504"/>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検証結果から台本・尺・訴求を改善し続ける</a:t>
            </a:r>
            <a:endParaRPr lang="en-US" sz="1200" dirty="0"/>
          </a:p>
        </p:txBody>
      </p:sp>
      <p:sp>
        <p:nvSpPr>
          <p:cNvPr id="37" name="Text 29"/>
          <p:cNvSpPr txBox="1"/>
          <p:nvPr/>
        </p:nvSpPr>
        <p:spPr>
          <a:xfrm>
            <a:off x="548640" y="4242816"/>
            <a:ext cx="1645920" cy="603504"/>
          </a:xfrm>
          <a:prstGeom prst="rect">
            <a:avLst/>
          </a:prstGeom>
          <a:noFill/>
          <a:ln/>
        </p:spPr>
        <p:txBody>
          <a:bodyPr wrap="square" lIns="0" tIns="0" rIns="0" bIns="0" rtlCol="0" anchor="ctr"/>
          <a:lstStyle/>
          <a:p>
            <a:pPr indent="0" marL="0">
              <a:buNone/>
            </a:pPr>
            <a:r>
              <a:rPr lang="en-US" sz="1300" b="1" dirty="0">
                <a:solidFill>
                  <a:srgbClr val="1F5F8B"/>
                </a:solidFill>
                <a:latin typeface="Meiryo UI" pitchFamily="34" charset="0"/>
                <a:ea typeface="Meiryo UI" pitchFamily="34" charset="-122"/>
                <a:cs typeface="Meiryo UI" pitchFamily="34" charset="-120"/>
              </a:rPr>
              <a:t>営業との接続</a:t>
            </a:r>
            <a:endParaRPr lang="en-US" sz="1300" dirty="0"/>
          </a:p>
        </p:txBody>
      </p:sp>
      <p:sp>
        <p:nvSpPr>
          <p:cNvPr id="38" name="Shape 30"/>
          <p:cNvSpPr/>
          <p:nvPr/>
        </p:nvSpPr>
        <p:spPr>
          <a:xfrm>
            <a:off x="2286000" y="4242816"/>
            <a:ext cx="4526280" cy="603504"/>
          </a:xfrm>
          <a:prstGeom prst="roundRect">
            <a:avLst>
              <a:gd name="adj" fmla="val 18182"/>
            </a:avLst>
          </a:prstGeom>
          <a:solidFill>
            <a:srgbClr val="F5F9FC"/>
          </a:solidFill>
          <a:ln w="12700">
            <a:solidFill>
              <a:srgbClr val="F5F9FC"/>
            </a:solidFill>
            <a:prstDash val="solid"/>
          </a:ln>
        </p:spPr>
      </p:sp>
      <p:sp>
        <p:nvSpPr>
          <p:cNvPr id="39" name="Shape 31"/>
          <p:cNvSpPr/>
          <p:nvPr/>
        </p:nvSpPr>
        <p:spPr>
          <a:xfrm>
            <a:off x="2423160" y="4389120"/>
            <a:ext cx="310896" cy="310896"/>
          </a:xfrm>
          <a:prstGeom prst="ellipse">
            <a:avLst/>
          </a:prstGeom>
          <a:solidFill>
            <a:srgbClr val="D9DEE3"/>
          </a:solidFill>
          <a:ln w="12700">
            <a:solidFill>
              <a:srgbClr val="D9DEE3"/>
            </a:solidFill>
            <a:prstDash val="solid"/>
          </a:ln>
        </p:spPr>
      </p:sp>
      <p:pic>
        <p:nvPicPr>
          <p:cNvPr id="40" name="Image 6" descr="preencoded.png">    </p:cNvPr>
          <p:cNvPicPr>
            <a:picLocks noChangeAspect="1"/>
          </p:cNvPicPr>
          <p:nvPr/>
        </p:nvPicPr>
        <p:blipFill>
          <a:blip r:embed="rId7"/>
          <a:stretch>
            <a:fillRect/>
          </a:stretch>
        </p:blipFill>
        <p:spPr>
          <a:xfrm>
            <a:off x="2503993" y="4469953"/>
            <a:ext cx="149230" cy="149230"/>
          </a:xfrm>
          <a:prstGeom prst="rect">
            <a:avLst/>
          </a:prstGeom>
        </p:spPr>
      </p:pic>
      <p:sp>
        <p:nvSpPr>
          <p:cNvPr id="41" name="Text 32"/>
          <p:cNvSpPr txBox="1"/>
          <p:nvPr/>
        </p:nvSpPr>
        <p:spPr>
          <a:xfrm>
            <a:off x="2852928" y="4242816"/>
            <a:ext cx="3840480" cy="603504"/>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見積もりや紹介の場で使われず、説明の手間も減らない</a:t>
            </a:r>
            <a:endParaRPr lang="en-US" sz="1200" dirty="0"/>
          </a:p>
        </p:txBody>
      </p:sp>
      <p:sp>
        <p:nvSpPr>
          <p:cNvPr id="42" name="Shape 33"/>
          <p:cNvSpPr/>
          <p:nvPr/>
        </p:nvSpPr>
        <p:spPr>
          <a:xfrm>
            <a:off x="7086600" y="4242816"/>
            <a:ext cx="4526280" cy="603504"/>
          </a:xfrm>
          <a:prstGeom prst="roundRect">
            <a:avLst>
              <a:gd name="adj" fmla="val 18182"/>
            </a:avLst>
          </a:prstGeom>
          <a:solidFill>
            <a:srgbClr val="EAF2F8"/>
          </a:solidFill>
          <a:ln w="12700">
            <a:solidFill>
              <a:srgbClr val="EAF2F8"/>
            </a:solidFill>
            <a:prstDash val="solid"/>
          </a:ln>
        </p:spPr>
      </p:sp>
      <p:sp>
        <p:nvSpPr>
          <p:cNvPr id="43" name="Shape 34"/>
          <p:cNvSpPr/>
          <p:nvPr/>
        </p:nvSpPr>
        <p:spPr>
          <a:xfrm>
            <a:off x="7223760" y="4389120"/>
            <a:ext cx="310896" cy="310896"/>
          </a:xfrm>
          <a:prstGeom prst="ellipse">
            <a:avLst/>
          </a:prstGeom>
          <a:solidFill>
            <a:srgbClr val="1F5F8B"/>
          </a:solidFill>
          <a:ln w="12700">
            <a:solidFill>
              <a:srgbClr val="1F5F8B"/>
            </a:solidFill>
            <a:prstDash val="solid"/>
          </a:ln>
        </p:spPr>
      </p:sp>
      <p:pic>
        <p:nvPicPr>
          <p:cNvPr id="44" name="Image 7" descr="preencoded.png">    </p:cNvPr>
          <p:cNvPicPr>
            <a:picLocks noChangeAspect="1"/>
          </p:cNvPicPr>
          <p:nvPr/>
        </p:nvPicPr>
        <p:blipFill>
          <a:blip r:embed="rId8"/>
          <a:stretch>
            <a:fillRect/>
          </a:stretch>
        </p:blipFill>
        <p:spPr>
          <a:xfrm>
            <a:off x="7304593" y="4469953"/>
            <a:ext cx="149230" cy="149230"/>
          </a:xfrm>
          <a:prstGeom prst="rect">
            <a:avLst/>
          </a:prstGeom>
        </p:spPr>
      </p:pic>
      <p:sp>
        <p:nvSpPr>
          <p:cNvPr id="45" name="Text 35"/>
          <p:cNvSpPr txBox="1"/>
          <p:nvPr/>
        </p:nvSpPr>
        <p:spPr>
          <a:xfrm>
            <a:off x="7653528" y="4242816"/>
            <a:ext cx="3840480" cy="603504"/>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見積もりの前後・紹介元への案内に組み込まれ、型になる</a:t>
            </a:r>
            <a:endParaRPr lang="en-US" sz="1200" dirty="0"/>
          </a:p>
        </p:txBody>
      </p:sp>
      <p:sp>
        <p:nvSpPr>
          <p:cNvPr id="46" name="Text 36"/>
          <p:cNvSpPr txBox="1"/>
          <p:nvPr/>
        </p:nvSpPr>
        <p:spPr>
          <a:xfrm>
            <a:off x="548640" y="4956048"/>
            <a:ext cx="1645920" cy="603504"/>
          </a:xfrm>
          <a:prstGeom prst="rect">
            <a:avLst/>
          </a:prstGeom>
          <a:noFill/>
          <a:ln/>
        </p:spPr>
        <p:txBody>
          <a:bodyPr wrap="square" lIns="0" tIns="0" rIns="0" bIns="0" rtlCol="0" anchor="ctr"/>
          <a:lstStyle/>
          <a:p>
            <a:pPr indent="0" marL="0">
              <a:buNone/>
            </a:pPr>
            <a:r>
              <a:rPr lang="en-US" sz="1300" b="1" dirty="0">
                <a:solidFill>
                  <a:srgbClr val="1F5F8B"/>
                </a:solidFill>
                <a:latin typeface="Meiryo UI" pitchFamily="34" charset="0"/>
                <a:ea typeface="Meiryo UI" pitchFamily="34" charset="-122"/>
                <a:cs typeface="Meiryo UI" pitchFamily="34" charset="-120"/>
              </a:rPr>
              <a:t>結論</a:t>
            </a:r>
            <a:endParaRPr lang="en-US" sz="1300" dirty="0"/>
          </a:p>
        </p:txBody>
      </p:sp>
      <p:sp>
        <p:nvSpPr>
          <p:cNvPr id="47" name="Shape 37"/>
          <p:cNvSpPr/>
          <p:nvPr/>
        </p:nvSpPr>
        <p:spPr>
          <a:xfrm>
            <a:off x="2286000" y="4956048"/>
            <a:ext cx="4526280" cy="603504"/>
          </a:xfrm>
          <a:prstGeom prst="roundRect">
            <a:avLst>
              <a:gd name="adj" fmla="val 18182"/>
            </a:avLst>
          </a:prstGeom>
          <a:solidFill>
            <a:srgbClr val="F5F9FC"/>
          </a:solidFill>
          <a:ln w="12700">
            <a:solidFill>
              <a:srgbClr val="F5F9FC"/>
            </a:solidFill>
            <a:prstDash val="solid"/>
          </a:ln>
        </p:spPr>
      </p:sp>
      <p:sp>
        <p:nvSpPr>
          <p:cNvPr id="48" name="Shape 38"/>
          <p:cNvSpPr/>
          <p:nvPr/>
        </p:nvSpPr>
        <p:spPr>
          <a:xfrm>
            <a:off x="2423160" y="5102352"/>
            <a:ext cx="310896" cy="310896"/>
          </a:xfrm>
          <a:prstGeom prst="ellipse">
            <a:avLst/>
          </a:prstGeom>
          <a:solidFill>
            <a:srgbClr val="D9DEE3"/>
          </a:solidFill>
          <a:ln w="12700">
            <a:solidFill>
              <a:srgbClr val="D9DEE3"/>
            </a:solidFill>
            <a:prstDash val="solid"/>
          </a:ln>
        </p:spPr>
      </p:sp>
      <p:pic>
        <p:nvPicPr>
          <p:cNvPr id="49" name="Image 8" descr="preencoded.png">    </p:cNvPr>
          <p:cNvPicPr>
            <a:picLocks noChangeAspect="1"/>
          </p:cNvPicPr>
          <p:nvPr/>
        </p:nvPicPr>
        <p:blipFill>
          <a:blip r:embed="rId9"/>
          <a:stretch>
            <a:fillRect/>
          </a:stretch>
        </p:blipFill>
        <p:spPr>
          <a:xfrm>
            <a:off x="2503993" y="5183185"/>
            <a:ext cx="149230" cy="149230"/>
          </a:xfrm>
          <a:prstGeom prst="rect">
            <a:avLst/>
          </a:prstGeom>
        </p:spPr>
      </p:pic>
      <p:sp>
        <p:nvSpPr>
          <p:cNvPr id="50" name="Text 39"/>
          <p:cNvSpPr txBox="1"/>
          <p:nvPr/>
        </p:nvSpPr>
        <p:spPr>
          <a:xfrm>
            <a:off x="2852928" y="4956048"/>
            <a:ext cx="3840480" cy="603504"/>
          </a:xfrm>
          <a:prstGeom prst="rect">
            <a:avLst/>
          </a:prstGeom>
          <a:noFill/>
          <a:ln/>
        </p:spPr>
        <p:txBody>
          <a:bodyPr wrap="square" lIns="0" tIns="0" rIns="0" bIns="0" rtlCol="0" anchor="ctr"/>
          <a:lstStyle/>
          <a:p>
            <a:pPr indent="0" marL="0">
              <a:buNone/>
            </a:pPr>
            <a:r>
              <a:rPr lang="en-US" sz="1200" b="1" dirty="0">
                <a:solidFill>
                  <a:srgbClr val="26303A"/>
                </a:solidFill>
                <a:latin typeface="Meiryo UI" pitchFamily="34" charset="0"/>
                <a:ea typeface="Meiryo UI" pitchFamily="34" charset="-122"/>
                <a:cs typeface="Meiryo UI" pitchFamily="34" charset="-120"/>
              </a:rPr>
              <a:t>「動画は効果がなかった」という誤った判断に至る</a:t>
            </a:r>
            <a:endParaRPr lang="en-US" sz="1200" dirty="0"/>
          </a:p>
        </p:txBody>
      </p:sp>
      <p:sp>
        <p:nvSpPr>
          <p:cNvPr id="51" name="Shape 40"/>
          <p:cNvSpPr/>
          <p:nvPr/>
        </p:nvSpPr>
        <p:spPr>
          <a:xfrm>
            <a:off x="7086600" y="4956048"/>
            <a:ext cx="4526280" cy="603504"/>
          </a:xfrm>
          <a:prstGeom prst="roundRect">
            <a:avLst>
              <a:gd name="adj" fmla="val 18182"/>
            </a:avLst>
          </a:prstGeom>
          <a:solidFill>
            <a:srgbClr val="FDF0E3"/>
          </a:solidFill>
          <a:ln w="12700">
            <a:solidFill>
              <a:srgbClr val="FDF0E3"/>
            </a:solidFill>
            <a:prstDash val="solid"/>
          </a:ln>
        </p:spPr>
      </p:sp>
      <p:sp>
        <p:nvSpPr>
          <p:cNvPr id="52" name="Shape 41"/>
          <p:cNvSpPr/>
          <p:nvPr/>
        </p:nvSpPr>
        <p:spPr>
          <a:xfrm>
            <a:off x="7223760" y="5102352"/>
            <a:ext cx="310896" cy="310896"/>
          </a:xfrm>
          <a:prstGeom prst="ellipse">
            <a:avLst/>
          </a:prstGeom>
          <a:solidFill>
            <a:srgbClr val="D2702A"/>
          </a:solidFill>
          <a:ln w="12700">
            <a:solidFill>
              <a:srgbClr val="D2702A"/>
            </a:solidFill>
            <a:prstDash val="solid"/>
          </a:ln>
        </p:spPr>
      </p:sp>
      <p:pic>
        <p:nvPicPr>
          <p:cNvPr id="53" name="Image 9" descr="preencoded.png">    </p:cNvPr>
          <p:cNvPicPr>
            <a:picLocks noChangeAspect="1"/>
          </p:cNvPicPr>
          <p:nvPr/>
        </p:nvPicPr>
        <p:blipFill>
          <a:blip r:embed="rId10"/>
          <a:stretch>
            <a:fillRect/>
          </a:stretch>
        </p:blipFill>
        <p:spPr>
          <a:xfrm>
            <a:off x="7304593" y="5183185"/>
            <a:ext cx="149230" cy="149230"/>
          </a:xfrm>
          <a:prstGeom prst="rect">
            <a:avLst/>
          </a:prstGeom>
        </p:spPr>
      </p:pic>
      <p:sp>
        <p:nvSpPr>
          <p:cNvPr id="54" name="Text 42"/>
          <p:cNvSpPr txBox="1"/>
          <p:nvPr/>
        </p:nvSpPr>
        <p:spPr>
          <a:xfrm>
            <a:off x="7653528" y="4956048"/>
            <a:ext cx="3840480" cy="603504"/>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価格ではなく“姿勢”で選ばれる仕組みが残る</a:t>
            </a:r>
            <a:endParaRPr lang="en-US" sz="1200" dirty="0"/>
          </a:p>
        </p:txBody>
      </p:sp>
      <p:sp>
        <p:nvSpPr>
          <p:cNvPr id="55" name="Text 43"/>
          <p:cNvSpPr txBox="1"/>
          <p:nvPr/>
        </p:nvSpPr>
        <p:spPr>
          <a:xfrm>
            <a:off x="548640" y="5715000"/>
            <a:ext cx="11094415" cy="640080"/>
          </a:xfrm>
          <a:prstGeom prst="rect">
            <a:avLst/>
          </a:prstGeom>
          <a:noFill/>
          <a:ln/>
        </p:spPr>
        <p:txBody>
          <a:bodyPr wrap="square" lIns="0" tIns="0" rIns="0" bIns="0" rtlCol="0" anchor="ctr"/>
          <a:lstStyle/>
          <a:p>
            <a:pPr algn="ctr" indent="0" marL="0">
              <a:buNone/>
            </a:pPr>
            <a:r>
              <a:rPr lang="en-US" sz="1400" b="1" dirty="0">
                <a:solidFill>
                  <a:srgbClr val="D2702A"/>
                </a:solidFill>
                <a:latin typeface="Meiryo UI" pitchFamily="34" charset="0"/>
                <a:ea typeface="Meiryo UI" pitchFamily="34" charset="-122"/>
                <a:cs typeface="Meiryo UI" pitchFamily="34" charset="-120"/>
              </a:rPr>
              <a:t>動画は“置く”ものではなく“使う”もの。</a:t>
            </a:r>
            <a:endParaRPr lang="en-US" sz="1400" dirty="0"/>
          </a:p>
          <a:p>
            <a:pPr algn="ctr" indent="0" marL="0">
              <a:buNone/>
            </a:pPr>
            <a:r>
              <a:rPr lang="en-US" sz="1400" dirty="0">
                <a:solidFill>
                  <a:srgbClr val="26303A"/>
                </a:solidFill>
                <a:latin typeface="Meiryo UI" pitchFamily="34" charset="0"/>
                <a:ea typeface="Meiryo UI" pitchFamily="34" charset="-122"/>
                <a:cs typeface="Meiryo UI" pitchFamily="34" charset="-120"/>
              </a:rPr>
              <a:t>成果を分けるのは出来栄えではなく、「誰に・いつ・どう届け・どう改善するか」という運用設計です。</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02｜WHY MiTok / WHY US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なぜ「動画 × 生成AI（MiTok）」で、なぜアイドマなのか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rgbClr val="D2702A"/>
                </a:solidFill>
                <a:latin typeface="Meiryo UI" pitchFamily="34" charset="0"/>
                <a:ea typeface="Meiryo UI" pitchFamily="34" charset="-122"/>
                <a:cs typeface="Meiryo UI" pitchFamily="34" charset="-120"/>
              </a:rPr>
              <a:t>Why MiTok</a:t>
            </a:r>
            <a:endParaRPr lang="en-US" sz="1600" dirty="0"/>
          </a:p>
        </p:txBody>
      </p:sp>
      <p:sp>
        <p:nvSpPr>
          <p:cNvPr id="7" name="Shape 5"/>
          <p:cNvSpPr/>
          <p:nvPr/>
        </p:nvSpPr>
        <p:spPr>
          <a:xfrm>
            <a:off x="548640" y="1874520"/>
            <a:ext cx="548640" cy="548640"/>
          </a:xfrm>
          <a:prstGeom prst="ellipse">
            <a:avLst/>
          </a:prstGeom>
          <a:solidFill>
            <a:srgbClr val="EAF2F8"/>
          </a:solidFill>
          <a:ln w="12700">
            <a:solidFill>
              <a:srgbClr val="EAF2F8"/>
            </a:solidFill>
            <a:prstDash val="solid"/>
          </a:ln>
        </p:spPr>
      </p:sp>
      <p:pic>
        <p:nvPicPr>
          <p:cNvPr id="8" name="Image 0" descr="preencoded.png">    </p:cNvPr>
          <p:cNvPicPr>
            <a:picLocks noChangeAspect="1"/>
          </p:cNvPicPr>
          <p:nvPr/>
        </p:nvPicPr>
        <p:blipFill>
          <a:blip r:embed="rId1"/>
          <a:stretch>
            <a:fillRect/>
          </a:stretch>
        </p:blipFill>
        <p:spPr>
          <a:xfrm>
            <a:off x="691286" y="2017166"/>
            <a:ext cx="263347" cy="263347"/>
          </a:xfrm>
          <a:prstGeom prst="rect">
            <a:avLst/>
          </a:prstGeom>
        </p:spPr>
      </p:pic>
      <p:sp>
        <p:nvSpPr>
          <p:cNvPr id="9" name="Text 6"/>
          <p:cNvSpPr txBox="1"/>
          <p:nvPr/>
        </p:nvSpPr>
        <p:spPr>
          <a:xfrm>
            <a:off x="1280160" y="1828800"/>
            <a:ext cx="603504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AI掛け合い（対話型）の動画</a:t>
            </a:r>
            <a:endParaRPr lang="en-US" sz="1400" dirty="0"/>
          </a:p>
        </p:txBody>
      </p:sp>
      <p:sp>
        <p:nvSpPr>
          <p:cNvPr id="10" name="Text 7"/>
          <p:cNvSpPr txBox="1"/>
          <p:nvPr/>
        </p:nvSpPr>
        <p:spPr>
          <a:xfrm>
            <a:off x="1280160" y="2157984"/>
            <a:ext cx="6035040" cy="475488"/>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「依頼者の不安」×「代表の回答」の形式で、親身な人柄と考え方がそのまま伝わる</a:t>
            </a:r>
            <a:endParaRPr lang="en-US" sz="1150" dirty="0"/>
          </a:p>
        </p:txBody>
      </p:sp>
      <p:sp>
        <p:nvSpPr>
          <p:cNvPr id="11" name="Shape 8"/>
          <p:cNvSpPr/>
          <p:nvPr/>
        </p:nvSpPr>
        <p:spPr>
          <a:xfrm>
            <a:off x="548640" y="2743200"/>
            <a:ext cx="548640" cy="548640"/>
          </a:xfrm>
          <a:prstGeom prst="ellipse">
            <a:avLst/>
          </a:prstGeom>
          <a:solidFill>
            <a:srgbClr val="EAF2F8"/>
          </a:solidFill>
          <a:ln w="12700">
            <a:solidFill>
              <a:srgbClr val="EAF2F8"/>
            </a:solidFill>
            <a:prstDash val="solid"/>
          </a:ln>
        </p:spPr>
      </p:sp>
      <p:pic>
        <p:nvPicPr>
          <p:cNvPr id="12" name="Image 1" descr="preencoded.png">    </p:cNvPr>
          <p:cNvPicPr>
            <a:picLocks noChangeAspect="1"/>
          </p:cNvPicPr>
          <p:nvPr/>
        </p:nvPicPr>
        <p:blipFill>
          <a:blip r:embed="rId2"/>
          <a:stretch>
            <a:fillRect/>
          </a:stretch>
        </p:blipFill>
        <p:spPr>
          <a:xfrm>
            <a:off x="691286" y="2885846"/>
            <a:ext cx="263347" cy="263347"/>
          </a:xfrm>
          <a:prstGeom prst="rect">
            <a:avLst/>
          </a:prstGeom>
        </p:spPr>
      </p:pic>
      <p:sp>
        <p:nvSpPr>
          <p:cNvPr id="13" name="Text 9"/>
          <p:cNvSpPr txBox="1"/>
          <p:nvPr/>
        </p:nvSpPr>
        <p:spPr>
          <a:xfrm>
            <a:off x="1280160" y="2697480"/>
            <a:ext cx="603504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現場の撮影が不要</a:t>
            </a:r>
            <a:endParaRPr lang="en-US" sz="1400" dirty="0"/>
          </a:p>
        </p:txBody>
      </p:sp>
      <p:sp>
        <p:nvSpPr>
          <p:cNvPr id="14" name="Text 10"/>
          <p:cNvSpPr txBox="1"/>
          <p:nvPr/>
        </p:nvSpPr>
        <p:spPr>
          <a:xfrm>
            <a:off x="1280160" y="3026664"/>
            <a:ext cx="6035040" cy="475488"/>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ご依頼者のプライバシーに配慮しながら、作業の流れや考え方を伝えられる</a:t>
            </a:r>
            <a:endParaRPr lang="en-US" sz="1150" dirty="0"/>
          </a:p>
        </p:txBody>
      </p:sp>
      <p:sp>
        <p:nvSpPr>
          <p:cNvPr id="15" name="Shape 11"/>
          <p:cNvSpPr/>
          <p:nvPr/>
        </p:nvSpPr>
        <p:spPr>
          <a:xfrm>
            <a:off x="548640" y="3611880"/>
            <a:ext cx="548640" cy="548640"/>
          </a:xfrm>
          <a:prstGeom prst="ellipse">
            <a:avLst/>
          </a:prstGeom>
          <a:solidFill>
            <a:srgbClr val="EAF2F8"/>
          </a:solidFill>
          <a:ln w="12700">
            <a:solidFill>
              <a:srgbClr val="EAF2F8"/>
            </a:solidFill>
            <a:prstDash val="solid"/>
          </a:ln>
        </p:spPr>
      </p:sp>
      <p:pic>
        <p:nvPicPr>
          <p:cNvPr id="16" name="Image 2" descr="preencoded.png">    </p:cNvPr>
          <p:cNvPicPr>
            <a:picLocks noChangeAspect="1"/>
          </p:cNvPicPr>
          <p:nvPr/>
        </p:nvPicPr>
        <p:blipFill>
          <a:blip r:embed="rId3"/>
          <a:stretch>
            <a:fillRect/>
          </a:stretch>
        </p:blipFill>
        <p:spPr>
          <a:xfrm>
            <a:off x="691286" y="3754526"/>
            <a:ext cx="263347" cy="263347"/>
          </a:xfrm>
          <a:prstGeom prst="rect">
            <a:avLst/>
          </a:prstGeom>
        </p:spPr>
      </p:pic>
      <p:sp>
        <p:nvSpPr>
          <p:cNvPr id="17" name="Text 12"/>
          <p:cNvSpPr txBox="1"/>
          <p:nvPr/>
        </p:nvSpPr>
        <p:spPr>
          <a:xfrm>
            <a:off x="1280160" y="3566160"/>
            <a:ext cx="603504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“見積もりの前”に信頼をつくる</a:t>
            </a:r>
            <a:endParaRPr lang="en-US" sz="1400" dirty="0"/>
          </a:p>
        </p:txBody>
      </p:sp>
      <p:sp>
        <p:nvSpPr>
          <p:cNvPr id="18" name="Text 13"/>
          <p:cNvSpPr txBox="1"/>
          <p:nvPr/>
        </p:nvSpPr>
        <p:spPr>
          <a:xfrm>
            <a:off x="1280160" y="3895344"/>
            <a:ext cx="6035040" cy="475488"/>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料金の考え方と作業の流れを事前に伝え、相見積もりでも価格だけで比べられにくくする</a:t>
            </a:r>
            <a:endParaRPr lang="en-US" sz="1150" dirty="0"/>
          </a:p>
        </p:txBody>
      </p:sp>
      <p:sp>
        <p:nvSpPr>
          <p:cNvPr id="19" name="Shape 14"/>
          <p:cNvSpPr/>
          <p:nvPr/>
        </p:nvSpPr>
        <p:spPr>
          <a:xfrm>
            <a:off x="548640" y="4480560"/>
            <a:ext cx="548640" cy="548640"/>
          </a:xfrm>
          <a:prstGeom prst="ellipse">
            <a:avLst/>
          </a:prstGeom>
          <a:solidFill>
            <a:srgbClr val="EAF2F8"/>
          </a:solidFill>
          <a:ln w="12700">
            <a:solidFill>
              <a:srgbClr val="EAF2F8"/>
            </a:solidFill>
            <a:prstDash val="solid"/>
          </a:ln>
        </p:spPr>
      </p:sp>
      <p:pic>
        <p:nvPicPr>
          <p:cNvPr id="20" name="Image 3" descr="preencoded.png">    </p:cNvPr>
          <p:cNvPicPr>
            <a:picLocks noChangeAspect="1"/>
          </p:cNvPicPr>
          <p:nvPr/>
        </p:nvPicPr>
        <p:blipFill>
          <a:blip r:embed="rId4"/>
          <a:stretch>
            <a:fillRect/>
          </a:stretch>
        </p:blipFill>
        <p:spPr>
          <a:xfrm>
            <a:off x="691286" y="4623206"/>
            <a:ext cx="263347" cy="263347"/>
          </a:xfrm>
          <a:prstGeom prst="rect">
            <a:avLst/>
          </a:prstGeom>
        </p:spPr>
      </p:pic>
      <p:sp>
        <p:nvSpPr>
          <p:cNvPr id="21" name="Text 15"/>
          <p:cNvSpPr txBox="1"/>
          <p:nvPr/>
        </p:nvSpPr>
        <p:spPr>
          <a:xfrm>
            <a:off x="1280160" y="4434840"/>
            <a:ext cx="603504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相談内容別に量産できる</a:t>
            </a:r>
            <a:endParaRPr lang="en-US" sz="1400" dirty="0"/>
          </a:p>
        </p:txBody>
      </p:sp>
      <p:sp>
        <p:nvSpPr>
          <p:cNvPr id="22" name="Text 16"/>
          <p:cNvSpPr txBox="1"/>
          <p:nvPr/>
        </p:nvSpPr>
        <p:spPr>
          <a:xfrm>
            <a:off x="1280160" y="4764024"/>
            <a:ext cx="6035040" cy="475488"/>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遺品整理・ゴミ屋敷・施設の退去・特殊清掃・解体など、テーマ別に作り分けられる</a:t>
            </a:r>
            <a:endParaRPr lang="en-US" sz="1150" dirty="0"/>
          </a:p>
        </p:txBody>
      </p:sp>
      <p:sp>
        <p:nvSpPr>
          <p:cNvPr id="23" name="Shape 17"/>
          <p:cNvSpPr/>
          <p:nvPr/>
        </p:nvSpPr>
        <p:spPr>
          <a:xfrm>
            <a:off x="548640" y="5349240"/>
            <a:ext cx="548640" cy="548640"/>
          </a:xfrm>
          <a:prstGeom prst="ellipse">
            <a:avLst/>
          </a:prstGeom>
          <a:solidFill>
            <a:srgbClr val="EAF2F8"/>
          </a:solidFill>
          <a:ln w="12700">
            <a:solidFill>
              <a:srgbClr val="EAF2F8"/>
            </a:solidFill>
            <a:prstDash val="solid"/>
          </a:ln>
        </p:spPr>
      </p:sp>
      <p:pic>
        <p:nvPicPr>
          <p:cNvPr id="24" name="Image 4" descr="preencoded.png">    </p:cNvPr>
          <p:cNvPicPr>
            <a:picLocks noChangeAspect="1"/>
          </p:cNvPicPr>
          <p:nvPr/>
        </p:nvPicPr>
        <p:blipFill>
          <a:blip r:embed="rId5"/>
          <a:stretch>
            <a:fillRect/>
          </a:stretch>
        </p:blipFill>
        <p:spPr>
          <a:xfrm>
            <a:off x="691286" y="5491886"/>
            <a:ext cx="263347" cy="263347"/>
          </a:xfrm>
          <a:prstGeom prst="rect">
            <a:avLst/>
          </a:prstGeom>
        </p:spPr>
      </p:pic>
      <p:sp>
        <p:nvSpPr>
          <p:cNvPr id="25" name="Text 18"/>
          <p:cNvSpPr txBox="1"/>
          <p:nvPr/>
        </p:nvSpPr>
        <p:spPr>
          <a:xfrm>
            <a:off x="1280160" y="5303520"/>
            <a:ext cx="603504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二次利用しやすい</a:t>
            </a:r>
            <a:endParaRPr lang="en-US" sz="1400" dirty="0"/>
          </a:p>
        </p:txBody>
      </p:sp>
      <p:sp>
        <p:nvSpPr>
          <p:cNvPr id="26" name="Text 19"/>
          <p:cNvSpPr txBox="1"/>
          <p:nvPr/>
        </p:nvSpPr>
        <p:spPr>
          <a:xfrm>
            <a:off x="1280160" y="5632704"/>
            <a:ext cx="6035040" cy="475488"/>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HP・Googleビジネスプロフィール・LINE・紹介元への案内・チラシのQRにそのまま使える</a:t>
            </a:r>
            <a:endParaRPr lang="en-US" sz="1150" dirty="0"/>
          </a:p>
        </p:txBody>
      </p:sp>
      <p:sp>
        <p:nvSpPr>
          <p:cNvPr id="27" name="Shape 20"/>
          <p:cNvSpPr/>
          <p:nvPr/>
        </p:nvSpPr>
        <p:spPr>
          <a:xfrm>
            <a:off x="7680960" y="1371600"/>
            <a:ext cx="3962095" cy="4892040"/>
          </a:xfrm>
          <a:prstGeom prst="roundRect">
            <a:avLst>
              <a:gd name="adj" fmla="val 2769"/>
            </a:avLst>
          </a:prstGeom>
          <a:solidFill>
            <a:srgbClr val="143E5C"/>
          </a:solidFill>
          <a:ln w="12700">
            <a:solidFill>
              <a:srgbClr val="143E5C"/>
            </a:solidFill>
            <a:prstDash val="solid"/>
          </a:ln>
        </p:spPr>
      </p:sp>
      <p:sp>
        <p:nvSpPr>
          <p:cNvPr id="28" name="Text 21"/>
          <p:cNvSpPr txBox="1"/>
          <p:nvPr/>
        </p:nvSpPr>
        <p:spPr>
          <a:xfrm>
            <a:off x="8001000" y="1600200"/>
            <a:ext cx="3322015" cy="365760"/>
          </a:xfrm>
          <a:prstGeom prst="rect">
            <a:avLst/>
          </a:prstGeom>
          <a:noFill/>
          <a:ln/>
        </p:spPr>
        <p:txBody>
          <a:bodyPr wrap="square" lIns="0" tIns="0" rIns="0" bIns="0" rtlCol="0" anchor="t"/>
          <a:lstStyle/>
          <a:p>
            <a:pPr indent="0" marL="0">
              <a:buNone/>
            </a:pPr>
            <a:r>
              <a:rPr lang="en-US" sz="1600" b="1" dirty="0">
                <a:solidFill>
                  <a:srgbClr val="F5C08C"/>
                </a:solidFill>
                <a:latin typeface="Meiryo UI" pitchFamily="34" charset="0"/>
                <a:ea typeface="Meiryo UI" pitchFamily="34" charset="-122"/>
                <a:cs typeface="Meiryo UI" pitchFamily="34" charset="-120"/>
              </a:rPr>
              <a:t>Why アイドマ</a:t>
            </a:r>
            <a:endParaRPr lang="en-US" sz="1600" dirty="0"/>
          </a:p>
        </p:txBody>
      </p:sp>
      <p:sp>
        <p:nvSpPr>
          <p:cNvPr id="29" name="Shape 22"/>
          <p:cNvSpPr/>
          <p:nvPr/>
        </p:nvSpPr>
        <p:spPr>
          <a:xfrm>
            <a:off x="8001000" y="2148840"/>
            <a:ext cx="411480" cy="411480"/>
          </a:xfrm>
          <a:prstGeom prst="ellipse">
            <a:avLst/>
          </a:prstGeom>
          <a:solidFill>
            <a:srgbClr val="D2702A"/>
          </a:solidFill>
          <a:ln w="12700">
            <a:solidFill>
              <a:srgbClr val="D2702A"/>
            </a:solidFill>
            <a:prstDash val="solid"/>
          </a:ln>
        </p:spPr>
      </p:sp>
      <p:sp>
        <p:nvSpPr>
          <p:cNvPr id="30" name="Text 23"/>
          <p:cNvSpPr txBox="1"/>
          <p:nvPr/>
        </p:nvSpPr>
        <p:spPr>
          <a:xfrm>
            <a:off x="8001000" y="2148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1</a:t>
            </a:r>
            <a:endParaRPr lang="en-US" sz="1300" dirty="0"/>
          </a:p>
        </p:txBody>
      </p:sp>
      <p:sp>
        <p:nvSpPr>
          <p:cNvPr id="31" name="Text 24"/>
          <p:cNvSpPr txBox="1"/>
          <p:nvPr/>
        </p:nvSpPr>
        <p:spPr>
          <a:xfrm>
            <a:off x="8549640" y="214884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“選ばれる導線”の設計力</a:t>
            </a:r>
            <a:endParaRPr lang="en-US" sz="1400" dirty="0"/>
          </a:p>
        </p:txBody>
      </p:sp>
      <p:sp>
        <p:nvSpPr>
          <p:cNvPr id="32" name="Text 25"/>
          <p:cNvSpPr txBox="1"/>
          <p:nvPr/>
        </p:nvSpPr>
        <p:spPr>
          <a:xfrm>
            <a:off x="8549640" y="2606040"/>
            <a:ext cx="2819095" cy="777240"/>
          </a:xfrm>
          <a:prstGeom prst="rect">
            <a:avLst/>
          </a:prstGeom>
          <a:noFill/>
          <a:ln/>
        </p:spPr>
        <p:txBody>
          <a:bodyPr wrap="square" lIns="0" tIns="0" rIns="0" bIns="0" rtlCol="0" anchor="t"/>
          <a:lstStyle/>
          <a:p>
            <a:pPr indent="0" marL="0">
              <a:buNone/>
            </a:pPr>
            <a:r>
              <a:rPr lang="en-US" sz="1150" dirty="0">
                <a:solidFill>
                  <a:srgbClr val="D4E4F1"/>
                </a:solidFill>
                <a:latin typeface="Meiryo UI" pitchFamily="34" charset="0"/>
                <a:ea typeface="Meiryo UI" pitchFamily="34" charset="-122"/>
                <a:cs typeface="Meiryo UI" pitchFamily="34" charset="-120"/>
              </a:rPr>
              <a:t>営業・マーケティング支援を本業とする会社として、動画を「問い合わせ・成約」につなげる設計からご支援</a:t>
            </a:r>
            <a:endParaRPr lang="en-US" sz="1150" dirty="0"/>
          </a:p>
        </p:txBody>
      </p:sp>
      <p:sp>
        <p:nvSpPr>
          <p:cNvPr id="33" name="Shape 26"/>
          <p:cNvSpPr/>
          <p:nvPr/>
        </p:nvSpPr>
        <p:spPr>
          <a:xfrm>
            <a:off x="8001000" y="3474720"/>
            <a:ext cx="411480" cy="411480"/>
          </a:xfrm>
          <a:prstGeom prst="ellipse">
            <a:avLst/>
          </a:prstGeom>
          <a:solidFill>
            <a:srgbClr val="D2702A"/>
          </a:solidFill>
          <a:ln w="12700">
            <a:solidFill>
              <a:srgbClr val="D2702A"/>
            </a:solidFill>
            <a:prstDash val="solid"/>
          </a:ln>
        </p:spPr>
      </p:sp>
      <p:sp>
        <p:nvSpPr>
          <p:cNvPr id="34" name="Text 27"/>
          <p:cNvSpPr txBox="1"/>
          <p:nvPr/>
        </p:nvSpPr>
        <p:spPr>
          <a:xfrm>
            <a:off x="8001000" y="3474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2</a:t>
            </a:r>
            <a:endParaRPr lang="en-US" sz="1300" dirty="0"/>
          </a:p>
        </p:txBody>
      </p:sp>
      <p:sp>
        <p:nvSpPr>
          <p:cNvPr id="35" name="Text 28"/>
          <p:cNvSpPr txBox="1"/>
          <p:nvPr/>
        </p:nvSpPr>
        <p:spPr>
          <a:xfrm>
            <a:off x="8549640" y="347472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プッシュ×プルをワンストップ</a:t>
            </a:r>
            <a:endParaRPr lang="en-US" sz="1400" dirty="0"/>
          </a:p>
        </p:txBody>
      </p:sp>
      <p:sp>
        <p:nvSpPr>
          <p:cNvPr id="36" name="Text 29"/>
          <p:cNvSpPr txBox="1"/>
          <p:nvPr/>
        </p:nvSpPr>
        <p:spPr>
          <a:xfrm>
            <a:off x="8549640" y="3931920"/>
            <a:ext cx="2819095" cy="777240"/>
          </a:xfrm>
          <a:prstGeom prst="rect">
            <a:avLst/>
          </a:prstGeom>
          <a:noFill/>
          <a:ln/>
        </p:spPr>
        <p:txBody>
          <a:bodyPr wrap="square" lIns="0" tIns="0" rIns="0" bIns="0" rtlCol="0" anchor="t"/>
          <a:lstStyle/>
          <a:p>
            <a:pPr indent="0" marL="0">
              <a:buNone/>
            </a:pPr>
            <a:r>
              <a:rPr lang="en-US" sz="1150" dirty="0">
                <a:solidFill>
                  <a:srgbClr val="D4E4F1"/>
                </a:solidFill>
                <a:latin typeface="Meiryo UI" pitchFamily="34" charset="0"/>
                <a:ea typeface="Meiryo UI" pitchFamily="34" charset="-122"/>
                <a:cs typeface="Meiryo UI" pitchFamily="34" charset="-120"/>
              </a:rPr>
              <a:t>紹介元への営業と、関東全域へのWeb集客を分断せず、一体で設計・運用</a:t>
            </a:r>
            <a:endParaRPr lang="en-US" sz="1150" dirty="0"/>
          </a:p>
        </p:txBody>
      </p:sp>
      <p:sp>
        <p:nvSpPr>
          <p:cNvPr id="37" name="Shape 30"/>
          <p:cNvSpPr/>
          <p:nvPr/>
        </p:nvSpPr>
        <p:spPr>
          <a:xfrm>
            <a:off x="8001000" y="4800600"/>
            <a:ext cx="411480" cy="411480"/>
          </a:xfrm>
          <a:prstGeom prst="ellipse">
            <a:avLst/>
          </a:prstGeom>
          <a:solidFill>
            <a:srgbClr val="D2702A"/>
          </a:solidFill>
          <a:ln w="12700">
            <a:solidFill>
              <a:srgbClr val="D2702A"/>
            </a:solidFill>
            <a:prstDash val="solid"/>
          </a:ln>
        </p:spPr>
      </p:sp>
      <p:sp>
        <p:nvSpPr>
          <p:cNvPr id="38" name="Text 31"/>
          <p:cNvSpPr txBox="1"/>
          <p:nvPr/>
        </p:nvSpPr>
        <p:spPr>
          <a:xfrm>
            <a:off x="800100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3</a:t>
            </a:r>
            <a:endParaRPr lang="en-US" sz="1300" dirty="0"/>
          </a:p>
        </p:txBody>
      </p:sp>
      <p:sp>
        <p:nvSpPr>
          <p:cNvPr id="39" name="Text 32"/>
          <p:cNvSpPr txBox="1"/>
          <p:nvPr/>
        </p:nvSpPr>
        <p:spPr>
          <a:xfrm>
            <a:off x="8549640" y="480060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業務改善・販路拡大の支援</a:t>
            </a:r>
            <a:endParaRPr lang="en-US" sz="1400" dirty="0"/>
          </a:p>
        </p:txBody>
      </p:sp>
      <p:sp>
        <p:nvSpPr>
          <p:cNvPr id="40" name="Text 33"/>
          <p:cNvSpPr txBox="1"/>
          <p:nvPr/>
        </p:nvSpPr>
        <p:spPr>
          <a:xfrm>
            <a:off x="8549640" y="5257800"/>
            <a:ext cx="2819095" cy="777240"/>
          </a:xfrm>
          <a:prstGeom prst="rect">
            <a:avLst/>
          </a:prstGeom>
          <a:noFill/>
          <a:ln/>
        </p:spPr>
        <p:txBody>
          <a:bodyPr wrap="square" lIns="0" tIns="0" rIns="0" bIns="0" rtlCol="0" anchor="t"/>
          <a:lstStyle/>
          <a:p>
            <a:pPr indent="0" marL="0">
              <a:buNone/>
            </a:pPr>
            <a:r>
              <a:rPr lang="en-US" sz="1150" dirty="0">
                <a:solidFill>
                  <a:srgbClr val="D4E4F1"/>
                </a:solidFill>
                <a:latin typeface="Meiryo UI" pitchFamily="34" charset="0"/>
                <a:ea typeface="Meiryo UI" pitchFamily="34" charset="-122"/>
                <a:cs typeface="Meiryo UI" pitchFamily="34" charset="-120"/>
              </a:rPr>
              <a:t>コンサルティングチームが、紹介ルートの開拓や見積もりから成約までの業務改善をご支援</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プッシュ型営業：紹介元と見積もり相談者に“先回り”して届ける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37585"/>
                </a:solidFill>
                <a:latin typeface="Meiryo UI" pitchFamily="34" charset="0"/>
                <a:ea typeface="Meiryo UI" pitchFamily="34" charset="-122"/>
                <a:cs typeface="Meiryo UI" pitchFamily="34" charset="-120"/>
              </a:rPr>
              <a:t>貴社の案件は「紹介元（福祉・不動産）」と「依頼者（ご本人・ご遺族）」の2層で生まれています。両方に動画を届けます。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8</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514600"/>
                <a:gridCol w="2926080"/>
                <a:gridCol w="3108960"/>
                <a:gridCol w="2542032"/>
              </a:tblGrid>
              <a:tr h="411480">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ターゲット</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相手の本音・関心</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届ける動画テーマ（例）</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主なチャネル</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r>
              <a:tr h="658368">
                <a:tc>
                  <a:txBody>
                    <a:bodyPr/>
                    <a:lstStyle/>
                    <a:p>
                      <a:pPr indent="0" marL="0">
                        <a:buNone/>
                      </a:pPr>
                      <a:r>
                        <a:rPr lang="en-US" sz="1100" b="1" dirty="0">
                          <a:solidFill>
                            <a:srgbClr val="1F5F8B"/>
                          </a:solidFill>
                          <a:latin typeface="Meiryo UI" pitchFamily="34" charset="0"/>
                          <a:ea typeface="Meiryo UI" pitchFamily="34" charset="-122"/>
                          <a:cs typeface="Meiryo UI" pitchFamily="34" charset="-120"/>
                        </a:rPr>
                        <a:t>社会福祉協議会・地域包括</a:t>
                      </a:r>
                      <a:endParaRPr lang="en-US" sz="1100" dirty="0">
                        <a:latin typeface="Meiryo UI" charset="0"/>
                        <a:ea typeface="Meiryo UI" charset="0"/>
                        <a:cs typeface="Meiryo UI" charset="0"/>
                      </a:endParaRPr>
                    </a:p>
                    <a:p>
                      <a:pPr indent="0" marL="0">
                        <a:buNone/>
                      </a:pPr>
                      <a:r>
                        <a:rPr lang="en-US" sz="1100" b="1" dirty="0">
                          <a:solidFill>
                            <a:srgbClr val="1F5F8B"/>
                          </a:solidFill>
                          <a:latin typeface="Meiryo UI" pitchFamily="34" charset="0"/>
                          <a:ea typeface="Meiryo UI" pitchFamily="34" charset="-122"/>
                          <a:cs typeface="Meiryo UI" pitchFamily="34" charset="-120"/>
                        </a:rPr>
                        <a:t>支援センター・ケアマネ</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DF0E3"/>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安心して紹介できる業者か／高齢者に寄り添ってくれるか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DF0E3"/>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福祉の視点で片付けを支える会社です（代表の想い）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DF0E3"/>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訪問時の案内／メール／パンフレットのQR</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DF0E3"/>
                    </a:solidFill>
                  </a:tcPr>
                </a:tc>
              </a:tr>
              <a:tr h="658368">
                <a:tc>
                  <a:txBody>
                    <a:bodyPr/>
                    <a:lstStyle/>
                    <a:p>
                      <a:pPr indent="0" marL="0">
                        <a:buNone/>
                      </a:pPr>
                      <a:r>
                        <a:rPr lang="en-US" sz="1100" b="1" dirty="0">
                          <a:solidFill>
                            <a:srgbClr val="1F5F8B"/>
                          </a:solidFill>
                          <a:latin typeface="Meiryo UI" pitchFamily="34" charset="0"/>
                          <a:ea typeface="Meiryo UI" pitchFamily="34" charset="-122"/>
                          <a:cs typeface="Meiryo UI" pitchFamily="34" charset="-120"/>
                        </a:rPr>
                        <a:t>不動産会社・管理会社</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空き家や退去後の片付けを任せられるか／事故物件にも対応できるか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空き家・退去・事故物件の対応の流れ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フォーム営業／メール／訪問時に共有</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658368">
                <a:tc>
                  <a:txBody>
                    <a:bodyPr/>
                    <a:lstStyle/>
                    <a:p>
                      <a:pPr indent="0" marL="0">
                        <a:buNone/>
                      </a:pPr>
                      <a:r>
                        <a:rPr lang="en-US" sz="1100" b="1" dirty="0">
                          <a:solidFill>
                            <a:srgbClr val="1F5F8B"/>
                          </a:solidFill>
                          <a:latin typeface="Meiryo UI" pitchFamily="34" charset="0"/>
                          <a:ea typeface="Meiryo UI" pitchFamily="34" charset="-122"/>
                          <a:cs typeface="Meiryo UI" pitchFamily="34" charset="-120"/>
                        </a:rPr>
                        <a:t>老人ホーム・高齢者施設</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入居・退去時の家財整理を相談できる先がほしい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施設への入居・退去時の家財整理ガイド</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施設長宛のDM（QR付）／フォーム営業</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F5F8B"/>
                          </a:solidFill>
                          <a:latin typeface="Meiryo UI" pitchFamily="34" charset="0"/>
                          <a:ea typeface="Meiryo UI" pitchFamily="34" charset="-122"/>
                          <a:cs typeface="Meiryo UI" pitchFamily="34" charset="-120"/>
                        </a:rPr>
                        <a:t>見積もり相談者</a:t>
                      </a:r>
                      <a:endParaRPr lang="en-US" sz="1100" dirty="0">
                        <a:latin typeface="Meiryo UI" charset="0"/>
                        <a:ea typeface="Meiryo UI" charset="0"/>
                        <a:cs typeface="Meiryo UI" charset="0"/>
                      </a:endParaRPr>
                    </a:p>
                    <a:p>
                      <a:pPr indent="0" marL="0">
                        <a:buNone/>
                      </a:pPr>
                      <a:r>
                        <a:rPr lang="en-US" sz="1100" b="1" dirty="0">
                          <a:solidFill>
                            <a:srgbClr val="1F5F8B"/>
                          </a:solidFill>
                          <a:latin typeface="Meiryo UI" pitchFamily="34" charset="0"/>
                          <a:ea typeface="Meiryo UI" pitchFamily="34" charset="-122"/>
                          <a:cs typeface="Meiryo UI" pitchFamily="34" charset="-120"/>
                        </a:rPr>
                        <a:t>（ご本人・ご遺族）</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高額請求されないか／どんな人が来るのか</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見積もりの前に知っておきたい料金の考え方と作業の流れ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問い合わせ後の自動返信／見積もり前の事前送付</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658368">
                <a:tc>
                  <a:txBody>
                    <a:bodyPr/>
                    <a:lstStyle/>
                    <a:p>
                      <a:pPr indent="0" marL="0">
                        <a:buNone/>
                      </a:pPr>
                      <a:r>
                        <a:rPr lang="en-US" sz="1100" b="1" dirty="0">
                          <a:solidFill>
                            <a:srgbClr val="1F5F8B"/>
                          </a:solidFill>
                          <a:latin typeface="Meiryo UI" pitchFamily="34" charset="0"/>
                          <a:ea typeface="Meiryo UI" pitchFamily="34" charset="-122"/>
                          <a:cs typeface="Meiryo UI" pitchFamily="34" charset="-120"/>
                        </a:rPr>
                        <a:t>過去のお客様</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知り合いにも紹介したい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紹介用のサービス紹介動画</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00" dirty="0">
                          <a:solidFill>
                            <a:srgbClr val="26303A"/>
                          </a:solidFill>
                          <a:latin typeface="Meiryo UI" pitchFamily="34" charset="0"/>
                          <a:ea typeface="Meiryo UI" pitchFamily="34" charset="-122"/>
                          <a:cs typeface="Meiryo UI" pitchFamily="34" charset="-120"/>
                        </a:rPr>
                        <a:t>LINE／お礼状のQR</a:t>
                      </a:r>
                      <a:endParaRPr lang="en-US" sz="11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788152"/>
            <a:ext cx="457200" cy="457200"/>
          </a:xfrm>
          <a:prstGeom prst="ellipse">
            <a:avLst/>
          </a:prstGeom>
          <a:solidFill>
            <a:srgbClr val="D2702A"/>
          </a:solidFill>
          <a:ln w="12700">
            <a:solidFill>
              <a:srgbClr val="D2702A"/>
            </a:solidFill>
            <a:prstDash val="solid"/>
          </a:ln>
        </p:spPr>
      </p:sp>
      <p:pic>
        <p:nvPicPr>
          <p:cNvPr id="9" name="Image 0" descr="preencoded.png">    </p:cNvPr>
          <p:cNvPicPr>
            <a:picLocks noChangeAspect="1"/>
          </p:cNvPicPr>
          <p:nvPr/>
        </p:nvPicPr>
        <p:blipFill>
          <a:blip r:embed="rId1"/>
          <a:stretch>
            <a:fillRect/>
          </a:stretch>
        </p:blipFill>
        <p:spPr>
          <a:xfrm>
            <a:off x="667512" y="5907024"/>
            <a:ext cx="219456" cy="219456"/>
          </a:xfrm>
          <a:prstGeom prst="rect">
            <a:avLst/>
          </a:prstGeom>
        </p:spPr>
      </p:pic>
      <p:sp>
        <p:nvSpPr>
          <p:cNvPr id="10" name="Text 6"/>
          <p:cNvSpPr txBox="1"/>
          <p:nvPr/>
        </p:nvSpPr>
        <p:spPr>
          <a:xfrm>
            <a:off x="1143000" y="5715000"/>
            <a:ext cx="10500055" cy="603504"/>
          </a:xfrm>
          <a:prstGeom prst="rect">
            <a:avLst/>
          </a:prstGeom>
          <a:noFill/>
          <a:ln/>
        </p:spPr>
        <p:txBody>
          <a:bodyPr wrap="square" lIns="0" tIns="0" rIns="0" bIns="0" rtlCol="0" anchor="ctr"/>
          <a:lstStyle/>
          <a:p>
            <a:pPr indent="0" marL="0">
              <a:buNone/>
            </a:pPr>
            <a:r>
              <a:rPr lang="en-US" sz="1150" b="1" dirty="0">
                <a:solidFill>
                  <a:srgbClr val="D2702A"/>
                </a:solidFill>
                <a:latin typeface="Meiryo UI" pitchFamily="34" charset="0"/>
                <a:ea typeface="Meiryo UI" pitchFamily="34" charset="-122"/>
                <a:cs typeface="Meiryo UI" pitchFamily="34" charset="-120"/>
              </a:rPr>
              <a:t>最大の差別化ポイント：</a:t>
            </a:r>
            <a:pPr indent="0" marL="0">
              <a:buNone/>
            </a:pPr>
            <a:r>
              <a:rPr lang="en-US" sz="1150" dirty="0">
                <a:solidFill>
                  <a:srgbClr val="26303A"/>
                </a:solidFill>
                <a:latin typeface="Meiryo UI" pitchFamily="34" charset="0"/>
                <a:ea typeface="Meiryo UI" pitchFamily="34" charset="-122"/>
                <a:cs typeface="Meiryo UI" pitchFamily="34" charset="-120"/>
              </a:rPr>
              <a:t>福祉の視点を持つ片付け業者として、社協・ケアマネ・施設といった福祉の紹介ルートに深く入れるのは貴社ならではの強みです。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営業プロセスへの組み込み：6つの接点すべてに動画を置く</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2331720"/>
            <a:ext cx="914400" cy="274320"/>
          </a:xfrm>
          <a:prstGeom prst="rect">
            <a:avLst/>
          </a:prstGeom>
          <a:noFill/>
          <a:ln/>
        </p:spPr>
        <p:txBody>
          <a:bodyPr wrap="square" lIns="0" tIns="0" rIns="0" bIns="0" rtlCol="0" anchor="t"/>
          <a:lstStyle/>
          <a:p>
            <a:pPr indent="0" marL="0">
              <a:buNone/>
            </a:pPr>
            <a:r>
              <a:rPr lang="en-US" sz="1050" b="1" dirty="0">
                <a:solidFill>
                  <a:srgbClr val="7A8591"/>
                </a:solidFill>
                <a:latin typeface="Meiryo UI" pitchFamily="34" charset="0"/>
                <a:ea typeface="Meiryo UI" pitchFamily="34" charset="-122"/>
                <a:cs typeface="Meiryo UI" pitchFamily="34" charset="-120"/>
              </a:rPr>
              <a:t>従来</a:t>
            </a:r>
            <a:endParaRPr lang="en-US" sz="1050" dirty="0"/>
          </a:p>
        </p:txBody>
      </p:sp>
      <p:sp>
        <p:nvSpPr>
          <p:cNvPr id="7" name="Shape 5"/>
          <p:cNvSpPr/>
          <p:nvPr/>
        </p:nvSpPr>
        <p:spPr>
          <a:xfrm>
            <a:off x="548640" y="1463040"/>
            <a:ext cx="1727149" cy="731520"/>
          </a:xfrm>
          <a:prstGeom prst="roundRect">
            <a:avLst>
              <a:gd name="adj" fmla="val 15000"/>
            </a:avLst>
          </a:prstGeom>
          <a:solidFill>
            <a:srgbClr val="1F5F8B"/>
          </a:solidFill>
          <a:ln w="12700">
            <a:solidFill>
              <a:srgbClr val="1F5F8B"/>
            </a:solidFill>
            <a:prstDash val="solid"/>
          </a:ln>
        </p:spPr>
      </p:sp>
      <p:sp>
        <p:nvSpPr>
          <p:cNvPr id="8" name="Text 6"/>
          <p:cNvSpPr txBox="1"/>
          <p:nvPr/>
        </p:nvSpPr>
        <p:spPr>
          <a:xfrm>
            <a:off x="548640" y="1508760"/>
            <a:ext cx="1727149" cy="274320"/>
          </a:xfrm>
          <a:prstGeom prst="rect">
            <a:avLst/>
          </a:prstGeom>
          <a:noFill/>
          <a:ln/>
        </p:spPr>
        <p:txBody>
          <a:bodyPr wrap="square" lIns="0" tIns="0" rIns="0" bIns="0" rtlCol="0" anchor="t"/>
          <a:lstStyle/>
          <a:p>
            <a:pPr algn="ctr" indent="0" marL="0">
              <a:buNone/>
            </a:pPr>
            <a:r>
              <a:rPr lang="en-US" sz="1000" b="1" dirty="0">
                <a:solidFill>
                  <a:srgbClr val="F5C08C"/>
                </a:solidFill>
                <a:latin typeface="Meiryo UI" pitchFamily="34" charset="0"/>
                <a:ea typeface="Meiryo UI" pitchFamily="34" charset="-122"/>
                <a:cs typeface="Meiryo UI" pitchFamily="34" charset="-120"/>
              </a:rPr>
              <a:t>STEP 1</a:t>
            </a:r>
            <a:endParaRPr lang="en-US" sz="1000" dirty="0"/>
          </a:p>
        </p:txBody>
      </p:sp>
      <p:sp>
        <p:nvSpPr>
          <p:cNvPr id="9" name="Text 7"/>
          <p:cNvSpPr txBox="1"/>
          <p:nvPr/>
        </p:nvSpPr>
        <p:spPr>
          <a:xfrm>
            <a:off x="548640"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紹介元への案内</a:t>
            </a:r>
            <a:endParaRPr lang="en-US" sz="1350" dirty="0"/>
          </a:p>
        </p:txBody>
      </p:sp>
      <p:sp>
        <p:nvSpPr>
          <p:cNvPr id="10" name="Shape 8"/>
          <p:cNvSpPr/>
          <p:nvPr/>
        </p:nvSpPr>
        <p:spPr>
          <a:xfrm>
            <a:off x="548640" y="2606040"/>
            <a:ext cx="1727149" cy="731520"/>
          </a:xfrm>
          <a:prstGeom prst="roundRect">
            <a:avLst>
              <a:gd name="adj" fmla="val 15000"/>
            </a:avLst>
          </a:prstGeom>
          <a:solidFill>
            <a:srgbClr val="EEF0F2"/>
          </a:solidFill>
          <a:ln w="12700">
            <a:solidFill>
              <a:srgbClr val="EEF0F2"/>
            </a:solidFill>
            <a:prstDash val="solid"/>
          </a:ln>
        </p:spPr>
      </p:sp>
      <p:sp>
        <p:nvSpPr>
          <p:cNvPr id="11" name="Text 9"/>
          <p:cNvSpPr txBox="1"/>
          <p:nvPr/>
        </p:nvSpPr>
        <p:spPr>
          <a:xfrm>
            <a:off x="658368" y="2606040"/>
            <a:ext cx="1507693" cy="731520"/>
          </a:xfrm>
          <a:prstGeom prst="rect">
            <a:avLst/>
          </a:prstGeom>
          <a:noFill/>
          <a:ln/>
        </p:spPr>
        <p:txBody>
          <a:bodyPr wrap="square" lIns="0" tIns="0" rIns="0" bIns="0" rtlCol="0" anchor="ctr"/>
          <a:lstStyle/>
          <a:p>
            <a:pPr algn="ctr" indent="0" marL="0">
              <a:buNone/>
            </a:pPr>
            <a:r>
              <a:rPr lang="en-US" sz="1150" dirty="0">
                <a:solidFill>
                  <a:srgbClr val="7A8591"/>
                </a:solidFill>
                <a:latin typeface="Meiryo UI" pitchFamily="34" charset="0"/>
                <a:ea typeface="Meiryo UI" pitchFamily="34" charset="-122"/>
                <a:cs typeface="Meiryo UI" pitchFamily="34" charset="-120"/>
              </a:rPr>
              <a:t>パンフレット・ポスターのみ</a:t>
            </a:r>
            <a:endParaRPr lang="en-US" sz="1150" dirty="0"/>
          </a:p>
        </p:txBody>
      </p:sp>
      <p:pic>
        <p:nvPicPr>
          <p:cNvPr id="12" name="Image 0" descr="preencoded.png">    </p:cNvPr>
          <p:cNvPicPr>
            <a:picLocks noChangeAspect="1"/>
          </p:cNvPicPr>
          <p:nvPr/>
        </p:nvPicPr>
        <p:blipFill>
          <a:blip r:embed="rId1"/>
          <a:stretch>
            <a:fillRect/>
          </a:stretch>
        </p:blipFill>
        <p:spPr>
          <a:xfrm>
            <a:off x="1864309" y="3456432"/>
            <a:ext cx="256032" cy="256032"/>
          </a:xfrm>
          <a:prstGeom prst="rect">
            <a:avLst/>
          </a:prstGeom>
        </p:spPr>
      </p:pic>
      <p:sp>
        <p:nvSpPr>
          <p:cNvPr id="13" name="Shape 10"/>
          <p:cNvSpPr/>
          <p:nvPr/>
        </p:nvSpPr>
        <p:spPr>
          <a:xfrm>
            <a:off x="548640" y="3794760"/>
            <a:ext cx="1727149" cy="1417320"/>
          </a:xfrm>
          <a:prstGeom prst="roundRect">
            <a:avLst>
              <a:gd name="adj" fmla="val 7742"/>
            </a:avLst>
          </a:prstGeom>
          <a:solidFill>
            <a:srgbClr val="EAF2F8"/>
          </a:solidFill>
          <a:ln w="12700">
            <a:solidFill>
              <a:srgbClr val="EAF2F8"/>
            </a:solidFill>
            <a:prstDash val="solid"/>
          </a:ln>
        </p:spPr>
      </p:sp>
      <p:sp>
        <p:nvSpPr>
          <p:cNvPr id="14" name="Text 11"/>
          <p:cNvSpPr txBox="1"/>
          <p:nvPr/>
        </p:nvSpPr>
        <p:spPr>
          <a:xfrm>
            <a:off x="676656" y="3858768"/>
            <a:ext cx="1471117" cy="1298448"/>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紹介元が「この会社なら」と思える代表の動画を届ける</a:t>
            </a:r>
            <a:endParaRPr lang="en-US" sz="1200" dirty="0"/>
          </a:p>
        </p:txBody>
      </p:sp>
      <p:sp>
        <p:nvSpPr>
          <p:cNvPr id="15" name="Shape 12"/>
          <p:cNvSpPr/>
          <p:nvPr/>
        </p:nvSpPr>
        <p:spPr>
          <a:xfrm>
            <a:off x="548640" y="5349240"/>
            <a:ext cx="1727149" cy="566928"/>
          </a:xfrm>
          <a:prstGeom prst="roundRect">
            <a:avLst>
              <a:gd name="adj" fmla="val 19355"/>
            </a:avLst>
          </a:prstGeom>
          <a:solidFill>
            <a:srgbClr val="FDF0E3"/>
          </a:solidFill>
          <a:ln w="12700">
            <a:solidFill>
              <a:srgbClr val="FDF0E3"/>
            </a:solidFill>
            <a:prstDash val="solid"/>
          </a:ln>
        </p:spPr>
      </p:sp>
      <p:sp>
        <p:nvSpPr>
          <p:cNvPr id="16" name="Text 13"/>
          <p:cNvSpPr txBox="1"/>
          <p:nvPr/>
        </p:nvSpPr>
        <p:spPr>
          <a:xfrm>
            <a:off x="621792" y="5349240"/>
            <a:ext cx="1580845" cy="566928"/>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紹介件数UP</a:t>
            </a:r>
            <a:endParaRPr lang="en-US" sz="1200" dirty="0"/>
          </a:p>
        </p:txBody>
      </p:sp>
      <p:sp>
        <p:nvSpPr>
          <p:cNvPr id="17" name="Shape 14"/>
          <p:cNvSpPr/>
          <p:nvPr/>
        </p:nvSpPr>
        <p:spPr>
          <a:xfrm>
            <a:off x="2422093" y="1463040"/>
            <a:ext cx="1727149" cy="731520"/>
          </a:xfrm>
          <a:prstGeom prst="roundRect">
            <a:avLst>
              <a:gd name="adj" fmla="val 15000"/>
            </a:avLst>
          </a:prstGeom>
          <a:solidFill>
            <a:srgbClr val="1F5F8B"/>
          </a:solidFill>
          <a:ln w="12700">
            <a:solidFill>
              <a:srgbClr val="1F5F8B"/>
            </a:solidFill>
            <a:prstDash val="solid"/>
          </a:ln>
        </p:spPr>
      </p:sp>
      <p:sp>
        <p:nvSpPr>
          <p:cNvPr id="18" name="Text 15"/>
          <p:cNvSpPr txBox="1"/>
          <p:nvPr/>
        </p:nvSpPr>
        <p:spPr>
          <a:xfrm>
            <a:off x="2422093" y="1508760"/>
            <a:ext cx="1727149" cy="274320"/>
          </a:xfrm>
          <a:prstGeom prst="rect">
            <a:avLst/>
          </a:prstGeom>
          <a:noFill/>
          <a:ln/>
        </p:spPr>
        <p:txBody>
          <a:bodyPr wrap="square" lIns="0" tIns="0" rIns="0" bIns="0" rtlCol="0" anchor="t"/>
          <a:lstStyle/>
          <a:p>
            <a:pPr algn="ctr" indent="0" marL="0">
              <a:buNone/>
            </a:pPr>
            <a:r>
              <a:rPr lang="en-US" sz="1000" b="1" dirty="0">
                <a:solidFill>
                  <a:srgbClr val="F5C08C"/>
                </a:solidFill>
                <a:latin typeface="Meiryo UI" pitchFamily="34" charset="0"/>
                <a:ea typeface="Meiryo UI" pitchFamily="34" charset="-122"/>
                <a:cs typeface="Meiryo UI" pitchFamily="34" charset="-120"/>
              </a:rPr>
              <a:t>STEP 2</a:t>
            </a:r>
            <a:endParaRPr lang="en-US" sz="1000" dirty="0"/>
          </a:p>
        </p:txBody>
      </p:sp>
      <p:sp>
        <p:nvSpPr>
          <p:cNvPr id="19" name="Text 16"/>
          <p:cNvSpPr txBox="1"/>
          <p:nvPr/>
        </p:nvSpPr>
        <p:spPr>
          <a:xfrm>
            <a:off x="2422093"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問い合わせ直後</a:t>
            </a:r>
            <a:endParaRPr lang="en-US" sz="1350" dirty="0"/>
          </a:p>
        </p:txBody>
      </p:sp>
      <p:sp>
        <p:nvSpPr>
          <p:cNvPr id="20" name="Shape 17"/>
          <p:cNvSpPr/>
          <p:nvPr/>
        </p:nvSpPr>
        <p:spPr>
          <a:xfrm>
            <a:off x="2422093" y="2606040"/>
            <a:ext cx="1727149" cy="731520"/>
          </a:xfrm>
          <a:prstGeom prst="roundRect">
            <a:avLst>
              <a:gd name="adj" fmla="val 15000"/>
            </a:avLst>
          </a:prstGeom>
          <a:solidFill>
            <a:srgbClr val="EEF0F2"/>
          </a:solidFill>
          <a:ln w="12700">
            <a:solidFill>
              <a:srgbClr val="EEF0F2"/>
            </a:solidFill>
            <a:prstDash val="solid"/>
          </a:ln>
        </p:spPr>
      </p:sp>
      <p:sp>
        <p:nvSpPr>
          <p:cNvPr id="21" name="Text 18"/>
          <p:cNvSpPr txBox="1"/>
          <p:nvPr/>
        </p:nvSpPr>
        <p:spPr>
          <a:xfrm>
            <a:off x="2531821" y="2606040"/>
            <a:ext cx="1507693" cy="731520"/>
          </a:xfrm>
          <a:prstGeom prst="rect">
            <a:avLst/>
          </a:prstGeom>
          <a:noFill/>
          <a:ln/>
        </p:spPr>
        <p:txBody>
          <a:bodyPr wrap="square" lIns="0" tIns="0" rIns="0" bIns="0" rtlCol="0" anchor="ctr"/>
          <a:lstStyle/>
          <a:p>
            <a:pPr algn="ctr" indent="0" marL="0">
              <a:buNone/>
            </a:pPr>
            <a:r>
              <a:rPr lang="en-US" sz="1150" dirty="0">
                <a:solidFill>
                  <a:srgbClr val="7A8591"/>
                </a:solidFill>
                <a:latin typeface="Meiryo UI" pitchFamily="34" charset="0"/>
                <a:ea typeface="Meiryo UI" pitchFamily="34" charset="-122"/>
                <a:cs typeface="Meiryo UI" pitchFamily="34" charset="-120"/>
              </a:rPr>
              <a:t>電話でその都度説明</a:t>
            </a:r>
            <a:endParaRPr lang="en-US" sz="1150" dirty="0"/>
          </a:p>
        </p:txBody>
      </p:sp>
      <p:pic>
        <p:nvPicPr>
          <p:cNvPr id="22" name="Image 1" descr="preencoded.png">    </p:cNvPr>
          <p:cNvPicPr>
            <a:picLocks noChangeAspect="1"/>
          </p:cNvPicPr>
          <p:nvPr/>
        </p:nvPicPr>
        <p:blipFill>
          <a:blip r:embed="rId2"/>
          <a:stretch>
            <a:fillRect/>
          </a:stretch>
        </p:blipFill>
        <p:spPr>
          <a:xfrm>
            <a:off x="3737762" y="3456432"/>
            <a:ext cx="256032" cy="256032"/>
          </a:xfrm>
          <a:prstGeom prst="rect">
            <a:avLst/>
          </a:prstGeom>
        </p:spPr>
      </p:pic>
      <p:sp>
        <p:nvSpPr>
          <p:cNvPr id="23" name="Shape 19"/>
          <p:cNvSpPr/>
          <p:nvPr/>
        </p:nvSpPr>
        <p:spPr>
          <a:xfrm>
            <a:off x="2422093" y="3794760"/>
            <a:ext cx="1727149" cy="1417320"/>
          </a:xfrm>
          <a:prstGeom prst="roundRect">
            <a:avLst>
              <a:gd name="adj" fmla="val 7742"/>
            </a:avLst>
          </a:prstGeom>
          <a:solidFill>
            <a:srgbClr val="EAF2F8"/>
          </a:solidFill>
          <a:ln w="12700">
            <a:solidFill>
              <a:srgbClr val="EAF2F8"/>
            </a:solidFill>
            <a:prstDash val="solid"/>
          </a:ln>
        </p:spPr>
      </p:sp>
      <p:sp>
        <p:nvSpPr>
          <p:cNvPr id="24" name="Text 20"/>
          <p:cNvSpPr txBox="1"/>
          <p:nvPr/>
        </p:nvSpPr>
        <p:spPr>
          <a:xfrm>
            <a:off x="2550109" y="3858768"/>
            <a:ext cx="1471117" cy="1298448"/>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自動返信で「作業の流れ」動画を送る</a:t>
            </a:r>
            <a:endParaRPr lang="en-US" sz="1200" dirty="0"/>
          </a:p>
        </p:txBody>
      </p:sp>
      <p:sp>
        <p:nvSpPr>
          <p:cNvPr id="25" name="Shape 21"/>
          <p:cNvSpPr/>
          <p:nvPr/>
        </p:nvSpPr>
        <p:spPr>
          <a:xfrm>
            <a:off x="2422093" y="5349240"/>
            <a:ext cx="1727149" cy="566928"/>
          </a:xfrm>
          <a:prstGeom prst="roundRect">
            <a:avLst>
              <a:gd name="adj" fmla="val 19355"/>
            </a:avLst>
          </a:prstGeom>
          <a:solidFill>
            <a:srgbClr val="FDF0E3"/>
          </a:solidFill>
          <a:ln w="12700">
            <a:solidFill>
              <a:srgbClr val="FDF0E3"/>
            </a:solidFill>
            <a:prstDash val="solid"/>
          </a:ln>
        </p:spPr>
      </p:sp>
      <p:sp>
        <p:nvSpPr>
          <p:cNvPr id="26" name="Text 22"/>
          <p:cNvSpPr txBox="1"/>
          <p:nvPr/>
        </p:nvSpPr>
        <p:spPr>
          <a:xfrm>
            <a:off x="2495245" y="5349240"/>
            <a:ext cx="1580845" cy="566928"/>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見積もり実施率UP</a:t>
            </a:r>
            <a:endParaRPr lang="en-US" sz="1200" dirty="0"/>
          </a:p>
        </p:txBody>
      </p:sp>
      <p:sp>
        <p:nvSpPr>
          <p:cNvPr id="27" name="Shape 23"/>
          <p:cNvSpPr/>
          <p:nvPr/>
        </p:nvSpPr>
        <p:spPr>
          <a:xfrm>
            <a:off x="4295546" y="1463040"/>
            <a:ext cx="1727149" cy="731520"/>
          </a:xfrm>
          <a:prstGeom prst="roundRect">
            <a:avLst>
              <a:gd name="adj" fmla="val 15000"/>
            </a:avLst>
          </a:prstGeom>
          <a:solidFill>
            <a:srgbClr val="1F5F8B"/>
          </a:solidFill>
          <a:ln w="12700">
            <a:solidFill>
              <a:srgbClr val="1F5F8B"/>
            </a:solidFill>
            <a:prstDash val="solid"/>
          </a:ln>
        </p:spPr>
      </p:sp>
      <p:sp>
        <p:nvSpPr>
          <p:cNvPr id="28" name="Text 24"/>
          <p:cNvSpPr txBox="1"/>
          <p:nvPr/>
        </p:nvSpPr>
        <p:spPr>
          <a:xfrm>
            <a:off x="4295546" y="1508760"/>
            <a:ext cx="1727149" cy="274320"/>
          </a:xfrm>
          <a:prstGeom prst="rect">
            <a:avLst/>
          </a:prstGeom>
          <a:noFill/>
          <a:ln/>
        </p:spPr>
        <p:txBody>
          <a:bodyPr wrap="square" lIns="0" tIns="0" rIns="0" bIns="0" rtlCol="0" anchor="t"/>
          <a:lstStyle/>
          <a:p>
            <a:pPr algn="ctr" indent="0" marL="0">
              <a:buNone/>
            </a:pPr>
            <a:r>
              <a:rPr lang="en-US" sz="1000" b="1" dirty="0">
                <a:solidFill>
                  <a:srgbClr val="F5C08C"/>
                </a:solidFill>
                <a:latin typeface="Meiryo UI" pitchFamily="34" charset="0"/>
                <a:ea typeface="Meiryo UI" pitchFamily="34" charset="-122"/>
                <a:cs typeface="Meiryo UI" pitchFamily="34" charset="-120"/>
              </a:rPr>
              <a:t>STEP 3</a:t>
            </a:r>
            <a:endParaRPr lang="en-US" sz="1000" dirty="0"/>
          </a:p>
        </p:txBody>
      </p:sp>
      <p:sp>
        <p:nvSpPr>
          <p:cNvPr id="29" name="Text 25"/>
          <p:cNvSpPr txBox="1"/>
          <p:nvPr/>
        </p:nvSpPr>
        <p:spPr>
          <a:xfrm>
            <a:off x="4295546"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見積もりの前</a:t>
            </a:r>
            <a:endParaRPr lang="en-US" sz="1350" dirty="0"/>
          </a:p>
        </p:txBody>
      </p:sp>
      <p:sp>
        <p:nvSpPr>
          <p:cNvPr id="30" name="Shape 26"/>
          <p:cNvSpPr/>
          <p:nvPr/>
        </p:nvSpPr>
        <p:spPr>
          <a:xfrm>
            <a:off x="4295546" y="2606040"/>
            <a:ext cx="1727149" cy="731520"/>
          </a:xfrm>
          <a:prstGeom prst="roundRect">
            <a:avLst>
              <a:gd name="adj" fmla="val 15000"/>
            </a:avLst>
          </a:prstGeom>
          <a:solidFill>
            <a:srgbClr val="EEF0F2"/>
          </a:solidFill>
          <a:ln w="12700">
            <a:solidFill>
              <a:srgbClr val="EEF0F2"/>
            </a:solidFill>
            <a:prstDash val="solid"/>
          </a:ln>
        </p:spPr>
      </p:sp>
      <p:sp>
        <p:nvSpPr>
          <p:cNvPr id="31" name="Text 27"/>
          <p:cNvSpPr txBox="1"/>
          <p:nvPr/>
        </p:nvSpPr>
        <p:spPr>
          <a:xfrm>
            <a:off x="4405274" y="2606040"/>
            <a:ext cx="1507693" cy="731520"/>
          </a:xfrm>
          <a:prstGeom prst="rect">
            <a:avLst/>
          </a:prstGeom>
          <a:noFill/>
          <a:ln/>
        </p:spPr>
        <p:txBody>
          <a:bodyPr wrap="square" lIns="0" tIns="0" rIns="0" bIns="0" rtlCol="0" anchor="ctr"/>
          <a:lstStyle/>
          <a:p>
            <a:pPr algn="ctr" indent="0" marL="0">
              <a:buNone/>
            </a:pPr>
            <a:r>
              <a:rPr lang="en-US" sz="1150" dirty="0">
                <a:solidFill>
                  <a:srgbClr val="7A8591"/>
                </a:solidFill>
                <a:latin typeface="Meiryo UI" pitchFamily="34" charset="0"/>
                <a:ea typeface="Meiryo UI" pitchFamily="34" charset="-122"/>
                <a:cs typeface="Meiryo UI" pitchFamily="34" charset="-120"/>
              </a:rPr>
              <a:t>当日に一から説明</a:t>
            </a:r>
            <a:endParaRPr lang="en-US" sz="1150" dirty="0"/>
          </a:p>
        </p:txBody>
      </p:sp>
      <p:pic>
        <p:nvPicPr>
          <p:cNvPr id="32" name="Image 2" descr="preencoded.png">    </p:cNvPr>
          <p:cNvPicPr>
            <a:picLocks noChangeAspect="1"/>
          </p:cNvPicPr>
          <p:nvPr/>
        </p:nvPicPr>
        <p:blipFill>
          <a:blip r:embed="rId3"/>
          <a:stretch>
            <a:fillRect/>
          </a:stretch>
        </p:blipFill>
        <p:spPr>
          <a:xfrm>
            <a:off x="5611216" y="3456432"/>
            <a:ext cx="256032" cy="256032"/>
          </a:xfrm>
          <a:prstGeom prst="rect">
            <a:avLst/>
          </a:prstGeom>
        </p:spPr>
      </p:pic>
      <p:sp>
        <p:nvSpPr>
          <p:cNvPr id="33" name="Shape 28"/>
          <p:cNvSpPr/>
          <p:nvPr/>
        </p:nvSpPr>
        <p:spPr>
          <a:xfrm>
            <a:off x="4295546" y="3794760"/>
            <a:ext cx="1727149" cy="1417320"/>
          </a:xfrm>
          <a:prstGeom prst="roundRect">
            <a:avLst>
              <a:gd name="adj" fmla="val 7742"/>
            </a:avLst>
          </a:prstGeom>
          <a:solidFill>
            <a:srgbClr val="EAF2F8"/>
          </a:solidFill>
          <a:ln w="12700">
            <a:solidFill>
              <a:srgbClr val="EAF2F8"/>
            </a:solidFill>
            <a:prstDash val="solid"/>
          </a:ln>
        </p:spPr>
      </p:sp>
      <p:sp>
        <p:nvSpPr>
          <p:cNvPr id="34" name="Text 29"/>
          <p:cNvSpPr txBox="1"/>
          <p:nvPr/>
        </p:nvSpPr>
        <p:spPr>
          <a:xfrm>
            <a:off x="4423562" y="3858768"/>
            <a:ext cx="1471117" cy="1298448"/>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料金の考え方とスタッフの人柄を事前に伝える</a:t>
            </a:r>
            <a:endParaRPr lang="en-US" sz="1200" dirty="0"/>
          </a:p>
        </p:txBody>
      </p:sp>
      <p:sp>
        <p:nvSpPr>
          <p:cNvPr id="35" name="Shape 30"/>
          <p:cNvSpPr/>
          <p:nvPr/>
        </p:nvSpPr>
        <p:spPr>
          <a:xfrm>
            <a:off x="4295546" y="5349240"/>
            <a:ext cx="1727149" cy="566928"/>
          </a:xfrm>
          <a:prstGeom prst="roundRect">
            <a:avLst>
              <a:gd name="adj" fmla="val 19355"/>
            </a:avLst>
          </a:prstGeom>
          <a:solidFill>
            <a:srgbClr val="FDF0E3"/>
          </a:solidFill>
          <a:ln w="12700">
            <a:solidFill>
              <a:srgbClr val="FDF0E3"/>
            </a:solidFill>
            <a:prstDash val="solid"/>
          </a:ln>
        </p:spPr>
      </p:sp>
      <p:sp>
        <p:nvSpPr>
          <p:cNvPr id="36" name="Text 31"/>
          <p:cNvSpPr txBox="1"/>
          <p:nvPr/>
        </p:nvSpPr>
        <p:spPr>
          <a:xfrm>
            <a:off x="4368698" y="5349240"/>
            <a:ext cx="1580845" cy="566928"/>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安心感の醸成</a:t>
            </a:r>
            <a:endParaRPr lang="en-US" sz="1200" dirty="0"/>
          </a:p>
        </p:txBody>
      </p:sp>
      <p:sp>
        <p:nvSpPr>
          <p:cNvPr id="37" name="Shape 32"/>
          <p:cNvSpPr/>
          <p:nvPr/>
        </p:nvSpPr>
        <p:spPr>
          <a:xfrm>
            <a:off x="6169000" y="1463040"/>
            <a:ext cx="1727149" cy="731520"/>
          </a:xfrm>
          <a:prstGeom prst="roundRect">
            <a:avLst>
              <a:gd name="adj" fmla="val 15000"/>
            </a:avLst>
          </a:prstGeom>
          <a:solidFill>
            <a:srgbClr val="1F5F8B"/>
          </a:solidFill>
          <a:ln w="12700">
            <a:solidFill>
              <a:srgbClr val="1F5F8B"/>
            </a:solidFill>
            <a:prstDash val="solid"/>
          </a:ln>
        </p:spPr>
      </p:sp>
      <p:sp>
        <p:nvSpPr>
          <p:cNvPr id="38" name="Text 33"/>
          <p:cNvSpPr txBox="1"/>
          <p:nvPr/>
        </p:nvSpPr>
        <p:spPr>
          <a:xfrm>
            <a:off x="6169000" y="1508760"/>
            <a:ext cx="1727149" cy="274320"/>
          </a:xfrm>
          <a:prstGeom prst="rect">
            <a:avLst/>
          </a:prstGeom>
          <a:noFill/>
          <a:ln/>
        </p:spPr>
        <p:txBody>
          <a:bodyPr wrap="square" lIns="0" tIns="0" rIns="0" bIns="0" rtlCol="0" anchor="t"/>
          <a:lstStyle/>
          <a:p>
            <a:pPr algn="ctr" indent="0" marL="0">
              <a:buNone/>
            </a:pPr>
            <a:r>
              <a:rPr lang="en-US" sz="1000" b="1" dirty="0">
                <a:solidFill>
                  <a:srgbClr val="F5C08C"/>
                </a:solidFill>
                <a:latin typeface="Meiryo UI" pitchFamily="34" charset="0"/>
                <a:ea typeface="Meiryo UI" pitchFamily="34" charset="-122"/>
                <a:cs typeface="Meiryo UI" pitchFamily="34" charset="-120"/>
              </a:rPr>
              <a:t>STEP 4</a:t>
            </a:r>
            <a:endParaRPr lang="en-US" sz="1000" dirty="0"/>
          </a:p>
        </p:txBody>
      </p:sp>
      <p:sp>
        <p:nvSpPr>
          <p:cNvPr id="39" name="Text 34"/>
          <p:cNvSpPr txBox="1"/>
          <p:nvPr/>
        </p:nvSpPr>
        <p:spPr>
          <a:xfrm>
            <a:off x="6169000"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見積もり・現地調査</a:t>
            </a:r>
            <a:endParaRPr lang="en-US" sz="1350" dirty="0"/>
          </a:p>
        </p:txBody>
      </p:sp>
      <p:sp>
        <p:nvSpPr>
          <p:cNvPr id="40" name="Shape 35"/>
          <p:cNvSpPr/>
          <p:nvPr/>
        </p:nvSpPr>
        <p:spPr>
          <a:xfrm>
            <a:off x="6169000" y="2606040"/>
            <a:ext cx="1727149" cy="731520"/>
          </a:xfrm>
          <a:prstGeom prst="roundRect">
            <a:avLst>
              <a:gd name="adj" fmla="val 15000"/>
            </a:avLst>
          </a:prstGeom>
          <a:solidFill>
            <a:srgbClr val="EEF0F2"/>
          </a:solidFill>
          <a:ln w="12700">
            <a:solidFill>
              <a:srgbClr val="EEF0F2"/>
            </a:solidFill>
            <a:prstDash val="solid"/>
          </a:ln>
        </p:spPr>
      </p:sp>
      <p:sp>
        <p:nvSpPr>
          <p:cNvPr id="41" name="Text 36"/>
          <p:cNvSpPr txBox="1"/>
          <p:nvPr/>
        </p:nvSpPr>
        <p:spPr>
          <a:xfrm>
            <a:off x="6278728" y="2606040"/>
            <a:ext cx="1507693" cy="731520"/>
          </a:xfrm>
          <a:prstGeom prst="rect">
            <a:avLst/>
          </a:prstGeom>
          <a:noFill/>
          <a:ln/>
        </p:spPr>
        <p:txBody>
          <a:bodyPr wrap="square" lIns="0" tIns="0" rIns="0" bIns="0" rtlCol="0" anchor="ctr"/>
          <a:lstStyle/>
          <a:p>
            <a:pPr algn="ctr" indent="0" marL="0">
              <a:buNone/>
            </a:pPr>
            <a:r>
              <a:rPr lang="en-US" sz="1150" dirty="0">
                <a:solidFill>
                  <a:srgbClr val="7A8591"/>
                </a:solidFill>
                <a:latin typeface="Meiryo UI" pitchFamily="34" charset="0"/>
                <a:ea typeface="Meiryo UI" pitchFamily="34" charset="-122"/>
                <a:cs typeface="Meiryo UI" pitchFamily="34" charset="-120"/>
              </a:rPr>
              <a:t>口頭で価格の根拠を説明</a:t>
            </a:r>
            <a:endParaRPr lang="en-US" sz="1150" dirty="0"/>
          </a:p>
        </p:txBody>
      </p:sp>
      <p:pic>
        <p:nvPicPr>
          <p:cNvPr id="42" name="Image 3" descr="preencoded.png">    </p:cNvPr>
          <p:cNvPicPr>
            <a:picLocks noChangeAspect="1"/>
          </p:cNvPicPr>
          <p:nvPr/>
        </p:nvPicPr>
        <p:blipFill>
          <a:blip r:embed="rId4"/>
          <a:stretch>
            <a:fillRect/>
          </a:stretch>
        </p:blipFill>
        <p:spPr>
          <a:xfrm>
            <a:off x="7484669" y="3456432"/>
            <a:ext cx="256032" cy="256032"/>
          </a:xfrm>
          <a:prstGeom prst="rect">
            <a:avLst/>
          </a:prstGeom>
        </p:spPr>
      </p:pic>
      <p:sp>
        <p:nvSpPr>
          <p:cNvPr id="43" name="Shape 37"/>
          <p:cNvSpPr/>
          <p:nvPr/>
        </p:nvSpPr>
        <p:spPr>
          <a:xfrm>
            <a:off x="6169000" y="3794760"/>
            <a:ext cx="1727149" cy="1417320"/>
          </a:xfrm>
          <a:prstGeom prst="roundRect">
            <a:avLst>
              <a:gd name="adj" fmla="val 7742"/>
            </a:avLst>
          </a:prstGeom>
          <a:solidFill>
            <a:srgbClr val="EAF2F8"/>
          </a:solidFill>
          <a:ln w="12700">
            <a:solidFill>
              <a:srgbClr val="EAF2F8"/>
            </a:solidFill>
            <a:prstDash val="solid"/>
          </a:ln>
        </p:spPr>
      </p:sp>
      <p:sp>
        <p:nvSpPr>
          <p:cNvPr id="44" name="Text 38"/>
          <p:cNvSpPr txBox="1"/>
          <p:nvPr/>
        </p:nvSpPr>
        <p:spPr>
          <a:xfrm>
            <a:off x="6297016" y="3858768"/>
            <a:ext cx="1471117" cy="1298448"/>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作業内容と費用の内訳を動画で補足する</a:t>
            </a:r>
            <a:endParaRPr lang="en-US" sz="1200" dirty="0"/>
          </a:p>
        </p:txBody>
      </p:sp>
      <p:sp>
        <p:nvSpPr>
          <p:cNvPr id="45" name="Shape 39"/>
          <p:cNvSpPr/>
          <p:nvPr/>
        </p:nvSpPr>
        <p:spPr>
          <a:xfrm>
            <a:off x="6169000" y="5349240"/>
            <a:ext cx="1727149" cy="566928"/>
          </a:xfrm>
          <a:prstGeom prst="roundRect">
            <a:avLst>
              <a:gd name="adj" fmla="val 19355"/>
            </a:avLst>
          </a:prstGeom>
          <a:solidFill>
            <a:srgbClr val="FDF0E3"/>
          </a:solidFill>
          <a:ln w="12700">
            <a:solidFill>
              <a:srgbClr val="FDF0E3"/>
            </a:solidFill>
            <a:prstDash val="solid"/>
          </a:ln>
        </p:spPr>
      </p:sp>
      <p:sp>
        <p:nvSpPr>
          <p:cNvPr id="46" name="Text 40"/>
          <p:cNvSpPr txBox="1"/>
          <p:nvPr/>
        </p:nvSpPr>
        <p:spPr>
          <a:xfrm>
            <a:off x="6242152" y="5349240"/>
            <a:ext cx="1580845" cy="566928"/>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価格競争の回避</a:t>
            </a:r>
            <a:endParaRPr lang="en-US" sz="1200" dirty="0"/>
          </a:p>
        </p:txBody>
      </p:sp>
      <p:sp>
        <p:nvSpPr>
          <p:cNvPr id="47" name="Shape 41"/>
          <p:cNvSpPr/>
          <p:nvPr/>
        </p:nvSpPr>
        <p:spPr>
          <a:xfrm>
            <a:off x="8042453" y="1463040"/>
            <a:ext cx="1727149" cy="731520"/>
          </a:xfrm>
          <a:prstGeom prst="roundRect">
            <a:avLst>
              <a:gd name="adj" fmla="val 15000"/>
            </a:avLst>
          </a:prstGeom>
          <a:solidFill>
            <a:srgbClr val="1F5F8B"/>
          </a:solidFill>
          <a:ln w="12700">
            <a:solidFill>
              <a:srgbClr val="1F5F8B"/>
            </a:solidFill>
            <a:prstDash val="solid"/>
          </a:ln>
        </p:spPr>
      </p:sp>
      <p:sp>
        <p:nvSpPr>
          <p:cNvPr id="48" name="Text 42"/>
          <p:cNvSpPr txBox="1"/>
          <p:nvPr/>
        </p:nvSpPr>
        <p:spPr>
          <a:xfrm>
            <a:off x="8042453" y="1508760"/>
            <a:ext cx="1727149" cy="274320"/>
          </a:xfrm>
          <a:prstGeom prst="rect">
            <a:avLst/>
          </a:prstGeom>
          <a:noFill/>
          <a:ln/>
        </p:spPr>
        <p:txBody>
          <a:bodyPr wrap="square" lIns="0" tIns="0" rIns="0" bIns="0" rtlCol="0" anchor="t"/>
          <a:lstStyle/>
          <a:p>
            <a:pPr algn="ctr" indent="0" marL="0">
              <a:buNone/>
            </a:pPr>
            <a:r>
              <a:rPr lang="en-US" sz="1000" b="1" dirty="0">
                <a:solidFill>
                  <a:srgbClr val="F5C08C"/>
                </a:solidFill>
                <a:latin typeface="Meiryo UI" pitchFamily="34" charset="0"/>
                <a:ea typeface="Meiryo UI" pitchFamily="34" charset="-122"/>
                <a:cs typeface="Meiryo UI" pitchFamily="34" charset="-120"/>
              </a:rPr>
              <a:t>STEP 5</a:t>
            </a:r>
            <a:endParaRPr lang="en-US" sz="1000" dirty="0"/>
          </a:p>
        </p:txBody>
      </p:sp>
      <p:sp>
        <p:nvSpPr>
          <p:cNvPr id="49" name="Text 43"/>
          <p:cNvSpPr txBox="1"/>
          <p:nvPr/>
        </p:nvSpPr>
        <p:spPr>
          <a:xfrm>
            <a:off x="8042453"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見積もり後フォロー</a:t>
            </a:r>
            <a:endParaRPr lang="en-US" sz="1350" dirty="0"/>
          </a:p>
        </p:txBody>
      </p:sp>
      <p:sp>
        <p:nvSpPr>
          <p:cNvPr id="50" name="Shape 44"/>
          <p:cNvSpPr/>
          <p:nvPr/>
        </p:nvSpPr>
        <p:spPr>
          <a:xfrm>
            <a:off x="8042453" y="2606040"/>
            <a:ext cx="1727149" cy="731520"/>
          </a:xfrm>
          <a:prstGeom prst="roundRect">
            <a:avLst>
              <a:gd name="adj" fmla="val 15000"/>
            </a:avLst>
          </a:prstGeom>
          <a:solidFill>
            <a:srgbClr val="EEF0F2"/>
          </a:solidFill>
          <a:ln w="12700">
            <a:solidFill>
              <a:srgbClr val="EEF0F2"/>
            </a:solidFill>
            <a:prstDash val="solid"/>
          </a:ln>
        </p:spPr>
      </p:sp>
      <p:sp>
        <p:nvSpPr>
          <p:cNvPr id="51" name="Text 45"/>
          <p:cNvSpPr txBox="1"/>
          <p:nvPr/>
        </p:nvSpPr>
        <p:spPr>
          <a:xfrm>
            <a:off x="8152181" y="2606040"/>
            <a:ext cx="1507693" cy="731520"/>
          </a:xfrm>
          <a:prstGeom prst="rect">
            <a:avLst/>
          </a:prstGeom>
          <a:noFill/>
          <a:ln/>
        </p:spPr>
        <p:txBody>
          <a:bodyPr wrap="square" lIns="0" tIns="0" rIns="0" bIns="0" rtlCol="0" anchor="ctr"/>
          <a:lstStyle/>
          <a:p>
            <a:pPr algn="ctr" indent="0" marL="0">
              <a:buNone/>
            </a:pPr>
            <a:r>
              <a:rPr lang="en-US" sz="1150" dirty="0">
                <a:solidFill>
                  <a:srgbClr val="7A8591"/>
                </a:solidFill>
                <a:latin typeface="Meiryo UI" pitchFamily="34" charset="0"/>
                <a:ea typeface="Meiryo UI" pitchFamily="34" charset="-122"/>
                <a:cs typeface="Meiryo UI" pitchFamily="34" charset="-120"/>
              </a:rPr>
              <a:t>他社と比べられ連絡が途切れる</a:t>
            </a:r>
            <a:endParaRPr lang="en-US" sz="1150" dirty="0"/>
          </a:p>
        </p:txBody>
      </p:sp>
      <p:pic>
        <p:nvPicPr>
          <p:cNvPr id="52" name="Image 4" descr="preencoded.png">    </p:cNvPr>
          <p:cNvPicPr>
            <a:picLocks noChangeAspect="1"/>
          </p:cNvPicPr>
          <p:nvPr/>
        </p:nvPicPr>
        <p:blipFill>
          <a:blip r:embed="rId5"/>
          <a:stretch>
            <a:fillRect/>
          </a:stretch>
        </p:blipFill>
        <p:spPr>
          <a:xfrm>
            <a:off x="9358122" y="3456432"/>
            <a:ext cx="256032" cy="256032"/>
          </a:xfrm>
          <a:prstGeom prst="rect">
            <a:avLst/>
          </a:prstGeom>
        </p:spPr>
      </p:pic>
      <p:sp>
        <p:nvSpPr>
          <p:cNvPr id="53" name="Shape 46"/>
          <p:cNvSpPr/>
          <p:nvPr/>
        </p:nvSpPr>
        <p:spPr>
          <a:xfrm>
            <a:off x="8042453" y="3794760"/>
            <a:ext cx="1727149" cy="1417320"/>
          </a:xfrm>
          <a:prstGeom prst="roundRect">
            <a:avLst>
              <a:gd name="adj" fmla="val 7742"/>
            </a:avLst>
          </a:prstGeom>
          <a:solidFill>
            <a:srgbClr val="EAF2F8"/>
          </a:solidFill>
          <a:ln w="12700">
            <a:solidFill>
              <a:srgbClr val="EAF2F8"/>
            </a:solidFill>
            <a:prstDash val="solid"/>
          </a:ln>
        </p:spPr>
      </p:sp>
      <p:sp>
        <p:nvSpPr>
          <p:cNvPr id="54" name="Text 47"/>
          <p:cNvSpPr txBox="1"/>
          <p:nvPr/>
        </p:nvSpPr>
        <p:spPr>
          <a:xfrm>
            <a:off x="8170469" y="3858768"/>
            <a:ext cx="1471117" cy="1298448"/>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「業者選びのポイント」動画で判断を後押し</a:t>
            </a:r>
            <a:endParaRPr lang="en-US" sz="1200" dirty="0"/>
          </a:p>
        </p:txBody>
      </p:sp>
      <p:sp>
        <p:nvSpPr>
          <p:cNvPr id="55" name="Shape 48"/>
          <p:cNvSpPr/>
          <p:nvPr/>
        </p:nvSpPr>
        <p:spPr>
          <a:xfrm>
            <a:off x="8042453" y="5349240"/>
            <a:ext cx="1727149" cy="566928"/>
          </a:xfrm>
          <a:prstGeom prst="roundRect">
            <a:avLst>
              <a:gd name="adj" fmla="val 19355"/>
            </a:avLst>
          </a:prstGeom>
          <a:solidFill>
            <a:srgbClr val="FDF0E3"/>
          </a:solidFill>
          <a:ln w="12700">
            <a:solidFill>
              <a:srgbClr val="FDF0E3"/>
            </a:solidFill>
            <a:prstDash val="solid"/>
          </a:ln>
        </p:spPr>
      </p:sp>
      <p:sp>
        <p:nvSpPr>
          <p:cNvPr id="56" name="Text 49"/>
          <p:cNvSpPr txBox="1"/>
          <p:nvPr/>
        </p:nvSpPr>
        <p:spPr>
          <a:xfrm>
            <a:off x="8115605" y="5349240"/>
            <a:ext cx="1580845" cy="566928"/>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成約率UP</a:t>
            </a:r>
            <a:endParaRPr lang="en-US" sz="1200" dirty="0"/>
          </a:p>
        </p:txBody>
      </p:sp>
      <p:sp>
        <p:nvSpPr>
          <p:cNvPr id="57" name="Shape 50"/>
          <p:cNvSpPr/>
          <p:nvPr/>
        </p:nvSpPr>
        <p:spPr>
          <a:xfrm>
            <a:off x="9915906" y="1463040"/>
            <a:ext cx="1727149" cy="731520"/>
          </a:xfrm>
          <a:prstGeom prst="roundRect">
            <a:avLst>
              <a:gd name="adj" fmla="val 15000"/>
            </a:avLst>
          </a:prstGeom>
          <a:solidFill>
            <a:srgbClr val="1F5F8B"/>
          </a:solidFill>
          <a:ln w="12700">
            <a:solidFill>
              <a:srgbClr val="1F5F8B"/>
            </a:solidFill>
            <a:prstDash val="solid"/>
          </a:ln>
        </p:spPr>
      </p:sp>
      <p:sp>
        <p:nvSpPr>
          <p:cNvPr id="58" name="Text 51"/>
          <p:cNvSpPr txBox="1"/>
          <p:nvPr/>
        </p:nvSpPr>
        <p:spPr>
          <a:xfrm>
            <a:off x="9915906" y="1508760"/>
            <a:ext cx="1727149" cy="274320"/>
          </a:xfrm>
          <a:prstGeom prst="rect">
            <a:avLst/>
          </a:prstGeom>
          <a:noFill/>
          <a:ln/>
        </p:spPr>
        <p:txBody>
          <a:bodyPr wrap="square" lIns="0" tIns="0" rIns="0" bIns="0" rtlCol="0" anchor="t"/>
          <a:lstStyle/>
          <a:p>
            <a:pPr algn="ctr" indent="0" marL="0">
              <a:buNone/>
            </a:pPr>
            <a:r>
              <a:rPr lang="en-US" sz="1000" b="1" dirty="0">
                <a:solidFill>
                  <a:srgbClr val="F5C08C"/>
                </a:solidFill>
                <a:latin typeface="Meiryo UI" pitchFamily="34" charset="0"/>
                <a:ea typeface="Meiryo UI" pitchFamily="34" charset="-122"/>
                <a:cs typeface="Meiryo UI" pitchFamily="34" charset="-120"/>
              </a:rPr>
              <a:t>STEP 6</a:t>
            </a:r>
            <a:endParaRPr lang="en-US" sz="1000" dirty="0"/>
          </a:p>
        </p:txBody>
      </p:sp>
      <p:sp>
        <p:nvSpPr>
          <p:cNvPr id="59" name="Text 52"/>
          <p:cNvSpPr txBox="1"/>
          <p:nvPr/>
        </p:nvSpPr>
        <p:spPr>
          <a:xfrm>
            <a:off x="9915906"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作業後の接点</a:t>
            </a:r>
            <a:endParaRPr lang="en-US" sz="1350" dirty="0"/>
          </a:p>
        </p:txBody>
      </p:sp>
      <p:sp>
        <p:nvSpPr>
          <p:cNvPr id="60" name="Shape 53"/>
          <p:cNvSpPr/>
          <p:nvPr/>
        </p:nvSpPr>
        <p:spPr>
          <a:xfrm>
            <a:off x="9915906" y="2606040"/>
            <a:ext cx="1727149" cy="731520"/>
          </a:xfrm>
          <a:prstGeom prst="roundRect">
            <a:avLst>
              <a:gd name="adj" fmla="val 15000"/>
            </a:avLst>
          </a:prstGeom>
          <a:solidFill>
            <a:srgbClr val="EEF0F2"/>
          </a:solidFill>
          <a:ln w="12700">
            <a:solidFill>
              <a:srgbClr val="EEF0F2"/>
            </a:solidFill>
            <a:prstDash val="solid"/>
          </a:ln>
        </p:spPr>
      </p:sp>
      <p:sp>
        <p:nvSpPr>
          <p:cNvPr id="61" name="Text 54"/>
          <p:cNvSpPr txBox="1"/>
          <p:nvPr/>
        </p:nvSpPr>
        <p:spPr>
          <a:xfrm>
            <a:off x="10025634" y="2606040"/>
            <a:ext cx="1507693" cy="731520"/>
          </a:xfrm>
          <a:prstGeom prst="rect">
            <a:avLst/>
          </a:prstGeom>
          <a:noFill/>
          <a:ln/>
        </p:spPr>
        <p:txBody>
          <a:bodyPr wrap="square" lIns="0" tIns="0" rIns="0" bIns="0" rtlCol="0" anchor="ctr"/>
          <a:lstStyle/>
          <a:p>
            <a:pPr algn="ctr" indent="0" marL="0">
              <a:buNone/>
            </a:pPr>
            <a:r>
              <a:rPr lang="en-US" sz="1150" dirty="0">
                <a:solidFill>
                  <a:srgbClr val="7A8591"/>
                </a:solidFill>
                <a:latin typeface="Meiryo UI" pitchFamily="34" charset="0"/>
                <a:ea typeface="Meiryo UI" pitchFamily="34" charset="-122"/>
                <a:cs typeface="Meiryo UI" pitchFamily="34" charset="-120"/>
              </a:rPr>
              <a:t>次の依頼まで接点なし</a:t>
            </a:r>
            <a:endParaRPr lang="en-US" sz="1150" dirty="0"/>
          </a:p>
        </p:txBody>
      </p:sp>
      <p:pic>
        <p:nvPicPr>
          <p:cNvPr id="62" name="Image 5" descr="preencoded.png">    </p:cNvPr>
          <p:cNvPicPr>
            <a:picLocks noChangeAspect="1"/>
          </p:cNvPicPr>
          <p:nvPr/>
        </p:nvPicPr>
        <p:blipFill>
          <a:blip r:embed="rId6"/>
          <a:stretch>
            <a:fillRect/>
          </a:stretch>
        </p:blipFill>
        <p:spPr>
          <a:xfrm>
            <a:off x="11231575" y="3456432"/>
            <a:ext cx="256032" cy="256032"/>
          </a:xfrm>
          <a:prstGeom prst="rect">
            <a:avLst/>
          </a:prstGeom>
        </p:spPr>
      </p:pic>
      <p:sp>
        <p:nvSpPr>
          <p:cNvPr id="63" name="Shape 55"/>
          <p:cNvSpPr/>
          <p:nvPr/>
        </p:nvSpPr>
        <p:spPr>
          <a:xfrm>
            <a:off x="9915906" y="3794760"/>
            <a:ext cx="1727149" cy="1417320"/>
          </a:xfrm>
          <a:prstGeom prst="roundRect">
            <a:avLst>
              <a:gd name="adj" fmla="val 7742"/>
            </a:avLst>
          </a:prstGeom>
          <a:solidFill>
            <a:srgbClr val="EAF2F8"/>
          </a:solidFill>
          <a:ln w="12700">
            <a:solidFill>
              <a:srgbClr val="EAF2F8"/>
            </a:solidFill>
            <a:prstDash val="solid"/>
          </a:ln>
        </p:spPr>
      </p:sp>
      <p:sp>
        <p:nvSpPr>
          <p:cNvPr id="64" name="Text 56"/>
          <p:cNvSpPr txBox="1"/>
          <p:nvPr/>
        </p:nvSpPr>
        <p:spPr>
          <a:xfrm>
            <a:off x="10043922" y="3858768"/>
            <a:ext cx="1471117" cy="1298448"/>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散らからない部屋を保つアドバイス動画を定期配信</a:t>
            </a:r>
            <a:endParaRPr lang="en-US" sz="1200" dirty="0"/>
          </a:p>
        </p:txBody>
      </p:sp>
      <p:sp>
        <p:nvSpPr>
          <p:cNvPr id="65" name="Shape 57"/>
          <p:cNvSpPr/>
          <p:nvPr/>
        </p:nvSpPr>
        <p:spPr>
          <a:xfrm>
            <a:off x="9915906" y="5349240"/>
            <a:ext cx="1727149" cy="566928"/>
          </a:xfrm>
          <a:prstGeom prst="roundRect">
            <a:avLst>
              <a:gd name="adj" fmla="val 19355"/>
            </a:avLst>
          </a:prstGeom>
          <a:solidFill>
            <a:srgbClr val="FDF0E3"/>
          </a:solidFill>
          <a:ln w="12700">
            <a:solidFill>
              <a:srgbClr val="FDF0E3"/>
            </a:solidFill>
            <a:prstDash val="solid"/>
          </a:ln>
        </p:spPr>
      </p:sp>
      <p:sp>
        <p:nvSpPr>
          <p:cNvPr id="66" name="Text 58"/>
          <p:cNvSpPr txBox="1"/>
          <p:nvPr/>
        </p:nvSpPr>
        <p:spPr>
          <a:xfrm>
            <a:off x="9989058" y="5349240"/>
            <a:ext cx="1580845" cy="566928"/>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リピート・紹介</a:t>
            </a:r>
            <a:endParaRPr lang="en-US" sz="1200" dirty="0"/>
          </a:p>
        </p:txBody>
      </p:sp>
      <p:sp>
        <p:nvSpPr>
          <p:cNvPr id="67" name="Text 59"/>
          <p:cNvSpPr txBox="1"/>
          <p:nvPr/>
        </p:nvSpPr>
        <p:spPr>
          <a:xfrm>
            <a:off x="548640" y="3474720"/>
            <a:ext cx="1828800" cy="27432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MiTok導入後</a:t>
            </a:r>
            <a:endParaRPr lang="en-US" sz="1050" dirty="0"/>
          </a:p>
        </p:txBody>
      </p:sp>
      <p:sp>
        <p:nvSpPr>
          <p:cNvPr id="68" name="Text 60"/>
          <p:cNvSpPr txBox="1"/>
          <p:nvPr/>
        </p:nvSpPr>
        <p:spPr>
          <a:xfrm>
            <a:off x="548640" y="5961888"/>
            <a:ext cx="1828800"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期待効果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代表の負担を減らしながら、成果を上げる仕組み</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49808" y="1664208"/>
            <a:ext cx="621792" cy="621792"/>
          </a:xfrm>
          <a:prstGeom prst="ellipse">
            <a:avLst/>
          </a:prstGeom>
          <a:solidFill>
            <a:srgbClr val="1F5F8B"/>
          </a:solidFill>
          <a:ln w="12700">
            <a:solidFill>
              <a:srgbClr val="1F5F8B"/>
            </a:solidFill>
            <a:prstDash val="solid"/>
          </a:ln>
        </p:spPr>
      </p:sp>
      <p:pic>
        <p:nvPicPr>
          <p:cNvPr id="8" name="Image 0" descr="preencoded.png">    </p:cNvPr>
          <p:cNvPicPr>
            <a:picLocks noChangeAspect="1"/>
          </p:cNvPicPr>
          <p:nvPr/>
        </p:nvPicPr>
        <p:blipFill>
          <a:blip r:embed="rId1"/>
          <a:stretch>
            <a:fillRect/>
          </a:stretch>
        </p:blipFill>
        <p:spPr>
          <a:xfrm>
            <a:off x="911474" y="1825874"/>
            <a:ext cx="298460" cy="298460"/>
          </a:xfrm>
          <a:prstGeom prst="rect">
            <a:avLst/>
          </a:prstGeom>
        </p:spPr>
      </p:pic>
      <p:sp>
        <p:nvSpPr>
          <p:cNvPr id="9" name="Text 6"/>
          <p:cNvSpPr txBox="1"/>
          <p:nvPr/>
        </p:nvSpPr>
        <p:spPr>
          <a:xfrm>
            <a:off x="1554480" y="1591056"/>
            <a:ext cx="402336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説明の自動化</a:t>
            </a:r>
            <a:endParaRPr lang="en-US" sz="1400" dirty="0"/>
          </a:p>
        </p:txBody>
      </p:sp>
      <p:sp>
        <p:nvSpPr>
          <p:cNvPr id="10" name="Text 7"/>
          <p:cNvSpPr txBox="1"/>
          <p:nvPr/>
        </p:nvSpPr>
        <p:spPr>
          <a:xfrm>
            <a:off x="1554480" y="1920240"/>
            <a:ext cx="4069080" cy="50292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見積もりのたびに繰り返す「作業の流れ」「料金の考え方」は動画に任せ、代表は現場の判断に集中</a:t>
            </a:r>
            <a:endParaRPr lang="en-US" sz="1150" dirty="0"/>
          </a:p>
        </p:txBody>
      </p:sp>
      <p:sp>
        <p:nvSpPr>
          <p:cNvPr id="11" name="Shape 8"/>
          <p:cNvSpPr/>
          <p:nvPr/>
        </p:nvSpPr>
        <p:spPr>
          <a:xfrm>
            <a:off x="548640" y="2633472"/>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749808" y="2834640"/>
            <a:ext cx="621792" cy="621792"/>
          </a:xfrm>
          <a:prstGeom prst="ellipse">
            <a:avLst/>
          </a:prstGeom>
          <a:solidFill>
            <a:srgbClr val="1F5F8B"/>
          </a:solidFill>
          <a:ln w="12700">
            <a:solidFill>
              <a:srgbClr val="1F5F8B"/>
            </a:solidFill>
            <a:prstDash val="solid"/>
          </a:ln>
        </p:spPr>
      </p:sp>
      <p:pic>
        <p:nvPicPr>
          <p:cNvPr id="13" name="Image 1" descr="preencoded.png">    </p:cNvPr>
          <p:cNvPicPr>
            <a:picLocks noChangeAspect="1"/>
          </p:cNvPicPr>
          <p:nvPr/>
        </p:nvPicPr>
        <p:blipFill>
          <a:blip r:embed="rId2"/>
          <a:stretch>
            <a:fillRect/>
          </a:stretch>
        </p:blipFill>
        <p:spPr>
          <a:xfrm>
            <a:off x="911474" y="2996306"/>
            <a:ext cx="298460" cy="298460"/>
          </a:xfrm>
          <a:prstGeom prst="rect">
            <a:avLst/>
          </a:prstGeom>
        </p:spPr>
      </p:pic>
      <p:sp>
        <p:nvSpPr>
          <p:cNvPr id="14" name="Text 10"/>
          <p:cNvSpPr txBox="1"/>
          <p:nvPr/>
        </p:nvSpPr>
        <p:spPr>
          <a:xfrm>
            <a:off x="1554480" y="2761488"/>
            <a:ext cx="402336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営業の型化</a:t>
            </a:r>
            <a:endParaRPr lang="en-US" sz="1400" dirty="0"/>
          </a:p>
        </p:txBody>
      </p:sp>
      <p:sp>
        <p:nvSpPr>
          <p:cNvPr id="15" name="Text 11"/>
          <p:cNvSpPr txBox="1"/>
          <p:nvPr/>
        </p:nvSpPr>
        <p:spPr>
          <a:xfrm>
            <a:off x="1554480" y="3090672"/>
            <a:ext cx="4069080" cy="50292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紹介元への案内と見積もり前後の送付をテンプレート化し、誰が対応しても同じ品質に</a:t>
            </a:r>
            <a:endParaRPr lang="en-US" sz="1150" dirty="0"/>
          </a:p>
        </p:txBody>
      </p:sp>
      <p:sp>
        <p:nvSpPr>
          <p:cNvPr id="16" name="Shape 12"/>
          <p:cNvSpPr/>
          <p:nvPr/>
        </p:nvSpPr>
        <p:spPr>
          <a:xfrm>
            <a:off x="548640" y="3803904"/>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49808" y="4005072"/>
            <a:ext cx="621792" cy="621792"/>
          </a:xfrm>
          <a:prstGeom prst="ellipse">
            <a:avLst/>
          </a:prstGeom>
          <a:solidFill>
            <a:srgbClr val="1F5F8B"/>
          </a:solidFill>
          <a:ln w="12700">
            <a:solidFill>
              <a:srgbClr val="1F5F8B"/>
            </a:solidFill>
            <a:prstDash val="solid"/>
          </a:ln>
        </p:spPr>
      </p:sp>
      <p:pic>
        <p:nvPicPr>
          <p:cNvPr id="18" name="Image 2" descr="preencoded.png">    </p:cNvPr>
          <p:cNvPicPr>
            <a:picLocks noChangeAspect="1"/>
          </p:cNvPicPr>
          <p:nvPr/>
        </p:nvPicPr>
        <p:blipFill>
          <a:blip r:embed="rId3"/>
          <a:stretch>
            <a:fillRect/>
          </a:stretch>
        </p:blipFill>
        <p:spPr>
          <a:xfrm>
            <a:off x="911474" y="4166738"/>
            <a:ext cx="298460" cy="298460"/>
          </a:xfrm>
          <a:prstGeom prst="rect">
            <a:avLst/>
          </a:prstGeom>
        </p:spPr>
      </p:pic>
      <p:sp>
        <p:nvSpPr>
          <p:cNvPr id="19" name="Text 14"/>
          <p:cNvSpPr txBox="1"/>
          <p:nvPr/>
        </p:nvSpPr>
        <p:spPr>
          <a:xfrm>
            <a:off x="1554480" y="3931920"/>
            <a:ext cx="402336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反応の可視化</a:t>
            </a:r>
            <a:endParaRPr lang="en-US" sz="1400" dirty="0"/>
          </a:p>
        </p:txBody>
      </p:sp>
      <p:sp>
        <p:nvSpPr>
          <p:cNvPr id="20" name="Text 15"/>
          <p:cNvSpPr txBox="1"/>
          <p:nvPr/>
        </p:nvSpPr>
        <p:spPr>
          <a:xfrm>
            <a:off x="1554480" y="4261104"/>
            <a:ext cx="4069080" cy="50292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視聴状況と問い合わせの経路を把握し、反応の良い紹介元・エリアに力を注ぐ</a:t>
            </a:r>
            <a:endParaRPr lang="en-US" sz="1150" dirty="0"/>
          </a:p>
        </p:txBody>
      </p:sp>
      <p:sp>
        <p:nvSpPr>
          <p:cNvPr id="21" name="Shape 16"/>
          <p:cNvSpPr/>
          <p:nvPr/>
        </p:nvSpPr>
        <p:spPr>
          <a:xfrm>
            <a:off x="548640" y="4974336"/>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49808" y="5175504"/>
            <a:ext cx="621792" cy="621792"/>
          </a:xfrm>
          <a:prstGeom prst="ellipse">
            <a:avLst/>
          </a:prstGeom>
          <a:solidFill>
            <a:srgbClr val="1F5F8B"/>
          </a:solidFill>
          <a:ln w="12700">
            <a:solidFill>
              <a:srgbClr val="1F5F8B"/>
            </a:solidFill>
            <a:prstDash val="solid"/>
          </a:ln>
        </p:spPr>
      </p:sp>
      <p:pic>
        <p:nvPicPr>
          <p:cNvPr id="23" name="Image 3" descr="preencoded.png">    </p:cNvPr>
          <p:cNvPicPr>
            <a:picLocks noChangeAspect="1"/>
          </p:cNvPicPr>
          <p:nvPr/>
        </p:nvPicPr>
        <p:blipFill>
          <a:blip r:embed="rId4"/>
          <a:stretch>
            <a:fillRect/>
          </a:stretch>
        </p:blipFill>
        <p:spPr>
          <a:xfrm>
            <a:off x="911474" y="5337170"/>
            <a:ext cx="298460" cy="298460"/>
          </a:xfrm>
          <a:prstGeom prst="rect">
            <a:avLst/>
          </a:prstGeom>
        </p:spPr>
      </p:pic>
      <p:sp>
        <p:nvSpPr>
          <p:cNvPr id="24" name="Text 18"/>
          <p:cNvSpPr txBox="1"/>
          <p:nvPr/>
        </p:nvSpPr>
        <p:spPr>
          <a:xfrm>
            <a:off x="1554480" y="5102352"/>
            <a:ext cx="4023360" cy="320040"/>
          </a:xfrm>
          <a:prstGeom prst="rect">
            <a:avLst/>
          </a:prstGeom>
          <a:noFill/>
          <a:ln/>
        </p:spPr>
        <p:txBody>
          <a:bodyPr wrap="square" lIns="0" tIns="0" rIns="0" bIns="0" rtlCol="0" anchor="t"/>
          <a:lstStyle/>
          <a:p>
            <a:pPr indent="0" marL="0">
              <a:buNone/>
            </a:pPr>
            <a:r>
              <a:rPr lang="en-US" sz="1400" b="1" dirty="0">
                <a:solidFill>
                  <a:srgbClr val="1F5F8B"/>
                </a:solidFill>
                <a:latin typeface="Meiryo UI" pitchFamily="34" charset="0"/>
                <a:ea typeface="Meiryo UI" pitchFamily="34" charset="-122"/>
                <a:cs typeface="Meiryo UI" pitchFamily="34" charset="-120"/>
              </a:rPr>
              <a:t>紹介の“バトン”化</a:t>
            </a:r>
            <a:endParaRPr lang="en-US" sz="1400" dirty="0"/>
          </a:p>
        </p:txBody>
      </p:sp>
      <p:sp>
        <p:nvSpPr>
          <p:cNvPr id="25" name="Text 19"/>
          <p:cNvSpPr txBox="1"/>
          <p:nvPr/>
        </p:nvSpPr>
        <p:spPr>
          <a:xfrm>
            <a:off x="1554480" y="5431536"/>
            <a:ext cx="4069080" cy="50292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紹介元がご本人・ご家族に転送しやすい動画で、紹介時の説明を肩代わり</a:t>
            </a:r>
            <a:endParaRPr lang="en-US" sz="1150" dirty="0"/>
          </a:p>
        </p:txBody>
      </p:sp>
      <p:sp>
        <p:nvSpPr>
          <p:cNvPr id="26" name="Text 20"/>
          <p:cNvSpPr txBox="1"/>
          <p:nvPr/>
        </p:nvSpPr>
        <p:spPr>
          <a:xfrm>
            <a:off x="6172200" y="1463040"/>
            <a:ext cx="4572000" cy="365760"/>
          </a:xfrm>
          <a:prstGeom prst="rect">
            <a:avLst/>
          </a:prstGeom>
          <a:noFill/>
          <a:ln/>
        </p:spPr>
        <p:txBody>
          <a:bodyPr wrap="square" lIns="0" tIns="0" rIns="0" bIns="0" rtlCol="0" anchor="t"/>
          <a:lstStyle/>
          <a:p>
            <a:pPr indent="0" marL="0">
              <a:buNone/>
            </a:pPr>
            <a:r>
              <a:rPr lang="en-US" sz="1500" b="1" dirty="0">
                <a:solidFill>
                  <a:srgbClr val="D2702A"/>
                </a:solidFill>
                <a:latin typeface="Meiryo UI" pitchFamily="34" charset="0"/>
                <a:ea typeface="Meiryo UI" pitchFamily="34" charset="-122"/>
                <a:cs typeface="Meiryo UI" pitchFamily="34" charset="-120"/>
              </a:rPr>
              <a:t>プッシュ施策のKPI（例）</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468112" cy="914400"/>
        </p:xfrm>
        <a:graphic>
          <a:graphicData uri="http://schemas.openxmlformats.org/drawingml/2006/table">
            <a:tbl>
              <a:tblPr/>
              <a:tblGrid>
                <a:gridCol w="1737360"/>
                <a:gridCol w="2331720"/>
                <a:gridCol w="1399032"/>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指標</a:t>
                      </a:r>
                      <a:endParaRPr lang="en-US" sz="12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定義</a:t>
                      </a:r>
                      <a:endParaRPr lang="en-US" sz="12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測定方法</a:t>
                      </a:r>
                      <a:endParaRPr lang="en-US" sz="120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1F5F8B"/>
                    </a:solidFill>
                  </a:tcPr>
                </a:tc>
              </a:tr>
              <a:tr h="566928">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紹介件数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紹介元からの問い合わせ数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問い合わせ経路の記録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見積もり実施率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問い合わせのうち見積もりに至った割合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案件管理表</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566928">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成約率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見積もりのうち受注に至った割合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案件管理表</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平均受注単価</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1件あたりの受注金額</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売上台帳</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5F9FC"/>
                    </a:solidFill>
                  </a:tcPr>
                </a:tc>
              </a:tr>
              <a:tr h="566928">
                <a:tc>
                  <a:txBody>
                    <a:bodyPr/>
                    <a:lstStyle/>
                    <a:p>
                      <a:pPr indent="0" marL="0">
                        <a:buNone/>
                      </a:pPr>
                      <a:r>
                        <a:rPr lang="en-US" sz="1150" b="1" dirty="0">
                          <a:solidFill>
                            <a:srgbClr val="1F5F8B"/>
                          </a:solidFill>
                          <a:latin typeface="Meiryo UI" pitchFamily="34" charset="0"/>
                          <a:ea typeface="Meiryo UI" pitchFamily="34" charset="-122"/>
                          <a:cs typeface="Meiryo UI" pitchFamily="34" charset="-120"/>
                        </a:rPr>
                        <a:t>Web直接問い合わせ数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HP・SNS・LINE経由の問い合わせ</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c>
                  <a:txBody>
                    <a:bodyPr/>
                    <a:lstStyle/>
                    <a:p>
                      <a:pPr indent="0" marL="0">
                        <a:buNone/>
                      </a:pPr>
                      <a:r>
                        <a:rPr lang="en-US" sz="1150" dirty="0">
                          <a:solidFill>
                            <a:srgbClr val="26303A"/>
                          </a:solidFill>
                          <a:latin typeface="Meiryo UI" pitchFamily="34" charset="0"/>
                          <a:ea typeface="Meiryo UI" pitchFamily="34" charset="-122"/>
                          <a:cs typeface="Meiryo UI" pitchFamily="34" charset="-120"/>
                        </a:rPr>
                        <a:t>フォーム・電話の記録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3E1EC"/>
                      </a:solidFill>
                      <a:prstDash val="solid"/>
                      <a:round/>
                      <a:headEnd type="none" w="med" len="med"/>
                      <a:tailEnd type="none" w="med" len="med"/>
                    </a:lnL>
                    <a:lnR w="9525" cap="flat" cmpd="sng" algn="ctr">
                      <a:solidFill>
                        <a:srgbClr val="D3E1EC"/>
                      </a:solidFill>
                      <a:prstDash val="solid"/>
                      <a:round/>
                      <a:headEnd type="none" w="med" len="med"/>
                      <a:tailEnd type="none" w="med" len="med"/>
                    </a:lnR>
                    <a:lnT w="9525" cap="flat" cmpd="sng" algn="ctr">
                      <a:solidFill>
                        <a:srgbClr val="D3E1EC"/>
                      </a:solidFill>
                      <a:prstDash val="solid"/>
                      <a:round/>
                      <a:headEnd type="none" w="med" len="med"/>
                      <a:tailEnd type="none" w="med" len="med"/>
                    </a:lnT>
                    <a:lnB w="9525" cap="flat" cmpd="sng" algn="ctr">
                      <a:solidFill>
                        <a:srgbClr val="D3E1EC"/>
                      </a:solidFill>
                      <a:prstDash val="solid"/>
                      <a:round/>
                      <a:headEnd type="none" w="med" len="med"/>
                      <a:tailEnd type="none" w="med" len="med"/>
                    </a:lnB>
                    <a:solidFill>
                      <a:srgbClr val="FFFFFF"/>
                    </a:solidFill>
                  </a:tcPr>
                </a:tc>
              </a:tr>
            </a:tbl>
          </a:graphicData>
        </a:graphic>
      </p:graphicFrame>
      <p:sp>
        <p:nvSpPr>
          <p:cNvPr id="28" name="Text 21"/>
          <p:cNvSpPr txBox="1"/>
          <p:nvPr/>
        </p:nvSpPr>
        <p:spPr>
          <a:xfrm>
            <a:off x="6172200" y="5486400"/>
            <a:ext cx="5468112" cy="548640"/>
          </a:xfrm>
          <a:prstGeom prst="rect">
            <a:avLst/>
          </a:prstGeom>
          <a:noFill/>
          <a:ln/>
        </p:spPr>
        <p:txBody>
          <a:bodyPr wrap="square" lIns="0" tIns="0" rIns="0" bIns="0" rtlCol="0" anchor="t"/>
          <a:lstStyle/>
          <a:p>
            <a:pPr indent="0" marL="0">
              <a:buNone/>
            </a:pPr>
            <a:r>
              <a:rPr lang="en-US" sz="1050" dirty="0">
                <a:solidFill>
                  <a:srgbClr val="637585"/>
                </a:solidFill>
                <a:latin typeface="Meiryo UI" pitchFamily="34" charset="0"/>
                <a:ea typeface="Meiryo UI" pitchFamily="34" charset="-122"/>
                <a:cs typeface="Meiryo UI" pitchFamily="34" charset="-120"/>
              </a:rPr>
              <a:t>※具体的な目標値は、本日伺う現状数値（問い合わせ数・成約率・平均単価など）をもとにフェーズ1開始時に設定します。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プル型Webマーケティング：媒体ごとに役割を分ける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691640"/>
            <a:ext cx="685800" cy="685800"/>
          </a:xfrm>
          <a:prstGeom prst="ellipse">
            <a:avLst/>
          </a:prstGeom>
          <a:solidFill>
            <a:srgbClr val="1F5F8B"/>
          </a:solidFill>
          <a:ln w="12700">
            <a:solidFill>
              <a:srgbClr val="1F5F8B"/>
            </a:solidFill>
            <a:prstDash val="solid"/>
          </a:ln>
        </p:spPr>
      </p:sp>
      <p:pic>
        <p:nvPicPr>
          <p:cNvPr id="8" name="Image 0"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9" name="Text 6"/>
          <p:cNvSpPr txBox="1"/>
          <p:nvPr/>
        </p:nvSpPr>
        <p:spPr>
          <a:xfrm>
            <a:off x="1645920" y="1673352"/>
            <a:ext cx="2235098" cy="411480"/>
          </a:xfrm>
          <a:prstGeom prst="rect">
            <a:avLst/>
          </a:prstGeom>
          <a:noFill/>
          <a:ln/>
        </p:spPr>
        <p:txBody>
          <a:bodyPr wrap="square" lIns="0" tIns="0" rIns="0" bIns="0" rtlCol="0" anchor="t"/>
          <a:lstStyle/>
          <a:p>
            <a:pPr indent="0" marL="0">
              <a:buNone/>
            </a:pPr>
            <a:r>
              <a:rPr lang="en-US" sz="1800" b="1" dirty="0">
                <a:solidFill>
                  <a:srgbClr val="1F5F8B"/>
                </a:solidFill>
                <a:latin typeface="Meiryo UI" pitchFamily="34" charset="0"/>
                <a:ea typeface="Meiryo UI" pitchFamily="34" charset="-122"/>
                <a:cs typeface="Meiryo UI" pitchFamily="34" charset="-120"/>
              </a:rPr>
              <a:t>YouTube</a:t>
            </a:r>
            <a:endParaRPr lang="en-US" sz="1800" dirty="0"/>
          </a:p>
        </p:txBody>
      </p:sp>
      <p:sp>
        <p:nvSpPr>
          <p:cNvPr id="10" name="Text 7"/>
          <p:cNvSpPr txBox="1"/>
          <p:nvPr/>
        </p:nvSpPr>
        <p:spPr>
          <a:xfrm>
            <a:off x="1645920" y="2075688"/>
            <a:ext cx="2235098" cy="320040"/>
          </a:xfrm>
          <a:prstGeom prst="rect">
            <a:avLst/>
          </a:prstGeom>
          <a:noFill/>
          <a:ln/>
        </p:spPr>
        <p:txBody>
          <a:bodyPr wrap="square" lIns="0" tIns="0" rIns="0" bIns="0" rtlCol="0" anchor="t"/>
          <a:lstStyle/>
          <a:p>
            <a:pPr indent="0" marL="0">
              <a:buNone/>
            </a:pPr>
            <a:r>
              <a:rPr lang="en-US" sz="1250" b="1" dirty="0">
                <a:solidFill>
                  <a:srgbClr val="D2702A"/>
                </a:solidFill>
                <a:latin typeface="Meiryo UI" pitchFamily="34" charset="0"/>
                <a:ea typeface="Meiryo UI" pitchFamily="34" charset="-122"/>
                <a:cs typeface="Meiryo UI" pitchFamily="34" charset="-120"/>
              </a:rPr>
              <a:t>役割：理解・信頼</a:t>
            </a:r>
            <a:endParaRPr lang="en-US" sz="1250" dirty="0"/>
          </a:p>
        </p:txBody>
      </p:sp>
      <p:sp>
        <p:nvSpPr>
          <p:cNvPr id="11" name="Text 8"/>
          <p:cNvSpPr txBox="1"/>
          <p:nvPr/>
        </p:nvSpPr>
        <p:spPr>
          <a:xfrm>
            <a:off x="822960" y="2606040"/>
            <a:ext cx="2966618" cy="256032"/>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動画の型</a:t>
            </a:r>
            <a:endParaRPr lang="en-US" sz="1050" dirty="0"/>
          </a:p>
        </p:txBody>
      </p:sp>
      <p:sp>
        <p:nvSpPr>
          <p:cNvPr id="12" name="Text 9"/>
          <p:cNvSpPr txBox="1"/>
          <p:nvPr/>
        </p:nvSpPr>
        <p:spPr>
          <a:xfrm>
            <a:off x="822960" y="2862072"/>
            <a:ext cx="2966618" cy="320040"/>
          </a:xfrm>
          <a:prstGeom prst="rect">
            <a:avLst/>
          </a:prstGeom>
          <a:noFill/>
          <a:ln/>
        </p:spPr>
        <p:txBody>
          <a:bodyPr wrap="square" lIns="0" tIns="0" rIns="0" bIns="0" rtlCol="0" anchor="t"/>
          <a:lstStyle/>
          <a:p>
            <a:pPr indent="0" marL="0">
              <a:buNone/>
            </a:pPr>
            <a:r>
              <a:rPr lang="en-US" sz="1300" b="1" dirty="0">
                <a:solidFill>
                  <a:srgbClr val="26303A"/>
                </a:solidFill>
                <a:latin typeface="Meiryo UI" pitchFamily="34" charset="0"/>
                <a:ea typeface="Meiryo UI" pitchFamily="34" charset="-122"/>
                <a:cs typeface="Meiryo UI" pitchFamily="34" charset="-120"/>
              </a:rPr>
              <a:t>長尺解説（5〜10分）</a:t>
            </a:r>
            <a:endParaRPr lang="en-US" sz="1300" dirty="0"/>
          </a:p>
        </p:txBody>
      </p:sp>
      <p:sp>
        <p:nvSpPr>
          <p:cNvPr id="13" name="Text 10"/>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主な視聴者</a:t>
            </a:r>
            <a:endParaRPr lang="en-US" sz="1050" dirty="0"/>
          </a:p>
        </p:txBody>
      </p:sp>
      <p:sp>
        <p:nvSpPr>
          <p:cNvPr id="14" name="Text 11"/>
          <p:cNvSpPr txBox="1"/>
          <p:nvPr/>
        </p:nvSpPr>
        <p:spPr>
          <a:xfrm>
            <a:off x="822960" y="3547872"/>
            <a:ext cx="2966618" cy="54864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遺品整理や実家の片付けを検討している関東全域のご家族</a:t>
            </a:r>
            <a:endParaRPr lang="en-US" sz="1200" dirty="0"/>
          </a:p>
        </p:txBody>
      </p:sp>
      <p:sp>
        <p:nvSpPr>
          <p:cNvPr id="15" name="Shape 12"/>
          <p:cNvSpPr/>
          <p:nvPr/>
        </p:nvSpPr>
        <p:spPr>
          <a:xfrm>
            <a:off x="731520" y="4206240"/>
            <a:ext cx="3149498" cy="1874520"/>
          </a:xfrm>
          <a:prstGeom prst="roundRect">
            <a:avLst>
              <a:gd name="adj" fmla="val 5854"/>
            </a:avLst>
          </a:prstGeom>
          <a:solidFill>
            <a:srgbClr val="EAF2F8"/>
          </a:solidFill>
          <a:ln w="12700">
            <a:solidFill>
              <a:srgbClr val="EAF2F8"/>
            </a:solidFill>
            <a:prstDash val="solid"/>
          </a:ln>
        </p:spPr>
      </p:sp>
      <p:sp>
        <p:nvSpPr>
          <p:cNvPr id="16" name="Text 13"/>
          <p:cNvSpPr txBox="1"/>
          <p:nvPr/>
        </p:nvSpPr>
        <p:spPr>
          <a:xfrm>
            <a:off x="914400" y="4297680"/>
            <a:ext cx="2783738" cy="27432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コンテンツ例</a:t>
            </a:r>
            <a:endParaRPr lang="en-US" sz="1050" dirty="0"/>
          </a:p>
        </p:txBody>
      </p:sp>
      <p:sp>
        <p:nvSpPr>
          <p:cNvPr id="17" name="Text 14"/>
          <p:cNvSpPr txBox="1"/>
          <p:nvPr/>
        </p:nvSpPr>
        <p:spPr>
          <a:xfrm>
            <a:off x="914400"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遺品整理の流れと費用の考え方を解説</a:t>
            </a:r>
            <a:endParaRPr lang="en-US" sz="1150" dirty="0"/>
          </a:p>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悪質な不用品回収業者の見分け方</a:t>
            </a:r>
            <a:endParaRPr lang="en-US" sz="1150" dirty="0"/>
          </a:p>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老人ホームに入居するとき、家財整理は何から？</a:t>
            </a:r>
            <a:endParaRPr lang="en-US" sz="1150" dirty="0"/>
          </a:p>
        </p:txBody>
      </p:sp>
      <p:sp>
        <p:nvSpPr>
          <p:cNvPr id="18" name="Shape 15"/>
          <p:cNvSpPr/>
          <p:nvPr/>
        </p:nvSpPr>
        <p:spPr>
          <a:xfrm>
            <a:off x="4338218"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612538" y="1691640"/>
            <a:ext cx="685800" cy="685800"/>
          </a:xfrm>
          <a:prstGeom prst="ellipse">
            <a:avLst/>
          </a:prstGeom>
          <a:solidFill>
            <a:srgbClr val="1F5F8B"/>
          </a:solidFill>
          <a:ln w="12700">
            <a:solidFill>
              <a:srgbClr val="1F5F8B"/>
            </a:solidFill>
            <a:prstDash val="solid"/>
          </a:ln>
        </p:spPr>
      </p:sp>
      <p:pic>
        <p:nvPicPr>
          <p:cNvPr id="20" name="Image 1"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21" name="Text 17"/>
          <p:cNvSpPr txBox="1"/>
          <p:nvPr/>
        </p:nvSpPr>
        <p:spPr>
          <a:xfrm>
            <a:off x="5435498" y="1673352"/>
            <a:ext cx="2235098" cy="411480"/>
          </a:xfrm>
          <a:prstGeom prst="rect">
            <a:avLst/>
          </a:prstGeom>
          <a:noFill/>
          <a:ln/>
        </p:spPr>
        <p:txBody>
          <a:bodyPr wrap="square" lIns="0" tIns="0" rIns="0" bIns="0" rtlCol="0" anchor="t"/>
          <a:lstStyle/>
          <a:p>
            <a:pPr indent="0" marL="0">
              <a:buNone/>
            </a:pPr>
            <a:r>
              <a:rPr lang="en-US" sz="1800" b="1" dirty="0">
                <a:solidFill>
                  <a:srgbClr val="1F5F8B"/>
                </a:solidFill>
                <a:latin typeface="Meiryo UI" pitchFamily="34" charset="0"/>
                <a:ea typeface="Meiryo UI" pitchFamily="34" charset="-122"/>
                <a:cs typeface="Meiryo UI" pitchFamily="34" charset="-120"/>
              </a:rPr>
              <a:t>Instagram</a:t>
            </a:r>
            <a:endParaRPr lang="en-US" sz="1800" dirty="0"/>
          </a:p>
        </p:txBody>
      </p:sp>
      <p:sp>
        <p:nvSpPr>
          <p:cNvPr id="22" name="Text 18"/>
          <p:cNvSpPr txBox="1"/>
          <p:nvPr/>
        </p:nvSpPr>
        <p:spPr>
          <a:xfrm>
            <a:off x="5435498" y="2075688"/>
            <a:ext cx="2235098" cy="320040"/>
          </a:xfrm>
          <a:prstGeom prst="rect">
            <a:avLst/>
          </a:prstGeom>
          <a:noFill/>
          <a:ln/>
        </p:spPr>
        <p:txBody>
          <a:bodyPr wrap="square" lIns="0" tIns="0" rIns="0" bIns="0" rtlCol="0" anchor="t"/>
          <a:lstStyle/>
          <a:p>
            <a:pPr indent="0" marL="0">
              <a:buNone/>
            </a:pPr>
            <a:r>
              <a:rPr lang="en-US" sz="1250" b="1" dirty="0">
                <a:solidFill>
                  <a:srgbClr val="D2702A"/>
                </a:solidFill>
                <a:latin typeface="Meiryo UI" pitchFamily="34" charset="0"/>
                <a:ea typeface="Meiryo UI" pitchFamily="34" charset="-122"/>
                <a:cs typeface="Meiryo UI" pitchFamily="34" charset="-120"/>
              </a:rPr>
              <a:t>役割：共感・人柄</a:t>
            </a:r>
            <a:endParaRPr lang="en-US" sz="1250" dirty="0"/>
          </a:p>
        </p:txBody>
      </p:sp>
      <p:sp>
        <p:nvSpPr>
          <p:cNvPr id="23" name="Text 19"/>
          <p:cNvSpPr txBox="1"/>
          <p:nvPr/>
        </p:nvSpPr>
        <p:spPr>
          <a:xfrm>
            <a:off x="4612538" y="2606040"/>
            <a:ext cx="2966618" cy="256032"/>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動画の型</a:t>
            </a:r>
            <a:endParaRPr lang="en-US" sz="1050" dirty="0"/>
          </a:p>
        </p:txBody>
      </p:sp>
      <p:sp>
        <p:nvSpPr>
          <p:cNvPr id="24" name="Text 20"/>
          <p:cNvSpPr txBox="1"/>
          <p:nvPr/>
        </p:nvSpPr>
        <p:spPr>
          <a:xfrm>
            <a:off x="4612538" y="2862072"/>
            <a:ext cx="2966618" cy="320040"/>
          </a:xfrm>
          <a:prstGeom prst="rect">
            <a:avLst/>
          </a:prstGeom>
          <a:noFill/>
          <a:ln/>
        </p:spPr>
        <p:txBody>
          <a:bodyPr wrap="square" lIns="0" tIns="0" rIns="0" bIns="0" rtlCol="0" anchor="t"/>
          <a:lstStyle/>
          <a:p>
            <a:pPr indent="0" marL="0">
              <a:buNone/>
            </a:pPr>
            <a:r>
              <a:rPr lang="en-US" sz="1300" b="1" dirty="0">
                <a:solidFill>
                  <a:srgbClr val="26303A"/>
                </a:solidFill>
                <a:latin typeface="Meiryo UI" pitchFamily="34" charset="0"/>
                <a:ea typeface="Meiryo UI" pitchFamily="34" charset="-122"/>
                <a:cs typeface="Meiryo UI" pitchFamily="34" charset="-120"/>
              </a:rPr>
              <a:t>デザイン重視（フィード・リール）</a:t>
            </a:r>
            <a:endParaRPr lang="en-US" sz="1300" dirty="0"/>
          </a:p>
        </p:txBody>
      </p:sp>
      <p:sp>
        <p:nvSpPr>
          <p:cNvPr id="25" name="Text 2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主な視聴者</a:t>
            </a:r>
            <a:endParaRPr lang="en-US" sz="1050" dirty="0"/>
          </a:p>
        </p:txBody>
      </p:sp>
      <p:sp>
        <p:nvSpPr>
          <p:cNvPr id="26" name="Text 22"/>
          <p:cNvSpPr txBox="1"/>
          <p:nvPr/>
        </p:nvSpPr>
        <p:spPr>
          <a:xfrm>
            <a:off x="4612538" y="3547872"/>
            <a:ext cx="2966618" cy="54864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片付けに悩む30〜50代の女性、ご家族</a:t>
            </a:r>
            <a:endParaRPr lang="en-US" sz="1200" dirty="0"/>
          </a:p>
        </p:txBody>
      </p:sp>
      <p:sp>
        <p:nvSpPr>
          <p:cNvPr id="27" name="Shape 23"/>
          <p:cNvSpPr/>
          <p:nvPr/>
        </p:nvSpPr>
        <p:spPr>
          <a:xfrm>
            <a:off x="4521098" y="4206240"/>
            <a:ext cx="3149498" cy="1874520"/>
          </a:xfrm>
          <a:prstGeom prst="roundRect">
            <a:avLst>
              <a:gd name="adj" fmla="val 5854"/>
            </a:avLst>
          </a:prstGeom>
          <a:solidFill>
            <a:srgbClr val="EAF2F8"/>
          </a:solidFill>
          <a:ln w="12700">
            <a:solidFill>
              <a:srgbClr val="EAF2F8"/>
            </a:solidFill>
            <a:prstDash val="solid"/>
          </a:ln>
        </p:spPr>
      </p:sp>
      <p:sp>
        <p:nvSpPr>
          <p:cNvPr id="28" name="Text 24"/>
          <p:cNvSpPr txBox="1"/>
          <p:nvPr/>
        </p:nvSpPr>
        <p:spPr>
          <a:xfrm>
            <a:off x="4703978" y="4297680"/>
            <a:ext cx="2783738" cy="27432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コンテンツ例</a:t>
            </a:r>
            <a:endParaRPr lang="en-US" sz="1050" dirty="0"/>
          </a:p>
        </p:txBody>
      </p:sp>
      <p:sp>
        <p:nvSpPr>
          <p:cNvPr id="29" name="Text 25"/>
          <p:cNvSpPr txBox="1"/>
          <p:nvPr/>
        </p:nvSpPr>
        <p:spPr>
          <a:xfrm>
            <a:off x="4703978"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作業前後のビフォーアフター（許諾済み）</a:t>
            </a:r>
            <a:endParaRPr lang="en-US" sz="1150" dirty="0"/>
          </a:p>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代表・スタッフの想い</a:t>
            </a:r>
            <a:endParaRPr lang="en-US" sz="1150" dirty="0"/>
          </a:p>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散らからない部屋を保つコツ</a:t>
            </a:r>
            <a:endParaRPr lang="en-US" sz="1150" dirty="0"/>
          </a:p>
        </p:txBody>
      </p:sp>
      <p:sp>
        <p:nvSpPr>
          <p:cNvPr id="30" name="Shape 26"/>
          <p:cNvSpPr/>
          <p:nvPr/>
        </p:nvSpPr>
        <p:spPr>
          <a:xfrm>
            <a:off x="8127797"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7"/>
          <p:cNvSpPr/>
          <p:nvPr/>
        </p:nvSpPr>
        <p:spPr>
          <a:xfrm>
            <a:off x="8402117" y="1691640"/>
            <a:ext cx="685800" cy="685800"/>
          </a:xfrm>
          <a:prstGeom prst="ellipse">
            <a:avLst/>
          </a:prstGeom>
          <a:solidFill>
            <a:srgbClr val="1F5F8B"/>
          </a:solidFill>
          <a:ln w="12700">
            <a:solidFill>
              <a:srgbClr val="1F5F8B"/>
            </a:solidFill>
            <a:prstDash val="solid"/>
          </a:ln>
        </p:spPr>
      </p:sp>
      <p:pic>
        <p:nvPicPr>
          <p:cNvPr id="32" name="Image 2"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33" name="Text 28"/>
          <p:cNvSpPr txBox="1"/>
          <p:nvPr/>
        </p:nvSpPr>
        <p:spPr>
          <a:xfrm>
            <a:off x="9225077" y="1673352"/>
            <a:ext cx="2235098" cy="411480"/>
          </a:xfrm>
          <a:prstGeom prst="rect">
            <a:avLst/>
          </a:prstGeom>
          <a:noFill/>
          <a:ln/>
        </p:spPr>
        <p:txBody>
          <a:bodyPr wrap="square" lIns="0" tIns="0" rIns="0" bIns="0" rtlCol="0" anchor="t"/>
          <a:lstStyle/>
          <a:p>
            <a:pPr indent="0" marL="0">
              <a:buNone/>
            </a:pPr>
            <a:r>
              <a:rPr lang="en-US" sz="1800" b="1" dirty="0">
                <a:solidFill>
                  <a:srgbClr val="1F5F8B"/>
                </a:solidFill>
                <a:latin typeface="Meiryo UI" pitchFamily="34" charset="0"/>
                <a:ea typeface="Meiryo UI" pitchFamily="34" charset="-122"/>
                <a:cs typeface="Meiryo UI" pitchFamily="34" charset="-120"/>
              </a:rPr>
              <a:t>TikTok／ショート</a:t>
            </a:r>
            <a:endParaRPr lang="en-US" sz="1800" dirty="0"/>
          </a:p>
        </p:txBody>
      </p:sp>
      <p:sp>
        <p:nvSpPr>
          <p:cNvPr id="34" name="Text 29"/>
          <p:cNvSpPr txBox="1"/>
          <p:nvPr/>
        </p:nvSpPr>
        <p:spPr>
          <a:xfrm>
            <a:off x="9225077" y="2075688"/>
            <a:ext cx="2235098" cy="320040"/>
          </a:xfrm>
          <a:prstGeom prst="rect">
            <a:avLst/>
          </a:prstGeom>
          <a:noFill/>
          <a:ln/>
        </p:spPr>
        <p:txBody>
          <a:bodyPr wrap="square" lIns="0" tIns="0" rIns="0" bIns="0" rtlCol="0" anchor="t"/>
          <a:lstStyle/>
          <a:p>
            <a:pPr indent="0" marL="0">
              <a:buNone/>
            </a:pPr>
            <a:r>
              <a:rPr lang="en-US" sz="1250" b="1" dirty="0">
                <a:solidFill>
                  <a:srgbClr val="D2702A"/>
                </a:solidFill>
                <a:latin typeface="Meiryo UI" pitchFamily="34" charset="0"/>
                <a:ea typeface="Meiryo UI" pitchFamily="34" charset="-122"/>
                <a:cs typeface="Meiryo UI" pitchFamily="34" charset="-120"/>
              </a:rPr>
              <a:t>役割：認知拡大（関東全域へ）</a:t>
            </a:r>
            <a:endParaRPr lang="en-US" sz="1250" dirty="0"/>
          </a:p>
        </p:txBody>
      </p:sp>
      <p:sp>
        <p:nvSpPr>
          <p:cNvPr id="35" name="Text 30"/>
          <p:cNvSpPr txBox="1"/>
          <p:nvPr/>
        </p:nvSpPr>
        <p:spPr>
          <a:xfrm>
            <a:off x="8402117" y="2606040"/>
            <a:ext cx="2966618" cy="256032"/>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動画の型</a:t>
            </a:r>
            <a:endParaRPr lang="en-US" sz="1050" dirty="0"/>
          </a:p>
        </p:txBody>
      </p:sp>
      <p:sp>
        <p:nvSpPr>
          <p:cNvPr id="36" name="Text 31"/>
          <p:cNvSpPr txBox="1"/>
          <p:nvPr/>
        </p:nvSpPr>
        <p:spPr>
          <a:xfrm>
            <a:off x="8402117" y="2862072"/>
            <a:ext cx="2966618" cy="320040"/>
          </a:xfrm>
          <a:prstGeom prst="rect">
            <a:avLst/>
          </a:prstGeom>
          <a:noFill/>
          <a:ln/>
        </p:spPr>
        <p:txBody>
          <a:bodyPr wrap="square" lIns="0" tIns="0" rIns="0" bIns="0" rtlCol="0" anchor="t"/>
          <a:lstStyle/>
          <a:p>
            <a:pPr indent="0" marL="0">
              <a:buNone/>
            </a:pPr>
            <a:r>
              <a:rPr lang="en-US" sz="1300" b="1" dirty="0">
                <a:solidFill>
                  <a:srgbClr val="26303A"/>
                </a:solidFill>
                <a:latin typeface="Meiryo UI" pitchFamily="34" charset="0"/>
                <a:ea typeface="Meiryo UI" pitchFamily="34" charset="-122"/>
                <a:cs typeface="Meiryo UI" pitchFamily="34" charset="-120"/>
              </a:rPr>
              <a:t>縦型ショート（15〜60秒）</a:t>
            </a:r>
            <a:endParaRPr lang="en-US" sz="1300" dirty="0"/>
          </a:p>
        </p:txBody>
      </p:sp>
      <p:sp>
        <p:nvSpPr>
          <p:cNvPr id="37" name="Text 32"/>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主な視聴者</a:t>
            </a:r>
            <a:endParaRPr lang="en-US" sz="1050" dirty="0"/>
          </a:p>
        </p:txBody>
      </p:sp>
      <p:sp>
        <p:nvSpPr>
          <p:cNvPr id="38" name="Text 33"/>
          <p:cNvSpPr txBox="1"/>
          <p:nvPr/>
        </p:nvSpPr>
        <p:spPr>
          <a:xfrm>
            <a:off x="8402117" y="3547872"/>
            <a:ext cx="2966618" cy="548640"/>
          </a:xfrm>
          <a:prstGeom prst="rect">
            <a:avLst/>
          </a:prstGeom>
          <a:noFill/>
          <a:ln/>
        </p:spPr>
        <p:txBody>
          <a:bodyPr wrap="square" lIns="0" tIns="0" rIns="0" bIns="0" rtlCol="0" anchor="t"/>
          <a:lstStyle/>
          <a:p>
            <a:pPr indent="0" marL="0">
              <a:buNone/>
            </a:pPr>
            <a:r>
              <a:rPr lang="en-US" sz="1200" dirty="0">
                <a:solidFill>
                  <a:srgbClr val="26303A"/>
                </a:solidFill>
                <a:latin typeface="Meiryo UI" pitchFamily="34" charset="0"/>
                <a:ea typeface="Meiryo UI" pitchFamily="34" charset="-122"/>
                <a:cs typeface="Meiryo UI" pitchFamily="34" charset="-120"/>
              </a:rPr>
              <a:t>まだ貴社を知らない、片付けに悩む人</a:t>
            </a:r>
            <a:endParaRPr lang="en-US" sz="1200" dirty="0"/>
          </a:p>
        </p:txBody>
      </p:sp>
      <p:sp>
        <p:nvSpPr>
          <p:cNvPr id="39" name="Shape 34"/>
          <p:cNvSpPr/>
          <p:nvPr/>
        </p:nvSpPr>
        <p:spPr>
          <a:xfrm>
            <a:off x="8310677" y="4206240"/>
            <a:ext cx="3149498" cy="1874520"/>
          </a:xfrm>
          <a:prstGeom prst="roundRect">
            <a:avLst>
              <a:gd name="adj" fmla="val 5854"/>
            </a:avLst>
          </a:prstGeom>
          <a:solidFill>
            <a:srgbClr val="EAF2F8"/>
          </a:solidFill>
          <a:ln w="12700">
            <a:solidFill>
              <a:srgbClr val="EAF2F8"/>
            </a:solidFill>
            <a:prstDash val="solid"/>
          </a:ln>
        </p:spPr>
      </p:sp>
      <p:sp>
        <p:nvSpPr>
          <p:cNvPr id="40" name="Text 35"/>
          <p:cNvSpPr txBox="1"/>
          <p:nvPr/>
        </p:nvSpPr>
        <p:spPr>
          <a:xfrm>
            <a:off x="8493557" y="4297680"/>
            <a:ext cx="2783738" cy="27432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コンテンツ例</a:t>
            </a:r>
            <a:endParaRPr lang="en-US" sz="1050" dirty="0"/>
          </a:p>
        </p:txBody>
      </p:sp>
      <p:sp>
        <p:nvSpPr>
          <p:cNvPr id="41" name="Text 36"/>
          <p:cNvSpPr txBox="1"/>
          <p:nvPr/>
        </p:nvSpPr>
        <p:spPr>
          <a:xfrm>
            <a:off x="8493557"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その見積もり、高すぎない？チェックポイント3つ</a:t>
            </a:r>
            <a:endParaRPr lang="en-US" sz="1150" dirty="0"/>
          </a:p>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誰にも言えずに悩んでいる片付けの話</a:t>
            </a:r>
            <a:endParaRPr lang="en-US" sz="1150" dirty="0"/>
          </a:p>
          <a:p>
            <a:pPr marL="342900" indent="-342900">
              <a:spcAft>
                <a:spcPts val="400"/>
              </a:spcAft>
              <a:buSzPct val="100000"/>
              <a:buChar char="•"/>
            </a:pPr>
            <a:r>
              <a:rPr lang="en-US" sz="1150" dirty="0">
                <a:solidFill>
                  <a:srgbClr val="26303A"/>
                </a:solidFill>
                <a:latin typeface="Meiryo UI" pitchFamily="34" charset="0"/>
                <a:ea typeface="Meiryo UI" pitchFamily="34" charset="-122"/>
                <a:cs typeface="Meiryo UI" pitchFamily="34" charset="-120"/>
              </a:rPr>
              <a:t>代表が答える片付けQ&amp;A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動画ラフイメージの提示方針（3つの型）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3515258" cy="1920240"/>
          </a:xfrm>
          <a:prstGeom prst="roundRect">
            <a:avLst>
              <a:gd name="adj" fmla="val 5714"/>
            </a:avLst>
          </a:prstGeom>
          <a:solidFill>
            <a:srgbClr val="EAF2F8"/>
          </a:solidFill>
          <a:ln w="12700">
            <a:solidFill>
              <a:srgbClr val="EAF2F8"/>
            </a:solidFill>
            <a:prstDash val="solid"/>
          </a:ln>
        </p:spPr>
      </p:sp>
      <p:pic>
        <p:nvPicPr>
          <p:cNvPr id="7" name="Image 0" descr="/tmp/claude-0/-home-user-crow-dunit/6eea73a9-a861-533a-875b-45d20cf557b2/scratchpad/kirei/thumbs/youtube.png">    </p:cNvPr>
          <p:cNvPicPr>
            <a:picLocks noChangeAspect="1"/>
          </p:cNvPicPr>
          <p:nvPr/>
        </p:nvPicPr>
        <p:blipFill>
          <a:blip r:embed="rId1"/>
          <a:stretch>
            <a:fillRect/>
          </a:stretch>
        </p:blipFill>
        <p:spPr>
          <a:xfrm>
            <a:off x="761949" y="1463040"/>
            <a:ext cx="3088640" cy="1737360"/>
          </a:xfrm>
          <a:prstGeom prst="rect">
            <a:avLst/>
          </a:prstGeom>
          <a:effectLst>
            <a:outerShdw sx="100000" sy="100000" kx="0" ky="0" algn="bl" rotWithShape="0" blurRad="76200" dist="25400" dir="5400000">
              <a:srgbClr val="000000">
                <a:alpha val="12000"/>
              </a:srgbClr>
            </a:outerShdw>
          </a:effectLst>
        </p:spPr>
      </p:pic>
      <p:sp>
        <p:nvSpPr>
          <p:cNvPr id="8" name="Text 5"/>
          <p:cNvSpPr txBox="1"/>
          <p:nvPr/>
        </p:nvSpPr>
        <p:spPr>
          <a:xfrm>
            <a:off x="548640" y="3429000"/>
            <a:ext cx="3515258" cy="36576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① 長尺解説型</a:t>
            </a:r>
            <a:endParaRPr lang="en-US" sz="1600" dirty="0"/>
          </a:p>
        </p:txBody>
      </p:sp>
      <p:sp>
        <p:nvSpPr>
          <p:cNvPr id="9" name="Text 6"/>
          <p:cNvSpPr txBox="1"/>
          <p:nvPr/>
        </p:nvSpPr>
        <p:spPr>
          <a:xfrm>
            <a:off x="2875178" y="3474720"/>
            <a:ext cx="1188720" cy="274320"/>
          </a:xfrm>
          <a:prstGeom prst="rect">
            <a:avLst/>
          </a:prstGeom>
          <a:noFill/>
          <a:ln/>
        </p:spPr>
        <p:txBody>
          <a:bodyPr wrap="square" lIns="0" tIns="0" rIns="0" bIns="0" rtlCol="0" anchor="t"/>
          <a:lstStyle/>
          <a:p>
            <a:pPr algn="r" indent="0" marL="0">
              <a:buNone/>
            </a:pPr>
            <a:r>
              <a:rPr lang="en-US" sz="1100" b="1" dirty="0">
                <a:solidFill>
                  <a:srgbClr val="D2702A"/>
                </a:solidFill>
                <a:latin typeface="Meiryo UI" pitchFamily="34" charset="0"/>
                <a:ea typeface="Meiryo UI" pitchFamily="34" charset="-122"/>
                <a:cs typeface="Meiryo UI" pitchFamily="34" charset="-120"/>
              </a:rPr>
              <a:t>尺：5〜10分</a:t>
            </a:r>
            <a:endParaRPr lang="en-US" sz="1100" dirty="0"/>
          </a:p>
        </p:txBody>
      </p:sp>
      <p:sp>
        <p:nvSpPr>
          <p:cNvPr id="10" name="Text 7"/>
          <p:cNvSpPr txBox="1"/>
          <p:nvPr/>
        </p:nvSpPr>
        <p:spPr>
          <a:xfrm>
            <a:off x="548640" y="3776472"/>
            <a:ext cx="351525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YouTube／HP掲載／見積もり前の送付用</a:t>
            </a:r>
            <a:endParaRPr lang="en-US" sz="1100" dirty="0"/>
          </a:p>
        </p:txBody>
      </p:sp>
      <p:sp>
        <p:nvSpPr>
          <p:cNvPr id="11" name="Text 8"/>
          <p:cNvSpPr txBox="1"/>
          <p:nvPr/>
        </p:nvSpPr>
        <p:spPr>
          <a:xfrm>
            <a:off x="548640"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よくある悩みの提示</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業者選びで失敗しないために</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作業の流れ</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料金の考え方（適正価格の理由）</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福祉の視点で大切にしていること</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ご相談のご案内</a:t>
            </a:r>
            <a:endParaRPr lang="en-US" sz="1100" dirty="0"/>
          </a:p>
        </p:txBody>
      </p:sp>
      <p:sp>
        <p:nvSpPr>
          <p:cNvPr id="12" name="Text 9"/>
          <p:cNvSpPr txBox="1"/>
          <p:nvPr/>
        </p:nvSpPr>
        <p:spPr>
          <a:xfrm>
            <a:off x="548640" y="5486400"/>
            <a:ext cx="3515258" cy="777240"/>
          </a:xfrm>
          <a:prstGeom prst="rect">
            <a:avLst/>
          </a:prstGeom>
          <a:noFill/>
          <a:ln/>
        </p:spPr>
        <p:txBody>
          <a:bodyPr wrap="square" lIns="0" tIns="0" rIns="0" bIns="0" rtlCol="0" anchor="t"/>
          <a:lstStyle/>
          <a:p>
            <a:pPr indent="0" marL="0">
              <a:buNone/>
            </a:pPr>
            <a:r>
              <a:rPr lang="en-US" sz="1100" b="1" dirty="0">
                <a:solidFill>
                  <a:srgbClr val="1F5F8B"/>
                </a:solidFill>
                <a:latin typeface="Meiryo UI" pitchFamily="34" charset="0"/>
                <a:ea typeface="Meiryo UI" pitchFamily="34" charset="-122"/>
                <a:cs typeface="Meiryo UI" pitchFamily="34" charset="-120"/>
              </a:rPr>
              <a:t>トーン：</a:t>
            </a:r>
            <a:pPr indent="0" marL="0">
              <a:buNone/>
            </a:pPr>
            <a:r>
              <a:rPr lang="en-US" sz="1100" dirty="0">
                <a:solidFill>
                  <a:srgbClr val="26303A"/>
                </a:solidFill>
                <a:latin typeface="Meiryo UI" pitchFamily="34" charset="0"/>
                <a:ea typeface="Meiryo UI" pitchFamily="34" charset="-122"/>
                <a:cs typeface="Meiryo UI" pitchFamily="34" charset="-120"/>
              </a:rPr>
              <a:t>誠実・安心感。専門用語を避け、代表の言葉で正直に語る</a:t>
            </a:r>
            <a:endParaRPr lang="en-US" sz="1100" dirty="0"/>
          </a:p>
          <a:p>
            <a:pPr indent="0" marL="0">
              <a:buNone/>
            </a:pPr>
            <a:r>
              <a:rPr lang="en-US" sz="1100" b="1" dirty="0">
                <a:solidFill>
                  <a:srgbClr val="D2702A"/>
                </a:solidFill>
                <a:latin typeface="Meiryo UI" pitchFamily="34" charset="0"/>
                <a:ea typeface="Meiryo UI" pitchFamily="34" charset="-122"/>
                <a:cs typeface="Meiryo UI" pitchFamily="34" charset="-120"/>
              </a:rPr>
              <a:t>ゴール：</a:t>
            </a:r>
            <a:pPr indent="0" marL="0">
              <a:buNone/>
            </a:pPr>
            <a:r>
              <a:rPr lang="en-US" sz="1100" dirty="0">
                <a:solidFill>
                  <a:srgbClr val="26303A"/>
                </a:solidFill>
                <a:latin typeface="Meiryo UI" pitchFamily="34" charset="0"/>
                <a:ea typeface="Meiryo UI" pitchFamily="34" charset="-122"/>
                <a:cs typeface="Meiryo UI" pitchFamily="34" charset="-120"/>
              </a:rPr>
              <a:t>「この会社なら安心して任せられる」と感じ、見積もりを依頼する</a:t>
            </a:r>
            <a:endParaRPr lang="en-US" sz="1100" dirty="0"/>
          </a:p>
        </p:txBody>
      </p:sp>
      <p:sp>
        <p:nvSpPr>
          <p:cNvPr id="13" name="Shape 10"/>
          <p:cNvSpPr/>
          <p:nvPr/>
        </p:nvSpPr>
        <p:spPr>
          <a:xfrm>
            <a:off x="4338218" y="1371600"/>
            <a:ext cx="3515258" cy="1920240"/>
          </a:xfrm>
          <a:prstGeom prst="roundRect">
            <a:avLst>
              <a:gd name="adj" fmla="val 5714"/>
            </a:avLst>
          </a:prstGeom>
          <a:solidFill>
            <a:srgbClr val="EAF2F8"/>
          </a:solidFill>
          <a:ln w="12700">
            <a:solidFill>
              <a:srgbClr val="EAF2F8"/>
            </a:solidFill>
            <a:prstDash val="solid"/>
          </a:ln>
        </p:spPr>
      </p:sp>
      <p:pic>
        <p:nvPicPr>
          <p:cNvPr id="14" name="Image 1" descr="/tmp/claude-0/-home-user-crow-dunit/6eea73a9-a861-533a-875b-45d20cf557b2/scratchpad/kirei/thumbs/instagram.png">    </p:cNvPr>
          <p:cNvPicPr>
            <a:picLocks noChangeAspect="1"/>
          </p:cNvPicPr>
          <p:nvPr/>
        </p:nvPicPr>
        <p:blipFill>
          <a:blip r:embed="rId2"/>
          <a:stretch>
            <a:fillRect/>
          </a:stretch>
        </p:blipFill>
        <p:spPr>
          <a:xfrm>
            <a:off x="5494454" y="1463040"/>
            <a:ext cx="1202788" cy="1737360"/>
          </a:xfrm>
          <a:prstGeom prst="rect">
            <a:avLst/>
          </a:prstGeom>
          <a:effectLst>
            <a:outerShdw sx="100000" sy="100000" kx="0" ky="0" algn="bl" rotWithShape="0" blurRad="76200" dist="25400" dir="5400000">
              <a:srgbClr val="000000">
                <a:alpha val="12000"/>
              </a:srgbClr>
            </a:outerShdw>
          </a:effectLst>
        </p:spPr>
      </p:pic>
      <p:sp>
        <p:nvSpPr>
          <p:cNvPr id="15" name="Text 11"/>
          <p:cNvSpPr txBox="1"/>
          <p:nvPr/>
        </p:nvSpPr>
        <p:spPr>
          <a:xfrm>
            <a:off x="4338218" y="3429000"/>
            <a:ext cx="3515258" cy="36576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② デザイン重視型</a:t>
            </a:r>
            <a:endParaRPr lang="en-US" sz="1600" dirty="0"/>
          </a:p>
        </p:txBody>
      </p:sp>
      <p:sp>
        <p:nvSpPr>
          <p:cNvPr id="16" name="Text 12"/>
          <p:cNvSpPr txBox="1"/>
          <p:nvPr/>
        </p:nvSpPr>
        <p:spPr>
          <a:xfrm>
            <a:off x="6664757" y="3474720"/>
            <a:ext cx="1188720" cy="274320"/>
          </a:xfrm>
          <a:prstGeom prst="rect">
            <a:avLst/>
          </a:prstGeom>
          <a:noFill/>
          <a:ln/>
        </p:spPr>
        <p:txBody>
          <a:bodyPr wrap="square" lIns="0" tIns="0" rIns="0" bIns="0" rtlCol="0" anchor="t"/>
          <a:lstStyle/>
          <a:p>
            <a:pPr algn="r" indent="0" marL="0">
              <a:buNone/>
            </a:pPr>
            <a:r>
              <a:rPr lang="en-US" sz="1100" b="1" dirty="0">
                <a:solidFill>
                  <a:srgbClr val="D2702A"/>
                </a:solidFill>
                <a:latin typeface="Meiryo UI" pitchFamily="34" charset="0"/>
                <a:ea typeface="Meiryo UI" pitchFamily="34" charset="-122"/>
                <a:cs typeface="Meiryo UI" pitchFamily="34" charset="-120"/>
              </a:rPr>
              <a:t>尺：30〜90秒</a:t>
            </a:r>
            <a:endParaRPr lang="en-US" sz="1100" dirty="0"/>
          </a:p>
        </p:txBody>
      </p:sp>
      <p:sp>
        <p:nvSpPr>
          <p:cNvPr id="17" name="Text 13"/>
          <p:cNvSpPr txBox="1"/>
          <p:nvPr/>
        </p:nvSpPr>
        <p:spPr>
          <a:xfrm>
            <a:off x="4338218" y="3776472"/>
            <a:ext cx="351525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Instagram／HP／Googleビジネスプロフィール</a:t>
            </a:r>
            <a:endParaRPr lang="en-US" sz="1100" dirty="0"/>
          </a:p>
        </p:txBody>
      </p:sp>
      <p:sp>
        <p:nvSpPr>
          <p:cNvPr id="18" name="Text 14"/>
          <p:cNvSpPr txBox="1"/>
          <p:nvPr/>
        </p:nvSpPr>
        <p:spPr>
          <a:xfrm>
            <a:off x="4338218"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共感の一文「片付けられないのは、あなたのせいじゃない。」</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サービスの特長3つ</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代表の想い</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対応エリア・ご相談の案内</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プロフィールへ誘導</a:t>
            </a:r>
            <a:endParaRPr lang="en-US" sz="1100" dirty="0"/>
          </a:p>
        </p:txBody>
      </p:sp>
      <p:sp>
        <p:nvSpPr>
          <p:cNvPr id="19" name="Text 15"/>
          <p:cNvSpPr txBox="1"/>
          <p:nvPr/>
        </p:nvSpPr>
        <p:spPr>
          <a:xfrm>
            <a:off x="4338218" y="5486400"/>
            <a:ext cx="3515258" cy="777240"/>
          </a:xfrm>
          <a:prstGeom prst="rect">
            <a:avLst/>
          </a:prstGeom>
          <a:noFill/>
          <a:ln/>
        </p:spPr>
        <p:txBody>
          <a:bodyPr wrap="square" lIns="0" tIns="0" rIns="0" bIns="0" rtlCol="0" anchor="t"/>
          <a:lstStyle/>
          <a:p>
            <a:pPr indent="0" marL="0">
              <a:buNone/>
            </a:pPr>
            <a:r>
              <a:rPr lang="en-US" sz="1100" b="1" dirty="0">
                <a:solidFill>
                  <a:srgbClr val="1F5F8B"/>
                </a:solidFill>
                <a:latin typeface="Meiryo UI" pitchFamily="34" charset="0"/>
                <a:ea typeface="Meiryo UI" pitchFamily="34" charset="-122"/>
                <a:cs typeface="Meiryo UI" pitchFamily="34" charset="-120"/>
              </a:rPr>
              <a:t>トーン：</a:t>
            </a:r>
            <a:pPr indent="0" marL="0">
              <a:buNone/>
            </a:pPr>
            <a:r>
              <a:rPr lang="en-US" sz="1100" dirty="0">
                <a:solidFill>
                  <a:srgbClr val="26303A"/>
                </a:solidFill>
                <a:latin typeface="Meiryo UI" pitchFamily="34" charset="0"/>
                <a:ea typeface="Meiryo UI" pitchFamily="34" charset="-122"/>
                <a:cs typeface="Meiryo UI" pitchFamily="34" charset="-120"/>
              </a:rPr>
              <a:t>清潔感・やさしさ。責めない言葉で安心感を表現</a:t>
            </a:r>
            <a:endParaRPr lang="en-US" sz="1100" dirty="0"/>
          </a:p>
          <a:p>
            <a:pPr indent="0" marL="0">
              <a:buNone/>
            </a:pPr>
            <a:r>
              <a:rPr lang="en-US" sz="1100" b="1" dirty="0">
                <a:solidFill>
                  <a:srgbClr val="D2702A"/>
                </a:solidFill>
                <a:latin typeface="Meiryo UI" pitchFamily="34" charset="0"/>
                <a:ea typeface="Meiryo UI" pitchFamily="34" charset="-122"/>
                <a:cs typeface="Meiryo UI" pitchFamily="34" charset="-120"/>
              </a:rPr>
              <a:t>ゴール：</a:t>
            </a:r>
            <a:pPr indent="0" marL="0">
              <a:buNone/>
            </a:pPr>
            <a:r>
              <a:rPr lang="en-US" sz="1100" dirty="0">
                <a:solidFill>
                  <a:srgbClr val="26303A"/>
                </a:solidFill>
                <a:latin typeface="Meiryo UI" pitchFamily="34" charset="0"/>
                <a:ea typeface="Meiryo UI" pitchFamily="34" charset="-122"/>
                <a:cs typeface="Meiryo UI" pitchFamily="34" charset="-120"/>
              </a:rPr>
              <a:t>保存・フォローされ、必要なときに相談される</a:t>
            </a:r>
            <a:endParaRPr lang="en-US" sz="1100" dirty="0"/>
          </a:p>
        </p:txBody>
      </p:sp>
      <p:sp>
        <p:nvSpPr>
          <p:cNvPr id="20" name="Shape 16"/>
          <p:cNvSpPr/>
          <p:nvPr/>
        </p:nvSpPr>
        <p:spPr>
          <a:xfrm>
            <a:off x="8127797" y="1371600"/>
            <a:ext cx="3515258" cy="1920240"/>
          </a:xfrm>
          <a:prstGeom prst="roundRect">
            <a:avLst>
              <a:gd name="adj" fmla="val 5714"/>
            </a:avLst>
          </a:prstGeom>
          <a:solidFill>
            <a:srgbClr val="EAF2F8"/>
          </a:solidFill>
          <a:ln w="12700">
            <a:solidFill>
              <a:srgbClr val="EAF2F8"/>
            </a:solidFill>
            <a:prstDash val="solid"/>
          </a:ln>
        </p:spPr>
      </p:sp>
      <p:pic>
        <p:nvPicPr>
          <p:cNvPr id="21" name="Image 2" descr="/tmp/claude-0/-home-user-crow-dunit/6eea73a9-a861-533a-875b-45d20cf557b2/scratchpad/kirei/thumbs/tiktok.png">    </p:cNvPr>
          <p:cNvPicPr>
            <a:picLocks noChangeAspect="1"/>
          </p:cNvPicPr>
          <p:nvPr/>
        </p:nvPicPr>
        <p:blipFill>
          <a:blip r:embed="rId3"/>
          <a:stretch>
            <a:fillRect/>
          </a:stretch>
        </p:blipFill>
        <p:spPr>
          <a:xfrm>
            <a:off x="9396794" y="1463040"/>
            <a:ext cx="977265" cy="1737360"/>
          </a:xfrm>
          <a:prstGeom prst="rect">
            <a:avLst/>
          </a:prstGeom>
          <a:effectLst>
            <a:outerShdw sx="100000" sy="100000" kx="0" ky="0" algn="bl" rotWithShape="0" blurRad="76200" dist="25400" dir="5400000">
              <a:srgbClr val="000000">
                <a:alpha val="12000"/>
              </a:srgbClr>
            </a:outerShdw>
          </a:effectLst>
        </p:spPr>
      </p:pic>
      <p:sp>
        <p:nvSpPr>
          <p:cNvPr id="22" name="Text 17"/>
          <p:cNvSpPr txBox="1"/>
          <p:nvPr/>
        </p:nvSpPr>
        <p:spPr>
          <a:xfrm>
            <a:off x="8127797" y="3429000"/>
            <a:ext cx="3515258" cy="36576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③ 縦型ショート型</a:t>
            </a:r>
            <a:endParaRPr lang="en-US" sz="1600" dirty="0"/>
          </a:p>
        </p:txBody>
      </p:sp>
      <p:sp>
        <p:nvSpPr>
          <p:cNvPr id="23" name="Text 18"/>
          <p:cNvSpPr txBox="1"/>
          <p:nvPr/>
        </p:nvSpPr>
        <p:spPr>
          <a:xfrm>
            <a:off x="10454335" y="3474720"/>
            <a:ext cx="1188720" cy="274320"/>
          </a:xfrm>
          <a:prstGeom prst="rect">
            <a:avLst/>
          </a:prstGeom>
          <a:noFill/>
          <a:ln/>
        </p:spPr>
        <p:txBody>
          <a:bodyPr wrap="square" lIns="0" tIns="0" rIns="0" bIns="0" rtlCol="0" anchor="t"/>
          <a:lstStyle/>
          <a:p>
            <a:pPr algn="r" indent="0" marL="0">
              <a:buNone/>
            </a:pPr>
            <a:r>
              <a:rPr lang="en-US" sz="1100" b="1" dirty="0">
                <a:solidFill>
                  <a:srgbClr val="D2702A"/>
                </a:solidFill>
                <a:latin typeface="Meiryo UI" pitchFamily="34" charset="0"/>
                <a:ea typeface="Meiryo UI" pitchFamily="34" charset="-122"/>
                <a:cs typeface="Meiryo UI" pitchFamily="34" charset="-120"/>
              </a:rPr>
              <a:t>尺：15〜60秒</a:t>
            </a:r>
            <a:endParaRPr lang="en-US" sz="1100" dirty="0"/>
          </a:p>
        </p:txBody>
      </p:sp>
      <p:sp>
        <p:nvSpPr>
          <p:cNvPr id="24" name="Text 19"/>
          <p:cNvSpPr txBox="1"/>
          <p:nvPr/>
        </p:nvSpPr>
        <p:spPr>
          <a:xfrm>
            <a:off x="8127797" y="3776472"/>
            <a:ext cx="351525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TikTok／YouTubeショート／リール</a:t>
            </a:r>
            <a:endParaRPr lang="en-US" sz="1100" dirty="0"/>
          </a:p>
        </p:txBody>
      </p:sp>
      <p:sp>
        <p:nvSpPr>
          <p:cNvPr id="25" name="Text 20"/>
          <p:cNvSpPr txBox="1"/>
          <p:nvPr/>
        </p:nvSpPr>
        <p:spPr>
          <a:xfrm>
            <a:off x="8127797"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フック「その見積もり、高すぎない？」</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答え（チェックポイントをひと言で）</a:t>
            </a:r>
            <a:endParaRPr lang="en-US" sz="1100" dirty="0"/>
          </a:p>
          <a:p>
            <a:pPr marL="342900" indent="-342900">
              <a:spcAft>
                <a:spcPts val="100"/>
              </a:spcAft>
              <a:buSzPct val="100000"/>
              <a:buFont typeface="+mj-lt"/>
              <a:buAutoNum type="arabicPeriod" startAt="1"/>
            </a:pPr>
            <a:r>
              <a:rPr lang="en-US" sz="1100" dirty="0">
                <a:solidFill>
                  <a:srgbClr val="26303A"/>
                </a:solidFill>
                <a:latin typeface="Meiryo UI" pitchFamily="34" charset="0"/>
                <a:ea typeface="Meiryo UI" pitchFamily="34" charset="-122"/>
                <a:cs typeface="Meiryo UI" pitchFamily="34" charset="-120"/>
              </a:rPr>
              <a:t>続きはプロフィールへ</a:t>
            </a:r>
            <a:endParaRPr lang="en-US" sz="1100" dirty="0"/>
          </a:p>
        </p:txBody>
      </p:sp>
      <p:sp>
        <p:nvSpPr>
          <p:cNvPr id="26" name="Text 21"/>
          <p:cNvSpPr txBox="1"/>
          <p:nvPr/>
        </p:nvSpPr>
        <p:spPr>
          <a:xfrm>
            <a:off x="8127797" y="5486400"/>
            <a:ext cx="3515258" cy="777240"/>
          </a:xfrm>
          <a:prstGeom prst="rect">
            <a:avLst/>
          </a:prstGeom>
          <a:noFill/>
          <a:ln/>
        </p:spPr>
        <p:txBody>
          <a:bodyPr wrap="square" lIns="0" tIns="0" rIns="0" bIns="0" rtlCol="0" anchor="t"/>
          <a:lstStyle/>
          <a:p>
            <a:pPr indent="0" marL="0">
              <a:buNone/>
            </a:pPr>
            <a:r>
              <a:rPr lang="en-US" sz="1100" b="1" dirty="0">
                <a:solidFill>
                  <a:srgbClr val="1F5F8B"/>
                </a:solidFill>
                <a:latin typeface="Meiryo UI" pitchFamily="34" charset="0"/>
                <a:ea typeface="Meiryo UI" pitchFamily="34" charset="-122"/>
                <a:cs typeface="Meiryo UI" pitchFamily="34" charset="-120"/>
              </a:rPr>
              <a:t>トーン：</a:t>
            </a:r>
            <a:pPr indent="0" marL="0">
              <a:buNone/>
            </a:pPr>
            <a:r>
              <a:rPr lang="en-US" sz="1100" dirty="0">
                <a:solidFill>
                  <a:srgbClr val="26303A"/>
                </a:solidFill>
                <a:latin typeface="Meiryo UI" pitchFamily="34" charset="0"/>
                <a:ea typeface="Meiryo UI" pitchFamily="34" charset="-122"/>
                <a:cs typeface="Meiryo UI" pitchFamily="34" charset="-120"/>
              </a:rPr>
              <a:t>意外性・正直さ。不安をあおりすぎない</a:t>
            </a:r>
            <a:endParaRPr lang="en-US" sz="1100" dirty="0"/>
          </a:p>
          <a:p>
            <a:pPr indent="0" marL="0">
              <a:buNone/>
            </a:pPr>
            <a:r>
              <a:rPr lang="en-US" sz="1100" b="1" dirty="0">
                <a:solidFill>
                  <a:srgbClr val="D2702A"/>
                </a:solidFill>
                <a:latin typeface="Meiryo UI" pitchFamily="34" charset="0"/>
                <a:ea typeface="Meiryo UI" pitchFamily="34" charset="-122"/>
                <a:cs typeface="Meiryo UI" pitchFamily="34" charset="-120"/>
              </a:rPr>
              <a:t>ゴール：</a:t>
            </a:r>
            <a:pPr indent="0" marL="0">
              <a:buNone/>
            </a:pPr>
            <a:r>
              <a:rPr lang="en-US" sz="1100" dirty="0">
                <a:solidFill>
                  <a:srgbClr val="26303A"/>
                </a:solidFill>
                <a:latin typeface="Meiryo UI" pitchFamily="34" charset="0"/>
                <a:ea typeface="Meiryo UI" pitchFamily="34" charset="-122"/>
                <a:cs typeface="Meiryo UI" pitchFamily="34" charset="-120"/>
              </a:rPr>
              <a:t>関東全域での認知拡大と、長尺動画・LINEへの送客</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サムネイル・画面イメージ（ラフ案）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37585"/>
                </a:solidFill>
                <a:latin typeface="Meiryo UI" pitchFamily="34" charset="0"/>
                <a:ea typeface="Meiryo UI" pitchFamily="34" charset="-122"/>
                <a:cs typeface="Meiryo UI" pitchFamily="34" charset="-120"/>
              </a:rPr>
              <a:t>無料3本のうち、プル施策で活用する動画の“見え方”のイメージです。媒体ごとに、最初の1秒で伝えることを変えています。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13</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7" name="Image 0" descr="/tmp/claude-0/-home-user-crow-dunit/6eea73a9-a861-533a-875b-45d20cf557b2/scratchpad/kirei/thumbs/youtube.png">    </p:cNvPr>
          <p:cNvPicPr>
            <a:picLocks noChangeAspect="1"/>
          </p:cNvPicPr>
          <p:nvPr/>
        </p:nvPicPr>
        <p:blipFill>
          <a:blip r:embed="rId1"/>
          <a:stretch>
            <a:fillRect/>
          </a:stretch>
        </p:blipFill>
        <p:spPr>
          <a:xfrm>
            <a:off x="548640" y="1783080"/>
            <a:ext cx="4846320" cy="2726055"/>
          </a:xfrm>
          <a:prstGeom prst="rect">
            <a:avLst/>
          </a:prstGeom>
          <a:effectLst>
            <a:outerShdw sx="100000" sy="100000" kx="0" ky="0" algn="bl" rotWithShape="0" blurRad="76200" dist="25400" dir="5400000">
              <a:srgbClr val="000000">
                <a:alpha val="12000"/>
              </a:srgbClr>
            </a:outerShdw>
          </a:effectLst>
        </p:spPr>
      </p:pic>
      <p:pic>
        <p:nvPicPr>
          <p:cNvPr id="8" name="Image 1" descr="/tmp/claude-0/-home-user-crow-dunit/6eea73a9-a861-533a-875b-45d20cf557b2/scratchpad/kirei/thumbs/instagram.png">    </p:cNvPr>
          <p:cNvPicPr>
            <a:picLocks noChangeAspect="1"/>
          </p:cNvPicPr>
          <p:nvPr/>
        </p:nvPicPr>
        <p:blipFill>
          <a:blip r:embed="rId2"/>
          <a:stretch>
            <a:fillRect/>
          </a:stretch>
        </p:blipFill>
        <p:spPr>
          <a:xfrm>
            <a:off x="5897880" y="1783080"/>
            <a:ext cx="2627142" cy="3794760"/>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5715000" y="5650992"/>
            <a:ext cx="2992902" cy="274320"/>
          </a:xfrm>
          <a:prstGeom prst="rect">
            <a:avLst/>
          </a:prstGeom>
          <a:noFill/>
          <a:ln/>
        </p:spPr>
        <p:txBody>
          <a:bodyPr wrap="square" lIns="0" tIns="0" rIns="0" bIns="0" rtlCol="0" anchor="t"/>
          <a:lstStyle/>
          <a:p>
            <a:pPr algn="ctr" indent="0" marL="0">
              <a:buNone/>
            </a:pPr>
            <a:r>
              <a:rPr lang="en-US" sz="1100" b="1" dirty="0">
                <a:solidFill>
                  <a:srgbClr val="1F5F8B"/>
                </a:solidFill>
                <a:latin typeface="Meiryo UI" pitchFamily="34" charset="0"/>
                <a:ea typeface="Meiryo UI" pitchFamily="34" charset="-122"/>
                <a:cs typeface="Meiryo UI" pitchFamily="34" charset="-120"/>
              </a:rPr>
              <a:t>Instagram｜フィード投稿</a:t>
            </a:r>
            <a:endParaRPr lang="en-US" sz="1100" dirty="0"/>
          </a:p>
        </p:txBody>
      </p:sp>
      <p:pic>
        <p:nvPicPr>
          <p:cNvPr id="10" name="Image 2" descr="/tmp/claude-0/-home-user-crow-dunit/6eea73a9-a861-533a-875b-45d20cf557b2/scratchpad/kirei/thumbs/tiktok.png">    </p:cNvPr>
          <p:cNvPicPr>
            <a:picLocks noChangeAspect="1"/>
          </p:cNvPicPr>
          <p:nvPr/>
        </p:nvPicPr>
        <p:blipFill>
          <a:blip r:embed="rId3"/>
          <a:stretch>
            <a:fillRect/>
          </a:stretch>
        </p:blipFill>
        <p:spPr>
          <a:xfrm>
            <a:off x="9052560" y="1783080"/>
            <a:ext cx="2134553" cy="3794760"/>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8869680" y="5650992"/>
            <a:ext cx="2500313" cy="274320"/>
          </a:xfrm>
          <a:prstGeom prst="rect">
            <a:avLst/>
          </a:prstGeom>
          <a:noFill/>
          <a:ln/>
        </p:spPr>
        <p:txBody>
          <a:bodyPr wrap="square" lIns="0" tIns="0" rIns="0" bIns="0" rtlCol="0" anchor="t"/>
          <a:lstStyle/>
          <a:p>
            <a:pPr algn="ctr" indent="0" marL="0">
              <a:buNone/>
            </a:pPr>
            <a:r>
              <a:rPr lang="en-US" sz="1100" b="1" dirty="0">
                <a:solidFill>
                  <a:srgbClr val="1F5F8B"/>
                </a:solidFill>
                <a:latin typeface="Meiryo UI" pitchFamily="34" charset="0"/>
                <a:ea typeface="Meiryo UI" pitchFamily="34" charset="-122"/>
                <a:cs typeface="Meiryo UI" pitchFamily="34" charset="-120"/>
              </a:rPr>
              <a:t>TikTok／ショート｜冒頭画面</a:t>
            </a:r>
            <a:endParaRPr lang="en-US" sz="1100" dirty="0"/>
          </a:p>
        </p:txBody>
      </p:sp>
      <p:sp>
        <p:nvSpPr>
          <p:cNvPr id="12" name="Shape 7"/>
          <p:cNvSpPr/>
          <p:nvPr/>
        </p:nvSpPr>
        <p:spPr>
          <a:xfrm>
            <a:off x="548640" y="4681728"/>
            <a:ext cx="4846320" cy="365760"/>
          </a:xfrm>
          <a:prstGeom prst="roundRect">
            <a:avLst>
              <a:gd name="adj" fmla="val 30000"/>
            </a:avLst>
          </a:prstGeom>
          <a:solidFill>
            <a:srgbClr val="EAF2F8"/>
          </a:solidFill>
          <a:ln w="12700">
            <a:solidFill>
              <a:srgbClr val="EAF2F8"/>
            </a:solidFill>
            <a:prstDash val="solid"/>
          </a:ln>
        </p:spPr>
      </p:sp>
      <p:sp>
        <p:nvSpPr>
          <p:cNvPr id="13" name="Text 8"/>
          <p:cNvSpPr txBox="1"/>
          <p:nvPr/>
        </p:nvSpPr>
        <p:spPr>
          <a:xfrm>
            <a:off x="658368" y="4681728"/>
            <a:ext cx="960120" cy="365760"/>
          </a:xfrm>
          <a:prstGeom prst="rect">
            <a:avLst/>
          </a:prstGeom>
          <a:noFill/>
          <a:ln/>
        </p:spPr>
        <p:txBody>
          <a:bodyPr wrap="square" lIns="0" tIns="0" rIns="0" bIns="0" rtlCol="0" anchor="ctr"/>
          <a:lstStyle/>
          <a:p>
            <a:pPr indent="0" marL="0">
              <a:buNone/>
            </a:pPr>
            <a:r>
              <a:rPr lang="en-US" sz="1050" b="1" dirty="0">
                <a:solidFill>
                  <a:srgbClr val="D2702A"/>
                </a:solidFill>
                <a:latin typeface="Meiryo UI" pitchFamily="34" charset="0"/>
                <a:ea typeface="Meiryo UI" pitchFamily="34" charset="-122"/>
                <a:cs typeface="Meiryo UI" pitchFamily="34" charset="-120"/>
              </a:rPr>
              <a:t>YouTube</a:t>
            </a:r>
            <a:endParaRPr lang="en-US" sz="1050" dirty="0"/>
          </a:p>
        </p:txBody>
      </p:sp>
      <p:sp>
        <p:nvSpPr>
          <p:cNvPr id="14" name="Text 9"/>
          <p:cNvSpPr txBox="1"/>
          <p:nvPr/>
        </p:nvSpPr>
        <p:spPr>
          <a:xfrm>
            <a:off x="1600200" y="4681728"/>
            <a:ext cx="3749040" cy="365760"/>
          </a:xfrm>
          <a:prstGeom prst="rect">
            <a:avLst/>
          </a:prstGeom>
          <a:noFill/>
          <a:ln/>
        </p:spPr>
        <p:txBody>
          <a:bodyPr wrap="square" lIns="0" tIns="0" rIns="0" bIns="0" rtlCol="0" anchor="ctr"/>
          <a:lstStyle/>
          <a:p>
            <a:pPr indent="0" marL="0">
              <a:buNone/>
            </a:pPr>
            <a:r>
              <a:rPr lang="en-US" sz="950" dirty="0">
                <a:solidFill>
                  <a:srgbClr val="26303A"/>
                </a:solidFill>
                <a:latin typeface="Meiryo UI" pitchFamily="34" charset="0"/>
                <a:ea typeface="Meiryo UI" pitchFamily="34" charset="-122"/>
                <a:cs typeface="Meiryo UI" pitchFamily="34" charset="-120"/>
              </a:rPr>
              <a:t>検索されやすい悩み（業者選び・遺品整理）を大きく。“プロの本音”で信頼感を演出</a:t>
            </a:r>
            <a:endParaRPr lang="en-US" sz="950" dirty="0"/>
          </a:p>
        </p:txBody>
      </p:sp>
      <p:sp>
        <p:nvSpPr>
          <p:cNvPr id="15" name="Shape 10"/>
          <p:cNvSpPr/>
          <p:nvPr/>
        </p:nvSpPr>
        <p:spPr>
          <a:xfrm>
            <a:off x="548640" y="5111496"/>
            <a:ext cx="4846320" cy="365760"/>
          </a:xfrm>
          <a:prstGeom prst="roundRect">
            <a:avLst>
              <a:gd name="adj" fmla="val 30000"/>
            </a:avLst>
          </a:prstGeom>
          <a:solidFill>
            <a:srgbClr val="F5F9FC"/>
          </a:solidFill>
          <a:ln w="12700">
            <a:solidFill>
              <a:srgbClr val="F5F9FC"/>
            </a:solidFill>
            <a:prstDash val="solid"/>
          </a:ln>
        </p:spPr>
      </p:sp>
      <p:sp>
        <p:nvSpPr>
          <p:cNvPr id="16" name="Text 11"/>
          <p:cNvSpPr txBox="1"/>
          <p:nvPr/>
        </p:nvSpPr>
        <p:spPr>
          <a:xfrm>
            <a:off x="658368" y="5111496"/>
            <a:ext cx="960120" cy="365760"/>
          </a:xfrm>
          <a:prstGeom prst="rect">
            <a:avLst/>
          </a:prstGeom>
          <a:noFill/>
          <a:ln/>
        </p:spPr>
        <p:txBody>
          <a:bodyPr wrap="square" lIns="0" tIns="0" rIns="0" bIns="0" rtlCol="0" anchor="ctr"/>
          <a:lstStyle/>
          <a:p>
            <a:pPr indent="0" marL="0">
              <a:buNone/>
            </a:pPr>
            <a:r>
              <a:rPr lang="en-US" sz="1050" b="1" dirty="0">
                <a:solidFill>
                  <a:srgbClr val="D2702A"/>
                </a:solidFill>
                <a:latin typeface="Meiryo UI" pitchFamily="34" charset="0"/>
                <a:ea typeface="Meiryo UI" pitchFamily="34" charset="-122"/>
                <a:cs typeface="Meiryo UI" pitchFamily="34" charset="-120"/>
              </a:rPr>
              <a:t>Instagram</a:t>
            </a:r>
            <a:endParaRPr lang="en-US" sz="1050" dirty="0"/>
          </a:p>
        </p:txBody>
      </p:sp>
      <p:sp>
        <p:nvSpPr>
          <p:cNvPr id="17" name="Text 12"/>
          <p:cNvSpPr txBox="1"/>
          <p:nvPr/>
        </p:nvSpPr>
        <p:spPr>
          <a:xfrm>
            <a:off x="1600200" y="5111496"/>
            <a:ext cx="3749040" cy="365760"/>
          </a:xfrm>
          <a:prstGeom prst="rect">
            <a:avLst/>
          </a:prstGeom>
          <a:noFill/>
          <a:ln/>
        </p:spPr>
        <p:txBody>
          <a:bodyPr wrap="square" lIns="0" tIns="0" rIns="0" bIns="0" rtlCol="0" anchor="ctr"/>
          <a:lstStyle/>
          <a:p>
            <a:pPr indent="0" marL="0">
              <a:buNone/>
            </a:pPr>
            <a:r>
              <a:rPr lang="en-US" sz="950" dirty="0">
                <a:solidFill>
                  <a:srgbClr val="26303A"/>
                </a:solidFill>
                <a:latin typeface="Meiryo UI" pitchFamily="34" charset="0"/>
                <a:ea typeface="Meiryo UI" pitchFamily="34" charset="-122"/>
                <a:cs typeface="Meiryo UI" pitchFamily="34" charset="-120"/>
              </a:rPr>
              <a:t>責めない一文で共感をつくり、特長を3つのチップに整理</a:t>
            </a:r>
            <a:endParaRPr lang="en-US" sz="950" dirty="0"/>
          </a:p>
        </p:txBody>
      </p:sp>
      <p:sp>
        <p:nvSpPr>
          <p:cNvPr id="18" name="Shape 13"/>
          <p:cNvSpPr/>
          <p:nvPr/>
        </p:nvSpPr>
        <p:spPr>
          <a:xfrm>
            <a:off x="548640" y="5541264"/>
            <a:ext cx="4846320" cy="365760"/>
          </a:xfrm>
          <a:prstGeom prst="roundRect">
            <a:avLst>
              <a:gd name="adj" fmla="val 30000"/>
            </a:avLst>
          </a:prstGeom>
          <a:solidFill>
            <a:srgbClr val="F5F9FC"/>
          </a:solidFill>
          <a:ln w="12700">
            <a:solidFill>
              <a:srgbClr val="F5F9FC"/>
            </a:solidFill>
            <a:prstDash val="solid"/>
          </a:ln>
        </p:spPr>
      </p:sp>
      <p:sp>
        <p:nvSpPr>
          <p:cNvPr id="19" name="Text 14"/>
          <p:cNvSpPr txBox="1"/>
          <p:nvPr/>
        </p:nvSpPr>
        <p:spPr>
          <a:xfrm>
            <a:off x="658368" y="5541264"/>
            <a:ext cx="960120" cy="365760"/>
          </a:xfrm>
          <a:prstGeom prst="rect">
            <a:avLst/>
          </a:prstGeom>
          <a:noFill/>
          <a:ln/>
        </p:spPr>
        <p:txBody>
          <a:bodyPr wrap="square" lIns="0" tIns="0" rIns="0" bIns="0" rtlCol="0" anchor="ctr"/>
          <a:lstStyle/>
          <a:p>
            <a:pPr indent="0" marL="0">
              <a:buNone/>
            </a:pPr>
            <a:r>
              <a:rPr lang="en-US" sz="1050" b="1" dirty="0">
                <a:solidFill>
                  <a:srgbClr val="D2702A"/>
                </a:solidFill>
                <a:latin typeface="Meiryo UI" pitchFamily="34" charset="0"/>
                <a:ea typeface="Meiryo UI" pitchFamily="34" charset="-122"/>
                <a:cs typeface="Meiryo UI" pitchFamily="34" charset="-120"/>
              </a:rPr>
              <a:t>TikTok</a:t>
            </a:r>
            <a:endParaRPr lang="en-US" sz="1050" dirty="0"/>
          </a:p>
        </p:txBody>
      </p:sp>
      <p:sp>
        <p:nvSpPr>
          <p:cNvPr id="20" name="Text 15"/>
          <p:cNvSpPr txBox="1"/>
          <p:nvPr/>
        </p:nvSpPr>
        <p:spPr>
          <a:xfrm>
            <a:off x="1600200" y="5541264"/>
            <a:ext cx="3749040" cy="365760"/>
          </a:xfrm>
          <a:prstGeom prst="rect">
            <a:avLst/>
          </a:prstGeom>
          <a:noFill/>
          <a:ln/>
        </p:spPr>
        <p:txBody>
          <a:bodyPr wrap="square" lIns="0" tIns="0" rIns="0" bIns="0" rtlCol="0" anchor="ctr"/>
          <a:lstStyle/>
          <a:p>
            <a:pPr indent="0" marL="0">
              <a:buNone/>
            </a:pPr>
            <a:r>
              <a:rPr lang="en-US" sz="950" dirty="0">
                <a:solidFill>
                  <a:srgbClr val="26303A"/>
                </a:solidFill>
                <a:latin typeface="Meiryo UI" pitchFamily="34" charset="0"/>
                <a:ea typeface="Meiryo UI" pitchFamily="34" charset="-122"/>
                <a:cs typeface="Meiryo UI" pitchFamily="34" charset="-120"/>
              </a:rPr>
              <a:t>冒頭2秒の問いかけ＋MiTokの掛け合いで、スクロールを止める</a:t>
            </a:r>
            <a:endParaRPr lang="en-US" sz="950" dirty="0"/>
          </a:p>
        </p:txBody>
      </p:sp>
      <p:sp>
        <p:nvSpPr>
          <p:cNvPr id="21" name="Text 16"/>
          <p:cNvSpPr txBox="1"/>
          <p:nvPr/>
        </p:nvSpPr>
        <p:spPr>
          <a:xfrm>
            <a:off x="548640" y="5989320"/>
            <a:ext cx="11094415" cy="384048"/>
          </a:xfrm>
          <a:prstGeom prst="rect">
            <a:avLst/>
          </a:prstGeom>
          <a:noFill/>
          <a:ln/>
        </p:spPr>
        <p:txBody>
          <a:bodyPr wrap="square" lIns="0" tIns="0" rIns="0" bIns="0" rtlCol="0" anchor="t"/>
          <a:lstStyle/>
          <a:p>
            <a:pPr indent="0" marL="0">
              <a:buNone/>
            </a:pPr>
            <a:r>
              <a:rPr lang="en-US" sz="950" dirty="0">
                <a:solidFill>
                  <a:srgbClr val="637585"/>
                </a:solidFill>
                <a:latin typeface="Meiryo UI" pitchFamily="34" charset="0"/>
                <a:ea typeface="Meiryo UI" pitchFamily="34" charset="-122"/>
                <a:cs typeface="Meiryo UI" pitchFamily="34" charset="-120"/>
              </a:rPr>
              <a:t>※イラスト・アカウント名・再生時間は仮のものです。本制作では貴社のロゴ・写真を使用します。作業現場の写真は、ご依頼者の許諾を得たうえで個人やご住所が特定されない形で使用します。</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長尺解説動画の絵コンテ（ラフ案）：MiTokの掛け合い構成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6" name="Image 0" descr="/tmp/claude-0/-home-user-crow-dunit/6eea73a9-a861-533a-875b-45d20cf557b2/scratchpad/kirei/thumbs/story1.png">    </p:cNvPr>
          <p:cNvPicPr>
            <a:picLocks noChangeAspect="1"/>
          </p:cNvPicPr>
          <p:nvPr/>
        </p:nvPicPr>
        <p:blipFill>
          <a:blip r:embed="rId1"/>
          <a:stretch>
            <a:fillRect/>
          </a:stretch>
        </p:blipFill>
        <p:spPr>
          <a:xfrm>
            <a:off x="548640" y="1417320"/>
            <a:ext cx="3429000" cy="1928813"/>
          </a:xfrm>
          <a:prstGeom prst="rect">
            <a:avLst/>
          </a:prstGeom>
          <a:effectLst>
            <a:outerShdw sx="100000" sy="100000" kx="0" ky="0" algn="bl" rotWithShape="0" blurRad="76200" dist="25400" dir="5400000">
              <a:srgbClr val="000000">
                <a:alpha val="12000"/>
              </a:srgbClr>
            </a:outerShdw>
          </a:effectLst>
        </p:spPr>
      </p:pic>
      <p:sp>
        <p:nvSpPr>
          <p:cNvPr id="7" name="Text 4"/>
          <p:cNvSpPr txBox="1"/>
          <p:nvPr/>
        </p:nvSpPr>
        <p:spPr>
          <a:xfrm>
            <a:off x="548640" y="3419285"/>
            <a:ext cx="3429000" cy="45720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0:00｜悩みの提示　</a:t>
            </a:r>
            <a:pPr indent="0" marL="0">
              <a:buNone/>
            </a:pPr>
            <a:r>
              <a:rPr lang="en-US" sz="1050" dirty="0">
                <a:solidFill>
                  <a:srgbClr val="26303A"/>
                </a:solidFill>
                <a:latin typeface="Meiryo UI" pitchFamily="34" charset="0"/>
                <a:ea typeface="Meiryo UI" pitchFamily="34" charset="-122"/>
                <a:cs typeface="Meiryo UI" pitchFamily="34" charset="-120"/>
              </a:rPr>
              <a:t>ご家族役の不安が共感を呼ぶ</a:t>
            </a:r>
            <a:endParaRPr lang="en-US" sz="1050" dirty="0"/>
          </a:p>
        </p:txBody>
      </p:sp>
      <p:pic>
        <p:nvPicPr>
          <p:cNvPr id="8" name="Image 1" descr="/tmp/claude-0/-home-user-crow-dunit/6eea73a9-a861-533a-875b-45d20cf557b2/scratchpad/kirei/thumbs/story2.png">    </p:cNvPr>
          <p:cNvPicPr>
            <a:picLocks noChangeAspect="1"/>
          </p:cNvPicPr>
          <p:nvPr/>
        </p:nvPicPr>
        <p:blipFill>
          <a:blip r:embed="rId2"/>
          <a:stretch>
            <a:fillRect/>
          </a:stretch>
        </p:blipFill>
        <p:spPr>
          <a:xfrm>
            <a:off x="4251960" y="1417320"/>
            <a:ext cx="3429000" cy="1928813"/>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4251960" y="3419285"/>
            <a:ext cx="3429000" cy="45720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2:00｜大切にしていること　</a:t>
            </a:r>
            <a:pPr indent="0" marL="0">
              <a:buNone/>
            </a:pPr>
            <a:r>
              <a:rPr lang="en-US" sz="1050" dirty="0">
                <a:solidFill>
                  <a:srgbClr val="26303A"/>
                </a:solidFill>
                <a:latin typeface="Meiryo UI" pitchFamily="34" charset="0"/>
                <a:ea typeface="Meiryo UI" pitchFamily="34" charset="-122"/>
                <a:cs typeface="Meiryo UI" pitchFamily="34" charset="-120"/>
              </a:rPr>
              <a:t>代表役が“嘘のない姿勢”を3点で語る</a:t>
            </a:r>
            <a:endParaRPr lang="en-US" sz="1050" dirty="0"/>
          </a:p>
        </p:txBody>
      </p:sp>
      <p:pic>
        <p:nvPicPr>
          <p:cNvPr id="10" name="Image 2" descr="/tmp/claude-0/-home-user-crow-dunit/6eea73a9-a861-533a-875b-45d20cf557b2/scratchpad/kirei/thumbs/story3.png">    </p:cNvPr>
          <p:cNvPicPr>
            <a:picLocks noChangeAspect="1"/>
          </p:cNvPicPr>
          <p:nvPr/>
        </p:nvPicPr>
        <p:blipFill>
          <a:blip r:embed="rId3"/>
          <a:stretch>
            <a:fillRect/>
          </a:stretch>
        </p:blipFill>
        <p:spPr>
          <a:xfrm>
            <a:off x="54864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548640" y="5915025"/>
            <a:ext cx="3429000" cy="45720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5:00｜作業の流れ　</a:t>
            </a:r>
            <a:pPr indent="0" marL="0">
              <a:buNone/>
            </a:pPr>
            <a:r>
              <a:rPr lang="en-US" sz="1050" dirty="0">
                <a:solidFill>
                  <a:srgbClr val="26303A"/>
                </a:solidFill>
                <a:latin typeface="Meiryo UI" pitchFamily="34" charset="0"/>
                <a:ea typeface="Meiryo UI" pitchFamily="34" charset="-122"/>
                <a:cs typeface="Meiryo UI" pitchFamily="34" charset="-120"/>
              </a:rPr>
              <a:t>5ステップで不安を解消</a:t>
            </a:r>
            <a:endParaRPr lang="en-US" sz="1050" dirty="0"/>
          </a:p>
        </p:txBody>
      </p:sp>
      <p:pic>
        <p:nvPicPr>
          <p:cNvPr id="12" name="Image 3" descr="/tmp/claude-0/-home-user-crow-dunit/6eea73a9-a861-533a-875b-45d20cf557b2/scratchpad/kirei/thumbs/story4.png">    </p:cNvPr>
          <p:cNvPicPr>
            <a:picLocks noChangeAspect="1"/>
          </p:cNvPicPr>
          <p:nvPr/>
        </p:nvPicPr>
        <p:blipFill>
          <a:blip r:embed="rId4"/>
          <a:stretch>
            <a:fillRect/>
          </a:stretch>
        </p:blipFill>
        <p:spPr>
          <a:xfrm>
            <a:off x="425196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3" name="Text 7"/>
          <p:cNvSpPr txBox="1"/>
          <p:nvPr/>
        </p:nvSpPr>
        <p:spPr>
          <a:xfrm>
            <a:off x="4251960" y="5915025"/>
            <a:ext cx="3429000" cy="457200"/>
          </a:xfrm>
          <a:prstGeom prst="rect">
            <a:avLst/>
          </a:prstGeom>
          <a:noFill/>
          <a:ln/>
        </p:spPr>
        <p:txBody>
          <a:bodyPr wrap="square" lIns="0" tIns="0" rIns="0" bIns="0" rtlCol="0" anchor="t"/>
          <a:lstStyle/>
          <a:p>
            <a:pPr indent="0" marL="0">
              <a:buNone/>
            </a:pPr>
            <a:r>
              <a:rPr lang="en-US" sz="1050" b="1" dirty="0">
                <a:solidFill>
                  <a:srgbClr val="1F5F8B"/>
                </a:solidFill>
                <a:latin typeface="Meiryo UI" pitchFamily="34" charset="0"/>
                <a:ea typeface="Meiryo UI" pitchFamily="34" charset="-122"/>
                <a:cs typeface="Meiryo UI" pitchFamily="34" charset="-120"/>
              </a:rPr>
              <a:t>8:00｜お問い合わせ　</a:t>
            </a:r>
            <a:pPr indent="0" marL="0">
              <a:buNone/>
            </a:pPr>
            <a:r>
              <a:rPr lang="en-US" sz="1050" dirty="0">
                <a:solidFill>
                  <a:srgbClr val="26303A"/>
                </a:solidFill>
                <a:latin typeface="Meiryo UI" pitchFamily="34" charset="0"/>
                <a:ea typeface="Meiryo UI" pitchFamily="34" charset="-122"/>
                <a:cs typeface="Meiryo UI" pitchFamily="34" charset="-120"/>
              </a:rPr>
              <a:t>電話・LINEの2択で行動を促す</a:t>
            </a:r>
            <a:endParaRPr lang="en-US" sz="1050" dirty="0"/>
          </a:p>
        </p:txBody>
      </p:sp>
      <p:sp>
        <p:nvSpPr>
          <p:cNvPr id="14" name="Shape 8"/>
          <p:cNvSpPr/>
          <p:nvPr/>
        </p:nvSpPr>
        <p:spPr>
          <a:xfrm>
            <a:off x="8001000" y="1417320"/>
            <a:ext cx="3642055" cy="4846320"/>
          </a:xfrm>
          <a:prstGeom prst="roundRect">
            <a:avLst>
              <a:gd name="adj" fmla="val 3013"/>
            </a:avLst>
          </a:prstGeom>
          <a:solidFill>
            <a:srgbClr val="EAF2F8"/>
          </a:solidFill>
          <a:ln w="12700">
            <a:solidFill>
              <a:srgbClr val="EAF2F8"/>
            </a:solidFill>
            <a:prstDash val="solid"/>
          </a:ln>
        </p:spPr>
      </p:sp>
      <p:sp>
        <p:nvSpPr>
          <p:cNvPr id="15" name="Text 9"/>
          <p:cNvSpPr txBox="1"/>
          <p:nvPr/>
        </p:nvSpPr>
        <p:spPr>
          <a:xfrm>
            <a:off x="8275320" y="1600200"/>
            <a:ext cx="3093415" cy="365760"/>
          </a:xfrm>
          <a:prstGeom prst="rect">
            <a:avLst/>
          </a:prstGeom>
          <a:noFill/>
          <a:ln/>
        </p:spPr>
        <p:txBody>
          <a:bodyPr wrap="square" lIns="0" tIns="0" rIns="0" bIns="0" rtlCol="0" anchor="t"/>
          <a:lstStyle/>
          <a:p>
            <a:pPr indent="0" marL="0">
              <a:buNone/>
            </a:pPr>
            <a:r>
              <a:rPr lang="en-US" sz="1500" b="1" dirty="0">
                <a:solidFill>
                  <a:srgbClr val="1F5F8B"/>
                </a:solidFill>
                <a:latin typeface="Meiryo UI" pitchFamily="34" charset="0"/>
                <a:ea typeface="Meiryo UI" pitchFamily="34" charset="-122"/>
                <a:cs typeface="Meiryo UI" pitchFamily="34" charset="-120"/>
              </a:rPr>
              <a:t>構成のポイント</a:t>
            </a:r>
            <a:endParaRPr lang="en-US" sz="1500" dirty="0"/>
          </a:p>
        </p:txBody>
      </p:sp>
      <p:sp>
        <p:nvSpPr>
          <p:cNvPr id="16" name="Shape 10"/>
          <p:cNvSpPr/>
          <p:nvPr/>
        </p:nvSpPr>
        <p:spPr>
          <a:xfrm>
            <a:off x="8275320" y="2103120"/>
            <a:ext cx="384048" cy="384048"/>
          </a:xfrm>
          <a:prstGeom prst="ellipse">
            <a:avLst/>
          </a:prstGeom>
          <a:solidFill>
            <a:srgbClr val="D2702A"/>
          </a:solidFill>
          <a:ln w="12700">
            <a:solidFill>
              <a:srgbClr val="D2702A"/>
            </a:solidFill>
            <a:prstDash val="solid"/>
          </a:ln>
        </p:spPr>
      </p:sp>
      <p:sp>
        <p:nvSpPr>
          <p:cNvPr id="17" name="Text 11"/>
          <p:cNvSpPr txBox="1"/>
          <p:nvPr/>
        </p:nvSpPr>
        <p:spPr>
          <a:xfrm>
            <a:off x="827532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8" name="Text 12"/>
          <p:cNvSpPr txBox="1"/>
          <p:nvPr/>
        </p:nvSpPr>
        <p:spPr>
          <a:xfrm>
            <a:off x="8778240" y="2103120"/>
            <a:ext cx="2636215" cy="384048"/>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顔が見える安心感</a:t>
            </a:r>
            <a:endParaRPr lang="en-US" sz="1300" dirty="0"/>
          </a:p>
        </p:txBody>
      </p:sp>
      <p:sp>
        <p:nvSpPr>
          <p:cNvPr id="19" name="Text 13"/>
          <p:cNvSpPr txBox="1"/>
          <p:nvPr/>
        </p:nvSpPr>
        <p:spPr>
          <a:xfrm>
            <a:off x="8778240" y="2514600"/>
            <a:ext cx="2636215" cy="822960"/>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代表役が直接語りかける形式で、見積もりの前から人柄と誠実さが伝わる</a:t>
            </a:r>
            <a:endParaRPr lang="en-US" sz="1100" dirty="0"/>
          </a:p>
        </p:txBody>
      </p:sp>
      <p:sp>
        <p:nvSpPr>
          <p:cNvPr id="20" name="Shape 14"/>
          <p:cNvSpPr/>
          <p:nvPr/>
        </p:nvSpPr>
        <p:spPr>
          <a:xfrm>
            <a:off x="8275320" y="3429000"/>
            <a:ext cx="384048" cy="384048"/>
          </a:xfrm>
          <a:prstGeom prst="ellipse">
            <a:avLst/>
          </a:prstGeom>
          <a:solidFill>
            <a:srgbClr val="D2702A"/>
          </a:solidFill>
          <a:ln w="12700">
            <a:solidFill>
              <a:srgbClr val="D2702A"/>
            </a:solidFill>
            <a:prstDash val="solid"/>
          </a:ln>
        </p:spPr>
      </p:sp>
      <p:sp>
        <p:nvSpPr>
          <p:cNvPr id="21" name="Text 15"/>
          <p:cNvSpPr txBox="1"/>
          <p:nvPr/>
        </p:nvSpPr>
        <p:spPr>
          <a:xfrm>
            <a:off x="8275320"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22" name="Text 16"/>
          <p:cNvSpPr txBox="1"/>
          <p:nvPr/>
        </p:nvSpPr>
        <p:spPr>
          <a:xfrm>
            <a:off x="8778240" y="3429000"/>
            <a:ext cx="2636215" cy="384048"/>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テロップで要点を固定</a:t>
            </a:r>
            <a:endParaRPr lang="en-US" sz="1300" dirty="0"/>
          </a:p>
        </p:txBody>
      </p:sp>
      <p:sp>
        <p:nvSpPr>
          <p:cNvPr id="23" name="Text 17"/>
          <p:cNvSpPr txBox="1"/>
          <p:nvPr/>
        </p:nvSpPr>
        <p:spPr>
          <a:xfrm>
            <a:off x="8778240" y="3840480"/>
            <a:ext cx="2636215" cy="822960"/>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音声なしで見られても伝わるよう、各シーンの結論を下部テロップに表示</a:t>
            </a:r>
            <a:endParaRPr lang="en-US" sz="1100" dirty="0"/>
          </a:p>
        </p:txBody>
      </p:sp>
      <p:sp>
        <p:nvSpPr>
          <p:cNvPr id="24" name="Shape 18"/>
          <p:cNvSpPr/>
          <p:nvPr/>
        </p:nvSpPr>
        <p:spPr>
          <a:xfrm>
            <a:off x="8275320" y="4754880"/>
            <a:ext cx="384048" cy="384048"/>
          </a:xfrm>
          <a:prstGeom prst="ellipse">
            <a:avLst/>
          </a:prstGeom>
          <a:solidFill>
            <a:srgbClr val="D2702A"/>
          </a:solidFill>
          <a:ln w="12700">
            <a:solidFill>
              <a:srgbClr val="D2702A"/>
            </a:solidFill>
            <a:prstDash val="solid"/>
          </a:ln>
        </p:spPr>
      </p:sp>
      <p:sp>
        <p:nvSpPr>
          <p:cNvPr id="25" name="Text 19"/>
          <p:cNvSpPr txBox="1"/>
          <p:nvPr/>
        </p:nvSpPr>
        <p:spPr>
          <a:xfrm>
            <a:off x="8275320" y="4754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6" name="Text 20"/>
          <p:cNvSpPr txBox="1"/>
          <p:nvPr/>
        </p:nvSpPr>
        <p:spPr>
          <a:xfrm>
            <a:off x="8778240" y="4754880"/>
            <a:ext cx="2636215" cy="384048"/>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1本で何度も使える</a:t>
            </a:r>
            <a:endParaRPr lang="en-US" sz="1300" dirty="0"/>
          </a:p>
        </p:txBody>
      </p:sp>
      <p:sp>
        <p:nvSpPr>
          <p:cNvPr id="27" name="Text 21"/>
          <p:cNvSpPr txBox="1"/>
          <p:nvPr/>
        </p:nvSpPr>
        <p:spPr>
          <a:xfrm>
            <a:off x="8778240" y="5166360"/>
            <a:ext cx="2636215" cy="822960"/>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見積もり前の送付、紹介元への案内、HP・Googleビジネスプロフィールに同じ動画を使い回せる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認知から問い合わせ・成約までのファネル設計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3703320" y="1371600"/>
            <a:ext cx="2011680" cy="274320"/>
          </a:xfrm>
          <a:prstGeom prst="rect">
            <a:avLst/>
          </a:prstGeom>
          <a:noFill/>
          <a:ln/>
        </p:spPr>
        <p:txBody>
          <a:bodyPr wrap="square" lIns="0" tIns="0" rIns="0" bIns="0" rtlCol="0" anchor="t"/>
          <a:lstStyle/>
          <a:p>
            <a:pPr indent="0" marL="0">
              <a:buNone/>
            </a:pPr>
            <a:r>
              <a:rPr lang="en-US" sz="1100" b="1" dirty="0">
                <a:solidFill>
                  <a:srgbClr val="637585"/>
                </a:solidFill>
                <a:latin typeface="Meiryo UI" pitchFamily="34" charset="0"/>
                <a:ea typeface="Meiryo UI" pitchFamily="34" charset="-122"/>
                <a:cs typeface="Meiryo UI" pitchFamily="34" charset="-120"/>
              </a:rPr>
              <a:t>主な接点</a:t>
            </a:r>
            <a:endParaRPr lang="en-US" sz="1100" dirty="0"/>
          </a:p>
        </p:txBody>
      </p:sp>
      <p:sp>
        <p:nvSpPr>
          <p:cNvPr id="7" name="Text 5"/>
          <p:cNvSpPr txBox="1"/>
          <p:nvPr/>
        </p:nvSpPr>
        <p:spPr>
          <a:xfrm>
            <a:off x="5806440" y="1371600"/>
            <a:ext cx="1965960" cy="274320"/>
          </a:xfrm>
          <a:prstGeom prst="rect">
            <a:avLst/>
          </a:prstGeom>
          <a:noFill/>
          <a:ln/>
        </p:spPr>
        <p:txBody>
          <a:bodyPr wrap="square" lIns="0" tIns="0" rIns="0" bIns="0" rtlCol="0" anchor="t"/>
          <a:lstStyle/>
          <a:p>
            <a:pPr indent="0" marL="0">
              <a:buNone/>
            </a:pPr>
            <a:r>
              <a:rPr lang="en-US" sz="1100" b="1" dirty="0">
                <a:solidFill>
                  <a:srgbClr val="637585"/>
                </a:solidFill>
                <a:latin typeface="Meiryo UI" pitchFamily="34" charset="0"/>
                <a:ea typeface="Meiryo UI" pitchFamily="34" charset="-122"/>
                <a:cs typeface="Meiryo UI" pitchFamily="34" charset="-120"/>
              </a:rPr>
              <a:t>動画の型</a:t>
            </a:r>
            <a:endParaRPr lang="en-US" sz="1100" dirty="0"/>
          </a:p>
        </p:txBody>
      </p:sp>
      <p:sp>
        <p:nvSpPr>
          <p:cNvPr id="8" name="Text 6"/>
          <p:cNvSpPr txBox="1"/>
          <p:nvPr/>
        </p:nvSpPr>
        <p:spPr>
          <a:xfrm>
            <a:off x="7863840" y="1371600"/>
            <a:ext cx="2057400" cy="274320"/>
          </a:xfrm>
          <a:prstGeom prst="rect">
            <a:avLst/>
          </a:prstGeom>
          <a:noFill/>
          <a:ln/>
        </p:spPr>
        <p:txBody>
          <a:bodyPr wrap="square" lIns="0" tIns="0" rIns="0" bIns="0" rtlCol="0" anchor="t"/>
          <a:lstStyle/>
          <a:p>
            <a:pPr indent="0" marL="0">
              <a:buNone/>
            </a:pPr>
            <a:r>
              <a:rPr lang="en-US" sz="1100" b="1" dirty="0">
                <a:solidFill>
                  <a:srgbClr val="637585"/>
                </a:solidFill>
                <a:latin typeface="Meiryo UI" pitchFamily="34" charset="0"/>
                <a:ea typeface="Meiryo UI" pitchFamily="34" charset="-122"/>
                <a:cs typeface="Meiryo UI" pitchFamily="34" charset="-120"/>
              </a:rPr>
              <a:t>次の行動への導線</a:t>
            </a:r>
            <a:endParaRPr lang="en-US" sz="1100" dirty="0"/>
          </a:p>
        </p:txBody>
      </p:sp>
      <p:sp>
        <p:nvSpPr>
          <p:cNvPr id="9" name="Text 7"/>
          <p:cNvSpPr txBox="1"/>
          <p:nvPr/>
        </p:nvSpPr>
        <p:spPr>
          <a:xfrm>
            <a:off x="10012680" y="1371600"/>
            <a:ext cx="1627632" cy="274320"/>
          </a:xfrm>
          <a:prstGeom prst="rect">
            <a:avLst/>
          </a:prstGeom>
          <a:noFill/>
          <a:ln/>
        </p:spPr>
        <p:txBody>
          <a:bodyPr wrap="square" lIns="0" tIns="0" rIns="0" bIns="0" rtlCol="0" anchor="t"/>
          <a:lstStyle/>
          <a:p>
            <a:pPr indent="0" marL="0">
              <a:buNone/>
            </a:pPr>
            <a:r>
              <a:rPr lang="en-US" sz="1100" b="1" dirty="0">
                <a:solidFill>
                  <a:srgbClr val="637585"/>
                </a:solidFill>
                <a:latin typeface="Meiryo UI" pitchFamily="34" charset="0"/>
                <a:ea typeface="Meiryo UI" pitchFamily="34" charset="-122"/>
                <a:cs typeface="Meiryo UI" pitchFamily="34" charset="-120"/>
              </a:rPr>
              <a:t>測定指標</a:t>
            </a:r>
            <a:endParaRPr lang="en-US" sz="1100" dirty="0"/>
          </a:p>
        </p:txBody>
      </p:sp>
      <p:sp>
        <p:nvSpPr>
          <p:cNvPr id="10" name="Shape 8"/>
          <p:cNvSpPr/>
          <p:nvPr/>
        </p:nvSpPr>
        <p:spPr>
          <a:xfrm>
            <a:off x="594360" y="1719072"/>
            <a:ext cx="2926080" cy="640080"/>
          </a:xfrm>
          <a:prstGeom prst="roundRect">
            <a:avLst>
              <a:gd name="adj" fmla="val 14286"/>
            </a:avLst>
          </a:prstGeom>
          <a:solidFill>
            <a:srgbClr val="1F5F8B"/>
          </a:solidFill>
          <a:ln w="12700">
            <a:solidFill>
              <a:srgbClr val="1F5F8B"/>
            </a:solidFill>
            <a:prstDash val="solid"/>
          </a:ln>
        </p:spPr>
      </p:sp>
      <p:sp>
        <p:nvSpPr>
          <p:cNvPr id="11" name="Text 9"/>
          <p:cNvSpPr txBox="1"/>
          <p:nvPr/>
        </p:nvSpPr>
        <p:spPr>
          <a:xfrm>
            <a:off x="594360" y="1719072"/>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認知</a:t>
            </a:r>
            <a:endParaRPr lang="en-US" sz="1400" dirty="0"/>
          </a:p>
        </p:txBody>
      </p:sp>
      <p:sp>
        <p:nvSpPr>
          <p:cNvPr id="12" name="Shape 10"/>
          <p:cNvSpPr/>
          <p:nvPr/>
        </p:nvSpPr>
        <p:spPr>
          <a:xfrm>
            <a:off x="3566160" y="1719072"/>
            <a:ext cx="8076895" cy="640080"/>
          </a:xfrm>
          <a:prstGeom prst="roundRect">
            <a:avLst>
              <a:gd name="adj" fmla="val 11429"/>
            </a:avLst>
          </a:prstGeom>
          <a:solidFill>
            <a:srgbClr val="F5F9FC"/>
          </a:solidFill>
          <a:ln w="9525">
            <a:solidFill>
              <a:srgbClr val="DCE7F0"/>
            </a:solidFill>
            <a:prstDash val="solid"/>
          </a:ln>
        </p:spPr>
      </p:sp>
      <p:sp>
        <p:nvSpPr>
          <p:cNvPr id="13" name="Text 11"/>
          <p:cNvSpPr txBox="1"/>
          <p:nvPr/>
        </p:nvSpPr>
        <p:spPr>
          <a:xfrm>
            <a:off x="3703320" y="1719072"/>
            <a:ext cx="201168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TikTok／ショート／リール</a:t>
            </a:r>
            <a:endParaRPr lang="en-US" sz="1150" dirty="0"/>
          </a:p>
        </p:txBody>
      </p:sp>
      <p:sp>
        <p:nvSpPr>
          <p:cNvPr id="14" name="Text 12"/>
          <p:cNvSpPr txBox="1"/>
          <p:nvPr/>
        </p:nvSpPr>
        <p:spPr>
          <a:xfrm>
            <a:off x="5806440" y="1719072"/>
            <a:ext cx="196596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縦型ショート</a:t>
            </a:r>
            <a:endParaRPr lang="en-US" sz="1150" dirty="0"/>
          </a:p>
        </p:txBody>
      </p:sp>
      <p:sp>
        <p:nvSpPr>
          <p:cNvPr id="15" name="Text 13"/>
          <p:cNvSpPr txBox="1"/>
          <p:nvPr/>
        </p:nvSpPr>
        <p:spPr>
          <a:xfrm>
            <a:off x="7863840" y="1719072"/>
            <a:ext cx="205740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プロフィール→YouTube・Instagram</a:t>
            </a:r>
            <a:endParaRPr lang="en-US" sz="1150" dirty="0"/>
          </a:p>
        </p:txBody>
      </p:sp>
      <p:sp>
        <p:nvSpPr>
          <p:cNvPr id="16" name="Text 14"/>
          <p:cNvSpPr txBox="1"/>
          <p:nvPr/>
        </p:nvSpPr>
        <p:spPr>
          <a:xfrm>
            <a:off x="10012680" y="1719072"/>
            <a:ext cx="1627632" cy="640080"/>
          </a:xfrm>
          <a:prstGeom prst="rect">
            <a:avLst/>
          </a:prstGeom>
          <a:noFill/>
          <a:ln/>
        </p:spPr>
        <p:txBody>
          <a:bodyPr wrap="square" lIns="0" tIns="0" rIns="0" bIns="0" rtlCol="0" anchor="ctr"/>
          <a:lstStyle/>
          <a:p>
            <a:pPr indent="0" marL="0">
              <a:buNone/>
            </a:pPr>
            <a:r>
              <a:rPr lang="en-US" sz="1150" b="1" dirty="0">
                <a:solidFill>
                  <a:srgbClr val="1F5F8B"/>
                </a:solidFill>
                <a:latin typeface="Meiryo UI" pitchFamily="34" charset="0"/>
                <a:ea typeface="Meiryo UI" pitchFamily="34" charset="-122"/>
                <a:cs typeface="Meiryo UI" pitchFamily="34" charset="-120"/>
              </a:rPr>
              <a:t>再生数・リーチ数</a:t>
            </a:r>
            <a:endParaRPr lang="en-US" sz="1150" dirty="0"/>
          </a:p>
        </p:txBody>
      </p:sp>
      <p:sp>
        <p:nvSpPr>
          <p:cNvPr id="17" name="Shape 15"/>
          <p:cNvSpPr/>
          <p:nvPr/>
        </p:nvSpPr>
        <p:spPr>
          <a:xfrm>
            <a:off x="758952" y="2478024"/>
            <a:ext cx="2596896" cy="640080"/>
          </a:xfrm>
          <a:prstGeom prst="roundRect">
            <a:avLst>
              <a:gd name="adj" fmla="val 14286"/>
            </a:avLst>
          </a:prstGeom>
          <a:solidFill>
            <a:srgbClr val="1F5F8B">
              <a:alpha val="88000"/>
            </a:srgbClr>
          </a:solidFill>
          <a:ln w="12700">
            <a:solidFill>
              <a:srgbClr val="1F5F8B"/>
            </a:solidFill>
            <a:prstDash val="solid"/>
          </a:ln>
        </p:spPr>
      </p:sp>
      <p:sp>
        <p:nvSpPr>
          <p:cNvPr id="18" name="Text 16"/>
          <p:cNvSpPr txBox="1"/>
          <p:nvPr/>
        </p:nvSpPr>
        <p:spPr>
          <a:xfrm>
            <a:off x="758952" y="2478024"/>
            <a:ext cx="25968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興味・関心</a:t>
            </a:r>
            <a:endParaRPr lang="en-US" sz="1400" dirty="0"/>
          </a:p>
        </p:txBody>
      </p:sp>
      <p:sp>
        <p:nvSpPr>
          <p:cNvPr id="19" name="Shape 17"/>
          <p:cNvSpPr/>
          <p:nvPr/>
        </p:nvSpPr>
        <p:spPr>
          <a:xfrm>
            <a:off x="3566160" y="2478024"/>
            <a:ext cx="8076895" cy="640080"/>
          </a:xfrm>
          <a:prstGeom prst="roundRect">
            <a:avLst>
              <a:gd name="adj" fmla="val 11429"/>
            </a:avLst>
          </a:prstGeom>
          <a:solidFill>
            <a:srgbClr val="FFFFFF"/>
          </a:solidFill>
          <a:ln w="9525">
            <a:solidFill>
              <a:srgbClr val="DCE7F0"/>
            </a:solidFill>
            <a:prstDash val="solid"/>
          </a:ln>
        </p:spPr>
      </p:sp>
      <p:sp>
        <p:nvSpPr>
          <p:cNvPr id="20" name="Text 18"/>
          <p:cNvSpPr txBox="1"/>
          <p:nvPr/>
        </p:nvSpPr>
        <p:spPr>
          <a:xfrm>
            <a:off x="3703320" y="2478024"/>
            <a:ext cx="201168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Instagram／YouTube</a:t>
            </a:r>
            <a:endParaRPr lang="en-US" sz="1150" dirty="0"/>
          </a:p>
        </p:txBody>
      </p:sp>
      <p:sp>
        <p:nvSpPr>
          <p:cNvPr id="21" name="Text 19"/>
          <p:cNvSpPr txBox="1"/>
          <p:nvPr/>
        </p:nvSpPr>
        <p:spPr>
          <a:xfrm>
            <a:off x="5806440" y="2478024"/>
            <a:ext cx="196596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デザイン重視／長尺解説</a:t>
            </a:r>
            <a:endParaRPr lang="en-US" sz="1150" dirty="0"/>
          </a:p>
        </p:txBody>
      </p:sp>
      <p:sp>
        <p:nvSpPr>
          <p:cNvPr id="22" name="Text 20"/>
          <p:cNvSpPr txBox="1"/>
          <p:nvPr/>
        </p:nvSpPr>
        <p:spPr>
          <a:xfrm>
            <a:off x="7863840" y="2478024"/>
            <a:ext cx="205740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フォロー・保存・登録</a:t>
            </a:r>
            <a:endParaRPr lang="en-US" sz="1150" dirty="0"/>
          </a:p>
        </p:txBody>
      </p:sp>
      <p:sp>
        <p:nvSpPr>
          <p:cNvPr id="23" name="Text 21"/>
          <p:cNvSpPr txBox="1"/>
          <p:nvPr/>
        </p:nvSpPr>
        <p:spPr>
          <a:xfrm>
            <a:off x="10012680" y="2478024"/>
            <a:ext cx="1627632" cy="640080"/>
          </a:xfrm>
          <a:prstGeom prst="rect">
            <a:avLst/>
          </a:prstGeom>
          <a:noFill/>
          <a:ln/>
        </p:spPr>
        <p:txBody>
          <a:bodyPr wrap="square" lIns="0" tIns="0" rIns="0" bIns="0" rtlCol="0" anchor="ctr"/>
          <a:lstStyle/>
          <a:p>
            <a:pPr indent="0" marL="0">
              <a:buNone/>
            </a:pPr>
            <a:r>
              <a:rPr lang="en-US" sz="1150" b="1" dirty="0">
                <a:solidFill>
                  <a:srgbClr val="1F5F8B"/>
                </a:solidFill>
                <a:latin typeface="Meiryo UI" pitchFamily="34" charset="0"/>
                <a:ea typeface="Meiryo UI" pitchFamily="34" charset="-122"/>
                <a:cs typeface="Meiryo UI" pitchFamily="34" charset="-120"/>
              </a:rPr>
              <a:t>保存数・視聴維持率</a:t>
            </a:r>
            <a:endParaRPr lang="en-US" sz="1150" dirty="0"/>
          </a:p>
        </p:txBody>
      </p:sp>
      <p:sp>
        <p:nvSpPr>
          <p:cNvPr id="24" name="Shape 22"/>
          <p:cNvSpPr/>
          <p:nvPr/>
        </p:nvSpPr>
        <p:spPr>
          <a:xfrm>
            <a:off x="923544" y="3236976"/>
            <a:ext cx="2267712" cy="640080"/>
          </a:xfrm>
          <a:prstGeom prst="roundRect">
            <a:avLst>
              <a:gd name="adj" fmla="val 14286"/>
            </a:avLst>
          </a:prstGeom>
          <a:solidFill>
            <a:srgbClr val="1F5F8B">
              <a:alpha val="76000"/>
            </a:srgbClr>
          </a:solidFill>
          <a:ln w="12700">
            <a:solidFill>
              <a:srgbClr val="1F5F8B"/>
            </a:solidFill>
            <a:prstDash val="solid"/>
          </a:ln>
        </p:spPr>
      </p:sp>
      <p:sp>
        <p:nvSpPr>
          <p:cNvPr id="25" name="Text 23"/>
          <p:cNvSpPr txBox="1"/>
          <p:nvPr/>
        </p:nvSpPr>
        <p:spPr>
          <a:xfrm>
            <a:off x="923544" y="3236976"/>
            <a:ext cx="226771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比較・検討</a:t>
            </a:r>
            <a:endParaRPr lang="en-US" sz="1400" dirty="0"/>
          </a:p>
        </p:txBody>
      </p:sp>
      <p:sp>
        <p:nvSpPr>
          <p:cNvPr id="26" name="Shape 24"/>
          <p:cNvSpPr/>
          <p:nvPr/>
        </p:nvSpPr>
        <p:spPr>
          <a:xfrm>
            <a:off x="3566160" y="3236976"/>
            <a:ext cx="8076895" cy="640080"/>
          </a:xfrm>
          <a:prstGeom prst="roundRect">
            <a:avLst>
              <a:gd name="adj" fmla="val 11429"/>
            </a:avLst>
          </a:prstGeom>
          <a:solidFill>
            <a:srgbClr val="F5F9FC"/>
          </a:solidFill>
          <a:ln w="9525">
            <a:solidFill>
              <a:srgbClr val="DCE7F0"/>
            </a:solidFill>
            <a:prstDash val="solid"/>
          </a:ln>
        </p:spPr>
      </p:sp>
      <p:sp>
        <p:nvSpPr>
          <p:cNvPr id="27" name="Text 25"/>
          <p:cNvSpPr txBox="1"/>
          <p:nvPr/>
        </p:nvSpPr>
        <p:spPr>
          <a:xfrm>
            <a:off x="3703320" y="3236976"/>
            <a:ext cx="201168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YouTube／HP／Googleマップ</a:t>
            </a:r>
            <a:endParaRPr lang="en-US" sz="1150" dirty="0"/>
          </a:p>
        </p:txBody>
      </p:sp>
      <p:sp>
        <p:nvSpPr>
          <p:cNvPr id="28" name="Text 26"/>
          <p:cNvSpPr txBox="1"/>
          <p:nvPr/>
        </p:nvSpPr>
        <p:spPr>
          <a:xfrm>
            <a:off x="5806440" y="3236976"/>
            <a:ext cx="196596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長尺解説・料金の考え方</a:t>
            </a:r>
            <a:endParaRPr lang="en-US" sz="1150" dirty="0"/>
          </a:p>
        </p:txBody>
      </p:sp>
      <p:sp>
        <p:nvSpPr>
          <p:cNvPr id="29" name="Text 27"/>
          <p:cNvSpPr txBox="1"/>
          <p:nvPr/>
        </p:nvSpPr>
        <p:spPr>
          <a:xfrm>
            <a:off x="7863840" y="3236976"/>
            <a:ext cx="205740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LINE・電話・フォーム</a:t>
            </a:r>
            <a:endParaRPr lang="en-US" sz="1150" dirty="0"/>
          </a:p>
        </p:txBody>
      </p:sp>
      <p:sp>
        <p:nvSpPr>
          <p:cNvPr id="30" name="Text 28"/>
          <p:cNvSpPr txBox="1"/>
          <p:nvPr/>
        </p:nvSpPr>
        <p:spPr>
          <a:xfrm>
            <a:off x="10012680" y="3236976"/>
            <a:ext cx="1627632" cy="640080"/>
          </a:xfrm>
          <a:prstGeom prst="rect">
            <a:avLst/>
          </a:prstGeom>
          <a:noFill/>
          <a:ln/>
        </p:spPr>
        <p:txBody>
          <a:bodyPr wrap="square" lIns="0" tIns="0" rIns="0" bIns="0" rtlCol="0" anchor="ctr"/>
          <a:lstStyle/>
          <a:p>
            <a:pPr indent="0" marL="0">
              <a:buNone/>
            </a:pPr>
            <a:r>
              <a:rPr lang="en-US" sz="1150" b="1" dirty="0">
                <a:solidFill>
                  <a:srgbClr val="1F5F8B"/>
                </a:solidFill>
                <a:latin typeface="Meiryo UI" pitchFamily="34" charset="0"/>
                <a:ea typeface="Meiryo UI" pitchFamily="34" charset="-122"/>
                <a:cs typeface="Meiryo UI" pitchFamily="34" charset="-120"/>
              </a:rPr>
              <a:t>問い合わせ数</a:t>
            </a:r>
            <a:endParaRPr lang="en-US" sz="1150" dirty="0"/>
          </a:p>
        </p:txBody>
      </p:sp>
      <p:sp>
        <p:nvSpPr>
          <p:cNvPr id="31" name="Shape 29"/>
          <p:cNvSpPr/>
          <p:nvPr/>
        </p:nvSpPr>
        <p:spPr>
          <a:xfrm>
            <a:off x="1088136" y="3995928"/>
            <a:ext cx="1938528" cy="640080"/>
          </a:xfrm>
          <a:prstGeom prst="roundRect">
            <a:avLst>
              <a:gd name="adj" fmla="val 14286"/>
            </a:avLst>
          </a:prstGeom>
          <a:solidFill>
            <a:srgbClr val="D2702A"/>
          </a:solidFill>
          <a:ln w="12700">
            <a:solidFill>
              <a:srgbClr val="D2702A"/>
            </a:solidFill>
            <a:prstDash val="solid"/>
          </a:ln>
        </p:spPr>
      </p:sp>
      <p:sp>
        <p:nvSpPr>
          <p:cNvPr id="32" name="Text 30"/>
          <p:cNvSpPr txBox="1"/>
          <p:nvPr/>
        </p:nvSpPr>
        <p:spPr>
          <a:xfrm>
            <a:off x="1088136" y="3995928"/>
            <a:ext cx="193852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問い合わせ</a:t>
            </a:r>
            <a:endParaRPr lang="en-US" sz="1400" dirty="0"/>
          </a:p>
        </p:txBody>
      </p:sp>
      <p:sp>
        <p:nvSpPr>
          <p:cNvPr id="33" name="Shape 31"/>
          <p:cNvSpPr/>
          <p:nvPr/>
        </p:nvSpPr>
        <p:spPr>
          <a:xfrm>
            <a:off x="3566160" y="3995928"/>
            <a:ext cx="8076895" cy="640080"/>
          </a:xfrm>
          <a:prstGeom prst="roundRect">
            <a:avLst>
              <a:gd name="adj" fmla="val 11429"/>
            </a:avLst>
          </a:prstGeom>
          <a:solidFill>
            <a:srgbClr val="FFFFFF"/>
          </a:solidFill>
          <a:ln w="9525">
            <a:solidFill>
              <a:srgbClr val="DCE7F0"/>
            </a:solidFill>
            <a:prstDash val="solid"/>
          </a:ln>
        </p:spPr>
      </p:sp>
      <p:sp>
        <p:nvSpPr>
          <p:cNvPr id="34" name="Text 32"/>
          <p:cNvSpPr txBox="1"/>
          <p:nvPr/>
        </p:nvSpPr>
        <p:spPr>
          <a:xfrm>
            <a:off x="3703320" y="3995928"/>
            <a:ext cx="201168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LINE／電話／HP</a:t>
            </a:r>
            <a:endParaRPr lang="en-US" sz="1150" dirty="0"/>
          </a:p>
        </p:txBody>
      </p:sp>
      <p:sp>
        <p:nvSpPr>
          <p:cNvPr id="35" name="Text 33"/>
          <p:cNvSpPr txBox="1"/>
          <p:nvPr/>
        </p:nvSpPr>
        <p:spPr>
          <a:xfrm>
            <a:off x="5806440" y="3995928"/>
            <a:ext cx="196596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見積もり前の案内動画</a:t>
            </a:r>
            <a:endParaRPr lang="en-US" sz="1150" dirty="0"/>
          </a:p>
        </p:txBody>
      </p:sp>
      <p:sp>
        <p:nvSpPr>
          <p:cNvPr id="36" name="Text 34"/>
          <p:cNvSpPr txBox="1"/>
          <p:nvPr/>
        </p:nvSpPr>
        <p:spPr>
          <a:xfrm>
            <a:off x="7863840" y="3995928"/>
            <a:ext cx="205740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現地見積もりの予約</a:t>
            </a:r>
            <a:endParaRPr lang="en-US" sz="1150" dirty="0"/>
          </a:p>
        </p:txBody>
      </p:sp>
      <p:sp>
        <p:nvSpPr>
          <p:cNvPr id="37" name="Text 35"/>
          <p:cNvSpPr txBox="1"/>
          <p:nvPr/>
        </p:nvSpPr>
        <p:spPr>
          <a:xfrm>
            <a:off x="10012680" y="3995928"/>
            <a:ext cx="1627632" cy="640080"/>
          </a:xfrm>
          <a:prstGeom prst="rect">
            <a:avLst/>
          </a:prstGeom>
          <a:noFill/>
          <a:ln/>
        </p:spPr>
        <p:txBody>
          <a:bodyPr wrap="square" lIns="0" tIns="0" rIns="0" bIns="0" rtlCol="0" anchor="ctr"/>
          <a:lstStyle/>
          <a:p>
            <a:pPr indent="0" marL="0">
              <a:buNone/>
            </a:pPr>
            <a:r>
              <a:rPr lang="en-US" sz="1150" b="1" dirty="0">
                <a:solidFill>
                  <a:srgbClr val="1F5F8B"/>
                </a:solidFill>
                <a:latin typeface="Meiryo UI" pitchFamily="34" charset="0"/>
                <a:ea typeface="Meiryo UI" pitchFamily="34" charset="-122"/>
                <a:cs typeface="Meiryo UI" pitchFamily="34" charset="-120"/>
              </a:rPr>
              <a:t>見積もり実施数</a:t>
            </a:r>
            <a:endParaRPr lang="en-US" sz="1150" dirty="0"/>
          </a:p>
        </p:txBody>
      </p:sp>
      <p:sp>
        <p:nvSpPr>
          <p:cNvPr id="38" name="Shape 36"/>
          <p:cNvSpPr/>
          <p:nvPr/>
        </p:nvSpPr>
        <p:spPr>
          <a:xfrm>
            <a:off x="1252728" y="4754880"/>
            <a:ext cx="1609344" cy="640080"/>
          </a:xfrm>
          <a:prstGeom prst="roundRect">
            <a:avLst>
              <a:gd name="adj" fmla="val 14286"/>
            </a:avLst>
          </a:prstGeom>
          <a:solidFill>
            <a:srgbClr val="D2702A"/>
          </a:solidFill>
          <a:ln w="12700">
            <a:solidFill>
              <a:srgbClr val="D2702A"/>
            </a:solidFill>
            <a:prstDash val="solid"/>
          </a:ln>
        </p:spPr>
      </p:sp>
      <p:sp>
        <p:nvSpPr>
          <p:cNvPr id="39" name="Text 37"/>
          <p:cNvSpPr txBox="1"/>
          <p:nvPr/>
        </p:nvSpPr>
        <p:spPr>
          <a:xfrm>
            <a:off x="1252728" y="4754880"/>
            <a:ext cx="16093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成約・作業</a:t>
            </a:r>
            <a:endParaRPr lang="en-US" sz="1400" dirty="0"/>
          </a:p>
        </p:txBody>
      </p:sp>
      <p:sp>
        <p:nvSpPr>
          <p:cNvPr id="40" name="Shape 38"/>
          <p:cNvSpPr/>
          <p:nvPr/>
        </p:nvSpPr>
        <p:spPr>
          <a:xfrm>
            <a:off x="3566160" y="4754880"/>
            <a:ext cx="8076895" cy="640080"/>
          </a:xfrm>
          <a:prstGeom prst="roundRect">
            <a:avLst>
              <a:gd name="adj" fmla="val 11429"/>
            </a:avLst>
          </a:prstGeom>
          <a:solidFill>
            <a:srgbClr val="F5F9FC"/>
          </a:solidFill>
          <a:ln w="9525">
            <a:solidFill>
              <a:srgbClr val="DCE7F0"/>
            </a:solidFill>
            <a:prstDash val="solid"/>
          </a:ln>
        </p:spPr>
      </p:sp>
      <p:sp>
        <p:nvSpPr>
          <p:cNvPr id="41" name="Text 39"/>
          <p:cNvSpPr txBox="1"/>
          <p:nvPr/>
        </p:nvSpPr>
        <p:spPr>
          <a:xfrm>
            <a:off x="3703320" y="4754880"/>
            <a:ext cx="201168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現地見積もり</a:t>
            </a:r>
            <a:endParaRPr lang="en-US" sz="1150" dirty="0"/>
          </a:p>
        </p:txBody>
      </p:sp>
      <p:sp>
        <p:nvSpPr>
          <p:cNvPr id="42" name="Text 40"/>
          <p:cNvSpPr txBox="1"/>
          <p:nvPr/>
        </p:nvSpPr>
        <p:spPr>
          <a:xfrm>
            <a:off x="5806440" y="4754880"/>
            <a:ext cx="196596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作業の流れ・内訳の補足</a:t>
            </a:r>
            <a:endParaRPr lang="en-US" sz="1150" dirty="0"/>
          </a:p>
        </p:txBody>
      </p:sp>
      <p:sp>
        <p:nvSpPr>
          <p:cNvPr id="43" name="Text 41"/>
          <p:cNvSpPr txBox="1"/>
          <p:nvPr/>
        </p:nvSpPr>
        <p:spPr>
          <a:xfrm>
            <a:off x="7863840" y="4754880"/>
            <a:ext cx="205740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ご契約・作業の実施</a:t>
            </a:r>
            <a:endParaRPr lang="en-US" sz="1150" dirty="0"/>
          </a:p>
        </p:txBody>
      </p:sp>
      <p:sp>
        <p:nvSpPr>
          <p:cNvPr id="44" name="Text 42"/>
          <p:cNvSpPr txBox="1"/>
          <p:nvPr/>
        </p:nvSpPr>
        <p:spPr>
          <a:xfrm>
            <a:off x="10012680" y="4754880"/>
            <a:ext cx="1627632" cy="640080"/>
          </a:xfrm>
          <a:prstGeom prst="rect">
            <a:avLst/>
          </a:prstGeom>
          <a:noFill/>
          <a:ln/>
        </p:spPr>
        <p:txBody>
          <a:bodyPr wrap="square" lIns="0" tIns="0" rIns="0" bIns="0" rtlCol="0" anchor="ctr"/>
          <a:lstStyle/>
          <a:p>
            <a:pPr indent="0" marL="0">
              <a:buNone/>
            </a:pPr>
            <a:r>
              <a:rPr lang="en-US" sz="1150" b="1" dirty="0">
                <a:solidFill>
                  <a:srgbClr val="1F5F8B"/>
                </a:solidFill>
                <a:latin typeface="Meiryo UI" pitchFamily="34" charset="0"/>
                <a:ea typeface="Meiryo UI" pitchFamily="34" charset="-122"/>
                <a:cs typeface="Meiryo UI" pitchFamily="34" charset="-120"/>
              </a:rPr>
              <a:t>成約率・受注単価</a:t>
            </a:r>
            <a:endParaRPr lang="en-US" sz="1150" dirty="0"/>
          </a:p>
        </p:txBody>
      </p:sp>
      <p:sp>
        <p:nvSpPr>
          <p:cNvPr id="45" name="Shape 43"/>
          <p:cNvSpPr/>
          <p:nvPr/>
        </p:nvSpPr>
        <p:spPr>
          <a:xfrm>
            <a:off x="1417320" y="5513832"/>
            <a:ext cx="1280160" cy="640080"/>
          </a:xfrm>
          <a:prstGeom prst="roundRect">
            <a:avLst>
              <a:gd name="adj" fmla="val 14286"/>
            </a:avLst>
          </a:prstGeom>
          <a:solidFill>
            <a:srgbClr val="D2702A"/>
          </a:solidFill>
          <a:ln w="12700">
            <a:solidFill>
              <a:srgbClr val="D2702A"/>
            </a:solidFill>
            <a:prstDash val="solid"/>
          </a:ln>
        </p:spPr>
      </p:sp>
      <p:sp>
        <p:nvSpPr>
          <p:cNvPr id="46" name="Text 44"/>
          <p:cNvSpPr txBox="1"/>
          <p:nvPr/>
        </p:nvSpPr>
        <p:spPr>
          <a:xfrm>
            <a:off x="1417320" y="5513832"/>
            <a:ext cx="12801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継続・紹介</a:t>
            </a:r>
            <a:endParaRPr lang="en-US" sz="1400" dirty="0"/>
          </a:p>
        </p:txBody>
      </p:sp>
      <p:sp>
        <p:nvSpPr>
          <p:cNvPr id="47" name="Shape 45"/>
          <p:cNvSpPr/>
          <p:nvPr/>
        </p:nvSpPr>
        <p:spPr>
          <a:xfrm>
            <a:off x="3566160" y="5513832"/>
            <a:ext cx="8076895" cy="640080"/>
          </a:xfrm>
          <a:prstGeom prst="roundRect">
            <a:avLst>
              <a:gd name="adj" fmla="val 11429"/>
            </a:avLst>
          </a:prstGeom>
          <a:solidFill>
            <a:srgbClr val="FFFFFF"/>
          </a:solidFill>
          <a:ln w="9525">
            <a:solidFill>
              <a:srgbClr val="DCE7F0"/>
            </a:solidFill>
            <a:prstDash val="solid"/>
          </a:ln>
        </p:spPr>
      </p:sp>
      <p:sp>
        <p:nvSpPr>
          <p:cNvPr id="48" name="Text 46"/>
          <p:cNvSpPr txBox="1"/>
          <p:nvPr/>
        </p:nvSpPr>
        <p:spPr>
          <a:xfrm>
            <a:off x="3703320" y="5513832"/>
            <a:ext cx="201168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LINE・お礼状</a:t>
            </a:r>
            <a:endParaRPr lang="en-US" sz="1150" dirty="0"/>
          </a:p>
        </p:txBody>
      </p:sp>
      <p:sp>
        <p:nvSpPr>
          <p:cNvPr id="49" name="Text 47"/>
          <p:cNvSpPr txBox="1"/>
          <p:nvPr/>
        </p:nvSpPr>
        <p:spPr>
          <a:xfrm>
            <a:off x="5806440" y="5513832"/>
            <a:ext cx="196596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片付けを保つアドバイス動画</a:t>
            </a:r>
            <a:endParaRPr lang="en-US" sz="1150" dirty="0"/>
          </a:p>
        </p:txBody>
      </p:sp>
      <p:sp>
        <p:nvSpPr>
          <p:cNvPr id="50" name="Text 48"/>
          <p:cNvSpPr txBox="1"/>
          <p:nvPr/>
        </p:nvSpPr>
        <p:spPr>
          <a:xfrm>
            <a:off x="7863840" y="5513832"/>
            <a:ext cx="2057400" cy="640080"/>
          </a:xfrm>
          <a:prstGeom prst="rect">
            <a:avLst/>
          </a:prstGeom>
          <a:noFill/>
          <a:ln/>
        </p:spPr>
        <p:txBody>
          <a:bodyPr wrap="square" lIns="0" tIns="0" rIns="0" bIns="0" rtlCol="0" anchor="ctr"/>
          <a:lstStyle/>
          <a:p>
            <a:pPr indent="0" marL="0">
              <a:buNone/>
            </a:pPr>
            <a:r>
              <a:rPr lang="en-US" sz="1150" dirty="0">
                <a:solidFill>
                  <a:srgbClr val="26303A"/>
                </a:solidFill>
                <a:latin typeface="Meiryo UI" pitchFamily="34" charset="0"/>
                <a:ea typeface="Meiryo UI" pitchFamily="34" charset="-122"/>
                <a:cs typeface="Meiryo UI" pitchFamily="34" charset="-120"/>
              </a:rPr>
              <a:t>リピート・知人への紹介</a:t>
            </a:r>
            <a:endParaRPr lang="en-US" sz="1150" dirty="0"/>
          </a:p>
        </p:txBody>
      </p:sp>
      <p:sp>
        <p:nvSpPr>
          <p:cNvPr id="51" name="Text 49"/>
          <p:cNvSpPr txBox="1"/>
          <p:nvPr/>
        </p:nvSpPr>
        <p:spPr>
          <a:xfrm>
            <a:off x="10012680" y="5513832"/>
            <a:ext cx="1627632" cy="640080"/>
          </a:xfrm>
          <a:prstGeom prst="rect">
            <a:avLst/>
          </a:prstGeom>
          <a:noFill/>
          <a:ln/>
        </p:spPr>
        <p:txBody>
          <a:bodyPr wrap="square" lIns="0" tIns="0" rIns="0" bIns="0" rtlCol="0" anchor="ctr"/>
          <a:lstStyle/>
          <a:p>
            <a:pPr indent="0" marL="0">
              <a:buNone/>
            </a:pPr>
            <a:r>
              <a:rPr lang="en-US" sz="1150" b="1" dirty="0">
                <a:solidFill>
                  <a:srgbClr val="1F5F8B"/>
                </a:solidFill>
                <a:latin typeface="Meiryo UI" pitchFamily="34" charset="0"/>
                <a:ea typeface="Meiryo UI" pitchFamily="34" charset="-122"/>
                <a:cs typeface="Meiryo UI" pitchFamily="34" charset="-120"/>
              </a:rPr>
              <a:t>リピート率・紹介数</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広告表示と許認可：“正直さ”が伝わる発信設計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37585"/>
                </a:solidFill>
                <a:latin typeface="Meiryo UI" pitchFamily="34" charset="0"/>
                <a:ea typeface="Meiryo UI" pitchFamily="34" charset="-122"/>
                <a:cs typeface="Meiryo UI" pitchFamily="34" charset="-120"/>
              </a:rPr>
              <a:t>不用品回収・遺品整理は、許認可や料金表示をめぐるトラブルが多い業界です。だからこそ“正しく伝える”ことが最大の差別化になります。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16</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868680" y="2194560"/>
            <a:ext cx="777240" cy="777240"/>
          </a:xfrm>
          <a:prstGeom prst="ellipse">
            <a:avLst/>
          </a:prstGeom>
          <a:solidFill>
            <a:srgbClr val="EAF2F8"/>
          </a:solidFill>
          <a:ln w="12700">
            <a:solidFill>
              <a:srgbClr val="EAF2F8"/>
            </a:solidFill>
            <a:prstDash val="solid"/>
          </a:ln>
        </p:spPr>
      </p:sp>
      <p:pic>
        <p:nvPicPr>
          <p:cNvPr id="9" name="Image 0" descr="preencoded.png">    </p:cNvPr>
          <p:cNvPicPr>
            <a:picLocks noChangeAspect="1"/>
          </p:cNvPicPr>
          <p:nvPr/>
        </p:nvPicPr>
        <p:blipFill>
          <a:blip r:embed="rId1"/>
          <a:stretch>
            <a:fillRect/>
          </a:stretch>
        </p:blipFill>
        <p:spPr>
          <a:xfrm>
            <a:off x="1070762" y="2396642"/>
            <a:ext cx="373075" cy="373075"/>
          </a:xfrm>
          <a:prstGeom prst="rect">
            <a:avLst/>
          </a:prstGeom>
        </p:spPr>
      </p:pic>
      <p:sp>
        <p:nvSpPr>
          <p:cNvPr id="10" name="Text 7"/>
          <p:cNvSpPr txBox="1"/>
          <p:nvPr/>
        </p:nvSpPr>
        <p:spPr>
          <a:xfrm>
            <a:off x="1920240" y="2194560"/>
            <a:ext cx="3764128" cy="41148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許認可を正しく明示</a:t>
            </a:r>
            <a:endParaRPr lang="en-US" sz="1600" dirty="0"/>
          </a:p>
        </p:txBody>
      </p:sp>
      <p:sp>
        <p:nvSpPr>
          <p:cNvPr id="11" name="Text 8"/>
          <p:cNvSpPr txBox="1"/>
          <p:nvPr/>
        </p:nvSpPr>
        <p:spPr>
          <a:xfrm>
            <a:off x="1920240" y="2651760"/>
            <a:ext cx="3764128" cy="86868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一般廃棄物収集運搬（自治体の許可・委託）や古物商、解体工事業の登録など、保有する許可を正確に表示します（内容は貴社でご確認ください）。</a:t>
            </a:r>
            <a:endParaRPr lang="en-US" sz="1150" dirty="0"/>
          </a:p>
        </p:txBody>
      </p:sp>
      <p:sp>
        <p:nvSpPr>
          <p:cNvPr id="12" name="Shape 9"/>
          <p:cNvSpPr/>
          <p:nvPr/>
        </p:nvSpPr>
        <p:spPr>
          <a:xfrm>
            <a:off x="6233008"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6553048" y="2194560"/>
            <a:ext cx="777240" cy="777240"/>
          </a:xfrm>
          <a:prstGeom prst="ellipse">
            <a:avLst/>
          </a:prstGeom>
          <a:solidFill>
            <a:srgbClr val="EAF2F8"/>
          </a:solidFill>
          <a:ln w="12700">
            <a:solidFill>
              <a:srgbClr val="EAF2F8"/>
            </a:solidFill>
            <a:prstDash val="solid"/>
          </a:ln>
        </p:spPr>
      </p:sp>
      <p:pic>
        <p:nvPicPr>
          <p:cNvPr id="14" name="Image 1" descr="preencoded.png">    </p:cNvPr>
          <p:cNvPicPr>
            <a:picLocks noChangeAspect="1"/>
          </p:cNvPicPr>
          <p:nvPr/>
        </p:nvPicPr>
        <p:blipFill>
          <a:blip r:embed="rId2"/>
          <a:stretch>
            <a:fillRect/>
          </a:stretch>
        </p:blipFill>
        <p:spPr>
          <a:xfrm>
            <a:off x="6755130" y="2396642"/>
            <a:ext cx="373075" cy="373075"/>
          </a:xfrm>
          <a:prstGeom prst="rect">
            <a:avLst/>
          </a:prstGeom>
        </p:spPr>
      </p:pic>
      <p:sp>
        <p:nvSpPr>
          <p:cNvPr id="15" name="Text 11"/>
          <p:cNvSpPr txBox="1"/>
          <p:nvPr/>
        </p:nvSpPr>
        <p:spPr>
          <a:xfrm>
            <a:off x="7604608" y="2194560"/>
            <a:ext cx="3764128" cy="41148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料金表示は誤解のない形で</a:t>
            </a:r>
            <a:endParaRPr lang="en-US" sz="1600" dirty="0"/>
          </a:p>
        </p:txBody>
      </p:sp>
      <p:sp>
        <p:nvSpPr>
          <p:cNvPr id="16" name="Text 12"/>
          <p:cNvSpPr txBox="1"/>
          <p:nvPr/>
        </p:nvSpPr>
        <p:spPr>
          <a:xfrm>
            <a:off x="7604608" y="2651760"/>
            <a:ext cx="3764128" cy="86868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「最安値」「追加料金一切なし」など根拠のない表現は使わず、費用の考え方と見積もりの流れを正直に伝えます。</a:t>
            </a:r>
            <a:endParaRPr lang="en-US" sz="1150" dirty="0"/>
          </a:p>
        </p:txBody>
      </p:sp>
      <p:sp>
        <p:nvSpPr>
          <p:cNvPr id="17" name="Shape 13"/>
          <p:cNvSpPr/>
          <p:nvPr/>
        </p:nvSpPr>
        <p:spPr>
          <a:xfrm>
            <a:off x="548640"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8680" y="4206240"/>
            <a:ext cx="777240" cy="777240"/>
          </a:xfrm>
          <a:prstGeom prst="ellipse">
            <a:avLst/>
          </a:prstGeom>
          <a:solidFill>
            <a:srgbClr val="EAF2F8"/>
          </a:solidFill>
          <a:ln w="12700">
            <a:solidFill>
              <a:srgbClr val="EAF2F8"/>
            </a:solidFill>
            <a:prstDash val="solid"/>
          </a:ln>
        </p:spPr>
      </p:sp>
      <p:pic>
        <p:nvPicPr>
          <p:cNvPr id="19" name="Image 2" descr="preencoded.png">    </p:cNvPr>
          <p:cNvPicPr>
            <a:picLocks noChangeAspect="1"/>
          </p:cNvPicPr>
          <p:nvPr/>
        </p:nvPicPr>
        <p:blipFill>
          <a:blip r:embed="rId3"/>
          <a:stretch>
            <a:fillRect/>
          </a:stretch>
        </p:blipFill>
        <p:spPr>
          <a:xfrm>
            <a:off x="1070762" y="4408322"/>
            <a:ext cx="373075" cy="373075"/>
          </a:xfrm>
          <a:prstGeom prst="rect">
            <a:avLst/>
          </a:prstGeom>
        </p:spPr>
      </p:pic>
      <p:sp>
        <p:nvSpPr>
          <p:cNvPr id="20" name="Text 15"/>
          <p:cNvSpPr txBox="1"/>
          <p:nvPr/>
        </p:nvSpPr>
        <p:spPr>
          <a:xfrm>
            <a:off x="1920240" y="4206240"/>
            <a:ext cx="3764128" cy="41148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ご依頼者のプライバシー保護</a:t>
            </a:r>
            <a:endParaRPr lang="en-US" sz="1600" dirty="0"/>
          </a:p>
        </p:txBody>
      </p:sp>
      <p:sp>
        <p:nvSpPr>
          <p:cNvPr id="21" name="Text 16"/>
          <p:cNvSpPr txBox="1"/>
          <p:nvPr/>
        </p:nvSpPr>
        <p:spPr>
          <a:xfrm>
            <a:off x="1920240" y="4663440"/>
            <a:ext cx="3764128" cy="86868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作業現場の写真・事例は許諾を得たうえで、個人やご住所が特定されない形で使用します。</a:t>
            </a:r>
            <a:endParaRPr lang="en-US" sz="1150" dirty="0"/>
          </a:p>
        </p:txBody>
      </p:sp>
      <p:sp>
        <p:nvSpPr>
          <p:cNvPr id="22" name="Shape 17"/>
          <p:cNvSpPr/>
          <p:nvPr/>
        </p:nvSpPr>
        <p:spPr>
          <a:xfrm>
            <a:off x="6233008"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553048" y="4206240"/>
            <a:ext cx="777240" cy="777240"/>
          </a:xfrm>
          <a:prstGeom prst="ellipse">
            <a:avLst/>
          </a:prstGeom>
          <a:solidFill>
            <a:srgbClr val="EAF2F8"/>
          </a:solidFill>
          <a:ln w="12700">
            <a:solidFill>
              <a:srgbClr val="EAF2F8"/>
            </a:solidFill>
            <a:prstDash val="solid"/>
          </a:ln>
        </p:spPr>
      </p:sp>
      <p:pic>
        <p:nvPicPr>
          <p:cNvPr id="24" name="Image 3" descr="preencoded.png">    </p:cNvPr>
          <p:cNvPicPr>
            <a:picLocks noChangeAspect="1"/>
          </p:cNvPicPr>
          <p:nvPr/>
        </p:nvPicPr>
        <p:blipFill>
          <a:blip r:embed="rId4"/>
          <a:stretch>
            <a:fillRect/>
          </a:stretch>
        </p:blipFill>
        <p:spPr>
          <a:xfrm>
            <a:off x="6755130" y="4408322"/>
            <a:ext cx="373075" cy="373075"/>
          </a:xfrm>
          <a:prstGeom prst="rect">
            <a:avLst/>
          </a:prstGeom>
        </p:spPr>
      </p:pic>
      <p:sp>
        <p:nvSpPr>
          <p:cNvPr id="25" name="Text 19"/>
          <p:cNvSpPr txBox="1"/>
          <p:nvPr/>
        </p:nvSpPr>
        <p:spPr>
          <a:xfrm>
            <a:off x="7604608" y="4206240"/>
            <a:ext cx="3764128" cy="411480"/>
          </a:xfrm>
          <a:prstGeom prst="rect">
            <a:avLst/>
          </a:prstGeom>
          <a:noFill/>
          <a:ln/>
        </p:spPr>
        <p:txBody>
          <a:bodyPr wrap="square" lIns="0" tIns="0" rIns="0" bIns="0" rtlCol="0" anchor="t"/>
          <a:lstStyle/>
          <a:p>
            <a:pPr indent="0" marL="0">
              <a:buNone/>
            </a:pPr>
            <a:r>
              <a:rPr lang="en-US" sz="1600" b="1" dirty="0">
                <a:solidFill>
                  <a:srgbClr val="1F5F8B"/>
                </a:solidFill>
                <a:latin typeface="Meiryo UI" pitchFamily="34" charset="0"/>
                <a:ea typeface="Meiryo UI" pitchFamily="34" charset="-122"/>
                <a:cs typeface="Meiryo UI" pitchFamily="34" charset="-120"/>
              </a:rPr>
              <a:t>故人・ご遺族への配慮</a:t>
            </a:r>
            <a:endParaRPr lang="en-US" sz="1600" dirty="0"/>
          </a:p>
        </p:txBody>
      </p:sp>
      <p:sp>
        <p:nvSpPr>
          <p:cNvPr id="26" name="Text 20"/>
          <p:cNvSpPr txBox="1"/>
          <p:nvPr/>
        </p:nvSpPr>
        <p:spPr>
          <a:xfrm>
            <a:off x="7604608" y="4663440"/>
            <a:ext cx="3764128" cy="86868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遺品整理・特殊清掃の発信では、刺激の強い表現や画像を避け、ご遺族の気持ちに配慮します。</a:t>
            </a:r>
            <a:endParaRPr lang="en-US" sz="1150" dirty="0"/>
          </a:p>
        </p:txBody>
      </p:sp>
      <p:sp>
        <p:nvSpPr>
          <p:cNvPr id="27" name="Text 21"/>
          <p:cNvSpPr txBox="1"/>
          <p:nvPr/>
        </p:nvSpPr>
        <p:spPr>
          <a:xfrm>
            <a:off x="548640" y="5943600"/>
            <a:ext cx="11094415" cy="365760"/>
          </a:xfrm>
          <a:prstGeom prst="rect">
            <a:avLst/>
          </a:prstGeom>
          <a:noFill/>
          <a:ln/>
        </p:spPr>
        <p:txBody>
          <a:bodyPr wrap="square" lIns="0" tIns="0" rIns="0" bIns="0" rtlCol="0" anchor="t"/>
          <a:lstStyle/>
          <a:p>
            <a:pPr algn="ctr" indent="0" marL="0">
              <a:buNone/>
            </a:pPr>
            <a:r>
              <a:rPr lang="en-US" sz="1250" b="1" dirty="0">
                <a:solidFill>
                  <a:srgbClr val="D2702A"/>
                </a:solidFill>
                <a:latin typeface="Meiryo UI" pitchFamily="34" charset="0"/>
                <a:ea typeface="Meiryo UI" pitchFamily="34" charset="-122"/>
                <a:cs typeface="Meiryo UI" pitchFamily="34" charset="-120"/>
              </a:rPr>
              <a:t>依頼者の不安をあおらず、“正直さ”が伝わる言葉選びを台本の段階から徹底します。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無料3本は「サービス紹介」ではなく「効果検証のプロトタイプ」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822960"/>
          </a:xfrm>
          <a:prstGeom prst="roundRect">
            <a:avLst>
              <a:gd name="adj" fmla="val 13333"/>
            </a:avLst>
          </a:prstGeom>
          <a:solidFill>
            <a:srgbClr val="143E5C"/>
          </a:solidFill>
          <a:ln w="12700">
            <a:solidFill>
              <a:srgbClr val="143E5C"/>
            </a:solidFill>
            <a:prstDash val="solid"/>
          </a:ln>
        </p:spPr>
      </p:sp>
      <p:sp>
        <p:nvSpPr>
          <p:cNvPr id="7" name="Text 5"/>
          <p:cNvSpPr txBox="1"/>
          <p:nvPr/>
        </p:nvSpPr>
        <p:spPr>
          <a:xfrm>
            <a:off x="914400" y="1371600"/>
            <a:ext cx="10362895"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UI" pitchFamily="34" charset="0"/>
                <a:ea typeface="Meiryo UI" pitchFamily="34" charset="-122"/>
                <a:cs typeface="Meiryo UI" pitchFamily="34" charset="-120"/>
              </a:rPr>
              <a:t>プッシュとプル、どの型・どのターゲット・どのチャネルが最も成果につながるかを、</a:t>
            </a:r>
            <a:endParaRPr lang="en-US" sz="1500" dirty="0"/>
          </a:p>
          <a:p>
            <a:pPr indent="0" marL="0">
              <a:buNone/>
            </a:pPr>
            <a:r>
              <a:rPr lang="en-US" sz="1500" b="1" dirty="0">
                <a:solidFill>
                  <a:srgbClr val="FFFFFF"/>
                </a:solidFill>
                <a:latin typeface="Meiryo UI" pitchFamily="34" charset="0"/>
                <a:ea typeface="Meiryo UI" pitchFamily="34" charset="-122"/>
                <a:cs typeface="Meiryo UI" pitchFamily="34" charset="-120"/>
              </a:rPr>
              <a:t>あえて条件を変えた3本で同時に比較検証します。</a:t>
            </a:r>
            <a:endParaRPr lang="en-US" sz="1500" dirty="0"/>
          </a:p>
        </p:txBody>
      </p:sp>
      <p:sp>
        <p:nvSpPr>
          <p:cNvPr id="8" name="Shape 6"/>
          <p:cNvSpPr/>
          <p:nvPr/>
        </p:nvSpPr>
        <p:spPr>
          <a:xfrm>
            <a:off x="548640"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777240" y="2606040"/>
            <a:ext cx="502920" cy="502920"/>
          </a:xfrm>
          <a:prstGeom prst="ellipse">
            <a:avLst/>
          </a:prstGeom>
          <a:solidFill>
            <a:srgbClr val="D2702A"/>
          </a:solidFill>
          <a:ln w="12700">
            <a:solidFill>
              <a:srgbClr val="D2702A"/>
            </a:solidFill>
            <a:prstDash val="solid"/>
          </a:ln>
        </p:spPr>
      </p:sp>
      <p:sp>
        <p:nvSpPr>
          <p:cNvPr id="10" name="Text 8"/>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11" name="Text 9"/>
          <p:cNvSpPr txBox="1"/>
          <p:nvPr/>
        </p:nvSpPr>
        <p:spPr>
          <a:xfrm>
            <a:off x="1417320" y="2560320"/>
            <a:ext cx="2509418" cy="347472"/>
          </a:xfrm>
          <a:prstGeom prst="rect">
            <a:avLst/>
          </a:prstGeom>
          <a:noFill/>
          <a:ln/>
        </p:spPr>
        <p:txBody>
          <a:bodyPr wrap="square" lIns="0" tIns="0" rIns="0" bIns="0" rtlCol="0" anchor="t"/>
          <a:lstStyle/>
          <a:p>
            <a:pPr indent="0" marL="0">
              <a:buNone/>
            </a:pPr>
            <a:r>
              <a:rPr lang="en-US" sz="1500" b="1" dirty="0">
                <a:solidFill>
                  <a:srgbClr val="1F5F8B"/>
                </a:solidFill>
                <a:latin typeface="Meiryo UI" pitchFamily="34" charset="0"/>
                <a:ea typeface="Meiryo UI" pitchFamily="34" charset="-122"/>
                <a:cs typeface="Meiryo UI" pitchFamily="34" charset="-120"/>
              </a:rPr>
              <a:t>プッシュ検証</a:t>
            </a:r>
            <a:endParaRPr lang="en-US" sz="1500" dirty="0"/>
          </a:p>
        </p:txBody>
      </p:sp>
      <p:sp>
        <p:nvSpPr>
          <p:cNvPr id="12" name="Text 10"/>
          <p:cNvSpPr txBox="1"/>
          <p:nvPr/>
        </p:nvSpPr>
        <p:spPr>
          <a:xfrm>
            <a:off x="1417320" y="2880360"/>
            <a:ext cx="2509418" cy="274320"/>
          </a:xfrm>
          <a:prstGeom prst="rect">
            <a:avLst/>
          </a:prstGeom>
          <a:noFill/>
          <a:ln/>
        </p:spPr>
        <p:txBody>
          <a:bodyPr wrap="square" lIns="0" tIns="0" rIns="0" bIns="0" rtlCol="0" anchor="t"/>
          <a:lstStyle/>
          <a:p>
            <a:pPr indent="0" marL="0">
              <a:buNone/>
            </a:pPr>
            <a:r>
              <a:rPr lang="en-US" sz="1150" b="1" dirty="0">
                <a:solidFill>
                  <a:srgbClr val="D2702A"/>
                </a:solidFill>
                <a:latin typeface="Meiryo UI" pitchFamily="34" charset="0"/>
                <a:ea typeface="Meiryo UI" pitchFamily="34" charset="-122"/>
                <a:cs typeface="Meiryo UI" pitchFamily="34" charset="-120"/>
              </a:rPr>
              <a:t>長尺解説型</a:t>
            </a:r>
            <a:endParaRPr lang="en-US" sz="1150" dirty="0"/>
          </a:p>
        </p:txBody>
      </p:sp>
      <p:sp>
        <p:nvSpPr>
          <p:cNvPr id="13" name="Text 11"/>
          <p:cNvSpPr txBox="1"/>
          <p:nvPr/>
        </p:nvSpPr>
        <p:spPr>
          <a:xfrm>
            <a:off x="777240" y="3319272"/>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ターゲット</a:t>
            </a:r>
            <a:endParaRPr lang="en-US" sz="1050" dirty="0"/>
          </a:p>
        </p:txBody>
      </p:sp>
      <p:sp>
        <p:nvSpPr>
          <p:cNvPr id="14" name="Text 12"/>
          <p:cNvSpPr txBox="1"/>
          <p:nvPr/>
        </p:nvSpPr>
        <p:spPr>
          <a:xfrm>
            <a:off x="1828800" y="3319272"/>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紹介元（社協・ケアマネ・不動産会社）と見積もり相談者</a:t>
            </a:r>
            <a:endParaRPr lang="en-US" sz="1100" dirty="0"/>
          </a:p>
        </p:txBody>
      </p:sp>
      <p:sp>
        <p:nvSpPr>
          <p:cNvPr id="15" name="Text 13"/>
          <p:cNvSpPr txBox="1"/>
          <p:nvPr/>
        </p:nvSpPr>
        <p:spPr>
          <a:xfrm>
            <a:off x="777240" y="3895344"/>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テーマ案</a:t>
            </a:r>
            <a:endParaRPr lang="en-US" sz="1050" dirty="0"/>
          </a:p>
        </p:txBody>
      </p:sp>
      <p:sp>
        <p:nvSpPr>
          <p:cNvPr id="16" name="Text 14"/>
          <p:cNvSpPr txBox="1"/>
          <p:nvPr/>
        </p:nvSpPr>
        <p:spPr>
          <a:xfrm>
            <a:off x="1828800" y="3895344"/>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代表が語る「正直な片付け」― 料金の考え方と作業の流れ</a:t>
            </a:r>
            <a:endParaRPr lang="en-US" sz="1100" dirty="0"/>
          </a:p>
        </p:txBody>
      </p:sp>
      <p:sp>
        <p:nvSpPr>
          <p:cNvPr id="17" name="Text 15"/>
          <p:cNvSpPr txBox="1"/>
          <p:nvPr/>
        </p:nvSpPr>
        <p:spPr>
          <a:xfrm>
            <a:off x="777240" y="4471416"/>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配信先</a:t>
            </a:r>
            <a:endParaRPr lang="en-US" sz="1050" dirty="0"/>
          </a:p>
        </p:txBody>
      </p:sp>
      <p:sp>
        <p:nvSpPr>
          <p:cNvPr id="18" name="Text 16"/>
          <p:cNvSpPr txBox="1"/>
          <p:nvPr/>
        </p:nvSpPr>
        <p:spPr>
          <a:xfrm>
            <a:off x="1828800" y="4471416"/>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紹介元への案内、見積もり前の事前送付</a:t>
            </a:r>
            <a:endParaRPr lang="en-US" sz="1100" dirty="0"/>
          </a:p>
        </p:txBody>
      </p:sp>
      <p:sp>
        <p:nvSpPr>
          <p:cNvPr id="19" name="Text 17"/>
          <p:cNvSpPr txBox="1"/>
          <p:nvPr/>
        </p:nvSpPr>
        <p:spPr>
          <a:xfrm>
            <a:off x="777240" y="5047488"/>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検証する仮説</a:t>
            </a:r>
            <a:endParaRPr lang="en-US" sz="1050" dirty="0"/>
          </a:p>
        </p:txBody>
      </p:sp>
      <p:sp>
        <p:nvSpPr>
          <p:cNvPr id="20" name="Text 18"/>
          <p:cNvSpPr txBox="1"/>
          <p:nvPr/>
        </p:nvSpPr>
        <p:spPr>
          <a:xfrm>
            <a:off x="1828800" y="5047488"/>
            <a:ext cx="2052218" cy="530352"/>
          </a:xfrm>
          <a:prstGeom prst="rect">
            <a:avLst/>
          </a:prstGeom>
          <a:noFill/>
          <a:ln/>
        </p:spPr>
        <p:txBody>
          <a:bodyPr wrap="square" lIns="0" tIns="0" rIns="0" bIns="0" rtlCol="0" anchor="t"/>
          <a:lstStyle/>
          <a:p>
            <a:pPr indent="0" marL="0">
              <a:buNone/>
            </a:pPr>
            <a:r>
              <a:rPr lang="en-US" sz="1100" b="1" dirty="0">
                <a:solidFill>
                  <a:srgbClr val="26303A"/>
                </a:solidFill>
                <a:latin typeface="Meiryo UI" pitchFamily="34" charset="0"/>
                <a:ea typeface="Meiryo UI" pitchFamily="34" charset="-122"/>
                <a:cs typeface="Meiryo UI" pitchFamily="34" charset="-120"/>
              </a:rPr>
              <a:t>見積もり前の動画送付で、成約率・紹介件数は上がるか</a:t>
            </a:r>
            <a:endParaRPr lang="en-US" sz="1100" dirty="0"/>
          </a:p>
        </p:txBody>
      </p:sp>
      <p:sp>
        <p:nvSpPr>
          <p:cNvPr id="21" name="Text 19"/>
          <p:cNvSpPr txBox="1"/>
          <p:nvPr/>
        </p:nvSpPr>
        <p:spPr>
          <a:xfrm>
            <a:off x="777240" y="5623560"/>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主なKPI</a:t>
            </a:r>
            <a:endParaRPr lang="en-US" sz="1050" dirty="0"/>
          </a:p>
        </p:txBody>
      </p:sp>
      <p:sp>
        <p:nvSpPr>
          <p:cNvPr id="22" name="Text 20"/>
          <p:cNvSpPr txBox="1"/>
          <p:nvPr/>
        </p:nvSpPr>
        <p:spPr>
          <a:xfrm>
            <a:off x="1828800" y="5623560"/>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視聴率／成約率／紹介件数</a:t>
            </a:r>
            <a:endParaRPr lang="en-US" sz="1100" dirty="0"/>
          </a:p>
        </p:txBody>
      </p:sp>
      <p:sp>
        <p:nvSpPr>
          <p:cNvPr id="23" name="Shape 21"/>
          <p:cNvSpPr/>
          <p:nvPr/>
        </p:nvSpPr>
        <p:spPr>
          <a:xfrm>
            <a:off x="4338218"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2606040"/>
            <a:ext cx="502920" cy="502920"/>
          </a:xfrm>
          <a:prstGeom prst="ellipse">
            <a:avLst/>
          </a:prstGeom>
          <a:solidFill>
            <a:srgbClr val="D2702A"/>
          </a:solidFill>
          <a:ln w="12700">
            <a:solidFill>
              <a:srgbClr val="D2702A"/>
            </a:solidFill>
            <a:prstDash val="solid"/>
          </a:ln>
        </p:spPr>
      </p:sp>
      <p:sp>
        <p:nvSpPr>
          <p:cNvPr id="25" name="Text 23"/>
          <p:cNvSpPr txBox="1"/>
          <p:nvPr/>
        </p:nvSpPr>
        <p:spPr>
          <a:xfrm>
            <a:off x="456681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6" name="Text 24"/>
          <p:cNvSpPr txBox="1"/>
          <p:nvPr/>
        </p:nvSpPr>
        <p:spPr>
          <a:xfrm>
            <a:off x="5206898" y="2560320"/>
            <a:ext cx="2509418" cy="347472"/>
          </a:xfrm>
          <a:prstGeom prst="rect">
            <a:avLst/>
          </a:prstGeom>
          <a:noFill/>
          <a:ln/>
        </p:spPr>
        <p:txBody>
          <a:bodyPr wrap="square" lIns="0" tIns="0" rIns="0" bIns="0" rtlCol="0" anchor="t"/>
          <a:lstStyle/>
          <a:p>
            <a:pPr indent="0" marL="0">
              <a:buNone/>
            </a:pPr>
            <a:r>
              <a:rPr lang="en-US" sz="1500" b="1" dirty="0">
                <a:solidFill>
                  <a:srgbClr val="1F5F8B"/>
                </a:solidFill>
                <a:latin typeface="Meiryo UI" pitchFamily="34" charset="0"/>
                <a:ea typeface="Meiryo UI" pitchFamily="34" charset="-122"/>
                <a:cs typeface="Meiryo UI" pitchFamily="34" charset="-120"/>
              </a:rPr>
              <a:t>プル検証（信頼形成）</a:t>
            </a:r>
            <a:endParaRPr lang="en-US" sz="1500" dirty="0"/>
          </a:p>
        </p:txBody>
      </p:sp>
      <p:sp>
        <p:nvSpPr>
          <p:cNvPr id="27" name="Text 25"/>
          <p:cNvSpPr txBox="1"/>
          <p:nvPr/>
        </p:nvSpPr>
        <p:spPr>
          <a:xfrm>
            <a:off x="5206898" y="2880360"/>
            <a:ext cx="2509418" cy="274320"/>
          </a:xfrm>
          <a:prstGeom prst="rect">
            <a:avLst/>
          </a:prstGeom>
          <a:noFill/>
          <a:ln/>
        </p:spPr>
        <p:txBody>
          <a:bodyPr wrap="square" lIns="0" tIns="0" rIns="0" bIns="0" rtlCol="0" anchor="t"/>
          <a:lstStyle/>
          <a:p>
            <a:pPr indent="0" marL="0">
              <a:buNone/>
            </a:pPr>
            <a:r>
              <a:rPr lang="en-US" sz="1150" b="1" dirty="0">
                <a:solidFill>
                  <a:srgbClr val="D2702A"/>
                </a:solidFill>
                <a:latin typeface="Meiryo UI" pitchFamily="34" charset="0"/>
                <a:ea typeface="Meiryo UI" pitchFamily="34" charset="-122"/>
                <a:cs typeface="Meiryo UI" pitchFamily="34" charset="-120"/>
              </a:rPr>
              <a:t>デザイン重視型</a:t>
            </a:r>
            <a:endParaRPr lang="en-US" sz="1150" dirty="0"/>
          </a:p>
        </p:txBody>
      </p:sp>
      <p:sp>
        <p:nvSpPr>
          <p:cNvPr id="28" name="Text 26"/>
          <p:cNvSpPr txBox="1"/>
          <p:nvPr/>
        </p:nvSpPr>
        <p:spPr>
          <a:xfrm>
            <a:off x="4566818" y="3319272"/>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ターゲット</a:t>
            </a:r>
            <a:endParaRPr lang="en-US" sz="1050" dirty="0"/>
          </a:p>
        </p:txBody>
      </p:sp>
      <p:sp>
        <p:nvSpPr>
          <p:cNvPr id="29" name="Text 27"/>
          <p:cNvSpPr txBox="1"/>
          <p:nvPr/>
        </p:nvSpPr>
        <p:spPr>
          <a:xfrm>
            <a:off x="5618378" y="3319272"/>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片付けに悩む女性・ご家族</a:t>
            </a:r>
            <a:endParaRPr lang="en-US" sz="1100" dirty="0"/>
          </a:p>
        </p:txBody>
      </p:sp>
      <p:sp>
        <p:nvSpPr>
          <p:cNvPr id="30" name="Text 28"/>
          <p:cNvSpPr txBox="1"/>
          <p:nvPr/>
        </p:nvSpPr>
        <p:spPr>
          <a:xfrm>
            <a:off x="4566818" y="3895344"/>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テーマ案</a:t>
            </a:r>
            <a:endParaRPr lang="en-US" sz="1050" dirty="0"/>
          </a:p>
        </p:txBody>
      </p:sp>
      <p:sp>
        <p:nvSpPr>
          <p:cNvPr id="31" name="Text 29"/>
          <p:cNvSpPr txBox="1"/>
          <p:nvPr/>
        </p:nvSpPr>
        <p:spPr>
          <a:xfrm>
            <a:off x="5618378" y="3895344"/>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片付けられないのは、あなたのせいじゃない。</a:t>
            </a:r>
            <a:endParaRPr lang="en-US" sz="1100" dirty="0"/>
          </a:p>
        </p:txBody>
      </p:sp>
      <p:sp>
        <p:nvSpPr>
          <p:cNvPr id="32" name="Text 30"/>
          <p:cNvSpPr txBox="1"/>
          <p:nvPr/>
        </p:nvSpPr>
        <p:spPr>
          <a:xfrm>
            <a:off x="4566818" y="4471416"/>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配信先</a:t>
            </a:r>
            <a:endParaRPr lang="en-US" sz="1050" dirty="0"/>
          </a:p>
        </p:txBody>
      </p:sp>
      <p:sp>
        <p:nvSpPr>
          <p:cNvPr id="33" name="Text 31"/>
          <p:cNvSpPr txBox="1"/>
          <p:nvPr/>
        </p:nvSpPr>
        <p:spPr>
          <a:xfrm>
            <a:off x="5618378" y="4471416"/>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Instagram、HP、Googleビジネスプロフィール</a:t>
            </a:r>
            <a:endParaRPr lang="en-US" sz="1100" dirty="0"/>
          </a:p>
        </p:txBody>
      </p:sp>
      <p:sp>
        <p:nvSpPr>
          <p:cNvPr id="34" name="Text 32"/>
          <p:cNvSpPr txBox="1"/>
          <p:nvPr/>
        </p:nvSpPr>
        <p:spPr>
          <a:xfrm>
            <a:off x="4566818" y="5047488"/>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検証する仮説</a:t>
            </a:r>
            <a:endParaRPr lang="en-US" sz="1050" dirty="0"/>
          </a:p>
        </p:txBody>
      </p:sp>
      <p:sp>
        <p:nvSpPr>
          <p:cNvPr id="35" name="Text 33"/>
          <p:cNvSpPr txBox="1"/>
          <p:nvPr/>
        </p:nvSpPr>
        <p:spPr>
          <a:xfrm>
            <a:off x="5618378" y="5047488"/>
            <a:ext cx="2052218" cy="530352"/>
          </a:xfrm>
          <a:prstGeom prst="rect">
            <a:avLst/>
          </a:prstGeom>
          <a:noFill/>
          <a:ln/>
        </p:spPr>
        <p:txBody>
          <a:bodyPr wrap="square" lIns="0" tIns="0" rIns="0" bIns="0" rtlCol="0" anchor="t"/>
          <a:lstStyle/>
          <a:p>
            <a:pPr indent="0" marL="0">
              <a:buNone/>
            </a:pPr>
            <a:r>
              <a:rPr lang="en-US" sz="1100" b="1" dirty="0">
                <a:solidFill>
                  <a:srgbClr val="26303A"/>
                </a:solidFill>
                <a:latin typeface="Meiryo UI" pitchFamily="34" charset="0"/>
                <a:ea typeface="Meiryo UI" pitchFamily="34" charset="-122"/>
                <a:cs typeface="Meiryo UI" pitchFamily="34" charset="-120"/>
              </a:rPr>
              <a:t>共感型の動画で直接の問い合わせは発生するか</a:t>
            </a:r>
            <a:endParaRPr lang="en-US" sz="1100" dirty="0"/>
          </a:p>
        </p:txBody>
      </p:sp>
      <p:sp>
        <p:nvSpPr>
          <p:cNvPr id="36" name="Text 34"/>
          <p:cNvSpPr txBox="1"/>
          <p:nvPr/>
        </p:nvSpPr>
        <p:spPr>
          <a:xfrm>
            <a:off x="4566818" y="5623560"/>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主なKPI</a:t>
            </a:r>
            <a:endParaRPr lang="en-US" sz="1050" dirty="0"/>
          </a:p>
        </p:txBody>
      </p:sp>
      <p:sp>
        <p:nvSpPr>
          <p:cNvPr id="37" name="Text 35"/>
          <p:cNvSpPr txBox="1"/>
          <p:nvPr/>
        </p:nvSpPr>
        <p:spPr>
          <a:xfrm>
            <a:off x="5618378" y="5623560"/>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保存数／プロフィール遷移／問い合わせ数</a:t>
            </a:r>
            <a:endParaRPr lang="en-US" sz="1100" dirty="0"/>
          </a:p>
        </p:txBody>
      </p:sp>
      <p:sp>
        <p:nvSpPr>
          <p:cNvPr id="38" name="Shape 36"/>
          <p:cNvSpPr/>
          <p:nvPr/>
        </p:nvSpPr>
        <p:spPr>
          <a:xfrm>
            <a:off x="8127797"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8356397" y="2606040"/>
            <a:ext cx="502920" cy="502920"/>
          </a:xfrm>
          <a:prstGeom prst="ellipse">
            <a:avLst/>
          </a:prstGeom>
          <a:solidFill>
            <a:srgbClr val="D2702A"/>
          </a:solidFill>
          <a:ln w="12700">
            <a:solidFill>
              <a:srgbClr val="D2702A"/>
            </a:solidFill>
            <a:prstDash val="solid"/>
          </a:ln>
        </p:spPr>
      </p:sp>
      <p:sp>
        <p:nvSpPr>
          <p:cNvPr id="40" name="Text 38"/>
          <p:cNvSpPr txBox="1"/>
          <p:nvPr/>
        </p:nvSpPr>
        <p:spPr>
          <a:xfrm>
            <a:off x="8356397"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1" name="Text 39"/>
          <p:cNvSpPr txBox="1"/>
          <p:nvPr/>
        </p:nvSpPr>
        <p:spPr>
          <a:xfrm>
            <a:off x="8996477" y="2560320"/>
            <a:ext cx="2509418" cy="347472"/>
          </a:xfrm>
          <a:prstGeom prst="rect">
            <a:avLst/>
          </a:prstGeom>
          <a:noFill/>
          <a:ln/>
        </p:spPr>
        <p:txBody>
          <a:bodyPr wrap="square" lIns="0" tIns="0" rIns="0" bIns="0" rtlCol="0" anchor="t"/>
          <a:lstStyle/>
          <a:p>
            <a:pPr indent="0" marL="0">
              <a:buNone/>
            </a:pPr>
            <a:r>
              <a:rPr lang="en-US" sz="1500" b="1" dirty="0">
                <a:solidFill>
                  <a:srgbClr val="1F5F8B"/>
                </a:solidFill>
                <a:latin typeface="Meiryo UI" pitchFamily="34" charset="0"/>
                <a:ea typeface="Meiryo UI" pitchFamily="34" charset="-122"/>
                <a:cs typeface="Meiryo UI" pitchFamily="34" charset="-120"/>
              </a:rPr>
              <a:t>プル検証（認知拡大）</a:t>
            </a:r>
            <a:endParaRPr lang="en-US" sz="1500" dirty="0"/>
          </a:p>
        </p:txBody>
      </p:sp>
      <p:sp>
        <p:nvSpPr>
          <p:cNvPr id="42" name="Text 40"/>
          <p:cNvSpPr txBox="1"/>
          <p:nvPr/>
        </p:nvSpPr>
        <p:spPr>
          <a:xfrm>
            <a:off x="8996477" y="2880360"/>
            <a:ext cx="2509418" cy="274320"/>
          </a:xfrm>
          <a:prstGeom prst="rect">
            <a:avLst/>
          </a:prstGeom>
          <a:noFill/>
          <a:ln/>
        </p:spPr>
        <p:txBody>
          <a:bodyPr wrap="square" lIns="0" tIns="0" rIns="0" bIns="0" rtlCol="0" anchor="t"/>
          <a:lstStyle/>
          <a:p>
            <a:pPr indent="0" marL="0">
              <a:buNone/>
            </a:pPr>
            <a:r>
              <a:rPr lang="en-US" sz="1150" b="1" dirty="0">
                <a:solidFill>
                  <a:srgbClr val="D2702A"/>
                </a:solidFill>
                <a:latin typeface="Meiryo UI" pitchFamily="34" charset="0"/>
                <a:ea typeface="Meiryo UI" pitchFamily="34" charset="-122"/>
                <a:cs typeface="Meiryo UI" pitchFamily="34" charset="-120"/>
              </a:rPr>
              <a:t>縦型ショート型</a:t>
            </a:r>
            <a:endParaRPr lang="en-US" sz="1150" dirty="0"/>
          </a:p>
        </p:txBody>
      </p:sp>
      <p:sp>
        <p:nvSpPr>
          <p:cNvPr id="43" name="Text 41"/>
          <p:cNvSpPr txBox="1"/>
          <p:nvPr/>
        </p:nvSpPr>
        <p:spPr>
          <a:xfrm>
            <a:off x="8356397" y="3319272"/>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ターゲット</a:t>
            </a:r>
            <a:endParaRPr lang="en-US" sz="1050" dirty="0"/>
          </a:p>
        </p:txBody>
      </p:sp>
      <p:sp>
        <p:nvSpPr>
          <p:cNvPr id="44" name="Text 42"/>
          <p:cNvSpPr txBox="1"/>
          <p:nvPr/>
        </p:nvSpPr>
        <p:spPr>
          <a:xfrm>
            <a:off x="9407957" y="3319272"/>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関東全域の、まだ貴社を知らない層</a:t>
            </a:r>
            <a:endParaRPr lang="en-US" sz="1100" dirty="0"/>
          </a:p>
        </p:txBody>
      </p:sp>
      <p:sp>
        <p:nvSpPr>
          <p:cNvPr id="45" name="Text 43"/>
          <p:cNvSpPr txBox="1"/>
          <p:nvPr/>
        </p:nvSpPr>
        <p:spPr>
          <a:xfrm>
            <a:off x="8356397" y="3895344"/>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テーマ案</a:t>
            </a:r>
            <a:endParaRPr lang="en-US" sz="1050" dirty="0"/>
          </a:p>
        </p:txBody>
      </p:sp>
      <p:sp>
        <p:nvSpPr>
          <p:cNvPr id="46" name="Text 44"/>
          <p:cNvSpPr txBox="1"/>
          <p:nvPr/>
        </p:nvSpPr>
        <p:spPr>
          <a:xfrm>
            <a:off x="9407957" y="3895344"/>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その見積もり、高すぎない？</a:t>
            </a:r>
            <a:endParaRPr lang="en-US" sz="1100" dirty="0"/>
          </a:p>
        </p:txBody>
      </p:sp>
      <p:sp>
        <p:nvSpPr>
          <p:cNvPr id="47" name="Text 45"/>
          <p:cNvSpPr txBox="1"/>
          <p:nvPr/>
        </p:nvSpPr>
        <p:spPr>
          <a:xfrm>
            <a:off x="8356397" y="4471416"/>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配信先</a:t>
            </a:r>
            <a:endParaRPr lang="en-US" sz="1050" dirty="0"/>
          </a:p>
        </p:txBody>
      </p:sp>
      <p:sp>
        <p:nvSpPr>
          <p:cNvPr id="48" name="Text 46"/>
          <p:cNvSpPr txBox="1"/>
          <p:nvPr/>
        </p:nvSpPr>
        <p:spPr>
          <a:xfrm>
            <a:off x="9407957" y="4471416"/>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TikTok、YouTubeショート、リール</a:t>
            </a:r>
            <a:endParaRPr lang="en-US" sz="1100" dirty="0"/>
          </a:p>
        </p:txBody>
      </p:sp>
      <p:sp>
        <p:nvSpPr>
          <p:cNvPr id="49" name="Text 47"/>
          <p:cNvSpPr txBox="1"/>
          <p:nvPr/>
        </p:nvSpPr>
        <p:spPr>
          <a:xfrm>
            <a:off x="8356397" y="5047488"/>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検証する仮説</a:t>
            </a:r>
            <a:endParaRPr lang="en-US" sz="1050" dirty="0"/>
          </a:p>
        </p:txBody>
      </p:sp>
      <p:sp>
        <p:nvSpPr>
          <p:cNvPr id="50" name="Text 48"/>
          <p:cNvSpPr txBox="1"/>
          <p:nvPr/>
        </p:nvSpPr>
        <p:spPr>
          <a:xfrm>
            <a:off x="9407957" y="5047488"/>
            <a:ext cx="2052218" cy="530352"/>
          </a:xfrm>
          <a:prstGeom prst="rect">
            <a:avLst/>
          </a:prstGeom>
          <a:noFill/>
          <a:ln/>
        </p:spPr>
        <p:txBody>
          <a:bodyPr wrap="square" lIns="0" tIns="0" rIns="0" bIns="0" rtlCol="0" anchor="t"/>
          <a:lstStyle/>
          <a:p>
            <a:pPr indent="0" marL="0">
              <a:buNone/>
            </a:pPr>
            <a:r>
              <a:rPr lang="en-US" sz="1100" b="1" dirty="0">
                <a:solidFill>
                  <a:srgbClr val="26303A"/>
                </a:solidFill>
                <a:latin typeface="Meiryo UI" pitchFamily="34" charset="0"/>
                <a:ea typeface="Meiryo UI" pitchFamily="34" charset="-122"/>
                <a:cs typeface="Meiryo UI" pitchFamily="34" charset="-120"/>
              </a:rPr>
              <a:t>関東全域でどの悩みテーマが響くか</a:t>
            </a:r>
            <a:endParaRPr lang="en-US" sz="1100" dirty="0"/>
          </a:p>
        </p:txBody>
      </p:sp>
      <p:sp>
        <p:nvSpPr>
          <p:cNvPr id="51" name="Text 49"/>
          <p:cNvSpPr txBox="1"/>
          <p:nvPr/>
        </p:nvSpPr>
        <p:spPr>
          <a:xfrm>
            <a:off x="8356397" y="5623560"/>
            <a:ext cx="1051560" cy="5029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主なKPI</a:t>
            </a:r>
            <a:endParaRPr lang="en-US" sz="1050" dirty="0"/>
          </a:p>
        </p:txBody>
      </p:sp>
      <p:sp>
        <p:nvSpPr>
          <p:cNvPr id="52" name="Text 50"/>
          <p:cNvSpPr txBox="1"/>
          <p:nvPr/>
        </p:nvSpPr>
        <p:spPr>
          <a:xfrm>
            <a:off x="9407957" y="5623560"/>
            <a:ext cx="2052218" cy="530352"/>
          </a:xfrm>
          <a:prstGeom prst="rect">
            <a:avLst/>
          </a:prstGeom>
          <a:noFill/>
          <a:ln/>
        </p:spPr>
        <p:txBody>
          <a:bodyPr wrap="square" lIns="0" tIns="0" rIns="0" bIns="0" rtlCol="0" anchor="t"/>
          <a:lstStyle/>
          <a:p>
            <a:pPr indent="0" marL="0">
              <a:buNone/>
            </a:pPr>
            <a:r>
              <a:rPr lang="en-US" sz="1100" dirty="0">
                <a:solidFill>
                  <a:srgbClr val="26303A"/>
                </a:solidFill>
                <a:latin typeface="Meiryo UI" pitchFamily="34" charset="0"/>
                <a:ea typeface="Meiryo UI" pitchFamily="34" charset="-122"/>
                <a:cs typeface="Meiryo UI" pitchFamily="34" charset="-120"/>
              </a:rPr>
              <a:t>再生数／視聴維持率／プロフィール遷移数</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フェーズ1の進め方（約6週間）と、3本だけで終える限界</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2743200" cy="320040"/>
          </a:xfrm>
          <a:prstGeom prst="rect">
            <a:avLst/>
          </a:prstGeom>
          <a:noFill/>
          <a:ln/>
        </p:spPr>
        <p:txBody>
          <a:bodyPr wrap="square" lIns="0" tIns="0" rIns="0" bIns="0" rtlCol="0" anchor="t"/>
          <a:lstStyle/>
          <a:p>
            <a:pPr indent="0" marL="0">
              <a:buNone/>
            </a:pPr>
            <a:r>
              <a:rPr lang="en-US" sz="1400" b="1" dirty="0">
                <a:solidFill>
                  <a:srgbClr val="D2702A"/>
                </a:solidFill>
                <a:latin typeface="Meiryo UI" pitchFamily="34" charset="0"/>
                <a:ea typeface="Meiryo UI" pitchFamily="34" charset="-122"/>
                <a:cs typeface="Meiryo UI" pitchFamily="34" charset="-120"/>
              </a:rPr>
              <a:t>スケジュール</a:t>
            </a:r>
            <a:endParaRPr lang="en-US" sz="1400" dirty="0"/>
          </a:p>
        </p:txBody>
      </p:sp>
      <p:sp>
        <p:nvSpPr>
          <p:cNvPr id="7" name="Shape 5"/>
          <p:cNvSpPr/>
          <p:nvPr/>
        </p:nvSpPr>
        <p:spPr>
          <a:xfrm>
            <a:off x="548640" y="1783080"/>
            <a:ext cx="1280160" cy="932688"/>
          </a:xfrm>
          <a:prstGeom prst="roundRect">
            <a:avLst>
              <a:gd name="adj" fmla="val 11765"/>
            </a:avLst>
          </a:prstGeom>
          <a:solidFill>
            <a:srgbClr val="1F5F8B"/>
          </a:solidFill>
          <a:ln w="12700">
            <a:solidFill>
              <a:srgbClr val="1F5F8B"/>
            </a:solidFill>
            <a:prstDash val="solid"/>
          </a:ln>
        </p:spPr>
      </p:sp>
      <p:sp>
        <p:nvSpPr>
          <p:cNvPr id="8" name="Text 6"/>
          <p:cNvSpPr txBox="1"/>
          <p:nvPr/>
        </p:nvSpPr>
        <p:spPr>
          <a:xfrm>
            <a:off x="548640" y="18745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1週目</a:t>
            </a:r>
            <a:endParaRPr lang="en-US" sz="1400" dirty="0"/>
          </a:p>
        </p:txBody>
      </p:sp>
      <p:sp>
        <p:nvSpPr>
          <p:cNvPr id="9" name="Text 7"/>
          <p:cNvSpPr txBox="1"/>
          <p:nvPr/>
        </p:nvSpPr>
        <p:spPr>
          <a:xfrm>
            <a:off x="548640" y="2240280"/>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キックオフ</a:t>
            </a:r>
            <a:endParaRPr lang="en-US" sz="1100" dirty="0"/>
          </a:p>
        </p:txBody>
      </p:sp>
      <p:sp>
        <p:nvSpPr>
          <p:cNvPr id="10" name="Shape 8"/>
          <p:cNvSpPr/>
          <p:nvPr/>
        </p:nvSpPr>
        <p:spPr>
          <a:xfrm>
            <a:off x="1965960" y="1783080"/>
            <a:ext cx="5257800" cy="932688"/>
          </a:xfrm>
          <a:prstGeom prst="roundRect">
            <a:avLst>
              <a:gd name="adj" fmla="val 11765"/>
            </a:avLst>
          </a:prstGeom>
          <a:solidFill>
            <a:srgbClr val="F5F9FC"/>
          </a:solidFill>
          <a:ln w="12700">
            <a:solidFill>
              <a:srgbClr val="F5F9FC"/>
            </a:solidFill>
            <a:prstDash val="solid"/>
          </a:ln>
        </p:spPr>
      </p:sp>
      <p:sp>
        <p:nvSpPr>
          <p:cNvPr id="11" name="Text 9"/>
          <p:cNvSpPr txBox="1"/>
          <p:nvPr/>
        </p:nvSpPr>
        <p:spPr>
          <a:xfrm>
            <a:off x="2148840" y="1874520"/>
            <a:ext cx="4892040" cy="411480"/>
          </a:xfrm>
          <a:prstGeom prst="rect">
            <a:avLst/>
          </a:prstGeom>
          <a:noFill/>
          <a:ln/>
        </p:spPr>
        <p:txBody>
          <a:bodyPr wrap="square" lIns="0" tIns="0" rIns="0" bIns="0" rtlCol="0" anchor="ctr"/>
          <a:lstStyle/>
          <a:p>
            <a:pPr indent="0" marL="0">
              <a:buNone/>
            </a:pPr>
            <a:r>
              <a:rPr lang="en-US" sz="1250" b="1" dirty="0">
                <a:solidFill>
                  <a:srgbClr val="143E5C"/>
                </a:solidFill>
                <a:latin typeface="Meiryo UI" pitchFamily="34" charset="0"/>
                <a:ea typeface="Meiryo UI" pitchFamily="34" charset="-122"/>
                <a:cs typeface="Meiryo UI" pitchFamily="34" charset="-120"/>
              </a:rPr>
              <a:t>現状数値の確認／KPI設定／台本作成</a:t>
            </a:r>
            <a:endParaRPr lang="en-US" sz="1250" dirty="0"/>
          </a:p>
        </p:txBody>
      </p:sp>
      <p:sp>
        <p:nvSpPr>
          <p:cNvPr id="12" name="Text 10"/>
          <p:cNvSpPr txBox="1"/>
          <p:nvPr/>
        </p:nvSpPr>
        <p:spPr>
          <a:xfrm>
            <a:off x="2148840" y="2286000"/>
            <a:ext cx="4892040" cy="347472"/>
          </a:xfrm>
          <a:prstGeom prst="rect">
            <a:avLst/>
          </a:prstGeom>
          <a:noFill/>
          <a:ln/>
        </p:spPr>
        <p:txBody>
          <a:bodyPr wrap="square" lIns="0" tIns="0" rIns="0" bIns="0" rtlCol="0" anchor="ctr"/>
          <a:lstStyle/>
          <a:p>
            <a:pPr indent="0" marL="0">
              <a:buNone/>
            </a:pPr>
            <a:r>
              <a:rPr lang="en-US" sz="1100" dirty="0">
                <a:solidFill>
                  <a:srgbClr val="637585"/>
                </a:solidFill>
                <a:latin typeface="Meiryo UI" pitchFamily="34" charset="0"/>
                <a:ea typeface="Meiryo UI" pitchFamily="34" charset="-122"/>
                <a:cs typeface="Meiryo UI" pitchFamily="34" charset="-120"/>
              </a:rPr>
              <a:t>貴社：会社案内・作業事例の写真、現状数値のご共有</a:t>
            </a:r>
            <a:endParaRPr lang="en-US" sz="1100" dirty="0"/>
          </a:p>
        </p:txBody>
      </p:sp>
      <p:sp>
        <p:nvSpPr>
          <p:cNvPr id="13" name="Shape 11"/>
          <p:cNvSpPr/>
          <p:nvPr/>
        </p:nvSpPr>
        <p:spPr>
          <a:xfrm>
            <a:off x="548640" y="2898648"/>
            <a:ext cx="1280160" cy="932688"/>
          </a:xfrm>
          <a:prstGeom prst="roundRect">
            <a:avLst>
              <a:gd name="adj" fmla="val 11765"/>
            </a:avLst>
          </a:prstGeom>
          <a:solidFill>
            <a:srgbClr val="1F5F8B"/>
          </a:solidFill>
          <a:ln w="12700">
            <a:solidFill>
              <a:srgbClr val="1F5F8B"/>
            </a:solidFill>
            <a:prstDash val="solid"/>
          </a:ln>
        </p:spPr>
      </p:sp>
      <p:sp>
        <p:nvSpPr>
          <p:cNvPr id="14" name="Text 12"/>
          <p:cNvSpPr txBox="1"/>
          <p:nvPr/>
        </p:nvSpPr>
        <p:spPr>
          <a:xfrm>
            <a:off x="548640" y="2990088"/>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2週目</a:t>
            </a:r>
            <a:endParaRPr lang="en-US" sz="1400" dirty="0"/>
          </a:p>
        </p:txBody>
      </p:sp>
      <p:sp>
        <p:nvSpPr>
          <p:cNvPr id="15" name="Text 13"/>
          <p:cNvSpPr txBox="1"/>
          <p:nvPr/>
        </p:nvSpPr>
        <p:spPr>
          <a:xfrm>
            <a:off x="548640" y="3355848"/>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制作</a:t>
            </a:r>
            <a:endParaRPr lang="en-US" sz="1100" dirty="0"/>
          </a:p>
        </p:txBody>
      </p:sp>
      <p:sp>
        <p:nvSpPr>
          <p:cNvPr id="16" name="Shape 14"/>
          <p:cNvSpPr/>
          <p:nvPr/>
        </p:nvSpPr>
        <p:spPr>
          <a:xfrm>
            <a:off x="1965960" y="2898648"/>
            <a:ext cx="5257800" cy="932688"/>
          </a:xfrm>
          <a:prstGeom prst="roundRect">
            <a:avLst>
              <a:gd name="adj" fmla="val 11765"/>
            </a:avLst>
          </a:prstGeom>
          <a:solidFill>
            <a:srgbClr val="F5F9FC"/>
          </a:solidFill>
          <a:ln w="12700">
            <a:solidFill>
              <a:srgbClr val="F5F9FC"/>
            </a:solidFill>
            <a:prstDash val="solid"/>
          </a:ln>
        </p:spPr>
      </p:sp>
      <p:sp>
        <p:nvSpPr>
          <p:cNvPr id="17" name="Text 15"/>
          <p:cNvSpPr txBox="1"/>
          <p:nvPr/>
        </p:nvSpPr>
        <p:spPr>
          <a:xfrm>
            <a:off x="2148840" y="2990088"/>
            <a:ext cx="4892040" cy="411480"/>
          </a:xfrm>
          <a:prstGeom prst="rect">
            <a:avLst/>
          </a:prstGeom>
          <a:noFill/>
          <a:ln/>
        </p:spPr>
        <p:txBody>
          <a:bodyPr wrap="square" lIns="0" tIns="0" rIns="0" bIns="0" rtlCol="0" anchor="ctr"/>
          <a:lstStyle/>
          <a:p>
            <a:pPr indent="0" marL="0">
              <a:buNone/>
            </a:pPr>
            <a:r>
              <a:rPr lang="en-US" sz="1250" b="1" dirty="0">
                <a:solidFill>
                  <a:srgbClr val="143E5C"/>
                </a:solidFill>
                <a:latin typeface="Meiryo UI" pitchFamily="34" charset="0"/>
                <a:ea typeface="Meiryo UI" pitchFamily="34" charset="-122"/>
                <a:cs typeface="Meiryo UI" pitchFamily="34" charset="-120"/>
              </a:rPr>
              <a:t>3本の制作・初稿確認・修正</a:t>
            </a:r>
            <a:endParaRPr lang="en-US" sz="1250" dirty="0"/>
          </a:p>
        </p:txBody>
      </p:sp>
      <p:sp>
        <p:nvSpPr>
          <p:cNvPr id="18" name="Text 16"/>
          <p:cNvSpPr txBox="1"/>
          <p:nvPr/>
        </p:nvSpPr>
        <p:spPr>
          <a:xfrm>
            <a:off x="2148840" y="3401568"/>
            <a:ext cx="4892040" cy="347472"/>
          </a:xfrm>
          <a:prstGeom prst="rect">
            <a:avLst/>
          </a:prstGeom>
          <a:noFill/>
          <a:ln/>
        </p:spPr>
        <p:txBody>
          <a:bodyPr wrap="square" lIns="0" tIns="0" rIns="0" bIns="0" rtlCol="0" anchor="ctr"/>
          <a:lstStyle/>
          <a:p>
            <a:pPr indent="0" marL="0">
              <a:buNone/>
            </a:pPr>
            <a:r>
              <a:rPr lang="en-US" sz="1100" dirty="0">
                <a:solidFill>
                  <a:srgbClr val="637585"/>
                </a:solidFill>
                <a:latin typeface="Meiryo UI" pitchFamily="34" charset="0"/>
                <a:ea typeface="Meiryo UI" pitchFamily="34" charset="-122"/>
                <a:cs typeface="Meiryo UI" pitchFamily="34" charset="-120"/>
              </a:rPr>
              <a:t>貴社：初稿のご確認（30分程度）</a:t>
            </a:r>
            <a:endParaRPr lang="en-US" sz="1100" dirty="0"/>
          </a:p>
        </p:txBody>
      </p:sp>
      <p:sp>
        <p:nvSpPr>
          <p:cNvPr id="19" name="Shape 17"/>
          <p:cNvSpPr/>
          <p:nvPr/>
        </p:nvSpPr>
        <p:spPr>
          <a:xfrm>
            <a:off x="548640" y="4014216"/>
            <a:ext cx="1280160" cy="932688"/>
          </a:xfrm>
          <a:prstGeom prst="roundRect">
            <a:avLst>
              <a:gd name="adj" fmla="val 11765"/>
            </a:avLst>
          </a:prstGeom>
          <a:solidFill>
            <a:srgbClr val="1F5F8B"/>
          </a:solidFill>
          <a:ln w="12700">
            <a:solidFill>
              <a:srgbClr val="1F5F8B"/>
            </a:solidFill>
            <a:prstDash val="solid"/>
          </a:ln>
        </p:spPr>
      </p:sp>
      <p:sp>
        <p:nvSpPr>
          <p:cNvPr id="20" name="Text 18"/>
          <p:cNvSpPr txBox="1"/>
          <p:nvPr/>
        </p:nvSpPr>
        <p:spPr>
          <a:xfrm>
            <a:off x="548640" y="4105656"/>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3〜5週目</a:t>
            </a:r>
            <a:endParaRPr lang="en-US" sz="1400" dirty="0"/>
          </a:p>
        </p:txBody>
      </p:sp>
      <p:sp>
        <p:nvSpPr>
          <p:cNvPr id="21" name="Text 19"/>
          <p:cNvSpPr txBox="1"/>
          <p:nvPr/>
        </p:nvSpPr>
        <p:spPr>
          <a:xfrm>
            <a:off x="548640" y="4471416"/>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配信・送付</a:t>
            </a:r>
            <a:endParaRPr lang="en-US" sz="1100" dirty="0"/>
          </a:p>
        </p:txBody>
      </p:sp>
      <p:sp>
        <p:nvSpPr>
          <p:cNvPr id="22" name="Shape 20"/>
          <p:cNvSpPr/>
          <p:nvPr/>
        </p:nvSpPr>
        <p:spPr>
          <a:xfrm>
            <a:off x="1965960" y="4014216"/>
            <a:ext cx="5257800" cy="932688"/>
          </a:xfrm>
          <a:prstGeom prst="roundRect">
            <a:avLst>
              <a:gd name="adj" fmla="val 11765"/>
            </a:avLst>
          </a:prstGeom>
          <a:solidFill>
            <a:srgbClr val="F5F9FC"/>
          </a:solidFill>
          <a:ln w="12700">
            <a:solidFill>
              <a:srgbClr val="F5F9FC"/>
            </a:solidFill>
            <a:prstDash val="solid"/>
          </a:ln>
        </p:spPr>
      </p:sp>
      <p:sp>
        <p:nvSpPr>
          <p:cNvPr id="23" name="Text 21"/>
          <p:cNvSpPr txBox="1"/>
          <p:nvPr/>
        </p:nvSpPr>
        <p:spPr>
          <a:xfrm>
            <a:off x="2148840" y="4105656"/>
            <a:ext cx="4892040" cy="411480"/>
          </a:xfrm>
          <a:prstGeom prst="rect">
            <a:avLst/>
          </a:prstGeom>
          <a:noFill/>
          <a:ln/>
        </p:spPr>
        <p:txBody>
          <a:bodyPr wrap="square" lIns="0" tIns="0" rIns="0" bIns="0" rtlCol="0" anchor="ctr"/>
          <a:lstStyle/>
          <a:p>
            <a:pPr indent="0" marL="0">
              <a:buNone/>
            </a:pPr>
            <a:r>
              <a:rPr lang="en-US" sz="1250" b="1" dirty="0">
                <a:solidFill>
                  <a:srgbClr val="143E5C"/>
                </a:solidFill>
                <a:latin typeface="Meiryo UI" pitchFamily="34" charset="0"/>
                <a:ea typeface="Meiryo UI" pitchFamily="34" charset="-122"/>
                <a:cs typeface="Meiryo UI" pitchFamily="34" charset="-120"/>
              </a:rPr>
              <a:t>プッシュ：紹介元への案内・見積もり前の送付／プル：SNS投稿</a:t>
            </a:r>
            <a:endParaRPr lang="en-US" sz="1250" dirty="0"/>
          </a:p>
        </p:txBody>
      </p:sp>
      <p:sp>
        <p:nvSpPr>
          <p:cNvPr id="24" name="Text 22"/>
          <p:cNvSpPr txBox="1"/>
          <p:nvPr/>
        </p:nvSpPr>
        <p:spPr>
          <a:xfrm>
            <a:off x="2148840" y="4517136"/>
            <a:ext cx="4892040" cy="347472"/>
          </a:xfrm>
          <a:prstGeom prst="rect">
            <a:avLst/>
          </a:prstGeom>
          <a:noFill/>
          <a:ln/>
        </p:spPr>
        <p:txBody>
          <a:bodyPr wrap="square" lIns="0" tIns="0" rIns="0" bIns="0" rtlCol="0" anchor="ctr"/>
          <a:lstStyle/>
          <a:p>
            <a:pPr indent="0" marL="0">
              <a:buNone/>
            </a:pPr>
            <a:r>
              <a:rPr lang="en-US" sz="1100" dirty="0">
                <a:solidFill>
                  <a:srgbClr val="637585"/>
                </a:solidFill>
                <a:latin typeface="Meiryo UI" pitchFamily="34" charset="0"/>
                <a:ea typeface="Meiryo UI" pitchFamily="34" charset="-122"/>
                <a:cs typeface="Meiryo UI" pitchFamily="34" charset="-120"/>
              </a:rPr>
              <a:t>貴社：見積もり・紹介元訪問での動画活用</a:t>
            </a:r>
            <a:endParaRPr lang="en-US" sz="1100" dirty="0"/>
          </a:p>
        </p:txBody>
      </p:sp>
      <p:sp>
        <p:nvSpPr>
          <p:cNvPr id="25" name="Shape 23"/>
          <p:cNvSpPr/>
          <p:nvPr/>
        </p:nvSpPr>
        <p:spPr>
          <a:xfrm>
            <a:off x="548640" y="5129784"/>
            <a:ext cx="1280160" cy="932688"/>
          </a:xfrm>
          <a:prstGeom prst="roundRect">
            <a:avLst>
              <a:gd name="adj" fmla="val 11765"/>
            </a:avLst>
          </a:prstGeom>
          <a:solidFill>
            <a:srgbClr val="D2702A"/>
          </a:solidFill>
          <a:ln w="12700">
            <a:solidFill>
              <a:srgbClr val="D2702A"/>
            </a:solidFill>
            <a:prstDash val="solid"/>
          </a:ln>
        </p:spPr>
      </p:sp>
      <p:sp>
        <p:nvSpPr>
          <p:cNvPr id="26" name="Text 24"/>
          <p:cNvSpPr txBox="1"/>
          <p:nvPr/>
        </p:nvSpPr>
        <p:spPr>
          <a:xfrm>
            <a:off x="548640" y="5221224"/>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6週目</a:t>
            </a:r>
            <a:endParaRPr lang="en-US" sz="1400" dirty="0"/>
          </a:p>
        </p:txBody>
      </p:sp>
      <p:sp>
        <p:nvSpPr>
          <p:cNvPr id="27" name="Text 25"/>
          <p:cNvSpPr txBox="1"/>
          <p:nvPr/>
        </p:nvSpPr>
        <p:spPr>
          <a:xfrm>
            <a:off x="548640" y="5586984"/>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検証レポート会</a:t>
            </a:r>
            <a:endParaRPr lang="en-US" sz="1100" dirty="0"/>
          </a:p>
        </p:txBody>
      </p:sp>
      <p:sp>
        <p:nvSpPr>
          <p:cNvPr id="28" name="Shape 26"/>
          <p:cNvSpPr/>
          <p:nvPr/>
        </p:nvSpPr>
        <p:spPr>
          <a:xfrm>
            <a:off x="1965960" y="5129784"/>
            <a:ext cx="5257800" cy="932688"/>
          </a:xfrm>
          <a:prstGeom prst="roundRect">
            <a:avLst>
              <a:gd name="adj" fmla="val 11765"/>
            </a:avLst>
          </a:prstGeom>
          <a:solidFill>
            <a:srgbClr val="F5F9FC"/>
          </a:solidFill>
          <a:ln w="12700">
            <a:solidFill>
              <a:srgbClr val="F5F9FC"/>
            </a:solidFill>
            <a:prstDash val="solid"/>
          </a:ln>
        </p:spPr>
      </p:sp>
      <p:sp>
        <p:nvSpPr>
          <p:cNvPr id="29" name="Text 27"/>
          <p:cNvSpPr txBox="1"/>
          <p:nvPr/>
        </p:nvSpPr>
        <p:spPr>
          <a:xfrm>
            <a:off x="2148840" y="5221224"/>
            <a:ext cx="4892040" cy="411480"/>
          </a:xfrm>
          <a:prstGeom prst="rect">
            <a:avLst/>
          </a:prstGeom>
          <a:noFill/>
          <a:ln/>
        </p:spPr>
        <p:txBody>
          <a:bodyPr wrap="square" lIns="0" tIns="0" rIns="0" bIns="0" rtlCol="0" anchor="ctr"/>
          <a:lstStyle/>
          <a:p>
            <a:pPr indent="0" marL="0">
              <a:buNone/>
            </a:pPr>
            <a:r>
              <a:rPr lang="en-US" sz="1250" b="1" dirty="0">
                <a:solidFill>
                  <a:srgbClr val="143E5C"/>
                </a:solidFill>
                <a:latin typeface="Meiryo UI" pitchFamily="34" charset="0"/>
                <a:ea typeface="Meiryo UI" pitchFamily="34" charset="-122"/>
                <a:cs typeface="Meiryo UI" pitchFamily="34" charset="-120"/>
              </a:rPr>
              <a:t>効果検証レポート＆フェーズ2設計会</a:t>
            </a:r>
            <a:endParaRPr lang="en-US" sz="1250" dirty="0"/>
          </a:p>
        </p:txBody>
      </p:sp>
      <p:sp>
        <p:nvSpPr>
          <p:cNvPr id="30" name="Text 28"/>
          <p:cNvSpPr txBox="1"/>
          <p:nvPr/>
        </p:nvSpPr>
        <p:spPr>
          <a:xfrm>
            <a:off x="2148840" y="5632704"/>
            <a:ext cx="4892040" cy="347472"/>
          </a:xfrm>
          <a:prstGeom prst="rect">
            <a:avLst/>
          </a:prstGeom>
          <a:noFill/>
          <a:ln/>
        </p:spPr>
        <p:txBody>
          <a:bodyPr wrap="square" lIns="0" tIns="0" rIns="0" bIns="0" rtlCol="0" anchor="ctr"/>
          <a:lstStyle/>
          <a:p>
            <a:pPr indent="0" marL="0">
              <a:buNone/>
            </a:pPr>
            <a:r>
              <a:rPr lang="en-US" sz="1100" dirty="0">
                <a:solidFill>
                  <a:srgbClr val="637585"/>
                </a:solidFill>
                <a:latin typeface="Meiryo UI" pitchFamily="34" charset="0"/>
                <a:ea typeface="Meiryo UI" pitchFamily="34" charset="-122"/>
                <a:cs typeface="Meiryo UI" pitchFamily="34" charset="-120"/>
              </a:rPr>
              <a:t>貴社：結果のご確認・次の打ち手の合意</a:t>
            </a:r>
            <a:endParaRPr lang="en-US" sz="1100" dirty="0"/>
          </a:p>
        </p:txBody>
      </p:sp>
      <p:sp>
        <p:nvSpPr>
          <p:cNvPr id="31" name="Shape 29"/>
          <p:cNvSpPr/>
          <p:nvPr/>
        </p:nvSpPr>
        <p:spPr>
          <a:xfrm>
            <a:off x="7589520" y="1371600"/>
            <a:ext cx="4053535" cy="4892040"/>
          </a:xfrm>
          <a:prstGeom prst="roundRect">
            <a:avLst>
              <a:gd name="adj" fmla="val 2707"/>
            </a:avLst>
          </a:prstGeom>
          <a:solidFill>
            <a:srgbClr val="FDF0E3"/>
          </a:solidFill>
          <a:ln w="12700">
            <a:solidFill>
              <a:srgbClr val="FDF0E3"/>
            </a:solidFill>
            <a:prstDash val="solid"/>
          </a:ln>
        </p:spPr>
      </p:sp>
      <p:sp>
        <p:nvSpPr>
          <p:cNvPr id="32" name="Shape 30"/>
          <p:cNvSpPr/>
          <p:nvPr/>
        </p:nvSpPr>
        <p:spPr>
          <a:xfrm>
            <a:off x="7863840" y="1600200"/>
            <a:ext cx="548640" cy="548640"/>
          </a:xfrm>
          <a:prstGeom prst="ellipse">
            <a:avLst/>
          </a:prstGeom>
          <a:solidFill>
            <a:srgbClr val="D2702A"/>
          </a:solidFill>
          <a:ln w="12700">
            <a:solidFill>
              <a:srgbClr val="D2702A"/>
            </a:solidFill>
            <a:prstDash val="solid"/>
          </a:ln>
        </p:spPr>
      </p:sp>
      <p:pic>
        <p:nvPicPr>
          <p:cNvPr id="33" name="Image 0" descr="preencoded.png">    </p:cNvPr>
          <p:cNvPicPr>
            <a:picLocks noChangeAspect="1"/>
          </p:cNvPicPr>
          <p:nvPr/>
        </p:nvPicPr>
        <p:blipFill>
          <a:blip r:embed="rId1"/>
          <a:stretch>
            <a:fillRect/>
          </a:stretch>
        </p:blipFill>
        <p:spPr>
          <a:xfrm>
            <a:off x="8006486" y="1742846"/>
            <a:ext cx="263347" cy="263347"/>
          </a:xfrm>
          <a:prstGeom prst="rect">
            <a:avLst/>
          </a:prstGeom>
        </p:spPr>
      </p:pic>
      <p:sp>
        <p:nvSpPr>
          <p:cNvPr id="34" name="Text 31"/>
          <p:cNvSpPr txBox="1"/>
          <p:nvPr/>
        </p:nvSpPr>
        <p:spPr>
          <a:xfrm>
            <a:off x="8549640" y="1600200"/>
            <a:ext cx="2910535" cy="548640"/>
          </a:xfrm>
          <a:prstGeom prst="rect">
            <a:avLst/>
          </a:prstGeom>
          <a:noFill/>
          <a:ln/>
        </p:spPr>
        <p:txBody>
          <a:bodyPr wrap="square" lIns="0" tIns="0" rIns="0" bIns="0" rtlCol="0" anchor="ctr"/>
          <a:lstStyle/>
          <a:p>
            <a:pPr indent="0" marL="0">
              <a:buNone/>
            </a:pPr>
            <a:r>
              <a:rPr lang="en-US" sz="1500" b="1" dirty="0">
                <a:solidFill>
                  <a:srgbClr val="D2702A"/>
                </a:solidFill>
                <a:latin typeface="Meiryo UI" pitchFamily="34" charset="0"/>
                <a:ea typeface="Meiryo UI" pitchFamily="34" charset="-122"/>
                <a:cs typeface="Meiryo UI" pitchFamily="34" charset="-120"/>
              </a:rPr>
              <a:t>3本だけで終えた場合の限界</a:t>
            </a:r>
            <a:endParaRPr lang="en-US" sz="1500" dirty="0"/>
          </a:p>
        </p:txBody>
      </p:sp>
      <p:sp>
        <p:nvSpPr>
          <p:cNvPr id="35" name="Text 32"/>
          <p:cNvSpPr txBox="1"/>
          <p:nvPr/>
        </p:nvSpPr>
        <p:spPr>
          <a:xfrm>
            <a:off x="7863840" y="2377440"/>
            <a:ext cx="3504895" cy="320040"/>
          </a:xfrm>
          <a:prstGeom prst="rect">
            <a:avLst/>
          </a:prstGeom>
          <a:noFill/>
          <a:ln/>
        </p:spPr>
        <p:txBody>
          <a:bodyPr wrap="square" lIns="0" tIns="0" rIns="0" bIns="0" rtlCol="0" anchor="t"/>
          <a:lstStyle/>
          <a:p>
            <a:pPr indent="0" marL="0">
              <a:buNone/>
            </a:pPr>
            <a:r>
              <a:rPr lang="en-US" sz="1300" b="1" dirty="0">
                <a:solidFill>
                  <a:srgbClr val="143E5C"/>
                </a:solidFill>
                <a:latin typeface="Meiryo UI" pitchFamily="34" charset="0"/>
                <a:ea typeface="Meiryo UI" pitchFamily="34" charset="-122"/>
                <a:cs typeface="Meiryo UI" pitchFamily="34" charset="-120"/>
              </a:rPr>
              <a:t>繁忙期に間に合わない</a:t>
            </a:r>
            <a:endParaRPr lang="en-US" sz="1300" dirty="0"/>
          </a:p>
        </p:txBody>
      </p:sp>
      <p:sp>
        <p:nvSpPr>
          <p:cNvPr id="36" name="Text 33"/>
          <p:cNvSpPr txBox="1"/>
          <p:nvPr/>
        </p:nvSpPr>
        <p:spPr>
          <a:xfrm>
            <a:off x="7863840" y="2715768"/>
            <a:ext cx="3504895" cy="59436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3本で止めると、年末の大掃除・春の引っ越しシーズンまでに集客の導線が整わない</a:t>
            </a:r>
            <a:endParaRPr lang="en-US" sz="1150" dirty="0"/>
          </a:p>
        </p:txBody>
      </p:sp>
      <p:sp>
        <p:nvSpPr>
          <p:cNvPr id="37" name="Text 34"/>
          <p:cNvSpPr txBox="1"/>
          <p:nvPr/>
        </p:nvSpPr>
        <p:spPr>
          <a:xfrm>
            <a:off x="7863840" y="3401568"/>
            <a:ext cx="3504895" cy="320040"/>
          </a:xfrm>
          <a:prstGeom prst="rect">
            <a:avLst/>
          </a:prstGeom>
          <a:noFill/>
          <a:ln/>
        </p:spPr>
        <p:txBody>
          <a:bodyPr wrap="square" lIns="0" tIns="0" rIns="0" bIns="0" rtlCol="0" anchor="t"/>
          <a:lstStyle/>
          <a:p>
            <a:pPr indent="0" marL="0">
              <a:buNone/>
            </a:pPr>
            <a:r>
              <a:rPr lang="en-US" sz="1300" b="1" dirty="0">
                <a:solidFill>
                  <a:srgbClr val="143E5C"/>
                </a:solidFill>
                <a:latin typeface="Meiryo UI" pitchFamily="34" charset="0"/>
                <a:ea typeface="Meiryo UI" pitchFamily="34" charset="-122"/>
                <a:cs typeface="Meiryo UI" pitchFamily="34" charset="-120"/>
              </a:rPr>
              <a:t>SNSの成長がリセット</a:t>
            </a:r>
            <a:endParaRPr lang="en-US" sz="1300" dirty="0"/>
          </a:p>
        </p:txBody>
      </p:sp>
      <p:sp>
        <p:nvSpPr>
          <p:cNvPr id="38" name="Text 35"/>
          <p:cNvSpPr txBox="1"/>
          <p:nvPr/>
        </p:nvSpPr>
        <p:spPr>
          <a:xfrm>
            <a:off x="7863840" y="3739896"/>
            <a:ext cx="3504895" cy="59436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SNSは投稿の継続性が評価されるため、止めると積み上げが消える</a:t>
            </a:r>
            <a:endParaRPr lang="en-US" sz="1150" dirty="0"/>
          </a:p>
        </p:txBody>
      </p:sp>
      <p:sp>
        <p:nvSpPr>
          <p:cNvPr id="39" name="Text 36"/>
          <p:cNvSpPr txBox="1"/>
          <p:nvPr/>
        </p:nvSpPr>
        <p:spPr>
          <a:xfrm>
            <a:off x="7863840" y="4425696"/>
            <a:ext cx="3504895" cy="320040"/>
          </a:xfrm>
          <a:prstGeom prst="rect">
            <a:avLst/>
          </a:prstGeom>
          <a:noFill/>
          <a:ln/>
        </p:spPr>
        <p:txBody>
          <a:bodyPr wrap="square" lIns="0" tIns="0" rIns="0" bIns="0" rtlCol="0" anchor="t"/>
          <a:lstStyle/>
          <a:p>
            <a:pPr indent="0" marL="0">
              <a:buNone/>
            </a:pPr>
            <a:r>
              <a:rPr lang="en-US" sz="1300" b="1" dirty="0">
                <a:solidFill>
                  <a:srgbClr val="143E5C"/>
                </a:solidFill>
                <a:latin typeface="Meiryo UI" pitchFamily="34" charset="0"/>
                <a:ea typeface="Meiryo UI" pitchFamily="34" charset="-122"/>
                <a:cs typeface="Meiryo UI" pitchFamily="34" charset="-120"/>
              </a:rPr>
              <a:t>紹介元に忘れられる</a:t>
            </a:r>
            <a:endParaRPr lang="en-US" sz="1300" dirty="0"/>
          </a:p>
        </p:txBody>
      </p:sp>
      <p:sp>
        <p:nvSpPr>
          <p:cNvPr id="40" name="Text 37"/>
          <p:cNvSpPr txBox="1"/>
          <p:nvPr/>
        </p:nvSpPr>
        <p:spPr>
          <a:xfrm>
            <a:off x="7863840" y="4764024"/>
            <a:ext cx="3504895" cy="59436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紹介は繰り返しの接点で生まれる。単発の案内では思い出してもらえない</a:t>
            </a:r>
            <a:endParaRPr lang="en-US" sz="1150" dirty="0"/>
          </a:p>
        </p:txBody>
      </p:sp>
      <p:sp>
        <p:nvSpPr>
          <p:cNvPr id="41" name="Text 38"/>
          <p:cNvSpPr txBox="1"/>
          <p:nvPr/>
        </p:nvSpPr>
        <p:spPr>
          <a:xfrm>
            <a:off x="7863840" y="5486400"/>
            <a:ext cx="3504895" cy="64008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だからこそ、フェーズ1は伴走プランの“初月”として設計します。</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有料伴走プランで実施すること：制作から販路拡大まで一気通貫</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19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737360"/>
            <a:ext cx="685800" cy="685800"/>
          </a:xfrm>
          <a:prstGeom prst="ellipse">
            <a:avLst/>
          </a:prstGeom>
          <a:solidFill>
            <a:srgbClr val="1F5F8B"/>
          </a:solidFill>
          <a:ln w="12700">
            <a:solidFill>
              <a:srgbClr val="1F5F8B"/>
            </a:solidFill>
            <a:prstDash val="solid"/>
          </a:ln>
        </p:spPr>
      </p:sp>
      <p:pic>
        <p:nvPicPr>
          <p:cNvPr id="8"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9" name="Text 6"/>
          <p:cNvSpPr txBox="1"/>
          <p:nvPr/>
        </p:nvSpPr>
        <p:spPr>
          <a:xfrm>
            <a:off x="1645920" y="1737360"/>
            <a:ext cx="2235098" cy="685800"/>
          </a:xfrm>
          <a:prstGeom prst="rect">
            <a:avLst/>
          </a:prstGeom>
          <a:noFill/>
          <a:ln/>
        </p:spPr>
        <p:txBody>
          <a:bodyPr wrap="square" lIns="0" tIns="0" rIns="0" bIns="0" rtlCol="0" anchor="ctr"/>
          <a:lstStyle/>
          <a:p>
            <a:pPr indent="0" marL="0">
              <a:buNone/>
            </a:pPr>
            <a:r>
              <a:rPr lang="en-US" sz="1550" b="1" dirty="0">
                <a:solidFill>
                  <a:srgbClr val="1F5F8B"/>
                </a:solidFill>
                <a:latin typeface="Meiryo UI" pitchFamily="34" charset="0"/>
                <a:ea typeface="Meiryo UI" pitchFamily="34" charset="-122"/>
                <a:cs typeface="Meiryo UI" pitchFamily="34" charset="-120"/>
              </a:rPr>
              <a:t>動画の追加生成</a:t>
            </a:r>
            <a:endParaRPr lang="en-US" sz="1550" dirty="0"/>
          </a:p>
        </p:txBody>
      </p:sp>
      <p:sp>
        <p:nvSpPr>
          <p:cNvPr id="10" name="Text 7"/>
          <p:cNvSpPr txBox="1"/>
          <p:nvPr/>
        </p:nvSpPr>
        <p:spPr>
          <a:xfrm>
            <a:off x="822960"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6303A"/>
                </a:solidFill>
                <a:latin typeface="Meiryo UI" pitchFamily="34" charset="0"/>
                <a:ea typeface="Meiryo UI" pitchFamily="34" charset="-122"/>
                <a:cs typeface="Meiryo UI" pitchFamily="34" charset="-120"/>
              </a:rPr>
              <a:t>成果の出た型を軸に、遺品整理・ゴミ屋敷・施設の退去・特殊清掃など相談内容別に継続制作</a:t>
            </a:r>
            <a:endParaRPr lang="en-US" sz="1250" dirty="0"/>
          </a:p>
        </p:txBody>
      </p:sp>
      <p:sp>
        <p:nvSpPr>
          <p:cNvPr id="11" name="Shape 8"/>
          <p:cNvSpPr/>
          <p:nvPr/>
        </p:nvSpPr>
        <p:spPr>
          <a:xfrm>
            <a:off x="4338218"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12538" y="1737360"/>
            <a:ext cx="685800" cy="685800"/>
          </a:xfrm>
          <a:prstGeom prst="ellipse">
            <a:avLst/>
          </a:prstGeom>
          <a:solidFill>
            <a:srgbClr val="1F5F8B"/>
          </a:solidFill>
          <a:ln w="12700">
            <a:solidFill>
              <a:srgbClr val="1F5F8B"/>
            </a:solidFill>
            <a:prstDash val="solid"/>
          </a:ln>
        </p:spPr>
      </p:sp>
      <p:pic>
        <p:nvPicPr>
          <p:cNvPr id="13" name="Image 1" descr="preencoded.png">    </p:cNvPr>
          <p:cNvPicPr>
            <a:picLocks noChangeAspect="1"/>
          </p:cNvPicPr>
          <p:nvPr/>
        </p:nvPicPr>
        <p:blipFill>
          <a:blip r:embed="rId2"/>
          <a:stretch>
            <a:fillRect/>
          </a:stretch>
        </p:blipFill>
        <p:spPr>
          <a:xfrm>
            <a:off x="4790846" y="1915668"/>
            <a:ext cx="329184" cy="329184"/>
          </a:xfrm>
          <a:prstGeom prst="rect">
            <a:avLst/>
          </a:prstGeom>
        </p:spPr>
      </p:pic>
      <p:sp>
        <p:nvSpPr>
          <p:cNvPr id="14" name="Text 10"/>
          <p:cNvSpPr txBox="1"/>
          <p:nvPr/>
        </p:nvSpPr>
        <p:spPr>
          <a:xfrm>
            <a:off x="5435498" y="1737360"/>
            <a:ext cx="2235098" cy="685800"/>
          </a:xfrm>
          <a:prstGeom prst="rect">
            <a:avLst/>
          </a:prstGeom>
          <a:noFill/>
          <a:ln/>
        </p:spPr>
        <p:txBody>
          <a:bodyPr wrap="square" lIns="0" tIns="0" rIns="0" bIns="0" rtlCol="0" anchor="ctr"/>
          <a:lstStyle/>
          <a:p>
            <a:pPr indent="0" marL="0">
              <a:buNone/>
            </a:pPr>
            <a:r>
              <a:rPr lang="en-US" sz="1550" b="1" dirty="0">
                <a:solidFill>
                  <a:srgbClr val="1F5F8B"/>
                </a:solidFill>
                <a:latin typeface="Meiryo UI" pitchFamily="34" charset="0"/>
                <a:ea typeface="Meiryo UI" pitchFamily="34" charset="-122"/>
                <a:cs typeface="Meiryo UI" pitchFamily="34" charset="-120"/>
              </a:rPr>
              <a:t>配信運用</a:t>
            </a:r>
            <a:endParaRPr lang="en-US" sz="1550" dirty="0"/>
          </a:p>
        </p:txBody>
      </p:sp>
      <p:sp>
        <p:nvSpPr>
          <p:cNvPr id="15" name="Text 11"/>
          <p:cNvSpPr txBox="1"/>
          <p:nvPr/>
        </p:nvSpPr>
        <p:spPr>
          <a:xfrm>
            <a:off x="4612538"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6303A"/>
                </a:solidFill>
                <a:latin typeface="Meiryo UI" pitchFamily="34" charset="0"/>
                <a:ea typeface="Meiryo UI" pitchFamily="34" charset="-122"/>
                <a:cs typeface="Meiryo UI" pitchFamily="34" charset="-120"/>
              </a:rPr>
              <a:t>投稿カレンダーの作成、SNS投稿の支援、YouTube・Googleビジネスプロフィールの最適化</a:t>
            </a:r>
            <a:endParaRPr lang="en-US" sz="1250" dirty="0"/>
          </a:p>
        </p:txBody>
      </p:sp>
      <p:sp>
        <p:nvSpPr>
          <p:cNvPr id="16" name="Shape 12"/>
          <p:cNvSpPr/>
          <p:nvPr/>
        </p:nvSpPr>
        <p:spPr>
          <a:xfrm>
            <a:off x="8127797"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402117" y="1737360"/>
            <a:ext cx="685800" cy="685800"/>
          </a:xfrm>
          <a:prstGeom prst="ellipse">
            <a:avLst/>
          </a:prstGeom>
          <a:solidFill>
            <a:srgbClr val="1F5F8B"/>
          </a:solidFill>
          <a:ln w="12700">
            <a:solidFill>
              <a:srgbClr val="1F5F8B"/>
            </a:solidFill>
            <a:prstDash val="solid"/>
          </a:ln>
        </p:spPr>
      </p:sp>
      <p:pic>
        <p:nvPicPr>
          <p:cNvPr id="18" name="Image 2" descr="preencoded.png">    </p:cNvPr>
          <p:cNvPicPr>
            <a:picLocks noChangeAspect="1"/>
          </p:cNvPicPr>
          <p:nvPr/>
        </p:nvPicPr>
        <p:blipFill>
          <a:blip r:embed="rId3"/>
          <a:stretch>
            <a:fillRect/>
          </a:stretch>
        </p:blipFill>
        <p:spPr>
          <a:xfrm>
            <a:off x="8580425" y="1915668"/>
            <a:ext cx="329184" cy="329184"/>
          </a:xfrm>
          <a:prstGeom prst="rect">
            <a:avLst/>
          </a:prstGeom>
        </p:spPr>
      </p:pic>
      <p:sp>
        <p:nvSpPr>
          <p:cNvPr id="19" name="Text 14"/>
          <p:cNvSpPr txBox="1"/>
          <p:nvPr/>
        </p:nvSpPr>
        <p:spPr>
          <a:xfrm>
            <a:off x="9225077" y="1737360"/>
            <a:ext cx="2235098" cy="685800"/>
          </a:xfrm>
          <a:prstGeom prst="rect">
            <a:avLst/>
          </a:prstGeom>
          <a:noFill/>
          <a:ln/>
        </p:spPr>
        <p:txBody>
          <a:bodyPr wrap="square" lIns="0" tIns="0" rIns="0" bIns="0" rtlCol="0" anchor="ctr"/>
          <a:lstStyle/>
          <a:p>
            <a:pPr indent="0" marL="0">
              <a:buNone/>
            </a:pPr>
            <a:r>
              <a:rPr lang="en-US" sz="1550" b="1" dirty="0">
                <a:solidFill>
                  <a:srgbClr val="1F5F8B"/>
                </a:solidFill>
                <a:latin typeface="Meiryo UI" pitchFamily="34" charset="0"/>
                <a:ea typeface="Meiryo UI" pitchFamily="34" charset="-122"/>
                <a:cs typeface="Meiryo UI" pitchFamily="34" charset="-120"/>
              </a:rPr>
              <a:t>営業プロセスへの組み込み</a:t>
            </a:r>
            <a:endParaRPr lang="en-US" sz="1550" dirty="0"/>
          </a:p>
        </p:txBody>
      </p:sp>
      <p:sp>
        <p:nvSpPr>
          <p:cNvPr id="20" name="Text 15"/>
          <p:cNvSpPr txBox="1"/>
          <p:nvPr/>
        </p:nvSpPr>
        <p:spPr>
          <a:xfrm>
            <a:off x="8402117"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6303A"/>
                </a:solidFill>
                <a:latin typeface="Meiryo UI" pitchFamily="34" charset="0"/>
                <a:ea typeface="Meiryo UI" pitchFamily="34" charset="-122"/>
                <a:cs typeface="Meiryo UI" pitchFamily="34" charset="-120"/>
              </a:rPr>
              <a:t>紹介元リストの設計、フォーム営業・DMの文面作成、見積もり前後の送付フローの型化</a:t>
            </a:r>
            <a:endParaRPr lang="en-US" sz="1250" dirty="0"/>
          </a:p>
        </p:txBody>
      </p:sp>
      <p:sp>
        <p:nvSpPr>
          <p:cNvPr id="21" name="Shape 16"/>
          <p:cNvSpPr/>
          <p:nvPr/>
        </p:nvSpPr>
        <p:spPr>
          <a:xfrm>
            <a:off x="548640"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822960" y="4160520"/>
            <a:ext cx="685800" cy="685800"/>
          </a:xfrm>
          <a:prstGeom prst="ellipse">
            <a:avLst/>
          </a:prstGeom>
          <a:solidFill>
            <a:srgbClr val="1F5F8B"/>
          </a:solidFill>
          <a:ln w="12700">
            <a:solidFill>
              <a:srgbClr val="1F5F8B"/>
            </a:solidFill>
            <a:prstDash val="solid"/>
          </a:ln>
        </p:spPr>
      </p:sp>
      <p:pic>
        <p:nvPicPr>
          <p:cNvPr id="23" name="Image 3" descr="preencoded.png">    </p:cNvPr>
          <p:cNvPicPr>
            <a:picLocks noChangeAspect="1"/>
          </p:cNvPicPr>
          <p:nvPr/>
        </p:nvPicPr>
        <p:blipFill>
          <a:blip r:embed="rId4"/>
          <a:stretch>
            <a:fillRect/>
          </a:stretch>
        </p:blipFill>
        <p:spPr>
          <a:xfrm>
            <a:off x="1001268" y="4338828"/>
            <a:ext cx="329184" cy="329184"/>
          </a:xfrm>
          <a:prstGeom prst="rect">
            <a:avLst/>
          </a:prstGeom>
        </p:spPr>
      </p:pic>
      <p:sp>
        <p:nvSpPr>
          <p:cNvPr id="24" name="Text 18"/>
          <p:cNvSpPr txBox="1"/>
          <p:nvPr/>
        </p:nvSpPr>
        <p:spPr>
          <a:xfrm>
            <a:off x="1645920" y="4160520"/>
            <a:ext cx="2235098" cy="685800"/>
          </a:xfrm>
          <a:prstGeom prst="rect">
            <a:avLst/>
          </a:prstGeom>
          <a:noFill/>
          <a:ln/>
        </p:spPr>
        <p:txBody>
          <a:bodyPr wrap="square" lIns="0" tIns="0" rIns="0" bIns="0" rtlCol="0" anchor="ctr"/>
          <a:lstStyle/>
          <a:p>
            <a:pPr indent="0" marL="0">
              <a:buNone/>
            </a:pPr>
            <a:r>
              <a:rPr lang="en-US" sz="1550" b="1" dirty="0">
                <a:solidFill>
                  <a:srgbClr val="1F5F8B"/>
                </a:solidFill>
                <a:latin typeface="Meiryo UI" pitchFamily="34" charset="0"/>
                <a:ea typeface="Meiryo UI" pitchFamily="34" charset="-122"/>
                <a:cs typeface="Meiryo UI" pitchFamily="34" charset="-120"/>
              </a:rPr>
              <a:t>分析・改善</a:t>
            </a:r>
            <a:endParaRPr lang="en-US" sz="1550" dirty="0"/>
          </a:p>
        </p:txBody>
      </p:sp>
      <p:sp>
        <p:nvSpPr>
          <p:cNvPr id="25" name="Text 19"/>
          <p:cNvSpPr txBox="1"/>
          <p:nvPr/>
        </p:nvSpPr>
        <p:spPr>
          <a:xfrm>
            <a:off x="822960"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6303A"/>
                </a:solidFill>
                <a:latin typeface="Meiryo UI" pitchFamily="34" charset="0"/>
                <a:ea typeface="Meiryo UI" pitchFamily="34" charset="-122"/>
                <a:cs typeface="Meiryo UI" pitchFamily="34" charset="-120"/>
              </a:rPr>
              <a:t>月次レポート（視聴・問い合わせ・成約の経路分析）とA/Bテスト</a:t>
            </a:r>
            <a:endParaRPr lang="en-US" sz="1250" dirty="0"/>
          </a:p>
        </p:txBody>
      </p:sp>
      <p:sp>
        <p:nvSpPr>
          <p:cNvPr id="26" name="Shape 20"/>
          <p:cNvSpPr/>
          <p:nvPr/>
        </p:nvSpPr>
        <p:spPr>
          <a:xfrm>
            <a:off x="4338218"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612538" y="4160520"/>
            <a:ext cx="685800" cy="685800"/>
          </a:xfrm>
          <a:prstGeom prst="ellipse">
            <a:avLst/>
          </a:prstGeom>
          <a:solidFill>
            <a:srgbClr val="1F5F8B"/>
          </a:solidFill>
          <a:ln w="12700">
            <a:solidFill>
              <a:srgbClr val="1F5F8B"/>
            </a:solidFill>
            <a:prstDash val="solid"/>
          </a:ln>
        </p:spPr>
      </p:sp>
      <p:pic>
        <p:nvPicPr>
          <p:cNvPr id="28" name="Image 4" descr="preencoded.png">    </p:cNvPr>
          <p:cNvPicPr>
            <a:picLocks noChangeAspect="1"/>
          </p:cNvPicPr>
          <p:nvPr/>
        </p:nvPicPr>
        <p:blipFill>
          <a:blip r:embed="rId5"/>
          <a:stretch>
            <a:fillRect/>
          </a:stretch>
        </p:blipFill>
        <p:spPr>
          <a:xfrm>
            <a:off x="4790846" y="4338828"/>
            <a:ext cx="329184" cy="329184"/>
          </a:xfrm>
          <a:prstGeom prst="rect">
            <a:avLst/>
          </a:prstGeom>
        </p:spPr>
      </p:pic>
      <p:sp>
        <p:nvSpPr>
          <p:cNvPr id="29" name="Text 22"/>
          <p:cNvSpPr txBox="1"/>
          <p:nvPr/>
        </p:nvSpPr>
        <p:spPr>
          <a:xfrm>
            <a:off x="5435498" y="4160520"/>
            <a:ext cx="2235098" cy="685800"/>
          </a:xfrm>
          <a:prstGeom prst="rect">
            <a:avLst/>
          </a:prstGeom>
          <a:noFill/>
          <a:ln/>
        </p:spPr>
        <p:txBody>
          <a:bodyPr wrap="square" lIns="0" tIns="0" rIns="0" bIns="0" rtlCol="0" anchor="ctr"/>
          <a:lstStyle/>
          <a:p>
            <a:pPr indent="0" marL="0">
              <a:buNone/>
            </a:pPr>
            <a:r>
              <a:rPr lang="en-US" sz="1550" b="1" dirty="0">
                <a:solidFill>
                  <a:srgbClr val="1F5F8B"/>
                </a:solidFill>
                <a:latin typeface="Meiryo UI" pitchFamily="34" charset="0"/>
                <a:ea typeface="Meiryo UI" pitchFamily="34" charset="-122"/>
                <a:cs typeface="Meiryo UI" pitchFamily="34" charset="-120"/>
              </a:rPr>
              <a:t>販路拡大・業務改善</a:t>
            </a:r>
            <a:endParaRPr lang="en-US" sz="1550" dirty="0"/>
          </a:p>
        </p:txBody>
      </p:sp>
      <p:sp>
        <p:nvSpPr>
          <p:cNvPr id="30" name="Text 23"/>
          <p:cNvSpPr txBox="1"/>
          <p:nvPr/>
        </p:nvSpPr>
        <p:spPr>
          <a:xfrm>
            <a:off x="4612538"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6303A"/>
                </a:solidFill>
                <a:latin typeface="Meiryo UI" pitchFamily="34" charset="0"/>
                <a:ea typeface="Meiryo UI" pitchFamily="34" charset="-122"/>
                <a:cs typeface="Meiryo UI" pitchFamily="34" charset="-120"/>
              </a:rPr>
              <a:t>コンサルティングチームによる関東圏の紹介ルート開拓と、見積もりから成約までの業務改善</a:t>
            </a:r>
            <a:endParaRPr lang="en-US" sz="1250" dirty="0"/>
          </a:p>
        </p:txBody>
      </p:sp>
      <p:sp>
        <p:nvSpPr>
          <p:cNvPr id="31" name="Shape 24"/>
          <p:cNvSpPr/>
          <p:nvPr/>
        </p:nvSpPr>
        <p:spPr>
          <a:xfrm>
            <a:off x="8127797"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402117" y="4160520"/>
            <a:ext cx="685800" cy="685800"/>
          </a:xfrm>
          <a:prstGeom prst="ellipse">
            <a:avLst/>
          </a:prstGeom>
          <a:solidFill>
            <a:srgbClr val="1F5F8B"/>
          </a:solidFill>
          <a:ln w="12700">
            <a:solidFill>
              <a:srgbClr val="1F5F8B"/>
            </a:solidFill>
            <a:prstDash val="solid"/>
          </a:ln>
        </p:spPr>
      </p:sp>
      <p:pic>
        <p:nvPicPr>
          <p:cNvPr id="33" name="Image 5" descr="preencoded.png">    </p:cNvPr>
          <p:cNvPicPr>
            <a:picLocks noChangeAspect="1"/>
          </p:cNvPicPr>
          <p:nvPr/>
        </p:nvPicPr>
        <p:blipFill>
          <a:blip r:embed="rId6"/>
          <a:stretch>
            <a:fillRect/>
          </a:stretch>
        </p:blipFill>
        <p:spPr>
          <a:xfrm>
            <a:off x="8580425" y="4338828"/>
            <a:ext cx="329184" cy="329184"/>
          </a:xfrm>
          <a:prstGeom prst="rect">
            <a:avLst/>
          </a:prstGeom>
        </p:spPr>
      </p:pic>
      <p:sp>
        <p:nvSpPr>
          <p:cNvPr id="34" name="Text 26"/>
          <p:cNvSpPr txBox="1"/>
          <p:nvPr/>
        </p:nvSpPr>
        <p:spPr>
          <a:xfrm>
            <a:off x="9225077" y="4160520"/>
            <a:ext cx="2235098" cy="685800"/>
          </a:xfrm>
          <a:prstGeom prst="rect">
            <a:avLst/>
          </a:prstGeom>
          <a:noFill/>
          <a:ln/>
        </p:spPr>
        <p:txBody>
          <a:bodyPr wrap="square" lIns="0" tIns="0" rIns="0" bIns="0" rtlCol="0" anchor="ctr"/>
          <a:lstStyle/>
          <a:p>
            <a:pPr indent="0" marL="0">
              <a:buNone/>
            </a:pPr>
            <a:r>
              <a:rPr lang="en-US" sz="1550" b="1" dirty="0">
                <a:solidFill>
                  <a:srgbClr val="1F5F8B"/>
                </a:solidFill>
                <a:latin typeface="Meiryo UI" pitchFamily="34" charset="0"/>
                <a:ea typeface="Meiryo UI" pitchFamily="34" charset="-122"/>
                <a:cs typeface="Meiryo UI" pitchFamily="34" charset="-120"/>
              </a:rPr>
              <a:t>定例ミーティング</a:t>
            </a:r>
            <a:endParaRPr lang="en-US" sz="1550" dirty="0"/>
          </a:p>
        </p:txBody>
      </p:sp>
      <p:sp>
        <p:nvSpPr>
          <p:cNvPr id="35" name="Text 27"/>
          <p:cNvSpPr txBox="1"/>
          <p:nvPr/>
        </p:nvSpPr>
        <p:spPr>
          <a:xfrm>
            <a:off x="8402117"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6303A"/>
                </a:solidFill>
                <a:latin typeface="Meiryo UI" pitchFamily="34" charset="0"/>
                <a:ea typeface="Meiryo UI" pitchFamily="34" charset="-122"/>
                <a:cs typeface="Meiryo UI" pitchFamily="34" charset="-120"/>
              </a:rPr>
              <a:t>月1回の定例で成果を確認し、翌月の施策を決定</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12ヶ月の伴走ロードマップ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2919908" cy="914400"/>
          </a:xfrm>
          <a:prstGeom prst="homePlate">
            <a:avLst/>
          </a:prstGeom>
          <a:solidFill>
            <a:srgbClr val="D2702A"/>
          </a:solidFill>
          <a:ln w="12700">
            <a:solidFill>
              <a:srgbClr val="D2702A"/>
            </a:solidFill>
            <a:prstDash val="solid"/>
          </a:ln>
        </p:spPr>
      </p:sp>
      <p:sp>
        <p:nvSpPr>
          <p:cNvPr id="7" name="Text 5"/>
          <p:cNvSpPr txBox="1"/>
          <p:nvPr/>
        </p:nvSpPr>
        <p:spPr>
          <a:xfrm>
            <a:off x="868680"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1〜1.5ヶ月目</a:t>
            </a:r>
            <a:endParaRPr lang="en-US" sz="1200" dirty="0"/>
          </a:p>
        </p:txBody>
      </p:sp>
      <p:sp>
        <p:nvSpPr>
          <p:cNvPr id="8" name="Text 6"/>
          <p:cNvSpPr txBox="1"/>
          <p:nvPr/>
        </p:nvSpPr>
        <p:spPr>
          <a:xfrm>
            <a:off x="868680"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助走期（フェーズ1）</a:t>
            </a:r>
            <a:endParaRPr lang="en-US" sz="1500" dirty="0"/>
          </a:p>
        </p:txBody>
      </p:sp>
      <p:sp>
        <p:nvSpPr>
          <p:cNvPr id="9" name="Shape 7"/>
          <p:cNvSpPr/>
          <p:nvPr/>
        </p:nvSpPr>
        <p:spPr>
          <a:xfrm>
            <a:off x="548640" y="2651760"/>
            <a:ext cx="2691308" cy="2148840"/>
          </a:xfrm>
          <a:prstGeom prst="roundRect">
            <a:avLst>
              <a:gd name="adj" fmla="val 5106"/>
            </a:avLst>
          </a:prstGeom>
          <a:solidFill>
            <a:srgbClr val="F5F9FC"/>
          </a:solidFill>
          <a:ln w="12700">
            <a:solidFill>
              <a:srgbClr val="F5F9FC"/>
            </a:solidFill>
            <a:prstDash val="solid"/>
          </a:ln>
        </p:spPr>
      </p:sp>
      <p:sp>
        <p:nvSpPr>
          <p:cNvPr id="10" name="Text 8"/>
          <p:cNvSpPr txBox="1"/>
          <p:nvPr/>
        </p:nvSpPr>
        <p:spPr>
          <a:xfrm>
            <a:off x="777240" y="2761488"/>
            <a:ext cx="2234108"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主な実施内容</a:t>
            </a:r>
            <a:endParaRPr lang="en-US" sz="1050" dirty="0"/>
          </a:p>
        </p:txBody>
      </p:sp>
      <p:sp>
        <p:nvSpPr>
          <p:cNvPr id="11" name="Text 9"/>
          <p:cNvSpPr txBox="1"/>
          <p:nvPr/>
        </p:nvSpPr>
        <p:spPr>
          <a:xfrm>
            <a:off x="777240"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無料3本の制作・配信</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効果検証</a:t>
            </a:r>
            <a:endParaRPr lang="en-US" sz="1150" dirty="0"/>
          </a:p>
        </p:txBody>
      </p:sp>
      <p:sp>
        <p:nvSpPr>
          <p:cNvPr id="12" name="Shape 10"/>
          <p:cNvSpPr/>
          <p:nvPr/>
        </p:nvSpPr>
        <p:spPr>
          <a:xfrm>
            <a:off x="548640" y="4983480"/>
            <a:ext cx="2691308" cy="1234440"/>
          </a:xfrm>
          <a:prstGeom prst="roundRect">
            <a:avLst>
              <a:gd name="adj" fmla="val 8889"/>
            </a:avLst>
          </a:prstGeom>
          <a:solidFill>
            <a:srgbClr val="EAF2F8"/>
          </a:solidFill>
          <a:ln w="12700">
            <a:solidFill>
              <a:srgbClr val="EAF2F8"/>
            </a:solidFill>
            <a:prstDash val="solid"/>
          </a:ln>
        </p:spPr>
      </p:sp>
      <p:sp>
        <p:nvSpPr>
          <p:cNvPr id="13" name="Text 11"/>
          <p:cNvSpPr txBox="1"/>
          <p:nvPr/>
        </p:nvSpPr>
        <p:spPr>
          <a:xfrm>
            <a:off x="777240" y="5074920"/>
            <a:ext cx="2234108"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到達目標</a:t>
            </a:r>
            <a:endParaRPr lang="en-US" sz="1050" dirty="0"/>
          </a:p>
        </p:txBody>
      </p:sp>
      <p:sp>
        <p:nvSpPr>
          <p:cNvPr id="14" name="Text 12"/>
          <p:cNvSpPr txBox="1"/>
          <p:nvPr/>
        </p:nvSpPr>
        <p:spPr>
          <a:xfrm>
            <a:off x="777240" y="5349240"/>
            <a:ext cx="2234108" cy="777240"/>
          </a:xfrm>
          <a:prstGeom prst="rect">
            <a:avLst/>
          </a:prstGeom>
          <a:noFill/>
          <a:ln/>
        </p:spPr>
        <p:txBody>
          <a:bodyPr wrap="square" lIns="0" tIns="0" rIns="0" bIns="0" rtlCol="0" anchor="t"/>
          <a:lstStyle/>
          <a:p>
            <a:pPr indent="0" marL="0">
              <a:buNone/>
            </a:pPr>
            <a:r>
              <a:rPr lang="en-US" sz="1250" b="1" dirty="0">
                <a:solidFill>
                  <a:srgbClr val="143E5C"/>
                </a:solidFill>
                <a:latin typeface="Meiryo UI" pitchFamily="34" charset="0"/>
                <a:ea typeface="Meiryo UI" pitchFamily="34" charset="-122"/>
                <a:cs typeface="Meiryo UI" pitchFamily="34" charset="-120"/>
              </a:rPr>
              <a:t>「勝ちパターン」の仮説特定</a:t>
            </a:r>
            <a:endParaRPr lang="en-US" sz="1250" dirty="0"/>
          </a:p>
        </p:txBody>
      </p:sp>
      <p:sp>
        <p:nvSpPr>
          <p:cNvPr id="15" name="Shape 13"/>
          <p:cNvSpPr/>
          <p:nvPr/>
        </p:nvSpPr>
        <p:spPr>
          <a:xfrm>
            <a:off x="3349676" y="1463040"/>
            <a:ext cx="2919908" cy="914400"/>
          </a:xfrm>
          <a:prstGeom prst="chevron">
            <a:avLst/>
          </a:prstGeom>
          <a:solidFill>
            <a:srgbClr val="1F5F8B">
              <a:alpha val="80000"/>
            </a:srgbClr>
          </a:solidFill>
          <a:ln w="12700">
            <a:solidFill>
              <a:srgbClr val="1F5F8B"/>
            </a:solidFill>
            <a:prstDash val="solid"/>
          </a:ln>
        </p:spPr>
      </p:sp>
      <p:sp>
        <p:nvSpPr>
          <p:cNvPr id="16" name="Text 14"/>
          <p:cNvSpPr txBox="1"/>
          <p:nvPr/>
        </p:nvSpPr>
        <p:spPr>
          <a:xfrm>
            <a:off x="3669716"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2〜3ヶ月目</a:t>
            </a:r>
            <a:endParaRPr lang="en-US" sz="1200" dirty="0"/>
          </a:p>
        </p:txBody>
      </p:sp>
      <p:sp>
        <p:nvSpPr>
          <p:cNvPr id="17" name="Text 15"/>
          <p:cNvSpPr txBox="1"/>
          <p:nvPr/>
        </p:nvSpPr>
        <p:spPr>
          <a:xfrm>
            <a:off x="3669716"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立ち上げ期</a:t>
            </a:r>
            <a:endParaRPr lang="en-US" sz="1500" dirty="0"/>
          </a:p>
        </p:txBody>
      </p:sp>
      <p:sp>
        <p:nvSpPr>
          <p:cNvPr id="18" name="Shape 16"/>
          <p:cNvSpPr/>
          <p:nvPr/>
        </p:nvSpPr>
        <p:spPr>
          <a:xfrm>
            <a:off x="3349676" y="2651760"/>
            <a:ext cx="2691308" cy="2148840"/>
          </a:xfrm>
          <a:prstGeom prst="roundRect">
            <a:avLst>
              <a:gd name="adj" fmla="val 5106"/>
            </a:avLst>
          </a:prstGeom>
          <a:solidFill>
            <a:srgbClr val="F5F9FC"/>
          </a:solidFill>
          <a:ln w="12700">
            <a:solidFill>
              <a:srgbClr val="F5F9FC"/>
            </a:solidFill>
            <a:prstDash val="solid"/>
          </a:ln>
        </p:spPr>
      </p:sp>
      <p:sp>
        <p:nvSpPr>
          <p:cNvPr id="19" name="Text 17"/>
          <p:cNvSpPr txBox="1"/>
          <p:nvPr/>
        </p:nvSpPr>
        <p:spPr>
          <a:xfrm>
            <a:off x="3578276" y="2761488"/>
            <a:ext cx="2234108"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主な実施内容</a:t>
            </a:r>
            <a:endParaRPr lang="en-US" sz="1050" dirty="0"/>
          </a:p>
        </p:txBody>
      </p:sp>
      <p:sp>
        <p:nvSpPr>
          <p:cNvPr id="20" name="Text 18"/>
          <p:cNvSpPr txBox="1"/>
          <p:nvPr/>
        </p:nvSpPr>
        <p:spPr>
          <a:xfrm>
            <a:off x="3578276"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勝ちパターンの横展開</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紹介元への案内・見積もり前の送付を型化</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年末の繁忙期に向けた集客</a:t>
            </a:r>
            <a:endParaRPr lang="en-US" sz="1150" dirty="0"/>
          </a:p>
        </p:txBody>
      </p:sp>
      <p:sp>
        <p:nvSpPr>
          <p:cNvPr id="21" name="Shape 19"/>
          <p:cNvSpPr/>
          <p:nvPr/>
        </p:nvSpPr>
        <p:spPr>
          <a:xfrm>
            <a:off x="3349676" y="4983480"/>
            <a:ext cx="2691308" cy="1234440"/>
          </a:xfrm>
          <a:prstGeom prst="roundRect">
            <a:avLst>
              <a:gd name="adj" fmla="val 8889"/>
            </a:avLst>
          </a:prstGeom>
          <a:solidFill>
            <a:srgbClr val="EAF2F8"/>
          </a:solidFill>
          <a:ln w="12700">
            <a:solidFill>
              <a:srgbClr val="EAF2F8"/>
            </a:solidFill>
            <a:prstDash val="solid"/>
          </a:ln>
        </p:spPr>
      </p:sp>
      <p:sp>
        <p:nvSpPr>
          <p:cNvPr id="22" name="Text 20"/>
          <p:cNvSpPr txBox="1"/>
          <p:nvPr/>
        </p:nvSpPr>
        <p:spPr>
          <a:xfrm>
            <a:off x="3578276" y="5074920"/>
            <a:ext cx="2234108"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到達目標</a:t>
            </a:r>
            <a:endParaRPr lang="en-US" sz="1050" dirty="0"/>
          </a:p>
        </p:txBody>
      </p:sp>
      <p:sp>
        <p:nvSpPr>
          <p:cNvPr id="23" name="Text 21"/>
          <p:cNvSpPr txBox="1"/>
          <p:nvPr/>
        </p:nvSpPr>
        <p:spPr>
          <a:xfrm>
            <a:off x="3578276" y="5349240"/>
            <a:ext cx="2234108" cy="777240"/>
          </a:xfrm>
          <a:prstGeom prst="rect">
            <a:avLst/>
          </a:prstGeom>
          <a:noFill/>
          <a:ln/>
        </p:spPr>
        <p:txBody>
          <a:bodyPr wrap="square" lIns="0" tIns="0" rIns="0" bIns="0" rtlCol="0" anchor="t"/>
          <a:lstStyle/>
          <a:p>
            <a:pPr indent="0" marL="0">
              <a:buNone/>
            </a:pPr>
            <a:r>
              <a:rPr lang="en-US" sz="1250" b="1" dirty="0">
                <a:solidFill>
                  <a:srgbClr val="143E5C"/>
                </a:solidFill>
                <a:latin typeface="Meiryo UI" pitchFamily="34" charset="0"/>
                <a:ea typeface="Meiryo UI" pitchFamily="34" charset="-122"/>
                <a:cs typeface="Meiryo UI" pitchFamily="34" charset="-120"/>
              </a:rPr>
              <a:t>紹介と見積もりで動画を使うことが当たり前に</a:t>
            </a:r>
            <a:endParaRPr lang="en-US" sz="1250" dirty="0"/>
          </a:p>
        </p:txBody>
      </p:sp>
      <p:sp>
        <p:nvSpPr>
          <p:cNvPr id="24" name="Shape 22"/>
          <p:cNvSpPr/>
          <p:nvPr/>
        </p:nvSpPr>
        <p:spPr>
          <a:xfrm>
            <a:off x="6150712" y="1463040"/>
            <a:ext cx="2919908" cy="914400"/>
          </a:xfrm>
          <a:prstGeom prst="chevron">
            <a:avLst/>
          </a:prstGeom>
          <a:solidFill>
            <a:srgbClr val="1F5F8B">
              <a:alpha val="90000"/>
            </a:srgbClr>
          </a:solidFill>
          <a:ln w="12700">
            <a:solidFill>
              <a:srgbClr val="1F5F8B"/>
            </a:solidFill>
            <a:prstDash val="solid"/>
          </a:ln>
        </p:spPr>
      </p:sp>
      <p:sp>
        <p:nvSpPr>
          <p:cNvPr id="25" name="Text 23"/>
          <p:cNvSpPr txBox="1"/>
          <p:nvPr/>
        </p:nvSpPr>
        <p:spPr>
          <a:xfrm>
            <a:off x="6470752"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4〜6ヶ月目</a:t>
            </a:r>
            <a:endParaRPr lang="en-US" sz="1200" dirty="0"/>
          </a:p>
        </p:txBody>
      </p:sp>
      <p:sp>
        <p:nvSpPr>
          <p:cNvPr id="26" name="Text 24"/>
          <p:cNvSpPr txBox="1"/>
          <p:nvPr/>
        </p:nvSpPr>
        <p:spPr>
          <a:xfrm>
            <a:off x="6470752"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拡大期</a:t>
            </a:r>
            <a:endParaRPr lang="en-US" sz="1500" dirty="0"/>
          </a:p>
        </p:txBody>
      </p:sp>
      <p:sp>
        <p:nvSpPr>
          <p:cNvPr id="27" name="Shape 25"/>
          <p:cNvSpPr/>
          <p:nvPr/>
        </p:nvSpPr>
        <p:spPr>
          <a:xfrm>
            <a:off x="6150712" y="2651760"/>
            <a:ext cx="2691308" cy="2148840"/>
          </a:xfrm>
          <a:prstGeom prst="roundRect">
            <a:avLst>
              <a:gd name="adj" fmla="val 5106"/>
            </a:avLst>
          </a:prstGeom>
          <a:solidFill>
            <a:srgbClr val="F5F9FC"/>
          </a:solidFill>
          <a:ln w="12700">
            <a:solidFill>
              <a:srgbClr val="F5F9FC"/>
            </a:solidFill>
            <a:prstDash val="solid"/>
          </a:ln>
        </p:spPr>
      </p:sp>
      <p:sp>
        <p:nvSpPr>
          <p:cNvPr id="28" name="Text 26"/>
          <p:cNvSpPr txBox="1"/>
          <p:nvPr/>
        </p:nvSpPr>
        <p:spPr>
          <a:xfrm>
            <a:off x="6379312" y="2761488"/>
            <a:ext cx="2234108"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主な実施内容</a:t>
            </a:r>
            <a:endParaRPr lang="en-US" sz="1050" dirty="0"/>
          </a:p>
        </p:txBody>
      </p:sp>
      <p:sp>
        <p:nvSpPr>
          <p:cNvPr id="29" name="Text 27"/>
          <p:cNvSpPr txBox="1"/>
          <p:nvPr/>
        </p:nvSpPr>
        <p:spPr>
          <a:xfrm>
            <a:off x="6379312"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関東圏の紹介ルート開拓</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YouTube・Googleマップからの流入強化</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春の引っ越し・施設入退去シーズンの集客</a:t>
            </a:r>
            <a:endParaRPr lang="en-US" sz="1150" dirty="0"/>
          </a:p>
        </p:txBody>
      </p:sp>
      <p:sp>
        <p:nvSpPr>
          <p:cNvPr id="30" name="Shape 28"/>
          <p:cNvSpPr/>
          <p:nvPr/>
        </p:nvSpPr>
        <p:spPr>
          <a:xfrm>
            <a:off x="6150712" y="4983480"/>
            <a:ext cx="2691308" cy="1234440"/>
          </a:xfrm>
          <a:prstGeom prst="roundRect">
            <a:avLst>
              <a:gd name="adj" fmla="val 8889"/>
            </a:avLst>
          </a:prstGeom>
          <a:solidFill>
            <a:srgbClr val="EAF2F8"/>
          </a:solidFill>
          <a:ln w="12700">
            <a:solidFill>
              <a:srgbClr val="EAF2F8"/>
            </a:solidFill>
            <a:prstDash val="solid"/>
          </a:ln>
        </p:spPr>
      </p:sp>
      <p:sp>
        <p:nvSpPr>
          <p:cNvPr id="31" name="Text 29"/>
          <p:cNvSpPr txBox="1"/>
          <p:nvPr/>
        </p:nvSpPr>
        <p:spPr>
          <a:xfrm>
            <a:off x="6379312" y="5074920"/>
            <a:ext cx="2234108" cy="274320"/>
          </a:xfrm>
          <a:prstGeom prst="rect">
            <a:avLst/>
          </a:prstGeom>
          <a:noFill/>
          <a:ln/>
        </p:spPr>
        <p:txBody>
          <a:bodyPr wrap="square" lIns="0" tIns="0" rIns="0" bIns="0" rtlCol="0" anchor="t"/>
          <a:lstStyle/>
          <a:p>
            <a:pPr indent="0" marL="0">
              <a:buNone/>
            </a:pPr>
            <a:r>
              <a:rPr lang="en-US" sz="1050" b="1" dirty="0">
                <a:solidFill>
                  <a:srgbClr val="D2702A"/>
                </a:solidFill>
                <a:latin typeface="Meiryo UI" pitchFamily="34" charset="0"/>
                <a:ea typeface="Meiryo UI" pitchFamily="34" charset="-122"/>
                <a:cs typeface="Meiryo UI" pitchFamily="34" charset="-120"/>
              </a:rPr>
              <a:t>到達目標</a:t>
            </a:r>
            <a:endParaRPr lang="en-US" sz="1050" dirty="0"/>
          </a:p>
        </p:txBody>
      </p:sp>
      <p:sp>
        <p:nvSpPr>
          <p:cNvPr id="32" name="Text 30"/>
          <p:cNvSpPr txBox="1"/>
          <p:nvPr/>
        </p:nvSpPr>
        <p:spPr>
          <a:xfrm>
            <a:off x="6379312" y="5349240"/>
            <a:ext cx="2234108" cy="777240"/>
          </a:xfrm>
          <a:prstGeom prst="rect">
            <a:avLst/>
          </a:prstGeom>
          <a:noFill/>
          <a:ln/>
        </p:spPr>
        <p:txBody>
          <a:bodyPr wrap="square" lIns="0" tIns="0" rIns="0" bIns="0" rtlCol="0" anchor="t"/>
          <a:lstStyle/>
          <a:p>
            <a:pPr indent="0" marL="0">
              <a:buNone/>
            </a:pPr>
            <a:r>
              <a:rPr lang="en-US" sz="1250" b="1" dirty="0">
                <a:solidFill>
                  <a:srgbClr val="143E5C"/>
                </a:solidFill>
                <a:latin typeface="Meiryo UI" pitchFamily="34" charset="0"/>
                <a:ea typeface="Meiryo UI" pitchFamily="34" charset="-122"/>
                <a:cs typeface="Meiryo UI" pitchFamily="34" charset="-120"/>
              </a:rPr>
              <a:t>直接の問い合わせが継続的に増える</a:t>
            </a:r>
            <a:endParaRPr lang="en-US" sz="1250" dirty="0"/>
          </a:p>
        </p:txBody>
      </p:sp>
      <p:sp>
        <p:nvSpPr>
          <p:cNvPr id="33" name="Shape 31"/>
          <p:cNvSpPr/>
          <p:nvPr/>
        </p:nvSpPr>
        <p:spPr>
          <a:xfrm>
            <a:off x="8951747" y="1463040"/>
            <a:ext cx="2691308" cy="914400"/>
          </a:xfrm>
          <a:prstGeom prst="chevron">
            <a:avLst/>
          </a:prstGeom>
          <a:solidFill>
            <a:srgbClr val="1F5F8B"/>
          </a:solidFill>
          <a:ln w="12700">
            <a:solidFill>
              <a:srgbClr val="1F5F8B"/>
            </a:solidFill>
            <a:prstDash val="solid"/>
          </a:ln>
        </p:spPr>
      </p:sp>
      <p:sp>
        <p:nvSpPr>
          <p:cNvPr id="34" name="Text 32"/>
          <p:cNvSpPr txBox="1"/>
          <p:nvPr/>
        </p:nvSpPr>
        <p:spPr>
          <a:xfrm>
            <a:off x="9271787"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7〜12ヶ月目</a:t>
            </a:r>
            <a:endParaRPr lang="en-US" sz="1200" dirty="0"/>
          </a:p>
        </p:txBody>
      </p:sp>
      <p:sp>
        <p:nvSpPr>
          <p:cNvPr id="35" name="Text 33"/>
          <p:cNvSpPr txBox="1"/>
          <p:nvPr/>
        </p:nvSpPr>
        <p:spPr>
          <a:xfrm>
            <a:off x="9271787"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定着・自走期</a:t>
            </a:r>
            <a:endParaRPr lang="en-US" sz="1500" dirty="0"/>
          </a:p>
        </p:txBody>
      </p:sp>
      <p:sp>
        <p:nvSpPr>
          <p:cNvPr id="36" name="Shape 34"/>
          <p:cNvSpPr/>
          <p:nvPr/>
        </p:nvSpPr>
        <p:spPr>
          <a:xfrm>
            <a:off x="8951747" y="2651760"/>
            <a:ext cx="2691308" cy="2148840"/>
          </a:xfrm>
          <a:prstGeom prst="roundRect">
            <a:avLst>
              <a:gd name="adj" fmla="val 5106"/>
            </a:avLst>
          </a:prstGeom>
          <a:solidFill>
            <a:srgbClr val="F5F9FC"/>
          </a:solidFill>
          <a:ln w="12700">
            <a:solidFill>
              <a:srgbClr val="F5F9FC"/>
            </a:solidFill>
            <a:prstDash val="solid"/>
          </a:ln>
        </p:spPr>
      </p:sp>
      <p:sp>
        <p:nvSpPr>
          <p:cNvPr id="37" name="Text 35"/>
          <p:cNvSpPr txBox="1"/>
          <p:nvPr/>
        </p:nvSpPr>
        <p:spPr>
          <a:xfrm>
            <a:off x="9180347" y="2761488"/>
            <a:ext cx="2234108" cy="274320"/>
          </a:xfrm>
          <a:prstGeom prst="rect">
            <a:avLst/>
          </a:prstGeom>
          <a:noFill/>
          <a:ln/>
        </p:spPr>
        <p:txBody>
          <a:bodyPr wrap="square" lIns="0" tIns="0" rIns="0" bIns="0" rtlCol="0" anchor="t"/>
          <a:lstStyle/>
          <a:p>
            <a:pPr indent="0" marL="0">
              <a:buNone/>
            </a:pPr>
            <a:r>
              <a:rPr lang="en-US" sz="1050" b="1" dirty="0">
                <a:solidFill>
                  <a:srgbClr val="637585"/>
                </a:solidFill>
                <a:latin typeface="Meiryo UI" pitchFamily="34" charset="0"/>
                <a:ea typeface="Meiryo UI" pitchFamily="34" charset="-122"/>
                <a:cs typeface="Meiryo UI" pitchFamily="34" charset="-120"/>
              </a:rPr>
              <a:t>主な実施内容</a:t>
            </a:r>
            <a:endParaRPr lang="en-US" sz="1050" dirty="0"/>
          </a:p>
        </p:txBody>
      </p:sp>
      <p:sp>
        <p:nvSpPr>
          <p:cNvPr id="38" name="Text 36"/>
          <p:cNvSpPr txBox="1"/>
          <p:nvPr/>
        </p:nvSpPr>
        <p:spPr>
          <a:xfrm>
            <a:off x="9180347"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動画ライブラリの完成</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社内運用への移管支援</a:t>
            </a:r>
            <a:endParaRPr lang="en-US" sz="1150" dirty="0"/>
          </a:p>
          <a:p>
            <a:pPr marL="342900" indent="-342900">
              <a:spcAft>
                <a:spcPts val="500"/>
              </a:spcAft>
              <a:buSzPct val="100000"/>
              <a:buChar char="•"/>
            </a:pPr>
            <a:r>
              <a:rPr lang="en-US" sz="1150" dirty="0">
                <a:solidFill>
                  <a:srgbClr val="26303A"/>
                </a:solidFill>
                <a:latin typeface="Meiryo UI" pitchFamily="34" charset="0"/>
                <a:ea typeface="Meiryo UI" pitchFamily="34" charset="-122"/>
                <a:cs typeface="Meiryo UI" pitchFamily="34" charset="-120"/>
              </a:rPr>
              <a:t>繁忙期に偏らない案件の平準化</a:t>
            </a:r>
            <a:endParaRPr lang="en-US" sz="1150" dirty="0"/>
          </a:p>
        </p:txBody>
      </p:sp>
      <p:sp>
        <p:nvSpPr>
          <p:cNvPr id="39" name="Shape 37"/>
          <p:cNvSpPr/>
          <p:nvPr/>
        </p:nvSpPr>
        <p:spPr>
          <a:xfrm>
            <a:off x="8951747" y="4983480"/>
            <a:ext cx="2691308" cy="1234440"/>
          </a:xfrm>
          <a:prstGeom prst="roundRect">
            <a:avLst>
              <a:gd name="adj" fmla="val 8889"/>
            </a:avLst>
          </a:prstGeom>
          <a:solidFill>
            <a:srgbClr val="143E5C"/>
          </a:solidFill>
          <a:ln w="12700">
            <a:solidFill>
              <a:srgbClr val="143E5C"/>
            </a:solidFill>
            <a:prstDash val="solid"/>
          </a:ln>
        </p:spPr>
      </p:sp>
      <p:sp>
        <p:nvSpPr>
          <p:cNvPr id="40" name="Text 38"/>
          <p:cNvSpPr txBox="1"/>
          <p:nvPr/>
        </p:nvSpPr>
        <p:spPr>
          <a:xfrm>
            <a:off x="9180347" y="5074920"/>
            <a:ext cx="2234108" cy="274320"/>
          </a:xfrm>
          <a:prstGeom prst="rect">
            <a:avLst/>
          </a:prstGeom>
          <a:noFill/>
          <a:ln/>
        </p:spPr>
        <p:txBody>
          <a:bodyPr wrap="square" lIns="0" tIns="0" rIns="0" bIns="0" rtlCol="0" anchor="t"/>
          <a:lstStyle/>
          <a:p>
            <a:pPr indent="0" marL="0">
              <a:buNone/>
            </a:pPr>
            <a:r>
              <a:rPr lang="en-US" sz="1050" b="1" dirty="0">
                <a:solidFill>
                  <a:srgbClr val="F5C08C"/>
                </a:solidFill>
                <a:latin typeface="Meiryo UI" pitchFamily="34" charset="0"/>
                <a:ea typeface="Meiryo UI" pitchFamily="34" charset="-122"/>
                <a:cs typeface="Meiryo UI" pitchFamily="34" charset="-120"/>
              </a:rPr>
              <a:t>到達目標</a:t>
            </a:r>
            <a:endParaRPr lang="en-US" sz="1050" dirty="0"/>
          </a:p>
        </p:txBody>
      </p:sp>
      <p:sp>
        <p:nvSpPr>
          <p:cNvPr id="41" name="Text 39"/>
          <p:cNvSpPr txBox="1"/>
          <p:nvPr/>
        </p:nvSpPr>
        <p:spPr>
          <a:xfrm>
            <a:off x="9180347" y="5349240"/>
            <a:ext cx="2234108" cy="777240"/>
          </a:xfrm>
          <a:prstGeom prst="rect">
            <a:avLst/>
          </a:prstGeom>
          <a:noFill/>
          <a:ln/>
        </p:spPr>
        <p:txBody>
          <a:bodyPr wrap="square" lIns="0" tIns="0" rIns="0" bIns="0" rtlCol="0" anchor="t"/>
          <a:lstStyle/>
          <a:p>
            <a:pPr indent="0" marL="0">
              <a:buNone/>
            </a:pPr>
            <a:r>
              <a:rPr lang="en-US" sz="1250" b="1" dirty="0">
                <a:solidFill>
                  <a:srgbClr val="FFFFFF"/>
                </a:solidFill>
                <a:latin typeface="Meiryo UI" pitchFamily="34" charset="0"/>
                <a:ea typeface="Meiryo UI" pitchFamily="34" charset="-122"/>
                <a:cs typeface="Meiryo UI" pitchFamily="34" charset="-120"/>
              </a:rPr>
              <a:t>価格ではなく“姿勢”で選ばれる集客体制</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06｜SEAMLESS TRANSITION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「テスト（無料3本）」から「本格展開」へ、止めずにつなぐ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011680" y="1371600"/>
            <a:ext cx="4663440" cy="502920"/>
          </a:xfrm>
          <a:prstGeom prst="roundRect">
            <a:avLst>
              <a:gd name="adj" fmla="val 21818"/>
            </a:avLst>
          </a:prstGeom>
          <a:solidFill>
            <a:srgbClr val="EEF0F2"/>
          </a:solidFill>
          <a:ln w="12700">
            <a:solidFill>
              <a:srgbClr val="EEF0F2"/>
            </a:solidFill>
            <a:prstDash val="solid"/>
          </a:ln>
        </p:spPr>
      </p:sp>
      <p:sp>
        <p:nvSpPr>
          <p:cNvPr id="7" name="Text 5"/>
          <p:cNvSpPr txBox="1"/>
          <p:nvPr/>
        </p:nvSpPr>
        <p:spPr>
          <a:xfrm>
            <a:off x="2011680" y="1371600"/>
            <a:ext cx="4663440" cy="502920"/>
          </a:xfrm>
          <a:prstGeom prst="rect">
            <a:avLst/>
          </a:prstGeom>
          <a:noFill/>
          <a:ln/>
        </p:spPr>
        <p:txBody>
          <a:bodyPr wrap="square" lIns="0" tIns="0" rIns="0" bIns="0" rtlCol="0" anchor="ctr"/>
          <a:lstStyle/>
          <a:p>
            <a:pPr algn="ctr" indent="0" marL="0">
              <a:buNone/>
            </a:pPr>
            <a:r>
              <a:rPr lang="en-US" sz="1300" b="1" dirty="0">
                <a:solidFill>
                  <a:srgbClr val="7A8591"/>
                </a:solidFill>
                <a:latin typeface="Meiryo UI" pitchFamily="34" charset="0"/>
                <a:ea typeface="Meiryo UI" pitchFamily="34" charset="-122"/>
                <a:cs typeface="Meiryo UI" pitchFamily="34" charset="-120"/>
              </a:rPr>
              <a:t>様子見（無料3本 → 結果を見て検討）</a:t>
            </a:r>
            <a:endParaRPr lang="en-US" sz="1300" dirty="0"/>
          </a:p>
        </p:txBody>
      </p:sp>
      <p:sp>
        <p:nvSpPr>
          <p:cNvPr id="8" name="Shape 6"/>
          <p:cNvSpPr/>
          <p:nvPr/>
        </p:nvSpPr>
        <p:spPr>
          <a:xfrm>
            <a:off x="6858000" y="1371600"/>
            <a:ext cx="4663440" cy="502920"/>
          </a:xfrm>
          <a:prstGeom prst="roundRect">
            <a:avLst>
              <a:gd name="adj" fmla="val 21818"/>
            </a:avLst>
          </a:prstGeom>
          <a:solidFill>
            <a:srgbClr val="D2702A"/>
          </a:solidFill>
          <a:ln w="12700">
            <a:solidFill>
              <a:srgbClr val="D2702A"/>
            </a:solidFill>
            <a:prstDash val="solid"/>
          </a:ln>
        </p:spPr>
      </p:sp>
      <p:sp>
        <p:nvSpPr>
          <p:cNvPr id="9" name="Text 7"/>
          <p:cNvSpPr txBox="1"/>
          <p:nvPr/>
        </p:nvSpPr>
        <p:spPr>
          <a:xfrm>
            <a:off x="6858000" y="1371600"/>
            <a:ext cx="4663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早期ご決定（無料3本を伴走の初月に組み込み）</a:t>
            </a:r>
            <a:endParaRPr lang="en-US" sz="1300" dirty="0"/>
          </a:p>
        </p:txBody>
      </p:sp>
      <p:sp>
        <p:nvSpPr>
          <p:cNvPr id="10" name="Text 8"/>
          <p:cNvSpPr txBox="1"/>
          <p:nvPr/>
        </p:nvSpPr>
        <p:spPr>
          <a:xfrm>
            <a:off x="548640" y="1965960"/>
            <a:ext cx="1371600" cy="45720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検証設計</a:t>
            </a:r>
            <a:endParaRPr lang="en-US" sz="1250" dirty="0"/>
          </a:p>
        </p:txBody>
      </p:sp>
      <p:sp>
        <p:nvSpPr>
          <p:cNvPr id="11" name="Shape 9"/>
          <p:cNvSpPr/>
          <p:nvPr/>
        </p:nvSpPr>
        <p:spPr>
          <a:xfrm>
            <a:off x="2011680" y="1965960"/>
            <a:ext cx="4663440" cy="457200"/>
          </a:xfrm>
          <a:prstGeom prst="roundRect">
            <a:avLst>
              <a:gd name="adj" fmla="val 24000"/>
            </a:avLst>
          </a:prstGeom>
          <a:solidFill>
            <a:srgbClr val="F5F9FC"/>
          </a:solidFill>
          <a:ln w="12700">
            <a:solidFill>
              <a:srgbClr val="F5F9FC"/>
            </a:solidFill>
            <a:prstDash val="solid"/>
          </a:ln>
        </p:spPr>
      </p:sp>
      <p:sp>
        <p:nvSpPr>
          <p:cNvPr id="12" name="Text 10"/>
          <p:cNvSpPr txBox="1"/>
          <p:nvPr/>
        </p:nvSpPr>
        <p:spPr>
          <a:xfrm>
            <a:off x="2194560" y="1965960"/>
            <a:ext cx="4297680" cy="457200"/>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3本を「作ること」がゴールになりがち</a:t>
            </a:r>
            <a:endParaRPr lang="en-US" sz="1200" dirty="0"/>
          </a:p>
        </p:txBody>
      </p:sp>
      <p:sp>
        <p:nvSpPr>
          <p:cNvPr id="13" name="Shape 11"/>
          <p:cNvSpPr/>
          <p:nvPr/>
        </p:nvSpPr>
        <p:spPr>
          <a:xfrm>
            <a:off x="6858000" y="1965960"/>
            <a:ext cx="4663440" cy="457200"/>
          </a:xfrm>
          <a:prstGeom prst="roundRect">
            <a:avLst>
              <a:gd name="adj" fmla="val 24000"/>
            </a:avLst>
          </a:prstGeom>
          <a:solidFill>
            <a:srgbClr val="FDF0E3"/>
          </a:solidFill>
          <a:ln w="12700">
            <a:solidFill>
              <a:srgbClr val="FDF0E3"/>
            </a:solidFill>
            <a:prstDash val="solid"/>
          </a:ln>
        </p:spPr>
      </p:sp>
      <p:sp>
        <p:nvSpPr>
          <p:cNvPr id="14" name="Text 12"/>
          <p:cNvSpPr txBox="1"/>
          <p:nvPr/>
        </p:nvSpPr>
        <p:spPr>
          <a:xfrm>
            <a:off x="7040880" y="1965960"/>
            <a:ext cx="4297680" cy="457200"/>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最初からKPI・比較軸を設計し、検証として実施</a:t>
            </a:r>
            <a:endParaRPr lang="en-US" sz="1200" dirty="0"/>
          </a:p>
        </p:txBody>
      </p:sp>
      <p:sp>
        <p:nvSpPr>
          <p:cNvPr id="15" name="Text 13"/>
          <p:cNvSpPr txBox="1"/>
          <p:nvPr/>
        </p:nvSpPr>
        <p:spPr>
          <a:xfrm>
            <a:off x="548640" y="2496312"/>
            <a:ext cx="1371600" cy="45720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検証後</a:t>
            </a:r>
            <a:endParaRPr lang="en-US" sz="1250" dirty="0"/>
          </a:p>
        </p:txBody>
      </p:sp>
      <p:sp>
        <p:nvSpPr>
          <p:cNvPr id="16" name="Shape 14"/>
          <p:cNvSpPr/>
          <p:nvPr/>
        </p:nvSpPr>
        <p:spPr>
          <a:xfrm>
            <a:off x="2011680" y="2496312"/>
            <a:ext cx="4663440" cy="457200"/>
          </a:xfrm>
          <a:prstGeom prst="roundRect">
            <a:avLst>
              <a:gd name="adj" fmla="val 24000"/>
            </a:avLst>
          </a:prstGeom>
          <a:solidFill>
            <a:srgbClr val="F5F9FC"/>
          </a:solidFill>
          <a:ln w="12700">
            <a:solidFill>
              <a:srgbClr val="F5F9FC"/>
            </a:solidFill>
            <a:prstDash val="solid"/>
          </a:ln>
        </p:spPr>
      </p:sp>
      <p:sp>
        <p:nvSpPr>
          <p:cNvPr id="17" name="Text 15"/>
          <p:cNvSpPr txBox="1"/>
          <p:nvPr/>
        </p:nvSpPr>
        <p:spPr>
          <a:xfrm>
            <a:off x="2194560" y="2496312"/>
            <a:ext cx="4297680" cy="457200"/>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社内検討・見積り・契約で1〜2ヶ月の空白</a:t>
            </a:r>
            <a:endParaRPr lang="en-US" sz="1200" dirty="0"/>
          </a:p>
        </p:txBody>
      </p:sp>
      <p:sp>
        <p:nvSpPr>
          <p:cNvPr id="18" name="Shape 16"/>
          <p:cNvSpPr/>
          <p:nvPr/>
        </p:nvSpPr>
        <p:spPr>
          <a:xfrm>
            <a:off x="6858000" y="2496312"/>
            <a:ext cx="4663440" cy="457200"/>
          </a:xfrm>
          <a:prstGeom prst="roundRect">
            <a:avLst>
              <a:gd name="adj" fmla="val 24000"/>
            </a:avLst>
          </a:prstGeom>
          <a:solidFill>
            <a:srgbClr val="FDF0E3"/>
          </a:solidFill>
          <a:ln w="12700">
            <a:solidFill>
              <a:srgbClr val="FDF0E3"/>
            </a:solidFill>
            <a:prstDash val="solid"/>
          </a:ln>
        </p:spPr>
      </p:sp>
      <p:sp>
        <p:nvSpPr>
          <p:cNvPr id="19" name="Text 17"/>
          <p:cNvSpPr txBox="1"/>
          <p:nvPr/>
        </p:nvSpPr>
        <p:spPr>
          <a:xfrm>
            <a:off x="7040880" y="2496312"/>
            <a:ext cx="4297680" cy="457200"/>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検証レポート当日に次の制作へ即着手</a:t>
            </a:r>
            <a:endParaRPr lang="en-US" sz="1200" dirty="0"/>
          </a:p>
        </p:txBody>
      </p:sp>
      <p:sp>
        <p:nvSpPr>
          <p:cNvPr id="20" name="Text 18"/>
          <p:cNvSpPr txBox="1"/>
          <p:nvPr/>
        </p:nvSpPr>
        <p:spPr>
          <a:xfrm>
            <a:off x="548640" y="3026664"/>
            <a:ext cx="1371600" cy="45720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SNS</a:t>
            </a:r>
            <a:endParaRPr lang="en-US" sz="1250" dirty="0"/>
          </a:p>
        </p:txBody>
      </p:sp>
      <p:sp>
        <p:nvSpPr>
          <p:cNvPr id="21" name="Shape 19"/>
          <p:cNvSpPr/>
          <p:nvPr/>
        </p:nvSpPr>
        <p:spPr>
          <a:xfrm>
            <a:off x="2011680" y="3026664"/>
            <a:ext cx="4663440" cy="457200"/>
          </a:xfrm>
          <a:prstGeom prst="roundRect">
            <a:avLst>
              <a:gd name="adj" fmla="val 24000"/>
            </a:avLst>
          </a:prstGeom>
          <a:solidFill>
            <a:srgbClr val="F5F9FC"/>
          </a:solidFill>
          <a:ln w="12700">
            <a:solidFill>
              <a:srgbClr val="F5F9FC"/>
            </a:solidFill>
            <a:prstDash val="solid"/>
          </a:ln>
        </p:spPr>
      </p:sp>
      <p:sp>
        <p:nvSpPr>
          <p:cNvPr id="22" name="Text 20"/>
          <p:cNvSpPr txBox="1"/>
          <p:nvPr/>
        </p:nvSpPr>
        <p:spPr>
          <a:xfrm>
            <a:off x="2194560" y="3026664"/>
            <a:ext cx="4297680" cy="457200"/>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投稿が止まり、アカウント評価がリセット</a:t>
            </a:r>
            <a:endParaRPr lang="en-US" sz="1200" dirty="0"/>
          </a:p>
        </p:txBody>
      </p:sp>
      <p:sp>
        <p:nvSpPr>
          <p:cNvPr id="23" name="Shape 21"/>
          <p:cNvSpPr/>
          <p:nvPr/>
        </p:nvSpPr>
        <p:spPr>
          <a:xfrm>
            <a:off x="6858000" y="3026664"/>
            <a:ext cx="4663440" cy="457200"/>
          </a:xfrm>
          <a:prstGeom prst="roundRect">
            <a:avLst>
              <a:gd name="adj" fmla="val 24000"/>
            </a:avLst>
          </a:prstGeom>
          <a:solidFill>
            <a:srgbClr val="FDF0E3"/>
          </a:solidFill>
          <a:ln w="12700">
            <a:solidFill>
              <a:srgbClr val="FDF0E3"/>
            </a:solidFill>
            <a:prstDash val="solid"/>
          </a:ln>
        </p:spPr>
      </p:sp>
      <p:sp>
        <p:nvSpPr>
          <p:cNvPr id="24" name="Text 22"/>
          <p:cNvSpPr txBox="1"/>
          <p:nvPr/>
        </p:nvSpPr>
        <p:spPr>
          <a:xfrm>
            <a:off x="7040880" y="3026664"/>
            <a:ext cx="4297680" cy="457200"/>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投稿が途切れず、成長が積み上がる</a:t>
            </a:r>
            <a:endParaRPr lang="en-US" sz="1200" dirty="0"/>
          </a:p>
        </p:txBody>
      </p:sp>
      <p:sp>
        <p:nvSpPr>
          <p:cNvPr id="25" name="Text 23"/>
          <p:cNvSpPr txBox="1"/>
          <p:nvPr/>
        </p:nvSpPr>
        <p:spPr>
          <a:xfrm>
            <a:off x="548640" y="3557016"/>
            <a:ext cx="1371600" cy="45720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紹介元</a:t>
            </a:r>
            <a:endParaRPr lang="en-US" sz="1250" dirty="0"/>
          </a:p>
        </p:txBody>
      </p:sp>
      <p:sp>
        <p:nvSpPr>
          <p:cNvPr id="26" name="Shape 24"/>
          <p:cNvSpPr/>
          <p:nvPr/>
        </p:nvSpPr>
        <p:spPr>
          <a:xfrm>
            <a:off x="2011680" y="3557016"/>
            <a:ext cx="4663440" cy="457200"/>
          </a:xfrm>
          <a:prstGeom prst="roundRect">
            <a:avLst>
              <a:gd name="adj" fmla="val 24000"/>
            </a:avLst>
          </a:prstGeom>
          <a:solidFill>
            <a:srgbClr val="F5F9FC"/>
          </a:solidFill>
          <a:ln w="12700">
            <a:solidFill>
              <a:srgbClr val="F5F9FC"/>
            </a:solidFill>
            <a:prstDash val="solid"/>
          </a:ln>
        </p:spPr>
      </p:sp>
      <p:sp>
        <p:nvSpPr>
          <p:cNvPr id="27" name="Text 25"/>
          <p:cNvSpPr txBox="1"/>
          <p:nvPr/>
        </p:nvSpPr>
        <p:spPr>
          <a:xfrm>
            <a:off x="2194560" y="3557016"/>
            <a:ext cx="4297680" cy="457200"/>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単発の案内で終わり、紹介が定着しない</a:t>
            </a:r>
            <a:endParaRPr lang="en-US" sz="1200" dirty="0"/>
          </a:p>
        </p:txBody>
      </p:sp>
      <p:sp>
        <p:nvSpPr>
          <p:cNvPr id="28" name="Shape 26"/>
          <p:cNvSpPr/>
          <p:nvPr/>
        </p:nvSpPr>
        <p:spPr>
          <a:xfrm>
            <a:off x="6858000" y="3557016"/>
            <a:ext cx="4663440" cy="457200"/>
          </a:xfrm>
          <a:prstGeom prst="roundRect">
            <a:avLst>
              <a:gd name="adj" fmla="val 24000"/>
            </a:avLst>
          </a:prstGeom>
          <a:solidFill>
            <a:srgbClr val="FDF0E3"/>
          </a:solidFill>
          <a:ln w="12700">
            <a:solidFill>
              <a:srgbClr val="FDF0E3"/>
            </a:solidFill>
            <a:prstDash val="solid"/>
          </a:ln>
        </p:spPr>
      </p:sp>
      <p:sp>
        <p:nvSpPr>
          <p:cNvPr id="29" name="Text 27"/>
          <p:cNvSpPr txBox="1"/>
          <p:nvPr/>
        </p:nvSpPr>
        <p:spPr>
          <a:xfrm>
            <a:off x="7040880" y="3557016"/>
            <a:ext cx="4297680" cy="457200"/>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定期的な接点で“思い出される業者”になる</a:t>
            </a:r>
            <a:endParaRPr lang="en-US" sz="1200" dirty="0"/>
          </a:p>
        </p:txBody>
      </p:sp>
      <p:sp>
        <p:nvSpPr>
          <p:cNvPr id="30" name="Text 28"/>
          <p:cNvSpPr txBox="1"/>
          <p:nvPr/>
        </p:nvSpPr>
        <p:spPr>
          <a:xfrm>
            <a:off x="548640" y="4087368"/>
            <a:ext cx="1371600" cy="45720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成果まで</a:t>
            </a:r>
            <a:endParaRPr lang="en-US" sz="1250" dirty="0"/>
          </a:p>
        </p:txBody>
      </p:sp>
      <p:sp>
        <p:nvSpPr>
          <p:cNvPr id="31" name="Shape 29"/>
          <p:cNvSpPr/>
          <p:nvPr/>
        </p:nvSpPr>
        <p:spPr>
          <a:xfrm>
            <a:off x="2011680" y="4087368"/>
            <a:ext cx="4663440" cy="457200"/>
          </a:xfrm>
          <a:prstGeom prst="roundRect">
            <a:avLst>
              <a:gd name="adj" fmla="val 24000"/>
            </a:avLst>
          </a:prstGeom>
          <a:solidFill>
            <a:srgbClr val="F5F9FC"/>
          </a:solidFill>
          <a:ln w="12700">
            <a:solidFill>
              <a:srgbClr val="F5F9FC"/>
            </a:solidFill>
            <a:prstDash val="solid"/>
          </a:ln>
        </p:spPr>
      </p:sp>
      <p:sp>
        <p:nvSpPr>
          <p:cNvPr id="32" name="Text 30"/>
          <p:cNvSpPr txBox="1"/>
          <p:nvPr/>
        </p:nvSpPr>
        <p:spPr>
          <a:xfrm>
            <a:off x="2194560" y="4087368"/>
            <a:ext cx="4297680" cy="457200"/>
          </a:xfrm>
          <a:prstGeom prst="rect">
            <a:avLst/>
          </a:prstGeom>
          <a:noFill/>
          <a:ln/>
        </p:spPr>
        <p:txBody>
          <a:bodyPr wrap="square" lIns="0" tIns="0" rIns="0" bIns="0" rtlCol="0" anchor="ctr"/>
          <a:lstStyle/>
          <a:p>
            <a:pPr indent="0" marL="0">
              <a:buNone/>
            </a:pPr>
            <a:r>
              <a:rPr lang="en-US" sz="1200" dirty="0">
                <a:solidFill>
                  <a:srgbClr val="7A8591"/>
                </a:solidFill>
                <a:latin typeface="Meiryo UI" pitchFamily="34" charset="0"/>
                <a:ea typeface="Meiryo UI" pitchFamily="34" charset="-122"/>
                <a:cs typeface="Meiryo UI" pitchFamily="34" charset="-120"/>
              </a:rPr>
              <a:t>実質的に3〜4ヶ月後ろ倒し（繁忙期を逃す）</a:t>
            </a:r>
            <a:endParaRPr lang="en-US" sz="1200" dirty="0"/>
          </a:p>
        </p:txBody>
      </p:sp>
      <p:sp>
        <p:nvSpPr>
          <p:cNvPr id="33" name="Shape 31"/>
          <p:cNvSpPr/>
          <p:nvPr/>
        </p:nvSpPr>
        <p:spPr>
          <a:xfrm>
            <a:off x="6858000" y="4087368"/>
            <a:ext cx="4663440" cy="457200"/>
          </a:xfrm>
          <a:prstGeom prst="roundRect">
            <a:avLst>
              <a:gd name="adj" fmla="val 24000"/>
            </a:avLst>
          </a:prstGeom>
          <a:solidFill>
            <a:srgbClr val="FDF0E3"/>
          </a:solidFill>
          <a:ln w="12700">
            <a:solidFill>
              <a:srgbClr val="FDF0E3"/>
            </a:solidFill>
            <a:prstDash val="solid"/>
          </a:ln>
        </p:spPr>
      </p:sp>
      <p:sp>
        <p:nvSpPr>
          <p:cNvPr id="34" name="Text 32"/>
          <p:cNvSpPr txBox="1"/>
          <p:nvPr/>
        </p:nvSpPr>
        <p:spPr>
          <a:xfrm>
            <a:off x="7040880" y="4087368"/>
            <a:ext cx="4297680" cy="457200"/>
          </a:xfrm>
          <a:prstGeom prst="rect">
            <a:avLst/>
          </a:prstGeom>
          <a:noFill/>
          <a:ln/>
        </p:spPr>
        <p:txBody>
          <a:bodyPr wrap="square" lIns="0" tIns="0" rIns="0" bIns="0" rtlCol="0" anchor="ctr"/>
          <a:lstStyle/>
          <a:p>
            <a:pPr indent="0" marL="0">
              <a:buNone/>
            </a:pPr>
            <a:r>
              <a:rPr lang="en-US" sz="1200" b="1" dirty="0">
                <a:solidFill>
                  <a:srgbClr val="143E5C"/>
                </a:solidFill>
                <a:latin typeface="Meiryo UI" pitchFamily="34" charset="0"/>
                <a:ea typeface="Meiryo UI" pitchFamily="34" charset="-122"/>
                <a:cs typeface="Meiryo UI" pitchFamily="34" charset="-120"/>
              </a:rPr>
              <a:t>最短ルートで成果創出へ</a:t>
            </a:r>
            <a:endParaRPr lang="en-US" sz="1200" dirty="0"/>
          </a:p>
        </p:txBody>
      </p:sp>
      <p:sp>
        <p:nvSpPr>
          <p:cNvPr id="35" name="Text 33"/>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400" b="1" dirty="0">
                <a:solidFill>
                  <a:srgbClr val="D2702A"/>
                </a:solidFill>
                <a:latin typeface="Meiryo UI" pitchFamily="34" charset="0"/>
                <a:ea typeface="Meiryo UI" pitchFamily="34" charset="-122"/>
                <a:cs typeface="Meiryo UI" pitchFamily="34" charset="-120"/>
              </a:rPr>
              <a:t>移行の流れ</a:t>
            </a:r>
            <a:endParaRPr lang="en-US" sz="1400" dirty="0"/>
          </a:p>
        </p:txBody>
      </p:sp>
      <p:sp>
        <p:nvSpPr>
          <p:cNvPr id="36" name="Shape 34"/>
          <p:cNvSpPr/>
          <p:nvPr/>
        </p:nvSpPr>
        <p:spPr>
          <a:xfrm>
            <a:off x="548640" y="5120640"/>
            <a:ext cx="2533574" cy="1143000"/>
          </a:xfrm>
          <a:prstGeom prst="roundRect">
            <a:avLst>
              <a:gd name="adj" fmla="val 9600"/>
            </a:avLst>
          </a:prstGeom>
          <a:solidFill>
            <a:srgbClr val="143E5C"/>
          </a:solidFill>
          <a:ln w="12700">
            <a:solidFill>
              <a:srgbClr val="143E5C"/>
            </a:solidFill>
            <a:prstDash val="solid"/>
          </a:ln>
        </p:spPr>
      </p:sp>
      <p:sp>
        <p:nvSpPr>
          <p:cNvPr id="37" name="Text 35"/>
          <p:cNvSpPr txBox="1"/>
          <p:nvPr/>
        </p:nvSpPr>
        <p:spPr>
          <a:xfrm>
            <a:off x="731520" y="5193792"/>
            <a:ext cx="2167814" cy="320040"/>
          </a:xfrm>
          <a:prstGeom prst="rect">
            <a:avLst/>
          </a:prstGeom>
          <a:noFill/>
          <a:ln/>
        </p:spPr>
        <p:txBody>
          <a:bodyPr wrap="square" lIns="0" tIns="0" rIns="0" bIns="0" rtlCol="0" anchor="t"/>
          <a:lstStyle/>
          <a:p>
            <a:pPr indent="0" marL="0">
              <a:buNone/>
            </a:pPr>
            <a:r>
              <a:rPr lang="en-US" sz="1300" b="1" dirty="0">
                <a:solidFill>
                  <a:srgbClr val="F5C08C"/>
                </a:solidFill>
                <a:latin typeface="Meiryo UI" pitchFamily="34" charset="0"/>
                <a:ea typeface="Meiryo UI" pitchFamily="34" charset="-122"/>
                <a:cs typeface="Meiryo UI" pitchFamily="34" charset="-120"/>
              </a:rPr>
              <a:t>ご契約時</a:t>
            </a:r>
            <a:endParaRPr lang="en-US" sz="1300" dirty="0"/>
          </a:p>
        </p:txBody>
      </p:sp>
      <p:sp>
        <p:nvSpPr>
          <p:cNvPr id="38" name="Text 36"/>
          <p:cNvSpPr txBox="1"/>
          <p:nvPr/>
        </p:nvSpPr>
        <p:spPr>
          <a:xfrm>
            <a:off x="731520" y="5513832"/>
            <a:ext cx="2167814" cy="685800"/>
          </a:xfrm>
          <a:prstGeom prst="rect">
            <a:avLst/>
          </a:prstGeom>
          <a:noFill/>
          <a:ln/>
        </p:spPr>
        <p:txBody>
          <a:bodyPr wrap="square" lIns="0" tIns="0" rIns="0" bIns="0" rtlCol="0" anchor="t"/>
          <a:lstStyle/>
          <a:p>
            <a:pPr indent="0" marL="0">
              <a:buNone/>
            </a:pPr>
            <a:r>
              <a:rPr lang="en-US" sz="1150" dirty="0">
                <a:solidFill>
                  <a:srgbClr val="FFFFFF"/>
                </a:solidFill>
                <a:latin typeface="Meiryo UI" pitchFamily="34" charset="0"/>
                <a:ea typeface="Meiryo UI" pitchFamily="34" charset="-122"/>
                <a:cs typeface="Meiryo UI" pitchFamily="34" charset="-120"/>
              </a:rPr>
              <a:t>伴走プランのご契約</a:t>
            </a:r>
            <a:endParaRPr lang="en-US" sz="1150" dirty="0"/>
          </a:p>
          <a:p>
            <a:pPr indent="0" marL="0">
              <a:buNone/>
            </a:pPr>
            <a:r>
              <a:rPr lang="en-US" sz="1150" dirty="0">
                <a:solidFill>
                  <a:srgbClr val="FFFFFF"/>
                </a:solidFill>
                <a:latin typeface="Meiryo UI" pitchFamily="34" charset="0"/>
                <a:ea typeface="Meiryo UI" pitchFamily="34" charset="-122"/>
                <a:cs typeface="Meiryo UI" pitchFamily="34" charset="-120"/>
              </a:rPr>
              <a:t>（フェーズ1を初月に組み込み）</a:t>
            </a:r>
            <a:endParaRPr lang="en-US" sz="1150" dirty="0"/>
          </a:p>
        </p:txBody>
      </p:sp>
      <p:pic>
        <p:nvPicPr>
          <p:cNvPr id="39" name="Image 0" descr="preencoded.png">    </p:cNvPr>
          <p:cNvPicPr>
            <a:picLocks noChangeAspect="1"/>
          </p:cNvPicPr>
          <p:nvPr/>
        </p:nvPicPr>
        <p:blipFill>
          <a:blip r:embed="rId1"/>
          <a:stretch>
            <a:fillRect/>
          </a:stretch>
        </p:blipFill>
        <p:spPr>
          <a:xfrm>
            <a:off x="3146222" y="5550408"/>
            <a:ext cx="201168" cy="274320"/>
          </a:xfrm>
          <a:prstGeom prst="rect">
            <a:avLst/>
          </a:prstGeom>
        </p:spPr>
      </p:pic>
      <p:sp>
        <p:nvSpPr>
          <p:cNvPr id="40" name="Shape 37"/>
          <p:cNvSpPr/>
          <p:nvPr/>
        </p:nvSpPr>
        <p:spPr>
          <a:xfrm>
            <a:off x="3402254" y="5120640"/>
            <a:ext cx="2533574" cy="1143000"/>
          </a:xfrm>
          <a:prstGeom prst="roundRect">
            <a:avLst>
              <a:gd name="adj" fmla="val 9600"/>
            </a:avLst>
          </a:prstGeom>
          <a:solidFill>
            <a:srgbClr val="EAF2F8"/>
          </a:solidFill>
          <a:ln w="12700">
            <a:solidFill>
              <a:srgbClr val="EAF2F8"/>
            </a:solidFill>
            <a:prstDash val="solid"/>
          </a:ln>
        </p:spPr>
      </p:sp>
      <p:sp>
        <p:nvSpPr>
          <p:cNvPr id="41" name="Text 38"/>
          <p:cNvSpPr txBox="1"/>
          <p:nvPr/>
        </p:nvSpPr>
        <p:spPr>
          <a:xfrm>
            <a:off x="3585134" y="5193792"/>
            <a:ext cx="2167814" cy="320040"/>
          </a:xfrm>
          <a:prstGeom prst="rect">
            <a:avLst/>
          </a:prstGeom>
          <a:noFill/>
          <a:ln/>
        </p:spPr>
        <p:txBody>
          <a:bodyPr wrap="square" lIns="0" tIns="0" rIns="0" bIns="0" rtlCol="0" anchor="t"/>
          <a:lstStyle/>
          <a:p>
            <a:pPr indent="0" marL="0">
              <a:buNone/>
            </a:pPr>
            <a:r>
              <a:rPr lang="en-US" sz="1300" b="1" dirty="0">
                <a:solidFill>
                  <a:srgbClr val="1F5F8B"/>
                </a:solidFill>
                <a:latin typeface="Meiryo UI" pitchFamily="34" charset="0"/>
                <a:ea typeface="Meiryo UI" pitchFamily="34" charset="-122"/>
                <a:cs typeface="Meiryo UI" pitchFamily="34" charset="-120"/>
              </a:rPr>
              <a:t>約6週間</a:t>
            </a:r>
            <a:endParaRPr lang="en-US" sz="1300" dirty="0"/>
          </a:p>
        </p:txBody>
      </p:sp>
      <p:sp>
        <p:nvSpPr>
          <p:cNvPr id="42" name="Text 39"/>
          <p:cNvSpPr txBox="1"/>
          <p:nvPr/>
        </p:nvSpPr>
        <p:spPr>
          <a:xfrm>
            <a:off x="3585134" y="5513832"/>
            <a:ext cx="2167814" cy="68580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無料3本の制作・配信・検証</a:t>
            </a:r>
            <a:endParaRPr lang="en-US" sz="1150" dirty="0"/>
          </a:p>
        </p:txBody>
      </p:sp>
      <p:pic>
        <p:nvPicPr>
          <p:cNvPr id="43" name="Image 1" descr="preencoded.png">    </p:cNvPr>
          <p:cNvPicPr>
            <a:picLocks noChangeAspect="1"/>
          </p:cNvPicPr>
          <p:nvPr/>
        </p:nvPicPr>
        <p:blipFill>
          <a:blip r:embed="rId2"/>
          <a:stretch>
            <a:fillRect/>
          </a:stretch>
        </p:blipFill>
        <p:spPr>
          <a:xfrm>
            <a:off x="5999836" y="5550408"/>
            <a:ext cx="201168" cy="274320"/>
          </a:xfrm>
          <a:prstGeom prst="rect">
            <a:avLst/>
          </a:prstGeom>
        </p:spPr>
      </p:pic>
      <p:sp>
        <p:nvSpPr>
          <p:cNvPr id="44" name="Shape 40"/>
          <p:cNvSpPr/>
          <p:nvPr/>
        </p:nvSpPr>
        <p:spPr>
          <a:xfrm>
            <a:off x="6255868" y="5120640"/>
            <a:ext cx="2533574" cy="1143000"/>
          </a:xfrm>
          <a:prstGeom prst="roundRect">
            <a:avLst>
              <a:gd name="adj" fmla="val 9600"/>
            </a:avLst>
          </a:prstGeom>
          <a:solidFill>
            <a:srgbClr val="EAF2F8"/>
          </a:solidFill>
          <a:ln w="12700">
            <a:solidFill>
              <a:srgbClr val="EAF2F8"/>
            </a:solidFill>
            <a:prstDash val="solid"/>
          </a:ln>
        </p:spPr>
      </p:sp>
      <p:sp>
        <p:nvSpPr>
          <p:cNvPr id="45" name="Text 41"/>
          <p:cNvSpPr txBox="1"/>
          <p:nvPr/>
        </p:nvSpPr>
        <p:spPr>
          <a:xfrm>
            <a:off x="6438748" y="5193792"/>
            <a:ext cx="2167814" cy="320040"/>
          </a:xfrm>
          <a:prstGeom prst="rect">
            <a:avLst/>
          </a:prstGeom>
          <a:noFill/>
          <a:ln/>
        </p:spPr>
        <p:txBody>
          <a:bodyPr wrap="square" lIns="0" tIns="0" rIns="0" bIns="0" rtlCol="0" anchor="t"/>
          <a:lstStyle/>
          <a:p>
            <a:pPr indent="0" marL="0">
              <a:buNone/>
            </a:pPr>
            <a:r>
              <a:rPr lang="en-US" sz="1300" b="1" dirty="0">
                <a:solidFill>
                  <a:srgbClr val="1F5F8B"/>
                </a:solidFill>
                <a:latin typeface="Meiryo UI" pitchFamily="34" charset="0"/>
                <a:ea typeface="Meiryo UI" pitchFamily="34" charset="-122"/>
                <a:cs typeface="Meiryo UI" pitchFamily="34" charset="-120"/>
              </a:rPr>
              <a:t>検証レポート会</a:t>
            </a:r>
            <a:endParaRPr lang="en-US" sz="1300" dirty="0"/>
          </a:p>
        </p:txBody>
      </p:sp>
      <p:sp>
        <p:nvSpPr>
          <p:cNvPr id="46" name="Text 42"/>
          <p:cNvSpPr txBox="1"/>
          <p:nvPr/>
        </p:nvSpPr>
        <p:spPr>
          <a:xfrm>
            <a:off x="6438748" y="5513832"/>
            <a:ext cx="2167814" cy="68580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勝ちパターンの特定と</a:t>
            </a:r>
            <a:endParaRPr lang="en-US" sz="1150" dirty="0"/>
          </a:p>
          <a:p>
            <a:pPr indent="0" marL="0">
              <a:buNone/>
            </a:pPr>
            <a:r>
              <a:rPr lang="en-US" sz="1150" dirty="0">
                <a:solidFill>
                  <a:srgbClr val="26303A"/>
                </a:solidFill>
                <a:latin typeface="Meiryo UI" pitchFamily="34" charset="0"/>
                <a:ea typeface="Meiryo UI" pitchFamily="34" charset="-122"/>
                <a:cs typeface="Meiryo UI" pitchFamily="34" charset="-120"/>
              </a:rPr>
              <a:t>フェーズ2計画の確定</a:t>
            </a:r>
            <a:endParaRPr lang="en-US" sz="1150" dirty="0"/>
          </a:p>
        </p:txBody>
      </p:sp>
      <p:pic>
        <p:nvPicPr>
          <p:cNvPr id="47" name="Image 2" descr="preencoded.png">    </p:cNvPr>
          <p:cNvPicPr>
            <a:picLocks noChangeAspect="1"/>
          </p:cNvPicPr>
          <p:nvPr/>
        </p:nvPicPr>
        <p:blipFill>
          <a:blip r:embed="rId3"/>
          <a:stretch>
            <a:fillRect/>
          </a:stretch>
        </p:blipFill>
        <p:spPr>
          <a:xfrm>
            <a:off x="8853449" y="5550408"/>
            <a:ext cx="201168" cy="274320"/>
          </a:xfrm>
          <a:prstGeom prst="rect">
            <a:avLst/>
          </a:prstGeom>
        </p:spPr>
      </p:pic>
      <p:sp>
        <p:nvSpPr>
          <p:cNvPr id="48" name="Shape 43"/>
          <p:cNvSpPr/>
          <p:nvPr/>
        </p:nvSpPr>
        <p:spPr>
          <a:xfrm>
            <a:off x="9109481" y="5120640"/>
            <a:ext cx="2533574" cy="1143000"/>
          </a:xfrm>
          <a:prstGeom prst="roundRect">
            <a:avLst>
              <a:gd name="adj" fmla="val 9600"/>
            </a:avLst>
          </a:prstGeom>
          <a:solidFill>
            <a:srgbClr val="EAF2F8"/>
          </a:solidFill>
          <a:ln w="12700">
            <a:solidFill>
              <a:srgbClr val="EAF2F8"/>
            </a:solidFill>
            <a:prstDash val="solid"/>
          </a:ln>
        </p:spPr>
      </p:sp>
      <p:sp>
        <p:nvSpPr>
          <p:cNvPr id="49" name="Text 44"/>
          <p:cNvSpPr txBox="1"/>
          <p:nvPr/>
        </p:nvSpPr>
        <p:spPr>
          <a:xfrm>
            <a:off x="9292361" y="5193792"/>
            <a:ext cx="2167814" cy="320040"/>
          </a:xfrm>
          <a:prstGeom prst="rect">
            <a:avLst/>
          </a:prstGeom>
          <a:noFill/>
          <a:ln/>
        </p:spPr>
        <p:txBody>
          <a:bodyPr wrap="square" lIns="0" tIns="0" rIns="0" bIns="0" rtlCol="0" anchor="t"/>
          <a:lstStyle/>
          <a:p>
            <a:pPr indent="0" marL="0">
              <a:buNone/>
            </a:pPr>
            <a:r>
              <a:rPr lang="en-US" sz="1300" b="1" dirty="0">
                <a:solidFill>
                  <a:srgbClr val="1F5F8B"/>
                </a:solidFill>
                <a:latin typeface="Meiryo UI" pitchFamily="34" charset="0"/>
                <a:ea typeface="Meiryo UI" pitchFamily="34" charset="-122"/>
                <a:cs typeface="Meiryo UI" pitchFamily="34" charset="-120"/>
              </a:rPr>
              <a:t>フェーズ2開始</a:t>
            </a:r>
            <a:endParaRPr lang="en-US" sz="1300" dirty="0"/>
          </a:p>
        </p:txBody>
      </p:sp>
      <p:sp>
        <p:nvSpPr>
          <p:cNvPr id="50" name="Text 45"/>
          <p:cNvSpPr txBox="1"/>
          <p:nvPr/>
        </p:nvSpPr>
        <p:spPr>
          <a:xfrm>
            <a:off x="9292361" y="5513832"/>
            <a:ext cx="2167814" cy="685800"/>
          </a:xfrm>
          <a:prstGeom prst="rect">
            <a:avLst/>
          </a:prstGeom>
          <a:noFill/>
          <a:ln/>
        </p:spPr>
        <p:txBody>
          <a:bodyPr wrap="square" lIns="0" tIns="0" rIns="0" bIns="0" rtlCol="0" anchor="t"/>
          <a:lstStyle/>
          <a:p>
            <a:pPr indent="0" marL="0">
              <a:buNone/>
            </a:pPr>
            <a:r>
              <a:rPr lang="en-US" sz="1150" dirty="0">
                <a:solidFill>
                  <a:srgbClr val="26303A"/>
                </a:solidFill>
                <a:latin typeface="Meiryo UI" pitchFamily="34" charset="0"/>
                <a:ea typeface="Meiryo UI" pitchFamily="34" charset="-122"/>
                <a:cs typeface="Meiryo UI" pitchFamily="34" charset="-120"/>
              </a:rPr>
              <a:t>追加制作・運用・販路拡大</a:t>
            </a:r>
            <a:endParaRPr lang="en-US" sz="1150" dirty="0"/>
          </a:p>
          <a:p>
            <a:pPr indent="0" marL="0">
              <a:buNone/>
            </a:pPr>
            <a:r>
              <a:rPr lang="en-US" sz="1150" dirty="0">
                <a:solidFill>
                  <a:srgbClr val="26303A"/>
                </a:solidFill>
                <a:latin typeface="Meiryo UI" pitchFamily="34" charset="0"/>
                <a:ea typeface="Meiryo UI" pitchFamily="34" charset="-122"/>
                <a:cs typeface="Meiryo UI" pitchFamily="34" charset="-120"/>
              </a:rPr>
              <a:t>による本格展開</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06｜COST OF WAITING</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「様子見」による機会損失の考え方</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37585"/>
                </a:solidFill>
                <a:latin typeface="Meiryo UI" pitchFamily="34" charset="0"/>
                <a:ea typeface="Meiryo UI" pitchFamily="34" charset="-122"/>
                <a:cs typeface="Meiryo UI" pitchFamily="34" charset="-120"/>
              </a:rPr>
              <a:t>片付け・遺品整理は1件あたりの単価が大きい事業。1件の取りこぼしが、そのまま大きな機会損失になります。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2331720" cy="1737360"/>
          </a:xfrm>
          <a:prstGeom prst="roundRect">
            <a:avLst>
              <a:gd name="adj" fmla="val 6316"/>
            </a:avLst>
          </a:prstGeom>
          <a:solidFill>
            <a:srgbClr val="F5F9FC"/>
          </a:solidFill>
          <a:ln w="12700">
            <a:solidFill>
              <a:srgbClr val="F5F9FC"/>
            </a:solidFill>
            <a:prstDash val="solid"/>
          </a:ln>
        </p:spPr>
      </p:sp>
      <p:sp>
        <p:nvSpPr>
          <p:cNvPr id="8" name="Text 6"/>
          <p:cNvSpPr txBox="1"/>
          <p:nvPr/>
        </p:nvSpPr>
        <p:spPr>
          <a:xfrm>
            <a:off x="548640" y="1965960"/>
            <a:ext cx="2331720" cy="868680"/>
          </a:xfrm>
          <a:prstGeom prst="rect">
            <a:avLst/>
          </a:prstGeom>
          <a:noFill/>
          <a:ln/>
        </p:spPr>
        <p:txBody>
          <a:bodyPr wrap="square" lIns="0" tIns="0" rIns="0" bIns="0" rtlCol="0" anchor="ctr"/>
          <a:lstStyle/>
          <a:p>
            <a:pPr algn="ctr" indent="0" marL="0">
              <a:buNone/>
            </a:pPr>
            <a:r>
              <a:rPr lang="en-US" sz="3400" b="1" dirty="0">
                <a:solidFill>
                  <a:srgbClr val="143E5C"/>
                </a:solidFill>
                <a:latin typeface="Meiryo UI" pitchFamily="34" charset="0"/>
                <a:ea typeface="Meiryo UI" pitchFamily="34" charset="-122"/>
                <a:cs typeface="Meiryo UI" pitchFamily="34" charset="-120"/>
              </a:rPr>
              <a:t>約15万円</a:t>
            </a:r>
            <a:endParaRPr lang="en-US" sz="3400" dirty="0"/>
          </a:p>
        </p:txBody>
      </p:sp>
      <p:sp>
        <p:nvSpPr>
          <p:cNvPr id="9" name="Text 7"/>
          <p:cNvSpPr txBox="1"/>
          <p:nvPr/>
        </p:nvSpPr>
        <p:spPr>
          <a:xfrm>
            <a:off x="548640" y="2834640"/>
            <a:ext cx="2331720" cy="685800"/>
          </a:xfrm>
          <a:prstGeom prst="rect">
            <a:avLst/>
          </a:prstGeom>
          <a:noFill/>
          <a:ln/>
        </p:spPr>
        <p:txBody>
          <a:bodyPr wrap="square" lIns="0" tIns="0" rIns="0" bIns="0" rtlCol="0" anchor="t"/>
          <a:lstStyle/>
          <a:p>
            <a:pPr algn="ctr" indent="0" marL="0">
              <a:buNone/>
            </a:pPr>
            <a:r>
              <a:rPr lang="en-US" sz="1200" dirty="0">
                <a:solidFill>
                  <a:srgbClr val="637585"/>
                </a:solidFill>
                <a:latin typeface="Meiryo UI" pitchFamily="34" charset="0"/>
                <a:ea typeface="Meiryo UI" pitchFamily="34" charset="-122"/>
                <a:cs typeface="Meiryo UI" pitchFamily="34" charset="-120"/>
              </a:rPr>
              <a:t>1件あたりの</a:t>
            </a:r>
            <a:endParaRPr lang="en-US" sz="1200" dirty="0"/>
          </a:p>
          <a:p>
            <a:pPr algn="ctr" indent="0" marL="0">
              <a:buNone/>
            </a:pPr>
            <a:r>
              <a:rPr lang="en-US" sz="1200" dirty="0">
                <a:solidFill>
                  <a:srgbClr val="637585"/>
                </a:solidFill>
                <a:latin typeface="Meiryo UI" pitchFamily="34" charset="0"/>
                <a:ea typeface="Meiryo UI" pitchFamily="34" charset="-122"/>
                <a:cs typeface="Meiryo UI" pitchFamily="34" charset="-120"/>
              </a:rPr>
              <a:t>平均受注単価（仮）</a:t>
            </a:r>
            <a:endParaRPr lang="en-US" sz="1200" dirty="0"/>
          </a:p>
        </p:txBody>
      </p:sp>
      <p:sp>
        <p:nvSpPr>
          <p:cNvPr id="10" name="Text 8"/>
          <p:cNvSpPr txBox="1"/>
          <p:nvPr/>
        </p:nvSpPr>
        <p:spPr>
          <a:xfrm>
            <a:off x="2880360" y="2331720"/>
            <a:ext cx="502920" cy="731520"/>
          </a:xfrm>
          <a:prstGeom prst="rect">
            <a:avLst/>
          </a:prstGeom>
          <a:noFill/>
          <a:ln/>
        </p:spPr>
        <p:txBody>
          <a:bodyPr wrap="square" lIns="0" tIns="0" rIns="0" bIns="0" rtlCol="0" anchor="ctr"/>
          <a:lstStyle/>
          <a:p>
            <a:pPr algn="ctr" indent="0" marL="0">
              <a:buNone/>
            </a:pPr>
            <a:r>
              <a:rPr lang="en-US" sz="3000" b="1" dirty="0">
                <a:solidFill>
                  <a:srgbClr val="D2702A"/>
                </a:solidFill>
                <a:latin typeface="Meiryo UI" pitchFamily="34" charset="0"/>
                <a:ea typeface="Meiryo UI" pitchFamily="34" charset="-122"/>
                <a:cs typeface="Meiryo UI" pitchFamily="34" charset="-120"/>
              </a:rPr>
              <a:t>×</a:t>
            </a:r>
            <a:endParaRPr lang="en-US" sz="3000" dirty="0"/>
          </a:p>
        </p:txBody>
      </p:sp>
      <p:sp>
        <p:nvSpPr>
          <p:cNvPr id="11" name="Shape 9"/>
          <p:cNvSpPr/>
          <p:nvPr/>
        </p:nvSpPr>
        <p:spPr>
          <a:xfrm>
            <a:off x="3383280" y="1874520"/>
            <a:ext cx="2331720" cy="1737360"/>
          </a:xfrm>
          <a:prstGeom prst="roundRect">
            <a:avLst>
              <a:gd name="adj" fmla="val 6316"/>
            </a:avLst>
          </a:prstGeom>
          <a:solidFill>
            <a:srgbClr val="F5F9FC"/>
          </a:solidFill>
          <a:ln w="12700">
            <a:solidFill>
              <a:srgbClr val="F5F9FC"/>
            </a:solidFill>
            <a:prstDash val="solid"/>
          </a:ln>
        </p:spPr>
      </p:sp>
      <p:sp>
        <p:nvSpPr>
          <p:cNvPr id="12" name="Text 10"/>
          <p:cNvSpPr txBox="1"/>
          <p:nvPr/>
        </p:nvSpPr>
        <p:spPr>
          <a:xfrm>
            <a:off x="3383280" y="1965960"/>
            <a:ext cx="2331720" cy="868680"/>
          </a:xfrm>
          <a:prstGeom prst="rect">
            <a:avLst/>
          </a:prstGeom>
          <a:noFill/>
          <a:ln/>
        </p:spPr>
        <p:txBody>
          <a:bodyPr wrap="square" lIns="0" tIns="0" rIns="0" bIns="0" rtlCol="0" anchor="ctr"/>
          <a:lstStyle/>
          <a:p>
            <a:pPr algn="ctr" indent="0" marL="0">
              <a:buNone/>
            </a:pPr>
            <a:r>
              <a:rPr lang="en-US" sz="3400" b="1" dirty="0">
                <a:solidFill>
                  <a:srgbClr val="143E5C"/>
                </a:solidFill>
                <a:latin typeface="Meiryo UI" pitchFamily="34" charset="0"/>
                <a:ea typeface="Meiryo UI" pitchFamily="34" charset="-122"/>
                <a:cs typeface="Meiryo UI" pitchFamily="34" charset="-120"/>
              </a:rPr>
              <a:t>月4件</a:t>
            </a:r>
            <a:endParaRPr lang="en-US" sz="3400" dirty="0"/>
          </a:p>
        </p:txBody>
      </p:sp>
      <p:sp>
        <p:nvSpPr>
          <p:cNvPr id="13" name="Text 11"/>
          <p:cNvSpPr txBox="1"/>
          <p:nvPr/>
        </p:nvSpPr>
        <p:spPr>
          <a:xfrm>
            <a:off x="3383280" y="2834640"/>
            <a:ext cx="2331720" cy="685800"/>
          </a:xfrm>
          <a:prstGeom prst="rect">
            <a:avLst/>
          </a:prstGeom>
          <a:noFill/>
          <a:ln/>
        </p:spPr>
        <p:txBody>
          <a:bodyPr wrap="square" lIns="0" tIns="0" rIns="0" bIns="0" rtlCol="0" anchor="t"/>
          <a:lstStyle/>
          <a:p>
            <a:pPr algn="ctr" indent="0" marL="0">
              <a:buNone/>
            </a:pPr>
            <a:r>
              <a:rPr lang="en-US" sz="1200" dirty="0">
                <a:solidFill>
                  <a:srgbClr val="637585"/>
                </a:solidFill>
                <a:latin typeface="Meiryo UI" pitchFamily="34" charset="0"/>
                <a:ea typeface="Meiryo UI" pitchFamily="34" charset="-122"/>
                <a:cs typeface="Meiryo UI" pitchFamily="34" charset="-120"/>
              </a:rPr>
              <a:t>上乗せできる</a:t>
            </a:r>
            <a:endParaRPr lang="en-US" sz="1200" dirty="0"/>
          </a:p>
          <a:p>
            <a:pPr algn="ctr" indent="0" marL="0">
              <a:buNone/>
            </a:pPr>
            <a:r>
              <a:rPr lang="en-US" sz="1200" dirty="0">
                <a:solidFill>
                  <a:srgbClr val="637585"/>
                </a:solidFill>
                <a:latin typeface="Meiryo UI" pitchFamily="34" charset="0"/>
                <a:ea typeface="Meiryo UI" pitchFamily="34" charset="-122"/>
                <a:cs typeface="Meiryo UI" pitchFamily="34" charset="-120"/>
              </a:rPr>
              <a:t>受注件数（仮）</a:t>
            </a:r>
            <a:endParaRPr lang="en-US" sz="1200" dirty="0"/>
          </a:p>
        </p:txBody>
      </p:sp>
      <p:sp>
        <p:nvSpPr>
          <p:cNvPr id="14" name="Text 12"/>
          <p:cNvSpPr txBox="1"/>
          <p:nvPr/>
        </p:nvSpPr>
        <p:spPr>
          <a:xfrm>
            <a:off x="5715000" y="2331720"/>
            <a:ext cx="502920" cy="731520"/>
          </a:xfrm>
          <a:prstGeom prst="rect">
            <a:avLst/>
          </a:prstGeom>
          <a:noFill/>
          <a:ln/>
        </p:spPr>
        <p:txBody>
          <a:bodyPr wrap="square" lIns="0" tIns="0" rIns="0" bIns="0" rtlCol="0" anchor="ctr"/>
          <a:lstStyle/>
          <a:p>
            <a:pPr algn="ctr" indent="0" marL="0">
              <a:buNone/>
            </a:pPr>
            <a:r>
              <a:rPr lang="en-US" sz="3000" b="1" dirty="0">
                <a:solidFill>
                  <a:srgbClr val="D2702A"/>
                </a:solidFill>
                <a:latin typeface="Meiryo UI" pitchFamily="34" charset="0"/>
                <a:ea typeface="Meiryo UI" pitchFamily="34" charset="-122"/>
                <a:cs typeface="Meiryo UI" pitchFamily="34" charset="-120"/>
              </a:rPr>
              <a:t>=</a:t>
            </a:r>
            <a:endParaRPr lang="en-US" sz="3000" dirty="0"/>
          </a:p>
        </p:txBody>
      </p:sp>
      <p:sp>
        <p:nvSpPr>
          <p:cNvPr id="15" name="Shape 13"/>
          <p:cNvSpPr/>
          <p:nvPr/>
        </p:nvSpPr>
        <p:spPr>
          <a:xfrm>
            <a:off x="6217920" y="1874520"/>
            <a:ext cx="2331720" cy="1737360"/>
          </a:xfrm>
          <a:prstGeom prst="roundRect">
            <a:avLst>
              <a:gd name="adj" fmla="val 6316"/>
            </a:avLst>
          </a:prstGeom>
          <a:solidFill>
            <a:srgbClr val="EAF2F8"/>
          </a:solidFill>
          <a:ln w="12700">
            <a:solidFill>
              <a:srgbClr val="EAF2F8"/>
            </a:solidFill>
            <a:prstDash val="solid"/>
          </a:ln>
        </p:spPr>
      </p:sp>
      <p:sp>
        <p:nvSpPr>
          <p:cNvPr id="16" name="Text 14"/>
          <p:cNvSpPr txBox="1"/>
          <p:nvPr/>
        </p:nvSpPr>
        <p:spPr>
          <a:xfrm>
            <a:off x="6217920" y="1965960"/>
            <a:ext cx="2331720" cy="868680"/>
          </a:xfrm>
          <a:prstGeom prst="rect">
            <a:avLst/>
          </a:prstGeom>
          <a:noFill/>
          <a:ln/>
        </p:spPr>
        <p:txBody>
          <a:bodyPr wrap="square" lIns="0" tIns="0" rIns="0" bIns="0" rtlCol="0" anchor="ctr"/>
          <a:lstStyle/>
          <a:p>
            <a:pPr algn="ctr" indent="0" marL="0">
              <a:buNone/>
            </a:pPr>
            <a:r>
              <a:rPr lang="en-US" sz="3400" b="1" dirty="0">
                <a:solidFill>
                  <a:srgbClr val="1F5F8B"/>
                </a:solidFill>
                <a:latin typeface="Meiryo UI" pitchFamily="34" charset="0"/>
                <a:ea typeface="Meiryo UI" pitchFamily="34" charset="-122"/>
                <a:cs typeface="Meiryo UI" pitchFamily="34" charset="-120"/>
              </a:rPr>
              <a:t>約60万円</a:t>
            </a:r>
            <a:endParaRPr lang="en-US" sz="3400" dirty="0"/>
          </a:p>
        </p:txBody>
      </p:sp>
      <p:sp>
        <p:nvSpPr>
          <p:cNvPr id="17" name="Text 15"/>
          <p:cNvSpPr txBox="1"/>
          <p:nvPr/>
        </p:nvSpPr>
        <p:spPr>
          <a:xfrm>
            <a:off x="6217920" y="2834640"/>
            <a:ext cx="2331720" cy="685800"/>
          </a:xfrm>
          <a:prstGeom prst="rect">
            <a:avLst/>
          </a:prstGeom>
          <a:noFill/>
          <a:ln/>
        </p:spPr>
        <p:txBody>
          <a:bodyPr wrap="square" lIns="0" tIns="0" rIns="0" bIns="0" rtlCol="0" anchor="t"/>
          <a:lstStyle/>
          <a:p>
            <a:pPr algn="ctr" indent="0" marL="0">
              <a:buNone/>
            </a:pPr>
            <a:r>
              <a:rPr lang="en-US" sz="1200" dirty="0">
                <a:solidFill>
                  <a:srgbClr val="637585"/>
                </a:solidFill>
                <a:latin typeface="Meiryo UI" pitchFamily="34" charset="0"/>
                <a:ea typeface="Meiryo UI" pitchFamily="34" charset="-122"/>
                <a:cs typeface="Meiryo UI" pitchFamily="34" charset="-120"/>
              </a:rPr>
              <a:t>月あたりの</a:t>
            </a:r>
            <a:endParaRPr lang="en-US" sz="1200" dirty="0"/>
          </a:p>
          <a:p>
            <a:pPr algn="ctr" indent="0" marL="0">
              <a:buNone/>
            </a:pPr>
            <a:r>
              <a:rPr lang="en-US" sz="1200" dirty="0">
                <a:solidFill>
                  <a:srgbClr val="637585"/>
                </a:solidFill>
                <a:latin typeface="Meiryo UI" pitchFamily="34" charset="0"/>
                <a:ea typeface="Meiryo UI" pitchFamily="34" charset="-122"/>
                <a:cs typeface="Meiryo UI" pitchFamily="34" charset="-120"/>
              </a:rPr>
              <a:t>売上機会</a:t>
            </a:r>
            <a:endParaRPr lang="en-US" sz="1200" dirty="0"/>
          </a:p>
        </p:txBody>
      </p:sp>
      <p:sp>
        <p:nvSpPr>
          <p:cNvPr id="18" name="Shape 16"/>
          <p:cNvSpPr/>
          <p:nvPr/>
        </p:nvSpPr>
        <p:spPr>
          <a:xfrm>
            <a:off x="8869680" y="1874520"/>
            <a:ext cx="2773375" cy="1737360"/>
          </a:xfrm>
          <a:prstGeom prst="roundRect">
            <a:avLst>
              <a:gd name="adj" fmla="val 6316"/>
            </a:avLst>
          </a:prstGeom>
          <a:solidFill>
            <a:srgbClr val="143E5C"/>
          </a:solidFill>
          <a:ln w="12700">
            <a:solidFill>
              <a:srgbClr val="143E5C"/>
            </a:solidFill>
            <a:prstDash val="solid"/>
          </a:ln>
        </p:spPr>
      </p:sp>
      <p:sp>
        <p:nvSpPr>
          <p:cNvPr id="19" name="Text 17"/>
          <p:cNvSpPr txBox="1"/>
          <p:nvPr/>
        </p:nvSpPr>
        <p:spPr>
          <a:xfrm>
            <a:off x="9052560" y="2011680"/>
            <a:ext cx="2407615" cy="274320"/>
          </a:xfrm>
          <a:prstGeom prst="rect">
            <a:avLst/>
          </a:prstGeom>
          <a:noFill/>
          <a:ln/>
        </p:spPr>
        <p:txBody>
          <a:bodyPr wrap="square" lIns="0" tIns="0" rIns="0" bIns="0" rtlCol="0" anchor="t"/>
          <a:lstStyle/>
          <a:p>
            <a:pPr algn="ctr" indent="0" marL="0">
              <a:buNone/>
            </a:pPr>
            <a:r>
              <a:rPr lang="en-US" sz="1100" dirty="0">
                <a:solidFill>
                  <a:srgbClr val="D4E4F1"/>
                </a:solidFill>
                <a:latin typeface="Meiryo UI" pitchFamily="34" charset="0"/>
                <a:ea typeface="Meiryo UI" pitchFamily="34" charset="-122"/>
                <a:cs typeface="Meiryo UI" pitchFamily="34" charset="-120"/>
              </a:rPr>
              <a:t>後ろ倒し期間（仮）</a:t>
            </a:r>
            <a:endParaRPr lang="en-US" sz="1100" dirty="0"/>
          </a:p>
        </p:txBody>
      </p:sp>
      <p:sp>
        <p:nvSpPr>
          <p:cNvPr id="20" name="Text 18"/>
          <p:cNvSpPr txBox="1"/>
          <p:nvPr/>
        </p:nvSpPr>
        <p:spPr>
          <a:xfrm>
            <a:off x="9052560" y="2286000"/>
            <a:ext cx="2407615"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UI" pitchFamily="34" charset="0"/>
                <a:ea typeface="Meiryo UI" pitchFamily="34" charset="-122"/>
                <a:cs typeface="Meiryo UI" pitchFamily="34" charset="-120"/>
              </a:rPr>
              <a:t>3ヶ月</a:t>
            </a:r>
            <a:endParaRPr lang="en-US" sz="3000" dirty="0"/>
          </a:p>
        </p:txBody>
      </p:sp>
      <p:sp>
        <p:nvSpPr>
          <p:cNvPr id="21" name="Text 19"/>
          <p:cNvSpPr txBox="1"/>
          <p:nvPr/>
        </p:nvSpPr>
        <p:spPr>
          <a:xfrm>
            <a:off x="9052560" y="3063240"/>
            <a:ext cx="2407615" cy="365760"/>
          </a:xfrm>
          <a:prstGeom prst="rect">
            <a:avLst/>
          </a:prstGeom>
          <a:noFill/>
          <a:ln/>
        </p:spPr>
        <p:txBody>
          <a:bodyPr wrap="square" lIns="0" tIns="0" rIns="0" bIns="0" rtlCol="0" anchor="t"/>
          <a:lstStyle/>
          <a:p>
            <a:pPr algn="ctr" indent="0" marL="0">
              <a:buNone/>
            </a:pPr>
            <a:r>
              <a:rPr lang="en-US" sz="1100" dirty="0">
                <a:solidFill>
                  <a:srgbClr val="D4E4F1"/>
                </a:solidFill>
                <a:latin typeface="Meiryo UI" pitchFamily="34" charset="0"/>
                <a:ea typeface="Meiryo UI" pitchFamily="34" charset="-122"/>
                <a:cs typeface="Meiryo UI" pitchFamily="34" charset="-120"/>
              </a:rPr>
              <a:t>検討・再見積り・再立ち上げ</a:t>
            </a:r>
            <a:endParaRPr lang="en-US" sz="1100" dirty="0"/>
          </a:p>
        </p:txBody>
      </p:sp>
      <p:sp>
        <p:nvSpPr>
          <p:cNvPr id="22" name="Shape 20"/>
          <p:cNvSpPr/>
          <p:nvPr/>
        </p:nvSpPr>
        <p:spPr>
          <a:xfrm>
            <a:off x="548640" y="3931920"/>
            <a:ext cx="11094415" cy="1600200"/>
          </a:xfrm>
          <a:prstGeom prst="roundRect">
            <a:avLst>
              <a:gd name="adj" fmla="val 6857"/>
            </a:avLst>
          </a:prstGeom>
          <a:solidFill>
            <a:srgbClr val="FDF0E3"/>
          </a:solidFill>
          <a:ln w="12700">
            <a:solidFill>
              <a:srgbClr val="FDF0E3"/>
            </a:solidFill>
            <a:prstDash val="solid"/>
          </a:ln>
        </p:spPr>
      </p:sp>
      <p:sp>
        <p:nvSpPr>
          <p:cNvPr id="23" name="Text 21"/>
          <p:cNvSpPr txBox="1"/>
          <p:nvPr/>
        </p:nvSpPr>
        <p:spPr>
          <a:xfrm>
            <a:off x="914400" y="4069080"/>
            <a:ext cx="5943600" cy="365760"/>
          </a:xfrm>
          <a:prstGeom prst="rect">
            <a:avLst/>
          </a:prstGeom>
          <a:noFill/>
          <a:ln/>
        </p:spPr>
        <p:txBody>
          <a:bodyPr wrap="square" lIns="0" tIns="0" rIns="0" bIns="0" rtlCol="0" anchor="t"/>
          <a:lstStyle/>
          <a:p>
            <a:pPr indent="0" marL="0">
              <a:buNone/>
            </a:pPr>
            <a:r>
              <a:rPr lang="en-US" sz="1400" b="1" dirty="0">
                <a:solidFill>
                  <a:srgbClr val="143E5C"/>
                </a:solidFill>
                <a:latin typeface="Meiryo UI" pitchFamily="34" charset="0"/>
                <a:ea typeface="Meiryo UI" pitchFamily="34" charset="-122"/>
                <a:cs typeface="Meiryo UI" pitchFamily="34" charset="-120"/>
              </a:rPr>
              <a:t>仮に3ヶ月「様子見」をすると……</a:t>
            </a:r>
            <a:endParaRPr lang="en-US" sz="1400" dirty="0"/>
          </a:p>
        </p:txBody>
      </p:sp>
      <p:sp>
        <p:nvSpPr>
          <p:cNvPr id="24" name="Text 22"/>
          <p:cNvSpPr txBox="1"/>
          <p:nvPr/>
        </p:nvSpPr>
        <p:spPr>
          <a:xfrm>
            <a:off x="914400" y="4526280"/>
            <a:ext cx="4572000" cy="822960"/>
          </a:xfrm>
          <a:prstGeom prst="rect">
            <a:avLst/>
          </a:prstGeom>
          <a:noFill/>
          <a:ln/>
        </p:spPr>
        <p:txBody>
          <a:bodyPr wrap="square" lIns="0" tIns="0" rIns="0" bIns="0" rtlCol="0" anchor="ctr"/>
          <a:lstStyle/>
          <a:p>
            <a:pPr indent="0" marL="0">
              <a:buNone/>
            </a:pPr>
            <a:r>
              <a:rPr lang="en-US" sz="2600" b="1" dirty="0">
                <a:solidFill>
                  <a:srgbClr val="143E5C"/>
                </a:solidFill>
                <a:latin typeface="Meiryo UI" pitchFamily="34" charset="0"/>
                <a:ea typeface="Meiryo UI" pitchFamily="34" charset="-122"/>
                <a:cs typeface="Meiryo UI" pitchFamily="34" charset="-120"/>
              </a:rPr>
              <a:t>60万円 × 3ヶ月 ＝</a:t>
            </a:r>
            <a:endParaRPr lang="en-US" sz="2600" dirty="0"/>
          </a:p>
        </p:txBody>
      </p:sp>
      <p:sp>
        <p:nvSpPr>
          <p:cNvPr id="25" name="Text 23"/>
          <p:cNvSpPr txBox="1"/>
          <p:nvPr/>
        </p:nvSpPr>
        <p:spPr>
          <a:xfrm>
            <a:off x="5303520" y="4389120"/>
            <a:ext cx="4114800" cy="1005840"/>
          </a:xfrm>
          <a:prstGeom prst="rect">
            <a:avLst/>
          </a:prstGeom>
          <a:noFill/>
          <a:ln/>
        </p:spPr>
        <p:txBody>
          <a:bodyPr wrap="square" lIns="0" tIns="0" rIns="0" bIns="0" rtlCol="0" anchor="ctr"/>
          <a:lstStyle/>
          <a:p>
            <a:pPr indent="0" marL="0">
              <a:buNone/>
            </a:pPr>
            <a:r>
              <a:rPr lang="en-US" sz="4800" b="1" dirty="0">
                <a:solidFill>
                  <a:srgbClr val="D2702A"/>
                </a:solidFill>
                <a:latin typeface="Meiryo UI" pitchFamily="34" charset="0"/>
                <a:ea typeface="Meiryo UI" pitchFamily="34" charset="-122"/>
                <a:cs typeface="Meiryo UI" pitchFamily="34" charset="-120"/>
              </a:rPr>
              <a:t>約180万円</a:t>
            </a:r>
            <a:endParaRPr lang="en-US" sz="4800" dirty="0"/>
          </a:p>
        </p:txBody>
      </p:sp>
      <p:sp>
        <p:nvSpPr>
          <p:cNvPr id="26" name="Text 24"/>
          <p:cNvSpPr txBox="1"/>
          <p:nvPr/>
        </p:nvSpPr>
        <p:spPr>
          <a:xfrm>
            <a:off x="9281160" y="4526280"/>
            <a:ext cx="2194560" cy="822960"/>
          </a:xfrm>
          <a:prstGeom prst="rect">
            <a:avLst/>
          </a:prstGeom>
          <a:noFill/>
          <a:ln/>
        </p:spPr>
        <p:txBody>
          <a:bodyPr wrap="square" lIns="0" tIns="0" rIns="0" bIns="0" rtlCol="0" anchor="ctr"/>
          <a:lstStyle/>
          <a:p>
            <a:pPr indent="0" marL="0">
              <a:buNone/>
            </a:pPr>
            <a:r>
              <a:rPr lang="en-US" sz="2000" b="1" dirty="0">
                <a:solidFill>
                  <a:srgbClr val="143E5C"/>
                </a:solidFill>
                <a:latin typeface="Meiryo UI" pitchFamily="34" charset="0"/>
                <a:ea typeface="Meiryo UI" pitchFamily="34" charset="-122"/>
                <a:cs typeface="Meiryo UI" pitchFamily="34" charset="-120"/>
              </a:rPr>
              <a:t>の機会損失</a:t>
            </a:r>
            <a:endParaRPr lang="en-US" sz="2000" dirty="0"/>
          </a:p>
        </p:txBody>
      </p:sp>
      <p:sp>
        <p:nvSpPr>
          <p:cNvPr id="27" name="Text 2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※上記は考え方を示すための仮置きの数値です。なお、同じ件数をポータルサイト経由（手数料20%）で獲得すると、3ヶ月で約36万円の手数料が発生する計算です。本日、実数値で再計算させてください。</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07｜TODAY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本日ご確認させていただきたいこと</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719072"/>
            <a:ext cx="512064" cy="512064"/>
          </a:xfrm>
          <a:prstGeom prst="ellipse">
            <a:avLst/>
          </a:prstGeom>
          <a:solidFill>
            <a:srgbClr val="1F5F8B"/>
          </a:solidFill>
          <a:ln w="12700">
            <a:solidFill>
              <a:srgbClr val="1F5F8B"/>
            </a:solidFill>
            <a:prstDash val="solid"/>
          </a:ln>
        </p:spPr>
      </p:sp>
      <p:sp>
        <p:nvSpPr>
          <p:cNvPr id="8" name="Text 6"/>
          <p:cNvSpPr txBox="1"/>
          <p:nvPr/>
        </p:nvSpPr>
        <p:spPr>
          <a:xfrm>
            <a:off x="777240"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9" name="Text 7"/>
          <p:cNvSpPr txBox="1"/>
          <p:nvPr/>
        </p:nvSpPr>
        <p:spPr>
          <a:xfrm>
            <a:off x="1463040" y="157276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月あたりの問い合わせ件数と、見積もり→成約の割合</a:t>
            </a:r>
            <a:endParaRPr lang="en-US" sz="1300" dirty="0"/>
          </a:p>
        </p:txBody>
      </p:sp>
      <p:sp>
        <p:nvSpPr>
          <p:cNvPr id="10" name="Text 8"/>
          <p:cNvSpPr txBox="1"/>
          <p:nvPr/>
        </p:nvSpPr>
        <p:spPr>
          <a:xfrm>
            <a:off x="1463040" y="212140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目的：転換率の把握</a:t>
            </a:r>
            <a:endParaRPr lang="en-US" sz="1100" dirty="0"/>
          </a:p>
        </p:txBody>
      </p:sp>
      <p:sp>
        <p:nvSpPr>
          <p:cNvPr id="11" name="Shape 9"/>
          <p:cNvSpPr/>
          <p:nvPr/>
        </p:nvSpPr>
        <p:spPr>
          <a:xfrm>
            <a:off x="548640"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2907792"/>
            <a:ext cx="512064" cy="512064"/>
          </a:xfrm>
          <a:prstGeom prst="ellipse">
            <a:avLst/>
          </a:prstGeom>
          <a:solidFill>
            <a:srgbClr val="1F5F8B"/>
          </a:solidFill>
          <a:ln w="12700">
            <a:solidFill>
              <a:srgbClr val="1F5F8B"/>
            </a:solidFill>
            <a:prstDash val="solid"/>
          </a:ln>
        </p:spPr>
      </p:sp>
      <p:sp>
        <p:nvSpPr>
          <p:cNvPr id="13" name="Text 11"/>
          <p:cNvSpPr txBox="1"/>
          <p:nvPr/>
        </p:nvSpPr>
        <p:spPr>
          <a:xfrm>
            <a:off x="777240"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4" name="Text 12"/>
          <p:cNvSpPr txBox="1"/>
          <p:nvPr/>
        </p:nvSpPr>
        <p:spPr>
          <a:xfrm>
            <a:off x="1463040" y="276148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案件の内訳（遺品整理・ゴミ屋敷・施設退去・特殊清掃・解体）</a:t>
            </a:r>
            <a:endParaRPr lang="en-US" sz="1300" dirty="0"/>
          </a:p>
        </p:txBody>
      </p:sp>
      <p:sp>
        <p:nvSpPr>
          <p:cNvPr id="15" name="Text 13"/>
          <p:cNvSpPr txBox="1"/>
          <p:nvPr/>
        </p:nvSpPr>
        <p:spPr>
          <a:xfrm>
            <a:off x="1463040" y="331012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目的：注力テーマの決定</a:t>
            </a:r>
            <a:endParaRPr lang="en-US" sz="1100" dirty="0"/>
          </a:p>
        </p:txBody>
      </p:sp>
      <p:sp>
        <p:nvSpPr>
          <p:cNvPr id="16" name="Shape 14"/>
          <p:cNvSpPr/>
          <p:nvPr/>
        </p:nvSpPr>
        <p:spPr>
          <a:xfrm>
            <a:off x="548640"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4096512"/>
            <a:ext cx="512064" cy="512064"/>
          </a:xfrm>
          <a:prstGeom prst="ellipse">
            <a:avLst/>
          </a:prstGeom>
          <a:solidFill>
            <a:srgbClr val="1F5F8B"/>
          </a:solidFill>
          <a:ln w="12700">
            <a:solidFill>
              <a:srgbClr val="1F5F8B"/>
            </a:solidFill>
            <a:prstDash val="solid"/>
          </a:ln>
        </p:spPr>
      </p:sp>
      <p:sp>
        <p:nvSpPr>
          <p:cNvPr id="18" name="Text 16"/>
          <p:cNvSpPr txBox="1"/>
          <p:nvPr/>
        </p:nvSpPr>
        <p:spPr>
          <a:xfrm>
            <a:off x="777240"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19" name="Text 17"/>
          <p:cNvSpPr txBox="1"/>
          <p:nvPr/>
        </p:nvSpPr>
        <p:spPr>
          <a:xfrm>
            <a:off x="1463040" y="395020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1件あたりの平均受注単価と、繁忙期・閑散期の差</a:t>
            </a:r>
            <a:endParaRPr lang="en-US" sz="1300" dirty="0"/>
          </a:p>
        </p:txBody>
      </p:sp>
      <p:sp>
        <p:nvSpPr>
          <p:cNvPr id="20" name="Text 18"/>
          <p:cNvSpPr txBox="1"/>
          <p:nvPr/>
        </p:nvSpPr>
        <p:spPr>
          <a:xfrm>
            <a:off x="1463040" y="449884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目的：投資対効果の算出</a:t>
            </a:r>
            <a:endParaRPr lang="en-US" sz="1100" dirty="0"/>
          </a:p>
        </p:txBody>
      </p:sp>
      <p:sp>
        <p:nvSpPr>
          <p:cNvPr id="21" name="Shape 19"/>
          <p:cNvSpPr/>
          <p:nvPr/>
        </p:nvSpPr>
        <p:spPr>
          <a:xfrm>
            <a:off x="548640"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77240" y="5285232"/>
            <a:ext cx="512064" cy="512064"/>
          </a:xfrm>
          <a:prstGeom prst="ellipse">
            <a:avLst/>
          </a:prstGeom>
          <a:solidFill>
            <a:srgbClr val="1F5F8B"/>
          </a:solidFill>
          <a:ln w="12700">
            <a:solidFill>
              <a:srgbClr val="1F5F8B"/>
            </a:solidFill>
            <a:prstDash val="solid"/>
          </a:ln>
        </p:spPr>
      </p:sp>
      <p:sp>
        <p:nvSpPr>
          <p:cNvPr id="23" name="Text 21"/>
          <p:cNvSpPr txBox="1"/>
          <p:nvPr/>
        </p:nvSpPr>
        <p:spPr>
          <a:xfrm>
            <a:off x="777240"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24" name="Text 22"/>
          <p:cNvSpPr txBox="1"/>
          <p:nvPr/>
        </p:nvSpPr>
        <p:spPr>
          <a:xfrm>
            <a:off x="1463040" y="513892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主な紹介元（社協・不動産会社など）と紹介件数</a:t>
            </a:r>
            <a:endParaRPr lang="en-US" sz="1300" dirty="0"/>
          </a:p>
        </p:txBody>
      </p:sp>
      <p:sp>
        <p:nvSpPr>
          <p:cNvPr id="25" name="Text 23"/>
          <p:cNvSpPr txBox="1"/>
          <p:nvPr/>
        </p:nvSpPr>
        <p:spPr>
          <a:xfrm>
            <a:off x="1463040" y="568756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目的：プッシュ施策の設計</a:t>
            </a:r>
            <a:endParaRPr lang="en-US" sz="1100" dirty="0"/>
          </a:p>
        </p:txBody>
      </p:sp>
      <p:sp>
        <p:nvSpPr>
          <p:cNvPr id="26" name="Shape 24"/>
          <p:cNvSpPr/>
          <p:nvPr/>
        </p:nvSpPr>
        <p:spPr>
          <a:xfrm>
            <a:off x="6233008"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6461608" y="1719072"/>
            <a:ext cx="512064" cy="512064"/>
          </a:xfrm>
          <a:prstGeom prst="ellipse">
            <a:avLst/>
          </a:prstGeom>
          <a:solidFill>
            <a:srgbClr val="1F5F8B"/>
          </a:solidFill>
          <a:ln w="12700">
            <a:solidFill>
              <a:srgbClr val="1F5F8B"/>
            </a:solidFill>
            <a:prstDash val="solid"/>
          </a:ln>
        </p:spPr>
      </p:sp>
      <p:sp>
        <p:nvSpPr>
          <p:cNvPr id="28" name="Text 26"/>
          <p:cNvSpPr txBox="1"/>
          <p:nvPr/>
        </p:nvSpPr>
        <p:spPr>
          <a:xfrm>
            <a:off x="6461608"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29" name="Text 27"/>
          <p:cNvSpPr txBox="1"/>
          <p:nvPr/>
        </p:nvSpPr>
        <p:spPr>
          <a:xfrm>
            <a:off x="7147408" y="157276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対応できるエリアと許認可の範囲（一般廃棄物・古物商など）</a:t>
            </a:r>
            <a:endParaRPr lang="en-US" sz="1300" dirty="0"/>
          </a:p>
        </p:txBody>
      </p:sp>
      <p:sp>
        <p:nvSpPr>
          <p:cNvPr id="30" name="Text 28"/>
          <p:cNvSpPr txBox="1"/>
          <p:nvPr/>
        </p:nvSpPr>
        <p:spPr>
          <a:xfrm>
            <a:off x="7147408" y="212140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目的：関東展開の設計</a:t>
            </a:r>
            <a:endParaRPr lang="en-US" sz="1100" dirty="0"/>
          </a:p>
        </p:txBody>
      </p:sp>
      <p:sp>
        <p:nvSpPr>
          <p:cNvPr id="31" name="Shape 29"/>
          <p:cNvSpPr/>
          <p:nvPr/>
        </p:nvSpPr>
        <p:spPr>
          <a:xfrm>
            <a:off x="6233008"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461608" y="2907792"/>
            <a:ext cx="512064" cy="512064"/>
          </a:xfrm>
          <a:prstGeom prst="ellipse">
            <a:avLst/>
          </a:prstGeom>
          <a:solidFill>
            <a:srgbClr val="1F5F8B"/>
          </a:solidFill>
          <a:ln w="12700">
            <a:solidFill>
              <a:srgbClr val="1F5F8B"/>
            </a:solidFill>
            <a:prstDash val="solid"/>
          </a:ln>
        </p:spPr>
      </p:sp>
      <p:sp>
        <p:nvSpPr>
          <p:cNvPr id="33" name="Text 31"/>
          <p:cNvSpPr txBox="1"/>
          <p:nvPr/>
        </p:nvSpPr>
        <p:spPr>
          <a:xfrm>
            <a:off x="6461608"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34" name="Text 32"/>
          <p:cNvSpPr txBox="1"/>
          <p:nvPr/>
        </p:nvSpPr>
        <p:spPr>
          <a:xfrm>
            <a:off x="7147408" y="276148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月あたりの対応可能件数（人員・車両）</a:t>
            </a:r>
            <a:endParaRPr lang="en-US" sz="1300" dirty="0"/>
          </a:p>
        </p:txBody>
      </p:sp>
      <p:sp>
        <p:nvSpPr>
          <p:cNvPr id="35" name="Text 33"/>
          <p:cNvSpPr txBox="1"/>
          <p:nvPr/>
        </p:nvSpPr>
        <p:spPr>
          <a:xfrm>
            <a:off x="7147408" y="331012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目的：集客と体制のバランス</a:t>
            </a:r>
            <a:endParaRPr lang="en-US" sz="1100" dirty="0"/>
          </a:p>
        </p:txBody>
      </p:sp>
      <p:sp>
        <p:nvSpPr>
          <p:cNvPr id="36" name="Shape 34"/>
          <p:cNvSpPr/>
          <p:nvPr/>
        </p:nvSpPr>
        <p:spPr>
          <a:xfrm>
            <a:off x="6233008"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6461608" y="4096512"/>
            <a:ext cx="512064" cy="512064"/>
          </a:xfrm>
          <a:prstGeom prst="ellipse">
            <a:avLst/>
          </a:prstGeom>
          <a:solidFill>
            <a:srgbClr val="1F5F8B"/>
          </a:solidFill>
          <a:ln w="12700">
            <a:solidFill>
              <a:srgbClr val="1F5F8B"/>
            </a:solidFill>
            <a:prstDash val="solid"/>
          </a:ln>
        </p:spPr>
      </p:sp>
      <p:sp>
        <p:nvSpPr>
          <p:cNvPr id="38" name="Text 36"/>
          <p:cNvSpPr txBox="1"/>
          <p:nvPr/>
        </p:nvSpPr>
        <p:spPr>
          <a:xfrm>
            <a:off x="6461608"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7</a:t>
            </a:r>
            <a:endParaRPr lang="en-US" sz="1500" dirty="0"/>
          </a:p>
        </p:txBody>
      </p:sp>
      <p:sp>
        <p:nvSpPr>
          <p:cNvPr id="39" name="Text 37"/>
          <p:cNvSpPr txBox="1"/>
          <p:nvPr/>
        </p:nvSpPr>
        <p:spPr>
          <a:xfrm>
            <a:off x="7147408" y="395020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HP・Googleビジネスプロフィール・SNSの運用状況</a:t>
            </a:r>
            <a:endParaRPr lang="en-US" sz="1300" dirty="0"/>
          </a:p>
        </p:txBody>
      </p:sp>
      <p:sp>
        <p:nvSpPr>
          <p:cNvPr id="40" name="Text 38"/>
          <p:cNvSpPr txBox="1"/>
          <p:nvPr/>
        </p:nvSpPr>
        <p:spPr>
          <a:xfrm>
            <a:off x="7147408" y="449884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目的：プル施策の起点設計</a:t>
            </a:r>
            <a:endParaRPr lang="en-US" sz="1100" dirty="0"/>
          </a:p>
        </p:txBody>
      </p:sp>
      <p:sp>
        <p:nvSpPr>
          <p:cNvPr id="41" name="Shape 39"/>
          <p:cNvSpPr/>
          <p:nvPr/>
        </p:nvSpPr>
        <p:spPr>
          <a:xfrm>
            <a:off x="6233008"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461608" y="5285232"/>
            <a:ext cx="512064" cy="512064"/>
          </a:xfrm>
          <a:prstGeom prst="ellipse">
            <a:avLst/>
          </a:prstGeom>
          <a:solidFill>
            <a:srgbClr val="D2702A"/>
          </a:solidFill>
          <a:ln w="12700">
            <a:solidFill>
              <a:srgbClr val="D2702A"/>
            </a:solidFill>
            <a:prstDash val="solid"/>
          </a:ln>
        </p:spPr>
      </p:sp>
      <p:sp>
        <p:nvSpPr>
          <p:cNvPr id="43" name="Text 41"/>
          <p:cNvSpPr txBox="1"/>
          <p:nvPr/>
        </p:nvSpPr>
        <p:spPr>
          <a:xfrm>
            <a:off x="6461608"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8</a:t>
            </a:r>
            <a:endParaRPr lang="en-US" sz="1500" dirty="0"/>
          </a:p>
        </p:txBody>
      </p:sp>
      <p:sp>
        <p:nvSpPr>
          <p:cNvPr id="44" name="Text 42"/>
          <p:cNvSpPr txBox="1"/>
          <p:nvPr/>
        </p:nvSpPr>
        <p:spPr>
          <a:xfrm>
            <a:off x="7147408" y="5138928"/>
            <a:ext cx="4312768" cy="548640"/>
          </a:xfrm>
          <a:prstGeom prst="rect">
            <a:avLst/>
          </a:prstGeom>
          <a:noFill/>
          <a:ln/>
        </p:spPr>
        <p:txBody>
          <a:bodyPr wrap="square" lIns="0" tIns="0" rIns="0" bIns="0" rtlCol="0" anchor="ctr"/>
          <a:lstStyle/>
          <a:p>
            <a:pPr indent="0" marL="0">
              <a:buNone/>
            </a:pPr>
            <a:r>
              <a:rPr lang="en-US" sz="1300" b="1" dirty="0">
                <a:solidFill>
                  <a:srgbClr val="143E5C"/>
                </a:solidFill>
                <a:latin typeface="Meiryo UI" pitchFamily="34" charset="0"/>
                <a:ea typeface="Meiryo UI" pitchFamily="34" charset="-122"/>
                <a:cs typeface="Meiryo UI" pitchFamily="34" charset="-120"/>
              </a:rPr>
              <a:t>本施策のご決裁フロー（ご決裁者・時期）</a:t>
            </a:r>
            <a:endParaRPr lang="en-US" sz="1300" dirty="0"/>
          </a:p>
        </p:txBody>
      </p:sp>
      <p:sp>
        <p:nvSpPr>
          <p:cNvPr id="45" name="Text 43"/>
          <p:cNvSpPr txBox="1"/>
          <p:nvPr/>
        </p:nvSpPr>
        <p:spPr>
          <a:xfrm>
            <a:off x="7147408" y="5687568"/>
            <a:ext cx="4312768" cy="274320"/>
          </a:xfrm>
          <a:prstGeom prst="rect">
            <a:avLst/>
          </a:prstGeom>
          <a:noFill/>
          <a:ln/>
        </p:spPr>
        <p:txBody>
          <a:bodyPr wrap="square" lIns="0" tIns="0" rIns="0" bIns="0" rtlCol="0" anchor="t"/>
          <a:lstStyle/>
          <a:p>
            <a:pPr indent="0" marL="0">
              <a:buNone/>
            </a:pPr>
            <a:r>
              <a:rPr lang="en-US" sz="1100" dirty="0">
                <a:solidFill>
                  <a:srgbClr val="637585"/>
                </a:solidFill>
                <a:latin typeface="Meiryo UI" pitchFamily="34" charset="0"/>
                <a:ea typeface="Meiryo UI" pitchFamily="34" charset="-122"/>
                <a:cs typeface="Meiryo UI" pitchFamily="34" charset="-120"/>
              </a:rPr>
              <a:t>目的：導入スケジュールの確定</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07｜SIMULATION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目標値シミュレーション（ご提案）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37585"/>
                </a:solidFill>
                <a:latin typeface="Meiryo UI" pitchFamily="34" charset="0"/>
                <a:ea typeface="Meiryo UI" pitchFamily="34" charset="-122"/>
                <a:cs typeface="Meiryo UI" pitchFamily="34" charset="-120"/>
              </a:rPr>
              <a:t>本日伺った数値を反映し、次回お打ち合わせで目標として合意するための試算です。※下記は現時点の仮置き値です。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24</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691640"/>
            <a:ext cx="11094415" cy="685800"/>
          </a:xfrm>
          <a:prstGeom prst="roundRect">
            <a:avLst>
              <a:gd name="adj" fmla="val 16000"/>
            </a:avLst>
          </a:prstGeom>
          <a:solidFill>
            <a:srgbClr val="EAF2F8"/>
          </a:solidFill>
          <a:ln w="12700">
            <a:solidFill>
              <a:srgbClr val="EAF2F8"/>
            </a:solidFill>
            <a:prstDash val="solid"/>
          </a:ln>
        </p:spPr>
      </p:sp>
      <p:sp>
        <p:nvSpPr>
          <p:cNvPr id="8" name="Text 6"/>
          <p:cNvSpPr txBox="1"/>
          <p:nvPr/>
        </p:nvSpPr>
        <p:spPr>
          <a:xfrm>
            <a:off x="777240" y="1691640"/>
            <a:ext cx="2468880" cy="685800"/>
          </a:xfrm>
          <a:prstGeom prst="rect">
            <a:avLst/>
          </a:prstGeom>
          <a:noFill/>
          <a:ln/>
        </p:spPr>
        <p:txBody>
          <a:bodyPr wrap="square" lIns="0" tIns="0" rIns="0" bIns="0" rtlCol="0" anchor="ctr"/>
          <a:lstStyle/>
          <a:p>
            <a:pPr indent="0" marL="0">
              <a:buNone/>
            </a:pPr>
            <a:r>
              <a:rPr lang="en-US" sz="1250" b="1" dirty="0">
                <a:solidFill>
                  <a:srgbClr val="1F5F8B"/>
                </a:solidFill>
                <a:latin typeface="Meiryo UI" pitchFamily="34" charset="0"/>
                <a:ea typeface="Meiryo UI" pitchFamily="34" charset="-122"/>
                <a:cs typeface="Meiryo UI" pitchFamily="34" charset="-120"/>
              </a:rPr>
              <a:t>現状（本日のヒアリング値）</a:t>
            </a:r>
            <a:endParaRPr lang="en-US" sz="1250" dirty="0"/>
          </a:p>
        </p:txBody>
      </p:sp>
      <p:sp>
        <p:nvSpPr>
          <p:cNvPr id="9" name="Text 7"/>
          <p:cNvSpPr txBox="1"/>
          <p:nvPr/>
        </p:nvSpPr>
        <p:spPr>
          <a:xfrm>
            <a:off x="3291840" y="1764792"/>
            <a:ext cx="1578803" cy="256032"/>
          </a:xfrm>
          <a:prstGeom prst="rect">
            <a:avLst/>
          </a:prstGeom>
          <a:noFill/>
          <a:ln/>
        </p:spPr>
        <p:txBody>
          <a:bodyPr wrap="square" lIns="0" tIns="0" rIns="0" bIns="0" rtlCol="0" anchor="t"/>
          <a:lstStyle/>
          <a:p>
            <a:pPr indent="0" marL="0">
              <a:buNone/>
            </a:pPr>
            <a:r>
              <a:rPr lang="en-US" sz="1050" dirty="0">
                <a:solidFill>
                  <a:srgbClr val="637585"/>
                </a:solidFill>
                <a:latin typeface="Meiryo UI" pitchFamily="34" charset="0"/>
                <a:ea typeface="Meiryo UI" pitchFamily="34" charset="-122"/>
                <a:cs typeface="Meiryo UI" pitchFamily="34" charset="-120"/>
              </a:rPr>
              <a:t>月間の問い合わせ</a:t>
            </a:r>
            <a:endParaRPr lang="en-US" sz="1050" dirty="0"/>
          </a:p>
        </p:txBody>
      </p:sp>
      <p:sp>
        <p:nvSpPr>
          <p:cNvPr id="10" name="Text 8"/>
          <p:cNvSpPr txBox="1"/>
          <p:nvPr/>
        </p:nvSpPr>
        <p:spPr>
          <a:xfrm>
            <a:off x="3291840" y="2011680"/>
            <a:ext cx="1578803" cy="310896"/>
          </a:xfrm>
          <a:prstGeom prst="rect">
            <a:avLst/>
          </a:prstGeom>
          <a:noFill/>
          <a:ln/>
        </p:spPr>
        <p:txBody>
          <a:bodyPr wrap="square" lIns="0" tIns="0" rIns="0" bIns="0" rtlCol="0" anchor="t"/>
          <a:lstStyle/>
          <a:p>
            <a:pPr indent="0" marL="0">
              <a:buNone/>
            </a:pPr>
            <a:r>
              <a:rPr lang="en-US" sz="1500" b="1" dirty="0">
                <a:solidFill>
                  <a:srgbClr val="143E5C"/>
                </a:solidFill>
                <a:latin typeface="Meiryo UI" pitchFamily="34" charset="0"/>
                <a:ea typeface="Meiryo UI" pitchFamily="34" charset="-122"/>
                <a:cs typeface="Meiryo UI" pitchFamily="34" charset="-120"/>
              </a:rPr>
              <a:t>〇件</a:t>
            </a:r>
            <a:endParaRPr lang="en-US" sz="1500" dirty="0"/>
          </a:p>
        </p:txBody>
      </p:sp>
      <p:sp>
        <p:nvSpPr>
          <p:cNvPr id="11" name="Text 9"/>
          <p:cNvSpPr txBox="1"/>
          <p:nvPr/>
        </p:nvSpPr>
        <p:spPr>
          <a:xfrm>
            <a:off x="4962083" y="1764792"/>
            <a:ext cx="1578803" cy="256032"/>
          </a:xfrm>
          <a:prstGeom prst="rect">
            <a:avLst/>
          </a:prstGeom>
          <a:noFill/>
          <a:ln/>
        </p:spPr>
        <p:txBody>
          <a:bodyPr wrap="square" lIns="0" tIns="0" rIns="0" bIns="0" rtlCol="0" anchor="t"/>
          <a:lstStyle/>
          <a:p>
            <a:pPr indent="0" marL="0">
              <a:buNone/>
            </a:pPr>
            <a:r>
              <a:rPr lang="en-US" sz="1050" dirty="0">
                <a:solidFill>
                  <a:srgbClr val="637585"/>
                </a:solidFill>
                <a:latin typeface="Meiryo UI" pitchFamily="34" charset="0"/>
                <a:ea typeface="Meiryo UI" pitchFamily="34" charset="-122"/>
                <a:cs typeface="Meiryo UI" pitchFamily="34" charset="-120"/>
              </a:rPr>
              <a:t>成約率</a:t>
            </a:r>
            <a:endParaRPr lang="en-US" sz="1050" dirty="0"/>
          </a:p>
        </p:txBody>
      </p:sp>
      <p:sp>
        <p:nvSpPr>
          <p:cNvPr id="12" name="Text 10"/>
          <p:cNvSpPr txBox="1"/>
          <p:nvPr/>
        </p:nvSpPr>
        <p:spPr>
          <a:xfrm>
            <a:off x="4962083" y="2011680"/>
            <a:ext cx="1578803" cy="310896"/>
          </a:xfrm>
          <a:prstGeom prst="rect">
            <a:avLst/>
          </a:prstGeom>
          <a:noFill/>
          <a:ln/>
        </p:spPr>
        <p:txBody>
          <a:bodyPr wrap="square" lIns="0" tIns="0" rIns="0" bIns="0" rtlCol="0" anchor="t"/>
          <a:lstStyle/>
          <a:p>
            <a:pPr indent="0" marL="0">
              <a:buNone/>
            </a:pPr>
            <a:r>
              <a:rPr lang="en-US" sz="1500" b="1" dirty="0">
                <a:solidFill>
                  <a:srgbClr val="143E5C"/>
                </a:solidFill>
                <a:latin typeface="Meiryo UI" pitchFamily="34" charset="0"/>
                <a:ea typeface="Meiryo UI" pitchFamily="34" charset="-122"/>
                <a:cs typeface="Meiryo UI" pitchFamily="34" charset="-120"/>
              </a:rPr>
              <a:t>〇%</a:t>
            </a:r>
            <a:endParaRPr lang="en-US" sz="1500" dirty="0"/>
          </a:p>
        </p:txBody>
      </p:sp>
      <p:sp>
        <p:nvSpPr>
          <p:cNvPr id="13" name="Text 11"/>
          <p:cNvSpPr txBox="1"/>
          <p:nvPr/>
        </p:nvSpPr>
        <p:spPr>
          <a:xfrm>
            <a:off x="6632326" y="1764792"/>
            <a:ext cx="1578803" cy="256032"/>
          </a:xfrm>
          <a:prstGeom prst="rect">
            <a:avLst/>
          </a:prstGeom>
          <a:noFill/>
          <a:ln/>
        </p:spPr>
        <p:txBody>
          <a:bodyPr wrap="square" lIns="0" tIns="0" rIns="0" bIns="0" rtlCol="0" anchor="t"/>
          <a:lstStyle/>
          <a:p>
            <a:pPr indent="0" marL="0">
              <a:buNone/>
            </a:pPr>
            <a:r>
              <a:rPr lang="en-US" sz="1050" dirty="0">
                <a:solidFill>
                  <a:srgbClr val="637585"/>
                </a:solidFill>
                <a:latin typeface="Meiryo UI" pitchFamily="34" charset="0"/>
                <a:ea typeface="Meiryo UI" pitchFamily="34" charset="-122"/>
                <a:cs typeface="Meiryo UI" pitchFamily="34" charset="-120"/>
              </a:rPr>
              <a:t>平均受注単価</a:t>
            </a:r>
            <a:endParaRPr lang="en-US" sz="1050" dirty="0"/>
          </a:p>
        </p:txBody>
      </p:sp>
      <p:sp>
        <p:nvSpPr>
          <p:cNvPr id="14" name="Text 12"/>
          <p:cNvSpPr txBox="1"/>
          <p:nvPr/>
        </p:nvSpPr>
        <p:spPr>
          <a:xfrm>
            <a:off x="6632326" y="2011680"/>
            <a:ext cx="1578803" cy="310896"/>
          </a:xfrm>
          <a:prstGeom prst="rect">
            <a:avLst/>
          </a:prstGeom>
          <a:noFill/>
          <a:ln/>
        </p:spPr>
        <p:txBody>
          <a:bodyPr wrap="square" lIns="0" tIns="0" rIns="0" bIns="0" rtlCol="0" anchor="t"/>
          <a:lstStyle/>
          <a:p>
            <a:pPr indent="0" marL="0">
              <a:buNone/>
            </a:pPr>
            <a:r>
              <a:rPr lang="en-US" sz="1500" b="1" dirty="0">
                <a:solidFill>
                  <a:srgbClr val="143E5C"/>
                </a:solidFill>
                <a:latin typeface="Meiryo UI" pitchFamily="34" charset="0"/>
                <a:ea typeface="Meiryo UI" pitchFamily="34" charset="-122"/>
                <a:cs typeface="Meiryo UI" pitchFamily="34" charset="-120"/>
              </a:rPr>
              <a:t>約15万円</a:t>
            </a:r>
            <a:endParaRPr lang="en-US" sz="1500" dirty="0"/>
          </a:p>
        </p:txBody>
      </p:sp>
      <p:sp>
        <p:nvSpPr>
          <p:cNvPr id="15" name="Text 13"/>
          <p:cNvSpPr txBox="1"/>
          <p:nvPr/>
        </p:nvSpPr>
        <p:spPr>
          <a:xfrm>
            <a:off x="8302569" y="1764792"/>
            <a:ext cx="1578803" cy="256032"/>
          </a:xfrm>
          <a:prstGeom prst="rect">
            <a:avLst/>
          </a:prstGeom>
          <a:noFill/>
          <a:ln/>
        </p:spPr>
        <p:txBody>
          <a:bodyPr wrap="square" lIns="0" tIns="0" rIns="0" bIns="0" rtlCol="0" anchor="t"/>
          <a:lstStyle/>
          <a:p>
            <a:pPr indent="0" marL="0">
              <a:buNone/>
            </a:pPr>
            <a:r>
              <a:rPr lang="en-US" sz="1050" dirty="0">
                <a:solidFill>
                  <a:srgbClr val="637585"/>
                </a:solidFill>
                <a:latin typeface="Meiryo UI" pitchFamily="34" charset="0"/>
                <a:ea typeface="Meiryo UI" pitchFamily="34" charset="-122"/>
                <a:cs typeface="Meiryo UI" pitchFamily="34" charset="-120"/>
              </a:rPr>
              <a:t>対応可能件数</a:t>
            </a:r>
            <a:endParaRPr lang="en-US" sz="1050" dirty="0"/>
          </a:p>
        </p:txBody>
      </p:sp>
      <p:sp>
        <p:nvSpPr>
          <p:cNvPr id="16" name="Text 14"/>
          <p:cNvSpPr txBox="1"/>
          <p:nvPr/>
        </p:nvSpPr>
        <p:spPr>
          <a:xfrm>
            <a:off x="8302569" y="2011680"/>
            <a:ext cx="1578803" cy="310896"/>
          </a:xfrm>
          <a:prstGeom prst="rect">
            <a:avLst/>
          </a:prstGeom>
          <a:noFill/>
          <a:ln/>
        </p:spPr>
        <p:txBody>
          <a:bodyPr wrap="square" lIns="0" tIns="0" rIns="0" bIns="0" rtlCol="0" anchor="t"/>
          <a:lstStyle/>
          <a:p>
            <a:pPr indent="0" marL="0">
              <a:buNone/>
            </a:pPr>
            <a:r>
              <a:rPr lang="en-US" sz="1500" b="1" dirty="0">
                <a:solidFill>
                  <a:srgbClr val="143E5C"/>
                </a:solidFill>
                <a:latin typeface="Meiryo UI" pitchFamily="34" charset="0"/>
                <a:ea typeface="Meiryo UI" pitchFamily="34" charset="-122"/>
                <a:cs typeface="Meiryo UI" pitchFamily="34" charset="-120"/>
              </a:rPr>
              <a:t>〇件/月</a:t>
            </a:r>
            <a:endParaRPr lang="en-US" sz="1500" dirty="0"/>
          </a:p>
        </p:txBody>
      </p:sp>
      <p:sp>
        <p:nvSpPr>
          <p:cNvPr id="17" name="Text 15"/>
          <p:cNvSpPr txBox="1"/>
          <p:nvPr/>
        </p:nvSpPr>
        <p:spPr>
          <a:xfrm>
            <a:off x="9972812" y="1764792"/>
            <a:ext cx="1578803" cy="256032"/>
          </a:xfrm>
          <a:prstGeom prst="rect">
            <a:avLst/>
          </a:prstGeom>
          <a:noFill/>
          <a:ln/>
        </p:spPr>
        <p:txBody>
          <a:bodyPr wrap="square" lIns="0" tIns="0" rIns="0" bIns="0" rtlCol="0" anchor="t"/>
          <a:lstStyle/>
          <a:p>
            <a:pPr indent="0" marL="0">
              <a:buNone/>
            </a:pPr>
            <a:r>
              <a:rPr lang="en-US" sz="1050" dirty="0">
                <a:solidFill>
                  <a:srgbClr val="637585"/>
                </a:solidFill>
                <a:latin typeface="Meiryo UI" pitchFamily="34" charset="0"/>
                <a:ea typeface="Meiryo UI" pitchFamily="34" charset="-122"/>
                <a:cs typeface="Meiryo UI" pitchFamily="34" charset="-120"/>
              </a:rPr>
              <a:t>主な紹介元</a:t>
            </a:r>
            <a:endParaRPr lang="en-US" sz="1050" dirty="0"/>
          </a:p>
        </p:txBody>
      </p:sp>
      <p:sp>
        <p:nvSpPr>
          <p:cNvPr id="18" name="Text 16"/>
          <p:cNvSpPr txBox="1"/>
          <p:nvPr/>
        </p:nvSpPr>
        <p:spPr>
          <a:xfrm>
            <a:off x="9972812" y="2011680"/>
            <a:ext cx="1578803" cy="310896"/>
          </a:xfrm>
          <a:prstGeom prst="rect">
            <a:avLst/>
          </a:prstGeom>
          <a:noFill/>
          <a:ln/>
        </p:spPr>
        <p:txBody>
          <a:bodyPr wrap="square" lIns="0" tIns="0" rIns="0" bIns="0" rtlCol="0" anchor="t"/>
          <a:lstStyle/>
          <a:p>
            <a:pPr indent="0" marL="0">
              <a:buNone/>
            </a:pPr>
            <a:r>
              <a:rPr lang="en-US" sz="1500" b="1" dirty="0">
                <a:solidFill>
                  <a:srgbClr val="143E5C"/>
                </a:solidFill>
                <a:latin typeface="Meiryo UI" pitchFamily="34" charset="0"/>
                <a:ea typeface="Meiryo UI" pitchFamily="34" charset="-122"/>
                <a:cs typeface="Meiryo UI" pitchFamily="34" charset="-120"/>
              </a:rPr>
              <a:t>〇社</a:t>
            </a:r>
            <a:endParaRPr lang="en-US" sz="1500" dirty="0"/>
          </a:p>
        </p:txBody>
      </p:sp>
      <p:sp>
        <p:nvSpPr>
          <p:cNvPr id="19" name="Text 17"/>
          <p:cNvSpPr txBox="1"/>
          <p:nvPr/>
        </p:nvSpPr>
        <p:spPr>
          <a:xfrm>
            <a:off x="548640" y="2606040"/>
            <a:ext cx="4937760" cy="320040"/>
          </a:xfrm>
          <a:prstGeom prst="rect">
            <a:avLst/>
          </a:prstGeom>
          <a:noFill/>
          <a:ln/>
        </p:spPr>
        <p:txBody>
          <a:bodyPr wrap="square" lIns="0" tIns="0" rIns="0" bIns="0" rtlCol="0" anchor="t"/>
          <a:lstStyle/>
          <a:p>
            <a:pPr indent="0" marL="0">
              <a:buNone/>
            </a:pPr>
            <a:r>
              <a:rPr lang="en-US" sz="1350" b="1" dirty="0">
                <a:solidFill>
                  <a:srgbClr val="D2702A"/>
                </a:solidFill>
                <a:latin typeface="Meiryo UI" pitchFamily="34" charset="0"/>
                <a:ea typeface="Meiryo UI" pitchFamily="34" charset="-122"/>
                <a:cs typeface="Meiryo UI" pitchFamily="34" charset="-120"/>
              </a:rPr>
              <a:t>拡大期（4ヶ月目以降）の月間KPI試算</a:t>
            </a:r>
            <a:endParaRPr lang="en-US" sz="1350" dirty="0"/>
          </a:p>
        </p:txBody>
      </p:sp>
      <p:sp>
        <p:nvSpPr>
          <p:cNvPr id="20" name="Text 18"/>
          <p:cNvSpPr txBox="1"/>
          <p:nvPr/>
        </p:nvSpPr>
        <p:spPr>
          <a:xfrm>
            <a:off x="548640" y="2971800"/>
            <a:ext cx="2743200" cy="256032"/>
          </a:xfrm>
          <a:prstGeom prst="rect">
            <a:avLst/>
          </a:prstGeom>
          <a:noFill/>
          <a:ln/>
        </p:spPr>
        <p:txBody>
          <a:bodyPr wrap="square" lIns="0" tIns="0" rIns="0" bIns="0" rtlCol="0" anchor="t"/>
          <a:lstStyle/>
          <a:p>
            <a:pPr indent="0" marL="0">
              <a:buNone/>
            </a:pPr>
            <a:r>
              <a:rPr lang="en-US" sz="1100" b="1" dirty="0">
                <a:solidFill>
                  <a:srgbClr val="1F5F8B"/>
                </a:solidFill>
                <a:latin typeface="Meiryo UI" pitchFamily="34" charset="0"/>
                <a:ea typeface="Meiryo UI" pitchFamily="34" charset="-122"/>
                <a:cs typeface="Meiryo UI" pitchFamily="34" charset="-120"/>
              </a:rPr>
              <a:t>プッシュ（紹介元）</a:t>
            </a:r>
            <a:endParaRPr lang="en-US" sz="1100" dirty="0"/>
          </a:p>
        </p:txBody>
      </p:sp>
      <p:sp>
        <p:nvSpPr>
          <p:cNvPr id="21" name="Shape 19"/>
          <p:cNvSpPr/>
          <p:nvPr/>
        </p:nvSpPr>
        <p:spPr>
          <a:xfrm>
            <a:off x="548640" y="3246120"/>
            <a:ext cx="4937760" cy="347472"/>
          </a:xfrm>
          <a:prstGeom prst="roundRect">
            <a:avLst>
              <a:gd name="adj" fmla="val 15789"/>
            </a:avLst>
          </a:prstGeom>
          <a:solidFill>
            <a:srgbClr val="F5F9FC"/>
          </a:solidFill>
          <a:ln w="9525">
            <a:solidFill>
              <a:srgbClr val="DCE7F0"/>
            </a:solidFill>
            <a:prstDash val="solid"/>
          </a:ln>
        </p:spPr>
      </p:sp>
      <p:sp>
        <p:nvSpPr>
          <p:cNvPr id="22" name="Text 20"/>
          <p:cNvSpPr txBox="1"/>
          <p:nvPr/>
        </p:nvSpPr>
        <p:spPr>
          <a:xfrm>
            <a:off x="685800" y="3246120"/>
            <a:ext cx="3840480" cy="347472"/>
          </a:xfrm>
          <a:prstGeom prst="rect">
            <a:avLst/>
          </a:prstGeom>
          <a:noFill/>
          <a:ln/>
        </p:spPr>
        <p:txBody>
          <a:bodyPr wrap="square" lIns="0" tIns="0" rIns="0" bIns="0" rtlCol="0" anchor="ctr"/>
          <a:lstStyle/>
          <a:p>
            <a:pPr indent="0" marL="0">
              <a:buNone/>
            </a:pPr>
            <a:r>
              <a:rPr lang="en-US" sz="1100" dirty="0">
                <a:solidFill>
                  <a:srgbClr val="26303A"/>
                </a:solidFill>
                <a:latin typeface="Meiryo UI" pitchFamily="34" charset="0"/>
                <a:ea typeface="Meiryo UI" pitchFamily="34" charset="-122"/>
                <a:cs typeface="Meiryo UI" pitchFamily="34" charset="-120"/>
              </a:rPr>
              <a:t>紹介元への案内（社協・不動産・施設）</a:t>
            </a:r>
            <a:endParaRPr lang="en-US" sz="1100" dirty="0"/>
          </a:p>
        </p:txBody>
      </p:sp>
      <p:sp>
        <p:nvSpPr>
          <p:cNvPr id="23" name="Text 21"/>
          <p:cNvSpPr txBox="1"/>
          <p:nvPr/>
        </p:nvSpPr>
        <p:spPr>
          <a:xfrm>
            <a:off x="4526280" y="3246120"/>
            <a:ext cx="868680" cy="347472"/>
          </a:xfrm>
          <a:prstGeom prst="rect">
            <a:avLst/>
          </a:prstGeom>
          <a:noFill/>
          <a:ln/>
        </p:spPr>
        <p:txBody>
          <a:bodyPr wrap="square" lIns="0" tIns="0" rIns="0" bIns="0" rtlCol="0" anchor="ctr"/>
          <a:lstStyle/>
          <a:p>
            <a:pPr algn="r" indent="0" marL="0">
              <a:buNone/>
            </a:pPr>
            <a:r>
              <a:rPr lang="en-US" sz="1200" b="1" dirty="0">
                <a:solidFill>
                  <a:srgbClr val="143E5C"/>
                </a:solidFill>
                <a:latin typeface="Meiryo UI" pitchFamily="34" charset="0"/>
                <a:ea typeface="Meiryo UI" pitchFamily="34" charset="-122"/>
                <a:cs typeface="Meiryo UI" pitchFamily="34" charset="-120"/>
              </a:rPr>
              <a:t>40か所</a:t>
            </a:r>
            <a:endParaRPr lang="en-US" sz="1200" dirty="0"/>
          </a:p>
        </p:txBody>
      </p:sp>
      <p:sp>
        <p:nvSpPr>
          <p:cNvPr id="24" name="Shape 22"/>
          <p:cNvSpPr/>
          <p:nvPr/>
        </p:nvSpPr>
        <p:spPr>
          <a:xfrm>
            <a:off x="548640" y="3648456"/>
            <a:ext cx="4617720" cy="347472"/>
          </a:xfrm>
          <a:prstGeom prst="roundRect">
            <a:avLst>
              <a:gd name="adj" fmla="val 15789"/>
            </a:avLst>
          </a:prstGeom>
          <a:solidFill>
            <a:srgbClr val="F5F9FC"/>
          </a:solidFill>
          <a:ln w="9525">
            <a:solidFill>
              <a:srgbClr val="DCE7F0"/>
            </a:solidFill>
            <a:prstDash val="solid"/>
          </a:ln>
        </p:spPr>
      </p:sp>
      <p:sp>
        <p:nvSpPr>
          <p:cNvPr id="25" name="Text 23"/>
          <p:cNvSpPr txBox="1"/>
          <p:nvPr/>
        </p:nvSpPr>
        <p:spPr>
          <a:xfrm>
            <a:off x="685800" y="3648456"/>
            <a:ext cx="3520440" cy="347472"/>
          </a:xfrm>
          <a:prstGeom prst="rect">
            <a:avLst/>
          </a:prstGeom>
          <a:noFill/>
          <a:ln/>
        </p:spPr>
        <p:txBody>
          <a:bodyPr wrap="square" lIns="0" tIns="0" rIns="0" bIns="0" rtlCol="0" anchor="ctr"/>
          <a:lstStyle/>
          <a:p>
            <a:pPr indent="0" marL="0">
              <a:buNone/>
            </a:pPr>
            <a:r>
              <a:rPr lang="en-US" sz="1100" dirty="0">
                <a:solidFill>
                  <a:srgbClr val="26303A"/>
                </a:solidFill>
                <a:latin typeface="Meiryo UI" pitchFamily="34" charset="0"/>
                <a:ea typeface="Meiryo UI" pitchFamily="34" charset="-122"/>
                <a:cs typeface="Meiryo UI" pitchFamily="34" charset="-120"/>
              </a:rPr>
              <a:t>動画の視聴（50%）</a:t>
            </a:r>
            <a:endParaRPr lang="en-US" sz="1100" dirty="0"/>
          </a:p>
        </p:txBody>
      </p:sp>
      <p:sp>
        <p:nvSpPr>
          <p:cNvPr id="26" name="Text 24"/>
          <p:cNvSpPr txBox="1"/>
          <p:nvPr/>
        </p:nvSpPr>
        <p:spPr>
          <a:xfrm>
            <a:off x="4206240" y="3648456"/>
            <a:ext cx="868680" cy="347472"/>
          </a:xfrm>
          <a:prstGeom prst="rect">
            <a:avLst/>
          </a:prstGeom>
          <a:noFill/>
          <a:ln/>
        </p:spPr>
        <p:txBody>
          <a:bodyPr wrap="square" lIns="0" tIns="0" rIns="0" bIns="0" rtlCol="0" anchor="ctr"/>
          <a:lstStyle/>
          <a:p>
            <a:pPr algn="r" indent="0" marL="0">
              <a:buNone/>
            </a:pPr>
            <a:r>
              <a:rPr lang="en-US" sz="1200" b="1" dirty="0">
                <a:solidFill>
                  <a:srgbClr val="143E5C"/>
                </a:solidFill>
                <a:latin typeface="Meiryo UI" pitchFamily="34" charset="0"/>
                <a:ea typeface="Meiryo UI" pitchFamily="34" charset="-122"/>
                <a:cs typeface="Meiryo UI" pitchFamily="34" charset="-120"/>
              </a:rPr>
              <a:t>20か所</a:t>
            </a:r>
            <a:endParaRPr lang="en-US" sz="1200" dirty="0"/>
          </a:p>
        </p:txBody>
      </p:sp>
      <p:sp>
        <p:nvSpPr>
          <p:cNvPr id="27" name="Shape 25"/>
          <p:cNvSpPr/>
          <p:nvPr/>
        </p:nvSpPr>
        <p:spPr>
          <a:xfrm>
            <a:off x="548640" y="4050792"/>
            <a:ext cx="4297680" cy="347472"/>
          </a:xfrm>
          <a:prstGeom prst="roundRect">
            <a:avLst>
              <a:gd name="adj" fmla="val 15789"/>
            </a:avLst>
          </a:prstGeom>
          <a:solidFill>
            <a:srgbClr val="F5F9FC"/>
          </a:solidFill>
          <a:ln w="9525">
            <a:solidFill>
              <a:srgbClr val="DCE7F0"/>
            </a:solidFill>
            <a:prstDash val="solid"/>
          </a:ln>
        </p:spPr>
      </p:sp>
      <p:sp>
        <p:nvSpPr>
          <p:cNvPr id="28" name="Text 26"/>
          <p:cNvSpPr txBox="1"/>
          <p:nvPr/>
        </p:nvSpPr>
        <p:spPr>
          <a:xfrm>
            <a:off x="685800" y="4050792"/>
            <a:ext cx="3200400" cy="347472"/>
          </a:xfrm>
          <a:prstGeom prst="rect">
            <a:avLst/>
          </a:prstGeom>
          <a:noFill/>
          <a:ln/>
        </p:spPr>
        <p:txBody>
          <a:bodyPr wrap="square" lIns="0" tIns="0" rIns="0" bIns="0" rtlCol="0" anchor="ctr"/>
          <a:lstStyle/>
          <a:p>
            <a:pPr indent="0" marL="0">
              <a:buNone/>
            </a:pPr>
            <a:r>
              <a:rPr lang="en-US" sz="1100" dirty="0">
                <a:solidFill>
                  <a:srgbClr val="26303A"/>
                </a:solidFill>
                <a:latin typeface="Meiryo UI" pitchFamily="34" charset="0"/>
                <a:ea typeface="Meiryo UI" pitchFamily="34" charset="-122"/>
                <a:cs typeface="Meiryo UI" pitchFamily="34" charset="-120"/>
              </a:rPr>
              <a:t>紹介の発生</a:t>
            </a:r>
            <a:endParaRPr lang="en-US" sz="1100" dirty="0"/>
          </a:p>
        </p:txBody>
      </p:sp>
      <p:sp>
        <p:nvSpPr>
          <p:cNvPr id="29" name="Text 27"/>
          <p:cNvSpPr txBox="1"/>
          <p:nvPr/>
        </p:nvSpPr>
        <p:spPr>
          <a:xfrm>
            <a:off x="3886200" y="4050792"/>
            <a:ext cx="868680" cy="347472"/>
          </a:xfrm>
          <a:prstGeom prst="rect">
            <a:avLst/>
          </a:prstGeom>
          <a:noFill/>
          <a:ln/>
        </p:spPr>
        <p:txBody>
          <a:bodyPr wrap="square" lIns="0" tIns="0" rIns="0" bIns="0" rtlCol="0" anchor="ctr"/>
          <a:lstStyle/>
          <a:p>
            <a:pPr algn="r" indent="0" marL="0">
              <a:buNone/>
            </a:pPr>
            <a:r>
              <a:rPr lang="en-US" sz="1200" b="1" dirty="0">
                <a:solidFill>
                  <a:srgbClr val="143E5C"/>
                </a:solidFill>
                <a:latin typeface="Meiryo UI" pitchFamily="34" charset="0"/>
                <a:ea typeface="Meiryo UI" pitchFamily="34" charset="-122"/>
                <a:cs typeface="Meiryo UI" pitchFamily="34" charset="-120"/>
              </a:rPr>
              <a:t>約4件</a:t>
            </a:r>
            <a:endParaRPr lang="en-US" sz="1200" dirty="0"/>
          </a:p>
        </p:txBody>
      </p:sp>
      <p:sp>
        <p:nvSpPr>
          <p:cNvPr id="30" name="Shape 28"/>
          <p:cNvSpPr/>
          <p:nvPr/>
        </p:nvSpPr>
        <p:spPr>
          <a:xfrm>
            <a:off x="548640" y="4453128"/>
            <a:ext cx="3977640" cy="347472"/>
          </a:xfrm>
          <a:prstGeom prst="roundRect">
            <a:avLst>
              <a:gd name="adj" fmla="val 15789"/>
            </a:avLst>
          </a:prstGeom>
          <a:solidFill>
            <a:srgbClr val="F5F9FC"/>
          </a:solidFill>
          <a:ln w="9525">
            <a:solidFill>
              <a:srgbClr val="DCE7F0"/>
            </a:solidFill>
            <a:prstDash val="solid"/>
          </a:ln>
        </p:spPr>
      </p:sp>
      <p:sp>
        <p:nvSpPr>
          <p:cNvPr id="31" name="Text 29"/>
          <p:cNvSpPr txBox="1"/>
          <p:nvPr/>
        </p:nvSpPr>
        <p:spPr>
          <a:xfrm>
            <a:off x="685800" y="4453128"/>
            <a:ext cx="2880360" cy="347472"/>
          </a:xfrm>
          <a:prstGeom prst="rect">
            <a:avLst/>
          </a:prstGeom>
          <a:noFill/>
          <a:ln/>
        </p:spPr>
        <p:txBody>
          <a:bodyPr wrap="square" lIns="0" tIns="0" rIns="0" bIns="0" rtlCol="0" anchor="ctr"/>
          <a:lstStyle/>
          <a:p>
            <a:pPr indent="0" marL="0">
              <a:buNone/>
            </a:pPr>
            <a:r>
              <a:rPr lang="en-US" sz="1100" dirty="0">
                <a:solidFill>
                  <a:srgbClr val="26303A"/>
                </a:solidFill>
                <a:latin typeface="Meiryo UI" pitchFamily="34" charset="0"/>
                <a:ea typeface="Meiryo UI" pitchFamily="34" charset="-122"/>
                <a:cs typeface="Meiryo UI" pitchFamily="34" charset="-120"/>
              </a:rPr>
              <a:t>見積もりの実施（75%）</a:t>
            </a:r>
            <a:endParaRPr lang="en-US" sz="1100" dirty="0"/>
          </a:p>
        </p:txBody>
      </p:sp>
      <p:sp>
        <p:nvSpPr>
          <p:cNvPr id="32" name="Text 30"/>
          <p:cNvSpPr txBox="1"/>
          <p:nvPr/>
        </p:nvSpPr>
        <p:spPr>
          <a:xfrm>
            <a:off x="3566160" y="4453128"/>
            <a:ext cx="868680" cy="347472"/>
          </a:xfrm>
          <a:prstGeom prst="rect">
            <a:avLst/>
          </a:prstGeom>
          <a:noFill/>
          <a:ln/>
        </p:spPr>
        <p:txBody>
          <a:bodyPr wrap="square" lIns="0" tIns="0" rIns="0" bIns="0" rtlCol="0" anchor="ctr"/>
          <a:lstStyle/>
          <a:p>
            <a:pPr algn="r" indent="0" marL="0">
              <a:buNone/>
            </a:pPr>
            <a:r>
              <a:rPr lang="en-US" sz="1200" b="1" dirty="0">
                <a:solidFill>
                  <a:srgbClr val="143E5C"/>
                </a:solidFill>
                <a:latin typeface="Meiryo UI" pitchFamily="34" charset="0"/>
                <a:ea typeface="Meiryo UI" pitchFamily="34" charset="-122"/>
                <a:cs typeface="Meiryo UI" pitchFamily="34" charset="-120"/>
              </a:rPr>
              <a:t>3件</a:t>
            </a:r>
            <a:endParaRPr lang="en-US" sz="1200" dirty="0"/>
          </a:p>
        </p:txBody>
      </p:sp>
      <p:sp>
        <p:nvSpPr>
          <p:cNvPr id="33" name="Shape 31"/>
          <p:cNvSpPr/>
          <p:nvPr/>
        </p:nvSpPr>
        <p:spPr>
          <a:xfrm>
            <a:off x="548640" y="4855464"/>
            <a:ext cx="3657600" cy="347472"/>
          </a:xfrm>
          <a:prstGeom prst="roundRect">
            <a:avLst>
              <a:gd name="adj" fmla="val 15789"/>
            </a:avLst>
          </a:prstGeom>
          <a:solidFill>
            <a:srgbClr val="1F5F8B"/>
          </a:solidFill>
          <a:ln w="9525">
            <a:solidFill>
              <a:srgbClr val="1F5F8B"/>
            </a:solidFill>
            <a:prstDash val="solid"/>
          </a:ln>
        </p:spPr>
      </p:sp>
      <p:sp>
        <p:nvSpPr>
          <p:cNvPr id="34" name="Text 32"/>
          <p:cNvSpPr txBox="1"/>
          <p:nvPr/>
        </p:nvSpPr>
        <p:spPr>
          <a:xfrm>
            <a:off x="685800" y="4855464"/>
            <a:ext cx="2560320" cy="347472"/>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成約（60%）</a:t>
            </a:r>
            <a:endParaRPr lang="en-US" sz="1100" dirty="0"/>
          </a:p>
        </p:txBody>
      </p:sp>
      <p:sp>
        <p:nvSpPr>
          <p:cNvPr id="35" name="Text 33"/>
          <p:cNvSpPr txBox="1"/>
          <p:nvPr/>
        </p:nvSpPr>
        <p:spPr>
          <a:xfrm>
            <a:off x="3246120" y="4855464"/>
            <a:ext cx="868680" cy="347472"/>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約2件</a:t>
            </a:r>
            <a:endParaRPr lang="en-US" sz="1200" dirty="0"/>
          </a:p>
        </p:txBody>
      </p:sp>
      <p:sp>
        <p:nvSpPr>
          <p:cNvPr id="36" name="Text 34"/>
          <p:cNvSpPr txBox="1"/>
          <p:nvPr/>
        </p:nvSpPr>
        <p:spPr>
          <a:xfrm>
            <a:off x="548640" y="5303520"/>
            <a:ext cx="3657600" cy="256032"/>
          </a:xfrm>
          <a:prstGeom prst="rect">
            <a:avLst/>
          </a:prstGeom>
          <a:noFill/>
          <a:ln/>
        </p:spPr>
        <p:txBody>
          <a:bodyPr wrap="square" lIns="0" tIns="0" rIns="0" bIns="0" rtlCol="0" anchor="t"/>
          <a:lstStyle/>
          <a:p>
            <a:pPr indent="0" marL="0">
              <a:buNone/>
            </a:pPr>
            <a:r>
              <a:rPr lang="en-US" sz="1100" b="1" dirty="0">
                <a:solidFill>
                  <a:srgbClr val="1F5F8B"/>
                </a:solidFill>
                <a:latin typeface="Meiryo UI" pitchFamily="34" charset="0"/>
                <a:ea typeface="Meiryo UI" pitchFamily="34" charset="-122"/>
                <a:cs typeface="Meiryo UI" pitchFamily="34" charset="-120"/>
              </a:rPr>
              <a:t>プル（SNS・YouTube・Googleマップ）</a:t>
            </a:r>
            <a:endParaRPr lang="en-US" sz="1100" dirty="0"/>
          </a:p>
        </p:txBody>
      </p:sp>
      <p:sp>
        <p:nvSpPr>
          <p:cNvPr id="37" name="Shape 35"/>
          <p:cNvSpPr/>
          <p:nvPr/>
        </p:nvSpPr>
        <p:spPr>
          <a:xfrm>
            <a:off x="548640" y="5577840"/>
            <a:ext cx="4937760" cy="384048"/>
          </a:xfrm>
          <a:prstGeom prst="roundRect">
            <a:avLst>
              <a:gd name="adj" fmla="val 14286"/>
            </a:avLst>
          </a:prstGeom>
          <a:solidFill>
            <a:srgbClr val="1F5F8B"/>
          </a:solidFill>
          <a:ln w="12700">
            <a:solidFill>
              <a:srgbClr val="1F5F8B"/>
            </a:solidFill>
            <a:prstDash val="solid"/>
          </a:ln>
        </p:spPr>
      </p:sp>
      <p:sp>
        <p:nvSpPr>
          <p:cNvPr id="38" name="Text 36"/>
          <p:cNvSpPr txBox="1"/>
          <p:nvPr/>
        </p:nvSpPr>
        <p:spPr>
          <a:xfrm>
            <a:off x="685800" y="5577840"/>
            <a:ext cx="3931920" cy="384048"/>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動画経由の直接の問い合わせ 月4件（成約率50%）</a:t>
            </a:r>
            <a:endParaRPr lang="en-US" sz="1100" dirty="0"/>
          </a:p>
        </p:txBody>
      </p:sp>
      <p:sp>
        <p:nvSpPr>
          <p:cNvPr id="39" name="Text 37"/>
          <p:cNvSpPr txBox="1"/>
          <p:nvPr/>
        </p:nvSpPr>
        <p:spPr>
          <a:xfrm>
            <a:off x="4526280" y="5577840"/>
            <a:ext cx="86868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約2件</a:t>
            </a:r>
            <a:endParaRPr lang="en-US" sz="1200" dirty="0"/>
          </a:p>
        </p:txBody>
      </p:sp>
      <p:sp>
        <p:nvSpPr>
          <p:cNvPr id="40" name="Shape 38"/>
          <p:cNvSpPr/>
          <p:nvPr/>
        </p:nvSpPr>
        <p:spPr>
          <a:xfrm>
            <a:off x="5852160" y="2606040"/>
            <a:ext cx="1808378" cy="1097280"/>
          </a:xfrm>
          <a:prstGeom prst="roundRect">
            <a:avLst>
              <a:gd name="adj" fmla="val 10000"/>
            </a:avLst>
          </a:prstGeom>
          <a:solidFill>
            <a:srgbClr val="F5F9FC"/>
          </a:solidFill>
          <a:ln w="12700">
            <a:solidFill>
              <a:srgbClr val="F5F9FC"/>
            </a:solidFill>
            <a:prstDash val="solid"/>
          </a:ln>
        </p:spPr>
      </p:sp>
      <p:sp>
        <p:nvSpPr>
          <p:cNvPr id="41" name="Text 39"/>
          <p:cNvSpPr txBox="1"/>
          <p:nvPr/>
        </p:nvSpPr>
        <p:spPr>
          <a:xfrm>
            <a:off x="5852160" y="2651760"/>
            <a:ext cx="1808378" cy="502920"/>
          </a:xfrm>
          <a:prstGeom prst="rect">
            <a:avLst/>
          </a:prstGeom>
          <a:noFill/>
          <a:ln/>
        </p:spPr>
        <p:txBody>
          <a:bodyPr wrap="square" lIns="0" tIns="0" rIns="0" bIns="0" rtlCol="0" anchor="ctr"/>
          <a:lstStyle/>
          <a:p>
            <a:pPr algn="ctr" indent="0" marL="0">
              <a:buNone/>
            </a:pPr>
            <a:r>
              <a:rPr lang="en-US" sz="2100" b="1" dirty="0">
                <a:solidFill>
                  <a:srgbClr val="1F5F8B"/>
                </a:solidFill>
                <a:latin typeface="Meiryo UI" pitchFamily="34" charset="0"/>
                <a:ea typeface="Meiryo UI" pitchFamily="34" charset="-122"/>
                <a:cs typeface="Meiryo UI" pitchFamily="34" charset="-120"/>
              </a:rPr>
              <a:t>+4件/月</a:t>
            </a:r>
            <a:endParaRPr lang="en-US" sz="2100" dirty="0"/>
          </a:p>
        </p:txBody>
      </p:sp>
      <p:sp>
        <p:nvSpPr>
          <p:cNvPr id="42" name="Text 40"/>
          <p:cNvSpPr txBox="1"/>
          <p:nvPr/>
        </p:nvSpPr>
        <p:spPr>
          <a:xfrm>
            <a:off x="5852160" y="3154680"/>
            <a:ext cx="1808378" cy="502920"/>
          </a:xfrm>
          <a:prstGeom prst="rect">
            <a:avLst/>
          </a:prstGeom>
          <a:noFill/>
          <a:ln/>
        </p:spPr>
        <p:txBody>
          <a:bodyPr wrap="square" lIns="0" tIns="0" rIns="0" bIns="0" rtlCol="0" anchor="t"/>
          <a:lstStyle/>
          <a:p>
            <a:pPr algn="ctr" indent="0" marL="0">
              <a:buNone/>
            </a:pPr>
            <a:r>
              <a:rPr lang="en-US" sz="1000" dirty="0">
                <a:solidFill>
                  <a:srgbClr val="637585"/>
                </a:solidFill>
                <a:latin typeface="Meiryo UI" pitchFamily="34" charset="0"/>
                <a:ea typeface="Meiryo UI" pitchFamily="34" charset="-122"/>
                <a:cs typeface="Meiryo UI" pitchFamily="34" charset="-120"/>
              </a:rPr>
              <a:t>拡大期の受注件数</a:t>
            </a:r>
            <a:endParaRPr lang="en-US" sz="1000" dirty="0"/>
          </a:p>
          <a:p>
            <a:pPr algn="ctr" indent="0" marL="0">
              <a:buNone/>
            </a:pPr>
            <a:r>
              <a:rPr lang="en-US" sz="1000" dirty="0">
                <a:solidFill>
                  <a:srgbClr val="637585"/>
                </a:solidFill>
                <a:latin typeface="Meiryo UI" pitchFamily="34" charset="0"/>
                <a:ea typeface="Meiryo UI" pitchFamily="34" charset="-122"/>
                <a:cs typeface="Meiryo UI" pitchFamily="34" charset="-120"/>
              </a:rPr>
              <a:t>（上乗せ分）</a:t>
            </a:r>
            <a:endParaRPr lang="en-US" sz="1000" dirty="0"/>
          </a:p>
        </p:txBody>
      </p:sp>
      <p:sp>
        <p:nvSpPr>
          <p:cNvPr id="43" name="Shape 41"/>
          <p:cNvSpPr/>
          <p:nvPr/>
        </p:nvSpPr>
        <p:spPr>
          <a:xfrm>
            <a:off x="7843418" y="2606040"/>
            <a:ext cx="1808378" cy="1097280"/>
          </a:xfrm>
          <a:prstGeom prst="roundRect">
            <a:avLst>
              <a:gd name="adj" fmla="val 10000"/>
            </a:avLst>
          </a:prstGeom>
          <a:solidFill>
            <a:srgbClr val="F5F9FC"/>
          </a:solidFill>
          <a:ln w="12700">
            <a:solidFill>
              <a:srgbClr val="F5F9FC"/>
            </a:solidFill>
            <a:prstDash val="solid"/>
          </a:ln>
        </p:spPr>
      </p:sp>
      <p:sp>
        <p:nvSpPr>
          <p:cNvPr id="44" name="Text 42"/>
          <p:cNvSpPr txBox="1"/>
          <p:nvPr/>
        </p:nvSpPr>
        <p:spPr>
          <a:xfrm>
            <a:off x="7843418" y="2651760"/>
            <a:ext cx="1808378" cy="502920"/>
          </a:xfrm>
          <a:prstGeom prst="rect">
            <a:avLst/>
          </a:prstGeom>
          <a:noFill/>
          <a:ln/>
        </p:spPr>
        <p:txBody>
          <a:bodyPr wrap="square" lIns="0" tIns="0" rIns="0" bIns="0" rtlCol="0" anchor="ctr"/>
          <a:lstStyle/>
          <a:p>
            <a:pPr algn="ctr" indent="0" marL="0">
              <a:buNone/>
            </a:pPr>
            <a:r>
              <a:rPr lang="en-US" sz="2100" b="1" dirty="0">
                <a:solidFill>
                  <a:srgbClr val="1F5F8B"/>
                </a:solidFill>
                <a:latin typeface="Meiryo UI" pitchFamily="34" charset="0"/>
                <a:ea typeface="Meiryo UI" pitchFamily="34" charset="-122"/>
                <a:cs typeface="Meiryo UI" pitchFamily="34" charset="-120"/>
              </a:rPr>
              <a:t>+34件</a:t>
            </a:r>
            <a:endParaRPr lang="en-US" sz="2100" dirty="0"/>
          </a:p>
        </p:txBody>
      </p:sp>
      <p:sp>
        <p:nvSpPr>
          <p:cNvPr id="45" name="Text 43"/>
          <p:cNvSpPr txBox="1"/>
          <p:nvPr/>
        </p:nvSpPr>
        <p:spPr>
          <a:xfrm>
            <a:off x="7843418" y="3154680"/>
            <a:ext cx="1808378" cy="502920"/>
          </a:xfrm>
          <a:prstGeom prst="rect">
            <a:avLst/>
          </a:prstGeom>
          <a:noFill/>
          <a:ln/>
        </p:spPr>
        <p:txBody>
          <a:bodyPr wrap="square" lIns="0" tIns="0" rIns="0" bIns="0" rtlCol="0" anchor="t"/>
          <a:lstStyle/>
          <a:p>
            <a:pPr algn="ctr" indent="0" marL="0">
              <a:buNone/>
            </a:pPr>
            <a:r>
              <a:rPr lang="en-US" sz="1000" dirty="0">
                <a:solidFill>
                  <a:srgbClr val="637585"/>
                </a:solidFill>
                <a:latin typeface="Meiryo UI" pitchFamily="34" charset="0"/>
                <a:ea typeface="Meiryo UI" pitchFamily="34" charset="-122"/>
                <a:cs typeface="Meiryo UI" pitchFamily="34" charset="-120"/>
              </a:rPr>
              <a:t>12ヶ月の</a:t>
            </a:r>
            <a:endParaRPr lang="en-US" sz="1000" dirty="0"/>
          </a:p>
          <a:p>
            <a:pPr algn="ctr" indent="0" marL="0">
              <a:buNone/>
            </a:pPr>
            <a:r>
              <a:rPr lang="en-US" sz="1000" dirty="0">
                <a:solidFill>
                  <a:srgbClr val="637585"/>
                </a:solidFill>
                <a:latin typeface="Meiryo UI" pitchFamily="34" charset="0"/>
                <a:ea typeface="Meiryo UI" pitchFamily="34" charset="-122"/>
                <a:cs typeface="Meiryo UI" pitchFamily="34" charset="-120"/>
              </a:rPr>
              <a:t>受注件数の上乗せ（累計）</a:t>
            </a:r>
            <a:endParaRPr lang="en-US" sz="1000" dirty="0"/>
          </a:p>
        </p:txBody>
      </p:sp>
      <p:sp>
        <p:nvSpPr>
          <p:cNvPr id="46" name="Shape 44"/>
          <p:cNvSpPr/>
          <p:nvPr/>
        </p:nvSpPr>
        <p:spPr>
          <a:xfrm>
            <a:off x="9834677" y="2606040"/>
            <a:ext cx="1808378" cy="1097280"/>
          </a:xfrm>
          <a:prstGeom prst="roundRect">
            <a:avLst>
              <a:gd name="adj" fmla="val 10000"/>
            </a:avLst>
          </a:prstGeom>
          <a:solidFill>
            <a:srgbClr val="FDF0E3"/>
          </a:solidFill>
          <a:ln w="12700">
            <a:solidFill>
              <a:srgbClr val="FDF0E3"/>
            </a:solidFill>
            <a:prstDash val="solid"/>
          </a:ln>
        </p:spPr>
      </p:sp>
      <p:sp>
        <p:nvSpPr>
          <p:cNvPr id="47" name="Text 45"/>
          <p:cNvSpPr txBox="1"/>
          <p:nvPr/>
        </p:nvSpPr>
        <p:spPr>
          <a:xfrm>
            <a:off x="9834677" y="2651760"/>
            <a:ext cx="1808378" cy="502920"/>
          </a:xfrm>
          <a:prstGeom prst="rect">
            <a:avLst/>
          </a:prstGeom>
          <a:noFill/>
          <a:ln/>
        </p:spPr>
        <p:txBody>
          <a:bodyPr wrap="square" lIns="0" tIns="0" rIns="0" bIns="0" rtlCol="0" anchor="ctr"/>
          <a:lstStyle/>
          <a:p>
            <a:pPr algn="ctr" indent="0" marL="0">
              <a:buNone/>
            </a:pPr>
            <a:r>
              <a:rPr lang="en-US" sz="2100" b="1" dirty="0">
                <a:solidFill>
                  <a:srgbClr val="D2702A"/>
                </a:solidFill>
                <a:latin typeface="Meiryo UI" pitchFamily="34" charset="0"/>
                <a:ea typeface="Meiryo UI" pitchFamily="34" charset="-122"/>
                <a:cs typeface="Meiryo UI" pitchFamily="34" charset="-120"/>
              </a:rPr>
              <a:t>+510万円</a:t>
            </a:r>
            <a:endParaRPr lang="en-US" sz="2100" dirty="0"/>
          </a:p>
        </p:txBody>
      </p:sp>
      <p:sp>
        <p:nvSpPr>
          <p:cNvPr id="48" name="Text 46"/>
          <p:cNvSpPr txBox="1"/>
          <p:nvPr/>
        </p:nvSpPr>
        <p:spPr>
          <a:xfrm>
            <a:off x="9834677" y="3154680"/>
            <a:ext cx="1808378" cy="502920"/>
          </a:xfrm>
          <a:prstGeom prst="rect">
            <a:avLst/>
          </a:prstGeom>
          <a:noFill/>
          <a:ln/>
        </p:spPr>
        <p:txBody>
          <a:bodyPr wrap="square" lIns="0" tIns="0" rIns="0" bIns="0" rtlCol="0" anchor="t"/>
          <a:lstStyle/>
          <a:p>
            <a:pPr algn="ctr" indent="0" marL="0">
              <a:buNone/>
            </a:pPr>
            <a:r>
              <a:rPr lang="en-US" sz="1000" dirty="0">
                <a:solidFill>
                  <a:srgbClr val="637585"/>
                </a:solidFill>
                <a:latin typeface="Meiryo UI" pitchFamily="34" charset="0"/>
                <a:ea typeface="Meiryo UI" pitchFamily="34" charset="-122"/>
                <a:cs typeface="Meiryo UI" pitchFamily="34" charset="-120"/>
              </a:rPr>
              <a:t>12ヶ月の</a:t>
            </a:r>
            <a:endParaRPr lang="en-US" sz="1000" dirty="0"/>
          </a:p>
          <a:p>
            <a:pPr algn="ctr" indent="0" marL="0">
              <a:buNone/>
            </a:pPr>
            <a:r>
              <a:rPr lang="en-US" sz="1000" dirty="0">
                <a:solidFill>
                  <a:srgbClr val="637585"/>
                </a:solidFill>
                <a:latin typeface="Meiryo UI" pitchFamily="34" charset="0"/>
                <a:ea typeface="Meiryo UI" pitchFamily="34" charset="-122"/>
                <a:cs typeface="Meiryo UI" pitchFamily="34" charset="-120"/>
              </a:rPr>
              <a:t>売上の上乗せ（累計）</a:t>
            </a:r>
            <a:endParaRPr lang="en-US" sz="1000" dirty="0"/>
          </a:p>
        </p:txBody>
      </p:sp>
      <p:graphicFrame>
        <p:nvGraphicFramePr>
          <p:cNvPr id="49" name="Chart 0" descr=""/>
          <p:cNvGraphicFramePr/>
          <p:nvPr/>
        </p:nvGraphicFramePr>
        <p:xfrm>
          <a:off x="5852160" y="3840480"/>
          <a:ext cx="5790895" cy="224028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5852160" y="6080760"/>
            <a:ext cx="5790895" cy="320040"/>
          </a:xfrm>
          <a:prstGeom prst="rect">
            <a:avLst/>
          </a:prstGeom>
          <a:noFill/>
          <a:ln/>
        </p:spPr>
        <p:txBody>
          <a:bodyPr wrap="square" lIns="0" tIns="0" rIns="0" bIns="0" rtlCol="0" anchor="t"/>
          <a:lstStyle/>
          <a:p>
            <a:pPr indent="0" marL="0">
              <a:buNone/>
            </a:pPr>
            <a:r>
              <a:rPr lang="en-US" sz="950" dirty="0">
                <a:solidFill>
                  <a:srgbClr val="637585"/>
                </a:solidFill>
                <a:latin typeface="Meiryo UI" pitchFamily="34" charset="0"/>
                <a:ea typeface="Meiryo UI" pitchFamily="34" charset="-122"/>
                <a:cs typeface="Meiryo UI" pitchFamily="34" charset="-120"/>
              </a:rPr>
              <a:t>※立ち上げ期+1〜3件/月、拡大期以降+4件/月と仮定。リピート・紹介の二次効果や繁忙期の変動は含まない単純試算です。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2702A"/>
                </a:solidFill>
                <a:latin typeface="Meiryo UI" pitchFamily="34" charset="0"/>
                <a:ea typeface="Meiryo UI" pitchFamily="34" charset="-122"/>
                <a:cs typeface="Meiryo UI" pitchFamily="34" charset="-120"/>
              </a:rPr>
              <a:t>07｜NEXT STEP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F8B"/>
                </a:solidFill>
                <a:latin typeface="Meiryo UI" pitchFamily="34" charset="0"/>
                <a:ea typeface="Meiryo UI" pitchFamily="34" charset="-122"/>
                <a:cs typeface="Meiryo UI" pitchFamily="34" charset="-120"/>
              </a:rPr>
              <a:t>今後のスケジュール：次回お打ち合わせからご契約・本格始動へ</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91"/>
                </a:solidFill>
                <a:latin typeface="Meiryo UI" pitchFamily="34" charset="0"/>
                <a:ea typeface="Meiryo UI" pitchFamily="34" charset="-122"/>
                <a:cs typeface="Meiryo UI" pitchFamily="34" charset="-120"/>
              </a:rPr>
              <a:t>25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91"/>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1242041" y="1874520"/>
            <a:ext cx="9707613" cy="0"/>
          </a:xfrm>
          <a:prstGeom prst="line">
            <a:avLst/>
          </a:prstGeom>
          <a:noFill/>
          <a:ln w="25400">
            <a:solidFill>
              <a:srgbClr val="C3D6E6"/>
            </a:solidFill>
            <a:prstDash val="solid"/>
          </a:ln>
        </p:spPr>
      </p:sp>
      <p:sp>
        <p:nvSpPr>
          <p:cNvPr id="7" name="Shape 5"/>
          <p:cNvSpPr/>
          <p:nvPr/>
        </p:nvSpPr>
        <p:spPr>
          <a:xfrm>
            <a:off x="1086593" y="1719072"/>
            <a:ext cx="310896" cy="310896"/>
          </a:xfrm>
          <a:prstGeom prst="ellipse">
            <a:avLst/>
          </a:prstGeom>
          <a:solidFill>
            <a:srgbClr val="D2702A"/>
          </a:solidFill>
          <a:ln w="25400">
            <a:solidFill>
              <a:srgbClr val="FFFFFF"/>
            </a:solidFill>
            <a:prstDash val="solid"/>
          </a:ln>
        </p:spPr>
      </p:sp>
      <p:sp>
        <p:nvSpPr>
          <p:cNvPr id="8" name="Text 6"/>
          <p:cNvSpPr txBox="1"/>
          <p:nvPr/>
        </p:nvSpPr>
        <p:spPr>
          <a:xfrm>
            <a:off x="585216" y="2194560"/>
            <a:ext cx="1313650" cy="502920"/>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本日</a:t>
            </a:r>
            <a:endParaRPr lang="en-US" sz="1200" dirty="0"/>
          </a:p>
        </p:txBody>
      </p:sp>
      <p:sp>
        <p:nvSpPr>
          <p:cNvPr id="9" name="Text 7"/>
          <p:cNvSpPr txBox="1"/>
          <p:nvPr/>
        </p:nvSpPr>
        <p:spPr>
          <a:xfrm>
            <a:off x="585216"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課題・現状数値の</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ヒアリング</a:t>
            </a:r>
            <a:endParaRPr lang="en-US" sz="1050" dirty="0"/>
          </a:p>
        </p:txBody>
      </p:sp>
      <p:sp>
        <p:nvSpPr>
          <p:cNvPr id="10" name="Shape 8"/>
          <p:cNvSpPr/>
          <p:nvPr/>
        </p:nvSpPr>
        <p:spPr>
          <a:xfrm>
            <a:off x="2473395" y="1719072"/>
            <a:ext cx="310896" cy="310896"/>
          </a:xfrm>
          <a:prstGeom prst="ellipse">
            <a:avLst/>
          </a:prstGeom>
          <a:solidFill>
            <a:srgbClr val="D2702A"/>
          </a:solidFill>
          <a:ln w="25400">
            <a:solidFill>
              <a:srgbClr val="FFFFFF"/>
            </a:solidFill>
            <a:prstDash val="solid"/>
          </a:ln>
        </p:spPr>
      </p:sp>
      <p:sp>
        <p:nvSpPr>
          <p:cNvPr id="11" name="Text 9"/>
          <p:cNvSpPr txBox="1"/>
          <p:nvPr/>
        </p:nvSpPr>
        <p:spPr>
          <a:xfrm>
            <a:off x="1972018" y="2194560"/>
            <a:ext cx="1313650" cy="502920"/>
          </a:xfrm>
          <a:prstGeom prst="rect">
            <a:avLst/>
          </a:prstGeom>
          <a:noFill/>
          <a:ln/>
        </p:spPr>
        <p:txBody>
          <a:bodyPr wrap="square" lIns="0" tIns="0" rIns="0" bIns="0" rtlCol="0" anchor="ctr"/>
          <a:lstStyle/>
          <a:p>
            <a:pPr algn="ctr" indent="0" marL="0">
              <a:buNone/>
            </a:pPr>
            <a:r>
              <a:rPr lang="en-US" sz="1200" b="1" dirty="0">
                <a:solidFill>
                  <a:srgbClr val="D2702A"/>
                </a:solidFill>
                <a:latin typeface="Meiryo UI" pitchFamily="34" charset="0"/>
                <a:ea typeface="Meiryo UI" pitchFamily="34" charset="-122"/>
                <a:cs typeface="Meiryo UI" pitchFamily="34" charset="-120"/>
              </a:rPr>
              <a:t>次回打ち合わせ</a:t>
            </a:r>
            <a:endParaRPr lang="en-US" sz="1200" dirty="0"/>
          </a:p>
        </p:txBody>
      </p:sp>
      <p:sp>
        <p:nvSpPr>
          <p:cNvPr id="12" name="Text 10"/>
          <p:cNvSpPr txBox="1"/>
          <p:nvPr/>
        </p:nvSpPr>
        <p:spPr>
          <a:xfrm>
            <a:off x="1972018"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試算の確定</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目標合意・正式提案</a:t>
            </a:r>
            <a:endParaRPr lang="en-US" sz="1050" dirty="0"/>
          </a:p>
        </p:txBody>
      </p:sp>
      <p:sp>
        <p:nvSpPr>
          <p:cNvPr id="13" name="Shape 11"/>
          <p:cNvSpPr/>
          <p:nvPr/>
        </p:nvSpPr>
        <p:spPr>
          <a:xfrm>
            <a:off x="3860197" y="1719072"/>
            <a:ext cx="310896" cy="310896"/>
          </a:xfrm>
          <a:prstGeom prst="ellipse">
            <a:avLst/>
          </a:prstGeom>
          <a:solidFill>
            <a:srgbClr val="1F5F8B"/>
          </a:solidFill>
          <a:ln w="25400">
            <a:solidFill>
              <a:srgbClr val="FFFFFF"/>
            </a:solidFill>
            <a:prstDash val="solid"/>
          </a:ln>
        </p:spPr>
      </p:sp>
      <p:sp>
        <p:nvSpPr>
          <p:cNvPr id="14" name="Text 12"/>
          <p:cNvSpPr txBox="1"/>
          <p:nvPr/>
        </p:nvSpPr>
        <p:spPr>
          <a:xfrm>
            <a:off x="3358820" y="2194560"/>
            <a:ext cx="1313650" cy="502920"/>
          </a:xfrm>
          <a:prstGeom prst="rect">
            <a:avLst/>
          </a:prstGeom>
          <a:noFill/>
          <a:ln/>
        </p:spPr>
        <p:txBody>
          <a:bodyPr wrap="square" lIns="0" tIns="0" rIns="0" bIns="0" rtlCol="0" anchor="ctr"/>
          <a:lstStyle/>
          <a:p>
            <a:pPr algn="ctr" indent="0" marL="0">
              <a:buNone/>
            </a:pPr>
            <a:r>
              <a:rPr lang="en-US" sz="1200" b="1" dirty="0">
                <a:solidFill>
                  <a:srgbClr val="1F5F8B"/>
                </a:solidFill>
                <a:latin typeface="Meiryo UI" pitchFamily="34" charset="0"/>
                <a:ea typeface="Meiryo UI" pitchFamily="34" charset="-122"/>
                <a:cs typeface="Meiryo UI" pitchFamily="34" charset="-120"/>
              </a:rPr>
              <a:t>ご契約〜1週間</a:t>
            </a:r>
            <a:endParaRPr lang="en-US" sz="1200" dirty="0"/>
          </a:p>
        </p:txBody>
      </p:sp>
      <p:sp>
        <p:nvSpPr>
          <p:cNvPr id="15" name="Text 13"/>
          <p:cNvSpPr txBox="1"/>
          <p:nvPr/>
        </p:nvSpPr>
        <p:spPr>
          <a:xfrm>
            <a:off x="3358820"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キックオフ</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KPI設定・素材確認</a:t>
            </a:r>
            <a:endParaRPr lang="en-US" sz="1050" dirty="0"/>
          </a:p>
        </p:txBody>
      </p:sp>
      <p:sp>
        <p:nvSpPr>
          <p:cNvPr id="16" name="Shape 14"/>
          <p:cNvSpPr/>
          <p:nvPr/>
        </p:nvSpPr>
        <p:spPr>
          <a:xfrm>
            <a:off x="5246999" y="1719072"/>
            <a:ext cx="310896" cy="310896"/>
          </a:xfrm>
          <a:prstGeom prst="ellipse">
            <a:avLst/>
          </a:prstGeom>
          <a:solidFill>
            <a:srgbClr val="1F5F8B"/>
          </a:solidFill>
          <a:ln w="25400">
            <a:solidFill>
              <a:srgbClr val="FFFFFF"/>
            </a:solidFill>
            <a:prstDash val="solid"/>
          </a:ln>
        </p:spPr>
      </p:sp>
      <p:sp>
        <p:nvSpPr>
          <p:cNvPr id="17" name="Text 15"/>
          <p:cNvSpPr txBox="1"/>
          <p:nvPr/>
        </p:nvSpPr>
        <p:spPr>
          <a:xfrm>
            <a:off x="4745622" y="2194560"/>
            <a:ext cx="1313650" cy="502920"/>
          </a:xfrm>
          <a:prstGeom prst="rect">
            <a:avLst/>
          </a:prstGeom>
          <a:noFill/>
          <a:ln/>
        </p:spPr>
        <p:txBody>
          <a:bodyPr wrap="square" lIns="0" tIns="0" rIns="0" bIns="0" rtlCol="0" anchor="ctr"/>
          <a:lstStyle/>
          <a:p>
            <a:pPr algn="ctr" indent="0" marL="0">
              <a:buNone/>
            </a:pPr>
            <a:r>
              <a:rPr lang="en-US" sz="1200" b="1" dirty="0">
                <a:solidFill>
                  <a:srgbClr val="1F5F8B"/>
                </a:solidFill>
                <a:latin typeface="Meiryo UI" pitchFamily="34" charset="0"/>
                <a:ea typeface="Meiryo UI" pitchFamily="34" charset="-122"/>
                <a:cs typeface="Meiryo UI" pitchFamily="34" charset="-120"/>
              </a:rPr>
              <a:t>〜2週間</a:t>
            </a:r>
            <a:endParaRPr lang="en-US" sz="1200" dirty="0"/>
          </a:p>
        </p:txBody>
      </p:sp>
      <p:sp>
        <p:nvSpPr>
          <p:cNvPr id="18" name="Text 16"/>
          <p:cNvSpPr txBox="1"/>
          <p:nvPr/>
        </p:nvSpPr>
        <p:spPr>
          <a:xfrm>
            <a:off x="4745622"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無料3本の</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初稿提出・修正</a:t>
            </a:r>
            <a:endParaRPr lang="en-US" sz="1050" dirty="0"/>
          </a:p>
        </p:txBody>
      </p:sp>
      <p:sp>
        <p:nvSpPr>
          <p:cNvPr id="19" name="Shape 17"/>
          <p:cNvSpPr/>
          <p:nvPr/>
        </p:nvSpPr>
        <p:spPr>
          <a:xfrm>
            <a:off x="6633801" y="1719072"/>
            <a:ext cx="310896" cy="310896"/>
          </a:xfrm>
          <a:prstGeom prst="ellipse">
            <a:avLst/>
          </a:prstGeom>
          <a:solidFill>
            <a:srgbClr val="1F5F8B"/>
          </a:solidFill>
          <a:ln w="25400">
            <a:solidFill>
              <a:srgbClr val="FFFFFF"/>
            </a:solidFill>
            <a:prstDash val="solid"/>
          </a:ln>
        </p:spPr>
      </p:sp>
      <p:sp>
        <p:nvSpPr>
          <p:cNvPr id="20" name="Text 18"/>
          <p:cNvSpPr txBox="1"/>
          <p:nvPr/>
        </p:nvSpPr>
        <p:spPr>
          <a:xfrm>
            <a:off x="6132424" y="2194560"/>
            <a:ext cx="1313650" cy="502920"/>
          </a:xfrm>
          <a:prstGeom prst="rect">
            <a:avLst/>
          </a:prstGeom>
          <a:noFill/>
          <a:ln/>
        </p:spPr>
        <p:txBody>
          <a:bodyPr wrap="square" lIns="0" tIns="0" rIns="0" bIns="0" rtlCol="0" anchor="ctr"/>
          <a:lstStyle/>
          <a:p>
            <a:pPr algn="ctr" indent="0" marL="0">
              <a:buNone/>
            </a:pPr>
            <a:r>
              <a:rPr lang="en-US" sz="1200" b="1" dirty="0">
                <a:solidFill>
                  <a:srgbClr val="1F5F8B"/>
                </a:solidFill>
                <a:latin typeface="Meiryo UI" pitchFamily="34" charset="0"/>
                <a:ea typeface="Meiryo UI" pitchFamily="34" charset="-122"/>
                <a:cs typeface="Meiryo UI" pitchFamily="34" charset="-120"/>
              </a:rPr>
              <a:t>3〜5週目</a:t>
            </a:r>
            <a:endParaRPr lang="en-US" sz="1200" dirty="0"/>
          </a:p>
        </p:txBody>
      </p:sp>
      <p:sp>
        <p:nvSpPr>
          <p:cNvPr id="21" name="Text 19"/>
          <p:cNvSpPr txBox="1"/>
          <p:nvPr/>
        </p:nvSpPr>
        <p:spPr>
          <a:xfrm>
            <a:off x="6132424"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配信・送付の実行</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（KPI計測開始）</a:t>
            </a:r>
            <a:endParaRPr lang="en-US" sz="1050" dirty="0"/>
          </a:p>
        </p:txBody>
      </p:sp>
      <p:sp>
        <p:nvSpPr>
          <p:cNvPr id="22" name="Shape 20"/>
          <p:cNvSpPr/>
          <p:nvPr/>
        </p:nvSpPr>
        <p:spPr>
          <a:xfrm>
            <a:off x="8020602" y="1719072"/>
            <a:ext cx="310896" cy="310896"/>
          </a:xfrm>
          <a:prstGeom prst="ellipse">
            <a:avLst/>
          </a:prstGeom>
          <a:solidFill>
            <a:srgbClr val="1F5F8B"/>
          </a:solidFill>
          <a:ln w="25400">
            <a:solidFill>
              <a:srgbClr val="FFFFFF"/>
            </a:solidFill>
            <a:prstDash val="solid"/>
          </a:ln>
        </p:spPr>
      </p:sp>
      <p:sp>
        <p:nvSpPr>
          <p:cNvPr id="23" name="Text 21"/>
          <p:cNvSpPr txBox="1"/>
          <p:nvPr/>
        </p:nvSpPr>
        <p:spPr>
          <a:xfrm>
            <a:off x="7519226" y="2194560"/>
            <a:ext cx="1313650" cy="502920"/>
          </a:xfrm>
          <a:prstGeom prst="rect">
            <a:avLst/>
          </a:prstGeom>
          <a:noFill/>
          <a:ln/>
        </p:spPr>
        <p:txBody>
          <a:bodyPr wrap="square" lIns="0" tIns="0" rIns="0" bIns="0" rtlCol="0" anchor="ctr"/>
          <a:lstStyle/>
          <a:p>
            <a:pPr algn="ctr" indent="0" marL="0">
              <a:buNone/>
            </a:pPr>
            <a:r>
              <a:rPr lang="en-US" sz="1200" b="1" dirty="0">
                <a:solidFill>
                  <a:srgbClr val="1F5F8B"/>
                </a:solidFill>
                <a:latin typeface="Meiryo UI" pitchFamily="34" charset="0"/>
                <a:ea typeface="Meiryo UI" pitchFamily="34" charset="-122"/>
                <a:cs typeface="Meiryo UI" pitchFamily="34" charset="-120"/>
              </a:rPr>
              <a:t>6週目</a:t>
            </a:r>
            <a:endParaRPr lang="en-US" sz="1200" dirty="0"/>
          </a:p>
        </p:txBody>
      </p:sp>
      <p:sp>
        <p:nvSpPr>
          <p:cNvPr id="24" name="Text 22"/>
          <p:cNvSpPr txBox="1"/>
          <p:nvPr/>
        </p:nvSpPr>
        <p:spPr>
          <a:xfrm>
            <a:off x="7519226"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効果検証レポート会</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 フェーズ2へ</a:t>
            </a:r>
            <a:endParaRPr lang="en-US" sz="1050" dirty="0"/>
          </a:p>
        </p:txBody>
      </p:sp>
      <p:sp>
        <p:nvSpPr>
          <p:cNvPr id="25" name="Shape 23"/>
          <p:cNvSpPr/>
          <p:nvPr/>
        </p:nvSpPr>
        <p:spPr>
          <a:xfrm>
            <a:off x="9407404" y="1719072"/>
            <a:ext cx="310896" cy="310896"/>
          </a:xfrm>
          <a:prstGeom prst="ellipse">
            <a:avLst/>
          </a:prstGeom>
          <a:solidFill>
            <a:srgbClr val="143E5C"/>
          </a:solidFill>
          <a:ln w="25400">
            <a:solidFill>
              <a:srgbClr val="FFFFFF"/>
            </a:solidFill>
            <a:prstDash val="solid"/>
          </a:ln>
        </p:spPr>
      </p:sp>
      <p:sp>
        <p:nvSpPr>
          <p:cNvPr id="26" name="Text 24"/>
          <p:cNvSpPr txBox="1"/>
          <p:nvPr/>
        </p:nvSpPr>
        <p:spPr>
          <a:xfrm>
            <a:off x="8906027" y="2194560"/>
            <a:ext cx="1313650" cy="502920"/>
          </a:xfrm>
          <a:prstGeom prst="rect">
            <a:avLst/>
          </a:prstGeom>
          <a:noFill/>
          <a:ln/>
        </p:spPr>
        <p:txBody>
          <a:bodyPr wrap="square" lIns="0" tIns="0" rIns="0" bIns="0" rtlCol="0" anchor="ctr"/>
          <a:lstStyle/>
          <a:p>
            <a:pPr algn="ctr" indent="0" marL="0">
              <a:buNone/>
            </a:pPr>
            <a:r>
              <a:rPr lang="en-US" sz="1200" b="1" dirty="0">
                <a:solidFill>
                  <a:srgbClr val="143E5C"/>
                </a:solidFill>
                <a:latin typeface="Meiryo UI" pitchFamily="34" charset="0"/>
                <a:ea typeface="Meiryo UI" pitchFamily="34" charset="-122"/>
                <a:cs typeface="Meiryo UI" pitchFamily="34" charset="-120"/>
              </a:rPr>
              <a:t>年末</a:t>
            </a:r>
            <a:endParaRPr lang="en-US" sz="1200" dirty="0"/>
          </a:p>
        </p:txBody>
      </p:sp>
      <p:sp>
        <p:nvSpPr>
          <p:cNvPr id="27" name="Text 25"/>
          <p:cNvSpPr txBox="1"/>
          <p:nvPr/>
        </p:nvSpPr>
        <p:spPr>
          <a:xfrm>
            <a:off x="8906027"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繁忙期に向けた</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集客強化</a:t>
            </a:r>
            <a:endParaRPr lang="en-US" sz="1050" dirty="0"/>
          </a:p>
        </p:txBody>
      </p:sp>
      <p:sp>
        <p:nvSpPr>
          <p:cNvPr id="28" name="Shape 26"/>
          <p:cNvSpPr/>
          <p:nvPr/>
        </p:nvSpPr>
        <p:spPr>
          <a:xfrm>
            <a:off x="10794206" y="1719072"/>
            <a:ext cx="310896" cy="310896"/>
          </a:xfrm>
          <a:prstGeom prst="ellipse">
            <a:avLst/>
          </a:prstGeom>
          <a:solidFill>
            <a:srgbClr val="143E5C"/>
          </a:solidFill>
          <a:ln w="25400">
            <a:solidFill>
              <a:srgbClr val="FFFFFF"/>
            </a:solidFill>
            <a:prstDash val="solid"/>
          </a:ln>
        </p:spPr>
      </p:sp>
      <p:sp>
        <p:nvSpPr>
          <p:cNvPr id="29" name="Text 27"/>
          <p:cNvSpPr txBox="1"/>
          <p:nvPr/>
        </p:nvSpPr>
        <p:spPr>
          <a:xfrm>
            <a:off x="10292829" y="2194560"/>
            <a:ext cx="1313650" cy="502920"/>
          </a:xfrm>
          <a:prstGeom prst="rect">
            <a:avLst/>
          </a:prstGeom>
          <a:noFill/>
          <a:ln/>
        </p:spPr>
        <p:txBody>
          <a:bodyPr wrap="square" lIns="0" tIns="0" rIns="0" bIns="0" rtlCol="0" anchor="ctr"/>
          <a:lstStyle/>
          <a:p>
            <a:pPr algn="ctr" indent="0" marL="0">
              <a:buNone/>
            </a:pPr>
            <a:r>
              <a:rPr lang="en-US" sz="1200" b="1" dirty="0">
                <a:solidFill>
                  <a:srgbClr val="143E5C"/>
                </a:solidFill>
                <a:latin typeface="Meiryo UI" pitchFamily="34" charset="0"/>
                <a:ea typeface="Meiryo UI" pitchFamily="34" charset="-122"/>
                <a:cs typeface="Meiryo UI" pitchFamily="34" charset="-120"/>
              </a:rPr>
              <a:t>12ヶ月目</a:t>
            </a:r>
            <a:endParaRPr lang="en-US" sz="1200" dirty="0"/>
          </a:p>
        </p:txBody>
      </p:sp>
      <p:sp>
        <p:nvSpPr>
          <p:cNvPr id="30" name="Text 28"/>
          <p:cNvSpPr txBox="1"/>
          <p:nvPr/>
        </p:nvSpPr>
        <p:spPr>
          <a:xfrm>
            <a:off x="10292829" y="2697480"/>
            <a:ext cx="1313650" cy="731520"/>
          </a:xfrm>
          <a:prstGeom prst="rect">
            <a:avLst/>
          </a:prstGeom>
          <a:noFill/>
          <a:ln/>
        </p:spPr>
        <p:txBody>
          <a:bodyPr wrap="square" lIns="0" tIns="0" rIns="0" bIns="0" rtlCol="0" anchor="t"/>
          <a:lstStyle/>
          <a:p>
            <a:pPr algn="ctr" indent="0" marL="0">
              <a:buNone/>
            </a:pPr>
            <a:r>
              <a:rPr lang="en-US" sz="1050" dirty="0">
                <a:solidFill>
                  <a:srgbClr val="26303A"/>
                </a:solidFill>
                <a:latin typeface="Meiryo UI" pitchFamily="34" charset="0"/>
                <a:ea typeface="Meiryo UI" pitchFamily="34" charset="-122"/>
                <a:cs typeface="Meiryo UI" pitchFamily="34" charset="-120"/>
              </a:rPr>
              <a:t>年間振り返り</a:t>
            </a:r>
            <a:endParaRPr lang="en-US" sz="1050" dirty="0"/>
          </a:p>
          <a:p>
            <a:pPr algn="ctr" indent="0" marL="0">
              <a:buNone/>
            </a:pPr>
            <a:r>
              <a:rPr lang="en-US" sz="1050" dirty="0">
                <a:solidFill>
                  <a:srgbClr val="26303A"/>
                </a:solidFill>
                <a:latin typeface="Meiryo UI" pitchFamily="34" charset="0"/>
                <a:ea typeface="Meiryo UI" pitchFamily="34" charset="-122"/>
                <a:cs typeface="Meiryo UI" pitchFamily="34" charset="-120"/>
              </a:rPr>
              <a:t>次年度計画</a:t>
            </a:r>
            <a:endParaRPr lang="en-US" sz="1050" dirty="0"/>
          </a:p>
        </p:txBody>
      </p:sp>
      <p:sp>
        <p:nvSpPr>
          <p:cNvPr id="31" name="Shape 29"/>
          <p:cNvSpPr/>
          <p:nvPr/>
        </p:nvSpPr>
        <p:spPr>
          <a:xfrm>
            <a:off x="1981162" y="1463040"/>
            <a:ext cx="1295362" cy="2057400"/>
          </a:xfrm>
          <a:prstGeom prst="roundRect">
            <a:avLst>
              <a:gd name="adj" fmla="val 7059"/>
            </a:avLst>
          </a:prstGeom>
          <a:solidFill>
            <a:srgbClr val="D2702A">
              <a:alpha val="12000"/>
            </a:srgbClr>
          </a:solidFill>
          <a:ln w="15875">
            <a:solidFill>
              <a:srgbClr val="D2702A"/>
            </a:solidFill>
            <a:prstDash val="dash"/>
          </a:ln>
        </p:spPr>
      </p:sp>
      <p:sp>
        <p:nvSpPr>
          <p:cNvPr id="32" name="Shape 30"/>
          <p:cNvSpPr/>
          <p:nvPr/>
        </p:nvSpPr>
        <p:spPr>
          <a:xfrm>
            <a:off x="548640" y="3931920"/>
            <a:ext cx="5410048" cy="2011680"/>
          </a:xfrm>
          <a:prstGeom prst="roundRect">
            <a:avLst>
              <a:gd name="adj" fmla="val 5455"/>
            </a:avLst>
          </a:prstGeom>
          <a:solidFill>
            <a:srgbClr val="FDF0E3"/>
          </a:solidFill>
          <a:ln w="12700">
            <a:solidFill>
              <a:srgbClr val="FDF0E3"/>
            </a:solidFill>
            <a:prstDash val="solid"/>
          </a:ln>
        </p:spPr>
      </p:sp>
      <p:sp>
        <p:nvSpPr>
          <p:cNvPr id="33" name="Shape 31"/>
          <p:cNvSpPr/>
          <p:nvPr/>
        </p:nvSpPr>
        <p:spPr>
          <a:xfrm>
            <a:off x="822960" y="4160520"/>
            <a:ext cx="548640" cy="548640"/>
          </a:xfrm>
          <a:prstGeom prst="ellipse">
            <a:avLst/>
          </a:prstGeom>
          <a:solidFill>
            <a:srgbClr val="D2702A"/>
          </a:solidFill>
          <a:ln w="12700">
            <a:solidFill>
              <a:srgbClr val="D2702A"/>
            </a:solidFill>
            <a:prstDash val="solid"/>
          </a:ln>
        </p:spPr>
      </p:sp>
      <p:pic>
        <p:nvPicPr>
          <p:cNvPr id="34" name="Image 0" descr="preencoded.png">    </p:cNvPr>
          <p:cNvPicPr>
            <a:picLocks noChangeAspect="1"/>
          </p:cNvPicPr>
          <p:nvPr/>
        </p:nvPicPr>
        <p:blipFill>
          <a:blip r:embed="rId1"/>
          <a:stretch>
            <a:fillRect/>
          </a:stretch>
        </p:blipFill>
        <p:spPr>
          <a:xfrm>
            <a:off x="965606" y="4303166"/>
            <a:ext cx="263347" cy="263347"/>
          </a:xfrm>
          <a:prstGeom prst="rect">
            <a:avLst/>
          </a:prstGeom>
        </p:spPr>
      </p:pic>
      <p:sp>
        <p:nvSpPr>
          <p:cNvPr id="35" name="Text 32"/>
          <p:cNvSpPr txBox="1"/>
          <p:nvPr/>
        </p:nvSpPr>
        <p:spPr>
          <a:xfrm>
            <a:off x="1508760" y="4160520"/>
            <a:ext cx="4267048" cy="548640"/>
          </a:xfrm>
          <a:prstGeom prst="rect">
            <a:avLst/>
          </a:prstGeom>
          <a:noFill/>
          <a:ln/>
        </p:spPr>
        <p:txBody>
          <a:bodyPr wrap="square" lIns="0" tIns="0" rIns="0" bIns="0" rtlCol="0" anchor="ctr"/>
          <a:lstStyle/>
          <a:p>
            <a:pPr indent="0" marL="0">
              <a:buNone/>
            </a:pPr>
            <a:r>
              <a:rPr lang="en-US" sz="1400" b="1" dirty="0">
                <a:solidFill>
                  <a:srgbClr val="143E5C"/>
                </a:solidFill>
                <a:latin typeface="Meiryo UI" pitchFamily="34" charset="0"/>
                <a:ea typeface="Meiryo UI" pitchFamily="34" charset="-122"/>
                <a:cs typeface="Meiryo UI" pitchFamily="34" charset="-120"/>
              </a:rPr>
              <a:t>次回までに貴社にご準備いただきたいこと</a:t>
            </a:r>
            <a:endParaRPr lang="en-US" sz="1400" dirty="0"/>
          </a:p>
        </p:txBody>
      </p:sp>
      <p:sp>
        <p:nvSpPr>
          <p:cNvPr id="36" name="Text 33"/>
          <p:cNvSpPr txBox="1"/>
          <p:nvPr/>
        </p:nvSpPr>
        <p:spPr>
          <a:xfrm>
            <a:off x="868680"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6303A"/>
                </a:solidFill>
                <a:latin typeface="Meiryo UI" pitchFamily="34" charset="0"/>
                <a:ea typeface="Meiryo UI" pitchFamily="34" charset="-122"/>
                <a:cs typeface="Meiryo UI" pitchFamily="34" charset="-120"/>
              </a:rPr>
              <a:t>現状数値の確認（問い合わせ数・成約率・平均単価）</a:t>
            </a:r>
            <a:endParaRPr lang="en-US" sz="1250" dirty="0"/>
          </a:p>
          <a:p>
            <a:pPr marL="342900" indent="-342900">
              <a:spcAft>
                <a:spcPts val="600"/>
              </a:spcAft>
              <a:buSzPct val="100000"/>
              <a:buChar char="•"/>
            </a:pPr>
            <a:r>
              <a:rPr lang="en-US" sz="1250" dirty="0">
                <a:solidFill>
                  <a:srgbClr val="26303A"/>
                </a:solidFill>
                <a:latin typeface="Meiryo UI" pitchFamily="34" charset="0"/>
                <a:ea typeface="Meiryo UI" pitchFamily="34" charset="-122"/>
                <a:cs typeface="Meiryo UI" pitchFamily="34" charset="-120"/>
              </a:rPr>
              <a:t>主な紹介元のリストと、対応エリア・許認可の範囲</a:t>
            </a:r>
            <a:endParaRPr lang="en-US" sz="1250" dirty="0"/>
          </a:p>
          <a:p>
            <a:pPr marL="342900" indent="-342900">
              <a:spcAft>
                <a:spcPts val="600"/>
              </a:spcAft>
              <a:buSzPct val="100000"/>
              <a:buChar char="•"/>
            </a:pPr>
            <a:r>
              <a:rPr lang="en-US" sz="1250" dirty="0">
                <a:solidFill>
                  <a:srgbClr val="26303A"/>
                </a:solidFill>
                <a:latin typeface="Meiryo UI" pitchFamily="34" charset="0"/>
                <a:ea typeface="Meiryo UI" pitchFamily="34" charset="-122"/>
                <a:cs typeface="Meiryo UI" pitchFamily="34" charset="-120"/>
              </a:rPr>
              <a:t>会社案内・作業事例の写真（許諾済みのもの）</a:t>
            </a:r>
            <a:endParaRPr lang="en-US" sz="1250" dirty="0"/>
          </a:p>
        </p:txBody>
      </p:sp>
      <p:sp>
        <p:nvSpPr>
          <p:cNvPr id="37" name="Shape 34"/>
          <p:cNvSpPr/>
          <p:nvPr/>
        </p:nvSpPr>
        <p:spPr>
          <a:xfrm>
            <a:off x="6233008" y="3931920"/>
            <a:ext cx="5410048" cy="2011680"/>
          </a:xfrm>
          <a:prstGeom prst="roundRect">
            <a:avLst>
              <a:gd name="adj" fmla="val 5455"/>
            </a:avLst>
          </a:prstGeom>
          <a:solidFill>
            <a:srgbClr val="EAF2F8"/>
          </a:solidFill>
          <a:ln w="12700">
            <a:solidFill>
              <a:srgbClr val="EAF2F8"/>
            </a:solidFill>
            <a:prstDash val="solid"/>
          </a:ln>
        </p:spPr>
      </p:sp>
      <p:sp>
        <p:nvSpPr>
          <p:cNvPr id="38" name="Shape 35"/>
          <p:cNvSpPr/>
          <p:nvPr/>
        </p:nvSpPr>
        <p:spPr>
          <a:xfrm>
            <a:off x="6507328" y="4160520"/>
            <a:ext cx="548640" cy="548640"/>
          </a:xfrm>
          <a:prstGeom prst="ellipse">
            <a:avLst/>
          </a:prstGeom>
          <a:solidFill>
            <a:srgbClr val="1F5F8B"/>
          </a:solidFill>
          <a:ln w="12700">
            <a:solidFill>
              <a:srgbClr val="1F5F8B"/>
            </a:solidFill>
            <a:prstDash val="solid"/>
          </a:ln>
        </p:spPr>
      </p:sp>
      <p:pic>
        <p:nvPicPr>
          <p:cNvPr id="39" name="Image 1" descr="preencoded.png">    </p:cNvPr>
          <p:cNvPicPr>
            <a:picLocks noChangeAspect="1"/>
          </p:cNvPicPr>
          <p:nvPr/>
        </p:nvPicPr>
        <p:blipFill>
          <a:blip r:embed="rId2"/>
          <a:stretch>
            <a:fillRect/>
          </a:stretch>
        </p:blipFill>
        <p:spPr>
          <a:xfrm>
            <a:off x="6649974" y="4303166"/>
            <a:ext cx="263347" cy="263347"/>
          </a:xfrm>
          <a:prstGeom prst="rect">
            <a:avLst/>
          </a:prstGeom>
        </p:spPr>
      </p:pic>
      <p:sp>
        <p:nvSpPr>
          <p:cNvPr id="40" name="Text 36"/>
          <p:cNvSpPr txBox="1"/>
          <p:nvPr/>
        </p:nvSpPr>
        <p:spPr>
          <a:xfrm>
            <a:off x="7193128" y="4160520"/>
            <a:ext cx="4267048" cy="548640"/>
          </a:xfrm>
          <a:prstGeom prst="rect">
            <a:avLst/>
          </a:prstGeom>
          <a:noFill/>
          <a:ln/>
        </p:spPr>
        <p:txBody>
          <a:bodyPr wrap="square" lIns="0" tIns="0" rIns="0" bIns="0" rtlCol="0" anchor="ctr"/>
          <a:lstStyle/>
          <a:p>
            <a:pPr indent="0" marL="0">
              <a:buNone/>
            </a:pPr>
            <a:r>
              <a:rPr lang="en-US" sz="1400" b="1" dirty="0">
                <a:solidFill>
                  <a:srgbClr val="143E5C"/>
                </a:solidFill>
                <a:latin typeface="Meiryo UI" pitchFamily="34" charset="0"/>
                <a:ea typeface="Meiryo UI" pitchFamily="34" charset="-122"/>
                <a:cs typeface="Meiryo UI" pitchFamily="34" charset="-120"/>
              </a:rPr>
              <a:t>次回お打ち合わせで弊社がご提示するもの</a:t>
            </a:r>
            <a:endParaRPr lang="en-US" sz="1400" dirty="0"/>
          </a:p>
        </p:txBody>
      </p:sp>
      <p:sp>
        <p:nvSpPr>
          <p:cNvPr id="41" name="Text 37"/>
          <p:cNvSpPr txBox="1"/>
          <p:nvPr/>
        </p:nvSpPr>
        <p:spPr>
          <a:xfrm>
            <a:off x="6553048"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6303A"/>
                </a:solidFill>
                <a:latin typeface="Meiryo UI" pitchFamily="34" charset="0"/>
                <a:ea typeface="Meiryo UI" pitchFamily="34" charset="-122"/>
                <a:cs typeface="Meiryo UI" pitchFamily="34" charset="-120"/>
              </a:rPr>
              <a:t>実数値を反映した目標値シミュレーション（確定版）</a:t>
            </a:r>
            <a:endParaRPr lang="en-US" sz="1250" dirty="0"/>
          </a:p>
          <a:p>
            <a:pPr marL="342900" indent="-342900">
              <a:spcAft>
                <a:spcPts val="600"/>
              </a:spcAft>
              <a:buSzPct val="100000"/>
              <a:buChar char="•"/>
            </a:pPr>
            <a:r>
              <a:rPr lang="en-US" sz="1250" dirty="0">
                <a:solidFill>
                  <a:srgbClr val="26303A"/>
                </a:solidFill>
                <a:latin typeface="Meiryo UI" pitchFamily="34" charset="0"/>
                <a:ea typeface="Meiryo UI" pitchFamily="34" charset="-122"/>
                <a:cs typeface="Meiryo UI" pitchFamily="34" charset="-120"/>
              </a:rPr>
              <a:t>無料3本の台本ドラフト</a:t>
            </a:r>
            <a:endParaRPr lang="en-US" sz="1250" dirty="0"/>
          </a:p>
          <a:p>
            <a:pPr marL="342900" indent="-342900">
              <a:spcAft>
                <a:spcPts val="600"/>
              </a:spcAft>
              <a:buSzPct val="100000"/>
              <a:buChar char="•"/>
            </a:pPr>
            <a:r>
              <a:rPr lang="en-US" sz="1250" dirty="0">
                <a:solidFill>
                  <a:srgbClr val="26303A"/>
                </a:solidFill>
                <a:latin typeface="Meiryo UI" pitchFamily="34" charset="0"/>
                <a:ea typeface="Meiryo UI" pitchFamily="34" charset="-122"/>
                <a:cs typeface="Meiryo UI" pitchFamily="34" charset="-120"/>
              </a:rPr>
              <a:t>紹介ルート開拓・業務改善のご提案（コンサルティングチーム）</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3E5C"/>
        </a:solidFill>
      </p:bgPr>
    </p:bg>
    <p:spTree>
      <p:nvGrpSpPr>
        <p:cNvPr id="1" name=""/>
        <p:cNvGrpSpPr/>
        <p:nvPr/>
      </p:nvGrpSpPr>
      <p:grpSpPr>
        <a:xfrm>
          <a:off x="0" y="0"/>
          <a:ext cx="0" cy="0"/>
          <a:chOff x="0" y="0"/>
          <a:chExt cx="0" cy="0"/>
        </a:xfrm>
      </p:grpSpPr>
      <p:sp>
        <p:nvSpPr>
          <p:cNvPr id="2" name="Shape 0"/>
          <p:cNvSpPr/>
          <p:nvPr/>
        </p:nvSpPr>
        <p:spPr>
          <a:xfrm>
            <a:off x="-1097280" y="3840480"/>
            <a:ext cx="4114800" cy="4114800"/>
          </a:xfrm>
          <a:prstGeom prst="ellipse">
            <a:avLst/>
          </a:prstGeom>
          <a:solidFill>
            <a:srgbClr val="1F5F8B"/>
          </a:solidFill>
          <a:ln w="12700">
            <a:solidFill>
              <a:srgbClr val="1F5F8B"/>
            </a:solidFill>
            <a:prstDash val="solid"/>
          </a:ln>
        </p:spPr>
      </p:sp>
      <p:sp>
        <p:nvSpPr>
          <p:cNvPr id="3" name="Shape 1"/>
          <p:cNvSpPr/>
          <p:nvPr/>
        </p:nvSpPr>
        <p:spPr>
          <a:xfrm>
            <a:off x="10332720" y="-731520"/>
            <a:ext cx="2377440" cy="2377440"/>
          </a:xfrm>
          <a:prstGeom prst="ellipse">
            <a:avLst/>
          </a:prstGeom>
          <a:solidFill>
            <a:srgbClr val="E08A3C">
              <a:alpha val="80000"/>
            </a:srgbClr>
          </a:solidFill>
          <a:ln w="12700">
            <a:solidFill>
              <a:srgbClr val="E08A3C"/>
            </a:solidFill>
            <a:prstDash val="solid"/>
          </a:ln>
        </p:spPr>
      </p:sp>
      <p:sp>
        <p:nvSpPr>
          <p:cNvPr id="4" name="Text 2"/>
          <p:cNvSpPr txBox="1"/>
          <p:nvPr/>
        </p:nvSpPr>
        <p:spPr>
          <a:xfrm>
            <a:off x="1097280" y="822960"/>
            <a:ext cx="5486400" cy="365760"/>
          </a:xfrm>
          <a:prstGeom prst="rect">
            <a:avLst/>
          </a:prstGeom>
          <a:noFill/>
          <a:ln/>
        </p:spPr>
        <p:txBody>
          <a:bodyPr wrap="square" lIns="0" tIns="0" rIns="0" bIns="0" rtlCol="0" anchor="t"/>
          <a:lstStyle/>
          <a:p>
            <a:pPr indent="0" marL="0">
              <a:buNone/>
            </a:pPr>
            <a:r>
              <a:rPr lang="en-US" sz="1400" b="1" spc="200" kern="0" dirty="0">
                <a:solidFill>
                  <a:srgbClr val="F5C08C"/>
                </a:solidFill>
                <a:latin typeface="Meiryo UI" pitchFamily="34" charset="0"/>
                <a:ea typeface="Meiryo UI" pitchFamily="34" charset="-122"/>
                <a:cs typeface="Meiryo UI" pitchFamily="34" charset="-120"/>
              </a:rPr>
              <a:t>おわりに</a:t>
            </a:r>
            <a:endParaRPr lang="en-US" sz="1400" dirty="0"/>
          </a:p>
        </p:txBody>
      </p:sp>
      <p:sp>
        <p:nvSpPr>
          <p:cNvPr id="5" name="Text 3"/>
          <p:cNvSpPr txBox="1"/>
          <p:nvPr/>
        </p:nvSpPr>
        <p:spPr>
          <a:xfrm>
            <a:off x="1097280" y="1325880"/>
            <a:ext cx="10058400" cy="146304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「動画をつくる」のではなく、</a:t>
            </a:r>
            <a:endParaRPr lang="en-US" sz="3200" dirty="0"/>
          </a:p>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「事業を伸ばす」ことにコミットします。</a:t>
            </a:r>
            <a:endParaRPr lang="en-US" sz="3200" dirty="0"/>
          </a:p>
        </p:txBody>
      </p:sp>
      <p:sp>
        <p:nvSpPr>
          <p:cNvPr id="6" name="Text 4"/>
          <p:cNvSpPr txBox="1"/>
          <p:nvPr/>
        </p:nvSpPr>
        <p:spPr>
          <a:xfrm>
            <a:off x="3566160" y="3063240"/>
            <a:ext cx="7863840" cy="2194560"/>
          </a:xfrm>
          <a:prstGeom prst="rect">
            <a:avLst/>
          </a:prstGeom>
          <a:noFill/>
          <a:ln/>
        </p:spPr>
        <p:txBody>
          <a:bodyPr wrap="square" lIns="0" tIns="0" rIns="0" bIns="0" rtlCol="0" anchor="t"/>
          <a:lstStyle/>
          <a:p>
            <a:pPr indent="0" marL="0">
              <a:lnSpc>
                <a:spcPct val="125000"/>
              </a:lnSpc>
              <a:buNone/>
            </a:pPr>
            <a:r>
              <a:rPr lang="en-US" sz="1400" dirty="0">
                <a:solidFill>
                  <a:srgbClr val="D4E4F1"/>
                </a:solidFill>
                <a:latin typeface="Meiryo UI" pitchFamily="34" charset="0"/>
                <a:ea typeface="Meiryo UI" pitchFamily="34" charset="-122"/>
                <a:cs typeface="Meiryo UI" pitchFamily="34" charset="-120"/>
              </a:rPr>
              <a:t>貴社は、福祉の現場で培った「相手の気持ちを汲み取る力」と、「嘘のない、正直な仕事」という、価格では測れない資産をお持ちです。</a:t>
            </a:r>
            <a:endParaRPr lang="en-US" sz="1400" dirty="0"/>
          </a:p>
          <a:p>
            <a:pPr indent="0" marL="0">
              <a:lnSpc>
                <a:spcPct val="125000"/>
              </a:lnSpc>
              <a:buNone/>
            </a:pPr>
            <a:endParaRPr lang="en-US" sz="1400" dirty="0"/>
          </a:p>
          <a:p>
            <a:pPr indent="0" marL="0">
              <a:lnSpc>
                <a:spcPct val="125000"/>
              </a:lnSpc>
              <a:buNone/>
            </a:pPr>
            <a:r>
              <a:rPr lang="en-US" sz="1400" dirty="0">
                <a:solidFill>
                  <a:srgbClr val="D4E4F1"/>
                </a:solidFill>
                <a:latin typeface="Meiryo UI" pitchFamily="34" charset="0"/>
                <a:ea typeface="Meiryo UI" pitchFamily="34" charset="-122"/>
                <a:cs typeface="Meiryo UI" pitchFamily="34" charset="-120"/>
              </a:rPr>
              <a:t>悪質な業者に悩む方が後を絶たない今こそ、その姿勢を動画と仕組みで関東全域へ届け、「この会社に頼みたい」と選ばれる体制をつくる絶好のタイミングです。</a:t>
            </a:r>
            <a:endParaRPr lang="en-US" sz="1400" dirty="0"/>
          </a:p>
        </p:txBody>
      </p:sp>
      <p:sp>
        <p:nvSpPr>
          <p:cNvPr id="7" name="Text 5"/>
          <p:cNvSpPr txBox="1"/>
          <p:nvPr/>
        </p:nvSpPr>
        <p:spPr>
          <a:xfrm>
            <a:off x="3566160" y="5440680"/>
            <a:ext cx="7863840" cy="457200"/>
          </a:xfrm>
          <a:prstGeom prst="rect">
            <a:avLst/>
          </a:prstGeom>
          <a:noFill/>
          <a:ln/>
        </p:spPr>
        <p:txBody>
          <a:bodyPr wrap="square" lIns="0" tIns="0" rIns="0" bIns="0" rtlCol="0" anchor="t"/>
          <a:lstStyle/>
          <a:p>
            <a:pPr indent="0" marL="0">
              <a:buNone/>
            </a:pPr>
            <a:r>
              <a:rPr lang="en-US" sz="1700" b="1" dirty="0">
                <a:solidFill>
                  <a:srgbClr val="F5C08C"/>
                </a:solidFill>
                <a:latin typeface="Meiryo UI" pitchFamily="34" charset="0"/>
                <a:ea typeface="Meiryo UI" pitchFamily="34" charset="-122"/>
                <a:cs typeface="Meiryo UI" pitchFamily="34" charset="-120"/>
              </a:rPr>
              <a:t>次回お打ち合わせで、ぜひ次の一歩をご一緒に踏み出させてください。</a:t>
            </a:r>
            <a:endParaRPr lang="en-US" sz="1700" dirty="0"/>
          </a:p>
        </p:txBody>
      </p:sp>
      <p:sp>
        <p:nvSpPr>
          <p:cNvPr id="8" name="Text 6"/>
          <p:cNvSpPr txBox="1"/>
          <p:nvPr/>
        </p:nvSpPr>
        <p:spPr>
          <a:xfrm>
            <a:off x="3566160" y="6080760"/>
            <a:ext cx="7863840" cy="320040"/>
          </a:xfrm>
          <a:prstGeom prst="rect">
            <a:avLst/>
          </a:prstGeom>
          <a:noFill/>
          <a:ln/>
        </p:spPr>
        <p:txBody>
          <a:bodyPr wrap="square" lIns="0" tIns="0" rIns="0" bIns="0" rtlCol="0" anchor="t"/>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株式会社アイドマ・ホールディングス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片付け・遺品整理事業 営業・マーケティング総合改革提案書</dc:title>
  <dc:subject>PptxGenJS Presentation</dc:subject>
  <dc:creator>PptxGenJS</dc:creator>
  <cp:lastModifiedBy>PptxGenJS</cp:lastModifiedBy>
  <cp:revision>1</cp:revision>
  <dcterms:created xsi:type="dcterms:W3CDTF">2026-09-23T08:17:24Z</dcterms:created>
  <dcterms:modified xsi:type="dcterms:W3CDTF">2026-09-23T08:17:24Z</dcterms:modified>
</cp:coreProperties>
</file>