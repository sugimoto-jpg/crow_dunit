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232/"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241/"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290/"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505/"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51/"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食品・弁当・フードサービス・定期配送</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800" b="1" dirty="0">
                <a:solidFill>
                  <a:srgbClr val="FFFFFF"/>
                </a:solidFill>
                <a:latin typeface="Meiryo" pitchFamily="34" charset="0"/>
                <a:ea typeface="Meiryo" pitchFamily="34" charset="-122"/>
                <a:cs typeface="Meiryo" pitchFamily="34" charset="-120"/>
              </a:rPr>
              <a:t>とびうめランチ様</a:t>
            </a:r>
            <a:endParaRPr lang="en-US" sz="3800" dirty="0"/>
          </a:p>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提案引用実績 5選</a:t>
            </a:r>
            <a:endParaRPr lang="en-US" sz="3800" dirty="0"/>
          </a:p>
        </p:txBody>
      </p:sp>
      <p:sp>
        <p:nvSpPr>
          <p:cNvPr id="7" name="Text 5"/>
          <p:cNvSpPr/>
          <p:nvPr/>
        </p:nvSpPr>
        <p:spPr>
          <a:xfrm>
            <a:off x="822960" y="3456432"/>
            <a:ext cx="10149840" cy="1188720"/>
          </a:xfrm>
          <a:prstGeom prst="rect">
            <a:avLst/>
          </a:prstGeom>
          <a:noFill/>
          <a:ln/>
        </p:spPr>
        <p:txBody>
          <a:bodyPr wrap="square" rtlCol="0" anchor="ctr"/>
          <a:lstStyle/>
          <a:p>
            <a:pPr indent="0" marL="0">
              <a:lnSpc>
                <a:spcPct val="124000"/>
              </a:lnSpc>
              <a:buNone/>
            </a:pPr>
            <a:r>
              <a:rPr lang="en-US" sz="1200" dirty="0">
                <a:solidFill>
                  <a:srgbClr val="DDE8F6"/>
                </a:solidFill>
                <a:latin typeface="Meiryo" pitchFamily="34" charset="0"/>
                <a:ea typeface="Meiryo" pitchFamily="34" charset="-122"/>
                <a:cs typeface="Meiryo" pitchFamily="34" charset="-120"/>
              </a:rPr>
              <a:t>とびうめランチ様（法人・一般向け日替わり弁当の定期配送および仕出し・会議用御膳・法事用・介護向け弁当の企画・製造・配達／課題：新規営業・法人向け定期配送ルートの開拓）と同業界で、「調理・配送実務で現場が手一杯な中での営業自動化」「飛び込み・口コミ依存からの脱却」「法人向け直契約・定期配送ルートの能動的開拓」を解決した実績を5件厳選しました。</a:t>
            </a:r>
            <a:endParaRPr lang="en-US" sz="120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50" b="1" dirty="0">
                <a:solidFill>
                  <a:srgbClr val="CADCFC"/>
                </a:solidFill>
                <a:latin typeface="Meiryo" pitchFamily="34" charset="0"/>
                <a:ea typeface="Meiryo" pitchFamily="34" charset="-122"/>
                <a:cs typeface="Meiryo" pitchFamily="34" charset="-120"/>
              </a:rPr>
              <a:t>提案の狙い　</a:t>
            </a:r>
            <a:pPr indent="0" marL="0">
              <a:buNone/>
            </a:pPr>
            <a:r>
              <a:rPr lang="en-US" sz="1050" dirty="0">
                <a:solidFill>
                  <a:srgbClr val="C9D8ED"/>
                </a:solidFill>
                <a:latin typeface="Meiryo" pitchFamily="34" charset="0"/>
                <a:ea typeface="Meiryo" pitchFamily="34" charset="-122"/>
                <a:cs typeface="Meiryo" pitchFamily="34" charset="-120"/>
              </a:rPr>
              <a:t>法人向け定期配送ルートの能動的開拓／調理・配送に専念したままの営業自動化／飛び込み・口コミ依存からの脱却</a:t>
            </a:r>
            <a:endParaRPr lang="en-US" sz="105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Platform・Crowd Members・ママワークス連携）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同業の食品・弁当製造の直接事例。現場負担を削減し重要な新規営業にリソース集中</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日商デリカ株式会社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食品・惣菜・お弁当・デリカ商品の企画・製造・販売。</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264464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264464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BtoB販路開拓の営業リソース・人員不足</a:t>
            </a:r>
            <a:endParaRPr lang="en-US" sz="950" dirty="0"/>
          </a:p>
        </p:txBody>
      </p:sp>
      <p:sp>
        <p:nvSpPr>
          <p:cNvPr id="13" name="Shape 11"/>
          <p:cNvSpPr/>
          <p:nvPr/>
        </p:nvSpPr>
        <p:spPr>
          <a:xfrm>
            <a:off x="585216" y="4407408"/>
            <a:ext cx="248539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24853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重要度の高い新規営業に集中できない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食品・惣菜製造を手がける同社が、人手不足の中で新規販路拡大を推進するため導入。定型的なリサーチや初期アプローチを仕組み化・外部化することで、社内メンバーが商品開発や質の高い商談に専念でき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外部の仕組み（Crowd Members/営業支援）を活用し、業務の効率化と新規アプローチ体制を確立。現場の負担を大幅に削減し、未来に向けた重要度の高い営業・事業拡大へリソースを集中させることに成功した。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とびうめランチ様と同じ「食品・お弁当の製造・配送」業界の直接事例です。毎日のお弁当製造・配達実務で現場が多忙な中でも、営業支援ユニットを導入することで、近隣のオフィス・工場・施設などの法人ターゲットへ自動的にBtoB配送（日替わり弁当や仕出し）の営業アプローチを展開し、製造現場の手を煩わせずに新規の法人契約ルートを量産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「社内の限られたリソースだけで営業や販路拡大の全てを抱え込むのではなく、外部の仕組みを上手に活用して、未来に向けた重要度の高いコア業務にパワーを集中させることが成長への鍵となります。」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とびうめランチ様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ルート・紹介依存から脱却。法人リスト抽出〜アプローチを自動化し新市場を開拓</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山口製麺有限会社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麺類・食品の製造・卸売・定期配送事業。</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222478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ルート配送・紹介依存からの脱却</a:t>
            </a:r>
            <a:endParaRPr lang="en-US" sz="950" dirty="0"/>
          </a:p>
        </p:txBody>
      </p:sp>
      <p:sp>
        <p:nvSpPr>
          <p:cNvPr id="13" name="Shape 11"/>
          <p:cNvSpPr/>
          <p:nvPr/>
        </p:nvSpPr>
        <p:spPr>
          <a:xfrm>
            <a:off x="585216" y="4407408"/>
            <a:ext cx="248539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24853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新市場（飲食店・施設・法人）の開拓</a:t>
            </a:r>
            <a:endParaRPr lang="en-US" sz="950" dirty="0"/>
          </a:p>
        </p:txBody>
      </p:sp>
      <p:sp>
        <p:nvSpPr>
          <p:cNvPr id="15" name="Shape 13"/>
          <p:cNvSpPr/>
          <p:nvPr/>
        </p:nvSpPr>
        <p:spPr>
          <a:xfrm>
            <a:off x="585216" y="4754880"/>
            <a:ext cx="2224786" cy="274320"/>
          </a:xfrm>
          <a:prstGeom prst="roundRect">
            <a:avLst>
              <a:gd name="adj" fmla="val 50000"/>
            </a:avLst>
          </a:prstGeom>
          <a:solidFill>
            <a:srgbClr val="DCE8F6"/>
          </a:solidFill>
          <a:ln w="9525">
            <a:solidFill>
              <a:srgbClr val="BFD3EC"/>
            </a:solidFill>
            <a:prstDash val="solid"/>
          </a:ln>
        </p:spPr>
      </p:sp>
      <p:sp>
        <p:nvSpPr>
          <p:cNvPr id="16" name="Text 14"/>
          <p:cNvSpPr/>
          <p:nvPr/>
        </p:nvSpPr>
        <p:spPr>
          <a:xfrm>
            <a:off x="585216" y="4754880"/>
            <a:ext cx="222478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能動的な営業組織・仕組みの構築</a:t>
            </a:r>
            <a:endParaRPr lang="en-US" sz="950" dirty="0"/>
          </a:p>
        </p:txBody>
      </p:sp>
      <p:sp>
        <p:nvSpPr>
          <p:cNvPr id="17" name="Shape 15"/>
          <p:cNvSpPr/>
          <p:nvPr/>
        </p:nvSpPr>
        <p:spPr>
          <a:xfrm>
            <a:off x="4114800" y="1417320"/>
            <a:ext cx="82296" cy="219456"/>
          </a:xfrm>
          <a:prstGeom prst="roundRect">
            <a:avLst>
              <a:gd name="adj" fmla="val 33333"/>
            </a:avLst>
          </a:prstGeom>
          <a:solidFill>
            <a:srgbClr val="2B64AB"/>
          </a:solidFill>
          <a:ln/>
        </p:spPr>
      </p:sp>
      <p:sp>
        <p:nvSpPr>
          <p:cNvPr id="18" name="Text 16"/>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9" name="Text 17"/>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食品製造業として長年地域に根ざしてきたが、少人数体制で新規営業のアプローチ手段がなかった。アイドマの支援により、法人リストの抽出から初期アプローチまでを自動回転させ、能動的なBtoB新規開拓フローを定着させた。</a:t>
            </a:r>
            <a:endParaRPr lang="en-US" sz="1000" dirty="0"/>
          </a:p>
        </p:txBody>
      </p:sp>
      <p:sp>
        <p:nvSpPr>
          <p:cNvPr id="20" name="Shape 18"/>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21" name="Shape 19"/>
          <p:cNvSpPr/>
          <p:nvPr/>
        </p:nvSpPr>
        <p:spPr>
          <a:xfrm>
            <a:off x="4352544" y="2542032"/>
            <a:ext cx="82296" cy="219456"/>
          </a:xfrm>
          <a:prstGeom prst="roundRect">
            <a:avLst>
              <a:gd name="adj" fmla="val 33333"/>
            </a:avLst>
          </a:prstGeom>
          <a:solidFill>
            <a:srgbClr val="1F7A4D"/>
          </a:solidFill>
          <a:ln/>
        </p:spPr>
      </p:sp>
      <p:sp>
        <p:nvSpPr>
          <p:cNvPr id="22" name="Text 20"/>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3" name="Text 21"/>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在宅ワーカーや営業支援の仕組みを活用し、ターゲットの精査とアプローチを自動化。自社内だけに閉じない柔軟な営業組織を立ち上げ、新規案件の獲得と売上UP（マーケット拡大）を実現した。</a:t>
            </a:r>
            <a:endParaRPr lang="en-US" sz="1000" dirty="0"/>
          </a:p>
        </p:txBody>
      </p:sp>
      <p:sp>
        <p:nvSpPr>
          <p:cNvPr id="24" name="Shape 22"/>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5" name="Shape 23"/>
          <p:cNvSpPr/>
          <p:nvPr/>
        </p:nvSpPr>
        <p:spPr>
          <a:xfrm>
            <a:off x="4352544" y="3602736"/>
            <a:ext cx="82296" cy="219456"/>
          </a:xfrm>
          <a:prstGeom prst="roundRect">
            <a:avLst>
              <a:gd name="adj" fmla="val 33333"/>
            </a:avLst>
          </a:prstGeom>
          <a:solidFill>
            <a:srgbClr val="2B64AB"/>
          </a:solidFill>
          <a:ln/>
        </p:spPr>
      </p:sp>
      <p:sp>
        <p:nvSpPr>
          <p:cNvPr id="26" name="Text 24"/>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7" name="Text 25"/>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とびうめランチ様が抱える「既存の口コミや地域配送頼みからの脱却」に直結する食品・配送事例です。営業支援ユニットを活用して、自社の配送ルート沿いにある事業所や介護施設、イベント会社等の決裁者（総務・福利厚生担当）へピンポイントで日替わり弁当や会議用御膳の試食・定期配送の提案を届けることで、確度の高い定期配送先を自動創出できます。</a:t>
            </a:r>
            <a:endParaRPr lang="en-US" sz="1000" dirty="0"/>
          </a:p>
        </p:txBody>
      </p:sp>
      <p:sp>
        <p:nvSpPr>
          <p:cNvPr id="28" name="Shape 26"/>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9" name="Shape 27"/>
          <p:cNvSpPr/>
          <p:nvPr/>
        </p:nvSpPr>
        <p:spPr>
          <a:xfrm>
            <a:off x="4352544" y="5285232"/>
            <a:ext cx="82296" cy="219456"/>
          </a:xfrm>
          <a:prstGeom prst="roundRect">
            <a:avLst>
              <a:gd name="adj" fmla="val 33333"/>
            </a:avLst>
          </a:prstGeom>
          <a:solidFill>
            <a:srgbClr val="9A6B12"/>
          </a:solidFill>
          <a:ln/>
        </p:spPr>
      </p:sp>
      <p:sp>
        <p:nvSpPr>
          <p:cNvPr id="30" name="Text 28"/>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31" name="Text 29"/>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「これまでの営業手法や地域・既存ルートだけに縛られず、外部の仕組みを使って広い市場へアプローチを試すことで、自社商品の新しい可能性や新規顧客を確実に開拓できます。」</a:t>
            </a:r>
            <a:endParaRPr lang="en-US" sz="1000" dirty="0"/>
          </a:p>
        </p:txBody>
      </p:sp>
      <p:sp>
        <p:nvSpPr>
          <p:cNvPr id="32" name="Text 30"/>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https://www.aidma-hd.jp/case/zirei-241/</a:t>
            </a:r>
            <a:endParaRPr lang="en-US" sz="950" dirty="0"/>
          </a:p>
        </p:txBody>
      </p:sp>
      <p:sp>
        <p:nvSpPr>
          <p:cNvPr id="33" name="Text 31"/>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とびうめランチ様　提案引用実績5選</a:t>
            </a:r>
            <a:endParaRPr lang="en-US" sz="900" dirty="0"/>
          </a:p>
        </p:txBody>
      </p:sp>
      <p:sp>
        <p:nvSpPr>
          <p:cNvPr id="34" name="Text 32"/>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調理・配達で多忙でも新規商談を獲得。営業リサーチ・初期打診を外部化</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株式会社オジキ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飲食店運営、給食・フードサービス、食品企画・提供。</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2615692"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261569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現場が店舗運営・調理・配達に追われる</a:t>
            </a:r>
            <a:endParaRPr lang="en-US" sz="950" dirty="0"/>
          </a:p>
        </p:txBody>
      </p:sp>
      <p:sp>
        <p:nvSpPr>
          <p:cNvPr id="13" name="Shape 11"/>
          <p:cNvSpPr/>
          <p:nvPr/>
        </p:nvSpPr>
        <p:spPr>
          <a:xfrm>
            <a:off x="585216" y="4407408"/>
            <a:ext cx="287629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法人向け新規アプローチの人的リソース不足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飲食・フードサービス事業を展開。仕入れや仕込み、顧客対応で多忙を極める中、アイドマの支援でアプローチプロセスを自動化。自社に営業専任者を雇うリスク（人件費固定化）を一切負うことなく、効率的にBtoBの商談・問合せを獲得できる体制を整え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ママワークス・営業支援（Crowd Members/Sales Platform）を導入し、営業リサーチや初期アプローチを外部化。社内スタッフの営業負荷を激減させ、現場の生産性向上と新規商談獲得の両立を達成した。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とびうめランチ様のように「厨房での調理や配達実務で1日が終わってしまい、新規営業に動く時間がない」というフード事業者の構造的課題を解決する実例です。営業支援ユニットがバックで「新規法人への定期弁当導入のご案内」を大量かつ正確に打診するため、とびうめランチ様は調理と配達のクオリティ維持に100%専念したまま、毎月新たな法人顧客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飲食・フード業界では現場実務に追われがちですが、外部の力（在宅ワーカーや営業支援）を仕事を進めるための『力』として取り入れることで、驚くほど風通しの良い高生産性組織へ生まれ変わ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https://www.aidma-hd.jp/case/zirei-290/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とびうめランチ様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営業マンなしで直契約を連続獲得。下請け依存から脱却し収益性を改善</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豊田運送有限会社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一般貨物自動車運送事業、定期配送・物流ソリューション。</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235508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235508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多重下請け・下請け依存からの脱却</a:t>
            </a:r>
            <a:endParaRPr lang="en-US" sz="950" dirty="0"/>
          </a:p>
        </p:txBody>
      </p:sp>
      <p:sp>
        <p:nvSpPr>
          <p:cNvPr id="13" name="Shape 11"/>
          <p:cNvSpPr/>
          <p:nvPr/>
        </p:nvSpPr>
        <p:spPr>
          <a:xfrm>
            <a:off x="585216" y="4407408"/>
            <a:ext cx="326720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326720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営業専任不在で直契約の開拓ノウハウ・体制がない</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専任営業がいない小規模配送会社。アイドマのシステムとアプローチ代行を活用し、配送ニーズを持つ企業へダイレクトに提案。質の高い商談のみを経営陣が担当することで、自社に営業部隊がなくても直契約案件を連続獲得できる仕組み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Platform」を導入し、自前で営業マンを置くことなく直接取引（直契約）の新規開拓に成功。適正価格での受注を獲得し、売上UPと収益性の劇的な改善を達成した。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とびうめランチ様の「日替わり弁当の定期配送・会議用御膳の配達」という配送網を活かしたBtoB直契約の開拓にベストマッチします。仲介や代理店を介さず、営業支援ユニットを通じて自社の配送エリア内にある企業総務へ直接アプローチし、「福利厚生・社食用のお弁当定期配送（直契約）」を獲得することで、高い利益率と安定したストック収入を確立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「営業担当者が自社にいなくても、仕組み（Sales Platform）を使えば直接お客様を開拓できます。下請けや既存任せをやめ、直接取引を開拓することが利益率向上の近道です。」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https://www.aidma-hd.jp/case/zirei-505/</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とびうめランチ様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オフィス・法人向け定期提供のBtoB開拓。総務・決裁者へ効果的にアタック</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64008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シーシーエスコーヒー株式会社　様</a:t>
            </a:r>
            <a:endParaRPr lang="en-US" sz="1300" dirty="0"/>
          </a:p>
        </p:txBody>
      </p:sp>
      <p:sp>
        <p:nvSpPr>
          <p:cNvPr id="8" name="Text 6"/>
          <p:cNvSpPr/>
          <p:nvPr/>
        </p:nvSpPr>
        <p:spPr>
          <a:xfrm>
            <a:off x="585216" y="237744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596896"/>
            <a:ext cx="3127248" cy="114300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レギュラーコーヒーの製造・販売、オフィス向けコーヒー・飲料サービス、飲食店・法人向けフード＆ドリンクソリューション。</a:t>
            </a:r>
            <a:endParaRPr lang="en-US" sz="950" dirty="0"/>
          </a:p>
        </p:txBody>
      </p:sp>
      <p:sp>
        <p:nvSpPr>
          <p:cNvPr id="10" name="Text 8"/>
          <p:cNvSpPr/>
          <p:nvPr/>
        </p:nvSpPr>
        <p:spPr>
          <a:xfrm>
            <a:off x="585216" y="3785616"/>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059936"/>
            <a:ext cx="157327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059936"/>
            <a:ext cx="157327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既存取引先営業が中心</a:t>
            </a:r>
            <a:endParaRPr lang="en-US" sz="950" dirty="0"/>
          </a:p>
        </p:txBody>
      </p:sp>
      <p:sp>
        <p:nvSpPr>
          <p:cNvPr id="13" name="Shape 11"/>
          <p:cNvSpPr/>
          <p:nvPr/>
        </p:nvSpPr>
        <p:spPr>
          <a:xfrm>
            <a:off x="585216" y="4407408"/>
            <a:ext cx="4338574"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407408"/>
            <a:ext cx="4338574"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オフィス・法人向け（BtoB）新規契約の能動獲得手段・リソース不足</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歴史ある飲料・フードソリューション企業。オフィス向けサービス拡大のため導入。自社で新規営業担当を新規採用・教育するコストをかけず、営業支援の仕組みを通じて効率的にターゲット企業の総務・決裁者へアタックし、新規契約を量産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アイドマの支援（Crowd Members/Sales Platform）を活用し、専門スキルを持つ外部チームと連携してターゲット法人へアプローチ。オフィス向けサービスの新規獲得効率を向上させ、業績改善と新規契約の連続獲得を実現した。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オフィス・法人向けに定期的に商品（コーヒー・お弁当）を提供するビジネスモデルにおいて、最もしつこくなく効果的なBtoBアプローチ手法を示す事例です。法人向け日替わり弁当や会議・法事用仕出し弁当の魅力を、営業支援ユニットで近隣企業へトータル提案し、定期配送契約や会議用御膳の定期発注口を確実に確保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内に営業ノウハウや人的リソースが足りなくても、専門性の高い外部の仕組みを活用することで、自社商品の価値をターゲット企業へ正確に届け、短期間で業績改善・新規契約拡大を成し遂げ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https://www.aidma-hd.jp/case/zirei-51/</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とびうめランチ様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まとめ ─ 食品・弁当・フードサービス：口コミ/下請け依存 → 法人直契約の自動開拓（Before → After）</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194560"/>
                <a:gridCol w="1783080"/>
                <a:gridCol w="2697480"/>
                <a:gridCol w="2221992"/>
                <a:gridCol w="256032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日商デリカ株式会社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食品・惣菜・弁当製造</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BtoB販路開拓の営業リソース・人員不足／重要な新規営業に集中できない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Crowd Members／営業支援（リサーチ・初期アプローチを外部化）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現場負担を大幅削減、重要度の高い営業・事業拡大へリソースを集中</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山口製麺有限会社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麺・食品製造／定期配送</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ルート配送・紹介依存／新市場開拓・能動的な営業組織の構築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在宅ワーカー＋営業支援（法人リスト抽出〜初期アプローチを自動化）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自社に閉じない柔軟な営業組織を立ち上げ、新規案件獲得と売上UPを実現</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株式会社オジキ</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飲食・給食・フードサービス</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現場が店舗運営・調理・配達に追われ、法人向け新規アプローチの人的リソース不足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ママワークス＋Sales Platform（リサーチ・初期アプローチを外部化）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営業負荷を激減、現場の生産性向上と新規商談獲得を両立</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豊田運送有限会社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運送・定期配送</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多重下請け・下請け依存／営業専任不在で直契約の開拓ノウハウ・体制がない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Platform（配送ニーズ企業へ直接提案・アプローチ代行）</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営業マンなしで直契約の新規開拓に成功、適正価格での受注で収益性を改善</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シーシーエスコーヒー株式会社</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法人向けドリンク/フード</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既存取引先営業が中心／オフィス・法人向け新規契約の能動獲得手段・リソース不足</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Crowd Members＋Sales Platform（外部チームと連携し法人へアプローチ）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オフィス向けサービスの新規獲得効率が向上、業績改善と新規契約を連続獲得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調理や配送の現場で手一杯でも、営業支援ユニットで法人ターゲットへ自動アプローチし、口コミ・下請け依存から脱却して法人直契約・定期配送ルートを能動的に獲得できることを示す実績です。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2026-09-29T09:18:19Z</dcterms:created>
  <dcterms:modified xsi:type="dcterms:W3CDTF">2026-09-29T09:18:19Z</dcterms:modified>
</cp:coreProperties>
</file>