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456/"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524/"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76/"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425/"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34/"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 × 塗料販売・塗装施工／遮熱塗料</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株式会社technicalseed様</a:t>
            </a:r>
            <a:endParaRPr lang="en-US" sz="34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提案引用実績 5選</a:t>
            </a:r>
            <a:endParaRPr lang="en-US" sz="3400" dirty="0"/>
          </a:p>
        </p:txBody>
      </p:sp>
      <p:sp>
        <p:nvSpPr>
          <p:cNvPr id="7" name="Text 5"/>
          <p:cNvSpPr/>
          <p:nvPr/>
        </p:nvSpPr>
        <p:spPr>
          <a:xfrm>
            <a:off x="822960" y="3474720"/>
            <a:ext cx="10149840" cy="1188720"/>
          </a:xfrm>
          <a:prstGeom prst="rect">
            <a:avLst/>
          </a:prstGeom>
          <a:noFill/>
          <a:ln/>
        </p:spPr>
        <p:txBody>
          <a:bodyPr wrap="square" rtlCol="0" anchor="ctr"/>
          <a:lstStyle/>
          <a:p>
            <a:pPr indent="0" marL="0">
              <a:lnSpc>
                <a:spcPct val="124000"/>
              </a:lnSpc>
              <a:buNone/>
            </a:pPr>
            <a:r>
              <a:rPr lang="en-US" sz="1250" dirty="0">
                <a:solidFill>
                  <a:srgbClr val="DDE8F6"/>
                </a:solidFill>
                <a:latin typeface="Meiryo" pitchFamily="34" charset="0"/>
                <a:ea typeface="Meiryo" pitchFamily="34" charset="-122"/>
                <a:cs typeface="Meiryo" pitchFamily="34" charset="-120"/>
              </a:rPr>
              <a:t>株式会社technicalseed様（遮熱塗料の販売・塗装事業／課題：営業リソース不足・HPなし）と同じ塗料・塗装施工業界で、「現場多忙による営業リソース不足」「自社営業マン不在・紹介頼みからの脱却」「高付加価値な塗料・直請け施工案件の能動的獲得」を解決した実績を5件厳選しました。</a:t>
            </a:r>
            <a:endParaRPr lang="en-US" sz="125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50" b="1" dirty="0">
                <a:solidFill>
                  <a:srgbClr val="CADCFC"/>
                </a:solidFill>
                <a:latin typeface="Meiryo" pitchFamily="34" charset="0"/>
                <a:ea typeface="Meiryo" pitchFamily="34" charset="-122"/>
                <a:cs typeface="Meiryo" pitchFamily="34" charset="-120"/>
              </a:rPr>
              <a:t>提案の狙い　</a:t>
            </a:r>
            <a:pPr indent="0" marL="0">
              <a:buNone/>
            </a:pPr>
            <a:r>
              <a:rPr lang="en-US" sz="1050" dirty="0">
                <a:solidFill>
                  <a:srgbClr val="C9D8ED"/>
                </a:solidFill>
                <a:latin typeface="Meiryo" pitchFamily="34" charset="0"/>
                <a:ea typeface="Meiryo" pitchFamily="34" charset="-122"/>
                <a:cs typeface="Meiryo" pitchFamily="34" charset="-120"/>
              </a:rPr>
              <a:t>現場に専念したまま遮熱塗料・直請け施工案件を能動獲得／紹介頼みから脱却／工場・倉庫・ビル等の法人開拓を自動化</a:t>
            </a:r>
            <a:endParaRPr lang="en-US" sz="105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Platform・セールスユニット・秘書ユニット連携）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職人出身代表でも営業・事務を同時強化。中間マージンを抑えた直請け・遮熱塗料提案の体制を構築</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株式会社塗巧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建築塗装、橋梁塗装、壁紙塗装、遮熱塗料を活用した施工・インフラ設備保護。</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74599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74599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職人出身の代表で営業・事務リソース不足</a:t>
            </a:r>
            <a:endParaRPr lang="en-US" sz="950" dirty="0"/>
          </a:p>
        </p:txBody>
      </p:sp>
      <p:sp>
        <p:nvSpPr>
          <p:cNvPr id="13" name="Shape 11"/>
          <p:cNvSpPr/>
          <p:nvPr/>
        </p:nvSpPr>
        <p:spPr>
          <a:xfrm>
            <a:off x="585216" y="4553712"/>
            <a:ext cx="378841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78841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ゼネコン頼みから高単価な元請け（直接施工）へ移行できず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新潟県を拠点に遮熱塗料（電気代20〜30%削減提案）やインフラ改修塗装を手がける施工店。職人出身の代表が現場と事務作業に追われる中、アイドマの支援により営業とバックオフィスを同時強化し、高単価な元請け直接受注を目指す体制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Platform」と「秘書ユニット」を導入し、営業アプローチと事務作業を同時強化。中間マージンを抑えた適正価格での直請け施工・遮熱塗料提案の商談獲得体制を構築した。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株式会社technicalseed様と「遮熱塗料の販売・塗装事業」という事業内容が100%一致する最高の同業事例です。営業リソース不足の中で、ゼネコンや代理店を挟まない直請けアプローチを営業支援ユニットで自動化し、遮熱塗料の強み（省エネ・電気代削減効果）を工場や倉庫、オフィスビルなどの法人へダイレクト提案して優良案件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「職人が技術に集中しながら、営業や事務の仕組みを外部と連携して作ることで、中間マージンを排除した高利益率な直接受注を実現できます。」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https://www.aidma-hd.jp/case/zirei-456/</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株式会社technicalseed様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営業専任ゼロの現場主義でも紹介頼みから脱却。能動的な商談獲得と自走型営業体制を構築</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ミヤサト塗装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外壁塗装、屋根塗装、防水工事、遮熱・外部リフォーム全般。</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78841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78841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職人出身の代表・少人数体制で営業リソース・ノウハウなし</a:t>
            </a:r>
            <a:endParaRPr lang="en-US" sz="950" dirty="0"/>
          </a:p>
        </p:txBody>
      </p:sp>
      <p:sp>
        <p:nvSpPr>
          <p:cNvPr id="13" name="Shape 11"/>
          <p:cNvSpPr/>
          <p:nvPr/>
        </p:nvSpPr>
        <p:spPr>
          <a:xfrm>
            <a:off x="585216" y="4553712"/>
            <a:ext cx="261569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61569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紹介メインで新規開拓の仕組みが未整備</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兵庫県で住宅・建物の塗装を手がける専門施工業者。4名体制で現場作業に追われる中、新規開拓を自動化。アイドマの営業支援とセールスユニットにより、初期アプローチから商談設定までを任せ、職人の労働環境改善と事業成長を両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Platform」「クラプロ」「セールスユニット」の導入により、紹介頼みから脱却し、能動的な商談獲得と利益率向上に向けた自走型営業体制を構築した。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塗装事業特有の「現場仕事で多忙を極め、営業に動くリソースがない」という構造的課題を直接解決する事例です。営業支援ユニットがアプローチとアポイント獲得を代行するため、technicalseed様は現場施工と技術提供に100%専念したまま、質の高い新規商談を毎月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「営業専任がいない現場主義の塗装会社でも、外部の営業仕組みとプロチームを活用することで、紹介に頼らず能動的に案件を獲得できるようになります。」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https://www.aidma-hd.jp/case/zirei-524/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株式会社technicalseed様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知名度ゼロの高機能特殊塗料でも営業を外部化。認知拡大とBtoB営業基盤を確立</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株式会社スマートペイント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高機能・高耐久塗膜塗装剤「ポリウレア」および各種塗料の販売・塗装施工・広報ノウハウ開発。</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26720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26720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特殊塗装の知見はあるが営業・広報ノウハウが皆無</a:t>
            </a:r>
            <a:endParaRPr lang="en-US" sz="950" dirty="0"/>
          </a:p>
        </p:txBody>
      </p:sp>
      <p:sp>
        <p:nvSpPr>
          <p:cNvPr id="13" name="Shape 11"/>
          <p:cNvSpPr/>
          <p:nvPr/>
        </p:nvSpPr>
        <p:spPr>
          <a:xfrm>
            <a:off x="585216" y="4553712"/>
            <a:ext cx="339750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39750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日本で知られていない製品のアプローチリソース不足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米軍開発の高耐久塗膜塗装剤「ポリウレア」の国内普及を目指し設立。知名度のない特殊塗料を普及させるため、営業支援ユニットを活用。アプローチのテストマーケティングとアポ獲得を推進し、塗料の強みを訴求するBtoB営業基盤を完成させ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Platform」を導入し、テレアポ・BtoBアプローチを活用して特殊塗料の認知拡大と効率的な営業・広報ノウハウの確立に成功した。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technicalseed様が扱う「遮熱塗料」という高機能塗料のBtoB販売拡大にダイレクトに役立つ事例です。自社HPがない状態であっても、遮熱塗料の機能性や費用対効果（省エネ効果）を伝えるアプローチトークを営業支援ユニットで自動展開し、工場・倉庫・店舗などの法人顧客へスピーディーに営業・販売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「優れた機能を持つ特殊塗料や製品であっても、自社の営業リソースだけで広めるには限界があります。営業の仕組みを外部化して一気にターゲットへ打診することが成功の近道です。」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https://www.aidma-hd.jp/case/zirei-76/</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株式会社technicalseed様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創業80年の施工会社が法人（工場・ビル）開拓を仕組み化。計画的に大口商談を創出</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株式会社荒木塗装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外壁塗装、屋根塗装、防水工事、工場・倉庫・ビルの大規模改修塗装工事。</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09448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09448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営業人材・リソースが限られる</a:t>
            </a:r>
            <a:endParaRPr lang="en-US" sz="950" dirty="0"/>
          </a:p>
        </p:txBody>
      </p:sp>
      <p:sp>
        <p:nvSpPr>
          <p:cNvPr id="13" name="Shape 11"/>
          <p:cNvSpPr/>
          <p:nvPr/>
        </p:nvSpPr>
        <p:spPr>
          <a:xfrm>
            <a:off x="585216" y="4553712"/>
            <a:ext cx="417931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417931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自社のみでは法人（工場・ビルオーナー）新規開拓に時間を割けず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山口県で創業80年の歴史を持つ塗装・改修工事の専門企業。一般住宅から工場・倉庫・ビルまで手がけるが、営業リソース不足から法人開拓が課題だった。Sales Platformの導入により、法人ターゲットへのアプローチを可視化・仕組み化し、効率的な新規開拓を実現した。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Platform」を導入し、ターゲット設定や営業の判断軸が整理され、法人向け新規企業開拓への明確な道筋と継続的な商談機会を獲得した。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工場や倉庫、オフィスビル等の法人案件（遮熱塗料のニーズが特に高い大型物件）をターゲットにする際のロールモデルです。営業支援ユニットを通じて「屋根・外壁の暑さ対策・電気代削減のための遮熱塗装」に関心のある法人決裁者へダイレクトに打診し、営業リソースを一切かけずに法人商談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「自社に営業専任がいなくても、プロのデータベースとアプローチ仕組みを活用することで、法人・工場などの大口顧客との新規商談を計画的に作り出すことができます。」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https://www.aidma-hd.jp/case/zirei-425/</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株式会社technicalseed様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塗料販売＋施工の企業が1年4ヶ月で売上1,500万円増。データ駆動型の自走営業組織へ</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インテック日塗株式会社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各種塗料販売、各種塗装（自動ライン塗装・工場塗装・建築塗装）、各種メンテナンス塗装。</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48539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48539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自社内での新規営業アプローチの限界</a:t>
            </a:r>
            <a:endParaRPr lang="en-US" sz="950" dirty="0"/>
          </a:p>
        </p:txBody>
      </p:sp>
      <p:sp>
        <p:nvSpPr>
          <p:cNvPr id="13" name="Shape 11"/>
          <p:cNvSpPr/>
          <p:nvPr/>
        </p:nvSpPr>
        <p:spPr>
          <a:xfrm>
            <a:off x="585216" y="4553712"/>
            <a:ext cx="391871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91871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営業の仕組み・ノウハウが属人化しリソースを有効活用できず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塗料販売と塗装施工の両方を手がける専門企業。新規営業のリソース不足とノウハウ欠如を解決するため導入。トークスクリプトの調整や進捗データの可視化により、未経験者でも再現性高く営業できる「自走型の営業組織」へ生まれ変わっ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Platform」を活用した営業変革により、新規開拓だけでなく既存客へのアプローチも再構築。1年4ヶ月で売上1,500万円増を達成し、データ駆動型のDX営業体制を確立した。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塗料販売と塗装施工」を展開する企業が、営業支援ユニットを導入して売上1,500万円増を実現した決定的な成功事例です。自社HPや営業リソースがない状態からでも、標準化されたアプローチ仕組みを取り入れることで、遮熱塗料の販売と施工案件を安定して増やすことが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「自社だけで悩まず、蓄積された営業データとノウハウを活用することが大切です。10年後の企業の成長を見据え、デジタル営業の仕組みを取り入れることで大きな成果が得られます。」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https://www.aidma-hd.jp/case/zirei-34/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株式会社technicalseed様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まとめ ─ 塗料・塗装業界：現場多忙/紹介依存 → 遮熱塗料・直請け施工の案件を自動獲得（Before → After）</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株式会社塗巧</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建築・橋梁塗装／遮熱塗料</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職人出身代表で営業・事務リソース不足／ゼネコン頼みで元請け直請けへ移行できず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Platform＋秘書ユニット（営業アプローチと事務を同時強化）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中間マージンを抑えた直請け施工・遮熱塗料提案の商談獲得体制を構築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ミヤサト塗装</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外壁・屋根塗装／防水・遮熱</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少人数・営業ノウハウなし／紹介メインで新規開拓の仕組みが未整備</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Platform・クラプロ・セールスユニット（初期アプローチ〜商談設定を代行）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紹介頼みから脱却、能動的な商談獲得と自走型営業体制を構築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株式会社スマートペイント</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特殊塗料「ポリウレア」販売・施工</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特殊塗料の知見はあるが営業・広報ノウハウ・アプローチリソースが皆無</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Platform（テレアポ・BtoBアプローチでテストマーケ＆アポ獲得）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特殊塗料の認知拡大と効率的な営業・広報ノウハウを確立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株式会社荒木塗装</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工場・倉庫・ビル大規模改修塗装</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営業人材・リソースが限られ、法人（工場・ビル）新規開拓に時間を割けず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Platform（法人ターゲットへのアプローチを可視化・仕組み化）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法人向け新規開拓の明確な道筋と継続的な商談機会を獲得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インテック日塗株式会社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塗料販売＋各種塗装（ライン・工場・建築）</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自社内での新規営業アプローチの限界／営業ノウハウが属人化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Platform（トークスクリプト調整・進捗データ可視化で営業変革）</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1年4ヶ月で売上1,500万円増、データ駆動型の自走営業組織を確立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50" b="1" dirty="0">
                <a:solidFill>
                  <a:srgbClr val="16407A"/>
                </a:solidFill>
                <a:latin typeface="Meiryo" pitchFamily="34" charset="0"/>
                <a:ea typeface="Meiryo" pitchFamily="34" charset="-122"/>
                <a:cs typeface="Meiryo" pitchFamily="34" charset="-120"/>
              </a:rPr>
              <a:t>現場施工・技術提供に専念したまま、自社の稼働を消費せずに営業支援ユニットで遮熱塗料のBtoB販売・直請け施工・法人（工場/倉庫/ビル）案件を能動的に獲得できることを示す、塗料・塗装業界の実績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2026-10-04T04:51:19Z</dcterms:created>
  <dcterms:modified xsi:type="dcterms:W3CDTF">2026-10-04T04:51:19Z</dcterms:modified>
</cp:coreProperties>
</file>