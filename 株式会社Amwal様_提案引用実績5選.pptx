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www.aidma-hd.jp/case/zirei-132/" TargetMode="External"/><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www.aidma-hd.jp/case/zirei-486/" TargetMode="Externa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www.aidma-hd.jp/case/zirei-517/" TargetMode="Externa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www.aidma-hd.jp/case/zirei-414/" TargetMode="Externa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www.aidma-hd.jp/case/zirei-130/" TargetMode="Externa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F5C"/>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F2F5C"/>
          </a:solidFill>
          <a:ln/>
        </p:spPr>
      </p:sp>
      <p:sp>
        <p:nvSpPr>
          <p:cNvPr id="3" name="Shape 1"/>
          <p:cNvSpPr/>
          <p:nvPr/>
        </p:nvSpPr>
        <p:spPr>
          <a:xfrm>
            <a:off x="9326880" y="-2011680"/>
            <a:ext cx="5029200" cy="5029200"/>
          </a:xfrm>
          <a:prstGeom prst="ellipse">
            <a:avLst/>
          </a:prstGeom>
          <a:solidFill>
            <a:srgbClr val="FFFFFF">
              <a:alpha val="8000"/>
            </a:srgbClr>
          </a:solidFill>
          <a:ln/>
        </p:spPr>
      </p:sp>
      <p:sp>
        <p:nvSpPr>
          <p:cNvPr id="4" name="Shape 2"/>
          <p:cNvSpPr/>
          <p:nvPr/>
        </p:nvSpPr>
        <p:spPr>
          <a:xfrm>
            <a:off x="8595360" y="4023360"/>
            <a:ext cx="3840480" cy="3840480"/>
          </a:xfrm>
          <a:prstGeom prst="ellipse">
            <a:avLst/>
          </a:prstGeom>
          <a:solidFill>
            <a:srgbClr val="FFFFFF">
              <a:alpha val="6000"/>
            </a:srgbClr>
          </a:solidFill>
          <a:ln/>
        </p:spPr>
      </p:sp>
      <p:sp>
        <p:nvSpPr>
          <p:cNvPr id="5" name="Text 3"/>
          <p:cNvSpPr/>
          <p:nvPr/>
        </p:nvSpPr>
        <p:spPr>
          <a:xfrm>
            <a:off x="822960" y="1188720"/>
            <a:ext cx="10607040" cy="365760"/>
          </a:xfrm>
          <a:prstGeom prst="rect">
            <a:avLst/>
          </a:prstGeom>
          <a:noFill/>
          <a:ln/>
        </p:spPr>
        <p:txBody>
          <a:bodyPr wrap="square" rtlCol="0" anchor="ctr"/>
          <a:lstStyle/>
          <a:p>
            <a:pPr indent="0" marL="0">
              <a:buNone/>
            </a:pPr>
            <a:r>
              <a:rPr lang="en-US" sz="1200" b="1" spc="100" kern="0" dirty="0">
                <a:solidFill>
                  <a:srgbClr val="CADCFC"/>
                </a:solidFill>
                <a:latin typeface="Meiryo" pitchFamily="34" charset="0"/>
                <a:ea typeface="Meiryo" pitchFamily="34" charset="-122"/>
                <a:cs typeface="Meiryo" pitchFamily="34" charset="-120"/>
              </a:rPr>
              <a:t>CASE STUDIES ─ 営業支援ユニット × システム開発・受託開発</a:t>
            </a:r>
            <a:endParaRPr lang="en-US" sz="1200" dirty="0"/>
          </a:p>
        </p:txBody>
      </p:sp>
      <p:sp>
        <p:nvSpPr>
          <p:cNvPr id="6" name="Text 4"/>
          <p:cNvSpPr/>
          <p:nvPr/>
        </p:nvSpPr>
        <p:spPr>
          <a:xfrm>
            <a:off x="822960" y="1627632"/>
            <a:ext cx="10789920" cy="1737360"/>
          </a:xfrm>
          <a:prstGeom prst="rect">
            <a:avLst/>
          </a:prstGeom>
          <a:noFill/>
          <a:ln/>
        </p:spPr>
        <p:txBody>
          <a:bodyPr wrap="square" rtlCol="0" anchor="ctr"/>
          <a:lstStyle/>
          <a:p>
            <a:pPr indent="0" marL="0">
              <a:lnSpc>
                <a:spcPct val="110000"/>
              </a:lnSpc>
              <a:buNone/>
            </a:pPr>
            <a:r>
              <a:rPr lang="en-US" sz="3400" b="1" dirty="0">
                <a:solidFill>
                  <a:srgbClr val="FFFFFF"/>
                </a:solidFill>
                <a:latin typeface="Meiryo" pitchFamily="34" charset="0"/>
                <a:ea typeface="Meiryo" pitchFamily="34" charset="-122"/>
                <a:cs typeface="Meiryo" pitchFamily="34" charset="-120"/>
              </a:rPr>
              <a:t>株式会社Amwal様</a:t>
            </a:r>
            <a:endParaRPr lang="en-US" sz="3400" dirty="0"/>
          </a:p>
          <a:p>
            <a:pPr indent="0" marL="0">
              <a:lnSpc>
                <a:spcPct val="110000"/>
              </a:lnSpc>
              <a:buNone/>
            </a:pPr>
            <a:r>
              <a:rPr lang="en-US" sz="3200" b="1" dirty="0">
                <a:solidFill>
                  <a:srgbClr val="FFFFFF"/>
                </a:solidFill>
                <a:latin typeface="Meiryo" pitchFamily="34" charset="0"/>
                <a:ea typeface="Meiryo" pitchFamily="34" charset="-122"/>
                <a:cs typeface="Meiryo" pitchFamily="34" charset="-120"/>
              </a:rPr>
              <a:t>提案引用実績 5選</a:t>
            </a:r>
            <a:endParaRPr lang="en-US" sz="3400" dirty="0"/>
          </a:p>
        </p:txBody>
      </p:sp>
      <p:sp>
        <p:nvSpPr>
          <p:cNvPr id="7" name="Text 5"/>
          <p:cNvSpPr/>
          <p:nvPr/>
        </p:nvSpPr>
        <p:spPr>
          <a:xfrm>
            <a:off x="822960" y="3401568"/>
            <a:ext cx="10241280" cy="1280160"/>
          </a:xfrm>
          <a:prstGeom prst="rect">
            <a:avLst/>
          </a:prstGeom>
          <a:noFill/>
          <a:ln/>
        </p:spPr>
        <p:txBody>
          <a:bodyPr wrap="square" rtlCol="0" anchor="ctr"/>
          <a:lstStyle/>
          <a:p>
            <a:pPr indent="0" marL="0">
              <a:lnSpc>
                <a:spcPct val="120000"/>
              </a:lnSpc>
              <a:buNone/>
            </a:pPr>
            <a:r>
              <a:rPr lang="en-US" sz="1150" dirty="0">
                <a:solidFill>
                  <a:srgbClr val="DDE8F6"/>
                </a:solidFill>
                <a:latin typeface="Meiryo" pitchFamily="34" charset="0"/>
                <a:ea typeface="Meiryo" pitchFamily="34" charset="-122"/>
                <a:cs typeface="Meiryo" pitchFamily="34" charset="-120"/>
              </a:rPr>
              <a:t>株式会社Amwal様（システム開発／課題：新規BtoB営業・開発実務集中による営業体制不在・直請け受託開発案件の獲得）と同じシステム開発・受託開発業界で、「開発実務で手一杯の中での営業自動化」「高額な営業マンを自前で雇わないコスト最小化」「下請け依存・紹介頼みから脱却した直請けシステム開発案件の継続獲得」を解決した実績を5件厳選しました。</a:t>
            </a:r>
            <a:endParaRPr lang="en-US" sz="1150" dirty="0"/>
          </a:p>
        </p:txBody>
      </p:sp>
      <p:sp>
        <p:nvSpPr>
          <p:cNvPr id="8" name="Shape 6"/>
          <p:cNvSpPr/>
          <p:nvPr/>
        </p:nvSpPr>
        <p:spPr>
          <a:xfrm>
            <a:off x="822960" y="5074920"/>
            <a:ext cx="10515600" cy="0"/>
          </a:xfrm>
          <a:prstGeom prst="line">
            <a:avLst/>
          </a:prstGeom>
          <a:noFill/>
          <a:ln w="12700">
            <a:solidFill>
              <a:srgbClr val="3A5A87"/>
            </a:solidFill>
            <a:prstDash val="solid"/>
          </a:ln>
        </p:spPr>
      </p:sp>
      <p:sp>
        <p:nvSpPr>
          <p:cNvPr id="9" name="Text 7"/>
          <p:cNvSpPr/>
          <p:nvPr/>
        </p:nvSpPr>
        <p:spPr>
          <a:xfrm>
            <a:off x="822960" y="5230368"/>
            <a:ext cx="10607040" cy="320040"/>
          </a:xfrm>
          <a:prstGeom prst="rect">
            <a:avLst/>
          </a:prstGeom>
          <a:noFill/>
          <a:ln/>
        </p:spPr>
        <p:txBody>
          <a:bodyPr wrap="square" rtlCol="0" anchor="ctr"/>
          <a:lstStyle/>
          <a:p>
            <a:pPr indent="0" marL="0">
              <a:buNone/>
            </a:pPr>
            <a:r>
              <a:rPr lang="en-US" sz="1000" b="1" dirty="0">
                <a:solidFill>
                  <a:srgbClr val="CADCFC"/>
                </a:solidFill>
                <a:latin typeface="Meiryo" pitchFamily="34" charset="0"/>
                <a:ea typeface="Meiryo" pitchFamily="34" charset="-122"/>
                <a:cs typeface="Meiryo" pitchFamily="34" charset="-120"/>
              </a:rPr>
              <a:t>提案の狙い　</a:t>
            </a:r>
            <a:pPr indent="0" marL="0">
              <a:buNone/>
            </a:pPr>
            <a:r>
              <a:rPr lang="en-US" sz="1000" dirty="0">
                <a:solidFill>
                  <a:srgbClr val="C9D8ED"/>
                </a:solidFill>
                <a:latin typeface="Meiryo" pitchFamily="34" charset="0"/>
                <a:ea typeface="Meiryo" pitchFamily="34" charset="-122"/>
                <a:cs typeface="Meiryo" pitchFamily="34" charset="-120"/>
              </a:rPr>
              <a:t>開発実務に専念したまま直請け受託開発商談を能動獲得／高額な営業マンを雇わずコスト最小化／下請け・紹介依存から脱却した直請け案件の継続獲得</a:t>
            </a:r>
            <a:endParaRPr lang="en-US" sz="1000" dirty="0"/>
          </a:p>
        </p:txBody>
      </p:sp>
      <p:sp>
        <p:nvSpPr>
          <p:cNvPr id="10" name="Text 8"/>
          <p:cNvSpPr/>
          <p:nvPr/>
        </p:nvSpPr>
        <p:spPr>
          <a:xfrm>
            <a:off x="822960" y="5577840"/>
            <a:ext cx="10607040" cy="320040"/>
          </a:xfrm>
          <a:prstGeom prst="rect">
            <a:avLst/>
          </a:prstGeom>
          <a:noFill/>
          <a:ln/>
        </p:spPr>
        <p:txBody>
          <a:bodyPr wrap="square" rtlCol="0" anchor="ctr"/>
          <a:lstStyle/>
          <a:p>
            <a:pPr indent="0" marL="0">
              <a:buNone/>
            </a:pPr>
            <a:r>
              <a:rPr lang="en-US" sz="1100" b="1" dirty="0">
                <a:solidFill>
                  <a:srgbClr val="CADCFC"/>
                </a:solidFill>
                <a:latin typeface="Meiryo" pitchFamily="34" charset="0"/>
                <a:ea typeface="Meiryo" pitchFamily="34" charset="-122"/>
                <a:cs typeface="Meiryo" pitchFamily="34" charset="-120"/>
              </a:rPr>
              <a:t>提供サービス　</a:t>
            </a:r>
            <a:pPr indent="0" marL="0">
              <a:buNone/>
            </a:pPr>
            <a:r>
              <a:rPr lang="en-US" sz="1100" dirty="0">
                <a:solidFill>
                  <a:srgbClr val="C9D8ED"/>
                </a:solidFill>
                <a:latin typeface="Meiryo" pitchFamily="34" charset="0"/>
                <a:ea typeface="Meiryo" pitchFamily="34" charset="-122"/>
                <a:cs typeface="Meiryo" pitchFamily="34" charset="-120"/>
              </a:rPr>
              <a:t>営業支援ユニット（Sales Platform・セールスユニット連携）</a:t>
            </a:r>
            <a:endParaRPr lang="en-US" sz="1100" dirty="0"/>
          </a:p>
        </p:txBody>
      </p:sp>
      <p:sp>
        <p:nvSpPr>
          <p:cNvPr id="11" name="Text 9"/>
          <p:cNvSpPr/>
          <p:nvPr/>
        </p:nvSpPr>
        <p:spPr>
          <a:xfrm>
            <a:off x="822960" y="6071616"/>
            <a:ext cx="7315200" cy="320040"/>
          </a:xfrm>
          <a:prstGeom prst="rect">
            <a:avLst/>
          </a:prstGeom>
          <a:noFill/>
          <a:ln/>
        </p:spPr>
        <p:txBody>
          <a:bodyPr wrap="square" rtlCol="0" anchor="ctr"/>
          <a:lstStyle/>
          <a:p>
            <a:pPr indent="0" marL="0">
              <a:buNone/>
            </a:pPr>
            <a:r>
              <a:rPr lang="en-US" sz="1100" dirty="0">
                <a:solidFill>
                  <a:srgbClr val="8FA9CC"/>
                </a:solidFill>
                <a:latin typeface="Meiryo" pitchFamily="34" charset="0"/>
                <a:ea typeface="Meiryo" pitchFamily="34" charset="-122"/>
                <a:cs typeface="Meiryo" pitchFamily="34" charset="-120"/>
              </a:rPr>
              <a:t>株式会社アイドマ・ホールディングス</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6FB"/>
        </a:solidFill>
      </p:bgPr>
    </p:bg>
    <p:spTree>
      <p:nvGrpSpPr>
        <p:cNvPr id="1" name=""/>
        <p:cNvGrpSpPr/>
        <p:nvPr/>
      </p:nvGrpSpPr>
      <p:grpSpPr>
        <a:xfrm>
          <a:off x="0" y="0"/>
          <a:ext cx="0" cy="0"/>
          <a:chOff x="0" y="0"/>
          <a:chExt cx="0" cy="0"/>
        </a:xfrm>
      </p:grpSpPr>
      <p:sp>
        <p:nvSpPr>
          <p:cNvPr id="2" name="Shape 0"/>
          <p:cNvSpPr/>
          <p:nvPr/>
        </p:nvSpPr>
        <p:spPr>
          <a:xfrm>
            <a:off x="365760" y="365760"/>
            <a:ext cx="11457432" cy="932688"/>
          </a:xfrm>
          <a:prstGeom prst="roundRect">
            <a:avLst>
              <a:gd name="adj" fmla="val 5882"/>
            </a:avLst>
          </a:prstGeom>
          <a:solidFill>
            <a:srgbClr val="16407A"/>
          </a:solidFill>
          <a:ln/>
          <a:effectLst>
            <a:outerShdw sx="100000" sy="100000" kx="0" ky="0" algn="bl" rotWithShape="0" blurRad="76200" dist="25400" dir="5400000">
              <a:srgbClr val="0F2F5C">
                <a:alpha val="35000"/>
              </a:srgbClr>
            </a:outerShdw>
          </a:effectLst>
        </p:spPr>
      </p:sp>
      <p:sp>
        <p:nvSpPr>
          <p:cNvPr id="3" name="Shape 1"/>
          <p:cNvSpPr/>
          <p:nvPr/>
        </p:nvSpPr>
        <p:spPr>
          <a:xfrm>
            <a:off x="566928" y="566928"/>
            <a:ext cx="530352" cy="530352"/>
          </a:xfrm>
          <a:prstGeom prst="roundRect">
            <a:avLst>
              <a:gd name="adj" fmla="val 13793"/>
            </a:avLst>
          </a:prstGeom>
          <a:solidFill>
            <a:srgbClr val="FFFFFF">
              <a:alpha val="16000"/>
            </a:srgbClr>
          </a:solidFill>
          <a:ln w="12700">
            <a:solidFill>
              <a:srgbClr val="FFFFFF">
                <a:alpha val="40000"/>
              </a:srgbClr>
            </a:solidFill>
            <a:prstDash val="solid"/>
          </a:ln>
        </p:spPr>
      </p:sp>
      <p:sp>
        <p:nvSpPr>
          <p:cNvPr id="4" name="Text 2"/>
          <p:cNvSpPr/>
          <p:nvPr/>
        </p:nvSpPr>
        <p:spPr>
          <a:xfrm>
            <a:off x="566928" y="566928"/>
            <a:ext cx="530352" cy="530352"/>
          </a:xfrm>
          <a:prstGeom prst="rect">
            <a:avLst/>
          </a:prstGeom>
          <a:noFill/>
          <a:ln/>
        </p:spPr>
        <p:txBody>
          <a:bodyPr wrap="square" lIns="0" tIns="0" rIns="0" bIns="0" rtlCol="0" anchor="ctr"/>
          <a:lstStyle/>
          <a:p>
            <a:pPr algn="ctr" indent="0" marL="0">
              <a:buNone/>
            </a:pPr>
            <a:r>
              <a:rPr lang="en-US" sz="2400" b="1" dirty="0">
                <a:solidFill>
                  <a:srgbClr val="FFFFFF"/>
                </a:solidFill>
                <a:latin typeface="Meiryo" pitchFamily="34" charset="0"/>
                <a:ea typeface="Meiryo" pitchFamily="34" charset="-122"/>
                <a:cs typeface="Meiryo" pitchFamily="34" charset="-120"/>
              </a:rPr>
              <a:t>1</a:t>
            </a:r>
            <a:endParaRPr lang="en-US" sz="2400" dirty="0"/>
          </a:p>
        </p:txBody>
      </p:sp>
      <p:sp>
        <p:nvSpPr>
          <p:cNvPr id="5" name="Text 3"/>
          <p:cNvSpPr/>
          <p:nvPr/>
        </p:nvSpPr>
        <p:spPr>
          <a:xfrm>
            <a:off x="1280160" y="420624"/>
            <a:ext cx="10378440" cy="822960"/>
          </a:xfrm>
          <a:prstGeom prst="rect">
            <a:avLst/>
          </a:prstGeom>
          <a:noFill/>
          <a:ln/>
        </p:spPr>
        <p:txBody>
          <a:bodyPr wrap="square" lIns="0" tIns="0" rIns="0" bIns="0" rtlCol="0" anchor="ctr"/>
          <a:lstStyle/>
          <a:p>
            <a:pPr indent="0" marL="0">
              <a:lnSpc>
                <a:spcPct val="105000"/>
              </a:lnSpc>
              <a:buNone/>
            </a:pPr>
            <a:r>
              <a:rPr lang="en-US" sz="1400" b="1" dirty="0">
                <a:solidFill>
                  <a:srgbClr val="FFFFFF"/>
                </a:solidFill>
                <a:latin typeface="Meiryo" pitchFamily="34" charset="0"/>
                <a:ea typeface="Meiryo" pitchFamily="34" charset="-122"/>
                <a:cs typeface="Meiryo" pitchFamily="34" charset="-120"/>
              </a:rPr>
              <a:t>現役エンジニアが営業時間ゼロでも大手・中堅へ直接アプローチ。直請け受託案件を次々開拓</a:t>
            </a:r>
            <a:endParaRPr lang="en-US" sz="1400" dirty="0"/>
          </a:p>
        </p:txBody>
      </p:sp>
      <p:sp>
        <p:nvSpPr>
          <p:cNvPr id="6" name="Shape 4"/>
          <p:cNvSpPr/>
          <p:nvPr/>
        </p:nvSpPr>
        <p:spPr>
          <a:xfrm>
            <a:off x="365760" y="1481328"/>
            <a:ext cx="3566160" cy="5029200"/>
          </a:xfrm>
          <a:prstGeom prst="roundRect">
            <a:avLst>
              <a:gd name="adj" fmla="val 1282"/>
            </a:avLst>
          </a:prstGeom>
          <a:solidFill>
            <a:srgbClr val="EAF1FA"/>
          </a:solidFill>
          <a:ln w="12700">
            <a:solidFill>
              <a:srgbClr val="D2DCEA"/>
            </a:solidFill>
            <a:prstDash val="solid"/>
          </a:ln>
        </p:spPr>
      </p:sp>
      <p:sp>
        <p:nvSpPr>
          <p:cNvPr id="7" name="Text 5"/>
          <p:cNvSpPr/>
          <p:nvPr/>
        </p:nvSpPr>
        <p:spPr>
          <a:xfrm>
            <a:off x="585216" y="1664208"/>
            <a:ext cx="3127248" cy="822960"/>
          </a:xfrm>
          <a:prstGeom prst="rect">
            <a:avLst/>
          </a:prstGeom>
          <a:noFill/>
          <a:ln/>
        </p:spPr>
        <p:txBody>
          <a:bodyPr wrap="square" lIns="0" tIns="0" rIns="0" bIns="0" rtlCol="0" anchor="t"/>
          <a:lstStyle/>
          <a:p>
            <a:pPr indent="0" marL="0">
              <a:lnSpc>
                <a:spcPct val="105000"/>
              </a:lnSpc>
              <a:buNone/>
            </a:pPr>
            <a:r>
              <a:rPr lang="en-US" sz="1300" b="1" dirty="0">
                <a:solidFill>
                  <a:srgbClr val="1C2530"/>
                </a:solidFill>
                <a:latin typeface="Meiryo" pitchFamily="34" charset="0"/>
                <a:ea typeface="Meiryo" pitchFamily="34" charset="-122"/>
                <a:cs typeface="Meiryo" pitchFamily="34" charset="-120"/>
              </a:rPr>
              <a:t>株式会社ゼファクト　様</a:t>
            </a:r>
            <a:endParaRPr lang="en-US" sz="1300" dirty="0"/>
          </a:p>
        </p:txBody>
      </p:sp>
      <p:sp>
        <p:nvSpPr>
          <p:cNvPr id="8" name="Text 6"/>
          <p:cNvSpPr/>
          <p:nvPr/>
        </p:nvSpPr>
        <p:spPr>
          <a:xfrm>
            <a:off x="585216" y="2615184"/>
            <a:ext cx="3127248" cy="219456"/>
          </a:xfrm>
          <a:prstGeom prst="rect">
            <a:avLst/>
          </a:prstGeom>
          <a:noFill/>
          <a:ln/>
        </p:spPr>
        <p:txBody>
          <a:bodyPr wrap="square" lIns="0" tIns="0" rIns="0" bIns="0" rtlCol="0" anchor="ctr"/>
          <a:lstStyle/>
          <a:p>
            <a:pPr indent="0" marL="0">
              <a:buNone/>
            </a:pPr>
            <a:r>
              <a:rPr lang="en-US" sz="950" b="1" spc="100" kern="0" dirty="0">
                <a:solidFill>
                  <a:srgbClr val="2B64AB"/>
                </a:solidFill>
                <a:latin typeface="Meiryo" pitchFamily="34" charset="0"/>
                <a:ea typeface="Meiryo" pitchFamily="34" charset="-122"/>
                <a:cs typeface="Meiryo" pitchFamily="34" charset="-120"/>
              </a:rPr>
              <a:t>事業内容</a:t>
            </a:r>
            <a:endParaRPr lang="en-US" sz="950" dirty="0"/>
          </a:p>
        </p:txBody>
      </p:sp>
      <p:sp>
        <p:nvSpPr>
          <p:cNvPr id="9" name="Text 7"/>
          <p:cNvSpPr/>
          <p:nvPr/>
        </p:nvSpPr>
        <p:spPr>
          <a:xfrm>
            <a:off x="585216" y="2834640"/>
            <a:ext cx="3127248" cy="1051560"/>
          </a:xfrm>
          <a:prstGeom prst="rect">
            <a:avLst/>
          </a:prstGeom>
          <a:noFill/>
          <a:ln/>
        </p:spPr>
        <p:txBody>
          <a:bodyPr wrap="square" lIns="0" tIns="0" rIns="0" bIns="0" rtlCol="0" anchor="ctr"/>
          <a:lstStyle/>
          <a:p>
            <a:pPr indent="0" marL="0">
              <a:lnSpc>
                <a:spcPct val="113000"/>
              </a:lnSpc>
              <a:buNone/>
            </a:pPr>
            <a:r>
              <a:rPr lang="en-US" sz="950" dirty="0">
                <a:solidFill>
                  <a:srgbClr val="45566A"/>
                </a:solidFill>
                <a:latin typeface="Meiryo" pitchFamily="34" charset="0"/>
                <a:ea typeface="Meiryo" pitchFamily="34" charset="-122"/>
                <a:cs typeface="Meiryo" pitchFamily="34" charset="-120"/>
              </a:rPr>
              <a:t>業務システム受託開発、SES技術支援、Webサイト・システム制作。</a:t>
            </a:r>
            <a:endParaRPr lang="en-US" sz="950" dirty="0"/>
          </a:p>
        </p:txBody>
      </p:sp>
      <p:sp>
        <p:nvSpPr>
          <p:cNvPr id="10" name="Text 8"/>
          <p:cNvSpPr/>
          <p:nvPr/>
        </p:nvSpPr>
        <p:spPr>
          <a:xfrm>
            <a:off x="585216" y="3931920"/>
            <a:ext cx="3127248" cy="219456"/>
          </a:xfrm>
          <a:prstGeom prst="rect">
            <a:avLst/>
          </a:prstGeom>
          <a:noFill/>
          <a:ln/>
        </p:spPr>
        <p:txBody>
          <a:bodyPr wrap="square" lIns="0" tIns="0" rIns="0" bIns="0" rtlCol="0" anchor="ctr"/>
          <a:lstStyle/>
          <a:p>
            <a:pPr indent="0" marL="0">
              <a:buNone/>
            </a:pPr>
            <a:r>
              <a:rPr lang="en-US" sz="950" b="1" spc="100" kern="0" dirty="0">
                <a:solidFill>
                  <a:srgbClr val="2B64AB"/>
                </a:solidFill>
                <a:latin typeface="Meiryo" pitchFamily="34" charset="0"/>
                <a:ea typeface="Meiryo" pitchFamily="34" charset="-122"/>
                <a:cs typeface="Meiryo" pitchFamily="34" charset="-120"/>
              </a:rPr>
              <a:t>解決した課題</a:t>
            </a:r>
            <a:endParaRPr lang="en-US" sz="950" dirty="0"/>
          </a:p>
        </p:txBody>
      </p:sp>
      <p:sp>
        <p:nvSpPr>
          <p:cNvPr id="11" name="Shape 9"/>
          <p:cNvSpPr/>
          <p:nvPr/>
        </p:nvSpPr>
        <p:spPr>
          <a:xfrm>
            <a:off x="585216" y="4206240"/>
            <a:ext cx="2876296" cy="274320"/>
          </a:xfrm>
          <a:prstGeom prst="roundRect">
            <a:avLst>
              <a:gd name="adj" fmla="val 50000"/>
            </a:avLst>
          </a:prstGeom>
          <a:solidFill>
            <a:srgbClr val="DCE8F6"/>
          </a:solidFill>
          <a:ln w="9525">
            <a:solidFill>
              <a:srgbClr val="BFD3EC"/>
            </a:solidFill>
            <a:prstDash val="solid"/>
          </a:ln>
        </p:spPr>
      </p:sp>
      <p:sp>
        <p:nvSpPr>
          <p:cNvPr id="12" name="Text 10"/>
          <p:cNvSpPr/>
          <p:nvPr/>
        </p:nvSpPr>
        <p:spPr>
          <a:xfrm>
            <a:off x="585216" y="4206240"/>
            <a:ext cx="2876296" cy="274320"/>
          </a:xfrm>
          <a:prstGeom prst="rect">
            <a:avLst/>
          </a:prstGeom>
          <a:noFill/>
          <a:ln/>
        </p:spPr>
        <p:txBody>
          <a:bodyPr wrap="square" lIns="0" tIns="0" rIns="0" bIns="0" rtlCol="0" anchor="ctr"/>
          <a:lstStyle/>
          <a:p>
            <a:pPr algn="ctr" indent="0" marL="0">
              <a:buNone/>
            </a:pPr>
            <a:r>
              <a:rPr lang="en-US" sz="950" b="1" dirty="0">
                <a:solidFill>
                  <a:srgbClr val="24548F"/>
                </a:solidFill>
                <a:latin typeface="Meiryo" pitchFamily="34" charset="0"/>
                <a:ea typeface="Meiryo" pitchFamily="34" charset="-122"/>
                <a:cs typeface="Meiryo" pitchFamily="34" charset="-120"/>
              </a:rPr>
              <a:t>開発の技術・実績はあるが営業担当が少ない</a:t>
            </a:r>
            <a:endParaRPr lang="en-US" sz="950" dirty="0"/>
          </a:p>
        </p:txBody>
      </p:sp>
      <p:sp>
        <p:nvSpPr>
          <p:cNvPr id="13" name="Shape 11"/>
          <p:cNvSpPr/>
          <p:nvPr/>
        </p:nvSpPr>
        <p:spPr>
          <a:xfrm>
            <a:off x="585216" y="4553712"/>
            <a:ext cx="4700524" cy="274320"/>
          </a:xfrm>
          <a:prstGeom prst="roundRect">
            <a:avLst>
              <a:gd name="adj" fmla="val 50000"/>
            </a:avLst>
          </a:prstGeom>
          <a:solidFill>
            <a:srgbClr val="DCE8F6"/>
          </a:solidFill>
          <a:ln w="9525">
            <a:solidFill>
              <a:srgbClr val="BFD3EC"/>
            </a:solidFill>
            <a:prstDash val="solid"/>
          </a:ln>
        </p:spPr>
      </p:sp>
      <p:sp>
        <p:nvSpPr>
          <p:cNvPr id="14" name="Text 12"/>
          <p:cNvSpPr/>
          <p:nvPr/>
        </p:nvSpPr>
        <p:spPr>
          <a:xfrm>
            <a:off x="585216" y="4553712"/>
            <a:ext cx="4700524" cy="274320"/>
          </a:xfrm>
          <a:prstGeom prst="rect">
            <a:avLst/>
          </a:prstGeom>
          <a:noFill/>
          <a:ln/>
        </p:spPr>
        <p:txBody>
          <a:bodyPr wrap="square" lIns="0" tIns="0" rIns="0" bIns="0" rtlCol="0" anchor="ctr"/>
          <a:lstStyle/>
          <a:p>
            <a:pPr algn="ctr" indent="0" marL="0">
              <a:buNone/>
            </a:pPr>
            <a:r>
              <a:rPr lang="en-US" sz="950" b="1" dirty="0">
                <a:solidFill>
                  <a:srgbClr val="24548F"/>
                </a:solidFill>
                <a:latin typeface="Meiryo" pitchFamily="34" charset="0"/>
                <a:ea typeface="Meiryo" pitchFamily="34" charset="-122"/>
                <a:cs typeface="Meiryo" pitchFamily="34" charset="-120"/>
              </a:rPr>
              <a:t>大手・中堅からの直接受託（直請けシステム開発案件）を自力で獲得できず</a:t>
            </a:r>
            <a:endParaRPr lang="en-US" sz="950" dirty="0"/>
          </a:p>
        </p:txBody>
      </p:sp>
      <p:sp>
        <p:nvSpPr>
          <p:cNvPr id="15" name="Shape 13"/>
          <p:cNvSpPr/>
          <p:nvPr/>
        </p:nvSpPr>
        <p:spPr>
          <a:xfrm>
            <a:off x="4114800" y="1417320"/>
            <a:ext cx="82296" cy="219456"/>
          </a:xfrm>
          <a:prstGeom prst="roundRect">
            <a:avLst>
              <a:gd name="adj" fmla="val 33333"/>
            </a:avLst>
          </a:prstGeom>
          <a:solidFill>
            <a:srgbClr val="2B64AB"/>
          </a:solidFill>
          <a:ln/>
        </p:spPr>
      </p:sp>
      <p:sp>
        <p:nvSpPr>
          <p:cNvPr id="16" name="Text 14"/>
          <p:cNvSpPr/>
          <p:nvPr/>
        </p:nvSpPr>
        <p:spPr>
          <a:xfrm>
            <a:off x="4297680" y="1353312"/>
            <a:ext cx="7315200" cy="310896"/>
          </a:xfrm>
          <a:prstGeom prst="rect">
            <a:avLst/>
          </a:prstGeom>
          <a:noFill/>
          <a:ln/>
        </p:spPr>
        <p:txBody>
          <a:bodyPr wrap="square" lIns="0" tIns="0" rIns="0" bIns="0" rtlCol="0" anchor="ctr"/>
          <a:lstStyle/>
          <a:p>
            <a:pPr indent="0" marL="0">
              <a:buNone/>
            </a:pPr>
            <a:r>
              <a:rPr lang="en-US" sz="1250" b="1" dirty="0">
                <a:solidFill>
                  <a:srgbClr val="2B64AB"/>
                </a:solidFill>
                <a:latin typeface="Meiryo" pitchFamily="34" charset="0"/>
                <a:ea typeface="Meiryo" pitchFamily="34" charset="-122"/>
                <a:cs typeface="Meiryo" pitchFamily="34" charset="-120"/>
              </a:rPr>
              <a:t>事例の概要</a:t>
            </a:r>
            <a:endParaRPr lang="en-US" sz="1250" dirty="0"/>
          </a:p>
        </p:txBody>
      </p:sp>
      <p:sp>
        <p:nvSpPr>
          <p:cNvPr id="17" name="Text 15"/>
          <p:cNvSpPr/>
          <p:nvPr/>
        </p:nvSpPr>
        <p:spPr>
          <a:xfrm>
            <a:off x="4114800" y="1682496"/>
            <a:ext cx="7708392" cy="676656"/>
          </a:xfrm>
          <a:prstGeom prst="rect">
            <a:avLst/>
          </a:prstGeom>
          <a:noFill/>
          <a:ln/>
        </p:spPr>
        <p:txBody>
          <a:bodyPr wrap="square" lIns="0" tIns="0" rIns="0" bIns="0" rtlCol="0" anchor="t"/>
          <a:lstStyle/>
          <a:p>
            <a:pPr indent="0" marL="0">
              <a:lnSpc>
                <a:spcPct val="116000"/>
              </a:lnSpc>
              <a:buNone/>
            </a:pPr>
            <a:r>
              <a:rPr lang="en-US" sz="1000" dirty="0">
                <a:solidFill>
                  <a:srgbClr val="45566A"/>
                </a:solidFill>
                <a:latin typeface="Meiryo" pitchFamily="34" charset="0"/>
                <a:ea typeface="Meiryo" pitchFamily="34" charset="-122"/>
                <a:cs typeface="Meiryo" pitchFamily="34" charset="-120"/>
              </a:rPr>
              <a:t>トップが現役エンジニアで技術力のあるシステム開発企業。開発実務で営業の時間が取れなかったが、営業支援ユニットでアプローチを自動化。質の高い直請け開発案件の商談窓口を継続獲得する体制を構築した。</a:t>
            </a:r>
            <a:endParaRPr lang="en-US" sz="1000" dirty="0"/>
          </a:p>
        </p:txBody>
      </p:sp>
      <p:sp>
        <p:nvSpPr>
          <p:cNvPr id="18" name="Shape 16"/>
          <p:cNvSpPr/>
          <p:nvPr/>
        </p:nvSpPr>
        <p:spPr>
          <a:xfrm>
            <a:off x="4114800" y="2395728"/>
            <a:ext cx="7708392" cy="950976"/>
          </a:xfrm>
          <a:prstGeom prst="roundRect">
            <a:avLst>
              <a:gd name="adj" fmla="val 4808"/>
            </a:avLst>
          </a:prstGeom>
          <a:solidFill>
            <a:srgbClr val="E9F4EE"/>
          </a:solidFill>
          <a:ln w="12700">
            <a:solidFill>
              <a:srgbClr val="BADFC9"/>
            </a:solidFill>
            <a:prstDash val="solid"/>
          </a:ln>
        </p:spPr>
      </p:sp>
      <p:sp>
        <p:nvSpPr>
          <p:cNvPr id="19" name="Shape 17"/>
          <p:cNvSpPr/>
          <p:nvPr/>
        </p:nvSpPr>
        <p:spPr>
          <a:xfrm>
            <a:off x="4352544" y="2542032"/>
            <a:ext cx="82296" cy="219456"/>
          </a:xfrm>
          <a:prstGeom prst="roundRect">
            <a:avLst>
              <a:gd name="adj" fmla="val 33333"/>
            </a:avLst>
          </a:prstGeom>
          <a:solidFill>
            <a:srgbClr val="1F7A4D"/>
          </a:solidFill>
          <a:ln/>
        </p:spPr>
      </p:sp>
      <p:sp>
        <p:nvSpPr>
          <p:cNvPr id="20" name="Text 18"/>
          <p:cNvSpPr/>
          <p:nvPr/>
        </p:nvSpPr>
        <p:spPr>
          <a:xfrm>
            <a:off x="4535424" y="2487168"/>
            <a:ext cx="7159752" cy="292608"/>
          </a:xfrm>
          <a:prstGeom prst="rect">
            <a:avLst/>
          </a:prstGeom>
          <a:noFill/>
          <a:ln/>
        </p:spPr>
        <p:txBody>
          <a:bodyPr wrap="square" lIns="0" tIns="0" rIns="0" bIns="0" rtlCol="0" anchor="ctr"/>
          <a:lstStyle/>
          <a:p>
            <a:pPr indent="0" marL="0">
              <a:buNone/>
            </a:pPr>
            <a:r>
              <a:rPr lang="en-US" sz="1200" b="1" dirty="0">
                <a:solidFill>
                  <a:srgbClr val="1F7A4D"/>
                </a:solidFill>
                <a:latin typeface="Meiryo" pitchFamily="34" charset="0"/>
                <a:ea typeface="Meiryo" pitchFamily="34" charset="-122"/>
                <a:cs typeface="Meiryo" pitchFamily="34" charset="-120"/>
              </a:rPr>
              <a:t>結果</a:t>
            </a:r>
            <a:endParaRPr lang="en-US" sz="1200" dirty="0"/>
          </a:p>
        </p:txBody>
      </p:sp>
      <p:sp>
        <p:nvSpPr>
          <p:cNvPr id="21" name="Text 19"/>
          <p:cNvSpPr/>
          <p:nvPr/>
        </p:nvSpPr>
        <p:spPr>
          <a:xfrm>
            <a:off x="4352544" y="2798064"/>
            <a:ext cx="7232904" cy="457200"/>
          </a:xfrm>
          <a:prstGeom prst="rect">
            <a:avLst/>
          </a:prstGeom>
          <a:noFill/>
          <a:ln/>
        </p:spPr>
        <p:txBody>
          <a:bodyPr wrap="square" lIns="0" tIns="0" rIns="0" bIns="0" rtlCol="0" anchor="t"/>
          <a:lstStyle/>
          <a:p>
            <a:pPr indent="0" marL="0">
              <a:lnSpc>
                <a:spcPct val="113000"/>
              </a:lnSpc>
              <a:buNone/>
            </a:pPr>
            <a:r>
              <a:rPr lang="en-US" sz="1000" dirty="0">
                <a:solidFill>
                  <a:srgbClr val="1C3A29"/>
                </a:solidFill>
                <a:latin typeface="Meiryo" pitchFamily="34" charset="0"/>
                <a:ea typeface="Meiryo" pitchFamily="34" charset="-122"/>
                <a:cs typeface="Meiryo" pitchFamily="34" charset="-120"/>
              </a:rPr>
              <a:t>「Sales Platform」を導入し、アプローチが届かなかった大手・中堅企業へのBtoBアプローチを実施した結果、アポイント取得率が大幅に向上し、高単価な直請け受託案件の窓口を次々と開拓。</a:t>
            </a:r>
            <a:endParaRPr lang="en-US" sz="1000" dirty="0"/>
          </a:p>
        </p:txBody>
      </p:sp>
      <p:sp>
        <p:nvSpPr>
          <p:cNvPr id="22" name="Shape 20"/>
          <p:cNvSpPr/>
          <p:nvPr/>
        </p:nvSpPr>
        <p:spPr>
          <a:xfrm>
            <a:off x="4114800" y="3456432"/>
            <a:ext cx="7708392" cy="1572768"/>
          </a:xfrm>
          <a:prstGeom prst="roundRect">
            <a:avLst>
              <a:gd name="adj" fmla="val 2907"/>
            </a:avLst>
          </a:prstGeom>
          <a:solidFill>
            <a:srgbClr val="EAF1FA"/>
          </a:solidFill>
          <a:ln w="12700">
            <a:solidFill>
              <a:srgbClr val="C6D8EF"/>
            </a:solidFill>
            <a:prstDash val="solid"/>
          </a:ln>
        </p:spPr>
      </p:sp>
      <p:sp>
        <p:nvSpPr>
          <p:cNvPr id="23" name="Shape 21"/>
          <p:cNvSpPr/>
          <p:nvPr/>
        </p:nvSpPr>
        <p:spPr>
          <a:xfrm>
            <a:off x="4352544" y="3602736"/>
            <a:ext cx="82296" cy="219456"/>
          </a:xfrm>
          <a:prstGeom prst="roundRect">
            <a:avLst>
              <a:gd name="adj" fmla="val 33333"/>
            </a:avLst>
          </a:prstGeom>
          <a:solidFill>
            <a:srgbClr val="2B64AB"/>
          </a:solidFill>
          <a:ln/>
        </p:spPr>
      </p:sp>
      <p:sp>
        <p:nvSpPr>
          <p:cNvPr id="24" name="Text 22"/>
          <p:cNvSpPr/>
          <p:nvPr/>
        </p:nvSpPr>
        <p:spPr>
          <a:xfrm>
            <a:off x="4535424" y="3547872"/>
            <a:ext cx="7159752" cy="292608"/>
          </a:xfrm>
          <a:prstGeom prst="rect">
            <a:avLst/>
          </a:prstGeom>
          <a:noFill/>
          <a:ln/>
        </p:spPr>
        <p:txBody>
          <a:bodyPr wrap="square" lIns="0" tIns="0" rIns="0" bIns="0" rtlCol="0" anchor="ctr"/>
          <a:lstStyle/>
          <a:p>
            <a:pPr indent="0" marL="0">
              <a:buNone/>
            </a:pPr>
            <a:r>
              <a:rPr lang="en-US" sz="1200" b="1" dirty="0">
                <a:solidFill>
                  <a:srgbClr val="2B64AB"/>
                </a:solidFill>
                <a:latin typeface="Meiryo" pitchFamily="34" charset="0"/>
                <a:ea typeface="Meiryo" pitchFamily="34" charset="-122"/>
                <a:cs typeface="Meiryo" pitchFamily="34" charset="-120"/>
              </a:rPr>
              <a:t>今回ご検討をされている企業様への活用ポイント</a:t>
            </a:r>
            <a:endParaRPr lang="en-US" sz="1200" dirty="0"/>
          </a:p>
        </p:txBody>
      </p:sp>
      <p:sp>
        <p:nvSpPr>
          <p:cNvPr id="25" name="Text 23"/>
          <p:cNvSpPr/>
          <p:nvPr/>
        </p:nvSpPr>
        <p:spPr>
          <a:xfrm>
            <a:off x="4352544" y="3858768"/>
            <a:ext cx="7232904" cy="1078992"/>
          </a:xfrm>
          <a:prstGeom prst="rect">
            <a:avLst/>
          </a:prstGeom>
          <a:noFill/>
          <a:ln/>
        </p:spPr>
        <p:txBody>
          <a:bodyPr wrap="square" lIns="0" tIns="0" rIns="0" bIns="0" rtlCol="0" anchor="t"/>
          <a:lstStyle/>
          <a:p>
            <a:pPr indent="0" marL="0">
              <a:lnSpc>
                <a:spcPct val="113000"/>
              </a:lnSpc>
              <a:buNone/>
            </a:pPr>
            <a:r>
              <a:rPr lang="en-US" sz="1000" dirty="0">
                <a:solidFill>
                  <a:srgbClr val="1C2530"/>
                </a:solidFill>
                <a:latin typeface="Meiryo" pitchFamily="34" charset="0"/>
                <a:ea typeface="Meiryo" pitchFamily="34" charset="-122"/>
                <a:cs typeface="Meiryo" pitchFamily="34" charset="-120"/>
              </a:rPr>
              <a:t>株式会社Amwal様と同じ「システム開発」領域における大本命の成功事例です。下請け構造や紹介頼みに頼るのではなく、営業支援ユニットを通じて「システム開発やDX推進を求めている一般企業」へ直接提案し、高単価・高利益率な直請け受託案件を獲得できます。</a:t>
            </a:r>
            <a:endParaRPr lang="en-US" sz="1000" dirty="0"/>
          </a:p>
        </p:txBody>
      </p:sp>
      <p:sp>
        <p:nvSpPr>
          <p:cNvPr id="26" name="Shape 24"/>
          <p:cNvSpPr/>
          <p:nvPr/>
        </p:nvSpPr>
        <p:spPr>
          <a:xfrm>
            <a:off x="4114800" y="5138928"/>
            <a:ext cx="7708392" cy="1060704"/>
          </a:xfrm>
          <a:prstGeom prst="roundRect">
            <a:avLst>
              <a:gd name="adj" fmla="val 4310"/>
            </a:avLst>
          </a:prstGeom>
          <a:solidFill>
            <a:srgbClr val="FBF4E6"/>
          </a:solidFill>
          <a:ln w="12700">
            <a:solidFill>
              <a:srgbClr val="E7D6AC"/>
            </a:solidFill>
            <a:prstDash val="solid"/>
          </a:ln>
        </p:spPr>
      </p:sp>
      <p:sp>
        <p:nvSpPr>
          <p:cNvPr id="27" name="Shape 25"/>
          <p:cNvSpPr/>
          <p:nvPr/>
        </p:nvSpPr>
        <p:spPr>
          <a:xfrm>
            <a:off x="4352544" y="5285232"/>
            <a:ext cx="82296" cy="219456"/>
          </a:xfrm>
          <a:prstGeom prst="roundRect">
            <a:avLst>
              <a:gd name="adj" fmla="val 33333"/>
            </a:avLst>
          </a:prstGeom>
          <a:solidFill>
            <a:srgbClr val="9A6B12"/>
          </a:solidFill>
          <a:ln/>
        </p:spPr>
      </p:sp>
      <p:sp>
        <p:nvSpPr>
          <p:cNvPr id="28" name="Text 26"/>
          <p:cNvSpPr/>
          <p:nvPr/>
        </p:nvSpPr>
        <p:spPr>
          <a:xfrm>
            <a:off x="4535424" y="5230368"/>
            <a:ext cx="7159752" cy="292608"/>
          </a:xfrm>
          <a:prstGeom prst="rect">
            <a:avLst/>
          </a:prstGeom>
          <a:noFill/>
          <a:ln/>
        </p:spPr>
        <p:txBody>
          <a:bodyPr wrap="square" lIns="0" tIns="0" rIns="0" bIns="0" rtlCol="0" anchor="ctr"/>
          <a:lstStyle/>
          <a:p>
            <a:pPr indent="0" marL="0">
              <a:buNone/>
            </a:pPr>
            <a:r>
              <a:rPr lang="en-US" sz="1200" b="1" dirty="0">
                <a:solidFill>
                  <a:srgbClr val="9A6B12"/>
                </a:solidFill>
                <a:latin typeface="Meiryo" pitchFamily="34" charset="0"/>
                <a:ea typeface="Meiryo" pitchFamily="34" charset="-122"/>
                <a:cs typeface="Meiryo" pitchFamily="34" charset="-120"/>
              </a:rPr>
              <a:t>導入を検討されえいる企業様へのアドバイス</a:t>
            </a:r>
            <a:endParaRPr lang="en-US" sz="1200" dirty="0"/>
          </a:p>
        </p:txBody>
      </p:sp>
      <p:sp>
        <p:nvSpPr>
          <p:cNvPr id="29" name="Text 27"/>
          <p:cNvSpPr/>
          <p:nvPr/>
        </p:nvSpPr>
        <p:spPr>
          <a:xfrm>
            <a:off x="4352544" y="5541264"/>
            <a:ext cx="7232904" cy="566928"/>
          </a:xfrm>
          <a:prstGeom prst="rect">
            <a:avLst/>
          </a:prstGeom>
          <a:noFill/>
          <a:ln/>
        </p:spPr>
        <p:txBody>
          <a:bodyPr wrap="square" lIns="0" tIns="0" rIns="0" bIns="0" rtlCol="0" anchor="t"/>
          <a:lstStyle/>
          <a:p>
            <a:pPr indent="0" marL="0">
              <a:lnSpc>
                <a:spcPct val="113000"/>
              </a:lnSpc>
              <a:buNone/>
            </a:pPr>
            <a:r>
              <a:rPr lang="en-US" sz="1000" i="1" dirty="0">
                <a:solidFill>
                  <a:srgbClr val="4A3A18"/>
                </a:solidFill>
                <a:latin typeface="Meiryo" pitchFamily="34" charset="0"/>
                <a:ea typeface="Meiryo" pitchFamily="34" charset="-122"/>
                <a:cs typeface="Meiryo" pitchFamily="34" charset="-120"/>
              </a:rPr>
              <a:t>「自社での営業活動には限界があり、専門外のコンサルに頼っても結果が出ません。アイドマさんは豊富なデータベースとアプローチ後の可視化されたデータがあるため、自社の提供価値を深く理解してくれた確実な商談へスムーズに進めます。」</a:t>
            </a:r>
            <a:endParaRPr lang="en-US" sz="1000" dirty="0"/>
          </a:p>
        </p:txBody>
      </p:sp>
      <p:sp>
        <p:nvSpPr>
          <p:cNvPr id="30" name="Text 28"/>
          <p:cNvSpPr/>
          <p:nvPr/>
        </p:nvSpPr>
        <p:spPr>
          <a:xfrm>
            <a:off x="4114800" y="6291072"/>
            <a:ext cx="7708392" cy="219456"/>
          </a:xfrm>
          <a:prstGeom prst="rect">
            <a:avLst/>
          </a:prstGeom>
          <a:noFill/>
          <a:ln/>
        </p:spPr>
        <p:txBody>
          <a:bodyPr wrap="square" lIns="0" tIns="0" rIns="0" bIns="0" rtlCol="0" anchor="ctr"/>
          <a:lstStyle/>
          <a:p>
            <a:pPr indent="0" marL="0">
              <a:buNone/>
            </a:pPr>
            <a:r>
              <a:rPr lang="en-US" sz="950" b="1" dirty="0">
                <a:solidFill>
                  <a:srgbClr val="8593A4"/>
                </a:solidFill>
                <a:latin typeface="Meiryo" pitchFamily="34" charset="0"/>
                <a:ea typeface="Meiryo" pitchFamily="34" charset="-122"/>
                <a:cs typeface="Meiryo" pitchFamily="34" charset="-120"/>
              </a:rPr>
              <a:t>引用URL　</a:t>
            </a:r>
            <a:pPr indent="0" marL="0">
              <a:buNone/>
            </a:pPr>
            <a:r>
              <a:rPr lang="en-US" sz="950" u="sng" dirty="0">
                <a:solidFill>
                  <a:srgbClr val="2B64AB"/>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https://www.aidma-hd.jp/case/zirei-132/</a:t>
            </a:r>
            <a:endParaRPr lang="en-US" sz="950" dirty="0"/>
          </a:p>
        </p:txBody>
      </p:sp>
      <p:sp>
        <p:nvSpPr>
          <p:cNvPr id="31" name="Text 29"/>
          <p:cNvSpPr/>
          <p:nvPr/>
        </p:nvSpPr>
        <p:spPr>
          <a:xfrm>
            <a:off x="365760" y="6537960"/>
            <a:ext cx="8229600" cy="219456"/>
          </a:xfrm>
          <a:prstGeom prst="rect">
            <a:avLst/>
          </a:prstGeom>
          <a:noFill/>
          <a:ln/>
        </p:spPr>
        <p:txBody>
          <a:bodyPr wrap="square" lIns="0" tIns="0" rIns="0" bIns="0" rtlCol="0" anchor="ctr"/>
          <a:lstStyle/>
          <a:p>
            <a:pPr indent="0" marL="0">
              <a:buNone/>
            </a:pPr>
            <a:r>
              <a:rPr lang="en-US" sz="900" dirty="0">
                <a:solidFill>
                  <a:srgbClr val="9AA7B6"/>
                </a:solidFill>
                <a:latin typeface="Meiryo" pitchFamily="34" charset="0"/>
                <a:ea typeface="Meiryo" pitchFamily="34" charset="-122"/>
                <a:cs typeface="Meiryo" pitchFamily="34" charset="-120"/>
              </a:rPr>
              <a:t>株式会社Amwal様　提案引用実績5選</a:t>
            </a:r>
            <a:endParaRPr lang="en-US" sz="900" dirty="0"/>
          </a:p>
        </p:txBody>
      </p:sp>
      <p:sp>
        <p:nvSpPr>
          <p:cNvPr id="32" name="Text 30"/>
          <p:cNvSpPr/>
          <p:nvPr/>
        </p:nvSpPr>
        <p:spPr>
          <a:xfrm>
            <a:off x="10424160" y="6537960"/>
            <a:ext cx="1399032" cy="219456"/>
          </a:xfrm>
          <a:prstGeom prst="rect">
            <a:avLst/>
          </a:prstGeom>
          <a:noFill/>
          <a:ln/>
        </p:spPr>
        <p:txBody>
          <a:bodyPr wrap="square" lIns="0" tIns="0" rIns="0" bIns="0" rtlCol="0" anchor="ctr"/>
          <a:lstStyle/>
          <a:p>
            <a:pPr algn="r" indent="0" marL="0">
              <a:buNone/>
            </a:pPr>
            <a:r>
              <a:rPr lang="en-US" sz="900" dirty="0">
                <a:solidFill>
                  <a:srgbClr val="9AA7B6"/>
                </a:solidFill>
                <a:latin typeface="Meiryo" pitchFamily="34" charset="0"/>
                <a:ea typeface="Meiryo" pitchFamily="34" charset="-122"/>
                <a:cs typeface="Meiryo" pitchFamily="34" charset="-120"/>
              </a:rPr>
              <a:t>1 / 5</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6FB"/>
        </a:solidFill>
      </p:bgPr>
    </p:bg>
    <p:spTree>
      <p:nvGrpSpPr>
        <p:cNvPr id="1" name=""/>
        <p:cNvGrpSpPr/>
        <p:nvPr/>
      </p:nvGrpSpPr>
      <p:grpSpPr>
        <a:xfrm>
          <a:off x="0" y="0"/>
          <a:ext cx="0" cy="0"/>
          <a:chOff x="0" y="0"/>
          <a:chExt cx="0" cy="0"/>
        </a:xfrm>
      </p:grpSpPr>
      <p:sp>
        <p:nvSpPr>
          <p:cNvPr id="2" name="Shape 0"/>
          <p:cNvSpPr/>
          <p:nvPr/>
        </p:nvSpPr>
        <p:spPr>
          <a:xfrm>
            <a:off x="365760" y="365760"/>
            <a:ext cx="11457432" cy="932688"/>
          </a:xfrm>
          <a:prstGeom prst="roundRect">
            <a:avLst>
              <a:gd name="adj" fmla="val 5882"/>
            </a:avLst>
          </a:prstGeom>
          <a:solidFill>
            <a:srgbClr val="16407A"/>
          </a:solidFill>
          <a:ln/>
          <a:effectLst>
            <a:outerShdw sx="100000" sy="100000" kx="0" ky="0" algn="bl" rotWithShape="0" blurRad="76200" dist="25400" dir="5400000">
              <a:srgbClr val="0F2F5C">
                <a:alpha val="35000"/>
              </a:srgbClr>
            </a:outerShdw>
          </a:effectLst>
        </p:spPr>
      </p:sp>
      <p:sp>
        <p:nvSpPr>
          <p:cNvPr id="3" name="Shape 1"/>
          <p:cNvSpPr/>
          <p:nvPr/>
        </p:nvSpPr>
        <p:spPr>
          <a:xfrm>
            <a:off x="566928" y="566928"/>
            <a:ext cx="530352" cy="530352"/>
          </a:xfrm>
          <a:prstGeom prst="roundRect">
            <a:avLst>
              <a:gd name="adj" fmla="val 13793"/>
            </a:avLst>
          </a:prstGeom>
          <a:solidFill>
            <a:srgbClr val="FFFFFF">
              <a:alpha val="16000"/>
            </a:srgbClr>
          </a:solidFill>
          <a:ln w="12700">
            <a:solidFill>
              <a:srgbClr val="FFFFFF">
                <a:alpha val="40000"/>
              </a:srgbClr>
            </a:solidFill>
            <a:prstDash val="solid"/>
          </a:ln>
        </p:spPr>
      </p:sp>
      <p:sp>
        <p:nvSpPr>
          <p:cNvPr id="4" name="Text 2"/>
          <p:cNvSpPr/>
          <p:nvPr/>
        </p:nvSpPr>
        <p:spPr>
          <a:xfrm>
            <a:off x="566928" y="566928"/>
            <a:ext cx="530352" cy="530352"/>
          </a:xfrm>
          <a:prstGeom prst="rect">
            <a:avLst/>
          </a:prstGeom>
          <a:noFill/>
          <a:ln/>
        </p:spPr>
        <p:txBody>
          <a:bodyPr wrap="square" lIns="0" tIns="0" rIns="0" bIns="0" rtlCol="0" anchor="ctr"/>
          <a:lstStyle/>
          <a:p>
            <a:pPr algn="ctr" indent="0" marL="0">
              <a:buNone/>
            </a:pPr>
            <a:r>
              <a:rPr lang="en-US" sz="2400" b="1" dirty="0">
                <a:solidFill>
                  <a:srgbClr val="FFFFFF"/>
                </a:solidFill>
                <a:latin typeface="Meiryo" pitchFamily="34" charset="0"/>
                <a:ea typeface="Meiryo" pitchFamily="34" charset="-122"/>
                <a:cs typeface="Meiryo" pitchFamily="34" charset="-120"/>
              </a:rPr>
              <a:t>2</a:t>
            </a:r>
            <a:endParaRPr lang="en-US" sz="2400" dirty="0"/>
          </a:p>
        </p:txBody>
      </p:sp>
      <p:sp>
        <p:nvSpPr>
          <p:cNvPr id="5" name="Text 3"/>
          <p:cNvSpPr/>
          <p:nvPr/>
        </p:nvSpPr>
        <p:spPr>
          <a:xfrm>
            <a:off x="1280160" y="420624"/>
            <a:ext cx="10378440" cy="822960"/>
          </a:xfrm>
          <a:prstGeom prst="rect">
            <a:avLst/>
          </a:prstGeom>
          <a:noFill/>
          <a:ln/>
        </p:spPr>
        <p:txBody>
          <a:bodyPr wrap="square" lIns="0" tIns="0" rIns="0" bIns="0" rtlCol="0" anchor="ctr"/>
          <a:lstStyle/>
          <a:p>
            <a:pPr indent="0" marL="0">
              <a:lnSpc>
                <a:spcPct val="105000"/>
              </a:lnSpc>
              <a:buNone/>
            </a:pPr>
            <a:r>
              <a:rPr lang="en-US" sz="1400" b="1" dirty="0">
                <a:solidFill>
                  <a:srgbClr val="FFFFFF"/>
                </a:solidFill>
                <a:latin typeface="Meiryo" pitchFamily="34" charset="0"/>
                <a:ea typeface="Meiryo" pitchFamily="34" charset="-122"/>
                <a:cs typeface="Meiryo" pitchFamily="34" charset="-120"/>
              </a:rPr>
              <a:t>創業1人・HPなしでも開発の強みを自動配信。開発を止めず新規案件を獲得する自走基盤を確立</a:t>
            </a:r>
            <a:endParaRPr lang="en-US" sz="1400" dirty="0"/>
          </a:p>
        </p:txBody>
      </p:sp>
      <p:sp>
        <p:nvSpPr>
          <p:cNvPr id="6" name="Shape 4"/>
          <p:cNvSpPr/>
          <p:nvPr/>
        </p:nvSpPr>
        <p:spPr>
          <a:xfrm>
            <a:off x="365760" y="1481328"/>
            <a:ext cx="3566160" cy="5029200"/>
          </a:xfrm>
          <a:prstGeom prst="roundRect">
            <a:avLst>
              <a:gd name="adj" fmla="val 1282"/>
            </a:avLst>
          </a:prstGeom>
          <a:solidFill>
            <a:srgbClr val="EAF1FA"/>
          </a:solidFill>
          <a:ln w="12700">
            <a:solidFill>
              <a:srgbClr val="D2DCEA"/>
            </a:solidFill>
            <a:prstDash val="solid"/>
          </a:ln>
        </p:spPr>
      </p:sp>
      <p:sp>
        <p:nvSpPr>
          <p:cNvPr id="7" name="Text 5"/>
          <p:cNvSpPr/>
          <p:nvPr/>
        </p:nvSpPr>
        <p:spPr>
          <a:xfrm>
            <a:off x="585216" y="1664208"/>
            <a:ext cx="3127248" cy="822960"/>
          </a:xfrm>
          <a:prstGeom prst="rect">
            <a:avLst/>
          </a:prstGeom>
          <a:noFill/>
          <a:ln/>
        </p:spPr>
        <p:txBody>
          <a:bodyPr wrap="square" lIns="0" tIns="0" rIns="0" bIns="0" rtlCol="0" anchor="t"/>
          <a:lstStyle/>
          <a:p>
            <a:pPr indent="0" marL="0">
              <a:lnSpc>
                <a:spcPct val="105000"/>
              </a:lnSpc>
              <a:buNone/>
            </a:pPr>
            <a:r>
              <a:rPr lang="en-US" sz="1300" b="1" dirty="0">
                <a:solidFill>
                  <a:srgbClr val="1C2530"/>
                </a:solidFill>
                <a:latin typeface="Meiryo" pitchFamily="34" charset="0"/>
                <a:ea typeface="Meiryo" pitchFamily="34" charset="-122"/>
                <a:cs typeface="Meiryo" pitchFamily="34" charset="-120"/>
              </a:rPr>
              <a:t>雲楼システムパートナーズ　様</a:t>
            </a:r>
            <a:endParaRPr lang="en-US" sz="1300" dirty="0"/>
          </a:p>
        </p:txBody>
      </p:sp>
      <p:sp>
        <p:nvSpPr>
          <p:cNvPr id="8" name="Text 6"/>
          <p:cNvSpPr/>
          <p:nvPr/>
        </p:nvSpPr>
        <p:spPr>
          <a:xfrm>
            <a:off x="585216" y="2615184"/>
            <a:ext cx="3127248" cy="219456"/>
          </a:xfrm>
          <a:prstGeom prst="rect">
            <a:avLst/>
          </a:prstGeom>
          <a:noFill/>
          <a:ln/>
        </p:spPr>
        <p:txBody>
          <a:bodyPr wrap="square" lIns="0" tIns="0" rIns="0" bIns="0" rtlCol="0" anchor="ctr"/>
          <a:lstStyle/>
          <a:p>
            <a:pPr indent="0" marL="0">
              <a:buNone/>
            </a:pPr>
            <a:r>
              <a:rPr lang="en-US" sz="950" b="1" spc="100" kern="0" dirty="0">
                <a:solidFill>
                  <a:srgbClr val="2B64AB"/>
                </a:solidFill>
                <a:latin typeface="Meiryo" pitchFamily="34" charset="0"/>
                <a:ea typeface="Meiryo" pitchFamily="34" charset="-122"/>
                <a:cs typeface="Meiryo" pitchFamily="34" charset="-120"/>
              </a:rPr>
              <a:t>事業内容</a:t>
            </a:r>
            <a:endParaRPr lang="en-US" sz="950" dirty="0"/>
          </a:p>
        </p:txBody>
      </p:sp>
      <p:sp>
        <p:nvSpPr>
          <p:cNvPr id="9" name="Text 7"/>
          <p:cNvSpPr/>
          <p:nvPr/>
        </p:nvSpPr>
        <p:spPr>
          <a:xfrm>
            <a:off x="585216" y="2834640"/>
            <a:ext cx="3127248" cy="1051560"/>
          </a:xfrm>
          <a:prstGeom prst="rect">
            <a:avLst/>
          </a:prstGeom>
          <a:noFill/>
          <a:ln/>
        </p:spPr>
        <p:txBody>
          <a:bodyPr wrap="square" lIns="0" tIns="0" rIns="0" bIns="0" rtlCol="0" anchor="ctr"/>
          <a:lstStyle/>
          <a:p>
            <a:pPr indent="0" marL="0">
              <a:lnSpc>
                <a:spcPct val="113000"/>
              </a:lnSpc>
              <a:buNone/>
            </a:pPr>
            <a:r>
              <a:rPr lang="en-US" sz="950" dirty="0">
                <a:solidFill>
                  <a:srgbClr val="45566A"/>
                </a:solidFill>
                <a:latin typeface="Meiryo" pitchFamily="34" charset="0"/>
                <a:ea typeface="Meiryo" pitchFamily="34" charset="-122"/>
                <a:cs typeface="Meiryo" pitchFamily="34" charset="-120"/>
              </a:rPr>
              <a:t>Python・生成AIを用いた業務システム開発・構築、AIシステム開発コンサルティング。</a:t>
            </a:r>
            <a:endParaRPr lang="en-US" sz="950" dirty="0"/>
          </a:p>
        </p:txBody>
      </p:sp>
      <p:sp>
        <p:nvSpPr>
          <p:cNvPr id="10" name="Text 8"/>
          <p:cNvSpPr/>
          <p:nvPr/>
        </p:nvSpPr>
        <p:spPr>
          <a:xfrm>
            <a:off x="585216" y="3931920"/>
            <a:ext cx="3127248" cy="219456"/>
          </a:xfrm>
          <a:prstGeom prst="rect">
            <a:avLst/>
          </a:prstGeom>
          <a:noFill/>
          <a:ln/>
        </p:spPr>
        <p:txBody>
          <a:bodyPr wrap="square" lIns="0" tIns="0" rIns="0" bIns="0" rtlCol="0" anchor="ctr"/>
          <a:lstStyle/>
          <a:p>
            <a:pPr indent="0" marL="0">
              <a:buNone/>
            </a:pPr>
            <a:r>
              <a:rPr lang="en-US" sz="950" b="1" spc="100" kern="0" dirty="0">
                <a:solidFill>
                  <a:srgbClr val="2B64AB"/>
                </a:solidFill>
                <a:latin typeface="Meiryo" pitchFamily="34" charset="0"/>
                <a:ea typeface="Meiryo" pitchFamily="34" charset="-122"/>
                <a:cs typeface="Meiryo" pitchFamily="34" charset="-120"/>
              </a:rPr>
              <a:t>解決した課題</a:t>
            </a:r>
            <a:endParaRPr lang="en-US" sz="950" dirty="0"/>
          </a:p>
        </p:txBody>
      </p:sp>
      <p:sp>
        <p:nvSpPr>
          <p:cNvPr id="11" name="Shape 9"/>
          <p:cNvSpPr/>
          <p:nvPr/>
        </p:nvSpPr>
        <p:spPr>
          <a:xfrm>
            <a:off x="585216" y="4206240"/>
            <a:ext cx="3006598" cy="274320"/>
          </a:xfrm>
          <a:prstGeom prst="roundRect">
            <a:avLst>
              <a:gd name="adj" fmla="val 50000"/>
            </a:avLst>
          </a:prstGeom>
          <a:solidFill>
            <a:srgbClr val="DCE8F6"/>
          </a:solidFill>
          <a:ln w="9525">
            <a:solidFill>
              <a:srgbClr val="BFD3EC"/>
            </a:solidFill>
            <a:prstDash val="solid"/>
          </a:ln>
        </p:spPr>
      </p:sp>
      <p:sp>
        <p:nvSpPr>
          <p:cNvPr id="12" name="Text 10"/>
          <p:cNvSpPr/>
          <p:nvPr/>
        </p:nvSpPr>
        <p:spPr>
          <a:xfrm>
            <a:off x="585216" y="4206240"/>
            <a:ext cx="3006598" cy="274320"/>
          </a:xfrm>
          <a:prstGeom prst="rect">
            <a:avLst/>
          </a:prstGeom>
          <a:noFill/>
          <a:ln/>
        </p:spPr>
        <p:txBody>
          <a:bodyPr wrap="square" lIns="0" tIns="0" rIns="0" bIns="0" rtlCol="0" anchor="ctr"/>
          <a:lstStyle/>
          <a:p>
            <a:pPr algn="ctr" indent="0" marL="0">
              <a:buNone/>
            </a:pPr>
            <a:r>
              <a:rPr lang="en-US" sz="950" b="1" dirty="0">
                <a:solidFill>
                  <a:srgbClr val="24548F"/>
                </a:solidFill>
                <a:latin typeface="Meiryo" pitchFamily="34" charset="0"/>
                <a:ea typeface="Meiryo" pitchFamily="34" charset="-122"/>
                <a:cs typeface="Meiryo" pitchFamily="34" charset="-120"/>
              </a:rPr>
              <a:t>システム開発の技術は高いが創業間もない体制</a:t>
            </a:r>
            <a:endParaRPr lang="en-US" sz="950" dirty="0"/>
          </a:p>
        </p:txBody>
      </p:sp>
      <p:sp>
        <p:nvSpPr>
          <p:cNvPr id="13" name="Shape 11"/>
          <p:cNvSpPr/>
          <p:nvPr/>
        </p:nvSpPr>
        <p:spPr>
          <a:xfrm>
            <a:off x="585216" y="4553712"/>
            <a:ext cx="3542284" cy="274320"/>
          </a:xfrm>
          <a:prstGeom prst="roundRect">
            <a:avLst>
              <a:gd name="adj" fmla="val 50000"/>
            </a:avLst>
          </a:prstGeom>
          <a:solidFill>
            <a:srgbClr val="DCE8F6"/>
          </a:solidFill>
          <a:ln w="9525">
            <a:solidFill>
              <a:srgbClr val="BFD3EC"/>
            </a:solidFill>
            <a:prstDash val="solid"/>
          </a:ln>
        </p:spPr>
      </p:sp>
      <p:sp>
        <p:nvSpPr>
          <p:cNvPr id="14" name="Text 12"/>
          <p:cNvSpPr/>
          <p:nvPr/>
        </p:nvSpPr>
        <p:spPr>
          <a:xfrm>
            <a:off x="585216" y="4553712"/>
            <a:ext cx="3542284" cy="274320"/>
          </a:xfrm>
          <a:prstGeom prst="rect">
            <a:avLst/>
          </a:prstGeom>
          <a:noFill/>
          <a:ln/>
        </p:spPr>
        <p:txBody>
          <a:bodyPr wrap="square" lIns="0" tIns="0" rIns="0" bIns="0" rtlCol="0" anchor="ctr"/>
          <a:lstStyle/>
          <a:p>
            <a:pPr algn="ctr" indent="0" marL="0">
              <a:buNone/>
            </a:pPr>
            <a:r>
              <a:rPr lang="en-US" sz="950" b="1" dirty="0">
                <a:solidFill>
                  <a:srgbClr val="24548F"/>
                </a:solidFill>
                <a:latin typeface="Meiryo" pitchFamily="34" charset="0"/>
                <a:ea typeface="Meiryo" pitchFamily="34" charset="-122"/>
                <a:cs typeface="Meiryo" pitchFamily="34" charset="-120"/>
              </a:rPr>
              <a:t>自社HPや営業専任がなく新規アプローチ・案件獲得が壁</a:t>
            </a:r>
            <a:endParaRPr lang="en-US" sz="950" dirty="0"/>
          </a:p>
        </p:txBody>
      </p:sp>
      <p:sp>
        <p:nvSpPr>
          <p:cNvPr id="15" name="Shape 13"/>
          <p:cNvSpPr/>
          <p:nvPr/>
        </p:nvSpPr>
        <p:spPr>
          <a:xfrm>
            <a:off x="4114800" y="1417320"/>
            <a:ext cx="82296" cy="219456"/>
          </a:xfrm>
          <a:prstGeom prst="roundRect">
            <a:avLst>
              <a:gd name="adj" fmla="val 33333"/>
            </a:avLst>
          </a:prstGeom>
          <a:solidFill>
            <a:srgbClr val="2B64AB"/>
          </a:solidFill>
          <a:ln/>
        </p:spPr>
      </p:sp>
      <p:sp>
        <p:nvSpPr>
          <p:cNvPr id="16" name="Text 14"/>
          <p:cNvSpPr/>
          <p:nvPr/>
        </p:nvSpPr>
        <p:spPr>
          <a:xfrm>
            <a:off x="4297680" y="1353312"/>
            <a:ext cx="7315200" cy="310896"/>
          </a:xfrm>
          <a:prstGeom prst="rect">
            <a:avLst/>
          </a:prstGeom>
          <a:noFill/>
          <a:ln/>
        </p:spPr>
        <p:txBody>
          <a:bodyPr wrap="square" lIns="0" tIns="0" rIns="0" bIns="0" rtlCol="0" anchor="ctr"/>
          <a:lstStyle/>
          <a:p>
            <a:pPr indent="0" marL="0">
              <a:buNone/>
            </a:pPr>
            <a:r>
              <a:rPr lang="en-US" sz="1250" b="1" dirty="0">
                <a:solidFill>
                  <a:srgbClr val="2B64AB"/>
                </a:solidFill>
                <a:latin typeface="Meiryo" pitchFamily="34" charset="0"/>
                <a:ea typeface="Meiryo" pitchFamily="34" charset="-122"/>
                <a:cs typeface="Meiryo" pitchFamily="34" charset="-120"/>
              </a:rPr>
              <a:t>事例の概要</a:t>
            </a:r>
            <a:endParaRPr lang="en-US" sz="1250" dirty="0"/>
          </a:p>
        </p:txBody>
      </p:sp>
      <p:sp>
        <p:nvSpPr>
          <p:cNvPr id="17" name="Text 15"/>
          <p:cNvSpPr/>
          <p:nvPr/>
        </p:nvSpPr>
        <p:spPr>
          <a:xfrm>
            <a:off x="4114800" y="1682496"/>
            <a:ext cx="7708392" cy="676656"/>
          </a:xfrm>
          <a:prstGeom prst="rect">
            <a:avLst/>
          </a:prstGeom>
          <a:noFill/>
          <a:ln/>
        </p:spPr>
        <p:txBody>
          <a:bodyPr wrap="square" lIns="0" tIns="0" rIns="0" bIns="0" rtlCol="0" anchor="t"/>
          <a:lstStyle/>
          <a:p>
            <a:pPr indent="0" marL="0">
              <a:lnSpc>
                <a:spcPct val="116000"/>
              </a:lnSpc>
              <a:buNone/>
            </a:pPr>
            <a:r>
              <a:rPr lang="en-US" sz="1000" dirty="0">
                <a:solidFill>
                  <a:srgbClr val="45566A"/>
                </a:solidFill>
                <a:latin typeface="Meiryo" pitchFamily="34" charset="0"/>
                <a:ea typeface="Meiryo" pitchFamily="34" charset="-122"/>
                <a:cs typeface="Meiryo" pitchFamily="34" charset="-120"/>
              </a:rPr>
              <a:t>代表1人のエンジニア体制で立ち上げ、高品質なシステム開発を提供。自力での営業活動に限界があったため、アイドマの営業支援（Sales Platform/セールスユニット等）を活用。アプローチと信頼獲得の仕組みを外部化・自動化した。</a:t>
            </a:r>
            <a:endParaRPr lang="en-US" sz="1000" dirty="0"/>
          </a:p>
        </p:txBody>
      </p:sp>
      <p:sp>
        <p:nvSpPr>
          <p:cNvPr id="18" name="Shape 16"/>
          <p:cNvSpPr/>
          <p:nvPr/>
        </p:nvSpPr>
        <p:spPr>
          <a:xfrm>
            <a:off x="4114800" y="2395728"/>
            <a:ext cx="7708392" cy="950976"/>
          </a:xfrm>
          <a:prstGeom prst="roundRect">
            <a:avLst>
              <a:gd name="adj" fmla="val 4808"/>
            </a:avLst>
          </a:prstGeom>
          <a:solidFill>
            <a:srgbClr val="E9F4EE"/>
          </a:solidFill>
          <a:ln w="12700">
            <a:solidFill>
              <a:srgbClr val="BADFC9"/>
            </a:solidFill>
            <a:prstDash val="solid"/>
          </a:ln>
        </p:spPr>
      </p:sp>
      <p:sp>
        <p:nvSpPr>
          <p:cNvPr id="19" name="Shape 17"/>
          <p:cNvSpPr/>
          <p:nvPr/>
        </p:nvSpPr>
        <p:spPr>
          <a:xfrm>
            <a:off x="4352544" y="2542032"/>
            <a:ext cx="82296" cy="219456"/>
          </a:xfrm>
          <a:prstGeom prst="roundRect">
            <a:avLst>
              <a:gd name="adj" fmla="val 33333"/>
            </a:avLst>
          </a:prstGeom>
          <a:solidFill>
            <a:srgbClr val="1F7A4D"/>
          </a:solidFill>
          <a:ln/>
        </p:spPr>
      </p:sp>
      <p:sp>
        <p:nvSpPr>
          <p:cNvPr id="20" name="Text 18"/>
          <p:cNvSpPr/>
          <p:nvPr/>
        </p:nvSpPr>
        <p:spPr>
          <a:xfrm>
            <a:off x="4535424" y="2487168"/>
            <a:ext cx="7159752" cy="292608"/>
          </a:xfrm>
          <a:prstGeom prst="rect">
            <a:avLst/>
          </a:prstGeom>
          <a:noFill/>
          <a:ln/>
        </p:spPr>
        <p:txBody>
          <a:bodyPr wrap="square" lIns="0" tIns="0" rIns="0" bIns="0" rtlCol="0" anchor="ctr"/>
          <a:lstStyle/>
          <a:p>
            <a:pPr indent="0" marL="0">
              <a:buNone/>
            </a:pPr>
            <a:r>
              <a:rPr lang="en-US" sz="1200" b="1" dirty="0">
                <a:solidFill>
                  <a:srgbClr val="1F7A4D"/>
                </a:solidFill>
                <a:latin typeface="Meiryo" pitchFamily="34" charset="0"/>
                <a:ea typeface="Meiryo" pitchFamily="34" charset="-122"/>
                <a:cs typeface="Meiryo" pitchFamily="34" charset="-120"/>
              </a:rPr>
              <a:t>結果</a:t>
            </a:r>
            <a:endParaRPr lang="en-US" sz="1200" dirty="0"/>
          </a:p>
        </p:txBody>
      </p:sp>
      <p:sp>
        <p:nvSpPr>
          <p:cNvPr id="21" name="Text 19"/>
          <p:cNvSpPr/>
          <p:nvPr/>
        </p:nvSpPr>
        <p:spPr>
          <a:xfrm>
            <a:off x="4352544" y="2798064"/>
            <a:ext cx="7232904" cy="457200"/>
          </a:xfrm>
          <a:prstGeom prst="rect">
            <a:avLst/>
          </a:prstGeom>
          <a:noFill/>
          <a:ln/>
        </p:spPr>
        <p:txBody>
          <a:bodyPr wrap="square" lIns="0" tIns="0" rIns="0" bIns="0" rtlCol="0" anchor="t"/>
          <a:lstStyle/>
          <a:p>
            <a:pPr indent="0" marL="0">
              <a:lnSpc>
                <a:spcPct val="113000"/>
              </a:lnSpc>
              <a:buNone/>
            </a:pPr>
            <a:r>
              <a:rPr lang="en-US" sz="1000" dirty="0">
                <a:solidFill>
                  <a:srgbClr val="1C3A29"/>
                </a:solidFill>
                <a:latin typeface="Meiryo" pitchFamily="34" charset="0"/>
                <a:ea typeface="Meiryo" pitchFamily="34" charset="-122"/>
                <a:cs typeface="Meiryo" pitchFamily="34" charset="-120"/>
              </a:rPr>
              <a:t>自身の開発技術・ノウハウを営業支援と連携させることで、自社の開発稼働を止めることなく、新規のシステム開発案件を獲得する自走型営業基盤を確立した。</a:t>
            </a:r>
            <a:endParaRPr lang="en-US" sz="1000" dirty="0"/>
          </a:p>
        </p:txBody>
      </p:sp>
      <p:sp>
        <p:nvSpPr>
          <p:cNvPr id="22" name="Shape 20"/>
          <p:cNvSpPr/>
          <p:nvPr/>
        </p:nvSpPr>
        <p:spPr>
          <a:xfrm>
            <a:off x="4114800" y="3456432"/>
            <a:ext cx="7708392" cy="1572768"/>
          </a:xfrm>
          <a:prstGeom prst="roundRect">
            <a:avLst>
              <a:gd name="adj" fmla="val 2907"/>
            </a:avLst>
          </a:prstGeom>
          <a:solidFill>
            <a:srgbClr val="EAF1FA"/>
          </a:solidFill>
          <a:ln w="12700">
            <a:solidFill>
              <a:srgbClr val="C6D8EF"/>
            </a:solidFill>
            <a:prstDash val="solid"/>
          </a:ln>
        </p:spPr>
      </p:sp>
      <p:sp>
        <p:nvSpPr>
          <p:cNvPr id="23" name="Shape 21"/>
          <p:cNvSpPr/>
          <p:nvPr/>
        </p:nvSpPr>
        <p:spPr>
          <a:xfrm>
            <a:off x="4352544" y="3602736"/>
            <a:ext cx="82296" cy="219456"/>
          </a:xfrm>
          <a:prstGeom prst="roundRect">
            <a:avLst>
              <a:gd name="adj" fmla="val 33333"/>
            </a:avLst>
          </a:prstGeom>
          <a:solidFill>
            <a:srgbClr val="2B64AB"/>
          </a:solidFill>
          <a:ln/>
        </p:spPr>
      </p:sp>
      <p:sp>
        <p:nvSpPr>
          <p:cNvPr id="24" name="Text 22"/>
          <p:cNvSpPr/>
          <p:nvPr/>
        </p:nvSpPr>
        <p:spPr>
          <a:xfrm>
            <a:off x="4535424" y="3547872"/>
            <a:ext cx="7159752" cy="292608"/>
          </a:xfrm>
          <a:prstGeom prst="rect">
            <a:avLst/>
          </a:prstGeom>
          <a:noFill/>
          <a:ln/>
        </p:spPr>
        <p:txBody>
          <a:bodyPr wrap="square" lIns="0" tIns="0" rIns="0" bIns="0" rtlCol="0" anchor="ctr"/>
          <a:lstStyle/>
          <a:p>
            <a:pPr indent="0" marL="0">
              <a:buNone/>
            </a:pPr>
            <a:r>
              <a:rPr lang="en-US" sz="1200" b="1" dirty="0">
                <a:solidFill>
                  <a:srgbClr val="2B64AB"/>
                </a:solidFill>
                <a:latin typeface="Meiryo" pitchFamily="34" charset="0"/>
                <a:ea typeface="Meiryo" pitchFamily="34" charset="-122"/>
                <a:cs typeface="Meiryo" pitchFamily="34" charset="-120"/>
              </a:rPr>
              <a:t>今回ご検討をされている企業様への活用ポイント</a:t>
            </a:r>
            <a:endParaRPr lang="en-US" sz="1200" dirty="0"/>
          </a:p>
        </p:txBody>
      </p:sp>
      <p:sp>
        <p:nvSpPr>
          <p:cNvPr id="25" name="Text 23"/>
          <p:cNvSpPr/>
          <p:nvPr/>
        </p:nvSpPr>
        <p:spPr>
          <a:xfrm>
            <a:off x="4352544" y="3858768"/>
            <a:ext cx="7232904" cy="1078992"/>
          </a:xfrm>
          <a:prstGeom prst="rect">
            <a:avLst/>
          </a:prstGeom>
          <a:noFill/>
          <a:ln/>
        </p:spPr>
        <p:txBody>
          <a:bodyPr wrap="square" lIns="0" tIns="0" rIns="0" bIns="0" rtlCol="0" anchor="t"/>
          <a:lstStyle/>
          <a:p>
            <a:pPr indent="0" marL="0">
              <a:lnSpc>
                <a:spcPct val="113000"/>
              </a:lnSpc>
              <a:buNone/>
            </a:pPr>
            <a:r>
              <a:rPr lang="en-US" sz="1000" dirty="0">
                <a:solidFill>
                  <a:srgbClr val="1C2530"/>
                </a:solidFill>
                <a:latin typeface="Meiryo" pitchFamily="34" charset="0"/>
                <a:ea typeface="Meiryo" pitchFamily="34" charset="-122"/>
                <a:cs typeface="Meiryo" pitchFamily="34" charset="-120"/>
              </a:rPr>
              <a:t>株式会社Amwal様のように「営業マンが不在で、自社HPが未整備な状態」であっても、システム開発の強みを営業支援ユニットでターゲット企業へ自動配信し、開発実務に専念しながら案件を獲得できる実践的な手本となります。</a:t>
            </a:r>
            <a:endParaRPr lang="en-US" sz="1000" dirty="0"/>
          </a:p>
        </p:txBody>
      </p:sp>
      <p:sp>
        <p:nvSpPr>
          <p:cNvPr id="26" name="Shape 24"/>
          <p:cNvSpPr/>
          <p:nvPr/>
        </p:nvSpPr>
        <p:spPr>
          <a:xfrm>
            <a:off x="4114800" y="5138928"/>
            <a:ext cx="7708392" cy="1060704"/>
          </a:xfrm>
          <a:prstGeom prst="roundRect">
            <a:avLst>
              <a:gd name="adj" fmla="val 4310"/>
            </a:avLst>
          </a:prstGeom>
          <a:solidFill>
            <a:srgbClr val="FBF4E6"/>
          </a:solidFill>
          <a:ln w="12700">
            <a:solidFill>
              <a:srgbClr val="E7D6AC"/>
            </a:solidFill>
            <a:prstDash val="solid"/>
          </a:ln>
        </p:spPr>
      </p:sp>
      <p:sp>
        <p:nvSpPr>
          <p:cNvPr id="27" name="Shape 25"/>
          <p:cNvSpPr/>
          <p:nvPr/>
        </p:nvSpPr>
        <p:spPr>
          <a:xfrm>
            <a:off x="4352544" y="5285232"/>
            <a:ext cx="82296" cy="219456"/>
          </a:xfrm>
          <a:prstGeom prst="roundRect">
            <a:avLst>
              <a:gd name="adj" fmla="val 33333"/>
            </a:avLst>
          </a:prstGeom>
          <a:solidFill>
            <a:srgbClr val="9A6B12"/>
          </a:solidFill>
          <a:ln/>
        </p:spPr>
      </p:sp>
      <p:sp>
        <p:nvSpPr>
          <p:cNvPr id="28" name="Text 26"/>
          <p:cNvSpPr/>
          <p:nvPr/>
        </p:nvSpPr>
        <p:spPr>
          <a:xfrm>
            <a:off x="4535424" y="5230368"/>
            <a:ext cx="7159752" cy="292608"/>
          </a:xfrm>
          <a:prstGeom prst="rect">
            <a:avLst/>
          </a:prstGeom>
          <a:noFill/>
          <a:ln/>
        </p:spPr>
        <p:txBody>
          <a:bodyPr wrap="square" lIns="0" tIns="0" rIns="0" bIns="0" rtlCol="0" anchor="ctr"/>
          <a:lstStyle/>
          <a:p>
            <a:pPr indent="0" marL="0">
              <a:buNone/>
            </a:pPr>
            <a:r>
              <a:rPr lang="en-US" sz="1200" b="1" dirty="0">
                <a:solidFill>
                  <a:srgbClr val="9A6B12"/>
                </a:solidFill>
                <a:latin typeface="Meiryo" pitchFamily="34" charset="0"/>
                <a:ea typeface="Meiryo" pitchFamily="34" charset="-122"/>
                <a:cs typeface="Meiryo" pitchFamily="34" charset="-120"/>
              </a:rPr>
              <a:t>導入を検討されえいる企業様へのアドバイス</a:t>
            </a:r>
            <a:endParaRPr lang="en-US" sz="1200" dirty="0"/>
          </a:p>
        </p:txBody>
      </p:sp>
      <p:sp>
        <p:nvSpPr>
          <p:cNvPr id="29" name="Text 27"/>
          <p:cNvSpPr/>
          <p:nvPr/>
        </p:nvSpPr>
        <p:spPr>
          <a:xfrm>
            <a:off x="4352544" y="5541264"/>
            <a:ext cx="7232904" cy="566928"/>
          </a:xfrm>
          <a:prstGeom prst="rect">
            <a:avLst/>
          </a:prstGeom>
          <a:noFill/>
          <a:ln/>
        </p:spPr>
        <p:txBody>
          <a:bodyPr wrap="square" lIns="0" tIns="0" rIns="0" bIns="0" rtlCol="0" anchor="t"/>
          <a:lstStyle/>
          <a:p>
            <a:pPr indent="0" marL="0">
              <a:lnSpc>
                <a:spcPct val="113000"/>
              </a:lnSpc>
              <a:buNone/>
            </a:pPr>
            <a:r>
              <a:rPr lang="en-US" sz="1000" i="1" dirty="0">
                <a:solidFill>
                  <a:srgbClr val="4A3A18"/>
                </a:solidFill>
                <a:latin typeface="Meiryo" pitchFamily="34" charset="0"/>
                <a:ea typeface="Meiryo" pitchFamily="34" charset="-122"/>
                <a:cs typeface="Meiryo" pitchFamily="34" charset="-120"/>
              </a:rPr>
              <a:t>「少人数のエンジニア体制において、専門サービスを自力だけで営業・認知拡大させるのには限界があります。外部の仕組みやアプローチのプロを活用することで、自社の開発専門性に特化したまま、市場での信頼と新規案件を最速で手に入れることができます。」</a:t>
            </a:r>
            <a:endParaRPr lang="en-US" sz="1000" dirty="0"/>
          </a:p>
        </p:txBody>
      </p:sp>
      <p:sp>
        <p:nvSpPr>
          <p:cNvPr id="30" name="Text 28"/>
          <p:cNvSpPr/>
          <p:nvPr/>
        </p:nvSpPr>
        <p:spPr>
          <a:xfrm>
            <a:off x="4114800" y="6291072"/>
            <a:ext cx="7708392" cy="219456"/>
          </a:xfrm>
          <a:prstGeom prst="rect">
            <a:avLst/>
          </a:prstGeom>
          <a:noFill/>
          <a:ln/>
        </p:spPr>
        <p:txBody>
          <a:bodyPr wrap="square" lIns="0" tIns="0" rIns="0" bIns="0" rtlCol="0" anchor="ctr"/>
          <a:lstStyle/>
          <a:p>
            <a:pPr indent="0" marL="0">
              <a:buNone/>
            </a:pPr>
            <a:r>
              <a:rPr lang="en-US" sz="950" b="1" dirty="0">
                <a:solidFill>
                  <a:srgbClr val="8593A4"/>
                </a:solidFill>
                <a:latin typeface="Meiryo" pitchFamily="34" charset="0"/>
                <a:ea typeface="Meiryo" pitchFamily="34" charset="-122"/>
                <a:cs typeface="Meiryo" pitchFamily="34" charset="-120"/>
              </a:rPr>
              <a:t>引用URL　</a:t>
            </a:r>
            <a:pPr indent="0" marL="0">
              <a:buNone/>
            </a:pPr>
            <a:r>
              <a:rPr lang="en-US" sz="950" u="sng" dirty="0">
                <a:solidFill>
                  <a:srgbClr val="2B64AB"/>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https://www.aidma-hd.jp/case/zirei-486/</a:t>
            </a:r>
            <a:endParaRPr lang="en-US" sz="950" dirty="0"/>
          </a:p>
        </p:txBody>
      </p:sp>
      <p:sp>
        <p:nvSpPr>
          <p:cNvPr id="31" name="Text 29"/>
          <p:cNvSpPr/>
          <p:nvPr/>
        </p:nvSpPr>
        <p:spPr>
          <a:xfrm>
            <a:off x="365760" y="6537960"/>
            <a:ext cx="8229600" cy="219456"/>
          </a:xfrm>
          <a:prstGeom prst="rect">
            <a:avLst/>
          </a:prstGeom>
          <a:noFill/>
          <a:ln/>
        </p:spPr>
        <p:txBody>
          <a:bodyPr wrap="square" lIns="0" tIns="0" rIns="0" bIns="0" rtlCol="0" anchor="ctr"/>
          <a:lstStyle/>
          <a:p>
            <a:pPr indent="0" marL="0">
              <a:buNone/>
            </a:pPr>
            <a:r>
              <a:rPr lang="en-US" sz="900" dirty="0">
                <a:solidFill>
                  <a:srgbClr val="9AA7B6"/>
                </a:solidFill>
                <a:latin typeface="Meiryo" pitchFamily="34" charset="0"/>
                <a:ea typeface="Meiryo" pitchFamily="34" charset="-122"/>
                <a:cs typeface="Meiryo" pitchFamily="34" charset="-120"/>
              </a:rPr>
              <a:t>株式会社Amwal様　提案引用実績5選</a:t>
            </a:r>
            <a:endParaRPr lang="en-US" sz="900" dirty="0"/>
          </a:p>
        </p:txBody>
      </p:sp>
      <p:sp>
        <p:nvSpPr>
          <p:cNvPr id="32" name="Text 30"/>
          <p:cNvSpPr/>
          <p:nvPr/>
        </p:nvSpPr>
        <p:spPr>
          <a:xfrm>
            <a:off x="10424160" y="6537960"/>
            <a:ext cx="1399032" cy="219456"/>
          </a:xfrm>
          <a:prstGeom prst="rect">
            <a:avLst/>
          </a:prstGeom>
          <a:noFill/>
          <a:ln/>
        </p:spPr>
        <p:txBody>
          <a:bodyPr wrap="square" lIns="0" tIns="0" rIns="0" bIns="0" rtlCol="0" anchor="ctr"/>
          <a:lstStyle/>
          <a:p>
            <a:pPr algn="r" indent="0" marL="0">
              <a:buNone/>
            </a:pPr>
            <a:r>
              <a:rPr lang="en-US" sz="900" dirty="0">
                <a:solidFill>
                  <a:srgbClr val="9AA7B6"/>
                </a:solidFill>
                <a:latin typeface="Meiryo" pitchFamily="34" charset="0"/>
                <a:ea typeface="Meiryo" pitchFamily="34" charset="-122"/>
                <a:cs typeface="Meiryo" pitchFamily="34" charset="-120"/>
              </a:rPr>
              <a:t>2 / 5</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F6FB"/>
        </a:solidFill>
      </p:bgPr>
    </p:bg>
    <p:spTree>
      <p:nvGrpSpPr>
        <p:cNvPr id="1" name=""/>
        <p:cNvGrpSpPr/>
        <p:nvPr/>
      </p:nvGrpSpPr>
      <p:grpSpPr>
        <a:xfrm>
          <a:off x="0" y="0"/>
          <a:ext cx="0" cy="0"/>
          <a:chOff x="0" y="0"/>
          <a:chExt cx="0" cy="0"/>
        </a:xfrm>
      </p:grpSpPr>
      <p:sp>
        <p:nvSpPr>
          <p:cNvPr id="2" name="Shape 0"/>
          <p:cNvSpPr/>
          <p:nvPr/>
        </p:nvSpPr>
        <p:spPr>
          <a:xfrm>
            <a:off x="365760" y="365760"/>
            <a:ext cx="11457432" cy="932688"/>
          </a:xfrm>
          <a:prstGeom prst="roundRect">
            <a:avLst>
              <a:gd name="adj" fmla="val 5882"/>
            </a:avLst>
          </a:prstGeom>
          <a:solidFill>
            <a:srgbClr val="16407A"/>
          </a:solidFill>
          <a:ln/>
          <a:effectLst>
            <a:outerShdw sx="100000" sy="100000" kx="0" ky="0" algn="bl" rotWithShape="0" blurRad="76200" dist="25400" dir="5400000">
              <a:srgbClr val="0F2F5C">
                <a:alpha val="35000"/>
              </a:srgbClr>
            </a:outerShdw>
          </a:effectLst>
        </p:spPr>
      </p:sp>
      <p:sp>
        <p:nvSpPr>
          <p:cNvPr id="3" name="Shape 1"/>
          <p:cNvSpPr/>
          <p:nvPr/>
        </p:nvSpPr>
        <p:spPr>
          <a:xfrm>
            <a:off x="566928" y="566928"/>
            <a:ext cx="530352" cy="530352"/>
          </a:xfrm>
          <a:prstGeom prst="roundRect">
            <a:avLst>
              <a:gd name="adj" fmla="val 13793"/>
            </a:avLst>
          </a:prstGeom>
          <a:solidFill>
            <a:srgbClr val="FFFFFF">
              <a:alpha val="16000"/>
            </a:srgbClr>
          </a:solidFill>
          <a:ln w="12700">
            <a:solidFill>
              <a:srgbClr val="FFFFFF">
                <a:alpha val="40000"/>
              </a:srgbClr>
            </a:solidFill>
            <a:prstDash val="solid"/>
          </a:ln>
        </p:spPr>
      </p:sp>
      <p:sp>
        <p:nvSpPr>
          <p:cNvPr id="4" name="Text 2"/>
          <p:cNvSpPr/>
          <p:nvPr/>
        </p:nvSpPr>
        <p:spPr>
          <a:xfrm>
            <a:off x="566928" y="566928"/>
            <a:ext cx="530352" cy="530352"/>
          </a:xfrm>
          <a:prstGeom prst="rect">
            <a:avLst/>
          </a:prstGeom>
          <a:noFill/>
          <a:ln/>
        </p:spPr>
        <p:txBody>
          <a:bodyPr wrap="square" lIns="0" tIns="0" rIns="0" bIns="0" rtlCol="0" anchor="ctr"/>
          <a:lstStyle/>
          <a:p>
            <a:pPr algn="ctr" indent="0" marL="0">
              <a:buNone/>
            </a:pPr>
            <a:r>
              <a:rPr lang="en-US" sz="2400" b="1" dirty="0">
                <a:solidFill>
                  <a:srgbClr val="FFFFFF"/>
                </a:solidFill>
                <a:latin typeface="Meiryo" pitchFamily="34" charset="0"/>
                <a:ea typeface="Meiryo" pitchFamily="34" charset="-122"/>
                <a:cs typeface="Meiryo" pitchFamily="34" charset="-120"/>
              </a:rPr>
              <a:t>3</a:t>
            </a:r>
            <a:endParaRPr lang="en-US" sz="2400" dirty="0"/>
          </a:p>
        </p:txBody>
      </p:sp>
      <p:sp>
        <p:nvSpPr>
          <p:cNvPr id="5" name="Text 3"/>
          <p:cNvSpPr/>
          <p:nvPr/>
        </p:nvSpPr>
        <p:spPr>
          <a:xfrm>
            <a:off x="1280160" y="420624"/>
            <a:ext cx="10378440" cy="822960"/>
          </a:xfrm>
          <a:prstGeom prst="rect">
            <a:avLst/>
          </a:prstGeom>
          <a:noFill/>
          <a:ln/>
        </p:spPr>
        <p:txBody>
          <a:bodyPr wrap="square" lIns="0" tIns="0" rIns="0" bIns="0" rtlCol="0" anchor="ctr"/>
          <a:lstStyle/>
          <a:p>
            <a:pPr indent="0" marL="0">
              <a:lnSpc>
                <a:spcPct val="105000"/>
              </a:lnSpc>
              <a:buNone/>
            </a:pPr>
            <a:r>
              <a:rPr lang="en-US" sz="1400" b="1" dirty="0">
                <a:solidFill>
                  <a:srgbClr val="FFFFFF"/>
                </a:solidFill>
                <a:latin typeface="Meiryo" pitchFamily="34" charset="0"/>
                <a:ea typeface="Meiryo" pitchFamily="34" charset="-122"/>
                <a:cs typeface="Meiryo" pitchFamily="34" charset="-120"/>
              </a:rPr>
              <a:t>営業ノウハウゼロから月間約10件の高品質商談を獲得し、開発に専念しつつ事業成長</a:t>
            </a:r>
            <a:endParaRPr lang="en-US" sz="1400" dirty="0"/>
          </a:p>
        </p:txBody>
      </p:sp>
      <p:sp>
        <p:nvSpPr>
          <p:cNvPr id="6" name="Shape 4"/>
          <p:cNvSpPr/>
          <p:nvPr/>
        </p:nvSpPr>
        <p:spPr>
          <a:xfrm>
            <a:off x="365760" y="1481328"/>
            <a:ext cx="3566160" cy="5029200"/>
          </a:xfrm>
          <a:prstGeom prst="roundRect">
            <a:avLst>
              <a:gd name="adj" fmla="val 1282"/>
            </a:avLst>
          </a:prstGeom>
          <a:solidFill>
            <a:srgbClr val="EAF1FA"/>
          </a:solidFill>
          <a:ln w="12700">
            <a:solidFill>
              <a:srgbClr val="D2DCEA"/>
            </a:solidFill>
            <a:prstDash val="solid"/>
          </a:ln>
        </p:spPr>
      </p:sp>
      <p:sp>
        <p:nvSpPr>
          <p:cNvPr id="7" name="Text 5"/>
          <p:cNvSpPr/>
          <p:nvPr/>
        </p:nvSpPr>
        <p:spPr>
          <a:xfrm>
            <a:off x="585216" y="1664208"/>
            <a:ext cx="3127248" cy="822960"/>
          </a:xfrm>
          <a:prstGeom prst="rect">
            <a:avLst/>
          </a:prstGeom>
          <a:noFill/>
          <a:ln/>
        </p:spPr>
        <p:txBody>
          <a:bodyPr wrap="square" lIns="0" tIns="0" rIns="0" bIns="0" rtlCol="0" anchor="t"/>
          <a:lstStyle/>
          <a:p>
            <a:pPr indent="0" marL="0">
              <a:lnSpc>
                <a:spcPct val="105000"/>
              </a:lnSpc>
              <a:buNone/>
            </a:pPr>
            <a:r>
              <a:rPr lang="en-US" sz="1300" b="1" dirty="0">
                <a:solidFill>
                  <a:srgbClr val="1C2530"/>
                </a:solidFill>
                <a:latin typeface="Meiryo" pitchFamily="34" charset="0"/>
                <a:ea typeface="Meiryo" pitchFamily="34" charset="-122"/>
                <a:cs typeface="Meiryo" pitchFamily="34" charset="-120"/>
              </a:rPr>
              <a:t>株式会社ワンビッツ　様</a:t>
            </a:r>
            <a:endParaRPr lang="en-US" sz="1300" dirty="0"/>
          </a:p>
        </p:txBody>
      </p:sp>
      <p:sp>
        <p:nvSpPr>
          <p:cNvPr id="8" name="Text 6"/>
          <p:cNvSpPr/>
          <p:nvPr/>
        </p:nvSpPr>
        <p:spPr>
          <a:xfrm>
            <a:off x="585216" y="2615184"/>
            <a:ext cx="3127248" cy="219456"/>
          </a:xfrm>
          <a:prstGeom prst="rect">
            <a:avLst/>
          </a:prstGeom>
          <a:noFill/>
          <a:ln/>
        </p:spPr>
        <p:txBody>
          <a:bodyPr wrap="square" lIns="0" tIns="0" rIns="0" bIns="0" rtlCol="0" anchor="ctr"/>
          <a:lstStyle/>
          <a:p>
            <a:pPr indent="0" marL="0">
              <a:buNone/>
            </a:pPr>
            <a:r>
              <a:rPr lang="en-US" sz="950" b="1" spc="100" kern="0" dirty="0">
                <a:solidFill>
                  <a:srgbClr val="2B64AB"/>
                </a:solidFill>
                <a:latin typeface="Meiryo" pitchFamily="34" charset="0"/>
                <a:ea typeface="Meiryo" pitchFamily="34" charset="-122"/>
                <a:cs typeface="Meiryo" pitchFamily="34" charset="-120"/>
              </a:rPr>
              <a:t>事業内容</a:t>
            </a:r>
            <a:endParaRPr lang="en-US" sz="950" dirty="0"/>
          </a:p>
        </p:txBody>
      </p:sp>
      <p:sp>
        <p:nvSpPr>
          <p:cNvPr id="9" name="Text 7"/>
          <p:cNvSpPr/>
          <p:nvPr/>
        </p:nvSpPr>
        <p:spPr>
          <a:xfrm>
            <a:off x="585216" y="2834640"/>
            <a:ext cx="3127248" cy="1051560"/>
          </a:xfrm>
          <a:prstGeom prst="rect">
            <a:avLst/>
          </a:prstGeom>
          <a:noFill/>
          <a:ln/>
        </p:spPr>
        <p:txBody>
          <a:bodyPr wrap="square" lIns="0" tIns="0" rIns="0" bIns="0" rtlCol="0" anchor="ctr"/>
          <a:lstStyle/>
          <a:p>
            <a:pPr indent="0" marL="0">
              <a:lnSpc>
                <a:spcPct val="113000"/>
              </a:lnSpc>
              <a:buNone/>
            </a:pPr>
            <a:r>
              <a:rPr lang="en-US" sz="950" dirty="0">
                <a:solidFill>
                  <a:srgbClr val="45566A"/>
                </a:solidFill>
                <a:latin typeface="Meiryo" pitchFamily="34" charset="0"/>
                <a:ea typeface="Meiryo" pitchFamily="34" charset="-122"/>
                <a:cs typeface="Meiryo" pitchFamily="34" charset="-120"/>
              </a:rPr>
              <a:t>Web・各種システム受託開発、AI活用支援、DXソリューション提供。</a:t>
            </a:r>
            <a:endParaRPr lang="en-US" sz="950" dirty="0"/>
          </a:p>
        </p:txBody>
      </p:sp>
      <p:sp>
        <p:nvSpPr>
          <p:cNvPr id="10" name="Text 8"/>
          <p:cNvSpPr/>
          <p:nvPr/>
        </p:nvSpPr>
        <p:spPr>
          <a:xfrm>
            <a:off x="585216" y="3931920"/>
            <a:ext cx="3127248" cy="219456"/>
          </a:xfrm>
          <a:prstGeom prst="rect">
            <a:avLst/>
          </a:prstGeom>
          <a:noFill/>
          <a:ln/>
        </p:spPr>
        <p:txBody>
          <a:bodyPr wrap="square" lIns="0" tIns="0" rIns="0" bIns="0" rtlCol="0" anchor="ctr"/>
          <a:lstStyle/>
          <a:p>
            <a:pPr indent="0" marL="0">
              <a:buNone/>
            </a:pPr>
            <a:r>
              <a:rPr lang="en-US" sz="950" b="1" spc="100" kern="0" dirty="0">
                <a:solidFill>
                  <a:srgbClr val="2B64AB"/>
                </a:solidFill>
                <a:latin typeface="Meiryo" pitchFamily="34" charset="0"/>
                <a:ea typeface="Meiryo" pitchFamily="34" charset="-122"/>
                <a:cs typeface="Meiryo" pitchFamily="34" charset="-120"/>
              </a:rPr>
              <a:t>解決した課題</a:t>
            </a:r>
            <a:endParaRPr lang="en-US" sz="950" dirty="0"/>
          </a:p>
        </p:txBody>
      </p:sp>
      <p:sp>
        <p:nvSpPr>
          <p:cNvPr id="11" name="Shape 9"/>
          <p:cNvSpPr/>
          <p:nvPr/>
        </p:nvSpPr>
        <p:spPr>
          <a:xfrm>
            <a:off x="585216" y="4206240"/>
            <a:ext cx="2485390" cy="274320"/>
          </a:xfrm>
          <a:prstGeom prst="roundRect">
            <a:avLst>
              <a:gd name="adj" fmla="val 50000"/>
            </a:avLst>
          </a:prstGeom>
          <a:solidFill>
            <a:srgbClr val="DCE8F6"/>
          </a:solidFill>
          <a:ln w="9525">
            <a:solidFill>
              <a:srgbClr val="BFD3EC"/>
            </a:solidFill>
            <a:prstDash val="solid"/>
          </a:ln>
        </p:spPr>
      </p:sp>
      <p:sp>
        <p:nvSpPr>
          <p:cNvPr id="12" name="Text 10"/>
          <p:cNvSpPr/>
          <p:nvPr/>
        </p:nvSpPr>
        <p:spPr>
          <a:xfrm>
            <a:off x="585216" y="4206240"/>
            <a:ext cx="2485390" cy="274320"/>
          </a:xfrm>
          <a:prstGeom prst="rect">
            <a:avLst/>
          </a:prstGeom>
          <a:noFill/>
          <a:ln/>
        </p:spPr>
        <p:txBody>
          <a:bodyPr wrap="square" lIns="0" tIns="0" rIns="0" bIns="0" rtlCol="0" anchor="ctr"/>
          <a:lstStyle/>
          <a:p>
            <a:pPr algn="ctr" indent="0" marL="0">
              <a:buNone/>
            </a:pPr>
            <a:r>
              <a:rPr lang="en-US" sz="950" b="1" dirty="0">
                <a:solidFill>
                  <a:srgbClr val="24548F"/>
                </a:solidFill>
                <a:latin typeface="Meiryo" pitchFamily="34" charset="0"/>
                <a:ea typeface="Meiryo" pitchFamily="34" charset="-122"/>
                <a:cs typeface="Meiryo" pitchFamily="34" charset="-120"/>
              </a:rPr>
              <a:t>確かなシステム開発力・技術力はある</a:t>
            </a:r>
            <a:endParaRPr lang="en-US" sz="950" dirty="0"/>
          </a:p>
        </p:txBody>
      </p:sp>
      <p:sp>
        <p:nvSpPr>
          <p:cNvPr id="13" name="Shape 11"/>
          <p:cNvSpPr/>
          <p:nvPr/>
        </p:nvSpPr>
        <p:spPr>
          <a:xfrm>
            <a:off x="585216" y="4553712"/>
            <a:ext cx="4338574" cy="274320"/>
          </a:xfrm>
          <a:prstGeom prst="roundRect">
            <a:avLst>
              <a:gd name="adj" fmla="val 50000"/>
            </a:avLst>
          </a:prstGeom>
          <a:solidFill>
            <a:srgbClr val="DCE8F6"/>
          </a:solidFill>
          <a:ln w="9525">
            <a:solidFill>
              <a:srgbClr val="BFD3EC"/>
            </a:solidFill>
            <a:prstDash val="solid"/>
          </a:ln>
        </p:spPr>
      </p:sp>
      <p:sp>
        <p:nvSpPr>
          <p:cNvPr id="14" name="Text 12"/>
          <p:cNvSpPr/>
          <p:nvPr/>
        </p:nvSpPr>
        <p:spPr>
          <a:xfrm>
            <a:off x="585216" y="4553712"/>
            <a:ext cx="4338574" cy="274320"/>
          </a:xfrm>
          <a:prstGeom prst="rect">
            <a:avLst/>
          </a:prstGeom>
          <a:noFill/>
          <a:ln/>
        </p:spPr>
        <p:txBody>
          <a:bodyPr wrap="square" lIns="0" tIns="0" rIns="0" bIns="0" rtlCol="0" anchor="ctr"/>
          <a:lstStyle/>
          <a:p>
            <a:pPr algn="ctr" indent="0" marL="0">
              <a:buNone/>
            </a:pPr>
            <a:r>
              <a:rPr lang="en-US" sz="950" b="1" dirty="0">
                <a:solidFill>
                  <a:srgbClr val="24548F"/>
                </a:solidFill>
                <a:latin typeface="Meiryo" pitchFamily="34" charset="0"/>
                <a:ea typeface="Meiryo" pitchFamily="34" charset="-122"/>
                <a:cs typeface="Meiryo" pitchFamily="34" charset="-120"/>
              </a:rPr>
              <a:t>プッシュ型の新規営業ノウハウ・専任体制がなくBtoB案件獲得に課題</a:t>
            </a:r>
            <a:endParaRPr lang="en-US" sz="950" dirty="0"/>
          </a:p>
        </p:txBody>
      </p:sp>
      <p:sp>
        <p:nvSpPr>
          <p:cNvPr id="15" name="Shape 13"/>
          <p:cNvSpPr/>
          <p:nvPr/>
        </p:nvSpPr>
        <p:spPr>
          <a:xfrm>
            <a:off x="4114800" y="1417320"/>
            <a:ext cx="82296" cy="219456"/>
          </a:xfrm>
          <a:prstGeom prst="roundRect">
            <a:avLst>
              <a:gd name="adj" fmla="val 33333"/>
            </a:avLst>
          </a:prstGeom>
          <a:solidFill>
            <a:srgbClr val="2B64AB"/>
          </a:solidFill>
          <a:ln/>
        </p:spPr>
      </p:sp>
      <p:sp>
        <p:nvSpPr>
          <p:cNvPr id="16" name="Text 14"/>
          <p:cNvSpPr/>
          <p:nvPr/>
        </p:nvSpPr>
        <p:spPr>
          <a:xfrm>
            <a:off x="4297680" y="1353312"/>
            <a:ext cx="7315200" cy="310896"/>
          </a:xfrm>
          <a:prstGeom prst="rect">
            <a:avLst/>
          </a:prstGeom>
          <a:noFill/>
          <a:ln/>
        </p:spPr>
        <p:txBody>
          <a:bodyPr wrap="square" lIns="0" tIns="0" rIns="0" bIns="0" rtlCol="0" anchor="ctr"/>
          <a:lstStyle/>
          <a:p>
            <a:pPr indent="0" marL="0">
              <a:buNone/>
            </a:pPr>
            <a:r>
              <a:rPr lang="en-US" sz="1250" b="1" dirty="0">
                <a:solidFill>
                  <a:srgbClr val="2B64AB"/>
                </a:solidFill>
                <a:latin typeface="Meiryo" pitchFamily="34" charset="0"/>
                <a:ea typeface="Meiryo" pitchFamily="34" charset="-122"/>
                <a:cs typeface="Meiryo" pitchFamily="34" charset="-120"/>
              </a:rPr>
              <a:t>事例の概要</a:t>
            </a:r>
            <a:endParaRPr lang="en-US" sz="1250" dirty="0"/>
          </a:p>
        </p:txBody>
      </p:sp>
      <p:sp>
        <p:nvSpPr>
          <p:cNvPr id="17" name="Text 15"/>
          <p:cNvSpPr/>
          <p:nvPr/>
        </p:nvSpPr>
        <p:spPr>
          <a:xfrm>
            <a:off x="4114800" y="1682496"/>
            <a:ext cx="7708392" cy="676656"/>
          </a:xfrm>
          <a:prstGeom prst="rect">
            <a:avLst/>
          </a:prstGeom>
          <a:noFill/>
          <a:ln/>
        </p:spPr>
        <p:txBody>
          <a:bodyPr wrap="square" lIns="0" tIns="0" rIns="0" bIns="0" rtlCol="0" anchor="t"/>
          <a:lstStyle/>
          <a:p>
            <a:pPr indent="0" marL="0">
              <a:lnSpc>
                <a:spcPct val="116000"/>
              </a:lnSpc>
              <a:buNone/>
            </a:pPr>
            <a:r>
              <a:rPr lang="en-US" sz="1000" dirty="0">
                <a:solidFill>
                  <a:srgbClr val="45566A"/>
                </a:solidFill>
                <a:latin typeface="Meiryo" pitchFamily="34" charset="0"/>
                <a:ea typeface="Meiryo" pitchFamily="34" charset="-122"/>
                <a:cs typeface="Meiryo" pitchFamily="34" charset="-120"/>
              </a:rPr>
              <a:t>大手IT企業出身の技術者が創業。独自のシステム開発を展開するも新規営業の体制が皆無だったため「セールスユニット」等を導入。アプローチ前半をアイドマに委託し、自社は確度の高い商談・開発実務に専念する分業体制を構築した。</a:t>
            </a:r>
            <a:endParaRPr lang="en-US" sz="1000" dirty="0"/>
          </a:p>
        </p:txBody>
      </p:sp>
      <p:sp>
        <p:nvSpPr>
          <p:cNvPr id="18" name="Shape 16"/>
          <p:cNvSpPr/>
          <p:nvPr/>
        </p:nvSpPr>
        <p:spPr>
          <a:xfrm>
            <a:off x="4114800" y="2395728"/>
            <a:ext cx="7708392" cy="950976"/>
          </a:xfrm>
          <a:prstGeom prst="roundRect">
            <a:avLst>
              <a:gd name="adj" fmla="val 4808"/>
            </a:avLst>
          </a:prstGeom>
          <a:solidFill>
            <a:srgbClr val="E9F4EE"/>
          </a:solidFill>
          <a:ln w="12700">
            <a:solidFill>
              <a:srgbClr val="BADFC9"/>
            </a:solidFill>
            <a:prstDash val="solid"/>
          </a:ln>
        </p:spPr>
      </p:sp>
      <p:sp>
        <p:nvSpPr>
          <p:cNvPr id="19" name="Shape 17"/>
          <p:cNvSpPr/>
          <p:nvPr/>
        </p:nvSpPr>
        <p:spPr>
          <a:xfrm>
            <a:off x="4352544" y="2542032"/>
            <a:ext cx="82296" cy="219456"/>
          </a:xfrm>
          <a:prstGeom prst="roundRect">
            <a:avLst>
              <a:gd name="adj" fmla="val 33333"/>
            </a:avLst>
          </a:prstGeom>
          <a:solidFill>
            <a:srgbClr val="1F7A4D"/>
          </a:solidFill>
          <a:ln/>
        </p:spPr>
      </p:sp>
      <p:sp>
        <p:nvSpPr>
          <p:cNvPr id="20" name="Text 18"/>
          <p:cNvSpPr/>
          <p:nvPr/>
        </p:nvSpPr>
        <p:spPr>
          <a:xfrm>
            <a:off x="4535424" y="2487168"/>
            <a:ext cx="7159752" cy="292608"/>
          </a:xfrm>
          <a:prstGeom prst="rect">
            <a:avLst/>
          </a:prstGeom>
          <a:noFill/>
          <a:ln/>
        </p:spPr>
        <p:txBody>
          <a:bodyPr wrap="square" lIns="0" tIns="0" rIns="0" bIns="0" rtlCol="0" anchor="ctr"/>
          <a:lstStyle/>
          <a:p>
            <a:pPr indent="0" marL="0">
              <a:buNone/>
            </a:pPr>
            <a:r>
              <a:rPr lang="en-US" sz="1200" b="1" dirty="0">
                <a:solidFill>
                  <a:srgbClr val="1F7A4D"/>
                </a:solidFill>
                <a:latin typeface="Meiryo" pitchFamily="34" charset="0"/>
                <a:ea typeface="Meiryo" pitchFamily="34" charset="-122"/>
                <a:cs typeface="Meiryo" pitchFamily="34" charset="-120"/>
              </a:rPr>
              <a:t>結果</a:t>
            </a:r>
            <a:endParaRPr lang="en-US" sz="1200" dirty="0"/>
          </a:p>
        </p:txBody>
      </p:sp>
      <p:sp>
        <p:nvSpPr>
          <p:cNvPr id="21" name="Text 19"/>
          <p:cNvSpPr/>
          <p:nvPr/>
        </p:nvSpPr>
        <p:spPr>
          <a:xfrm>
            <a:off x="4352544" y="2798064"/>
            <a:ext cx="7232904" cy="457200"/>
          </a:xfrm>
          <a:prstGeom prst="rect">
            <a:avLst/>
          </a:prstGeom>
          <a:noFill/>
          <a:ln/>
        </p:spPr>
        <p:txBody>
          <a:bodyPr wrap="square" lIns="0" tIns="0" rIns="0" bIns="0" rtlCol="0" anchor="t"/>
          <a:lstStyle/>
          <a:p>
            <a:pPr indent="0" marL="0">
              <a:lnSpc>
                <a:spcPct val="113000"/>
              </a:lnSpc>
              <a:buNone/>
            </a:pPr>
            <a:r>
              <a:rPr lang="en-US" sz="1000" dirty="0">
                <a:solidFill>
                  <a:srgbClr val="1C3A29"/>
                </a:solidFill>
                <a:latin typeface="Meiryo" pitchFamily="34" charset="0"/>
                <a:ea typeface="Meiryo" pitchFamily="34" charset="-122"/>
                <a:cs typeface="Meiryo" pitchFamily="34" charset="-120"/>
              </a:rPr>
              <a:t>月間約10件の高品質なシステム開発商談を獲得し、開発に専念しながら適正な受託価格での契約獲得と事業成長を両立させることに成功した。</a:t>
            </a:r>
            <a:endParaRPr lang="en-US" sz="1000" dirty="0"/>
          </a:p>
        </p:txBody>
      </p:sp>
      <p:sp>
        <p:nvSpPr>
          <p:cNvPr id="22" name="Shape 20"/>
          <p:cNvSpPr/>
          <p:nvPr/>
        </p:nvSpPr>
        <p:spPr>
          <a:xfrm>
            <a:off x="4114800" y="3456432"/>
            <a:ext cx="7708392" cy="1572768"/>
          </a:xfrm>
          <a:prstGeom prst="roundRect">
            <a:avLst>
              <a:gd name="adj" fmla="val 2907"/>
            </a:avLst>
          </a:prstGeom>
          <a:solidFill>
            <a:srgbClr val="EAF1FA"/>
          </a:solidFill>
          <a:ln w="12700">
            <a:solidFill>
              <a:srgbClr val="C6D8EF"/>
            </a:solidFill>
            <a:prstDash val="solid"/>
          </a:ln>
        </p:spPr>
      </p:sp>
      <p:sp>
        <p:nvSpPr>
          <p:cNvPr id="23" name="Shape 21"/>
          <p:cNvSpPr/>
          <p:nvPr/>
        </p:nvSpPr>
        <p:spPr>
          <a:xfrm>
            <a:off x="4352544" y="3602736"/>
            <a:ext cx="82296" cy="219456"/>
          </a:xfrm>
          <a:prstGeom prst="roundRect">
            <a:avLst>
              <a:gd name="adj" fmla="val 33333"/>
            </a:avLst>
          </a:prstGeom>
          <a:solidFill>
            <a:srgbClr val="2B64AB"/>
          </a:solidFill>
          <a:ln/>
        </p:spPr>
      </p:sp>
      <p:sp>
        <p:nvSpPr>
          <p:cNvPr id="24" name="Text 22"/>
          <p:cNvSpPr/>
          <p:nvPr/>
        </p:nvSpPr>
        <p:spPr>
          <a:xfrm>
            <a:off x="4535424" y="3547872"/>
            <a:ext cx="7159752" cy="292608"/>
          </a:xfrm>
          <a:prstGeom prst="rect">
            <a:avLst/>
          </a:prstGeom>
          <a:noFill/>
          <a:ln/>
        </p:spPr>
        <p:txBody>
          <a:bodyPr wrap="square" lIns="0" tIns="0" rIns="0" bIns="0" rtlCol="0" anchor="ctr"/>
          <a:lstStyle/>
          <a:p>
            <a:pPr indent="0" marL="0">
              <a:buNone/>
            </a:pPr>
            <a:r>
              <a:rPr lang="en-US" sz="1200" b="1" dirty="0">
                <a:solidFill>
                  <a:srgbClr val="2B64AB"/>
                </a:solidFill>
                <a:latin typeface="Meiryo" pitchFamily="34" charset="0"/>
                <a:ea typeface="Meiryo" pitchFamily="34" charset="-122"/>
                <a:cs typeface="Meiryo" pitchFamily="34" charset="-120"/>
              </a:rPr>
              <a:t>今回ご検討をされている企業様への活用ポイント</a:t>
            </a:r>
            <a:endParaRPr lang="en-US" sz="1200" dirty="0"/>
          </a:p>
        </p:txBody>
      </p:sp>
      <p:sp>
        <p:nvSpPr>
          <p:cNvPr id="25" name="Text 23"/>
          <p:cNvSpPr/>
          <p:nvPr/>
        </p:nvSpPr>
        <p:spPr>
          <a:xfrm>
            <a:off x="4352544" y="3858768"/>
            <a:ext cx="7232904" cy="1078992"/>
          </a:xfrm>
          <a:prstGeom prst="rect">
            <a:avLst/>
          </a:prstGeom>
          <a:noFill/>
          <a:ln/>
        </p:spPr>
        <p:txBody>
          <a:bodyPr wrap="square" lIns="0" tIns="0" rIns="0" bIns="0" rtlCol="0" anchor="t"/>
          <a:lstStyle/>
          <a:p>
            <a:pPr indent="0" marL="0">
              <a:lnSpc>
                <a:spcPct val="113000"/>
              </a:lnSpc>
              <a:buNone/>
            </a:pPr>
            <a:r>
              <a:rPr lang="en-US" sz="1000" dirty="0">
                <a:solidFill>
                  <a:srgbClr val="1C2530"/>
                </a:solidFill>
                <a:latin typeface="Meiryo" pitchFamily="34" charset="0"/>
                <a:ea typeface="Meiryo" pitchFamily="34" charset="-122"/>
                <a:cs typeface="Meiryo" pitchFamily="34" charset="-120"/>
              </a:rPr>
              <a:t>自前で高額な営業マンを採用するリスクを避け、営業支援ユニットを活用して毎月約10件規模の高品質なシステム受託開発商談を自動創出するための最適モデルです。</a:t>
            </a:r>
            <a:endParaRPr lang="en-US" sz="1000" dirty="0"/>
          </a:p>
        </p:txBody>
      </p:sp>
      <p:sp>
        <p:nvSpPr>
          <p:cNvPr id="26" name="Shape 24"/>
          <p:cNvSpPr/>
          <p:nvPr/>
        </p:nvSpPr>
        <p:spPr>
          <a:xfrm>
            <a:off x="4114800" y="5138928"/>
            <a:ext cx="7708392" cy="1060704"/>
          </a:xfrm>
          <a:prstGeom prst="roundRect">
            <a:avLst>
              <a:gd name="adj" fmla="val 4310"/>
            </a:avLst>
          </a:prstGeom>
          <a:solidFill>
            <a:srgbClr val="FBF4E6"/>
          </a:solidFill>
          <a:ln w="12700">
            <a:solidFill>
              <a:srgbClr val="E7D6AC"/>
            </a:solidFill>
            <a:prstDash val="solid"/>
          </a:ln>
        </p:spPr>
      </p:sp>
      <p:sp>
        <p:nvSpPr>
          <p:cNvPr id="27" name="Shape 25"/>
          <p:cNvSpPr/>
          <p:nvPr/>
        </p:nvSpPr>
        <p:spPr>
          <a:xfrm>
            <a:off x="4352544" y="5285232"/>
            <a:ext cx="82296" cy="219456"/>
          </a:xfrm>
          <a:prstGeom prst="roundRect">
            <a:avLst>
              <a:gd name="adj" fmla="val 33333"/>
            </a:avLst>
          </a:prstGeom>
          <a:solidFill>
            <a:srgbClr val="9A6B12"/>
          </a:solidFill>
          <a:ln/>
        </p:spPr>
      </p:sp>
      <p:sp>
        <p:nvSpPr>
          <p:cNvPr id="28" name="Text 26"/>
          <p:cNvSpPr/>
          <p:nvPr/>
        </p:nvSpPr>
        <p:spPr>
          <a:xfrm>
            <a:off x="4535424" y="5230368"/>
            <a:ext cx="7159752" cy="292608"/>
          </a:xfrm>
          <a:prstGeom prst="rect">
            <a:avLst/>
          </a:prstGeom>
          <a:noFill/>
          <a:ln/>
        </p:spPr>
        <p:txBody>
          <a:bodyPr wrap="square" lIns="0" tIns="0" rIns="0" bIns="0" rtlCol="0" anchor="ctr"/>
          <a:lstStyle/>
          <a:p>
            <a:pPr indent="0" marL="0">
              <a:buNone/>
            </a:pPr>
            <a:r>
              <a:rPr lang="en-US" sz="1200" b="1" dirty="0">
                <a:solidFill>
                  <a:srgbClr val="9A6B12"/>
                </a:solidFill>
                <a:latin typeface="Meiryo" pitchFamily="34" charset="0"/>
                <a:ea typeface="Meiryo" pitchFamily="34" charset="-122"/>
                <a:cs typeface="Meiryo" pitchFamily="34" charset="-120"/>
              </a:rPr>
              <a:t>導入を検討されえいる企業様へのアドバイス</a:t>
            </a:r>
            <a:endParaRPr lang="en-US" sz="1200" dirty="0"/>
          </a:p>
        </p:txBody>
      </p:sp>
      <p:sp>
        <p:nvSpPr>
          <p:cNvPr id="29" name="Text 27"/>
          <p:cNvSpPr/>
          <p:nvPr/>
        </p:nvSpPr>
        <p:spPr>
          <a:xfrm>
            <a:off x="4352544" y="5541264"/>
            <a:ext cx="7232904" cy="566928"/>
          </a:xfrm>
          <a:prstGeom prst="rect">
            <a:avLst/>
          </a:prstGeom>
          <a:noFill/>
          <a:ln/>
        </p:spPr>
        <p:txBody>
          <a:bodyPr wrap="square" lIns="0" tIns="0" rIns="0" bIns="0" rtlCol="0" anchor="t"/>
          <a:lstStyle/>
          <a:p>
            <a:pPr indent="0" marL="0">
              <a:lnSpc>
                <a:spcPct val="113000"/>
              </a:lnSpc>
              <a:buNone/>
            </a:pPr>
            <a:r>
              <a:rPr lang="en-US" sz="1000" i="1" dirty="0">
                <a:solidFill>
                  <a:srgbClr val="4A3A18"/>
                </a:solidFill>
                <a:latin typeface="Meiryo" pitchFamily="34" charset="0"/>
                <a:ea typeface="Meiryo" pitchFamily="34" charset="-122"/>
                <a:cs typeface="Meiryo" pitchFamily="34" charset="-120"/>
              </a:rPr>
              <a:t>「費用対効果を見極めリスクを許容できるのであれば、外部リソースの活用はやるべきだと思います。電話営業の支援だけでなくビジネス全体の相談にも乗ってもらえるため、自社の課題をブレイクスルーする大きな力になるはずです。」</a:t>
            </a:r>
            <a:endParaRPr lang="en-US" sz="1000" dirty="0"/>
          </a:p>
        </p:txBody>
      </p:sp>
      <p:sp>
        <p:nvSpPr>
          <p:cNvPr id="30" name="Text 28"/>
          <p:cNvSpPr/>
          <p:nvPr/>
        </p:nvSpPr>
        <p:spPr>
          <a:xfrm>
            <a:off x="4114800" y="6291072"/>
            <a:ext cx="7708392" cy="219456"/>
          </a:xfrm>
          <a:prstGeom prst="rect">
            <a:avLst/>
          </a:prstGeom>
          <a:noFill/>
          <a:ln/>
        </p:spPr>
        <p:txBody>
          <a:bodyPr wrap="square" lIns="0" tIns="0" rIns="0" bIns="0" rtlCol="0" anchor="ctr"/>
          <a:lstStyle/>
          <a:p>
            <a:pPr indent="0" marL="0">
              <a:buNone/>
            </a:pPr>
            <a:r>
              <a:rPr lang="en-US" sz="950" b="1" dirty="0">
                <a:solidFill>
                  <a:srgbClr val="8593A4"/>
                </a:solidFill>
                <a:latin typeface="Meiryo" pitchFamily="34" charset="0"/>
                <a:ea typeface="Meiryo" pitchFamily="34" charset="-122"/>
                <a:cs typeface="Meiryo" pitchFamily="34" charset="-120"/>
              </a:rPr>
              <a:t>引用URL　</a:t>
            </a:r>
            <a:pPr indent="0" marL="0">
              <a:buNone/>
            </a:pPr>
            <a:r>
              <a:rPr lang="en-US" sz="950" u="sng" dirty="0">
                <a:solidFill>
                  <a:srgbClr val="2B64AB"/>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https://www.aidma-hd.jp/case/zirei-517/</a:t>
            </a:r>
            <a:endParaRPr lang="en-US" sz="950" dirty="0"/>
          </a:p>
        </p:txBody>
      </p:sp>
      <p:sp>
        <p:nvSpPr>
          <p:cNvPr id="31" name="Text 29"/>
          <p:cNvSpPr/>
          <p:nvPr/>
        </p:nvSpPr>
        <p:spPr>
          <a:xfrm>
            <a:off x="365760" y="6537960"/>
            <a:ext cx="8229600" cy="219456"/>
          </a:xfrm>
          <a:prstGeom prst="rect">
            <a:avLst/>
          </a:prstGeom>
          <a:noFill/>
          <a:ln/>
        </p:spPr>
        <p:txBody>
          <a:bodyPr wrap="square" lIns="0" tIns="0" rIns="0" bIns="0" rtlCol="0" anchor="ctr"/>
          <a:lstStyle/>
          <a:p>
            <a:pPr indent="0" marL="0">
              <a:buNone/>
            </a:pPr>
            <a:r>
              <a:rPr lang="en-US" sz="900" dirty="0">
                <a:solidFill>
                  <a:srgbClr val="9AA7B6"/>
                </a:solidFill>
                <a:latin typeface="Meiryo" pitchFamily="34" charset="0"/>
                <a:ea typeface="Meiryo" pitchFamily="34" charset="-122"/>
                <a:cs typeface="Meiryo" pitchFamily="34" charset="-120"/>
              </a:rPr>
              <a:t>株式会社Amwal様　提案引用実績5選</a:t>
            </a:r>
            <a:endParaRPr lang="en-US" sz="900" dirty="0"/>
          </a:p>
        </p:txBody>
      </p:sp>
      <p:sp>
        <p:nvSpPr>
          <p:cNvPr id="32" name="Text 30"/>
          <p:cNvSpPr/>
          <p:nvPr/>
        </p:nvSpPr>
        <p:spPr>
          <a:xfrm>
            <a:off x="10424160" y="6537960"/>
            <a:ext cx="1399032" cy="219456"/>
          </a:xfrm>
          <a:prstGeom prst="rect">
            <a:avLst/>
          </a:prstGeom>
          <a:noFill/>
          <a:ln/>
        </p:spPr>
        <p:txBody>
          <a:bodyPr wrap="square" lIns="0" tIns="0" rIns="0" bIns="0" rtlCol="0" anchor="ctr"/>
          <a:lstStyle/>
          <a:p>
            <a:pPr algn="r" indent="0" marL="0">
              <a:buNone/>
            </a:pPr>
            <a:r>
              <a:rPr lang="en-US" sz="900" dirty="0">
                <a:solidFill>
                  <a:srgbClr val="9AA7B6"/>
                </a:solidFill>
                <a:latin typeface="Meiryo" pitchFamily="34" charset="0"/>
                <a:ea typeface="Meiryo" pitchFamily="34" charset="-122"/>
                <a:cs typeface="Meiryo" pitchFamily="34" charset="-120"/>
              </a:rPr>
              <a:t>3 / 5</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6FB"/>
        </a:solidFill>
      </p:bgPr>
    </p:bg>
    <p:spTree>
      <p:nvGrpSpPr>
        <p:cNvPr id="1" name=""/>
        <p:cNvGrpSpPr/>
        <p:nvPr/>
      </p:nvGrpSpPr>
      <p:grpSpPr>
        <a:xfrm>
          <a:off x="0" y="0"/>
          <a:ext cx="0" cy="0"/>
          <a:chOff x="0" y="0"/>
          <a:chExt cx="0" cy="0"/>
        </a:xfrm>
      </p:grpSpPr>
      <p:sp>
        <p:nvSpPr>
          <p:cNvPr id="2" name="Shape 0"/>
          <p:cNvSpPr/>
          <p:nvPr/>
        </p:nvSpPr>
        <p:spPr>
          <a:xfrm>
            <a:off x="365760" y="365760"/>
            <a:ext cx="11457432" cy="932688"/>
          </a:xfrm>
          <a:prstGeom prst="roundRect">
            <a:avLst>
              <a:gd name="adj" fmla="val 5882"/>
            </a:avLst>
          </a:prstGeom>
          <a:solidFill>
            <a:srgbClr val="16407A"/>
          </a:solidFill>
          <a:ln/>
          <a:effectLst>
            <a:outerShdw sx="100000" sy="100000" kx="0" ky="0" algn="bl" rotWithShape="0" blurRad="76200" dist="25400" dir="5400000">
              <a:srgbClr val="0F2F5C">
                <a:alpha val="35000"/>
              </a:srgbClr>
            </a:outerShdw>
          </a:effectLst>
        </p:spPr>
      </p:sp>
      <p:sp>
        <p:nvSpPr>
          <p:cNvPr id="3" name="Shape 1"/>
          <p:cNvSpPr/>
          <p:nvPr/>
        </p:nvSpPr>
        <p:spPr>
          <a:xfrm>
            <a:off x="566928" y="566928"/>
            <a:ext cx="530352" cy="530352"/>
          </a:xfrm>
          <a:prstGeom prst="roundRect">
            <a:avLst>
              <a:gd name="adj" fmla="val 13793"/>
            </a:avLst>
          </a:prstGeom>
          <a:solidFill>
            <a:srgbClr val="FFFFFF">
              <a:alpha val="16000"/>
            </a:srgbClr>
          </a:solidFill>
          <a:ln w="12700">
            <a:solidFill>
              <a:srgbClr val="FFFFFF">
                <a:alpha val="40000"/>
              </a:srgbClr>
            </a:solidFill>
            <a:prstDash val="solid"/>
          </a:ln>
        </p:spPr>
      </p:sp>
      <p:sp>
        <p:nvSpPr>
          <p:cNvPr id="4" name="Text 2"/>
          <p:cNvSpPr/>
          <p:nvPr/>
        </p:nvSpPr>
        <p:spPr>
          <a:xfrm>
            <a:off x="566928" y="566928"/>
            <a:ext cx="530352" cy="530352"/>
          </a:xfrm>
          <a:prstGeom prst="rect">
            <a:avLst/>
          </a:prstGeom>
          <a:noFill/>
          <a:ln/>
        </p:spPr>
        <p:txBody>
          <a:bodyPr wrap="square" lIns="0" tIns="0" rIns="0" bIns="0" rtlCol="0" anchor="ctr"/>
          <a:lstStyle/>
          <a:p>
            <a:pPr algn="ctr" indent="0" marL="0">
              <a:buNone/>
            </a:pPr>
            <a:r>
              <a:rPr lang="en-US" sz="2400" b="1" dirty="0">
                <a:solidFill>
                  <a:srgbClr val="FFFFFF"/>
                </a:solidFill>
                <a:latin typeface="Meiryo" pitchFamily="34" charset="0"/>
                <a:ea typeface="Meiryo" pitchFamily="34" charset="-122"/>
                <a:cs typeface="Meiryo" pitchFamily="34" charset="-120"/>
              </a:rPr>
              <a:t>4</a:t>
            </a:r>
            <a:endParaRPr lang="en-US" sz="2400" dirty="0"/>
          </a:p>
        </p:txBody>
      </p:sp>
      <p:sp>
        <p:nvSpPr>
          <p:cNvPr id="5" name="Text 3"/>
          <p:cNvSpPr/>
          <p:nvPr/>
        </p:nvSpPr>
        <p:spPr>
          <a:xfrm>
            <a:off x="1280160" y="420624"/>
            <a:ext cx="10378440" cy="822960"/>
          </a:xfrm>
          <a:prstGeom prst="rect">
            <a:avLst/>
          </a:prstGeom>
          <a:noFill/>
          <a:ln/>
        </p:spPr>
        <p:txBody>
          <a:bodyPr wrap="square" lIns="0" tIns="0" rIns="0" bIns="0" rtlCol="0" anchor="ctr"/>
          <a:lstStyle/>
          <a:p>
            <a:pPr indent="0" marL="0">
              <a:lnSpc>
                <a:spcPct val="105000"/>
              </a:lnSpc>
              <a:buNone/>
            </a:pPr>
            <a:r>
              <a:rPr lang="en-US" sz="1400" b="1" dirty="0">
                <a:solidFill>
                  <a:srgbClr val="FFFFFF"/>
                </a:solidFill>
                <a:latin typeface="Meiryo" pitchFamily="34" charset="0"/>
                <a:ea typeface="Meiryo" pitchFamily="34" charset="-122"/>
                <a:cs typeface="Meiryo" pitchFamily="34" charset="-120"/>
              </a:rPr>
              <a:t>社長一人の紹介頼みから脱却。5ヵ月でアポ33件・成約率約30%で大型受注5件を獲得</a:t>
            </a:r>
            <a:endParaRPr lang="en-US" sz="1400" dirty="0"/>
          </a:p>
        </p:txBody>
      </p:sp>
      <p:sp>
        <p:nvSpPr>
          <p:cNvPr id="6" name="Shape 4"/>
          <p:cNvSpPr/>
          <p:nvPr/>
        </p:nvSpPr>
        <p:spPr>
          <a:xfrm>
            <a:off x="365760" y="1481328"/>
            <a:ext cx="3566160" cy="5029200"/>
          </a:xfrm>
          <a:prstGeom prst="roundRect">
            <a:avLst>
              <a:gd name="adj" fmla="val 1282"/>
            </a:avLst>
          </a:prstGeom>
          <a:solidFill>
            <a:srgbClr val="EAF1FA"/>
          </a:solidFill>
          <a:ln w="12700">
            <a:solidFill>
              <a:srgbClr val="D2DCEA"/>
            </a:solidFill>
            <a:prstDash val="solid"/>
          </a:ln>
        </p:spPr>
      </p:sp>
      <p:sp>
        <p:nvSpPr>
          <p:cNvPr id="7" name="Text 5"/>
          <p:cNvSpPr/>
          <p:nvPr/>
        </p:nvSpPr>
        <p:spPr>
          <a:xfrm>
            <a:off x="585216" y="1664208"/>
            <a:ext cx="3127248" cy="822960"/>
          </a:xfrm>
          <a:prstGeom prst="rect">
            <a:avLst/>
          </a:prstGeom>
          <a:noFill/>
          <a:ln/>
        </p:spPr>
        <p:txBody>
          <a:bodyPr wrap="square" lIns="0" tIns="0" rIns="0" bIns="0" rtlCol="0" anchor="t"/>
          <a:lstStyle/>
          <a:p>
            <a:pPr indent="0" marL="0">
              <a:lnSpc>
                <a:spcPct val="105000"/>
              </a:lnSpc>
              <a:buNone/>
            </a:pPr>
            <a:r>
              <a:rPr lang="en-US" sz="1300" b="1" dirty="0">
                <a:solidFill>
                  <a:srgbClr val="1C2530"/>
                </a:solidFill>
                <a:latin typeface="Meiryo" pitchFamily="34" charset="0"/>
                <a:ea typeface="Meiryo" pitchFamily="34" charset="-122"/>
                <a:cs typeface="Meiryo" pitchFamily="34" charset="-120"/>
              </a:rPr>
              <a:t>株式会社ELU　様</a:t>
            </a:r>
            <a:endParaRPr lang="en-US" sz="1300" dirty="0"/>
          </a:p>
        </p:txBody>
      </p:sp>
      <p:sp>
        <p:nvSpPr>
          <p:cNvPr id="8" name="Text 6"/>
          <p:cNvSpPr/>
          <p:nvPr/>
        </p:nvSpPr>
        <p:spPr>
          <a:xfrm>
            <a:off x="585216" y="2615184"/>
            <a:ext cx="3127248" cy="219456"/>
          </a:xfrm>
          <a:prstGeom prst="rect">
            <a:avLst/>
          </a:prstGeom>
          <a:noFill/>
          <a:ln/>
        </p:spPr>
        <p:txBody>
          <a:bodyPr wrap="square" lIns="0" tIns="0" rIns="0" bIns="0" rtlCol="0" anchor="ctr"/>
          <a:lstStyle/>
          <a:p>
            <a:pPr indent="0" marL="0">
              <a:buNone/>
            </a:pPr>
            <a:r>
              <a:rPr lang="en-US" sz="950" b="1" spc="100" kern="0" dirty="0">
                <a:solidFill>
                  <a:srgbClr val="2B64AB"/>
                </a:solidFill>
                <a:latin typeface="Meiryo" pitchFamily="34" charset="0"/>
                <a:ea typeface="Meiryo" pitchFamily="34" charset="-122"/>
                <a:cs typeface="Meiryo" pitchFamily="34" charset="-120"/>
              </a:rPr>
              <a:t>事業内容</a:t>
            </a:r>
            <a:endParaRPr lang="en-US" sz="950" dirty="0"/>
          </a:p>
        </p:txBody>
      </p:sp>
      <p:sp>
        <p:nvSpPr>
          <p:cNvPr id="9" name="Text 7"/>
          <p:cNvSpPr/>
          <p:nvPr/>
        </p:nvSpPr>
        <p:spPr>
          <a:xfrm>
            <a:off x="585216" y="2834640"/>
            <a:ext cx="3127248" cy="1051560"/>
          </a:xfrm>
          <a:prstGeom prst="rect">
            <a:avLst/>
          </a:prstGeom>
          <a:noFill/>
          <a:ln/>
        </p:spPr>
        <p:txBody>
          <a:bodyPr wrap="square" lIns="0" tIns="0" rIns="0" bIns="0" rtlCol="0" anchor="ctr"/>
          <a:lstStyle/>
          <a:p>
            <a:pPr indent="0" marL="0">
              <a:lnSpc>
                <a:spcPct val="113000"/>
              </a:lnSpc>
              <a:buNone/>
            </a:pPr>
            <a:r>
              <a:rPr lang="en-US" sz="950" dirty="0">
                <a:solidFill>
                  <a:srgbClr val="45566A"/>
                </a:solidFill>
                <a:latin typeface="Meiryo" pitchFamily="34" charset="0"/>
                <a:ea typeface="Meiryo" pitchFamily="34" charset="-122"/>
                <a:cs typeface="Meiryo" pitchFamily="34" charset="-120"/>
              </a:rPr>
              <a:t>Webシステム開発、ホームページ企画制作、ITインフラ導入支援、各種デザイン。</a:t>
            </a:r>
            <a:endParaRPr lang="en-US" sz="950" dirty="0"/>
          </a:p>
        </p:txBody>
      </p:sp>
      <p:sp>
        <p:nvSpPr>
          <p:cNvPr id="10" name="Text 8"/>
          <p:cNvSpPr/>
          <p:nvPr/>
        </p:nvSpPr>
        <p:spPr>
          <a:xfrm>
            <a:off x="585216" y="3931920"/>
            <a:ext cx="3127248" cy="219456"/>
          </a:xfrm>
          <a:prstGeom prst="rect">
            <a:avLst/>
          </a:prstGeom>
          <a:noFill/>
          <a:ln/>
        </p:spPr>
        <p:txBody>
          <a:bodyPr wrap="square" lIns="0" tIns="0" rIns="0" bIns="0" rtlCol="0" anchor="ctr"/>
          <a:lstStyle/>
          <a:p>
            <a:pPr indent="0" marL="0">
              <a:buNone/>
            </a:pPr>
            <a:r>
              <a:rPr lang="en-US" sz="950" b="1" spc="100" kern="0" dirty="0">
                <a:solidFill>
                  <a:srgbClr val="2B64AB"/>
                </a:solidFill>
                <a:latin typeface="Meiryo" pitchFamily="34" charset="0"/>
                <a:ea typeface="Meiryo" pitchFamily="34" charset="-122"/>
                <a:cs typeface="Meiryo" pitchFamily="34" charset="-120"/>
              </a:rPr>
              <a:t>解決した課題</a:t>
            </a:r>
            <a:endParaRPr lang="en-US" sz="950" dirty="0"/>
          </a:p>
        </p:txBody>
      </p:sp>
      <p:sp>
        <p:nvSpPr>
          <p:cNvPr id="11" name="Shape 9"/>
          <p:cNvSpPr/>
          <p:nvPr/>
        </p:nvSpPr>
        <p:spPr>
          <a:xfrm>
            <a:off x="585216" y="4206240"/>
            <a:ext cx="3658108" cy="274320"/>
          </a:xfrm>
          <a:prstGeom prst="roundRect">
            <a:avLst>
              <a:gd name="adj" fmla="val 50000"/>
            </a:avLst>
          </a:prstGeom>
          <a:solidFill>
            <a:srgbClr val="DCE8F6"/>
          </a:solidFill>
          <a:ln w="9525">
            <a:solidFill>
              <a:srgbClr val="BFD3EC"/>
            </a:solidFill>
            <a:prstDash val="solid"/>
          </a:ln>
        </p:spPr>
      </p:sp>
      <p:sp>
        <p:nvSpPr>
          <p:cNvPr id="12" name="Text 10"/>
          <p:cNvSpPr/>
          <p:nvPr/>
        </p:nvSpPr>
        <p:spPr>
          <a:xfrm>
            <a:off x="585216" y="4206240"/>
            <a:ext cx="3658108" cy="274320"/>
          </a:xfrm>
          <a:prstGeom prst="rect">
            <a:avLst/>
          </a:prstGeom>
          <a:noFill/>
          <a:ln/>
        </p:spPr>
        <p:txBody>
          <a:bodyPr wrap="square" lIns="0" tIns="0" rIns="0" bIns="0" rtlCol="0" anchor="ctr"/>
          <a:lstStyle/>
          <a:p>
            <a:pPr algn="ctr" indent="0" marL="0">
              <a:buNone/>
            </a:pPr>
            <a:r>
              <a:rPr lang="en-US" sz="950" b="1" dirty="0">
                <a:solidFill>
                  <a:srgbClr val="24548F"/>
                </a:solidFill>
                <a:latin typeface="Meiryo" pitchFamily="34" charset="0"/>
                <a:ea typeface="Meiryo" pitchFamily="34" charset="-122"/>
                <a:cs typeface="Meiryo" pitchFamily="34" charset="-120"/>
              </a:rPr>
              <a:t>開発・制作実務に追われ社長一人の人脈・紹介頼みで営業</a:t>
            </a:r>
            <a:endParaRPr lang="en-US" sz="950" dirty="0"/>
          </a:p>
        </p:txBody>
      </p:sp>
      <p:sp>
        <p:nvSpPr>
          <p:cNvPr id="13" name="Shape 11"/>
          <p:cNvSpPr/>
          <p:nvPr/>
        </p:nvSpPr>
        <p:spPr>
          <a:xfrm>
            <a:off x="585216" y="4553712"/>
            <a:ext cx="3918712" cy="274320"/>
          </a:xfrm>
          <a:prstGeom prst="roundRect">
            <a:avLst>
              <a:gd name="adj" fmla="val 50000"/>
            </a:avLst>
          </a:prstGeom>
          <a:solidFill>
            <a:srgbClr val="DCE8F6"/>
          </a:solidFill>
          <a:ln w="9525">
            <a:solidFill>
              <a:srgbClr val="BFD3EC"/>
            </a:solidFill>
            <a:prstDash val="solid"/>
          </a:ln>
        </p:spPr>
      </p:sp>
      <p:sp>
        <p:nvSpPr>
          <p:cNvPr id="14" name="Text 12"/>
          <p:cNvSpPr/>
          <p:nvPr/>
        </p:nvSpPr>
        <p:spPr>
          <a:xfrm>
            <a:off x="585216" y="4553712"/>
            <a:ext cx="3918712" cy="274320"/>
          </a:xfrm>
          <a:prstGeom prst="rect">
            <a:avLst/>
          </a:prstGeom>
          <a:noFill/>
          <a:ln/>
        </p:spPr>
        <p:txBody>
          <a:bodyPr wrap="square" lIns="0" tIns="0" rIns="0" bIns="0" rtlCol="0" anchor="ctr"/>
          <a:lstStyle/>
          <a:p>
            <a:pPr algn="ctr" indent="0" marL="0">
              <a:buNone/>
            </a:pPr>
            <a:r>
              <a:rPr lang="en-US" sz="950" b="1" dirty="0">
                <a:solidFill>
                  <a:srgbClr val="24548F"/>
                </a:solidFill>
                <a:latin typeface="Meiryo" pitchFamily="34" charset="0"/>
                <a:ea typeface="Meiryo" pitchFamily="34" charset="-122"/>
                <a:cs typeface="Meiryo" pitchFamily="34" charset="-120"/>
              </a:rPr>
              <a:t>リソースの物理的限界で新規開拓の仕組みなく売上が伸び悩み</a:t>
            </a:r>
            <a:endParaRPr lang="en-US" sz="950" dirty="0"/>
          </a:p>
        </p:txBody>
      </p:sp>
      <p:sp>
        <p:nvSpPr>
          <p:cNvPr id="15" name="Shape 13"/>
          <p:cNvSpPr/>
          <p:nvPr/>
        </p:nvSpPr>
        <p:spPr>
          <a:xfrm>
            <a:off x="4114800" y="1417320"/>
            <a:ext cx="82296" cy="219456"/>
          </a:xfrm>
          <a:prstGeom prst="roundRect">
            <a:avLst>
              <a:gd name="adj" fmla="val 33333"/>
            </a:avLst>
          </a:prstGeom>
          <a:solidFill>
            <a:srgbClr val="2B64AB"/>
          </a:solidFill>
          <a:ln/>
        </p:spPr>
      </p:sp>
      <p:sp>
        <p:nvSpPr>
          <p:cNvPr id="16" name="Text 14"/>
          <p:cNvSpPr/>
          <p:nvPr/>
        </p:nvSpPr>
        <p:spPr>
          <a:xfrm>
            <a:off x="4297680" y="1353312"/>
            <a:ext cx="7315200" cy="310896"/>
          </a:xfrm>
          <a:prstGeom prst="rect">
            <a:avLst/>
          </a:prstGeom>
          <a:noFill/>
          <a:ln/>
        </p:spPr>
        <p:txBody>
          <a:bodyPr wrap="square" lIns="0" tIns="0" rIns="0" bIns="0" rtlCol="0" anchor="ctr"/>
          <a:lstStyle/>
          <a:p>
            <a:pPr indent="0" marL="0">
              <a:buNone/>
            </a:pPr>
            <a:r>
              <a:rPr lang="en-US" sz="1250" b="1" dirty="0">
                <a:solidFill>
                  <a:srgbClr val="2B64AB"/>
                </a:solidFill>
                <a:latin typeface="Meiryo" pitchFamily="34" charset="0"/>
                <a:ea typeface="Meiryo" pitchFamily="34" charset="-122"/>
                <a:cs typeface="Meiryo" pitchFamily="34" charset="-120"/>
              </a:rPr>
              <a:t>事例の概要</a:t>
            </a:r>
            <a:endParaRPr lang="en-US" sz="1250" dirty="0"/>
          </a:p>
        </p:txBody>
      </p:sp>
      <p:sp>
        <p:nvSpPr>
          <p:cNvPr id="17" name="Text 15"/>
          <p:cNvSpPr/>
          <p:nvPr/>
        </p:nvSpPr>
        <p:spPr>
          <a:xfrm>
            <a:off x="4114800" y="1682496"/>
            <a:ext cx="7708392" cy="676656"/>
          </a:xfrm>
          <a:prstGeom prst="rect">
            <a:avLst/>
          </a:prstGeom>
          <a:noFill/>
          <a:ln/>
        </p:spPr>
        <p:txBody>
          <a:bodyPr wrap="square" lIns="0" tIns="0" rIns="0" bIns="0" rtlCol="0" anchor="t"/>
          <a:lstStyle/>
          <a:p>
            <a:pPr indent="0" marL="0">
              <a:lnSpc>
                <a:spcPct val="116000"/>
              </a:lnSpc>
              <a:buNone/>
            </a:pPr>
            <a:r>
              <a:rPr lang="en-US" sz="1000" dirty="0">
                <a:solidFill>
                  <a:srgbClr val="45566A"/>
                </a:solidFill>
                <a:latin typeface="Meiryo" pitchFamily="34" charset="0"/>
                <a:ea typeface="Meiryo" pitchFamily="34" charset="-122"/>
                <a:cs typeface="Meiryo" pitchFamily="34" charset="-120"/>
              </a:rPr>
              <a:t>開発実務で営業にリソースを割けなかったため、「Sales Platform」に初期アプローチを完全委託。アイドマが自律的にアプローチを自動化し、質の高い直請け受託商談のみに専念する体制を構築した。</a:t>
            </a:r>
            <a:endParaRPr lang="en-US" sz="1000" dirty="0"/>
          </a:p>
        </p:txBody>
      </p:sp>
      <p:sp>
        <p:nvSpPr>
          <p:cNvPr id="18" name="Shape 16"/>
          <p:cNvSpPr/>
          <p:nvPr/>
        </p:nvSpPr>
        <p:spPr>
          <a:xfrm>
            <a:off x="4114800" y="2395728"/>
            <a:ext cx="7708392" cy="950976"/>
          </a:xfrm>
          <a:prstGeom prst="roundRect">
            <a:avLst>
              <a:gd name="adj" fmla="val 4808"/>
            </a:avLst>
          </a:prstGeom>
          <a:solidFill>
            <a:srgbClr val="E9F4EE"/>
          </a:solidFill>
          <a:ln w="12700">
            <a:solidFill>
              <a:srgbClr val="BADFC9"/>
            </a:solidFill>
            <a:prstDash val="solid"/>
          </a:ln>
        </p:spPr>
      </p:sp>
      <p:sp>
        <p:nvSpPr>
          <p:cNvPr id="19" name="Shape 17"/>
          <p:cNvSpPr/>
          <p:nvPr/>
        </p:nvSpPr>
        <p:spPr>
          <a:xfrm>
            <a:off x="4352544" y="2542032"/>
            <a:ext cx="82296" cy="219456"/>
          </a:xfrm>
          <a:prstGeom prst="roundRect">
            <a:avLst>
              <a:gd name="adj" fmla="val 33333"/>
            </a:avLst>
          </a:prstGeom>
          <a:solidFill>
            <a:srgbClr val="1F7A4D"/>
          </a:solidFill>
          <a:ln/>
        </p:spPr>
      </p:sp>
      <p:sp>
        <p:nvSpPr>
          <p:cNvPr id="20" name="Text 18"/>
          <p:cNvSpPr/>
          <p:nvPr/>
        </p:nvSpPr>
        <p:spPr>
          <a:xfrm>
            <a:off x="4535424" y="2487168"/>
            <a:ext cx="7159752" cy="292608"/>
          </a:xfrm>
          <a:prstGeom prst="rect">
            <a:avLst/>
          </a:prstGeom>
          <a:noFill/>
          <a:ln/>
        </p:spPr>
        <p:txBody>
          <a:bodyPr wrap="square" lIns="0" tIns="0" rIns="0" bIns="0" rtlCol="0" anchor="ctr"/>
          <a:lstStyle/>
          <a:p>
            <a:pPr indent="0" marL="0">
              <a:buNone/>
            </a:pPr>
            <a:r>
              <a:rPr lang="en-US" sz="1200" b="1" dirty="0">
                <a:solidFill>
                  <a:srgbClr val="1F7A4D"/>
                </a:solidFill>
                <a:latin typeface="Meiryo" pitchFamily="34" charset="0"/>
                <a:ea typeface="Meiryo" pitchFamily="34" charset="-122"/>
                <a:cs typeface="Meiryo" pitchFamily="34" charset="-120"/>
              </a:rPr>
              <a:t>結果</a:t>
            </a:r>
            <a:endParaRPr lang="en-US" sz="1200" dirty="0"/>
          </a:p>
        </p:txBody>
      </p:sp>
      <p:sp>
        <p:nvSpPr>
          <p:cNvPr id="21" name="Text 19"/>
          <p:cNvSpPr/>
          <p:nvPr/>
        </p:nvSpPr>
        <p:spPr>
          <a:xfrm>
            <a:off x="4352544" y="2798064"/>
            <a:ext cx="7232904" cy="457200"/>
          </a:xfrm>
          <a:prstGeom prst="rect">
            <a:avLst/>
          </a:prstGeom>
          <a:noFill/>
          <a:ln/>
        </p:spPr>
        <p:txBody>
          <a:bodyPr wrap="square" lIns="0" tIns="0" rIns="0" bIns="0" rtlCol="0" anchor="t"/>
          <a:lstStyle/>
          <a:p>
            <a:pPr indent="0" marL="0">
              <a:lnSpc>
                <a:spcPct val="113000"/>
              </a:lnSpc>
              <a:buNone/>
            </a:pPr>
            <a:r>
              <a:rPr lang="en-US" sz="1000" dirty="0">
                <a:solidFill>
                  <a:srgbClr val="1C3A29"/>
                </a:solidFill>
                <a:latin typeface="Meiryo" pitchFamily="34" charset="0"/>
                <a:ea typeface="Meiryo" pitchFamily="34" charset="-122"/>
                <a:cs typeface="Meiryo" pitchFamily="34" charset="-120"/>
              </a:rPr>
              <a:t>導入から約5ヵ月でアポイント33件を獲得（うち26件が商談化）。商談からの成約率（受注率）約30％（5件の新規大型受注決定）という非常に高い営業成果を達成。</a:t>
            </a:r>
            <a:endParaRPr lang="en-US" sz="1000" dirty="0"/>
          </a:p>
        </p:txBody>
      </p:sp>
      <p:sp>
        <p:nvSpPr>
          <p:cNvPr id="22" name="Shape 20"/>
          <p:cNvSpPr/>
          <p:nvPr/>
        </p:nvSpPr>
        <p:spPr>
          <a:xfrm>
            <a:off x="4114800" y="3456432"/>
            <a:ext cx="7708392" cy="1572768"/>
          </a:xfrm>
          <a:prstGeom prst="roundRect">
            <a:avLst>
              <a:gd name="adj" fmla="val 2907"/>
            </a:avLst>
          </a:prstGeom>
          <a:solidFill>
            <a:srgbClr val="EAF1FA"/>
          </a:solidFill>
          <a:ln w="12700">
            <a:solidFill>
              <a:srgbClr val="C6D8EF"/>
            </a:solidFill>
            <a:prstDash val="solid"/>
          </a:ln>
        </p:spPr>
      </p:sp>
      <p:sp>
        <p:nvSpPr>
          <p:cNvPr id="23" name="Shape 21"/>
          <p:cNvSpPr/>
          <p:nvPr/>
        </p:nvSpPr>
        <p:spPr>
          <a:xfrm>
            <a:off x="4352544" y="3602736"/>
            <a:ext cx="82296" cy="219456"/>
          </a:xfrm>
          <a:prstGeom prst="roundRect">
            <a:avLst>
              <a:gd name="adj" fmla="val 33333"/>
            </a:avLst>
          </a:prstGeom>
          <a:solidFill>
            <a:srgbClr val="2B64AB"/>
          </a:solidFill>
          <a:ln/>
        </p:spPr>
      </p:sp>
      <p:sp>
        <p:nvSpPr>
          <p:cNvPr id="24" name="Text 22"/>
          <p:cNvSpPr/>
          <p:nvPr/>
        </p:nvSpPr>
        <p:spPr>
          <a:xfrm>
            <a:off x="4535424" y="3547872"/>
            <a:ext cx="7159752" cy="292608"/>
          </a:xfrm>
          <a:prstGeom prst="rect">
            <a:avLst/>
          </a:prstGeom>
          <a:noFill/>
          <a:ln/>
        </p:spPr>
        <p:txBody>
          <a:bodyPr wrap="square" lIns="0" tIns="0" rIns="0" bIns="0" rtlCol="0" anchor="ctr"/>
          <a:lstStyle/>
          <a:p>
            <a:pPr indent="0" marL="0">
              <a:buNone/>
            </a:pPr>
            <a:r>
              <a:rPr lang="en-US" sz="1200" b="1" dirty="0">
                <a:solidFill>
                  <a:srgbClr val="2B64AB"/>
                </a:solidFill>
                <a:latin typeface="Meiryo" pitchFamily="34" charset="0"/>
                <a:ea typeface="Meiryo" pitchFamily="34" charset="-122"/>
                <a:cs typeface="Meiryo" pitchFamily="34" charset="-120"/>
              </a:rPr>
              <a:t>今回ご検討をされている企業様への活用ポイント</a:t>
            </a:r>
            <a:endParaRPr lang="en-US" sz="1200" dirty="0"/>
          </a:p>
        </p:txBody>
      </p:sp>
      <p:sp>
        <p:nvSpPr>
          <p:cNvPr id="25" name="Text 23"/>
          <p:cNvSpPr/>
          <p:nvPr/>
        </p:nvSpPr>
        <p:spPr>
          <a:xfrm>
            <a:off x="4352544" y="3858768"/>
            <a:ext cx="7232904" cy="1078992"/>
          </a:xfrm>
          <a:prstGeom prst="rect">
            <a:avLst/>
          </a:prstGeom>
          <a:noFill/>
          <a:ln/>
        </p:spPr>
        <p:txBody>
          <a:bodyPr wrap="square" lIns="0" tIns="0" rIns="0" bIns="0" rtlCol="0" anchor="t"/>
          <a:lstStyle/>
          <a:p>
            <a:pPr indent="0" marL="0">
              <a:lnSpc>
                <a:spcPct val="113000"/>
              </a:lnSpc>
              <a:buNone/>
            </a:pPr>
            <a:r>
              <a:rPr lang="en-US" sz="1000" dirty="0">
                <a:solidFill>
                  <a:srgbClr val="1C2530"/>
                </a:solidFill>
                <a:latin typeface="Meiryo" pitchFamily="34" charset="0"/>
                <a:ea typeface="Meiryo" pitchFamily="34" charset="-122"/>
                <a:cs typeface="Meiryo" pitchFamily="34" charset="-120"/>
              </a:rPr>
              <a:t>株式会社Amwal様が「紹介頼みや人脈営業から脱却し、高い利益率を確保できる直請けシステム開発案件を高成約率（30%）で連続獲得する」ための成功パターンを示せます。</a:t>
            </a:r>
            <a:endParaRPr lang="en-US" sz="1000" dirty="0"/>
          </a:p>
        </p:txBody>
      </p:sp>
      <p:sp>
        <p:nvSpPr>
          <p:cNvPr id="26" name="Shape 24"/>
          <p:cNvSpPr/>
          <p:nvPr/>
        </p:nvSpPr>
        <p:spPr>
          <a:xfrm>
            <a:off x="4114800" y="5138928"/>
            <a:ext cx="7708392" cy="1060704"/>
          </a:xfrm>
          <a:prstGeom prst="roundRect">
            <a:avLst>
              <a:gd name="adj" fmla="val 4310"/>
            </a:avLst>
          </a:prstGeom>
          <a:solidFill>
            <a:srgbClr val="FBF4E6"/>
          </a:solidFill>
          <a:ln w="12700">
            <a:solidFill>
              <a:srgbClr val="E7D6AC"/>
            </a:solidFill>
            <a:prstDash val="solid"/>
          </a:ln>
        </p:spPr>
      </p:sp>
      <p:sp>
        <p:nvSpPr>
          <p:cNvPr id="27" name="Shape 25"/>
          <p:cNvSpPr/>
          <p:nvPr/>
        </p:nvSpPr>
        <p:spPr>
          <a:xfrm>
            <a:off x="4352544" y="5285232"/>
            <a:ext cx="82296" cy="219456"/>
          </a:xfrm>
          <a:prstGeom prst="roundRect">
            <a:avLst>
              <a:gd name="adj" fmla="val 33333"/>
            </a:avLst>
          </a:prstGeom>
          <a:solidFill>
            <a:srgbClr val="9A6B12"/>
          </a:solidFill>
          <a:ln/>
        </p:spPr>
      </p:sp>
      <p:sp>
        <p:nvSpPr>
          <p:cNvPr id="28" name="Text 26"/>
          <p:cNvSpPr/>
          <p:nvPr/>
        </p:nvSpPr>
        <p:spPr>
          <a:xfrm>
            <a:off x="4535424" y="5230368"/>
            <a:ext cx="7159752" cy="292608"/>
          </a:xfrm>
          <a:prstGeom prst="rect">
            <a:avLst/>
          </a:prstGeom>
          <a:noFill/>
          <a:ln/>
        </p:spPr>
        <p:txBody>
          <a:bodyPr wrap="square" lIns="0" tIns="0" rIns="0" bIns="0" rtlCol="0" anchor="ctr"/>
          <a:lstStyle/>
          <a:p>
            <a:pPr indent="0" marL="0">
              <a:buNone/>
            </a:pPr>
            <a:r>
              <a:rPr lang="en-US" sz="1200" b="1" dirty="0">
                <a:solidFill>
                  <a:srgbClr val="9A6B12"/>
                </a:solidFill>
                <a:latin typeface="Meiryo" pitchFamily="34" charset="0"/>
                <a:ea typeface="Meiryo" pitchFamily="34" charset="-122"/>
                <a:cs typeface="Meiryo" pitchFamily="34" charset="-120"/>
              </a:rPr>
              <a:t>導入を検討されえいる企業様へのアドバイス</a:t>
            </a:r>
            <a:endParaRPr lang="en-US" sz="1200" dirty="0"/>
          </a:p>
        </p:txBody>
      </p:sp>
      <p:sp>
        <p:nvSpPr>
          <p:cNvPr id="29" name="Text 27"/>
          <p:cNvSpPr/>
          <p:nvPr/>
        </p:nvSpPr>
        <p:spPr>
          <a:xfrm>
            <a:off x="4352544" y="5541264"/>
            <a:ext cx="7232904" cy="566928"/>
          </a:xfrm>
          <a:prstGeom prst="rect">
            <a:avLst/>
          </a:prstGeom>
          <a:noFill/>
          <a:ln/>
        </p:spPr>
        <p:txBody>
          <a:bodyPr wrap="square" lIns="0" tIns="0" rIns="0" bIns="0" rtlCol="0" anchor="t"/>
          <a:lstStyle/>
          <a:p>
            <a:pPr indent="0" marL="0">
              <a:lnSpc>
                <a:spcPct val="113000"/>
              </a:lnSpc>
              <a:buNone/>
            </a:pPr>
            <a:r>
              <a:rPr lang="en-US" sz="1000" i="1" dirty="0">
                <a:solidFill>
                  <a:srgbClr val="4A3A18"/>
                </a:solidFill>
                <a:latin typeface="Meiryo" pitchFamily="34" charset="0"/>
                <a:ea typeface="Meiryo" pitchFamily="34" charset="-122"/>
                <a:cs typeface="Meiryo" pitchFamily="34" charset="-120"/>
              </a:rPr>
              <a:t>「正直、タイミングだと思ったら使ってみるのが一番だと思います。そのタイミングだと感じたなら、アイドマさんはおすすめできます。」</a:t>
            </a:r>
            <a:endParaRPr lang="en-US" sz="1000" dirty="0"/>
          </a:p>
        </p:txBody>
      </p:sp>
      <p:sp>
        <p:nvSpPr>
          <p:cNvPr id="30" name="Text 28"/>
          <p:cNvSpPr/>
          <p:nvPr/>
        </p:nvSpPr>
        <p:spPr>
          <a:xfrm>
            <a:off x="4114800" y="6291072"/>
            <a:ext cx="7708392" cy="219456"/>
          </a:xfrm>
          <a:prstGeom prst="rect">
            <a:avLst/>
          </a:prstGeom>
          <a:noFill/>
          <a:ln/>
        </p:spPr>
        <p:txBody>
          <a:bodyPr wrap="square" lIns="0" tIns="0" rIns="0" bIns="0" rtlCol="0" anchor="ctr"/>
          <a:lstStyle/>
          <a:p>
            <a:pPr indent="0" marL="0">
              <a:buNone/>
            </a:pPr>
            <a:r>
              <a:rPr lang="en-US" sz="950" b="1" dirty="0">
                <a:solidFill>
                  <a:srgbClr val="8593A4"/>
                </a:solidFill>
                <a:latin typeface="Meiryo" pitchFamily="34" charset="0"/>
                <a:ea typeface="Meiryo" pitchFamily="34" charset="-122"/>
                <a:cs typeface="Meiryo" pitchFamily="34" charset="-120"/>
              </a:rPr>
              <a:t>引用URL　</a:t>
            </a:r>
            <a:pPr indent="0" marL="0">
              <a:buNone/>
            </a:pPr>
            <a:r>
              <a:rPr lang="en-US" sz="950" u="sng" dirty="0">
                <a:solidFill>
                  <a:srgbClr val="2B64AB"/>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https://www.aidma-hd.jp/case/zirei-414/</a:t>
            </a:r>
            <a:endParaRPr lang="en-US" sz="950" dirty="0"/>
          </a:p>
        </p:txBody>
      </p:sp>
      <p:sp>
        <p:nvSpPr>
          <p:cNvPr id="31" name="Text 29"/>
          <p:cNvSpPr/>
          <p:nvPr/>
        </p:nvSpPr>
        <p:spPr>
          <a:xfrm>
            <a:off x="365760" y="6537960"/>
            <a:ext cx="8229600" cy="219456"/>
          </a:xfrm>
          <a:prstGeom prst="rect">
            <a:avLst/>
          </a:prstGeom>
          <a:noFill/>
          <a:ln/>
        </p:spPr>
        <p:txBody>
          <a:bodyPr wrap="square" lIns="0" tIns="0" rIns="0" bIns="0" rtlCol="0" anchor="ctr"/>
          <a:lstStyle/>
          <a:p>
            <a:pPr indent="0" marL="0">
              <a:buNone/>
            </a:pPr>
            <a:r>
              <a:rPr lang="en-US" sz="900" dirty="0">
                <a:solidFill>
                  <a:srgbClr val="9AA7B6"/>
                </a:solidFill>
                <a:latin typeface="Meiryo" pitchFamily="34" charset="0"/>
                <a:ea typeface="Meiryo" pitchFamily="34" charset="-122"/>
                <a:cs typeface="Meiryo" pitchFamily="34" charset="-120"/>
              </a:rPr>
              <a:t>株式会社Amwal様　提案引用実績5選</a:t>
            </a:r>
            <a:endParaRPr lang="en-US" sz="900" dirty="0"/>
          </a:p>
        </p:txBody>
      </p:sp>
      <p:sp>
        <p:nvSpPr>
          <p:cNvPr id="32" name="Text 30"/>
          <p:cNvSpPr/>
          <p:nvPr/>
        </p:nvSpPr>
        <p:spPr>
          <a:xfrm>
            <a:off x="10424160" y="6537960"/>
            <a:ext cx="1399032" cy="219456"/>
          </a:xfrm>
          <a:prstGeom prst="rect">
            <a:avLst/>
          </a:prstGeom>
          <a:noFill/>
          <a:ln/>
        </p:spPr>
        <p:txBody>
          <a:bodyPr wrap="square" lIns="0" tIns="0" rIns="0" bIns="0" rtlCol="0" anchor="ctr"/>
          <a:lstStyle/>
          <a:p>
            <a:pPr algn="r" indent="0" marL="0">
              <a:buNone/>
            </a:pPr>
            <a:r>
              <a:rPr lang="en-US" sz="900" dirty="0">
                <a:solidFill>
                  <a:srgbClr val="9AA7B6"/>
                </a:solidFill>
                <a:latin typeface="Meiryo" pitchFamily="34" charset="0"/>
                <a:ea typeface="Meiryo" pitchFamily="34" charset="-122"/>
                <a:cs typeface="Meiryo" pitchFamily="34" charset="-120"/>
              </a:rPr>
              <a:t>4 / 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F6FB"/>
        </a:solidFill>
      </p:bgPr>
    </p:bg>
    <p:spTree>
      <p:nvGrpSpPr>
        <p:cNvPr id="1" name=""/>
        <p:cNvGrpSpPr/>
        <p:nvPr/>
      </p:nvGrpSpPr>
      <p:grpSpPr>
        <a:xfrm>
          <a:off x="0" y="0"/>
          <a:ext cx="0" cy="0"/>
          <a:chOff x="0" y="0"/>
          <a:chExt cx="0" cy="0"/>
        </a:xfrm>
      </p:grpSpPr>
      <p:sp>
        <p:nvSpPr>
          <p:cNvPr id="2" name="Shape 0"/>
          <p:cNvSpPr/>
          <p:nvPr/>
        </p:nvSpPr>
        <p:spPr>
          <a:xfrm>
            <a:off x="365760" y="365760"/>
            <a:ext cx="11457432" cy="932688"/>
          </a:xfrm>
          <a:prstGeom prst="roundRect">
            <a:avLst>
              <a:gd name="adj" fmla="val 5882"/>
            </a:avLst>
          </a:prstGeom>
          <a:solidFill>
            <a:srgbClr val="16407A"/>
          </a:solidFill>
          <a:ln/>
          <a:effectLst>
            <a:outerShdw sx="100000" sy="100000" kx="0" ky="0" algn="bl" rotWithShape="0" blurRad="76200" dist="25400" dir="5400000">
              <a:srgbClr val="0F2F5C">
                <a:alpha val="35000"/>
              </a:srgbClr>
            </a:outerShdw>
          </a:effectLst>
        </p:spPr>
      </p:sp>
      <p:sp>
        <p:nvSpPr>
          <p:cNvPr id="3" name="Shape 1"/>
          <p:cNvSpPr/>
          <p:nvPr/>
        </p:nvSpPr>
        <p:spPr>
          <a:xfrm>
            <a:off x="566928" y="566928"/>
            <a:ext cx="530352" cy="530352"/>
          </a:xfrm>
          <a:prstGeom prst="roundRect">
            <a:avLst>
              <a:gd name="adj" fmla="val 13793"/>
            </a:avLst>
          </a:prstGeom>
          <a:solidFill>
            <a:srgbClr val="FFFFFF">
              <a:alpha val="16000"/>
            </a:srgbClr>
          </a:solidFill>
          <a:ln w="12700">
            <a:solidFill>
              <a:srgbClr val="FFFFFF">
                <a:alpha val="40000"/>
              </a:srgbClr>
            </a:solidFill>
            <a:prstDash val="solid"/>
          </a:ln>
        </p:spPr>
      </p:sp>
      <p:sp>
        <p:nvSpPr>
          <p:cNvPr id="4" name="Text 2"/>
          <p:cNvSpPr/>
          <p:nvPr/>
        </p:nvSpPr>
        <p:spPr>
          <a:xfrm>
            <a:off x="566928" y="566928"/>
            <a:ext cx="530352" cy="530352"/>
          </a:xfrm>
          <a:prstGeom prst="rect">
            <a:avLst/>
          </a:prstGeom>
          <a:noFill/>
          <a:ln/>
        </p:spPr>
        <p:txBody>
          <a:bodyPr wrap="square" lIns="0" tIns="0" rIns="0" bIns="0" rtlCol="0" anchor="ctr"/>
          <a:lstStyle/>
          <a:p>
            <a:pPr algn="ctr" indent="0" marL="0">
              <a:buNone/>
            </a:pPr>
            <a:r>
              <a:rPr lang="en-US" sz="2400" b="1" dirty="0">
                <a:solidFill>
                  <a:srgbClr val="FFFFFF"/>
                </a:solidFill>
                <a:latin typeface="Meiryo" pitchFamily="34" charset="0"/>
                <a:ea typeface="Meiryo" pitchFamily="34" charset="-122"/>
                <a:cs typeface="Meiryo" pitchFamily="34" charset="-120"/>
              </a:rPr>
              <a:t>5</a:t>
            </a:r>
            <a:endParaRPr lang="en-US" sz="2400" dirty="0"/>
          </a:p>
        </p:txBody>
      </p:sp>
      <p:sp>
        <p:nvSpPr>
          <p:cNvPr id="5" name="Text 3"/>
          <p:cNvSpPr/>
          <p:nvPr/>
        </p:nvSpPr>
        <p:spPr>
          <a:xfrm>
            <a:off x="1280160" y="420624"/>
            <a:ext cx="10378440" cy="822960"/>
          </a:xfrm>
          <a:prstGeom prst="rect">
            <a:avLst/>
          </a:prstGeom>
          <a:noFill/>
          <a:ln/>
        </p:spPr>
        <p:txBody>
          <a:bodyPr wrap="square" lIns="0" tIns="0" rIns="0" bIns="0" rtlCol="0" anchor="ctr"/>
          <a:lstStyle/>
          <a:p>
            <a:pPr indent="0" marL="0">
              <a:lnSpc>
                <a:spcPct val="105000"/>
              </a:lnSpc>
              <a:buNone/>
            </a:pPr>
            <a:r>
              <a:rPr lang="en-US" sz="1400" b="1" dirty="0">
                <a:solidFill>
                  <a:srgbClr val="FFFFFF"/>
                </a:solidFill>
                <a:latin typeface="Meiryo" pitchFamily="34" charset="0"/>
                <a:ea typeface="Meiryo" pitchFamily="34" charset="-122"/>
                <a:cs typeface="Meiryo" pitchFamily="34" charset="-120"/>
              </a:rPr>
              <a:t>営業マンを持たない経営を実現。自社工数ほぼゼロで見込み客33件・多数の資料請求を獲得</a:t>
            </a:r>
            <a:endParaRPr lang="en-US" sz="1400" dirty="0"/>
          </a:p>
        </p:txBody>
      </p:sp>
      <p:sp>
        <p:nvSpPr>
          <p:cNvPr id="6" name="Shape 4"/>
          <p:cNvSpPr/>
          <p:nvPr/>
        </p:nvSpPr>
        <p:spPr>
          <a:xfrm>
            <a:off x="365760" y="1481328"/>
            <a:ext cx="3566160" cy="5029200"/>
          </a:xfrm>
          <a:prstGeom prst="roundRect">
            <a:avLst>
              <a:gd name="adj" fmla="val 1282"/>
            </a:avLst>
          </a:prstGeom>
          <a:solidFill>
            <a:srgbClr val="EAF1FA"/>
          </a:solidFill>
          <a:ln w="12700">
            <a:solidFill>
              <a:srgbClr val="D2DCEA"/>
            </a:solidFill>
            <a:prstDash val="solid"/>
          </a:ln>
        </p:spPr>
      </p:sp>
      <p:sp>
        <p:nvSpPr>
          <p:cNvPr id="7" name="Text 5"/>
          <p:cNvSpPr/>
          <p:nvPr/>
        </p:nvSpPr>
        <p:spPr>
          <a:xfrm>
            <a:off x="585216" y="1664208"/>
            <a:ext cx="3127248" cy="822960"/>
          </a:xfrm>
          <a:prstGeom prst="rect">
            <a:avLst/>
          </a:prstGeom>
          <a:noFill/>
          <a:ln/>
        </p:spPr>
        <p:txBody>
          <a:bodyPr wrap="square" lIns="0" tIns="0" rIns="0" bIns="0" rtlCol="0" anchor="t"/>
          <a:lstStyle/>
          <a:p>
            <a:pPr indent="0" marL="0">
              <a:lnSpc>
                <a:spcPct val="105000"/>
              </a:lnSpc>
              <a:buNone/>
            </a:pPr>
            <a:r>
              <a:rPr lang="en-US" sz="1300" b="1" dirty="0">
                <a:solidFill>
                  <a:srgbClr val="1C2530"/>
                </a:solidFill>
                <a:latin typeface="Meiryo" pitchFamily="34" charset="0"/>
                <a:ea typeface="Meiryo" pitchFamily="34" charset="-122"/>
                <a:cs typeface="Meiryo" pitchFamily="34" charset="-120"/>
              </a:rPr>
              <a:t>株式会社テイクオーバル　様</a:t>
            </a:r>
            <a:endParaRPr lang="en-US" sz="1300" dirty="0"/>
          </a:p>
        </p:txBody>
      </p:sp>
      <p:sp>
        <p:nvSpPr>
          <p:cNvPr id="8" name="Text 6"/>
          <p:cNvSpPr/>
          <p:nvPr/>
        </p:nvSpPr>
        <p:spPr>
          <a:xfrm>
            <a:off x="585216" y="2615184"/>
            <a:ext cx="3127248" cy="219456"/>
          </a:xfrm>
          <a:prstGeom prst="rect">
            <a:avLst/>
          </a:prstGeom>
          <a:noFill/>
          <a:ln/>
        </p:spPr>
        <p:txBody>
          <a:bodyPr wrap="square" lIns="0" tIns="0" rIns="0" bIns="0" rtlCol="0" anchor="ctr"/>
          <a:lstStyle/>
          <a:p>
            <a:pPr indent="0" marL="0">
              <a:buNone/>
            </a:pPr>
            <a:r>
              <a:rPr lang="en-US" sz="950" b="1" spc="100" kern="0" dirty="0">
                <a:solidFill>
                  <a:srgbClr val="2B64AB"/>
                </a:solidFill>
                <a:latin typeface="Meiryo" pitchFamily="34" charset="0"/>
                <a:ea typeface="Meiryo" pitchFamily="34" charset="-122"/>
                <a:cs typeface="Meiryo" pitchFamily="34" charset="-120"/>
              </a:rPr>
              <a:t>事業内容</a:t>
            </a:r>
            <a:endParaRPr lang="en-US" sz="950" dirty="0"/>
          </a:p>
        </p:txBody>
      </p:sp>
      <p:sp>
        <p:nvSpPr>
          <p:cNvPr id="9" name="Text 7"/>
          <p:cNvSpPr/>
          <p:nvPr/>
        </p:nvSpPr>
        <p:spPr>
          <a:xfrm>
            <a:off x="585216" y="2834640"/>
            <a:ext cx="3127248" cy="1051560"/>
          </a:xfrm>
          <a:prstGeom prst="rect">
            <a:avLst/>
          </a:prstGeom>
          <a:noFill/>
          <a:ln/>
        </p:spPr>
        <p:txBody>
          <a:bodyPr wrap="square" lIns="0" tIns="0" rIns="0" bIns="0" rtlCol="0" anchor="ctr"/>
          <a:lstStyle/>
          <a:p>
            <a:pPr indent="0" marL="0">
              <a:lnSpc>
                <a:spcPct val="113000"/>
              </a:lnSpc>
              <a:buNone/>
            </a:pPr>
            <a:r>
              <a:rPr lang="en-US" sz="950" dirty="0">
                <a:solidFill>
                  <a:srgbClr val="45566A"/>
                </a:solidFill>
                <a:latin typeface="Meiryo" pitchFamily="34" charset="0"/>
                <a:ea typeface="Meiryo" pitchFamily="34" charset="-122"/>
                <a:cs typeface="Meiryo" pitchFamily="34" charset="-120"/>
              </a:rPr>
              <a:t>システム・ネットワークソリューション、コンテンツデザイン、各種受託プロデュース。</a:t>
            </a:r>
            <a:endParaRPr lang="en-US" sz="950" dirty="0"/>
          </a:p>
        </p:txBody>
      </p:sp>
      <p:sp>
        <p:nvSpPr>
          <p:cNvPr id="10" name="Text 8"/>
          <p:cNvSpPr/>
          <p:nvPr/>
        </p:nvSpPr>
        <p:spPr>
          <a:xfrm>
            <a:off x="585216" y="3931920"/>
            <a:ext cx="3127248" cy="219456"/>
          </a:xfrm>
          <a:prstGeom prst="rect">
            <a:avLst/>
          </a:prstGeom>
          <a:noFill/>
          <a:ln/>
        </p:spPr>
        <p:txBody>
          <a:bodyPr wrap="square" lIns="0" tIns="0" rIns="0" bIns="0" rtlCol="0" anchor="ctr"/>
          <a:lstStyle/>
          <a:p>
            <a:pPr indent="0" marL="0">
              <a:buNone/>
            </a:pPr>
            <a:r>
              <a:rPr lang="en-US" sz="950" b="1" spc="100" kern="0" dirty="0">
                <a:solidFill>
                  <a:srgbClr val="2B64AB"/>
                </a:solidFill>
                <a:latin typeface="Meiryo" pitchFamily="34" charset="0"/>
                <a:ea typeface="Meiryo" pitchFamily="34" charset="-122"/>
                <a:cs typeface="Meiryo" pitchFamily="34" charset="-120"/>
              </a:rPr>
              <a:t>解決した課題</a:t>
            </a:r>
            <a:endParaRPr lang="en-US" sz="950" dirty="0"/>
          </a:p>
        </p:txBody>
      </p:sp>
      <p:sp>
        <p:nvSpPr>
          <p:cNvPr id="11" name="Shape 9"/>
          <p:cNvSpPr/>
          <p:nvPr/>
        </p:nvSpPr>
        <p:spPr>
          <a:xfrm>
            <a:off x="585216" y="4206240"/>
            <a:ext cx="1906270" cy="274320"/>
          </a:xfrm>
          <a:prstGeom prst="roundRect">
            <a:avLst>
              <a:gd name="adj" fmla="val 50000"/>
            </a:avLst>
          </a:prstGeom>
          <a:solidFill>
            <a:srgbClr val="DCE8F6"/>
          </a:solidFill>
          <a:ln w="9525">
            <a:solidFill>
              <a:srgbClr val="BFD3EC"/>
            </a:solidFill>
            <a:prstDash val="solid"/>
          </a:ln>
        </p:spPr>
      </p:sp>
      <p:sp>
        <p:nvSpPr>
          <p:cNvPr id="12" name="Text 10"/>
          <p:cNvSpPr/>
          <p:nvPr/>
        </p:nvSpPr>
        <p:spPr>
          <a:xfrm>
            <a:off x="585216" y="4206240"/>
            <a:ext cx="1906270" cy="274320"/>
          </a:xfrm>
          <a:prstGeom prst="rect">
            <a:avLst/>
          </a:prstGeom>
          <a:noFill/>
          <a:ln/>
        </p:spPr>
        <p:txBody>
          <a:bodyPr wrap="square" lIns="0" tIns="0" rIns="0" bIns="0" rtlCol="0" anchor="ctr"/>
          <a:lstStyle/>
          <a:p>
            <a:pPr algn="ctr" indent="0" marL="0">
              <a:buNone/>
            </a:pPr>
            <a:r>
              <a:rPr lang="en-US" sz="950" b="1" dirty="0">
                <a:solidFill>
                  <a:srgbClr val="24548F"/>
                </a:solidFill>
                <a:latin typeface="Meiryo" pitchFamily="34" charset="0"/>
                <a:ea typeface="Meiryo" pitchFamily="34" charset="-122"/>
                <a:cs typeface="Meiryo" pitchFamily="34" charset="-120"/>
              </a:rPr>
              <a:t>代表と社員1人の少人数体制</a:t>
            </a:r>
            <a:endParaRPr lang="en-US" sz="950" dirty="0"/>
          </a:p>
        </p:txBody>
      </p:sp>
      <p:sp>
        <p:nvSpPr>
          <p:cNvPr id="13" name="Shape 11"/>
          <p:cNvSpPr/>
          <p:nvPr/>
        </p:nvSpPr>
        <p:spPr>
          <a:xfrm>
            <a:off x="585216" y="4553712"/>
            <a:ext cx="3426460" cy="274320"/>
          </a:xfrm>
          <a:prstGeom prst="roundRect">
            <a:avLst>
              <a:gd name="adj" fmla="val 50000"/>
            </a:avLst>
          </a:prstGeom>
          <a:solidFill>
            <a:srgbClr val="DCE8F6"/>
          </a:solidFill>
          <a:ln w="9525">
            <a:solidFill>
              <a:srgbClr val="BFD3EC"/>
            </a:solidFill>
            <a:prstDash val="solid"/>
          </a:ln>
        </p:spPr>
      </p:sp>
      <p:sp>
        <p:nvSpPr>
          <p:cNvPr id="14" name="Text 12"/>
          <p:cNvSpPr/>
          <p:nvPr/>
        </p:nvSpPr>
        <p:spPr>
          <a:xfrm>
            <a:off x="585216" y="4553712"/>
            <a:ext cx="3426460" cy="274320"/>
          </a:xfrm>
          <a:prstGeom prst="rect">
            <a:avLst/>
          </a:prstGeom>
          <a:noFill/>
          <a:ln/>
        </p:spPr>
        <p:txBody>
          <a:bodyPr wrap="square" lIns="0" tIns="0" rIns="0" bIns="0" rtlCol="0" anchor="ctr"/>
          <a:lstStyle/>
          <a:p>
            <a:pPr algn="ctr" indent="0" marL="0">
              <a:buNone/>
            </a:pPr>
            <a:r>
              <a:rPr lang="en-US" sz="950" b="1" dirty="0">
                <a:solidFill>
                  <a:srgbClr val="24548F"/>
                </a:solidFill>
                <a:latin typeface="Meiryo" pitchFamily="34" charset="0"/>
                <a:ea typeface="Meiryo" pitchFamily="34" charset="-122"/>
                <a:cs typeface="Meiryo" pitchFamily="34" charset="-120"/>
              </a:rPr>
              <a:t>新規営業（BtoBアプローチ）のノウハウも体制も皆無</a:t>
            </a:r>
            <a:endParaRPr lang="en-US" sz="950" dirty="0"/>
          </a:p>
        </p:txBody>
      </p:sp>
      <p:sp>
        <p:nvSpPr>
          <p:cNvPr id="15" name="Shape 13"/>
          <p:cNvSpPr/>
          <p:nvPr/>
        </p:nvSpPr>
        <p:spPr>
          <a:xfrm>
            <a:off x="4114800" y="1417320"/>
            <a:ext cx="82296" cy="219456"/>
          </a:xfrm>
          <a:prstGeom prst="roundRect">
            <a:avLst>
              <a:gd name="adj" fmla="val 33333"/>
            </a:avLst>
          </a:prstGeom>
          <a:solidFill>
            <a:srgbClr val="2B64AB"/>
          </a:solidFill>
          <a:ln/>
        </p:spPr>
      </p:sp>
      <p:sp>
        <p:nvSpPr>
          <p:cNvPr id="16" name="Text 14"/>
          <p:cNvSpPr/>
          <p:nvPr/>
        </p:nvSpPr>
        <p:spPr>
          <a:xfrm>
            <a:off x="4297680" y="1353312"/>
            <a:ext cx="7315200" cy="310896"/>
          </a:xfrm>
          <a:prstGeom prst="rect">
            <a:avLst/>
          </a:prstGeom>
          <a:noFill/>
          <a:ln/>
        </p:spPr>
        <p:txBody>
          <a:bodyPr wrap="square" lIns="0" tIns="0" rIns="0" bIns="0" rtlCol="0" anchor="ctr"/>
          <a:lstStyle/>
          <a:p>
            <a:pPr indent="0" marL="0">
              <a:buNone/>
            </a:pPr>
            <a:r>
              <a:rPr lang="en-US" sz="1250" b="1" dirty="0">
                <a:solidFill>
                  <a:srgbClr val="2B64AB"/>
                </a:solidFill>
                <a:latin typeface="Meiryo" pitchFamily="34" charset="0"/>
                <a:ea typeface="Meiryo" pitchFamily="34" charset="-122"/>
                <a:cs typeface="Meiryo" pitchFamily="34" charset="-120"/>
              </a:rPr>
              <a:t>事例の概要</a:t>
            </a:r>
            <a:endParaRPr lang="en-US" sz="1250" dirty="0"/>
          </a:p>
        </p:txBody>
      </p:sp>
      <p:sp>
        <p:nvSpPr>
          <p:cNvPr id="17" name="Text 15"/>
          <p:cNvSpPr/>
          <p:nvPr/>
        </p:nvSpPr>
        <p:spPr>
          <a:xfrm>
            <a:off x="4114800" y="1682496"/>
            <a:ext cx="7708392" cy="676656"/>
          </a:xfrm>
          <a:prstGeom prst="rect">
            <a:avLst/>
          </a:prstGeom>
          <a:noFill/>
          <a:ln/>
        </p:spPr>
        <p:txBody>
          <a:bodyPr wrap="square" lIns="0" tIns="0" rIns="0" bIns="0" rtlCol="0" anchor="t"/>
          <a:lstStyle/>
          <a:p>
            <a:pPr indent="0" marL="0">
              <a:lnSpc>
                <a:spcPct val="116000"/>
              </a:lnSpc>
              <a:buNone/>
            </a:pPr>
            <a:r>
              <a:rPr lang="en-US" sz="1000" dirty="0">
                <a:solidFill>
                  <a:srgbClr val="45566A"/>
                </a:solidFill>
                <a:latin typeface="Meiryo" pitchFamily="34" charset="0"/>
                <a:ea typeface="Meiryo" pitchFamily="34" charset="-122"/>
                <a:cs typeface="Meiryo" pitchFamily="34" charset="-120"/>
              </a:rPr>
              <a:t>自社営業マンを持たない「持たない経営」を追求。新規アプローチを完全アウトソースし、自社はシステム開発・技術提供実務とお膳立てされた商談の対応のみに専念する「営業プロセスの完全外部化」を確立した。</a:t>
            </a:r>
            <a:endParaRPr lang="en-US" sz="1000" dirty="0"/>
          </a:p>
        </p:txBody>
      </p:sp>
      <p:sp>
        <p:nvSpPr>
          <p:cNvPr id="18" name="Shape 16"/>
          <p:cNvSpPr/>
          <p:nvPr/>
        </p:nvSpPr>
        <p:spPr>
          <a:xfrm>
            <a:off x="4114800" y="2395728"/>
            <a:ext cx="7708392" cy="950976"/>
          </a:xfrm>
          <a:prstGeom prst="roundRect">
            <a:avLst>
              <a:gd name="adj" fmla="val 4808"/>
            </a:avLst>
          </a:prstGeom>
          <a:solidFill>
            <a:srgbClr val="E9F4EE"/>
          </a:solidFill>
          <a:ln w="12700">
            <a:solidFill>
              <a:srgbClr val="BADFC9"/>
            </a:solidFill>
            <a:prstDash val="solid"/>
          </a:ln>
        </p:spPr>
      </p:sp>
      <p:sp>
        <p:nvSpPr>
          <p:cNvPr id="19" name="Shape 17"/>
          <p:cNvSpPr/>
          <p:nvPr/>
        </p:nvSpPr>
        <p:spPr>
          <a:xfrm>
            <a:off x="4352544" y="2542032"/>
            <a:ext cx="82296" cy="219456"/>
          </a:xfrm>
          <a:prstGeom prst="roundRect">
            <a:avLst>
              <a:gd name="adj" fmla="val 33333"/>
            </a:avLst>
          </a:prstGeom>
          <a:solidFill>
            <a:srgbClr val="1F7A4D"/>
          </a:solidFill>
          <a:ln/>
        </p:spPr>
      </p:sp>
      <p:sp>
        <p:nvSpPr>
          <p:cNvPr id="20" name="Text 18"/>
          <p:cNvSpPr/>
          <p:nvPr/>
        </p:nvSpPr>
        <p:spPr>
          <a:xfrm>
            <a:off x="4535424" y="2487168"/>
            <a:ext cx="7159752" cy="292608"/>
          </a:xfrm>
          <a:prstGeom prst="rect">
            <a:avLst/>
          </a:prstGeom>
          <a:noFill/>
          <a:ln/>
        </p:spPr>
        <p:txBody>
          <a:bodyPr wrap="square" lIns="0" tIns="0" rIns="0" bIns="0" rtlCol="0" anchor="ctr"/>
          <a:lstStyle/>
          <a:p>
            <a:pPr indent="0" marL="0">
              <a:buNone/>
            </a:pPr>
            <a:r>
              <a:rPr lang="en-US" sz="1200" b="1" dirty="0">
                <a:solidFill>
                  <a:srgbClr val="1F7A4D"/>
                </a:solidFill>
                <a:latin typeface="Meiryo" pitchFamily="34" charset="0"/>
                <a:ea typeface="Meiryo" pitchFamily="34" charset="-122"/>
                <a:cs typeface="Meiryo" pitchFamily="34" charset="-120"/>
              </a:rPr>
              <a:t>結果</a:t>
            </a:r>
            <a:endParaRPr lang="en-US" sz="1200" dirty="0"/>
          </a:p>
        </p:txBody>
      </p:sp>
      <p:sp>
        <p:nvSpPr>
          <p:cNvPr id="21" name="Text 19"/>
          <p:cNvSpPr/>
          <p:nvPr/>
        </p:nvSpPr>
        <p:spPr>
          <a:xfrm>
            <a:off x="4352544" y="2798064"/>
            <a:ext cx="7232904" cy="457200"/>
          </a:xfrm>
          <a:prstGeom prst="rect">
            <a:avLst/>
          </a:prstGeom>
          <a:noFill/>
          <a:ln/>
        </p:spPr>
        <p:txBody>
          <a:bodyPr wrap="square" lIns="0" tIns="0" rIns="0" bIns="0" rtlCol="0" anchor="t"/>
          <a:lstStyle/>
          <a:p>
            <a:pPr indent="0" marL="0">
              <a:lnSpc>
                <a:spcPct val="113000"/>
              </a:lnSpc>
              <a:buNone/>
            </a:pPr>
            <a:r>
              <a:rPr lang="en-US" sz="1000" dirty="0">
                <a:solidFill>
                  <a:srgbClr val="1C3A29"/>
                </a:solidFill>
                <a:latin typeface="Meiryo" pitchFamily="34" charset="0"/>
                <a:ea typeface="Meiryo" pitchFamily="34" charset="-122"/>
                <a:cs typeface="Meiryo" pitchFamily="34" charset="-120"/>
              </a:rPr>
              <a:t>アイドマの「Sales Platform」を導入したことで、見込み客33件、および多数の資料請求という自社工数ほぼゼロでの強力な新規リード・商談を獲得。最少リソースでシステム・IT案件を獲得する仕組み作りに成功した。</a:t>
            </a:r>
            <a:endParaRPr lang="en-US" sz="1000" dirty="0"/>
          </a:p>
        </p:txBody>
      </p:sp>
      <p:sp>
        <p:nvSpPr>
          <p:cNvPr id="22" name="Shape 20"/>
          <p:cNvSpPr/>
          <p:nvPr/>
        </p:nvSpPr>
        <p:spPr>
          <a:xfrm>
            <a:off x="4114800" y="3456432"/>
            <a:ext cx="7708392" cy="1572768"/>
          </a:xfrm>
          <a:prstGeom prst="roundRect">
            <a:avLst>
              <a:gd name="adj" fmla="val 2907"/>
            </a:avLst>
          </a:prstGeom>
          <a:solidFill>
            <a:srgbClr val="EAF1FA"/>
          </a:solidFill>
          <a:ln w="12700">
            <a:solidFill>
              <a:srgbClr val="C6D8EF"/>
            </a:solidFill>
            <a:prstDash val="solid"/>
          </a:ln>
        </p:spPr>
      </p:sp>
      <p:sp>
        <p:nvSpPr>
          <p:cNvPr id="23" name="Shape 21"/>
          <p:cNvSpPr/>
          <p:nvPr/>
        </p:nvSpPr>
        <p:spPr>
          <a:xfrm>
            <a:off x="4352544" y="3602736"/>
            <a:ext cx="82296" cy="219456"/>
          </a:xfrm>
          <a:prstGeom prst="roundRect">
            <a:avLst>
              <a:gd name="adj" fmla="val 33333"/>
            </a:avLst>
          </a:prstGeom>
          <a:solidFill>
            <a:srgbClr val="2B64AB"/>
          </a:solidFill>
          <a:ln/>
        </p:spPr>
      </p:sp>
      <p:sp>
        <p:nvSpPr>
          <p:cNvPr id="24" name="Text 22"/>
          <p:cNvSpPr/>
          <p:nvPr/>
        </p:nvSpPr>
        <p:spPr>
          <a:xfrm>
            <a:off x="4535424" y="3547872"/>
            <a:ext cx="7159752" cy="292608"/>
          </a:xfrm>
          <a:prstGeom prst="rect">
            <a:avLst/>
          </a:prstGeom>
          <a:noFill/>
          <a:ln/>
        </p:spPr>
        <p:txBody>
          <a:bodyPr wrap="square" lIns="0" tIns="0" rIns="0" bIns="0" rtlCol="0" anchor="ctr"/>
          <a:lstStyle/>
          <a:p>
            <a:pPr indent="0" marL="0">
              <a:buNone/>
            </a:pPr>
            <a:r>
              <a:rPr lang="en-US" sz="1200" b="1" dirty="0">
                <a:solidFill>
                  <a:srgbClr val="2B64AB"/>
                </a:solidFill>
                <a:latin typeface="Meiryo" pitchFamily="34" charset="0"/>
                <a:ea typeface="Meiryo" pitchFamily="34" charset="-122"/>
                <a:cs typeface="Meiryo" pitchFamily="34" charset="-120"/>
              </a:rPr>
              <a:t>今回ご検討をされている企業様への活用ポイント</a:t>
            </a:r>
            <a:endParaRPr lang="en-US" sz="1200" dirty="0"/>
          </a:p>
        </p:txBody>
      </p:sp>
      <p:sp>
        <p:nvSpPr>
          <p:cNvPr id="25" name="Text 23"/>
          <p:cNvSpPr/>
          <p:nvPr/>
        </p:nvSpPr>
        <p:spPr>
          <a:xfrm>
            <a:off x="4352544" y="3858768"/>
            <a:ext cx="7232904" cy="1078992"/>
          </a:xfrm>
          <a:prstGeom prst="rect">
            <a:avLst/>
          </a:prstGeom>
          <a:noFill/>
          <a:ln/>
        </p:spPr>
        <p:txBody>
          <a:bodyPr wrap="square" lIns="0" tIns="0" rIns="0" bIns="0" rtlCol="0" anchor="t"/>
          <a:lstStyle/>
          <a:p>
            <a:pPr indent="0" marL="0">
              <a:lnSpc>
                <a:spcPct val="113000"/>
              </a:lnSpc>
              <a:buNone/>
            </a:pPr>
            <a:r>
              <a:rPr lang="en-US" sz="1000" dirty="0">
                <a:solidFill>
                  <a:srgbClr val="1C2530"/>
                </a:solidFill>
                <a:latin typeface="Meiryo" pitchFamily="34" charset="0"/>
                <a:ea typeface="Meiryo" pitchFamily="34" charset="-122"/>
                <a:cs typeface="Meiryo" pitchFamily="34" charset="-120"/>
              </a:rPr>
              <a:t>開発エンジニアである自社の貴重な時間を1分も営業アプローチに使わず、営業支援ユニットを「外部の営業部隊」として即座に稼働させ、システム開発ニーズを持つ法人との商談だけを獲得できる実践例です。</a:t>
            </a:r>
            <a:endParaRPr lang="en-US" sz="1000" dirty="0"/>
          </a:p>
        </p:txBody>
      </p:sp>
      <p:sp>
        <p:nvSpPr>
          <p:cNvPr id="26" name="Shape 24"/>
          <p:cNvSpPr/>
          <p:nvPr/>
        </p:nvSpPr>
        <p:spPr>
          <a:xfrm>
            <a:off x="4114800" y="5138928"/>
            <a:ext cx="7708392" cy="1060704"/>
          </a:xfrm>
          <a:prstGeom prst="roundRect">
            <a:avLst>
              <a:gd name="adj" fmla="val 4310"/>
            </a:avLst>
          </a:prstGeom>
          <a:solidFill>
            <a:srgbClr val="FBF4E6"/>
          </a:solidFill>
          <a:ln w="12700">
            <a:solidFill>
              <a:srgbClr val="E7D6AC"/>
            </a:solidFill>
            <a:prstDash val="solid"/>
          </a:ln>
        </p:spPr>
      </p:sp>
      <p:sp>
        <p:nvSpPr>
          <p:cNvPr id="27" name="Shape 25"/>
          <p:cNvSpPr/>
          <p:nvPr/>
        </p:nvSpPr>
        <p:spPr>
          <a:xfrm>
            <a:off x="4352544" y="5285232"/>
            <a:ext cx="82296" cy="219456"/>
          </a:xfrm>
          <a:prstGeom prst="roundRect">
            <a:avLst>
              <a:gd name="adj" fmla="val 33333"/>
            </a:avLst>
          </a:prstGeom>
          <a:solidFill>
            <a:srgbClr val="9A6B12"/>
          </a:solidFill>
          <a:ln/>
        </p:spPr>
      </p:sp>
      <p:sp>
        <p:nvSpPr>
          <p:cNvPr id="28" name="Text 26"/>
          <p:cNvSpPr/>
          <p:nvPr/>
        </p:nvSpPr>
        <p:spPr>
          <a:xfrm>
            <a:off x="4535424" y="5230368"/>
            <a:ext cx="7159752" cy="292608"/>
          </a:xfrm>
          <a:prstGeom prst="rect">
            <a:avLst/>
          </a:prstGeom>
          <a:noFill/>
          <a:ln/>
        </p:spPr>
        <p:txBody>
          <a:bodyPr wrap="square" lIns="0" tIns="0" rIns="0" bIns="0" rtlCol="0" anchor="ctr"/>
          <a:lstStyle/>
          <a:p>
            <a:pPr indent="0" marL="0">
              <a:buNone/>
            </a:pPr>
            <a:r>
              <a:rPr lang="en-US" sz="1200" b="1" dirty="0">
                <a:solidFill>
                  <a:srgbClr val="9A6B12"/>
                </a:solidFill>
                <a:latin typeface="Meiryo" pitchFamily="34" charset="0"/>
                <a:ea typeface="Meiryo" pitchFamily="34" charset="-122"/>
                <a:cs typeface="Meiryo" pitchFamily="34" charset="-120"/>
              </a:rPr>
              <a:t>導入を検討されえいる企業様へのアドバイス</a:t>
            </a:r>
            <a:endParaRPr lang="en-US" sz="1200" dirty="0"/>
          </a:p>
        </p:txBody>
      </p:sp>
      <p:sp>
        <p:nvSpPr>
          <p:cNvPr id="29" name="Text 27"/>
          <p:cNvSpPr/>
          <p:nvPr/>
        </p:nvSpPr>
        <p:spPr>
          <a:xfrm>
            <a:off x="4352544" y="5541264"/>
            <a:ext cx="7232904" cy="566928"/>
          </a:xfrm>
          <a:prstGeom prst="rect">
            <a:avLst/>
          </a:prstGeom>
          <a:noFill/>
          <a:ln/>
        </p:spPr>
        <p:txBody>
          <a:bodyPr wrap="square" lIns="0" tIns="0" rIns="0" bIns="0" rtlCol="0" anchor="t"/>
          <a:lstStyle/>
          <a:p>
            <a:pPr indent="0" marL="0">
              <a:lnSpc>
                <a:spcPct val="113000"/>
              </a:lnSpc>
              <a:buNone/>
            </a:pPr>
            <a:r>
              <a:rPr lang="en-US" sz="1000" i="1" dirty="0">
                <a:solidFill>
                  <a:srgbClr val="4A3A18"/>
                </a:solidFill>
                <a:latin typeface="Meiryo" pitchFamily="34" charset="0"/>
                <a:ea typeface="Meiryo" pitchFamily="34" charset="-122"/>
                <a:cs typeface="Meiryo" pitchFamily="34" charset="-120"/>
              </a:rPr>
              <a:t>「優れた技術やサービスがあるならば、営業担当者を雇用するリスクや教育の手間を考えれば、営業活動は最初から仕組みとしてアウトソーシング（外注）するほうが圧倒的にメリットが大きいです。」</a:t>
            </a:r>
            <a:endParaRPr lang="en-US" sz="1000" dirty="0"/>
          </a:p>
        </p:txBody>
      </p:sp>
      <p:sp>
        <p:nvSpPr>
          <p:cNvPr id="30" name="Text 28"/>
          <p:cNvSpPr/>
          <p:nvPr/>
        </p:nvSpPr>
        <p:spPr>
          <a:xfrm>
            <a:off x="4114800" y="6291072"/>
            <a:ext cx="7708392" cy="219456"/>
          </a:xfrm>
          <a:prstGeom prst="rect">
            <a:avLst/>
          </a:prstGeom>
          <a:noFill/>
          <a:ln/>
        </p:spPr>
        <p:txBody>
          <a:bodyPr wrap="square" lIns="0" tIns="0" rIns="0" bIns="0" rtlCol="0" anchor="ctr"/>
          <a:lstStyle/>
          <a:p>
            <a:pPr indent="0" marL="0">
              <a:buNone/>
            </a:pPr>
            <a:r>
              <a:rPr lang="en-US" sz="950" b="1" dirty="0">
                <a:solidFill>
                  <a:srgbClr val="8593A4"/>
                </a:solidFill>
                <a:latin typeface="Meiryo" pitchFamily="34" charset="0"/>
                <a:ea typeface="Meiryo" pitchFamily="34" charset="-122"/>
                <a:cs typeface="Meiryo" pitchFamily="34" charset="-120"/>
              </a:rPr>
              <a:t>引用URL　</a:t>
            </a:r>
            <a:pPr indent="0" marL="0">
              <a:buNone/>
            </a:pPr>
            <a:r>
              <a:rPr lang="en-US" sz="950" u="sng" dirty="0">
                <a:solidFill>
                  <a:srgbClr val="2B64AB"/>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https://www.aidma-hd.jp/case/zirei-130/</a:t>
            </a:r>
            <a:endParaRPr lang="en-US" sz="950" dirty="0"/>
          </a:p>
        </p:txBody>
      </p:sp>
      <p:sp>
        <p:nvSpPr>
          <p:cNvPr id="31" name="Text 29"/>
          <p:cNvSpPr/>
          <p:nvPr/>
        </p:nvSpPr>
        <p:spPr>
          <a:xfrm>
            <a:off x="365760" y="6537960"/>
            <a:ext cx="8229600" cy="219456"/>
          </a:xfrm>
          <a:prstGeom prst="rect">
            <a:avLst/>
          </a:prstGeom>
          <a:noFill/>
          <a:ln/>
        </p:spPr>
        <p:txBody>
          <a:bodyPr wrap="square" lIns="0" tIns="0" rIns="0" bIns="0" rtlCol="0" anchor="ctr"/>
          <a:lstStyle/>
          <a:p>
            <a:pPr indent="0" marL="0">
              <a:buNone/>
            </a:pPr>
            <a:r>
              <a:rPr lang="en-US" sz="900" dirty="0">
                <a:solidFill>
                  <a:srgbClr val="9AA7B6"/>
                </a:solidFill>
                <a:latin typeface="Meiryo" pitchFamily="34" charset="0"/>
                <a:ea typeface="Meiryo" pitchFamily="34" charset="-122"/>
                <a:cs typeface="Meiryo" pitchFamily="34" charset="-120"/>
              </a:rPr>
              <a:t>株式会社Amwal様　提案引用実績5選</a:t>
            </a:r>
            <a:endParaRPr lang="en-US" sz="900" dirty="0"/>
          </a:p>
        </p:txBody>
      </p:sp>
      <p:sp>
        <p:nvSpPr>
          <p:cNvPr id="32" name="Text 30"/>
          <p:cNvSpPr/>
          <p:nvPr/>
        </p:nvSpPr>
        <p:spPr>
          <a:xfrm>
            <a:off x="10424160" y="6537960"/>
            <a:ext cx="1399032" cy="219456"/>
          </a:xfrm>
          <a:prstGeom prst="rect">
            <a:avLst/>
          </a:prstGeom>
          <a:noFill/>
          <a:ln/>
        </p:spPr>
        <p:txBody>
          <a:bodyPr wrap="square" lIns="0" tIns="0" rIns="0" bIns="0" rtlCol="0" anchor="ctr"/>
          <a:lstStyle/>
          <a:p>
            <a:pPr algn="r" indent="0" marL="0">
              <a:buNone/>
            </a:pPr>
            <a:r>
              <a:rPr lang="en-US" sz="900" dirty="0">
                <a:solidFill>
                  <a:srgbClr val="9AA7B6"/>
                </a:solidFill>
                <a:latin typeface="Meiryo" pitchFamily="34" charset="0"/>
                <a:ea typeface="Meiryo" pitchFamily="34" charset="-122"/>
                <a:cs typeface="Meiryo" pitchFamily="34" charset="-120"/>
              </a:rPr>
              <a:t>5 / 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F6FB"/>
        </a:solidFill>
      </p:bgPr>
    </p:bg>
    <p:spTree>
      <p:nvGrpSpPr>
        <p:cNvPr id="1" name=""/>
        <p:cNvGrpSpPr/>
        <p:nvPr/>
      </p:nvGrpSpPr>
      <p:grpSpPr>
        <a:xfrm>
          <a:off x="0" y="0"/>
          <a:ext cx="0" cy="0"/>
          <a:chOff x="0" y="0"/>
          <a:chExt cx="0" cy="0"/>
        </a:xfrm>
      </p:grpSpPr>
      <p:sp>
        <p:nvSpPr>
          <p:cNvPr id="2" name="Shape 0"/>
          <p:cNvSpPr/>
          <p:nvPr/>
        </p:nvSpPr>
        <p:spPr>
          <a:xfrm>
            <a:off x="365760" y="365760"/>
            <a:ext cx="11457432" cy="749808"/>
          </a:xfrm>
          <a:prstGeom prst="roundRect">
            <a:avLst>
              <a:gd name="adj" fmla="val 7317"/>
            </a:avLst>
          </a:prstGeom>
          <a:solidFill>
            <a:srgbClr val="16407A"/>
          </a:solidFill>
          <a:ln/>
        </p:spPr>
      </p:sp>
      <p:sp>
        <p:nvSpPr>
          <p:cNvPr id="3" name="Text 1"/>
          <p:cNvSpPr/>
          <p:nvPr/>
        </p:nvSpPr>
        <p:spPr>
          <a:xfrm>
            <a:off x="640080" y="365760"/>
            <a:ext cx="10972800" cy="749808"/>
          </a:xfrm>
          <a:prstGeom prst="rect">
            <a:avLst/>
          </a:prstGeom>
          <a:noFill/>
          <a:ln/>
        </p:spPr>
        <p:txBody>
          <a:bodyPr wrap="square" lIns="0" tIns="0" rIns="0" bIns="0" rtlCol="0" anchor="ctr"/>
          <a:lstStyle/>
          <a:p>
            <a:pPr indent="0" marL="0">
              <a:buNone/>
            </a:pPr>
            <a:r>
              <a:rPr lang="en-US" sz="1300" b="1" dirty="0">
                <a:solidFill>
                  <a:srgbClr val="FFFFFF"/>
                </a:solidFill>
                <a:latin typeface="Meiryo" pitchFamily="34" charset="0"/>
                <a:ea typeface="Meiryo" pitchFamily="34" charset="-122"/>
                <a:cs typeface="Meiryo" pitchFamily="34" charset="-120"/>
              </a:rPr>
              <a:t>まとめ ─ システム開発：下請け/紹介依存 → 直請け受託開発案件を自動獲得（Before → After）</a:t>
            </a:r>
            <a:endParaRPr lang="en-US" sz="13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365760" y="1316736"/>
          <a:ext cx="11457432" cy="914400"/>
        </p:xfrm>
        <a:graphic>
          <a:graphicData uri="http://schemas.openxmlformats.org/drawingml/2006/table">
            <a:tbl>
              <a:tblPr/>
              <a:tblGrid>
                <a:gridCol w="2286000"/>
                <a:gridCol w="1828800"/>
                <a:gridCol w="2651760"/>
                <a:gridCol w="2176272"/>
                <a:gridCol w="2514600"/>
              </a:tblGrid>
              <a:tr h="365760">
                <a:tc>
                  <a:txBody>
                    <a:bodyPr/>
                    <a:lstStyle/>
                    <a:p>
                      <a:pPr algn="ctr" indent="0" marL="0">
                        <a:buNone/>
                      </a:pPr>
                      <a:r>
                        <a:rPr lang="en-US" sz="1050" b="1" dirty="0">
                          <a:solidFill>
                            <a:srgbClr val="FFFFFF"/>
                          </a:solidFill>
                          <a:latin typeface="Meiryo" pitchFamily="34" charset="0"/>
                          <a:ea typeface="Meiryo" pitchFamily="34" charset="-122"/>
                          <a:cs typeface="Meiryo" pitchFamily="34" charset="-120"/>
                        </a:rPr>
                        <a:t>企業名</a:t>
                      </a:r>
                      <a:endParaRPr lang="en-US" sz="1050" dirty="0">
                        <a:latin typeface="Meiryo" charset="0"/>
                        <a:ea typeface="Meiryo" charset="0"/>
                        <a:cs typeface="Meiryo" charset="0"/>
                      </a:endParaRPr>
                    </a:p>
                  </a:txBody>
                  <a:tcPr marL="25400" marR="254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2B64AB"/>
                    </a:solidFill>
                  </a:tcPr>
                </a:tc>
                <a:tc>
                  <a:txBody>
                    <a:bodyPr/>
                    <a:lstStyle/>
                    <a:p>
                      <a:pPr algn="ctr" indent="0" marL="0">
                        <a:buNone/>
                      </a:pPr>
                      <a:r>
                        <a:rPr lang="en-US" sz="1050" b="1" dirty="0">
                          <a:solidFill>
                            <a:srgbClr val="FFFFFF"/>
                          </a:solidFill>
                          <a:latin typeface="Meiryo" pitchFamily="34" charset="0"/>
                          <a:ea typeface="Meiryo" pitchFamily="34" charset="-122"/>
                          <a:cs typeface="Meiryo" pitchFamily="34" charset="-120"/>
                        </a:rPr>
                        <a:t>業種</a:t>
                      </a:r>
                      <a:endParaRPr lang="en-US" sz="1050" dirty="0">
                        <a:latin typeface="Meiryo" charset="0"/>
                        <a:ea typeface="Meiryo" charset="0"/>
                        <a:cs typeface="Meiryo" charset="0"/>
                      </a:endParaRPr>
                    </a:p>
                  </a:txBody>
                  <a:tcPr marL="25400" marR="254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2B64AB"/>
                    </a:solidFill>
                  </a:tcPr>
                </a:tc>
                <a:tc>
                  <a:txBody>
                    <a:bodyPr/>
                    <a:lstStyle/>
                    <a:p>
                      <a:pPr algn="ctr" indent="0" marL="0">
                        <a:buNone/>
                      </a:pPr>
                      <a:r>
                        <a:rPr lang="en-US" sz="1050" b="1" dirty="0">
                          <a:solidFill>
                            <a:srgbClr val="FFFFFF"/>
                          </a:solidFill>
                          <a:latin typeface="Meiryo" pitchFamily="34" charset="0"/>
                          <a:ea typeface="Meiryo" pitchFamily="34" charset="-122"/>
                          <a:cs typeface="Meiryo" pitchFamily="34" charset="-120"/>
                        </a:rPr>
                        <a:t>Before（課題）</a:t>
                      </a:r>
                      <a:endParaRPr lang="en-US" sz="1050" dirty="0">
                        <a:latin typeface="Meiryo" charset="0"/>
                        <a:ea typeface="Meiryo" charset="0"/>
                        <a:cs typeface="Meiryo" charset="0"/>
                      </a:endParaRPr>
                    </a:p>
                  </a:txBody>
                  <a:tcPr marL="25400" marR="254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2B64AB"/>
                    </a:solidFill>
                  </a:tcPr>
                </a:tc>
                <a:tc>
                  <a:txBody>
                    <a:bodyPr/>
                    <a:lstStyle/>
                    <a:p>
                      <a:pPr algn="ctr" indent="0" marL="0">
                        <a:buNone/>
                      </a:pPr>
                      <a:r>
                        <a:rPr lang="en-US" sz="1050" b="1" dirty="0">
                          <a:solidFill>
                            <a:srgbClr val="FFFFFF"/>
                          </a:solidFill>
                          <a:latin typeface="Meiryo" pitchFamily="34" charset="0"/>
                          <a:ea typeface="Meiryo" pitchFamily="34" charset="-122"/>
                          <a:cs typeface="Meiryo" pitchFamily="34" charset="-120"/>
                        </a:rPr>
                        <a:t>導入した支援</a:t>
                      </a:r>
                      <a:endParaRPr lang="en-US" sz="1050" dirty="0">
                        <a:latin typeface="Meiryo" charset="0"/>
                        <a:ea typeface="Meiryo" charset="0"/>
                        <a:cs typeface="Meiryo" charset="0"/>
                      </a:endParaRPr>
                    </a:p>
                  </a:txBody>
                  <a:tcPr marL="25400" marR="254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2B64AB"/>
                    </a:solidFill>
                  </a:tcPr>
                </a:tc>
                <a:tc>
                  <a:txBody>
                    <a:bodyPr/>
                    <a:lstStyle/>
                    <a:p>
                      <a:pPr algn="ctr" indent="0" marL="0">
                        <a:buNone/>
                      </a:pPr>
                      <a:r>
                        <a:rPr lang="en-US" sz="1050" b="1" dirty="0">
                          <a:solidFill>
                            <a:srgbClr val="FFFFFF"/>
                          </a:solidFill>
                          <a:latin typeface="Meiryo" pitchFamily="34" charset="0"/>
                          <a:ea typeface="Meiryo" pitchFamily="34" charset="-122"/>
                          <a:cs typeface="Meiryo" pitchFamily="34" charset="-120"/>
                        </a:rPr>
                        <a:t>After（成果）</a:t>
                      </a:r>
                      <a:endParaRPr lang="en-US" sz="1050" dirty="0">
                        <a:latin typeface="Meiryo" charset="0"/>
                        <a:ea typeface="Meiryo" charset="0"/>
                        <a:cs typeface="Meiryo" charset="0"/>
                      </a:endParaRPr>
                    </a:p>
                  </a:txBody>
                  <a:tcPr marL="25400" marR="254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2B64AB"/>
                    </a:solidFill>
                  </a:tcPr>
                </a:tc>
              </a:tr>
              <a:tr h="896112">
                <a:tc>
                  <a:txBody>
                    <a:bodyPr/>
                    <a:lstStyle/>
                    <a:p>
                      <a:pPr algn="l" indent="0" marL="0">
                        <a:buNone/>
                      </a:pPr>
                      <a:r>
                        <a:rPr lang="en-US" sz="850" b="1" dirty="0">
                          <a:solidFill>
                            <a:srgbClr val="1C2530"/>
                          </a:solidFill>
                          <a:latin typeface="Meiryo" pitchFamily="34" charset="0"/>
                          <a:ea typeface="Meiryo" pitchFamily="34" charset="-122"/>
                          <a:cs typeface="Meiryo" pitchFamily="34" charset="-120"/>
                        </a:rPr>
                        <a:t>株式会社ゼファクト</a:t>
                      </a:r>
                      <a:endParaRPr lang="en-US" sz="850" dirty="0">
                        <a:latin typeface="Meiryo" charset="0"/>
                        <a:ea typeface="Meiryo" charset="0"/>
                        <a:cs typeface="Meiryo" charset="0"/>
                      </a:endParaRPr>
                    </a:p>
                    <a:p>
                      <a:pPr algn="l" indent="0" marL="0">
                        <a:buNone/>
                      </a:pPr>
                      <a:r>
                        <a:rPr lang="en-US" sz="850" b="1" dirty="0">
                          <a:solidFill>
                            <a:srgbClr val="1C2530"/>
                          </a:solidFill>
                          <a:latin typeface="Meiryo" pitchFamily="34" charset="0"/>
                          <a:ea typeface="Meiryo" pitchFamily="34" charset="-122"/>
                          <a:cs typeface="Meiryo" pitchFamily="34" charset="-120"/>
                        </a:rPr>
                        <a:t>様</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6407A"/>
                          </a:solidFill>
                          <a:latin typeface="Meiryo" pitchFamily="34" charset="0"/>
                          <a:ea typeface="Meiryo" pitchFamily="34" charset="-122"/>
                          <a:cs typeface="Meiryo" pitchFamily="34" charset="-120"/>
                        </a:rPr>
                        <a:t>業務システム受託開発・SES／Web制作</a:t>
                      </a:r>
                      <a:endParaRPr lang="en-US" sz="850" dirty="0">
                        <a:latin typeface="Meiryo" charset="0"/>
                        <a:ea typeface="Meiryo" charset="0"/>
                        <a:cs typeface="Meiryo" charset="0"/>
                      </a:endParaRPr>
                    </a:p>
                  </a:txBody>
                  <a:tcPr marL="38100" marR="381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c>
                  <a:txBody>
                    <a:bodyPr/>
                    <a:lstStyle/>
                    <a:p>
                      <a:pPr algn="l" indent="0" marL="0">
                        <a:buNone/>
                      </a:pPr>
                      <a:r>
                        <a:rPr lang="en-US" sz="850" dirty="0">
                          <a:solidFill>
                            <a:srgbClr val="45566A"/>
                          </a:solidFill>
                          <a:latin typeface="Meiryo" pitchFamily="34" charset="0"/>
                          <a:ea typeface="Meiryo" pitchFamily="34" charset="-122"/>
                          <a:cs typeface="Meiryo" pitchFamily="34" charset="-120"/>
                        </a:rPr>
                        <a:t>開発の技術・実績はあるが営業担当が少ない／大手・中堅からの直請け受託を自力で獲得できず</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c>
                  <a:txBody>
                    <a:bodyPr/>
                    <a:lstStyle/>
                    <a:p>
                      <a:pPr algn="l" indent="0" marL="0">
                        <a:buNone/>
                      </a:pPr>
                      <a:r>
                        <a:rPr lang="en-US" sz="850" dirty="0">
                          <a:solidFill>
                            <a:srgbClr val="3A2F5C"/>
                          </a:solidFill>
                          <a:latin typeface="Meiryo" pitchFamily="34" charset="0"/>
                          <a:ea typeface="Meiryo" pitchFamily="34" charset="-122"/>
                          <a:cs typeface="Meiryo" pitchFamily="34" charset="-120"/>
                        </a:rPr>
                        <a:t>Sales Platform（大手・中堅企業へBtoBアプローチを自動化）</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c>
                  <a:txBody>
                    <a:bodyPr/>
                    <a:lstStyle/>
                    <a:p>
                      <a:pPr algn="l" indent="0" marL="0">
                        <a:buNone/>
                      </a:pPr>
                      <a:r>
                        <a:rPr lang="en-US" sz="850" dirty="0">
                          <a:solidFill>
                            <a:srgbClr val="1C3A29"/>
                          </a:solidFill>
                          <a:latin typeface="Meiryo" pitchFamily="34" charset="0"/>
                          <a:ea typeface="Meiryo" pitchFamily="34" charset="-122"/>
                          <a:cs typeface="Meiryo" pitchFamily="34" charset="-120"/>
                        </a:rPr>
                        <a:t>アポイント取得率が大幅向上、高単価な直請け受託案件の窓口を次々開拓</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r>
              <a:tr h="896112">
                <a:tc>
                  <a:txBody>
                    <a:bodyPr/>
                    <a:lstStyle/>
                    <a:p>
                      <a:pPr algn="l" indent="0" marL="0">
                        <a:buNone/>
                      </a:pPr>
                      <a:r>
                        <a:rPr lang="en-US" sz="850" b="1" dirty="0">
                          <a:solidFill>
                            <a:srgbClr val="1C2530"/>
                          </a:solidFill>
                          <a:latin typeface="Meiryo" pitchFamily="34" charset="0"/>
                          <a:ea typeface="Meiryo" pitchFamily="34" charset="-122"/>
                          <a:cs typeface="Meiryo" pitchFamily="34" charset="-120"/>
                        </a:rPr>
                        <a:t>雲楼システムパートナーズ</a:t>
                      </a:r>
                      <a:endParaRPr lang="en-US" sz="850" dirty="0">
                        <a:latin typeface="Meiryo" charset="0"/>
                        <a:ea typeface="Meiryo" charset="0"/>
                        <a:cs typeface="Meiryo" charset="0"/>
                      </a:endParaRPr>
                    </a:p>
                    <a:p>
                      <a:pPr algn="l" indent="0" marL="0">
                        <a:buNone/>
                      </a:pPr>
                      <a:r>
                        <a:rPr lang="en-US" sz="850" b="1" dirty="0">
                          <a:solidFill>
                            <a:srgbClr val="1C2530"/>
                          </a:solidFill>
                          <a:latin typeface="Meiryo" pitchFamily="34" charset="0"/>
                          <a:ea typeface="Meiryo" pitchFamily="34" charset="-122"/>
                          <a:cs typeface="Meiryo" pitchFamily="34" charset="-120"/>
                        </a:rPr>
                        <a:t>様</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EEF3FA"/>
                    </a:solidFill>
                  </a:tcPr>
                </a:tc>
                <a:tc>
                  <a:txBody>
                    <a:bodyPr/>
                    <a:lstStyle/>
                    <a:p>
                      <a:pPr algn="ctr" indent="0" marL="0">
                        <a:buNone/>
                      </a:pPr>
                      <a:r>
                        <a:rPr lang="en-US" sz="850" b="1" dirty="0">
                          <a:solidFill>
                            <a:srgbClr val="16407A"/>
                          </a:solidFill>
                          <a:latin typeface="Meiryo" pitchFamily="34" charset="0"/>
                          <a:ea typeface="Meiryo" pitchFamily="34" charset="-122"/>
                          <a:cs typeface="Meiryo" pitchFamily="34" charset="-120"/>
                        </a:rPr>
                        <a:t>Python・生成AIの業務システム開発</a:t>
                      </a:r>
                      <a:endParaRPr lang="en-US" sz="850" dirty="0">
                        <a:latin typeface="Meiryo" charset="0"/>
                        <a:ea typeface="Meiryo" charset="0"/>
                        <a:cs typeface="Meiryo" charset="0"/>
                      </a:endParaRPr>
                    </a:p>
                  </a:txBody>
                  <a:tcPr marL="38100" marR="381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EEF3FA"/>
                    </a:solidFill>
                  </a:tcPr>
                </a:tc>
                <a:tc>
                  <a:txBody>
                    <a:bodyPr/>
                    <a:lstStyle/>
                    <a:p>
                      <a:pPr algn="l" indent="0" marL="0">
                        <a:buNone/>
                      </a:pPr>
                      <a:r>
                        <a:rPr lang="en-US" sz="850" dirty="0">
                          <a:solidFill>
                            <a:srgbClr val="45566A"/>
                          </a:solidFill>
                          <a:latin typeface="Meiryo" pitchFamily="34" charset="0"/>
                          <a:ea typeface="Meiryo" pitchFamily="34" charset="-122"/>
                          <a:cs typeface="Meiryo" pitchFamily="34" charset="-120"/>
                        </a:rPr>
                        <a:t>開発の技術は高いが創業間もない体制／自社HPや営業専任がなく新規アプローチ・案件獲得が壁</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EEF3FA"/>
                    </a:solidFill>
                  </a:tcPr>
                </a:tc>
                <a:tc>
                  <a:txBody>
                    <a:bodyPr/>
                    <a:lstStyle/>
                    <a:p>
                      <a:pPr algn="l" indent="0" marL="0">
                        <a:buNone/>
                      </a:pPr>
                      <a:r>
                        <a:rPr lang="en-US" sz="850" dirty="0">
                          <a:solidFill>
                            <a:srgbClr val="3A2F5C"/>
                          </a:solidFill>
                          <a:latin typeface="Meiryo" pitchFamily="34" charset="0"/>
                          <a:ea typeface="Meiryo" pitchFamily="34" charset="-122"/>
                          <a:cs typeface="Meiryo" pitchFamily="34" charset="-120"/>
                        </a:rPr>
                        <a:t>Sales Platform・セールスユニット（アプローチと信頼獲得を外部化・自動化）</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EEF3FA"/>
                    </a:solidFill>
                  </a:tcPr>
                </a:tc>
                <a:tc>
                  <a:txBody>
                    <a:bodyPr/>
                    <a:lstStyle/>
                    <a:p>
                      <a:pPr algn="l" indent="0" marL="0">
                        <a:buNone/>
                      </a:pPr>
                      <a:r>
                        <a:rPr lang="en-US" sz="850" dirty="0">
                          <a:solidFill>
                            <a:srgbClr val="1C3A29"/>
                          </a:solidFill>
                          <a:latin typeface="Meiryo" pitchFamily="34" charset="0"/>
                          <a:ea typeface="Meiryo" pitchFamily="34" charset="-122"/>
                          <a:cs typeface="Meiryo" pitchFamily="34" charset="-120"/>
                        </a:rPr>
                        <a:t>開発稼働を止めず新規システム開発案件を獲得する自走型営業基盤を確立</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EEF3FA"/>
                    </a:solidFill>
                  </a:tcPr>
                </a:tc>
              </a:tr>
              <a:tr h="896112">
                <a:tc>
                  <a:txBody>
                    <a:bodyPr/>
                    <a:lstStyle/>
                    <a:p>
                      <a:pPr algn="l" indent="0" marL="0">
                        <a:buNone/>
                      </a:pPr>
                      <a:r>
                        <a:rPr lang="en-US" sz="850" b="1" dirty="0">
                          <a:solidFill>
                            <a:srgbClr val="1C2530"/>
                          </a:solidFill>
                          <a:latin typeface="Meiryo" pitchFamily="34" charset="0"/>
                          <a:ea typeface="Meiryo" pitchFamily="34" charset="-122"/>
                          <a:cs typeface="Meiryo" pitchFamily="34" charset="-120"/>
                        </a:rPr>
                        <a:t>株式会社ワンビッツ</a:t>
                      </a:r>
                      <a:endParaRPr lang="en-US" sz="850" dirty="0">
                        <a:latin typeface="Meiryo" charset="0"/>
                        <a:ea typeface="Meiryo" charset="0"/>
                        <a:cs typeface="Meiryo" charset="0"/>
                      </a:endParaRPr>
                    </a:p>
                    <a:p>
                      <a:pPr algn="l" indent="0" marL="0">
                        <a:buNone/>
                      </a:pPr>
                      <a:r>
                        <a:rPr lang="en-US" sz="850" b="1" dirty="0">
                          <a:solidFill>
                            <a:srgbClr val="1C2530"/>
                          </a:solidFill>
                          <a:latin typeface="Meiryo" pitchFamily="34" charset="0"/>
                          <a:ea typeface="Meiryo" pitchFamily="34" charset="-122"/>
                          <a:cs typeface="Meiryo" pitchFamily="34" charset="-120"/>
                        </a:rPr>
                        <a:t>様</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6407A"/>
                          </a:solidFill>
                          <a:latin typeface="Meiryo" pitchFamily="34" charset="0"/>
                          <a:ea typeface="Meiryo" pitchFamily="34" charset="-122"/>
                          <a:cs typeface="Meiryo" pitchFamily="34" charset="-120"/>
                        </a:rPr>
                        <a:t>Web・システム受託開発／AI・DX支援</a:t>
                      </a:r>
                      <a:endParaRPr lang="en-US" sz="850" dirty="0">
                        <a:latin typeface="Meiryo" charset="0"/>
                        <a:ea typeface="Meiryo" charset="0"/>
                        <a:cs typeface="Meiryo" charset="0"/>
                      </a:endParaRPr>
                    </a:p>
                  </a:txBody>
                  <a:tcPr marL="38100" marR="381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c>
                  <a:txBody>
                    <a:bodyPr/>
                    <a:lstStyle/>
                    <a:p>
                      <a:pPr algn="l" indent="0" marL="0">
                        <a:buNone/>
                      </a:pPr>
                      <a:r>
                        <a:rPr lang="en-US" sz="850" dirty="0">
                          <a:solidFill>
                            <a:srgbClr val="45566A"/>
                          </a:solidFill>
                          <a:latin typeface="Meiryo" pitchFamily="34" charset="0"/>
                          <a:ea typeface="Meiryo" pitchFamily="34" charset="-122"/>
                          <a:cs typeface="Meiryo" pitchFamily="34" charset="-120"/>
                        </a:rPr>
                        <a:t>システム開発力はあるがプッシュ型営業のノウハウ・専任体制がなくBtoB案件獲得に課題</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c>
                  <a:txBody>
                    <a:bodyPr/>
                    <a:lstStyle/>
                    <a:p>
                      <a:pPr algn="l" indent="0" marL="0">
                        <a:buNone/>
                      </a:pPr>
                      <a:r>
                        <a:rPr lang="en-US" sz="850" dirty="0">
                          <a:solidFill>
                            <a:srgbClr val="3A2F5C"/>
                          </a:solidFill>
                          <a:latin typeface="Meiryo" pitchFamily="34" charset="0"/>
                          <a:ea typeface="Meiryo" pitchFamily="34" charset="-122"/>
                          <a:cs typeface="Meiryo" pitchFamily="34" charset="-120"/>
                        </a:rPr>
                        <a:t>セールスユニット（アプローチ前半を委託し分業体制を構築）</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c>
                  <a:txBody>
                    <a:bodyPr/>
                    <a:lstStyle/>
                    <a:p>
                      <a:pPr algn="l" indent="0" marL="0">
                        <a:buNone/>
                      </a:pPr>
                      <a:r>
                        <a:rPr lang="en-US" sz="850" dirty="0">
                          <a:solidFill>
                            <a:srgbClr val="1C3A29"/>
                          </a:solidFill>
                          <a:latin typeface="Meiryo" pitchFamily="34" charset="0"/>
                          <a:ea typeface="Meiryo" pitchFamily="34" charset="-122"/>
                          <a:cs typeface="Meiryo" pitchFamily="34" charset="-120"/>
                        </a:rPr>
                        <a:t>月間約10件の高品質商談を獲得、開発に専念しつつ適正価格での契約獲得と事業成長を両立</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r>
              <a:tr h="896112">
                <a:tc>
                  <a:txBody>
                    <a:bodyPr/>
                    <a:lstStyle/>
                    <a:p>
                      <a:pPr algn="l" indent="0" marL="0">
                        <a:buNone/>
                      </a:pPr>
                      <a:r>
                        <a:rPr lang="en-US" sz="850" b="1" dirty="0">
                          <a:solidFill>
                            <a:srgbClr val="1C2530"/>
                          </a:solidFill>
                          <a:latin typeface="Meiryo" pitchFamily="34" charset="0"/>
                          <a:ea typeface="Meiryo" pitchFamily="34" charset="-122"/>
                          <a:cs typeface="Meiryo" pitchFamily="34" charset="-120"/>
                        </a:rPr>
                        <a:t>株式会社ELU</a:t>
                      </a:r>
                      <a:endParaRPr lang="en-US" sz="850" dirty="0">
                        <a:latin typeface="Meiryo" charset="0"/>
                        <a:ea typeface="Meiryo" charset="0"/>
                        <a:cs typeface="Meiryo" charset="0"/>
                      </a:endParaRPr>
                    </a:p>
                    <a:p>
                      <a:pPr algn="l" indent="0" marL="0">
                        <a:buNone/>
                      </a:pPr>
                      <a:r>
                        <a:rPr lang="en-US" sz="850" b="1" dirty="0">
                          <a:solidFill>
                            <a:srgbClr val="1C2530"/>
                          </a:solidFill>
                          <a:latin typeface="Meiryo" pitchFamily="34" charset="0"/>
                          <a:ea typeface="Meiryo" pitchFamily="34" charset="-122"/>
                          <a:cs typeface="Meiryo" pitchFamily="34" charset="-120"/>
                        </a:rPr>
                        <a:t>様</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EEF3FA"/>
                    </a:solidFill>
                  </a:tcPr>
                </a:tc>
                <a:tc>
                  <a:txBody>
                    <a:bodyPr/>
                    <a:lstStyle/>
                    <a:p>
                      <a:pPr algn="ctr" indent="0" marL="0">
                        <a:buNone/>
                      </a:pPr>
                      <a:r>
                        <a:rPr lang="en-US" sz="850" b="1" dirty="0">
                          <a:solidFill>
                            <a:srgbClr val="16407A"/>
                          </a:solidFill>
                          <a:latin typeface="Meiryo" pitchFamily="34" charset="0"/>
                          <a:ea typeface="Meiryo" pitchFamily="34" charset="-122"/>
                          <a:cs typeface="Meiryo" pitchFamily="34" charset="-120"/>
                        </a:rPr>
                        <a:t>Webシステム開発・HP制作／ITインフラ</a:t>
                      </a:r>
                      <a:endParaRPr lang="en-US" sz="850" dirty="0">
                        <a:latin typeface="Meiryo" charset="0"/>
                        <a:ea typeface="Meiryo" charset="0"/>
                        <a:cs typeface="Meiryo" charset="0"/>
                      </a:endParaRPr>
                    </a:p>
                  </a:txBody>
                  <a:tcPr marL="38100" marR="381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EEF3FA"/>
                    </a:solidFill>
                  </a:tcPr>
                </a:tc>
                <a:tc>
                  <a:txBody>
                    <a:bodyPr/>
                    <a:lstStyle/>
                    <a:p>
                      <a:pPr algn="l" indent="0" marL="0">
                        <a:buNone/>
                      </a:pPr>
                      <a:r>
                        <a:rPr lang="en-US" sz="850" dirty="0">
                          <a:solidFill>
                            <a:srgbClr val="45566A"/>
                          </a:solidFill>
                          <a:latin typeface="Meiryo" pitchFamily="34" charset="0"/>
                          <a:ea typeface="Meiryo" pitchFamily="34" charset="-122"/>
                          <a:cs typeface="Meiryo" pitchFamily="34" charset="-120"/>
                        </a:rPr>
                        <a:t>開発・制作実務に追われ社長一人の人脈・紹介頼みで営業／新規開拓の仕組みなく売上が伸び悩み</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EEF3FA"/>
                    </a:solidFill>
                  </a:tcPr>
                </a:tc>
                <a:tc>
                  <a:txBody>
                    <a:bodyPr/>
                    <a:lstStyle/>
                    <a:p>
                      <a:pPr algn="l" indent="0" marL="0">
                        <a:buNone/>
                      </a:pPr>
                      <a:r>
                        <a:rPr lang="en-US" sz="850" dirty="0">
                          <a:solidFill>
                            <a:srgbClr val="3A2F5C"/>
                          </a:solidFill>
                          <a:latin typeface="Meiryo" pitchFamily="34" charset="0"/>
                          <a:ea typeface="Meiryo" pitchFamily="34" charset="-122"/>
                          <a:cs typeface="Meiryo" pitchFamily="34" charset="-120"/>
                        </a:rPr>
                        <a:t>Sales Platform（初期アプローチを完全委託・自動化）</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EEF3FA"/>
                    </a:solidFill>
                  </a:tcPr>
                </a:tc>
                <a:tc>
                  <a:txBody>
                    <a:bodyPr/>
                    <a:lstStyle/>
                    <a:p>
                      <a:pPr algn="l" indent="0" marL="0">
                        <a:buNone/>
                      </a:pPr>
                      <a:r>
                        <a:rPr lang="en-US" sz="850" dirty="0">
                          <a:solidFill>
                            <a:srgbClr val="1C3A29"/>
                          </a:solidFill>
                          <a:latin typeface="Meiryo" pitchFamily="34" charset="0"/>
                          <a:ea typeface="Meiryo" pitchFamily="34" charset="-122"/>
                          <a:cs typeface="Meiryo" pitchFamily="34" charset="-120"/>
                        </a:rPr>
                        <a:t>5ヵ月でアポ33件（26件商談化）、成約率約30%で大型受注5件を獲得</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EEF3FA"/>
                    </a:solidFill>
                  </a:tcPr>
                </a:tc>
              </a:tr>
              <a:tr h="896112">
                <a:tc>
                  <a:txBody>
                    <a:bodyPr/>
                    <a:lstStyle/>
                    <a:p>
                      <a:pPr algn="l" indent="0" marL="0">
                        <a:buNone/>
                      </a:pPr>
                      <a:r>
                        <a:rPr lang="en-US" sz="850" b="1" dirty="0">
                          <a:solidFill>
                            <a:srgbClr val="1C2530"/>
                          </a:solidFill>
                          <a:latin typeface="Meiryo" pitchFamily="34" charset="0"/>
                          <a:ea typeface="Meiryo" pitchFamily="34" charset="-122"/>
                          <a:cs typeface="Meiryo" pitchFamily="34" charset="-120"/>
                        </a:rPr>
                        <a:t>株式会社テイクオーバル</a:t>
                      </a:r>
                      <a:endParaRPr lang="en-US" sz="850" dirty="0">
                        <a:latin typeface="Meiryo" charset="0"/>
                        <a:ea typeface="Meiryo" charset="0"/>
                        <a:cs typeface="Meiryo" charset="0"/>
                      </a:endParaRPr>
                    </a:p>
                    <a:p>
                      <a:pPr algn="l" indent="0" marL="0">
                        <a:buNone/>
                      </a:pPr>
                      <a:r>
                        <a:rPr lang="en-US" sz="850" b="1" dirty="0">
                          <a:solidFill>
                            <a:srgbClr val="1C2530"/>
                          </a:solidFill>
                          <a:latin typeface="Meiryo" pitchFamily="34" charset="0"/>
                          <a:ea typeface="Meiryo" pitchFamily="34" charset="-122"/>
                          <a:cs typeface="Meiryo" pitchFamily="34" charset="-120"/>
                        </a:rPr>
                        <a:t>様</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6407A"/>
                          </a:solidFill>
                          <a:latin typeface="Meiryo" pitchFamily="34" charset="0"/>
                          <a:ea typeface="Meiryo" pitchFamily="34" charset="-122"/>
                          <a:cs typeface="Meiryo" pitchFamily="34" charset="-120"/>
                        </a:rPr>
                        <a:t>システム・NWソリューション／受託プロデュース</a:t>
                      </a:r>
                      <a:endParaRPr lang="en-US" sz="850" dirty="0">
                        <a:latin typeface="Meiryo" charset="0"/>
                        <a:ea typeface="Meiryo" charset="0"/>
                        <a:cs typeface="Meiryo" charset="0"/>
                      </a:endParaRPr>
                    </a:p>
                  </a:txBody>
                  <a:tcPr marL="38100" marR="381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c>
                  <a:txBody>
                    <a:bodyPr/>
                    <a:lstStyle/>
                    <a:p>
                      <a:pPr algn="l" indent="0" marL="0">
                        <a:buNone/>
                      </a:pPr>
                      <a:r>
                        <a:rPr lang="en-US" sz="850" dirty="0">
                          <a:solidFill>
                            <a:srgbClr val="45566A"/>
                          </a:solidFill>
                          <a:latin typeface="Meiryo" pitchFamily="34" charset="0"/>
                          <a:ea typeface="Meiryo" pitchFamily="34" charset="-122"/>
                          <a:cs typeface="Meiryo" pitchFamily="34" charset="-120"/>
                        </a:rPr>
                        <a:t>代表＋社員1人の少人数体制／新規営業のノウハウも体制も皆無</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c>
                  <a:txBody>
                    <a:bodyPr/>
                    <a:lstStyle/>
                    <a:p>
                      <a:pPr algn="l" indent="0" marL="0">
                        <a:buNone/>
                      </a:pPr>
                      <a:r>
                        <a:rPr lang="en-US" sz="850" dirty="0">
                          <a:solidFill>
                            <a:srgbClr val="3A2F5C"/>
                          </a:solidFill>
                          <a:latin typeface="Meiryo" pitchFamily="34" charset="0"/>
                          <a:ea typeface="Meiryo" pitchFamily="34" charset="-122"/>
                          <a:cs typeface="Meiryo" pitchFamily="34" charset="-120"/>
                        </a:rPr>
                        <a:t>Sales Platform（新規アプローチを完全アウトソース）</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c>
                  <a:txBody>
                    <a:bodyPr/>
                    <a:lstStyle/>
                    <a:p>
                      <a:pPr algn="l" indent="0" marL="0">
                        <a:buNone/>
                      </a:pPr>
                      <a:r>
                        <a:rPr lang="en-US" sz="850" dirty="0">
                          <a:solidFill>
                            <a:srgbClr val="1C3A29"/>
                          </a:solidFill>
                          <a:latin typeface="Meiryo" pitchFamily="34" charset="0"/>
                          <a:ea typeface="Meiryo" pitchFamily="34" charset="-122"/>
                          <a:cs typeface="Meiryo" pitchFamily="34" charset="-120"/>
                        </a:rPr>
                        <a:t>自社工数ほぼゼロで見込み客33件・多数の資料請求を獲得、最少リソースでシステム・IT案件の仕組みを構築</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r>
            </a:tbl>
          </a:graphicData>
        </a:graphic>
      </p:graphicFrame>
      <p:sp>
        <p:nvSpPr>
          <p:cNvPr id="5" name="Shape 2"/>
          <p:cNvSpPr/>
          <p:nvPr/>
        </p:nvSpPr>
        <p:spPr>
          <a:xfrm>
            <a:off x="365760" y="6089904"/>
            <a:ext cx="11457432" cy="548640"/>
          </a:xfrm>
          <a:prstGeom prst="roundRect">
            <a:avLst>
              <a:gd name="adj" fmla="val 8333"/>
            </a:avLst>
          </a:prstGeom>
          <a:solidFill>
            <a:srgbClr val="EAF1FA"/>
          </a:solidFill>
          <a:ln w="12700">
            <a:solidFill>
              <a:srgbClr val="C6D8EF"/>
            </a:solidFill>
            <a:prstDash val="solid"/>
          </a:ln>
        </p:spPr>
      </p:sp>
      <p:sp>
        <p:nvSpPr>
          <p:cNvPr id="6" name="Text 3"/>
          <p:cNvSpPr/>
          <p:nvPr/>
        </p:nvSpPr>
        <p:spPr>
          <a:xfrm>
            <a:off x="566928" y="6089904"/>
            <a:ext cx="11064240" cy="548640"/>
          </a:xfrm>
          <a:prstGeom prst="rect">
            <a:avLst/>
          </a:prstGeom>
          <a:noFill/>
          <a:ln/>
        </p:spPr>
        <p:txBody>
          <a:bodyPr wrap="square" lIns="0" tIns="0" rIns="0" bIns="0" rtlCol="0" anchor="ctr"/>
          <a:lstStyle/>
          <a:p>
            <a:pPr indent="0" marL="0">
              <a:buNone/>
            </a:pPr>
            <a:r>
              <a:rPr lang="en-US" sz="1050" b="1" dirty="0">
                <a:solidFill>
                  <a:srgbClr val="16407A"/>
                </a:solidFill>
                <a:latin typeface="Meiryo" pitchFamily="34" charset="0"/>
                <a:ea typeface="Meiryo" pitchFamily="34" charset="-122"/>
                <a:cs typeface="Meiryo" pitchFamily="34" charset="-120"/>
              </a:rPr>
              <a:t>開発エンジニアが開発実務に専念したまま、自社の工数を消費せずに営業支援ユニットで直請け・高単価なシステム受託開発のBtoB商談を能動的に獲得できることを示す、システム開発業界の実績です。</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2026-10-25T15:01:03Z</dcterms:created>
  <dcterms:modified xsi:type="dcterms:W3CDTF">2026-10-25T15:01:04Z</dcterms:modified>
</cp:coreProperties>
</file>