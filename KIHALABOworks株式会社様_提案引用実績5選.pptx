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www.aidma-hd.jp/case/zirei-412/" TargetMode="Externa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www.aidma-hd.jp/case/zirei-414/"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www.aidma-hd.jp/case/zirei-486/"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www.aidma-hd.jp/case/zirei-517/"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www.aidma-hd.jp/case/zirei-132/"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F5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2F5C"/>
          </a:solidFill>
          <a:ln/>
        </p:spPr>
      </p:sp>
      <p:sp>
        <p:nvSpPr>
          <p:cNvPr id="3" name="Shape 1"/>
          <p:cNvSpPr/>
          <p:nvPr/>
        </p:nvSpPr>
        <p:spPr>
          <a:xfrm>
            <a:off x="9326880" y="-2011680"/>
            <a:ext cx="5029200" cy="5029200"/>
          </a:xfrm>
          <a:prstGeom prst="ellipse">
            <a:avLst/>
          </a:prstGeom>
          <a:solidFill>
            <a:srgbClr val="FFFFFF">
              <a:alpha val="8000"/>
            </a:srgbClr>
          </a:solidFill>
          <a:ln/>
        </p:spPr>
      </p:sp>
      <p:sp>
        <p:nvSpPr>
          <p:cNvPr id="4" name="Shape 2"/>
          <p:cNvSpPr/>
          <p:nvPr/>
        </p:nvSpPr>
        <p:spPr>
          <a:xfrm>
            <a:off x="8595360" y="4023360"/>
            <a:ext cx="3840480" cy="3840480"/>
          </a:xfrm>
          <a:prstGeom prst="ellipse">
            <a:avLst/>
          </a:prstGeom>
          <a:solidFill>
            <a:srgbClr val="FFFFFF">
              <a:alpha val="6000"/>
            </a:srgbClr>
          </a:solidFill>
          <a:ln/>
        </p:spPr>
      </p:sp>
      <p:sp>
        <p:nvSpPr>
          <p:cNvPr id="5" name="Text 3"/>
          <p:cNvSpPr/>
          <p:nvPr/>
        </p:nvSpPr>
        <p:spPr>
          <a:xfrm>
            <a:off x="822960" y="1188720"/>
            <a:ext cx="10607040" cy="365760"/>
          </a:xfrm>
          <a:prstGeom prst="rect">
            <a:avLst/>
          </a:prstGeom>
          <a:noFill/>
          <a:ln/>
        </p:spPr>
        <p:txBody>
          <a:bodyPr wrap="square" rtlCol="0" anchor="ctr"/>
          <a:lstStyle/>
          <a:p>
            <a:pPr indent="0" marL="0">
              <a:buNone/>
            </a:pPr>
            <a:r>
              <a:rPr lang="en-US" sz="1200" b="1" spc="100" kern="0" dirty="0">
                <a:solidFill>
                  <a:srgbClr val="CADCFC"/>
                </a:solidFill>
                <a:latin typeface="Meiryo" pitchFamily="34" charset="0"/>
                <a:ea typeface="Meiryo" pitchFamily="34" charset="-122"/>
                <a:cs typeface="Meiryo" pitchFamily="34" charset="-120"/>
              </a:rPr>
              <a:t>CASE STUDIES ─ 営業支援ユニット × AIシステム開発・Web制作・IT開発</a:t>
            </a:r>
            <a:endParaRPr lang="en-US" sz="1200" dirty="0"/>
          </a:p>
        </p:txBody>
      </p:sp>
      <p:sp>
        <p:nvSpPr>
          <p:cNvPr id="6" name="Text 4"/>
          <p:cNvSpPr/>
          <p:nvPr/>
        </p:nvSpPr>
        <p:spPr>
          <a:xfrm>
            <a:off x="822960" y="1627632"/>
            <a:ext cx="10789920" cy="1737360"/>
          </a:xfrm>
          <a:prstGeom prst="rect">
            <a:avLst/>
          </a:prstGeom>
          <a:noFill/>
          <a:ln/>
        </p:spPr>
        <p:txBody>
          <a:bodyPr wrap="square" rtlCol="0" anchor="ctr"/>
          <a:lstStyle/>
          <a:p>
            <a:pPr indent="0" marL="0">
              <a:lnSpc>
                <a:spcPct val="110000"/>
              </a:lnSpc>
              <a:buNone/>
            </a:pPr>
            <a:r>
              <a:rPr lang="en-US" sz="3100" b="1" dirty="0">
                <a:solidFill>
                  <a:srgbClr val="FFFFFF"/>
                </a:solidFill>
                <a:latin typeface="Meiryo" pitchFamily="34" charset="0"/>
                <a:ea typeface="Meiryo" pitchFamily="34" charset="-122"/>
                <a:cs typeface="Meiryo" pitchFamily="34" charset="-120"/>
              </a:rPr>
              <a:t>KIHALABOworks株式会社様</a:t>
            </a:r>
            <a:endParaRPr lang="en-US" sz="3100" dirty="0"/>
          </a:p>
          <a:p>
            <a:pPr indent="0" marL="0">
              <a:lnSpc>
                <a:spcPct val="110000"/>
              </a:lnSpc>
              <a:buNone/>
            </a:pPr>
            <a:r>
              <a:rPr lang="en-US" sz="3100" b="1" dirty="0">
                <a:solidFill>
                  <a:srgbClr val="FFFFFF"/>
                </a:solidFill>
                <a:latin typeface="Meiryo" pitchFamily="34" charset="0"/>
                <a:ea typeface="Meiryo" pitchFamily="34" charset="-122"/>
                <a:cs typeface="Meiryo" pitchFamily="34" charset="-120"/>
              </a:rPr>
              <a:t>提案引用実績 5選</a:t>
            </a:r>
            <a:endParaRPr lang="en-US" sz="3100" dirty="0"/>
          </a:p>
        </p:txBody>
      </p:sp>
      <p:sp>
        <p:nvSpPr>
          <p:cNvPr id="7" name="Text 5"/>
          <p:cNvSpPr/>
          <p:nvPr/>
        </p:nvSpPr>
        <p:spPr>
          <a:xfrm>
            <a:off x="822960" y="3456432"/>
            <a:ext cx="10149840" cy="1188720"/>
          </a:xfrm>
          <a:prstGeom prst="rect">
            <a:avLst/>
          </a:prstGeom>
          <a:noFill/>
          <a:ln/>
        </p:spPr>
        <p:txBody>
          <a:bodyPr wrap="square" rtlCol="0" anchor="ctr"/>
          <a:lstStyle/>
          <a:p>
            <a:pPr indent="0" marL="0">
              <a:lnSpc>
                <a:spcPct val="122000"/>
              </a:lnSpc>
              <a:buNone/>
            </a:pPr>
            <a:r>
              <a:rPr lang="en-US" sz="1150" dirty="0">
                <a:solidFill>
                  <a:srgbClr val="DDE8F6"/>
                </a:solidFill>
                <a:latin typeface="Meiryo" pitchFamily="34" charset="0"/>
                <a:ea typeface="Meiryo" pitchFamily="34" charset="-122"/>
                <a:cs typeface="Meiryo" pitchFamily="34" charset="-120"/>
              </a:rPr>
              <a:t>KIHALABOworks株式会社様（AI系事業［AIシステム開発等］・Web制作／課題：新規営業・顧客開拓・営業体制の構築、自社HPなし・営業専任不在）と同じAI・Web・IT開発業界で、「HPや営業マン不在での営業自動化」「開発実務多忙による営業リソース不足」「直請け・高単価なAI・Web開発案件の能動的獲得」を解決した実績を5件厳選しました。</a:t>
            </a:r>
            <a:endParaRPr lang="en-US" sz="1150" dirty="0"/>
          </a:p>
        </p:txBody>
      </p:sp>
      <p:sp>
        <p:nvSpPr>
          <p:cNvPr id="8" name="Shape 6"/>
          <p:cNvSpPr/>
          <p:nvPr/>
        </p:nvSpPr>
        <p:spPr>
          <a:xfrm>
            <a:off x="822960" y="5074920"/>
            <a:ext cx="10515600" cy="0"/>
          </a:xfrm>
          <a:prstGeom prst="line">
            <a:avLst/>
          </a:prstGeom>
          <a:noFill/>
          <a:ln w="12700">
            <a:solidFill>
              <a:srgbClr val="3A5A87"/>
            </a:solidFill>
            <a:prstDash val="solid"/>
          </a:ln>
        </p:spPr>
      </p:sp>
      <p:sp>
        <p:nvSpPr>
          <p:cNvPr id="9" name="Text 7"/>
          <p:cNvSpPr/>
          <p:nvPr/>
        </p:nvSpPr>
        <p:spPr>
          <a:xfrm>
            <a:off x="822960" y="5230368"/>
            <a:ext cx="10607040" cy="320040"/>
          </a:xfrm>
          <a:prstGeom prst="rect">
            <a:avLst/>
          </a:prstGeom>
          <a:noFill/>
          <a:ln/>
        </p:spPr>
        <p:txBody>
          <a:bodyPr wrap="square" rtlCol="0" anchor="ctr"/>
          <a:lstStyle/>
          <a:p>
            <a:pPr indent="0" marL="0">
              <a:buNone/>
            </a:pPr>
            <a:r>
              <a:rPr lang="en-US" sz="1000" b="1" dirty="0">
                <a:solidFill>
                  <a:srgbClr val="CADCFC"/>
                </a:solidFill>
                <a:latin typeface="Meiryo" pitchFamily="34" charset="0"/>
                <a:ea typeface="Meiryo" pitchFamily="34" charset="-122"/>
                <a:cs typeface="Meiryo" pitchFamily="34" charset="-120"/>
              </a:rPr>
              <a:t>提案の狙い　</a:t>
            </a:r>
            <a:pPr indent="0" marL="0">
              <a:buNone/>
            </a:pPr>
            <a:r>
              <a:rPr lang="en-US" sz="1000" dirty="0">
                <a:solidFill>
                  <a:srgbClr val="C9D8ED"/>
                </a:solidFill>
                <a:latin typeface="Meiryo" pitchFamily="34" charset="0"/>
                <a:ea typeface="Meiryo" pitchFamily="34" charset="-122"/>
                <a:cs typeface="Meiryo" pitchFamily="34" charset="-120"/>
              </a:rPr>
              <a:t>開発実務に専念したままAI・Web開発の直請けBtoB商談を能動獲得／HP・営業専任が不在でも新規開拓を自動化／高単価な直契約案件を確保</a:t>
            </a:r>
            <a:endParaRPr lang="en-US" sz="1000" dirty="0"/>
          </a:p>
        </p:txBody>
      </p:sp>
      <p:sp>
        <p:nvSpPr>
          <p:cNvPr id="10" name="Text 8"/>
          <p:cNvSpPr/>
          <p:nvPr/>
        </p:nvSpPr>
        <p:spPr>
          <a:xfrm>
            <a:off x="822960" y="5577840"/>
            <a:ext cx="10607040" cy="320040"/>
          </a:xfrm>
          <a:prstGeom prst="rect">
            <a:avLst/>
          </a:prstGeom>
          <a:noFill/>
          <a:ln/>
        </p:spPr>
        <p:txBody>
          <a:bodyPr wrap="square" rtlCol="0" anchor="ctr"/>
          <a:lstStyle/>
          <a:p>
            <a:pPr indent="0" marL="0">
              <a:buNone/>
            </a:pPr>
            <a:r>
              <a:rPr lang="en-US" sz="1100" b="1" dirty="0">
                <a:solidFill>
                  <a:srgbClr val="CADCFC"/>
                </a:solidFill>
                <a:latin typeface="Meiryo" pitchFamily="34" charset="0"/>
                <a:ea typeface="Meiryo" pitchFamily="34" charset="-122"/>
                <a:cs typeface="Meiryo" pitchFamily="34" charset="-120"/>
              </a:rPr>
              <a:t>提供サービス　</a:t>
            </a:r>
            <a:pPr indent="0" marL="0">
              <a:buNone/>
            </a:pPr>
            <a:r>
              <a:rPr lang="en-US" sz="1100" dirty="0">
                <a:solidFill>
                  <a:srgbClr val="C9D8ED"/>
                </a:solidFill>
                <a:latin typeface="Meiryo" pitchFamily="34" charset="0"/>
                <a:ea typeface="Meiryo" pitchFamily="34" charset="-122"/>
                <a:cs typeface="Meiryo" pitchFamily="34" charset="-120"/>
              </a:rPr>
              <a:t>営業支援ユニット（Sales Platform・セールスユニット連携）</a:t>
            </a:r>
            <a:endParaRPr lang="en-US" sz="1100" dirty="0"/>
          </a:p>
        </p:txBody>
      </p:sp>
      <p:sp>
        <p:nvSpPr>
          <p:cNvPr id="11" name="Text 9"/>
          <p:cNvSpPr/>
          <p:nvPr/>
        </p:nvSpPr>
        <p:spPr>
          <a:xfrm>
            <a:off x="822960" y="6071616"/>
            <a:ext cx="7315200" cy="320040"/>
          </a:xfrm>
          <a:prstGeom prst="rect">
            <a:avLst/>
          </a:prstGeom>
          <a:noFill/>
          <a:ln/>
        </p:spPr>
        <p:txBody>
          <a:bodyPr wrap="square" rtlCol="0" anchor="ctr"/>
          <a:lstStyle/>
          <a:p>
            <a:pPr indent="0" marL="0">
              <a:buNone/>
            </a:pPr>
            <a:r>
              <a:rPr lang="en-US" sz="1100" dirty="0">
                <a:solidFill>
                  <a:srgbClr val="8FA9CC"/>
                </a:solidFill>
                <a:latin typeface="Meiryo" pitchFamily="34" charset="0"/>
                <a:ea typeface="Meiryo" pitchFamily="34" charset="-122"/>
                <a:cs typeface="Meiryo" pitchFamily="34" charset="-120"/>
              </a:rPr>
              <a:t>株式会社アイドマ・ホールディングス</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932688"/>
          </a:xfrm>
          <a:prstGeom prst="roundRect">
            <a:avLst>
              <a:gd name="adj" fmla="val 5882"/>
            </a:avLst>
          </a:prstGeom>
          <a:solidFill>
            <a:srgbClr val="16407A"/>
          </a:solidFill>
          <a:ln/>
          <a:effectLst>
            <a:outerShdw sx="100000" sy="100000" kx="0" ky="0" algn="bl" rotWithShape="0" blurRad="76200" dist="25400" dir="5400000">
              <a:srgbClr val="0F2F5C">
                <a:alpha val="35000"/>
              </a:srgbClr>
            </a:outerShdw>
          </a:effectLst>
        </p:spPr>
      </p:sp>
      <p:sp>
        <p:nvSpPr>
          <p:cNvPr id="3" name="Shape 1"/>
          <p:cNvSpPr/>
          <p:nvPr/>
        </p:nvSpPr>
        <p:spPr>
          <a:xfrm>
            <a:off x="566928" y="566928"/>
            <a:ext cx="530352" cy="530352"/>
          </a:xfrm>
          <a:prstGeom prst="roundRect">
            <a:avLst>
              <a:gd name="adj" fmla="val 13793"/>
            </a:avLst>
          </a:prstGeom>
          <a:solidFill>
            <a:srgbClr val="FFFFFF">
              <a:alpha val="16000"/>
            </a:srgbClr>
          </a:solidFill>
          <a:ln w="12700">
            <a:solidFill>
              <a:srgbClr val="FFFFFF">
                <a:alpha val="40000"/>
              </a:srgbClr>
            </a:solidFill>
            <a:prstDash val="solid"/>
          </a:ln>
        </p:spPr>
      </p:sp>
      <p:sp>
        <p:nvSpPr>
          <p:cNvPr id="4" name="Text 2"/>
          <p:cNvSpPr/>
          <p:nvPr/>
        </p:nvSpPr>
        <p:spPr>
          <a:xfrm>
            <a:off x="566928" y="566928"/>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1</a:t>
            </a:r>
            <a:endParaRPr lang="en-US" sz="2400" dirty="0"/>
          </a:p>
        </p:txBody>
      </p:sp>
      <p:sp>
        <p:nvSpPr>
          <p:cNvPr id="5" name="Text 3"/>
          <p:cNvSpPr/>
          <p:nvPr/>
        </p:nvSpPr>
        <p:spPr>
          <a:xfrm>
            <a:off x="1280160" y="420624"/>
            <a:ext cx="10378440" cy="822960"/>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Meiryo" pitchFamily="34" charset="0"/>
                <a:ea typeface="Meiryo" pitchFamily="34" charset="-122"/>
                <a:cs typeface="Meiryo" pitchFamily="34" charset="-120"/>
              </a:rPr>
              <a:t>手作業営業の限界を自動化で突破。初月からオンライン商談、多業種へAI接点を創出</a:t>
            </a:r>
            <a:endParaRPr lang="en-US" sz="1400" dirty="0"/>
          </a:p>
        </p:txBody>
      </p:sp>
      <p:sp>
        <p:nvSpPr>
          <p:cNvPr id="6" name="Shape 4"/>
          <p:cNvSpPr/>
          <p:nvPr/>
        </p:nvSpPr>
        <p:spPr>
          <a:xfrm>
            <a:off x="365760" y="1481328"/>
            <a:ext cx="3566160" cy="5029200"/>
          </a:xfrm>
          <a:prstGeom prst="roundRect">
            <a:avLst>
              <a:gd name="adj" fmla="val 1282"/>
            </a:avLst>
          </a:prstGeom>
          <a:solidFill>
            <a:srgbClr val="EAF1FA"/>
          </a:solidFill>
          <a:ln w="12700">
            <a:solidFill>
              <a:srgbClr val="D2DCEA"/>
            </a:solidFill>
            <a:prstDash val="solid"/>
          </a:ln>
        </p:spPr>
      </p:sp>
      <p:sp>
        <p:nvSpPr>
          <p:cNvPr id="7" name="Text 5"/>
          <p:cNvSpPr/>
          <p:nvPr/>
        </p:nvSpPr>
        <p:spPr>
          <a:xfrm>
            <a:off x="585216" y="1664208"/>
            <a:ext cx="3127248" cy="822960"/>
          </a:xfrm>
          <a:prstGeom prst="rect">
            <a:avLst/>
          </a:prstGeom>
          <a:noFill/>
          <a:ln/>
        </p:spPr>
        <p:txBody>
          <a:bodyPr wrap="square" lIns="0" tIns="0" rIns="0" bIns="0" rtlCol="0" anchor="t"/>
          <a:lstStyle/>
          <a:p>
            <a:pPr indent="0" marL="0">
              <a:lnSpc>
                <a:spcPct val="105000"/>
              </a:lnSpc>
              <a:buNone/>
            </a:pPr>
            <a:r>
              <a:rPr lang="en-US" sz="1300" b="1" dirty="0">
                <a:solidFill>
                  <a:srgbClr val="1C2530"/>
                </a:solidFill>
                <a:latin typeface="Meiryo" pitchFamily="34" charset="0"/>
                <a:ea typeface="Meiryo" pitchFamily="34" charset="-122"/>
                <a:cs typeface="Meiryo" pitchFamily="34" charset="-120"/>
              </a:rPr>
              <a:t>株式会社A-forza　様</a:t>
            </a:r>
            <a:endParaRPr lang="en-US" sz="1300" dirty="0"/>
          </a:p>
        </p:txBody>
      </p:sp>
      <p:sp>
        <p:nvSpPr>
          <p:cNvPr id="8" name="Text 6"/>
          <p:cNvSpPr/>
          <p:nvPr/>
        </p:nvSpPr>
        <p:spPr>
          <a:xfrm>
            <a:off x="585216" y="2615184"/>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事業内容</a:t>
            </a:r>
            <a:endParaRPr lang="en-US" sz="950" dirty="0"/>
          </a:p>
        </p:txBody>
      </p:sp>
      <p:sp>
        <p:nvSpPr>
          <p:cNvPr id="9" name="Text 7"/>
          <p:cNvSpPr/>
          <p:nvPr/>
        </p:nvSpPr>
        <p:spPr>
          <a:xfrm>
            <a:off x="585216" y="2834640"/>
            <a:ext cx="3127248" cy="1051560"/>
          </a:xfrm>
          <a:prstGeom prst="rect">
            <a:avLst/>
          </a:prstGeom>
          <a:noFill/>
          <a:ln/>
        </p:spPr>
        <p:txBody>
          <a:bodyPr wrap="square" lIns="0" tIns="0" rIns="0" bIns="0" rtlCol="0" anchor="ctr"/>
          <a:lstStyle/>
          <a:p>
            <a:pPr indent="0" marL="0">
              <a:lnSpc>
                <a:spcPct val="113000"/>
              </a:lnSpc>
              <a:buNone/>
            </a:pPr>
            <a:r>
              <a:rPr lang="en-US" sz="950" dirty="0">
                <a:solidFill>
                  <a:srgbClr val="45566A"/>
                </a:solidFill>
                <a:latin typeface="Meiryo" pitchFamily="34" charset="0"/>
                <a:ea typeface="Meiryo" pitchFamily="34" charset="-122"/>
                <a:cs typeface="Meiryo" pitchFamily="34" charset="-120"/>
              </a:rPr>
              <a:t>中小企業向けAI導入支援・AI教育コンサルティング、企業の採用・人財育成支援、経営コンサルティング。</a:t>
            </a:r>
            <a:endParaRPr lang="en-US" sz="950" dirty="0"/>
          </a:p>
        </p:txBody>
      </p:sp>
      <p:sp>
        <p:nvSpPr>
          <p:cNvPr id="10" name="Text 8"/>
          <p:cNvSpPr/>
          <p:nvPr/>
        </p:nvSpPr>
        <p:spPr>
          <a:xfrm>
            <a:off x="585216" y="3931920"/>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解決した課題</a:t>
            </a:r>
            <a:endParaRPr lang="en-US" sz="950" dirty="0"/>
          </a:p>
        </p:txBody>
      </p:sp>
      <p:sp>
        <p:nvSpPr>
          <p:cNvPr id="11" name="Shape 9"/>
          <p:cNvSpPr/>
          <p:nvPr/>
        </p:nvSpPr>
        <p:spPr>
          <a:xfrm>
            <a:off x="585216" y="4206240"/>
            <a:ext cx="3411982" cy="274320"/>
          </a:xfrm>
          <a:prstGeom prst="roundRect">
            <a:avLst>
              <a:gd name="adj" fmla="val 50000"/>
            </a:avLst>
          </a:prstGeom>
          <a:solidFill>
            <a:srgbClr val="DCE8F6"/>
          </a:solidFill>
          <a:ln w="9525">
            <a:solidFill>
              <a:srgbClr val="BFD3EC"/>
            </a:solidFill>
            <a:prstDash val="solid"/>
          </a:ln>
        </p:spPr>
      </p:sp>
      <p:sp>
        <p:nvSpPr>
          <p:cNvPr id="12" name="Text 10"/>
          <p:cNvSpPr/>
          <p:nvPr/>
        </p:nvSpPr>
        <p:spPr>
          <a:xfrm>
            <a:off x="585216" y="4206240"/>
            <a:ext cx="3411982"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AI導入・開発事業を広げたいが人的リソースが限定的</a:t>
            </a:r>
            <a:endParaRPr lang="en-US" sz="950" dirty="0"/>
          </a:p>
        </p:txBody>
      </p:sp>
      <p:sp>
        <p:nvSpPr>
          <p:cNvPr id="13" name="Shape 11"/>
          <p:cNvSpPr/>
          <p:nvPr/>
        </p:nvSpPr>
        <p:spPr>
          <a:xfrm>
            <a:off x="585216" y="4553712"/>
            <a:ext cx="2745994" cy="274320"/>
          </a:xfrm>
          <a:prstGeom prst="roundRect">
            <a:avLst>
              <a:gd name="adj" fmla="val 50000"/>
            </a:avLst>
          </a:prstGeom>
          <a:solidFill>
            <a:srgbClr val="DCE8F6"/>
          </a:solidFill>
          <a:ln w="9525">
            <a:solidFill>
              <a:srgbClr val="BFD3EC"/>
            </a:solidFill>
            <a:prstDash val="solid"/>
          </a:ln>
        </p:spPr>
      </p:sp>
      <p:sp>
        <p:nvSpPr>
          <p:cNvPr id="14" name="Text 12"/>
          <p:cNvSpPr/>
          <p:nvPr/>
        </p:nvSpPr>
        <p:spPr>
          <a:xfrm>
            <a:off x="585216" y="4553712"/>
            <a:ext cx="2745994"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新規顧客を開拓する営業アプローチが停滞</a:t>
            </a:r>
            <a:endParaRPr lang="en-US" sz="950" dirty="0"/>
          </a:p>
        </p:txBody>
      </p:sp>
      <p:sp>
        <p:nvSpPr>
          <p:cNvPr id="15" name="Shape 13"/>
          <p:cNvSpPr/>
          <p:nvPr/>
        </p:nvSpPr>
        <p:spPr>
          <a:xfrm>
            <a:off x="4114800" y="1417320"/>
            <a:ext cx="82296" cy="219456"/>
          </a:xfrm>
          <a:prstGeom prst="roundRect">
            <a:avLst>
              <a:gd name="adj" fmla="val 33333"/>
            </a:avLst>
          </a:prstGeom>
          <a:solidFill>
            <a:srgbClr val="2B64AB"/>
          </a:solidFill>
          <a:ln/>
        </p:spPr>
      </p:sp>
      <p:sp>
        <p:nvSpPr>
          <p:cNvPr id="16" name="Text 14"/>
          <p:cNvSpPr/>
          <p:nvPr/>
        </p:nvSpPr>
        <p:spPr>
          <a:xfrm>
            <a:off x="4297680" y="1353312"/>
            <a:ext cx="7315200" cy="310896"/>
          </a:xfrm>
          <a:prstGeom prst="rect">
            <a:avLst/>
          </a:prstGeom>
          <a:noFill/>
          <a:ln/>
        </p:spPr>
        <p:txBody>
          <a:bodyPr wrap="square" lIns="0" tIns="0" rIns="0" bIns="0" rtlCol="0" anchor="ctr"/>
          <a:lstStyle/>
          <a:p>
            <a:pPr indent="0" marL="0">
              <a:buNone/>
            </a:pPr>
            <a:r>
              <a:rPr lang="en-US" sz="1250" b="1" dirty="0">
                <a:solidFill>
                  <a:srgbClr val="2B64AB"/>
                </a:solidFill>
                <a:latin typeface="Meiryo" pitchFamily="34" charset="0"/>
                <a:ea typeface="Meiryo" pitchFamily="34" charset="-122"/>
                <a:cs typeface="Meiryo" pitchFamily="34" charset="-120"/>
              </a:rPr>
              <a:t>事例の概要</a:t>
            </a:r>
            <a:endParaRPr lang="en-US" sz="1250" dirty="0"/>
          </a:p>
        </p:txBody>
      </p:sp>
      <p:sp>
        <p:nvSpPr>
          <p:cNvPr id="17" name="Text 15"/>
          <p:cNvSpPr/>
          <p:nvPr/>
        </p:nvSpPr>
        <p:spPr>
          <a:xfrm>
            <a:off x="4114800" y="1682496"/>
            <a:ext cx="7708392" cy="676656"/>
          </a:xfrm>
          <a:prstGeom prst="rect">
            <a:avLst/>
          </a:prstGeom>
          <a:noFill/>
          <a:ln/>
        </p:spPr>
        <p:txBody>
          <a:bodyPr wrap="square" lIns="0" tIns="0" rIns="0" bIns="0" rtlCol="0" anchor="t"/>
          <a:lstStyle/>
          <a:p>
            <a:pPr indent="0" marL="0">
              <a:lnSpc>
                <a:spcPct val="116000"/>
              </a:lnSpc>
              <a:buNone/>
            </a:pPr>
            <a:r>
              <a:rPr lang="en-US" sz="1000" dirty="0">
                <a:solidFill>
                  <a:srgbClr val="45566A"/>
                </a:solidFill>
                <a:latin typeface="Meiryo" pitchFamily="34" charset="0"/>
                <a:ea typeface="Meiryo" pitchFamily="34" charset="-122"/>
                <a:cs typeface="Meiryo" pitchFamily="34" charset="-120"/>
              </a:rPr>
              <a:t>AI活用支援を展開する同社が、手作業で営業する限界を感じ導入。「Sales Platform」を活用してアプローチを自動化し、初月からオンライン商談を獲得。自社リソースを消費せずに多業種へのAIソリューション提案・市場開拓を実現した。</a:t>
            </a:r>
            <a:endParaRPr lang="en-US" sz="1000" dirty="0"/>
          </a:p>
        </p:txBody>
      </p:sp>
      <p:sp>
        <p:nvSpPr>
          <p:cNvPr id="18" name="Shape 16"/>
          <p:cNvSpPr/>
          <p:nvPr/>
        </p:nvSpPr>
        <p:spPr>
          <a:xfrm>
            <a:off x="4114800" y="2395728"/>
            <a:ext cx="7708392" cy="950976"/>
          </a:xfrm>
          <a:prstGeom prst="roundRect">
            <a:avLst>
              <a:gd name="adj" fmla="val 4808"/>
            </a:avLst>
          </a:prstGeom>
          <a:solidFill>
            <a:srgbClr val="E9F4EE"/>
          </a:solidFill>
          <a:ln w="12700">
            <a:solidFill>
              <a:srgbClr val="BADFC9"/>
            </a:solidFill>
            <a:prstDash val="solid"/>
          </a:ln>
        </p:spPr>
      </p:sp>
      <p:sp>
        <p:nvSpPr>
          <p:cNvPr id="19" name="Shape 17"/>
          <p:cNvSpPr/>
          <p:nvPr/>
        </p:nvSpPr>
        <p:spPr>
          <a:xfrm>
            <a:off x="4352544" y="2542032"/>
            <a:ext cx="82296" cy="219456"/>
          </a:xfrm>
          <a:prstGeom prst="roundRect">
            <a:avLst>
              <a:gd name="adj" fmla="val 33333"/>
            </a:avLst>
          </a:prstGeom>
          <a:solidFill>
            <a:srgbClr val="1F7A4D"/>
          </a:solidFill>
          <a:ln/>
        </p:spPr>
      </p:sp>
      <p:sp>
        <p:nvSpPr>
          <p:cNvPr id="20" name="Text 18"/>
          <p:cNvSpPr/>
          <p:nvPr/>
        </p:nvSpPr>
        <p:spPr>
          <a:xfrm>
            <a:off x="4535424" y="2487168"/>
            <a:ext cx="7159752" cy="292608"/>
          </a:xfrm>
          <a:prstGeom prst="rect">
            <a:avLst/>
          </a:prstGeom>
          <a:noFill/>
          <a:ln/>
        </p:spPr>
        <p:txBody>
          <a:bodyPr wrap="square" lIns="0" tIns="0" rIns="0" bIns="0" rtlCol="0" anchor="ctr"/>
          <a:lstStyle/>
          <a:p>
            <a:pPr indent="0" marL="0">
              <a:buNone/>
            </a:pPr>
            <a:r>
              <a:rPr lang="en-US" sz="1200" b="1" dirty="0">
                <a:solidFill>
                  <a:srgbClr val="1F7A4D"/>
                </a:solidFill>
                <a:latin typeface="Meiryo" pitchFamily="34" charset="0"/>
                <a:ea typeface="Meiryo" pitchFamily="34" charset="-122"/>
                <a:cs typeface="Meiryo" pitchFamily="34" charset="-120"/>
              </a:rPr>
              <a:t>結果</a:t>
            </a:r>
            <a:endParaRPr lang="en-US" sz="1200" dirty="0"/>
          </a:p>
        </p:txBody>
      </p:sp>
      <p:sp>
        <p:nvSpPr>
          <p:cNvPr id="21" name="Text 19"/>
          <p:cNvSpPr/>
          <p:nvPr/>
        </p:nvSpPr>
        <p:spPr>
          <a:xfrm>
            <a:off x="4352544" y="2798064"/>
            <a:ext cx="7232904" cy="457200"/>
          </a:xfrm>
          <a:prstGeom prst="rect">
            <a:avLst/>
          </a:prstGeom>
          <a:noFill/>
          <a:ln/>
        </p:spPr>
        <p:txBody>
          <a:bodyPr wrap="square" lIns="0" tIns="0" rIns="0" bIns="0" rtlCol="0" anchor="t"/>
          <a:lstStyle/>
          <a:p>
            <a:pPr indent="0" marL="0">
              <a:lnSpc>
                <a:spcPct val="113000"/>
              </a:lnSpc>
              <a:buNone/>
            </a:pPr>
            <a:r>
              <a:rPr lang="en-US" sz="1000" dirty="0">
                <a:solidFill>
                  <a:srgbClr val="1C3A29"/>
                </a:solidFill>
                <a:latin typeface="Meiryo" pitchFamily="34" charset="0"/>
                <a:ea typeface="Meiryo" pitchFamily="34" charset="-122"/>
                <a:cs typeface="Meiryo" pitchFamily="34" charset="-120"/>
              </a:rPr>
              <a:t>商談数と案件精度が劇的に向上し、行政・医療・製造・アパレル・教育など多業種へ新規接点を創出。市場ニーズの把握とアプローチ自動化に成功した。</a:t>
            </a:r>
            <a:endParaRPr lang="en-US" sz="1000" dirty="0"/>
          </a:p>
        </p:txBody>
      </p:sp>
      <p:sp>
        <p:nvSpPr>
          <p:cNvPr id="22" name="Shape 20"/>
          <p:cNvSpPr/>
          <p:nvPr/>
        </p:nvSpPr>
        <p:spPr>
          <a:xfrm>
            <a:off x="4114800" y="3456432"/>
            <a:ext cx="7708392" cy="1572768"/>
          </a:xfrm>
          <a:prstGeom prst="roundRect">
            <a:avLst>
              <a:gd name="adj" fmla="val 2907"/>
            </a:avLst>
          </a:prstGeom>
          <a:solidFill>
            <a:srgbClr val="EAF1FA"/>
          </a:solidFill>
          <a:ln w="12700">
            <a:solidFill>
              <a:srgbClr val="C6D8EF"/>
            </a:solidFill>
            <a:prstDash val="solid"/>
          </a:ln>
        </p:spPr>
      </p:sp>
      <p:sp>
        <p:nvSpPr>
          <p:cNvPr id="23" name="Shape 21"/>
          <p:cNvSpPr/>
          <p:nvPr/>
        </p:nvSpPr>
        <p:spPr>
          <a:xfrm>
            <a:off x="4352544" y="3602736"/>
            <a:ext cx="82296" cy="219456"/>
          </a:xfrm>
          <a:prstGeom prst="roundRect">
            <a:avLst>
              <a:gd name="adj" fmla="val 33333"/>
            </a:avLst>
          </a:prstGeom>
          <a:solidFill>
            <a:srgbClr val="2B64AB"/>
          </a:solidFill>
          <a:ln/>
        </p:spPr>
      </p:sp>
      <p:sp>
        <p:nvSpPr>
          <p:cNvPr id="24" name="Text 22"/>
          <p:cNvSpPr/>
          <p:nvPr/>
        </p:nvSpPr>
        <p:spPr>
          <a:xfrm>
            <a:off x="4535424" y="3547872"/>
            <a:ext cx="7159752" cy="292608"/>
          </a:xfrm>
          <a:prstGeom prst="rect">
            <a:avLst/>
          </a:prstGeom>
          <a:noFill/>
          <a:ln/>
        </p:spPr>
        <p:txBody>
          <a:bodyPr wrap="square" lIns="0" tIns="0" rIns="0" bIns="0" rtlCol="0" anchor="ctr"/>
          <a:lstStyle/>
          <a:p>
            <a:pPr indent="0" marL="0">
              <a:buNone/>
            </a:pPr>
            <a:r>
              <a:rPr lang="en-US" sz="1200" b="1" dirty="0">
                <a:solidFill>
                  <a:srgbClr val="2B64AB"/>
                </a:solidFill>
                <a:latin typeface="Meiryo" pitchFamily="34" charset="0"/>
                <a:ea typeface="Meiryo" pitchFamily="34" charset="-122"/>
                <a:cs typeface="Meiryo" pitchFamily="34" charset="-120"/>
              </a:rPr>
              <a:t>今回ご検討をされている企業様への活用ポイント</a:t>
            </a:r>
            <a:endParaRPr lang="en-US" sz="1200" dirty="0"/>
          </a:p>
        </p:txBody>
      </p:sp>
      <p:sp>
        <p:nvSpPr>
          <p:cNvPr id="25" name="Text 23"/>
          <p:cNvSpPr/>
          <p:nvPr/>
        </p:nvSpPr>
        <p:spPr>
          <a:xfrm>
            <a:off x="4352544" y="3858768"/>
            <a:ext cx="7232904" cy="1078992"/>
          </a:xfrm>
          <a:prstGeom prst="rect">
            <a:avLst/>
          </a:prstGeom>
          <a:noFill/>
          <a:ln/>
        </p:spPr>
        <p:txBody>
          <a:bodyPr wrap="square" lIns="0" tIns="0" rIns="0" bIns="0" rtlCol="0" anchor="t"/>
          <a:lstStyle/>
          <a:p>
            <a:pPr indent="0" marL="0">
              <a:lnSpc>
                <a:spcPct val="113000"/>
              </a:lnSpc>
              <a:buNone/>
            </a:pPr>
            <a:r>
              <a:rPr lang="en-US" sz="1000" dirty="0">
                <a:solidFill>
                  <a:srgbClr val="1C2530"/>
                </a:solidFill>
                <a:latin typeface="Meiryo" pitchFamily="34" charset="0"/>
                <a:ea typeface="Meiryo" pitchFamily="34" charset="-122"/>
                <a:cs typeface="Meiryo" pitchFamily="34" charset="-120"/>
              </a:rPr>
              <a:t>KIHALABOworks様が推進する「AIシステム開発などのAI系事業」を、様々な業界・企業へ展開していく際のアプローチにベストマッチする成功事例です。営業支援ユニットを通じてAIシステム開発ニーズを持つ法人顧客へ自動打診し、開発実務に専念しながら直請けのAI商談を量産できます。</a:t>
            </a:r>
            <a:endParaRPr lang="en-US" sz="1000" dirty="0"/>
          </a:p>
        </p:txBody>
      </p:sp>
      <p:sp>
        <p:nvSpPr>
          <p:cNvPr id="26" name="Shape 24"/>
          <p:cNvSpPr/>
          <p:nvPr/>
        </p:nvSpPr>
        <p:spPr>
          <a:xfrm>
            <a:off x="4114800" y="5138928"/>
            <a:ext cx="7708392" cy="1060704"/>
          </a:xfrm>
          <a:prstGeom prst="roundRect">
            <a:avLst>
              <a:gd name="adj" fmla="val 4310"/>
            </a:avLst>
          </a:prstGeom>
          <a:solidFill>
            <a:srgbClr val="FBF4E6"/>
          </a:solidFill>
          <a:ln w="12700">
            <a:solidFill>
              <a:srgbClr val="E7D6AC"/>
            </a:solidFill>
            <a:prstDash val="solid"/>
          </a:ln>
        </p:spPr>
      </p:sp>
      <p:sp>
        <p:nvSpPr>
          <p:cNvPr id="27" name="Shape 25"/>
          <p:cNvSpPr/>
          <p:nvPr/>
        </p:nvSpPr>
        <p:spPr>
          <a:xfrm>
            <a:off x="4352544" y="5285232"/>
            <a:ext cx="82296" cy="219456"/>
          </a:xfrm>
          <a:prstGeom prst="roundRect">
            <a:avLst>
              <a:gd name="adj" fmla="val 33333"/>
            </a:avLst>
          </a:prstGeom>
          <a:solidFill>
            <a:srgbClr val="9A6B12"/>
          </a:solidFill>
          <a:ln/>
        </p:spPr>
      </p:sp>
      <p:sp>
        <p:nvSpPr>
          <p:cNvPr id="28" name="Text 26"/>
          <p:cNvSpPr/>
          <p:nvPr/>
        </p:nvSpPr>
        <p:spPr>
          <a:xfrm>
            <a:off x="4535424" y="5230368"/>
            <a:ext cx="7159752" cy="292608"/>
          </a:xfrm>
          <a:prstGeom prst="rect">
            <a:avLst/>
          </a:prstGeom>
          <a:noFill/>
          <a:ln/>
        </p:spPr>
        <p:txBody>
          <a:bodyPr wrap="square" lIns="0" tIns="0" rIns="0" bIns="0" rtlCol="0" anchor="ctr"/>
          <a:lstStyle/>
          <a:p>
            <a:pPr indent="0" marL="0">
              <a:buNone/>
            </a:pPr>
            <a:r>
              <a:rPr lang="en-US" sz="1200" b="1" dirty="0">
                <a:solidFill>
                  <a:srgbClr val="9A6B12"/>
                </a:solidFill>
                <a:latin typeface="Meiryo" pitchFamily="34" charset="0"/>
                <a:ea typeface="Meiryo" pitchFamily="34" charset="-122"/>
                <a:cs typeface="Meiryo" pitchFamily="34" charset="-120"/>
              </a:rPr>
              <a:t>導入を検討されえいる企業様へのアドバイス</a:t>
            </a:r>
            <a:endParaRPr lang="en-US" sz="1200" dirty="0"/>
          </a:p>
        </p:txBody>
      </p:sp>
      <p:sp>
        <p:nvSpPr>
          <p:cNvPr id="29" name="Text 27"/>
          <p:cNvSpPr/>
          <p:nvPr/>
        </p:nvSpPr>
        <p:spPr>
          <a:xfrm>
            <a:off x="4352544" y="5541264"/>
            <a:ext cx="7232904" cy="566928"/>
          </a:xfrm>
          <a:prstGeom prst="rect">
            <a:avLst/>
          </a:prstGeom>
          <a:noFill/>
          <a:ln/>
        </p:spPr>
        <p:txBody>
          <a:bodyPr wrap="square" lIns="0" tIns="0" rIns="0" bIns="0" rtlCol="0" anchor="t"/>
          <a:lstStyle/>
          <a:p>
            <a:pPr indent="0" marL="0">
              <a:lnSpc>
                <a:spcPct val="113000"/>
              </a:lnSpc>
              <a:buNone/>
            </a:pPr>
            <a:r>
              <a:rPr lang="en-US" sz="1000" i="1" dirty="0">
                <a:solidFill>
                  <a:srgbClr val="4A3A18"/>
                </a:solidFill>
                <a:latin typeface="Meiryo" pitchFamily="34" charset="0"/>
                <a:ea typeface="Meiryo" pitchFamily="34" charset="-122"/>
                <a:cs typeface="Meiryo" pitchFamily="34" charset="-120"/>
              </a:rPr>
              <a:t>「アイドマさんのサービスは、売上を上げる仕組みとしてだけでなく、マーケティングの精度を高めるための強力なツールです。言われた通りにまずは実践し、そこから自社に合った形に改善していくことで、確確な成果につながると思います。」</a:t>
            </a:r>
            <a:endParaRPr lang="en-US" sz="1000" dirty="0"/>
          </a:p>
        </p:txBody>
      </p:sp>
      <p:sp>
        <p:nvSpPr>
          <p:cNvPr id="30" name="Text 28"/>
          <p:cNvSpPr/>
          <p:nvPr/>
        </p:nvSpPr>
        <p:spPr>
          <a:xfrm>
            <a:off x="4114800" y="6291072"/>
            <a:ext cx="7708392" cy="219456"/>
          </a:xfrm>
          <a:prstGeom prst="rect">
            <a:avLst/>
          </a:prstGeom>
          <a:noFill/>
          <a:ln/>
        </p:spPr>
        <p:txBody>
          <a:bodyPr wrap="square" lIns="0" tIns="0" rIns="0" bIns="0" rtlCol="0" anchor="ctr"/>
          <a:lstStyle/>
          <a:p>
            <a:pPr indent="0" marL="0">
              <a:buNone/>
            </a:pPr>
            <a:r>
              <a:rPr lang="en-US" sz="950" b="1" dirty="0">
                <a:solidFill>
                  <a:srgbClr val="8593A4"/>
                </a:solidFill>
                <a:latin typeface="Meiryo" pitchFamily="34" charset="0"/>
                <a:ea typeface="Meiryo" pitchFamily="34" charset="-122"/>
                <a:cs typeface="Meiryo" pitchFamily="34" charset="-120"/>
              </a:rPr>
              <a:t>引用URL　</a:t>
            </a:r>
            <a:pPr indent="0" marL="0">
              <a:buNone/>
            </a:pPr>
            <a:r>
              <a:rPr lang="en-US" sz="950" u="sng" dirty="0">
                <a:solidFill>
                  <a:srgbClr val="2B64AB"/>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https://www.aidma-hd.jp/case/zirei-412/</a:t>
            </a:r>
            <a:endParaRPr lang="en-US" sz="950" dirty="0"/>
          </a:p>
        </p:txBody>
      </p:sp>
      <p:sp>
        <p:nvSpPr>
          <p:cNvPr id="31" name="Text 29"/>
          <p:cNvSpPr/>
          <p:nvPr/>
        </p:nvSpPr>
        <p:spPr>
          <a:xfrm>
            <a:off x="365760" y="6537960"/>
            <a:ext cx="8229600" cy="219456"/>
          </a:xfrm>
          <a:prstGeom prst="rect">
            <a:avLst/>
          </a:prstGeom>
          <a:noFill/>
          <a:ln/>
        </p:spPr>
        <p:txBody>
          <a:bodyPr wrap="square" lIns="0" tIns="0" rIns="0" bIns="0" rtlCol="0" anchor="ctr"/>
          <a:lstStyle/>
          <a:p>
            <a:pPr indent="0" marL="0">
              <a:buNone/>
            </a:pPr>
            <a:r>
              <a:rPr lang="en-US" sz="900" dirty="0">
                <a:solidFill>
                  <a:srgbClr val="9AA7B6"/>
                </a:solidFill>
                <a:latin typeface="Meiryo" pitchFamily="34" charset="0"/>
                <a:ea typeface="Meiryo" pitchFamily="34" charset="-122"/>
                <a:cs typeface="Meiryo" pitchFamily="34" charset="-120"/>
              </a:rPr>
              <a:t>KIHALABOworks株式会社様　提案引用実績5選</a:t>
            </a:r>
            <a:endParaRPr lang="en-US" sz="900" dirty="0"/>
          </a:p>
        </p:txBody>
      </p:sp>
      <p:sp>
        <p:nvSpPr>
          <p:cNvPr id="32" name="Text 30"/>
          <p:cNvSpPr/>
          <p:nvPr/>
        </p:nvSpPr>
        <p:spPr>
          <a:xfrm>
            <a:off x="10424160" y="6537960"/>
            <a:ext cx="1399032" cy="219456"/>
          </a:xfrm>
          <a:prstGeom prst="rect">
            <a:avLst/>
          </a:prstGeom>
          <a:noFill/>
          <a:ln/>
        </p:spPr>
        <p:txBody>
          <a:bodyPr wrap="square" lIns="0" tIns="0" rIns="0" bIns="0" rtlCol="0" anchor="ctr"/>
          <a:lstStyle/>
          <a:p>
            <a:pPr algn="r" indent="0" marL="0">
              <a:buNone/>
            </a:pPr>
            <a:r>
              <a:rPr lang="en-US" sz="900" dirty="0">
                <a:solidFill>
                  <a:srgbClr val="9AA7B6"/>
                </a:solidFill>
                <a:latin typeface="Meiryo" pitchFamily="34" charset="0"/>
                <a:ea typeface="Meiryo" pitchFamily="34" charset="-122"/>
                <a:cs typeface="Meiryo" pitchFamily="34" charset="-120"/>
              </a:rPr>
              <a:t>1 / 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932688"/>
          </a:xfrm>
          <a:prstGeom prst="roundRect">
            <a:avLst>
              <a:gd name="adj" fmla="val 5882"/>
            </a:avLst>
          </a:prstGeom>
          <a:solidFill>
            <a:srgbClr val="16407A"/>
          </a:solidFill>
          <a:ln/>
          <a:effectLst>
            <a:outerShdw sx="100000" sy="100000" kx="0" ky="0" algn="bl" rotWithShape="0" blurRad="76200" dist="25400" dir="5400000">
              <a:srgbClr val="0F2F5C">
                <a:alpha val="35000"/>
              </a:srgbClr>
            </a:outerShdw>
          </a:effectLst>
        </p:spPr>
      </p:sp>
      <p:sp>
        <p:nvSpPr>
          <p:cNvPr id="3" name="Shape 1"/>
          <p:cNvSpPr/>
          <p:nvPr/>
        </p:nvSpPr>
        <p:spPr>
          <a:xfrm>
            <a:off x="566928" y="566928"/>
            <a:ext cx="530352" cy="530352"/>
          </a:xfrm>
          <a:prstGeom prst="roundRect">
            <a:avLst>
              <a:gd name="adj" fmla="val 13793"/>
            </a:avLst>
          </a:prstGeom>
          <a:solidFill>
            <a:srgbClr val="FFFFFF">
              <a:alpha val="16000"/>
            </a:srgbClr>
          </a:solidFill>
          <a:ln w="12700">
            <a:solidFill>
              <a:srgbClr val="FFFFFF">
                <a:alpha val="40000"/>
              </a:srgbClr>
            </a:solidFill>
            <a:prstDash val="solid"/>
          </a:ln>
        </p:spPr>
      </p:sp>
      <p:sp>
        <p:nvSpPr>
          <p:cNvPr id="4" name="Text 2"/>
          <p:cNvSpPr/>
          <p:nvPr/>
        </p:nvSpPr>
        <p:spPr>
          <a:xfrm>
            <a:off x="566928" y="566928"/>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2</a:t>
            </a:r>
            <a:endParaRPr lang="en-US" sz="2400" dirty="0"/>
          </a:p>
        </p:txBody>
      </p:sp>
      <p:sp>
        <p:nvSpPr>
          <p:cNvPr id="5" name="Text 3"/>
          <p:cNvSpPr/>
          <p:nvPr/>
        </p:nvSpPr>
        <p:spPr>
          <a:xfrm>
            <a:off x="1280160" y="420624"/>
            <a:ext cx="10378440" cy="822960"/>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Meiryo" pitchFamily="34" charset="0"/>
                <a:ea typeface="Meiryo" pitchFamily="34" charset="-122"/>
                <a:cs typeface="Meiryo" pitchFamily="34" charset="-120"/>
              </a:rPr>
              <a:t>社長一人の紹介頼みから脱却。5ヵ月でアポ33件・成約率約30%で大型受注5件を獲得</a:t>
            </a:r>
            <a:endParaRPr lang="en-US" sz="1400" dirty="0"/>
          </a:p>
        </p:txBody>
      </p:sp>
      <p:sp>
        <p:nvSpPr>
          <p:cNvPr id="6" name="Shape 4"/>
          <p:cNvSpPr/>
          <p:nvPr/>
        </p:nvSpPr>
        <p:spPr>
          <a:xfrm>
            <a:off x="365760" y="1481328"/>
            <a:ext cx="3566160" cy="5029200"/>
          </a:xfrm>
          <a:prstGeom prst="roundRect">
            <a:avLst>
              <a:gd name="adj" fmla="val 1282"/>
            </a:avLst>
          </a:prstGeom>
          <a:solidFill>
            <a:srgbClr val="EAF1FA"/>
          </a:solidFill>
          <a:ln w="12700">
            <a:solidFill>
              <a:srgbClr val="D2DCEA"/>
            </a:solidFill>
            <a:prstDash val="solid"/>
          </a:ln>
        </p:spPr>
      </p:sp>
      <p:sp>
        <p:nvSpPr>
          <p:cNvPr id="7" name="Text 5"/>
          <p:cNvSpPr/>
          <p:nvPr/>
        </p:nvSpPr>
        <p:spPr>
          <a:xfrm>
            <a:off x="585216" y="1664208"/>
            <a:ext cx="3127248" cy="822960"/>
          </a:xfrm>
          <a:prstGeom prst="rect">
            <a:avLst/>
          </a:prstGeom>
          <a:noFill/>
          <a:ln/>
        </p:spPr>
        <p:txBody>
          <a:bodyPr wrap="square" lIns="0" tIns="0" rIns="0" bIns="0" rtlCol="0" anchor="t"/>
          <a:lstStyle/>
          <a:p>
            <a:pPr indent="0" marL="0">
              <a:lnSpc>
                <a:spcPct val="105000"/>
              </a:lnSpc>
              <a:buNone/>
            </a:pPr>
            <a:r>
              <a:rPr lang="en-US" sz="1300" b="1" dirty="0">
                <a:solidFill>
                  <a:srgbClr val="1C2530"/>
                </a:solidFill>
                <a:latin typeface="Meiryo" pitchFamily="34" charset="0"/>
                <a:ea typeface="Meiryo" pitchFamily="34" charset="-122"/>
                <a:cs typeface="Meiryo" pitchFamily="34" charset="-120"/>
              </a:rPr>
              <a:t>株式会社ELU　様</a:t>
            </a:r>
            <a:endParaRPr lang="en-US" sz="1300" dirty="0"/>
          </a:p>
        </p:txBody>
      </p:sp>
      <p:sp>
        <p:nvSpPr>
          <p:cNvPr id="8" name="Text 6"/>
          <p:cNvSpPr/>
          <p:nvPr/>
        </p:nvSpPr>
        <p:spPr>
          <a:xfrm>
            <a:off x="585216" y="2615184"/>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事業内容</a:t>
            </a:r>
            <a:endParaRPr lang="en-US" sz="950" dirty="0"/>
          </a:p>
        </p:txBody>
      </p:sp>
      <p:sp>
        <p:nvSpPr>
          <p:cNvPr id="9" name="Text 7"/>
          <p:cNvSpPr/>
          <p:nvPr/>
        </p:nvSpPr>
        <p:spPr>
          <a:xfrm>
            <a:off x="585216" y="2834640"/>
            <a:ext cx="3127248" cy="1051560"/>
          </a:xfrm>
          <a:prstGeom prst="rect">
            <a:avLst/>
          </a:prstGeom>
          <a:noFill/>
          <a:ln/>
        </p:spPr>
        <p:txBody>
          <a:bodyPr wrap="square" lIns="0" tIns="0" rIns="0" bIns="0" rtlCol="0" anchor="ctr"/>
          <a:lstStyle/>
          <a:p>
            <a:pPr indent="0" marL="0">
              <a:lnSpc>
                <a:spcPct val="113000"/>
              </a:lnSpc>
              <a:buNone/>
            </a:pPr>
            <a:r>
              <a:rPr lang="en-US" sz="950" dirty="0">
                <a:solidFill>
                  <a:srgbClr val="45566A"/>
                </a:solidFill>
                <a:latin typeface="Meiryo" pitchFamily="34" charset="0"/>
                <a:ea typeface="Meiryo" pitchFamily="34" charset="-122"/>
                <a:cs typeface="Meiryo" pitchFamily="34" charset="-120"/>
              </a:rPr>
              <a:t>ホームページ企画制作、Webシステム開発、SNS広告運用、デザイン、ITインフラ導入支援。</a:t>
            </a:r>
            <a:endParaRPr lang="en-US" sz="950" dirty="0"/>
          </a:p>
        </p:txBody>
      </p:sp>
      <p:sp>
        <p:nvSpPr>
          <p:cNvPr id="10" name="Text 8"/>
          <p:cNvSpPr/>
          <p:nvPr/>
        </p:nvSpPr>
        <p:spPr>
          <a:xfrm>
            <a:off x="585216" y="3931920"/>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解決した課題</a:t>
            </a:r>
            <a:endParaRPr lang="en-US" sz="950" dirty="0"/>
          </a:p>
        </p:txBody>
      </p:sp>
      <p:sp>
        <p:nvSpPr>
          <p:cNvPr id="11" name="Shape 9"/>
          <p:cNvSpPr/>
          <p:nvPr/>
        </p:nvSpPr>
        <p:spPr>
          <a:xfrm>
            <a:off x="585216" y="4206240"/>
            <a:ext cx="3267202" cy="274320"/>
          </a:xfrm>
          <a:prstGeom prst="roundRect">
            <a:avLst>
              <a:gd name="adj" fmla="val 50000"/>
            </a:avLst>
          </a:prstGeom>
          <a:solidFill>
            <a:srgbClr val="DCE8F6"/>
          </a:solidFill>
          <a:ln w="9525">
            <a:solidFill>
              <a:srgbClr val="BFD3EC"/>
            </a:solidFill>
            <a:prstDash val="solid"/>
          </a:ln>
        </p:spPr>
      </p:sp>
      <p:sp>
        <p:nvSpPr>
          <p:cNvPr id="12" name="Text 10"/>
          <p:cNvSpPr/>
          <p:nvPr/>
        </p:nvSpPr>
        <p:spPr>
          <a:xfrm>
            <a:off x="585216" y="4206240"/>
            <a:ext cx="3267202"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社長一人の人脈・紹介頼みで新規開拓の仕組みなし</a:t>
            </a:r>
            <a:endParaRPr lang="en-US" sz="950" dirty="0"/>
          </a:p>
        </p:txBody>
      </p:sp>
      <p:sp>
        <p:nvSpPr>
          <p:cNvPr id="13" name="Shape 11"/>
          <p:cNvSpPr/>
          <p:nvPr/>
        </p:nvSpPr>
        <p:spPr>
          <a:xfrm>
            <a:off x="585216" y="4553712"/>
            <a:ext cx="2615692" cy="274320"/>
          </a:xfrm>
          <a:prstGeom prst="roundRect">
            <a:avLst>
              <a:gd name="adj" fmla="val 50000"/>
            </a:avLst>
          </a:prstGeom>
          <a:solidFill>
            <a:srgbClr val="DCE8F6"/>
          </a:solidFill>
          <a:ln w="9525">
            <a:solidFill>
              <a:srgbClr val="BFD3EC"/>
            </a:solidFill>
            <a:prstDash val="solid"/>
          </a:ln>
        </p:spPr>
      </p:sp>
      <p:sp>
        <p:nvSpPr>
          <p:cNvPr id="14" name="Text 12"/>
          <p:cNvSpPr/>
          <p:nvPr/>
        </p:nvSpPr>
        <p:spPr>
          <a:xfrm>
            <a:off x="585216" y="4553712"/>
            <a:ext cx="2615692"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リソースの物理的限界で売上が伸び悩み</a:t>
            </a:r>
            <a:endParaRPr lang="en-US" sz="950" dirty="0"/>
          </a:p>
        </p:txBody>
      </p:sp>
      <p:sp>
        <p:nvSpPr>
          <p:cNvPr id="15" name="Shape 13"/>
          <p:cNvSpPr/>
          <p:nvPr/>
        </p:nvSpPr>
        <p:spPr>
          <a:xfrm>
            <a:off x="4114800" y="1417320"/>
            <a:ext cx="82296" cy="219456"/>
          </a:xfrm>
          <a:prstGeom prst="roundRect">
            <a:avLst>
              <a:gd name="adj" fmla="val 33333"/>
            </a:avLst>
          </a:prstGeom>
          <a:solidFill>
            <a:srgbClr val="2B64AB"/>
          </a:solidFill>
          <a:ln/>
        </p:spPr>
      </p:sp>
      <p:sp>
        <p:nvSpPr>
          <p:cNvPr id="16" name="Text 14"/>
          <p:cNvSpPr/>
          <p:nvPr/>
        </p:nvSpPr>
        <p:spPr>
          <a:xfrm>
            <a:off x="4297680" y="1353312"/>
            <a:ext cx="7315200" cy="310896"/>
          </a:xfrm>
          <a:prstGeom prst="rect">
            <a:avLst/>
          </a:prstGeom>
          <a:noFill/>
          <a:ln/>
        </p:spPr>
        <p:txBody>
          <a:bodyPr wrap="square" lIns="0" tIns="0" rIns="0" bIns="0" rtlCol="0" anchor="ctr"/>
          <a:lstStyle/>
          <a:p>
            <a:pPr indent="0" marL="0">
              <a:buNone/>
            </a:pPr>
            <a:r>
              <a:rPr lang="en-US" sz="1250" b="1" dirty="0">
                <a:solidFill>
                  <a:srgbClr val="2B64AB"/>
                </a:solidFill>
                <a:latin typeface="Meiryo" pitchFamily="34" charset="0"/>
                <a:ea typeface="Meiryo" pitchFamily="34" charset="-122"/>
                <a:cs typeface="Meiryo" pitchFamily="34" charset="-120"/>
              </a:rPr>
              <a:t>事例の概要</a:t>
            </a:r>
            <a:endParaRPr lang="en-US" sz="1250" dirty="0"/>
          </a:p>
        </p:txBody>
      </p:sp>
      <p:sp>
        <p:nvSpPr>
          <p:cNvPr id="17" name="Text 15"/>
          <p:cNvSpPr/>
          <p:nvPr/>
        </p:nvSpPr>
        <p:spPr>
          <a:xfrm>
            <a:off x="4114800" y="1682496"/>
            <a:ext cx="7708392" cy="676656"/>
          </a:xfrm>
          <a:prstGeom prst="rect">
            <a:avLst/>
          </a:prstGeom>
          <a:noFill/>
          <a:ln/>
        </p:spPr>
        <p:txBody>
          <a:bodyPr wrap="square" lIns="0" tIns="0" rIns="0" bIns="0" rtlCol="0" anchor="t"/>
          <a:lstStyle/>
          <a:p>
            <a:pPr indent="0" marL="0">
              <a:lnSpc>
                <a:spcPct val="116000"/>
              </a:lnSpc>
              <a:buNone/>
            </a:pPr>
            <a:r>
              <a:rPr lang="en-US" sz="1000" dirty="0">
                <a:solidFill>
                  <a:srgbClr val="45566A"/>
                </a:solidFill>
                <a:latin typeface="Meiryo" pitchFamily="34" charset="0"/>
                <a:ea typeface="Meiryo" pitchFamily="34" charset="-122"/>
                <a:cs typeface="Meiryo" pitchFamily="34" charset="-120"/>
              </a:rPr>
              <a:t>Web制作や開発実務に追われ営業にリソースを割けなかったため、「Sales Platform」に初期アプローチを完全委託。アイドマが自律的にトークやアプローチを自動化し、質の高い直請けWeb・開発商談のみに専念する体制を構築した。</a:t>
            </a:r>
            <a:endParaRPr lang="en-US" sz="1000" dirty="0"/>
          </a:p>
        </p:txBody>
      </p:sp>
      <p:sp>
        <p:nvSpPr>
          <p:cNvPr id="18" name="Shape 16"/>
          <p:cNvSpPr/>
          <p:nvPr/>
        </p:nvSpPr>
        <p:spPr>
          <a:xfrm>
            <a:off x="4114800" y="2395728"/>
            <a:ext cx="7708392" cy="950976"/>
          </a:xfrm>
          <a:prstGeom prst="roundRect">
            <a:avLst>
              <a:gd name="adj" fmla="val 4808"/>
            </a:avLst>
          </a:prstGeom>
          <a:solidFill>
            <a:srgbClr val="E9F4EE"/>
          </a:solidFill>
          <a:ln w="12700">
            <a:solidFill>
              <a:srgbClr val="BADFC9"/>
            </a:solidFill>
            <a:prstDash val="solid"/>
          </a:ln>
        </p:spPr>
      </p:sp>
      <p:sp>
        <p:nvSpPr>
          <p:cNvPr id="19" name="Shape 17"/>
          <p:cNvSpPr/>
          <p:nvPr/>
        </p:nvSpPr>
        <p:spPr>
          <a:xfrm>
            <a:off x="4352544" y="2542032"/>
            <a:ext cx="82296" cy="219456"/>
          </a:xfrm>
          <a:prstGeom prst="roundRect">
            <a:avLst>
              <a:gd name="adj" fmla="val 33333"/>
            </a:avLst>
          </a:prstGeom>
          <a:solidFill>
            <a:srgbClr val="1F7A4D"/>
          </a:solidFill>
          <a:ln/>
        </p:spPr>
      </p:sp>
      <p:sp>
        <p:nvSpPr>
          <p:cNvPr id="20" name="Text 18"/>
          <p:cNvSpPr/>
          <p:nvPr/>
        </p:nvSpPr>
        <p:spPr>
          <a:xfrm>
            <a:off x="4535424" y="2487168"/>
            <a:ext cx="7159752" cy="292608"/>
          </a:xfrm>
          <a:prstGeom prst="rect">
            <a:avLst/>
          </a:prstGeom>
          <a:noFill/>
          <a:ln/>
        </p:spPr>
        <p:txBody>
          <a:bodyPr wrap="square" lIns="0" tIns="0" rIns="0" bIns="0" rtlCol="0" anchor="ctr"/>
          <a:lstStyle/>
          <a:p>
            <a:pPr indent="0" marL="0">
              <a:buNone/>
            </a:pPr>
            <a:r>
              <a:rPr lang="en-US" sz="1200" b="1" dirty="0">
                <a:solidFill>
                  <a:srgbClr val="1F7A4D"/>
                </a:solidFill>
                <a:latin typeface="Meiryo" pitchFamily="34" charset="0"/>
                <a:ea typeface="Meiryo" pitchFamily="34" charset="-122"/>
                <a:cs typeface="Meiryo" pitchFamily="34" charset="-120"/>
              </a:rPr>
              <a:t>結果</a:t>
            </a:r>
            <a:endParaRPr lang="en-US" sz="1200" dirty="0"/>
          </a:p>
        </p:txBody>
      </p:sp>
      <p:sp>
        <p:nvSpPr>
          <p:cNvPr id="21" name="Text 19"/>
          <p:cNvSpPr/>
          <p:nvPr/>
        </p:nvSpPr>
        <p:spPr>
          <a:xfrm>
            <a:off x="4352544" y="2798064"/>
            <a:ext cx="7232904" cy="457200"/>
          </a:xfrm>
          <a:prstGeom prst="rect">
            <a:avLst/>
          </a:prstGeom>
          <a:noFill/>
          <a:ln/>
        </p:spPr>
        <p:txBody>
          <a:bodyPr wrap="square" lIns="0" tIns="0" rIns="0" bIns="0" rtlCol="0" anchor="t"/>
          <a:lstStyle/>
          <a:p>
            <a:pPr indent="0" marL="0">
              <a:lnSpc>
                <a:spcPct val="113000"/>
              </a:lnSpc>
              <a:buNone/>
            </a:pPr>
            <a:r>
              <a:rPr lang="en-US" sz="1000" dirty="0">
                <a:solidFill>
                  <a:srgbClr val="1C3A29"/>
                </a:solidFill>
                <a:latin typeface="Meiryo" pitchFamily="34" charset="0"/>
                <a:ea typeface="Meiryo" pitchFamily="34" charset="-122"/>
                <a:cs typeface="Meiryo" pitchFamily="34" charset="-120"/>
              </a:rPr>
              <a:t>導入から約5ヵ月でアポイント33件を獲得（うち26件が商談化）。商談からの成約率（受注率）約30％（5件の新規大型受注決定）という非常に高い営業成果を達成。</a:t>
            </a:r>
            <a:endParaRPr lang="en-US" sz="1000" dirty="0"/>
          </a:p>
        </p:txBody>
      </p:sp>
      <p:sp>
        <p:nvSpPr>
          <p:cNvPr id="22" name="Shape 20"/>
          <p:cNvSpPr/>
          <p:nvPr/>
        </p:nvSpPr>
        <p:spPr>
          <a:xfrm>
            <a:off x="4114800" y="3456432"/>
            <a:ext cx="7708392" cy="1572768"/>
          </a:xfrm>
          <a:prstGeom prst="roundRect">
            <a:avLst>
              <a:gd name="adj" fmla="val 2907"/>
            </a:avLst>
          </a:prstGeom>
          <a:solidFill>
            <a:srgbClr val="EAF1FA"/>
          </a:solidFill>
          <a:ln w="12700">
            <a:solidFill>
              <a:srgbClr val="C6D8EF"/>
            </a:solidFill>
            <a:prstDash val="solid"/>
          </a:ln>
        </p:spPr>
      </p:sp>
      <p:sp>
        <p:nvSpPr>
          <p:cNvPr id="23" name="Shape 21"/>
          <p:cNvSpPr/>
          <p:nvPr/>
        </p:nvSpPr>
        <p:spPr>
          <a:xfrm>
            <a:off x="4352544" y="3602736"/>
            <a:ext cx="82296" cy="219456"/>
          </a:xfrm>
          <a:prstGeom prst="roundRect">
            <a:avLst>
              <a:gd name="adj" fmla="val 33333"/>
            </a:avLst>
          </a:prstGeom>
          <a:solidFill>
            <a:srgbClr val="2B64AB"/>
          </a:solidFill>
          <a:ln/>
        </p:spPr>
      </p:sp>
      <p:sp>
        <p:nvSpPr>
          <p:cNvPr id="24" name="Text 22"/>
          <p:cNvSpPr/>
          <p:nvPr/>
        </p:nvSpPr>
        <p:spPr>
          <a:xfrm>
            <a:off x="4535424" y="3547872"/>
            <a:ext cx="7159752" cy="292608"/>
          </a:xfrm>
          <a:prstGeom prst="rect">
            <a:avLst/>
          </a:prstGeom>
          <a:noFill/>
          <a:ln/>
        </p:spPr>
        <p:txBody>
          <a:bodyPr wrap="square" lIns="0" tIns="0" rIns="0" bIns="0" rtlCol="0" anchor="ctr"/>
          <a:lstStyle/>
          <a:p>
            <a:pPr indent="0" marL="0">
              <a:buNone/>
            </a:pPr>
            <a:r>
              <a:rPr lang="en-US" sz="1200" b="1" dirty="0">
                <a:solidFill>
                  <a:srgbClr val="2B64AB"/>
                </a:solidFill>
                <a:latin typeface="Meiryo" pitchFamily="34" charset="0"/>
                <a:ea typeface="Meiryo" pitchFamily="34" charset="-122"/>
                <a:cs typeface="Meiryo" pitchFamily="34" charset="-120"/>
              </a:rPr>
              <a:t>今回ご検討をされている企業様への活用ポイント</a:t>
            </a:r>
            <a:endParaRPr lang="en-US" sz="1200" dirty="0"/>
          </a:p>
        </p:txBody>
      </p:sp>
      <p:sp>
        <p:nvSpPr>
          <p:cNvPr id="25" name="Text 23"/>
          <p:cNvSpPr/>
          <p:nvPr/>
        </p:nvSpPr>
        <p:spPr>
          <a:xfrm>
            <a:off x="4352544" y="3858768"/>
            <a:ext cx="7232904" cy="1078992"/>
          </a:xfrm>
          <a:prstGeom prst="rect">
            <a:avLst/>
          </a:prstGeom>
          <a:noFill/>
          <a:ln/>
        </p:spPr>
        <p:txBody>
          <a:bodyPr wrap="square" lIns="0" tIns="0" rIns="0" bIns="0" rtlCol="0" anchor="t"/>
          <a:lstStyle/>
          <a:p>
            <a:pPr indent="0" marL="0">
              <a:lnSpc>
                <a:spcPct val="113000"/>
              </a:lnSpc>
              <a:buNone/>
            </a:pPr>
            <a:r>
              <a:rPr lang="en-US" sz="1000" dirty="0">
                <a:solidFill>
                  <a:srgbClr val="1C2530"/>
                </a:solidFill>
                <a:latin typeface="Meiryo" pitchFamily="34" charset="0"/>
                <a:ea typeface="Meiryo" pitchFamily="34" charset="-122"/>
                <a:cs typeface="Meiryo" pitchFamily="34" charset="-120"/>
              </a:rPr>
              <a:t>KIHALABOworks様が手がける「Web制作・営業制作系事業」において、自社HPや営業専任が不在の状態であっても、営業支援ユニットを「自社の営業部隊」として稼働させ、直請けのWeb制作・開発案件を高成約率（30%）で連続獲得するモデルとなります。</a:t>
            </a:r>
            <a:endParaRPr lang="en-US" sz="1000" dirty="0"/>
          </a:p>
        </p:txBody>
      </p:sp>
      <p:sp>
        <p:nvSpPr>
          <p:cNvPr id="26" name="Shape 24"/>
          <p:cNvSpPr/>
          <p:nvPr/>
        </p:nvSpPr>
        <p:spPr>
          <a:xfrm>
            <a:off x="4114800" y="5138928"/>
            <a:ext cx="7708392" cy="1060704"/>
          </a:xfrm>
          <a:prstGeom prst="roundRect">
            <a:avLst>
              <a:gd name="adj" fmla="val 4310"/>
            </a:avLst>
          </a:prstGeom>
          <a:solidFill>
            <a:srgbClr val="FBF4E6"/>
          </a:solidFill>
          <a:ln w="12700">
            <a:solidFill>
              <a:srgbClr val="E7D6AC"/>
            </a:solidFill>
            <a:prstDash val="solid"/>
          </a:ln>
        </p:spPr>
      </p:sp>
      <p:sp>
        <p:nvSpPr>
          <p:cNvPr id="27" name="Shape 25"/>
          <p:cNvSpPr/>
          <p:nvPr/>
        </p:nvSpPr>
        <p:spPr>
          <a:xfrm>
            <a:off x="4352544" y="5285232"/>
            <a:ext cx="82296" cy="219456"/>
          </a:xfrm>
          <a:prstGeom prst="roundRect">
            <a:avLst>
              <a:gd name="adj" fmla="val 33333"/>
            </a:avLst>
          </a:prstGeom>
          <a:solidFill>
            <a:srgbClr val="9A6B12"/>
          </a:solidFill>
          <a:ln/>
        </p:spPr>
      </p:sp>
      <p:sp>
        <p:nvSpPr>
          <p:cNvPr id="28" name="Text 26"/>
          <p:cNvSpPr/>
          <p:nvPr/>
        </p:nvSpPr>
        <p:spPr>
          <a:xfrm>
            <a:off x="4535424" y="5230368"/>
            <a:ext cx="7159752" cy="292608"/>
          </a:xfrm>
          <a:prstGeom prst="rect">
            <a:avLst/>
          </a:prstGeom>
          <a:noFill/>
          <a:ln/>
        </p:spPr>
        <p:txBody>
          <a:bodyPr wrap="square" lIns="0" tIns="0" rIns="0" bIns="0" rtlCol="0" anchor="ctr"/>
          <a:lstStyle/>
          <a:p>
            <a:pPr indent="0" marL="0">
              <a:buNone/>
            </a:pPr>
            <a:r>
              <a:rPr lang="en-US" sz="1200" b="1" dirty="0">
                <a:solidFill>
                  <a:srgbClr val="9A6B12"/>
                </a:solidFill>
                <a:latin typeface="Meiryo" pitchFamily="34" charset="0"/>
                <a:ea typeface="Meiryo" pitchFamily="34" charset="-122"/>
                <a:cs typeface="Meiryo" pitchFamily="34" charset="-120"/>
              </a:rPr>
              <a:t>導入を検討されえいる企業様へのアドバイス</a:t>
            </a:r>
            <a:endParaRPr lang="en-US" sz="1200" dirty="0"/>
          </a:p>
        </p:txBody>
      </p:sp>
      <p:sp>
        <p:nvSpPr>
          <p:cNvPr id="29" name="Text 27"/>
          <p:cNvSpPr/>
          <p:nvPr/>
        </p:nvSpPr>
        <p:spPr>
          <a:xfrm>
            <a:off x="4352544" y="5541264"/>
            <a:ext cx="7232904" cy="566928"/>
          </a:xfrm>
          <a:prstGeom prst="rect">
            <a:avLst/>
          </a:prstGeom>
          <a:noFill/>
          <a:ln/>
        </p:spPr>
        <p:txBody>
          <a:bodyPr wrap="square" lIns="0" tIns="0" rIns="0" bIns="0" rtlCol="0" anchor="t"/>
          <a:lstStyle/>
          <a:p>
            <a:pPr indent="0" marL="0">
              <a:lnSpc>
                <a:spcPct val="113000"/>
              </a:lnSpc>
              <a:buNone/>
            </a:pPr>
            <a:r>
              <a:rPr lang="en-US" sz="1000" i="1" dirty="0">
                <a:solidFill>
                  <a:srgbClr val="4A3A18"/>
                </a:solidFill>
                <a:latin typeface="Meiryo" pitchFamily="34" charset="0"/>
                <a:ea typeface="Meiryo" pitchFamily="34" charset="-122"/>
                <a:cs typeface="Meiryo" pitchFamily="34" charset="-120"/>
              </a:rPr>
              <a:t>「正直、タイミングだと思ったら使ってみるのが一番だと思います。そのタイミングだと感じたなら、アイドマさんはおすすめできます。」</a:t>
            </a:r>
            <a:endParaRPr lang="en-US" sz="1000" dirty="0"/>
          </a:p>
        </p:txBody>
      </p:sp>
      <p:sp>
        <p:nvSpPr>
          <p:cNvPr id="30" name="Text 28"/>
          <p:cNvSpPr/>
          <p:nvPr/>
        </p:nvSpPr>
        <p:spPr>
          <a:xfrm>
            <a:off x="4114800" y="6291072"/>
            <a:ext cx="7708392" cy="219456"/>
          </a:xfrm>
          <a:prstGeom prst="rect">
            <a:avLst/>
          </a:prstGeom>
          <a:noFill/>
          <a:ln/>
        </p:spPr>
        <p:txBody>
          <a:bodyPr wrap="square" lIns="0" tIns="0" rIns="0" bIns="0" rtlCol="0" anchor="ctr"/>
          <a:lstStyle/>
          <a:p>
            <a:pPr indent="0" marL="0">
              <a:buNone/>
            </a:pPr>
            <a:r>
              <a:rPr lang="en-US" sz="950" b="1" dirty="0">
                <a:solidFill>
                  <a:srgbClr val="8593A4"/>
                </a:solidFill>
                <a:latin typeface="Meiryo" pitchFamily="34" charset="0"/>
                <a:ea typeface="Meiryo" pitchFamily="34" charset="-122"/>
                <a:cs typeface="Meiryo" pitchFamily="34" charset="-120"/>
              </a:rPr>
              <a:t>引用URL　</a:t>
            </a:r>
            <a:pPr indent="0" marL="0">
              <a:buNone/>
            </a:pPr>
            <a:r>
              <a:rPr lang="en-US" sz="950" u="sng" dirty="0">
                <a:solidFill>
                  <a:srgbClr val="2B64AB"/>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https://www.aidma-hd.jp/case/zirei-414/</a:t>
            </a:r>
            <a:endParaRPr lang="en-US" sz="950" dirty="0"/>
          </a:p>
        </p:txBody>
      </p:sp>
      <p:sp>
        <p:nvSpPr>
          <p:cNvPr id="31" name="Text 29"/>
          <p:cNvSpPr/>
          <p:nvPr/>
        </p:nvSpPr>
        <p:spPr>
          <a:xfrm>
            <a:off x="365760" y="6537960"/>
            <a:ext cx="8229600" cy="219456"/>
          </a:xfrm>
          <a:prstGeom prst="rect">
            <a:avLst/>
          </a:prstGeom>
          <a:noFill/>
          <a:ln/>
        </p:spPr>
        <p:txBody>
          <a:bodyPr wrap="square" lIns="0" tIns="0" rIns="0" bIns="0" rtlCol="0" anchor="ctr"/>
          <a:lstStyle/>
          <a:p>
            <a:pPr indent="0" marL="0">
              <a:buNone/>
            </a:pPr>
            <a:r>
              <a:rPr lang="en-US" sz="900" dirty="0">
                <a:solidFill>
                  <a:srgbClr val="9AA7B6"/>
                </a:solidFill>
                <a:latin typeface="Meiryo" pitchFamily="34" charset="0"/>
                <a:ea typeface="Meiryo" pitchFamily="34" charset="-122"/>
                <a:cs typeface="Meiryo" pitchFamily="34" charset="-120"/>
              </a:rPr>
              <a:t>KIHALABOworks株式会社様　提案引用実績5選</a:t>
            </a:r>
            <a:endParaRPr lang="en-US" sz="900" dirty="0"/>
          </a:p>
        </p:txBody>
      </p:sp>
      <p:sp>
        <p:nvSpPr>
          <p:cNvPr id="32" name="Text 30"/>
          <p:cNvSpPr/>
          <p:nvPr/>
        </p:nvSpPr>
        <p:spPr>
          <a:xfrm>
            <a:off x="10424160" y="6537960"/>
            <a:ext cx="1399032" cy="219456"/>
          </a:xfrm>
          <a:prstGeom prst="rect">
            <a:avLst/>
          </a:prstGeom>
          <a:noFill/>
          <a:ln/>
        </p:spPr>
        <p:txBody>
          <a:bodyPr wrap="square" lIns="0" tIns="0" rIns="0" bIns="0" rtlCol="0" anchor="ctr"/>
          <a:lstStyle/>
          <a:p>
            <a:pPr algn="r" indent="0" marL="0">
              <a:buNone/>
            </a:pPr>
            <a:r>
              <a:rPr lang="en-US" sz="900" dirty="0">
                <a:solidFill>
                  <a:srgbClr val="9AA7B6"/>
                </a:solidFill>
                <a:latin typeface="Meiryo" pitchFamily="34" charset="0"/>
                <a:ea typeface="Meiryo" pitchFamily="34" charset="-122"/>
                <a:cs typeface="Meiryo" pitchFamily="34" charset="-120"/>
              </a:rPr>
              <a:t>2 / 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932688"/>
          </a:xfrm>
          <a:prstGeom prst="roundRect">
            <a:avLst>
              <a:gd name="adj" fmla="val 5882"/>
            </a:avLst>
          </a:prstGeom>
          <a:solidFill>
            <a:srgbClr val="16407A"/>
          </a:solidFill>
          <a:ln/>
          <a:effectLst>
            <a:outerShdw sx="100000" sy="100000" kx="0" ky="0" algn="bl" rotWithShape="0" blurRad="76200" dist="25400" dir="5400000">
              <a:srgbClr val="0F2F5C">
                <a:alpha val="35000"/>
              </a:srgbClr>
            </a:outerShdw>
          </a:effectLst>
        </p:spPr>
      </p:sp>
      <p:sp>
        <p:nvSpPr>
          <p:cNvPr id="3" name="Shape 1"/>
          <p:cNvSpPr/>
          <p:nvPr/>
        </p:nvSpPr>
        <p:spPr>
          <a:xfrm>
            <a:off x="566928" y="566928"/>
            <a:ext cx="530352" cy="530352"/>
          </a:xfrm>
          <a:prstGeom prst="roundRect">
            <a:avLst>
              <a:gd name="adj" fmla="val 13793"/>
            </a:avLst>
          </a:prstGeom>
          <a:solidFill>
            <a:srgbClr val="FFFFFF">
              <a:alpha val="16000"/>
            </a:srgbClr>
          </a:solidFill>
          <a:ln w="12700">
            <a:solidFill>
              <a:srgbClr val="FFFFFF">
                <a:alpha val="40000"/>
              </a:srgbClr>
            </a:solidFill>
            <a:prstDash val="solid"/>
          </a:ln>
        </p:spPr>
      </p:sp>
      <p:sp>
        <p:nvSpPr>
          <p:cNvPr id="4" name="Text 2"/>
          <p:cNvSpPr/>
          <p:nvPr/>
        </p:nvSpPr>
        <p:spPr>
          <a:xfrm>
            <a:off x="566928" y="566928"/>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3</a:t>
            </a:r>
            <a:endParaRPr lang="en-US" sz="2400" dirty="0"/>
          </a:p>
        </p:txBody>
      </p:sp>
      <p:sp>
        <p:nvSpPr>
          <p:cNvPr id="5" name="Text 3"/>
          <p:cNvSpPr/>
          <p:nvPr/>
        </p:nvSpPr>
        <p:spPr>
          <a:xfrm>
            <a:off x="1280160" y="420624"/>
            <a:ext cx="10378440" cy="822960"/>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Meiryo" pitchFamily="34" charset="0"/>
                <a:ea typeface="Meiryo" pitchFamily="34" charset="-122"/>
                <a:cs typeface="Meiryo" pitchFamily="34" charset="-120"/>
              </a:rPr>
              <a:t>創業1人・HPなしでも技術をコンテンツ化。信頼構築とAI開発案件獲得の営業基盤を確立</a:t>
            </a:r>
            <a:endParaRPr lang="en-US" sz="1400" dirty="0"/>
          </a:p>
        </p:txBody>
      </p:sp>
      <p:sp>
        <p:nvSpPr>
          <p:cNvPr id="6" name="Shape 4"/>
          <p:cNvSpPr/>
          <p:nvPr/>
        </p:nvSpPr>
        <p:spPr>
          <a:xfrm>
            <a:off x="365760" y="1481328"/>
            <a:ext cx="3566160" cy="5029200"/>
          </a:xfrm>
          <a:prstGeom prst="roundRect">
            <a:avLst>
              <a:gd name="adj" fmla="val 1282"/>
            </a:avLst>
          </a:prstGeom>
          <a:solidFill>
            <a:srgbClr val="EAF1FA"/>
          </a:solidFill>
          <a:ln w="12700">
            <a:solidFill>
              <a:srgbClr val="D2DCEA"/>
            </a:solidFill>
            <a:prstDash val="solid"/>
          </a:ln>
        </p:spPr>
      </p:sp>
      <p:sp>
        <p:nvSpPr>
          <p:cNvPr id="7" name="Text 5"/>
          <p:cNvSpPr/>
          <p:nvPr/>
        </p:nvSpPr>
        <p:spPr>
          <a:xfrm>
            <a:off x="585216" y="1664208"/>
            <a:ext cx="3127248" cy="822960"/>
          </a:xfrm>
          <a:prstGeom prst="rect">
            <a:avLst/>
          </a:prstGeom>
          <a:noFill/>
          <a:ln/>
        </p:spPr>
        <p:txBody>
          <a:bodyPr wrap="square" lIns="0" tIns="0" rIns="0" bIns="0" rtlCol="0" anchor="t"/>
          <a:lstStyle/>
          <a:p>
            <a:pPr indent="0" marL="0">
              <a:lnSpc>
                <a:spcPct val="105000"/>
              </a:lnSpc>
              <a:buNone/>
            </a:pPr>
            <a:r>
              <a:rPr lang="en-US" sz="1300" b="1" dirty="0">
                <a:solidFill>
                  <a:srgbClr val="1C2530"/>
                </a:solidFill>
                <a:latin typeface="Meiryo" pitchFamily="34" charset="0"/>
                <a:ea typeface="Meiryo" pitchFamily="34" charset="-122"/>
                <a:cs typeface="Meiryo" pitchFamily="34" charset="-120"/>
              </a:rPr>
              <a:t>雲楼システムパートナーズ　様</a:t>
            </a:r>
            <a:endParaRPr lang="en-US" sz="1300" dirty="0"/>
          </a:p>
        </p:txBody>
      </p:sp>
      <p:sp>
        <p:nvSpPr>
          <p:cNvPr id="8" name="Text 6"/>
          <p:cNvSpPr/>
          <p:nvPr/>
        </p:nvSpPr>
        <p:spPr>
          <a:xfrm>
            <a:off x="585216" y="2615184"/>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事業内容</a:t>
            </a:r>
            <a:endParaRPr lang="en-US" sz="950" dirty="0"/>
          </a:p>
        </p:txBody>
      </p:sp>
      <p:sp>
        <p:nvSpPr>
          <p:cNvPr id="9" name="Text 7"/>
          <p:cNvSpPr/>
          <p:nvPr/>
        </p:nvSpPr>
        <p:spPr>
          <a:xfrm>
            <a:off x="585216" y="2834640"/>
            <a:ext cx="3127248" cy="1051560"/>
          </a:xfrm>
          <a:prstGeom prst="rect">
            <a:avLst/>
          </a:prstGeom>
          <a:noFill/>
          <a:ln/>
        </p:spPr>
        <p:txBody>
          <a:bodyPr wrap="square" lIns="0" tIns="0" rIns="0" bIns="0" rtlCol="0" anchor="ctr"/>
          <a:lstStyle/>
          <a:p>
            <a:pPr indent="0" marL="0">
              <a:lnSpc>
                <a:spcPct val="113000"/>
              </a:lnSpc>
              <a:buNone/>
            </a:pPr>
            <a:r>
              <a:rPr lang="en-US" sz="950" dirty="0">
                <a:solidFill>
                  <a:srgbClr val="45566A"/>
                </a:solidFill>
                <a:latin typeface="Meiryo" pitchFamily="34" charset="0"/>
                <a:ea typeface="Meiryo" pitchFamily="34" charset="-122"/>
                <a:cs typeface="Meiryo" pitchFamily="34" charset="-120"/>
              </a:rPr>
              <a:t>Pythonと生成AIを駆使した業務システム構築、AI開発・内製化・AI研修支援コンサルティング。</a:t>
            </a:r>
            <a:endParaRPr lang="en-US" sz="950" dirty="0"/>
          </a:p>
        </p:txBody>
      </p:sp>
      <p:sp>
        <p:nvSpPr>
          <p:cNvPr id="10" name="Text 8"/>
          <p:cNvSpPr/>
          <p:nvPr/>
        </p:nvSpPr>
        <p:spPr>
          <a:xfrm>
            <a:off x="585216" y="3931920"/>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解決した課題</a:t>
            </a:r>
            <a:endParaRPr lang="en-US" sz="950" dirty="0"/>
          </a:p>
        </p:txBody>
      </p:sp>
      <p:sp>
        <p:nvSpPr>
          <p:cNvPr id="11" name="Shape 9"/>
          <p:cNvSpPr/>
          <p:nvPr/>
        </p:nvSpPr>
        <p:spPr>
          <a:xfrm>
            <a:off x="585216" y="4206240"/>
            <a:ext cx="3223768" cy="274320"/>
          </a:xfrm>
          <a:prstGeom prst="roundRect">
            <a:avLst>
              <a:gd name="adj" fmla="val 50000"/>
            </a:avLst>
          </a:prstGeom>
          <a:solidFill>
            <a:srgbClr val="DCE8F6"/>
          </a:solidFill>
          <a:ln w="9525">
            <a:solidFill>
              <a:srgbClr val="BFD3EC"/>
            </a:solidFill>
            <a:prstDash val="solid"/>
          </a:ln>
        </p:spPr>
      </p:sp>
      <p:sp>
        <p:nvSpPr>
          <p:cNvPr id="12" name="Text 10"/>
          <p:cNvSpPr/>
          <p:nvPr/>
        </p:nvSpPr>
        <p:spPr>
          <a:xfrm>
            <a:off x="585216" y="4206240"/>
            <a:ext cx="3223768"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創業間もない1人体制・自社HPや営業ノウハウなし</a:t>
            </a:r>
            <a:endParaRPr lang="en-US" sz="950" dirty="0"/>
          </a:p>
        </p:txBody>
      </p:sp>
      <p:sp>
        <p:nvSpPr>
          <p:cNvPr id="13" name="Shape 11"/>
          <p:cNvSpPr/>
          <p:nvPr/>
        </p:nvSpPr>
        <p:spPr>
          <a:xfrm>
            <a:off x="585216" y="4553712"/>
            <a:ext cx="3021076" cy="274320"/>
          </a:xfrm>
          <a:prstGeom prst="roundRect">
            <a:avLst>
              <a:gd name="adj" fmla="val 50000"/>
            </a:avLst>
          </a:prstGeom>
          <a:solidFill>
            <a:srgbClr val="DCE8F6"/>
          </a:solidFill>
          <a:ln w="9525">
            <a:solidFill>
              <a:srgbClr val="BFD3EC"/>
            </a:solidFill>
            <a:prstDash val="solid"/>
          </a:ln>
        </p:spPr>
      </p:sp>
      <p:sp>
        <p:nvSpPr>
          <p:cNvPr id="14" name="Text 12"/>
          <p:cNvSpPr/>
          <p:nvPr/>
        </p:nvSpPr>
        <p:spPr>
          <a:xfrm>
            <a:off x="585216" y="4553712"/>
            <a:ext cx="3021076"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AIシステム開発の価値伝達と新規顧客獲得が壁</a:t>
            </a:r>
            <a:endParaRPr lang="en-US" sz="950" dirty="0"/>
          </a:p>
        </p:txBody>
      </p:sp>
      <p:sp>
        <p:nvSpPr>
          <p:cNvPr id="15" name="Shape 13"/>
          <p:cNvSpPr/>
          <p:nvPr/>
        </p:nvSpPr>
        <p:spPr>
          <a:xfrm>
            <a:off x="4114800" y="1417320"/>
            <a:ext cx="82296" cy="219456"/>
          </a:xfrm>
          <a:prstGeom prst="roundRect">
            <a:avLst>
              <a:gd name="adj" fmla="val 33333"/>
            </a:avLst>
          </a:prstGeom>
          <a:solidFill>
            <a:srgbClr val="2B64AB"/>
          </a:solidFill>
          <a:ln/>
        </p:spPr>
      </p:sp>
      <p:sp>
        <p:nvSpPr>
          <p:cNvPr id="16" name="Text 14"/>
          <p:cNvSpPr/>
          <p:nvPr/>
        </p:nvSpPr>
        <p:spPr>
          <a:xfrm>
            <a:off x="4297680" y="1353312"/>
            <a:ext cx="7315200" cy="310896"/>
          </a:xfrm>
          <a:prstGeom prst="rect">
            <a:avLst/>
          </a:prstGeom>
          <a:noFill/>
          <a:ln/>
        </p:spPr>
        <p:txBody>
          <a:bodyPr wrap="square" lIns="0" tIns="0" rIns="0" bIns="0" rtlCol="0" anchor="ctr"/>
          <a:lstStyle/>
          <a:p>
            <a:pPr indent="0" marL="0">
              <a:buNone/>
            </a:pPr>
            <a:r>
              <a:rPr lang="en-US" sz="1250" b="1" dirty="0">
                <a:solidFill>
                  <a:srgbClr val="2B64AB"/>
                </a:solidFill>
                <a:latin typeface="Meiryo" pitchFamily="34" charset="0"/>
                <a:ea typeface="Meiryo" pitchFamily="34" charset="-122"/>
                <a:cs typeface="Meiryo" pitchFamily="34" charset="-120"/>
              </a:rPr>
              <a:t>事例の概要</a:t>
            </a:r>
            <a:endParaRPr lang="en-US" sz="1250" dirty="0"/>
          </a:p>
        </p:txBody>
      </p:sp>
      <p:sp>
        <p:nvSpPr>
          <p:cNvPr id="17" name="Text 15"/>
          <p:cNvSpPr/>
          <p:nvPr/>
        </p:nvSpPr>
        <p:spPr>
          <a:xfrm>
            <a:off x="4114800" y="1682496"/>
            <a:ext cx="7708392" cy="676656"/>
          </a:xfrm>
          <a:prstGeom prst="rect">
            <a:avLst/>
          </a:prstGeom>
          <a:noFill/>
          <a:ln/>
        </p:spPr>
        <p:txBody>
          <a:bodyPr wrap="square" lIns="0" tIns="0" rIns="0" bIns="0" rtlCol="0" anchor="t"/>
          <a:lstStyle/>
          <a:p>
            <a:pPr indent="0" marL="0">
              <a:lnSpc>
                <a:spcPct val="116000"/>
              </a:lnSpc>
              <a:buNone/>
            </a:pPr>
            <a:r>
              <a:rPr lang="en-US" sz="1000" dirty="0">
                <a:solidFill>
                  <a:srgbClr val="45566A"/>
                </a:solidFill>
                <a:latin typeface="Meiryo" pitchFamily="34" charset="0"/>
                <a:ea typeface="Meiryo" pitchFamily="34" charset="-122"/>
                <a:cs typeface="Meiryo" pitchFamily="34" charset="-120"/>
              </a:rPr>
              <a:t>代表1人で立ち上げ、生成AIを用いたシステム構築・研修を提供。自力での営業活動には限界があったため、アイドマの営業支援（Sales Platform/セールスユニット等）を活用。アプローチと信頼獲得の仕組みを同時構築した。</a:t>
            </a:r>
            <a:endParaRPr lang="en-US" sz="1000" dirty="0"/>
          </a:p>
        </p:txBody>
      </p:sp>
      <p:sp>
        <p:nvSpPr>
          <p:cNvPr id="18" name="Shape 16"/>
          <p:cNvSpPr/>
          <p:nvPr/>
        </p:nvSpPr>
        <p:spPr>
          <a:xfrm>
            <a:off x="4114800" y="2395728"/>
            <a:ext cx="7708392" cy="950976"/>
          </a:xfrm>
          <a:prstGeom prst="roundRect">
            <a:avLst>
              <a:gd name="adj" fmla="val 4808"/>
            </a:avLst>
          </a:prstGeom>
          <a:solidFill>
            <a:srgbClr val="E9F4EE"/>
          </a:solidFill>
          <a:ln w="12700">
            <a:solidFill>
              <a:srgbClr val="BADFC9"/>
            </a:solidFill>
            <a:prstDash val="solid"/>
          </a:ln>
        </p:spPr>
      </p:sp>
      <p:sp>
        <p:nvSpPr>
          <p:cNvPr id="19" name="Shape 17"/>
          <p:cNvSpPr/>
          <p:nvPr/>
        </p:nvSpPr>
        <p:spPr>
          <a:xfrm>
            <a:off x="4352544" y="2542032"/>
            <a:ext cx="82296" cy="219456"/>
          </a:xfrm>
          <a:prstGeom prst="roundRect">
            <a:avLst>
              <a:gd name="adj" fmla="val 33333"/>
            </a:avLst>
          </a:prstGeom>
          <a:solidFill>
            <a:srgbClr val="1F7A4D"/>
          </a:solidFill>
          <a:ln/>
        </p:spPr>
      </p:sp>
      <p:sp>
        <p:nvSpPr>
          <p:cNvPr id="20" name="Text 18"/>
          <p:cNvSpPr/>
          <p:nvPr/>
        </p:nvSpPr>
        <p:spPr>
          <a:xfrm>
            <a:off x="4535424" y="2487168"/>
            <a:ext cx="7159752" cy="292608"/>
          </a:xfrm>
          <a:prstGeom prst="rect">
            <a:avLst/>
          </a:prstGeom>
          <a:noFill/>
          <a:ln/>
        </p:spPr>
        <p:txBody>
          <a:bodyPr wrap="square" lIns="0" tIns="0" rIns="0" bIns="0" rtlCol="0" anchor="ctr"/>
          <a:lstStyle/>
          <a:p>
            <a:pPr indent="0" marL="0">
              <a:buNone/>
            </a:pPr>
            <a:r>
              <a:rPr lang="en-US" sz="1200" b="1" dirty="0">
                <a:solidFill>
                  <a:srgbClr val="1F7A4D"/>
                </a:solidFill>
                <a:latin typeface="Meiryo" pitchFamily="34" charset="0"/>
                <a:ea typeface="Meiryo" pitchFamily="34" charset="-122"/>
                <a:cs typeface="Meiryo" pitchFamily="34" charset="-120"/>
              </a:rPr>
              <a:t>結果</a:t>
            </a:r>
            <a:endParaRPr lang="en-US" sz="1200" dirty="0"/>
          </a:p>
        </p:txBody>
      </p:sp>
      <p:sp>
        <p:nvSpPr>
          <p:cNvPr id="21" name="Text 19"/>
          <p:cNvSpPr/>
          <p:nvPr/>
        </p:nvSpPr>
        <p:spPr>
          <a:xfrm>
            <a:off x="4352544" y="2798064"/>
            <a:ext cx="7232904" cy="457200"/>
          </a:xfrm>
          <a:prstGeom prst="rect">
            <a:avLst/>
          </a:prstGeom>
          <a:noFill/>
          <a:ln/>
        </p:spPr>
        <p:txBody>
          <a:bodyPr wrap="square" lIns="0" tIns="0" rIns="0" bIns="0" rtlCol="0" anchor="t"/>
          <a:lstStyle/>
          <a:p>
            <a:pPr indent="0" marL="0">
              <a:lnSpc>
                <a:spcPct val="113000"/>
              </a:lnSpc>
              <a:buNone/>
            </a:pPr>
            <a:r>
              <a:rPr lang="en-US" sz="1000" dirty="0">
                <a:solidFill>
                  <a:srgbClr val="1C3A29"/>
                </a:solidFill>
                <a:latin typeface="Meiryo" pitchFamily="34" charset="0"/>
                <a:ea typeface="Meiryo" pitchFamily="34" charset="-122"/>
                <a:cs typeface="Meiryo" pitchFamily="34" charset="-120"/>
              </a:rPr>
              <a:t>自身の技術・ノウハウをコンテンツ化し営業支援と連携させることで、創業期の信頼を構築し、自社の稼働をかけずにAI開発案件を獲得する営業基盤を確立した。</a:t>
            </a:r>
            <a:endParaRPr lang="en-US" sz="1000" dirty="0"/>
          </a:p>
        </p:txBody>
      </p:sp>
      <p:sp>
        <p:nvSpPr>
          <p:cNvPr id="22" name="Shape 20"/>
          <p:cNvSpPr/>
          <p:nvPr/>
        </p:nvSpPr>
        <p:spPr>
          <a:xfrm>
            <a:off x="4114800" y="3456432"/>
            <a:ext cx="7708392" cy="1572768"/>
          </a:xfrm>
          <a:prstGeom prst="roundRect">
            <a:avLst>
              <a:gd name="adj" fmla="val 2907"/>
            </a:avLst>
          </a:prstGeom>
          <a:solidFill>
            <a:srgbClr val="EAF1FA"/>
          </a:solidFill>
          <a:ln w="12700">
            <a:solidFill>
              <a:srgbClr val="C6D8EF"/>
            </a:solidFill>
            <a:prstDash val="solid"/>
          </a:ln>
        </p:spPr>
      </p:sp>
      <p:sp>
        <p:nvSpPr>
          <p:cNvPr id="23" name="Shape 21"/>
          <p:cNvSpPr/>
          <p:nvPr/>
        </p:nvSpPr>
        <p:spPr>
          <a:xfrm>
            <a:off x="4352544" y="3602736"/>
            <a:ext cx="82296" cy="219456"/>
          </a:xfrm>
          <a:prstGeom prst="roundRect">
            <a:avLst>
              <a:gd name="adj" fmla="val 33333"/>
            </a:avLst>
          </a:prstGeom>
          <a:solidFill>
            <a:srgbClr val="2B64AB"/>
          </a:solidFill>
          <a:ln/>
        </p:spPr>
      </p:sp>
      <p:sp>
        <p:nvSpPr>
          <p:cNvPr id="24" name="Text 22"/>
          <p:cNvSpPr/>
          <p:nvPr/>
        </p:nvSpPr>
        <p:spPr>
          <a:xfrm>
            <a:off x="4535424" y="3547872"/>
            <a:ext cx="7159752" cy="292608"/>
          </a:xfrm>
          <a:prstGeom prst="rect">
            <a:avLst/>
          </a:prstGeom>
          <a:noFill/>
          <a:ln/>
        </p:spPr>
        <p:txBody>
          <a:bodyPr wrap="square" lIns="0" tIns="0" rIns="0" bIns="0" rtlCol="0" anchor="ctr"/>
          <a:lstStyle/>
          <a:p>
            <a:pPr indent="0" marL="0">
              <a:buNone/>
            </a:pPr>
            <a:r>
              <a:rPr lang="en-US" sz="1200" b="1" dirty="0">
                <a:solidFill>
                  <a:srgbClr val="2B64AB"/>
                </a:solidFill>
                <a:latin typeface="Meiryo" pitchFamily="34" charset="0"/>
                <a:ea typeface="Meiryo" pitchFamily="34" charset="-122"/>
                <a:cs typeface="Meiryo" pitchFamily="34" charset="-120"/>
              </a:rPr>
              <a:t>今回ご検討をされている企業様への活用ポイント</a:t>
            </a:r>
            <a:endParaRPr lang="en-US" sz="1200" dirty="0"/>
          </a:p>
        </p:txBody>
      </p:sp>
      <p:sp>
        <p:nvSpPr>
          <p:cNvPr id="25" name="Text 23"/>
          <p:cNvSpPr/>
          <p:nvPr/>
        </p:nvSpPr>
        <p:spPr>
          <a:xfrm>
            <a:off x="4352544" y="3858768"/>
            <a:ext cx="7232904" cy="1078992"/>
          </a:xfrm>
          <a:prstGeom prst="rect">
            <a:avLst/>
          </a:prstGeom>
          <a:noFill/>
          <a:ln/>
        </p:spPr>
        <p:txBody>
          <a:bodyPr wrap="square" lIns="0" tIns="0" rIns="0" bIns="0" rtlCol="0" anchor="t"/>
          <a:lstStyle/>
          <a:p>
            <a:pPr indent="0" marL="0">
              <a:lnSpc>
                <a:spcPct val="113000"/>
              </a:lnSpc>
              <a:buNone/>
            </a:pPr>
            <a:r>
              <a:rPr lang="en-US" sz="1000" dirty="0">
                <a:solidFill>
                  <a:srgbClr val="1C2530"/>
                </a:solidFill>
                <a:latin typeface="Meiryo" pitchFamily="34" charset="0"/>
                <a:ea typeface="Meiryo" pitchFamily="34" charset="-122"/>
                <a:cs typeface="Meiryo" pitchFamily="34" charset="-120"/>
              </a:rPr>
              <a:t>KIHALABOworks様と同じ「生成AI・AIシステム開発」という先進領域において、自社HPがなくても営業支援ユニットでAIシステム構築の強みをターゲット企業へ自動配信し、開発実務に専念しながらAI案件を獲得するための決定的なロールモデルとなります。</a:t>
            </a:r>
            <a:endParaRPr lang="en-US" sz="1000" dirty="0"/>
          </a:p>
        </p:txBody>
      </p:sp>
      <p:sp>
        <p:nvSpPr>
          <p:cNvPr id="26" name="Shape 24"/>
          <p:cNvSpPr/>
          <p:nvPr/>
        </p:nvSpPr>
        <p:spPr>
          <a:xfrm>
            <a:off x="4114800" y="5138928"/>
            <a:ext cx="7708392" cy="1060704"/>
          </a:xfrm>
          <a:prstGeom prst="roundRect">
            <a:avLst>
              <a:gd name="adj" fmla="val 4310"/>
            </a:avLst>
          </a:prstGeom>
          <a:solidFill>
            <a:srgbClr val="FBF4E6"/>
          </a:solidFill>
          <a:ln w="12700">
            <a:solidFill>
              <a:srgbClr val="E7D6AC"/>
            </a:solidFill>
            <a:prstDash val="solid"/>
          </a:ln>
        </p:spPr>
      </p:sp>
      <p:sp>
        <p:nvSpPr>
          <p:cNvPr id="27" name="Shape 25"/>
          <p:cNvSpPr/>
          <p:nvPr/>
        </p:nvSpPr>
        <p:spPr>
          <a:xfrm>
            <a:off x="4352544" y="5285232"/>
            <a:ext cx="82296" cy="219456"/>
          </a:xfrm>
          <a:prstGeom prst="roundRect">
            <a:avLst>
              <a:gd name="adj" fmla="val 33333"/>
            </a:avLst>
          </a:prstGeom>
          <a:solidFill>
            <a:srgbClr val="9A6B12"/>
          </a:solidFill>
          <a:ln/>
        </p:spPr>
      </p:sp>
      <p:sp>
        <p:nvSpPr>
          <p:cNvPr id="28" name="Text 26"/>
          <p:cNvSpPr/>
          <p:nvPr/>
        </p:nvSpPr>
        <p:spPr>
          <a:xfrm>
            <a:off x="4535424" y="5230368"/>
            <a:ext cx="7159752" cy="292608"/>
          </a:xfrm>
          <a:prstGeom prst="rect">
            <a:avLst/>
          </a:prstGeom>
          <a:noFill/>
          <a:ln/>
        </p:spPr>
        <p:txBody>
          <a:bodyPr wrap="square" lIns="0" tIns="0" rIns="0" bIns="0" rtlCol="0" anchor="ctr"/>
          <a:lstStyle/>
          <a:p>
            <a:pPr indent="0" marL="0">
              <a:buNone/>
            </a:pPr>
            <a:r>
              <a:rPr lang="en-US" sz="1200" b="1" dirty="0">
                <a:solidFill>
                  <a:srgbClr val="9A6B12"/>
                </a:solidFill>
                <a:latin typeface="Meiryo" pitchFamily="34" charset="0"/>
                <a:ea typeface="Meiryo" pitchFamily="34" charset="-122"/>
                <a:cs typeface="Meiryo" pitchFamily="34" charset="-120"/>
              </a:rPr>
              <a:t>導入を検討されえいる企業様へのアドバイス</a:t>
            </a:r>
            <a:endParaRPr lang="en-US" sz="1200" dirty="0"/>
          </a:p>
        </p:txBody>
      </p:sp>
      <p:sp>
        <p:nvSpPr>
          <p:cNvPr id="29" name="Text 27"/>
          <p:cNvSpPr/>
          <p:nvPr/>
        </p:nvSpPr>
        <p:spPr>
          <a:xfrm>
            <a:off x="4352544" y="5541264"/>
            <a:ext cx="7232904" cy="566928"/>
          </a:xfrm>
          <a:prstGeom prst="rect">
            <a:avLst/>
          </a:prstGeom>
          <a:noFill/>
          <a:ln/>
        </p:spPr>
        <p:txBody>
          <a:bodyPr wrap="square" lIns="0" tIns="0" rIns="0" bIns="0" rtlCol="0" anchor="t"/>
          <a:lstStyle/>
          <a:p>
            <a:pPr indent="0" marL="0">
              <a:lnSpc>
                <a:spcPct val="113000"/>
              </a:lnSpc>
              <a:buNone/>
            </a:pPr>
            <a:r>
              <a:rPr lang="en-US" sz="1000" i="1" dirty="0">
                <a:solidFill>
                  <a:srgbClr val="4A3A18"/>
                </a:solidFill>
                <a:latin typeface="Meiryo" pitchFamily="34" charset="0"/>
                <a:ea typeface="Meiryo" pitchFamily="34" charset="-122"/>
                <a:cs typeface="Meiryo" pitchFamily="34" charset="-120"/>
              </a:rPr>
              <a:t>「1人体制や少人数の創業期において、専門サービスを自力だけで営業・認知拡大させるのには限界があります。外部の仕組みやアプローチのプロを活用することで、自社の専門性に特化したまま、市場での信頼と新規案件を最速で手に入れることができます。」</a:t>
            </a:r>
            <a:endParaRPr lang="en-US" sz="1000" dirty="0"/>
          </a:p>
        </p:txBody>
      </p:sp>
      <p:sp>
        <p:nvSpPr>
          <p:cNvPr id="30" name="Text 28"/>
          <p:cNvSpPr/>
          <p:nvPr/>
        </p:nvSpPr>
        <p:spPr>
          <a:xfrm>
            <a:off x="4114800" y="6291072"/>
            <a:ext cx="7708392" cy="219456"/>
          </a:xfrm>
          <a:prstGeom prst="rect">
            <a:avLst/>
          </a:prstGeom>
          <a:noFill/>
          <a:ln/>
        </p:spPr>
        <p:txBody>
          <a:bodyPr wrap="square" lIns="0" tIns="0" rIns="0" bIns="0" rtlCol="0" anchor="ctr"/>
          <a:lstStyle/>
          <a:p>
            <a:pPr indent="0" marL="0">
              <a:buNone/>
            </a:pPr>
            <a:r>
              <a:rPr lang="en-US" sz="950" b="1" dirty="0">
                <a:solidFill>
                  <a:srgbClr val="8593A4"/>
                </a:solidFill>
                <a:latin typeface="Meiryo" pitchFamily="34" charset="0"/>
                <a:ea typeface="Meiryo" pitchFamily="34" charset="-122"/>
                <a:cs typeface="Meiryo" pitchFamily="34" charset="-120"/>
              </a:rPr>
              <a:t>引用URL　</a:t>
            </a:r>
            <a:pPr indent="0" marL="0">
              <a:buNone/>
            </a:pPr>
            <a:r>
              <a:rPr lang="en-US" sz="950" u="sng" dirty="0">
                <a:solidFill>
                  <a:srgbClr val="2B64AB"/>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https://www.aidma-hd.jp/case/zirei-486/</a:t>
            </a:r>
            <a:endParaRPr lang="en-US" sz="950" dirty="0"/>
          </a:p>
        </p:txBody>
      </p:sp>
      <p:sp>
        <p:nvSpPr>
          <p:cNvPr id="31" name="Text 29"/>
          <p:cNvSpPr/>
          <p:nvPr/>
        </p:nvSpPr>
        <p:spPr>
          <a:xfrm>
            <a:off x="365760" y="6537960"/>
            <a:ext cx="8229600" cy="219456"/>
          </a:xfrm>
          <a:prstGeom prst="rect">
            <a:avLst/>
          </a:prstGeom>
          <a:noFill/>
          <a:ln/>
        </p:spPr>
        <p:txBody>
          <a:bodyPr wrap="square" lIns="0" tIns="0" rIns="0" bIns="0" rtlCol="0" anchor="ctr"/>
          <a:lstStyle/>
          <a:p>
            <a:pPr indent="0" marL="0">
              <a:buNone/>
            </a:pPr>
            <a:r>
              <a:rPr lang="en-US" sz="900" dirty="0">
                <a:solidFill>
                  <a:srgbClr val="9AA7B6"/>
                </a:solidFill>
                <a:latin typeface="Meiryo" pitchFamily="34" charset="0"/>
                <a:ea typeface="Meiryo" pitchFamily="34" charset="-122"/>
                <a:cs typeface="Meiryo" pitchFamily="34" charset="-120"/>
              </a:rPr>
              <a:t>KIHALABOworks株式会社様　提案引用実績5選</a:t>
            </a:r>
            <a:endParaRPr lang="en-US" sz="900" dirty="0"/>
          </a:p>
        </p:txBody>
      </p:sp>
      <p:sp>
        <p:nvSpPr>
          <p:cNvPr id="32" name="Text 30"/>
          <p:cNvSpPr/>
          <p:nvPr/>
        </p:nvSpPr>
        <p:spPr>
          <a:xfrm>
            <a:off x="10424160" y="6537960"/>
            <a:ext cx="1399032" cy="219456"/>
          </a:xfrm>
          <a:prstGeom prst="rect">
            <a:avLst/>
          </a:prstGeom>
          <a:noFill/>
          <a:ln/>
        </p:spPr>
        <p:txBody>
          <a:bodyPr wrap="square" lIns="0" tIns="0" rIns="0" bIns="0" rtlCol="0" anchor="ctr"/>
          <a:lstStyle/>
          <a:p>
            <a:pPr algn="r" indent="0" marL="0">
              <a:buNone/>
            </a:pPr>
            <a:r>
              <a:rPr lang="en-US" sz="900" dirty="0">
                <a:solidFill>
                  <a:srgbClr val="9AA7B6"/>
                </a:solidFill>
                <a:latin typeface="Meiryo" pitchFamily="34" charset="0"/>
                <a:ea typeface="Meiryo" pitchFamily="34" charset="-122"/>
                <a:cs typeface="Meiryo" pitchFamily="34" charset="-120"/>
              </a:rPr>
              <a:t>3 / 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932688"/>
          </a:xfrm>
          <a:prstGeom prst="roundRect">
            <a:avLst>
              <a:gd name="adj" fmla="val 5882"/>
            </a:avLst>
          </a:prstGeom>
          <a:solidFill>
            <a:srgbClr val="16407A"/>
          </a:solidFill>
          <a:ln/>
          <a:effectLst>
            <a:outerShdw sx="100000" sy="100000" kx="0" ky="0" algn="bl" rotWithShape="0" blurRad="76200" dist="25400" dir="5400000">
              <a:srgbClr val="0F2F5C">
                <a:alpha val="35000"/>
              </a:srgbClr>
            </a:outerShdw>
          </a:effectLst>
        </p:spPr>
      </p:sp>
      <p:sp>
        <p:nvSpPr>
          <p:cNvPr id="3" name="Shape 1"/>
          <p:cNvSpPr/>
          <p:nvPr/>
        </p:nvSpPr>
        <p:spPr>
          <a:xfrm>
            <a:off x="566928" y="566928"/>
            <a:ext cx="530352" cy="530352"/>
          </a:xfrm>
          <a:prstGeom prst="roundRect">
            <a:avLst>
              <a:gd name="adj" fmla="val 13793"/>
            </a:avLst>
          </a:prstGeom>
          <a:solidFill>
            <a:srgbClr val="FFFFFF">
              <a:alpha val="16000"/>
            </a:srgbClr>
          </a:solidFill>
          <a:ln w="12700">
            <a:solidFill>
              <a:srgbClr val="FFFFFF">
                <a:alpha val="40000"/>
              </a:srgbClr>
            </a:solidFill>
            <a:prstDash val="solid"/>
          </a:ln>
        </p:spPr>
      </p:sp>
      <p:sp>
        <p:nvSpPr>
          <p:cNvPr id="4" name="Text 2"/>
          <p:cNvSpPr/>
          <p:nvPr/>
        </p:nvSpPr>
        <p:spPr>
          <a:xfrm>
            <a:off x="566928" y="566928"/>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4</a:t>
            </a:r>
            <a:endParaRPr lang="en-US" sz="2400" dirty="0"/>
          </a:p>
        </p:txBody>
      </p:sp>
      <p:sp>
        <p:nvSpPr>
          <p:cNvPr id="5" name="Text 3"/>
          <p:cNvSpPr/>
          <p:nvPr/>
        </p:nvSpPr>
        <p:spPr>
          <a:xfrm>
            <a:off x="1280160" y="420624"/>
            <a:ext cx="10378440" cy="822960"/>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Meiryo" pitchFamily="34" charset="0"/>
                <a:ea typeface="Meiryo" pitchFamily="34" charset="-122"/>
                <a:cs typeface="Meiryo" pitchFamily="34" charset="-120"/>
              </a:rPr>
              <a:t>技術はあるが営業ノウハウゼロから、月間約10件の高品質商談を獲得し開発に専念</a:t>
            </a:r>
            <a:endParaRPr lang="en-US" sz="1400" dirty="0"/>
          </a:p>
        </p:txBody>
      </p:sp>
      <p:sp>
        <p:nvSpPr>
          <p:cNvPr id="6" name="Shape 4"/>
          <p:cNvSpPr/>
          <p:nvPr/>
        </p:nvSpPr>
        <p:spPr>
          <a:xfrm>
            <a:off x="365760" y="1481328"/>
            <a:ext cx="3566160" cy="5029200"/>
          </a:xfrm>
          <a:prstGeom prst="roundRect">
            <a:avLst>
              <a:gd name="adj" fmla="val 1282"/>
            </a:avLst>
          </a:prstGeom>
          <a:solidFill>
            <a:srgbClr val="EAF1FA"/>
          </a:solidFill>
          <a:ln w="12700">
            <a:solidFill>
              <a:srgbClr val="D2DCEA"/>
            </a:solidFill>
            <a:prstDash val="solid"/>
          </a:ln>
        </p:spPr>
      </p:sp>
      <p:sp>
        <p:nvSpPr>
          <p:cNvPr id="7" name="Text 5"/>
          <p:cNvSpPr/>
          <p:nvPr/>
        </p:nvSpPr>
        <p:spPr>
          <a:xfrm>
            <a:off x="585216" y="1664208"/>
            <a:ext cx="3127248" cy="822960"/>
          </a:xfrm>
          <a:prstGeom prst="rect">
            <a:avLst/>
          </a:prstGeom>
          <a:noFill/>
          <a:ln/>
        </p:spPr>
        <p:txBody>
          <a:bodyPr wrap="square" lIns="0" tIns="0" rIns="0" bIns="0" rtlCol="0" anchor="t"/>
          <a:lstStyle/>
          <a:p>
            <a:pPr indent="0" marL="0">
              <a:lnSpc>
                <a:spcPct val="105000"/>
              </a:lnSpc>
              <a:buNone/>
            </a:pPr>
            <a:r>
              <a:rPr lang="en-US" sz="1300" b="1" dirty="0">
                <a:solidFill>
                  <a:srgbClr val="1C2530"/>
                </a:solidFill>
                <a:latin typeface="Meiryo" pitchFamily="34" charset="0"/>
                <a:ea typeface="Meiryo" pitchFamily="34" charset="-122"/>
                <a:cs typeface="Meiryo" pitchFamily="34" charset="-120"/>
              </a:rPr>
              <a:t>株式会社ワンビッツ　様</a:t>
            </a:r>
            <a:endParaRPr lang="en-US" sz="1300" dirty="0"/>
          </a:p>
        </p:txBody>
      </p:sp>
      <p:sp>
        <p:nvSpPr>
          <p:cNvPr id="8" name="Text 6"/>
          <p:cNvSpPr/>
          <p:nvPr/>
        </p:nvSpPr>
        <p:spPr>
          <a:xfrm>
            <a:off x="585216" y="2615184"/>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事業内容</a:t>
            </a:r>
            <a:endParaRPr lang="en-US" sz="950" dirty="0"/>
          </a:p>
        </p:txBody>
      </p:sp>
      <p:sp>
        <p:nvSpPr>
          <p:cNvPr id="9" name="Text 7"/>
          <p:cNvSpPr/>
          <p:nvPr/>
        </p:nvSpPr>
        <p:spPr>
          <a:xfrm>
            <a:off x="585216" y="2834640"/>
            <a:ext cx="3127248" cy="1051560"/>
          </a:xfrm>
          <a:prstGeom prst="rect">
            <a:avLst/>
          </a:prstGeom>
          <a:noFill/>
          <a:ln/>
        </p:spPr>
        <p:txBody>
          <a:bodyPr wrap="square" lIns="0" tIns="0" rIns="0" bIns="0" rtlCol="0" anchor="ctr"/>
          <a:lstStyle/>
          <a:p>
            <a:pPr indent="0" marL="0">
              <a:lnSpc>
                <a:spcPct val="113000"/>
              </a:lnSpc>
              <a:buNone/>
            </a:pPr>
            <a:r>
              <a:rPr lang="en-US" sz="950" dirty="0">
                <a:solidFill>
                  <a:srgbClr val="45566A"/>
                </a:solidFill>
                <a:latin typeface="Meiryo" pitchFamily="34" charset="0"/>
                <a:ea typeface="Meiryo" pitchFamily="34" charset="-122"/>
                <a:cs typeface="Meiryo" pitchFamily="34" charset="-120"/>
              </a:rPr>
              <a:t>AI活用支援、Web・各種システム受託開発・運用、DX支援ソリューション。</a:t>
            </a:r>
            <a:endParaRPr lang="en-US" sz="950" dirty="0"/>
          </a:p>
        </p:txBody>
      </p:sp>
      <p:sp>
        <p:nvSpPr>
          <p:cNvPr id="10" name="Text 8"/>
          <p:cNvSpPr/>
          <p:nvPr/>
        </p:nvSpPr>
        <p:spPr>
          <a:xfrm>
            <a:off x="585216" y="3931920"/>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解決した課題</a:t>
            </a:r>
            <a:endParaRPr lang="en-US" sz="950" dirty="0"/>
          </a:p>
        </p:txBody>
      </p:sp>
      <p:sp>
        <p:nvSpPr>
          <p:cNvPr id="11" name="Shape 9"/>
          <p:cNvSpPr/>
          <p:nvPr/>
        </p:nvSpPr>
        <p:spPr>
          <a:xfrm>
            <a:off x="585216" y="4206240"/>
            <a:ext cx="4338574" cy="274320"/>
          </a:xfrm>
          <a:prstGeom prst="roundRect">
            <a:avLst>
              <a:gd name="adj" fmla="val 50000"/>
            </a:avLst>
          </a:prstGeom>
          <a:solidFill>
            <a:srgbClr val="DCE8F6"/>
          </a:solidFill>
          <a:ln w="9525">
            <a:solidFill>
              <a:srgbClr val="BFD3EC"/>
            </a:solidFill>
            <a:prstDash val="solid"/>
          </a:ln>
        </p:spPr>
      </p:sp>
      <p:sp>
        <p:nvSpPr>
          <p:cNvPr id="12" name="Text 10"/>
          <p:cNvSpPr/>
          <p:nvPr/>
        </p:nvSpPr>
        <p:spPr>
          <a:xfrm>
            <a:off x="585216" y="4206240"/>
            <a:ext cx="4338574"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確かなAI・システム開発力はあるがHP・プッシュ型開拓ノウハウなし</a:t>
            </a:r>
            <a:endParaRPr lang="en-US" sz="950" dirty="0"/>
          </a:p>
        </p:txBody>
      </p:sp>
      <p:sp>
        <p:nvSpPr>
          <p:cNvPr id="13" name="Shape 11"/>
          <p:cNvSpPr/>
          <p:nvPr/>
        </p:nvSpPr>
        <p:spPr>
          <a:xfrm>
            <a:off x="585216" y="4553712"/>
            <a:ext cx="1602232" cy="274320"/>
          </a:xfrm>
          <a:prstGeom prst="roundRect">
            <a:avLst>
              <a:gd name="adj" fmla="val 50000"/>
            </a:avLst>
          </a:prstGeom>
          <a:solidFill>
            <a:srgbClr val="DCE8F6"/>
          </a:solidFill>
          <a:ln w="9525">
            <a:solidFill>
              <a:srgbClr val="BFD3EC"/>
            </a:solidFill>
            <a:prstDash val="solid"/>
          </a:ln>
        </p:spPr>
      </p:sp>
      <p:sp>
        <p:nvSpPr>
          <p:cNvPr id="14" name="Text 12"/>
          <p:cNvSpPr/>
          <p:nvPr/>
        </p:nvSpPr>
        <p:spPr>
          <a:xfrm>
            <a:off x="585216" y="4553712"/>
            <a:ext cx="1602232"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BtoBの案件獲得に課題</a:t>
            </a:r>
            <a:endParaRPr lang="en-US" sz="950" dirty="0"/>
          </a:p>
        </p:txBody>
      </p:sp>
      <p:sp>
        <p:nvSpPr>
          <p:cNvPr id="15" name="Shape 13"/>
          <p:cNvSpPr/>
          <p:nvPr/>
        </p:nvSpPr>
        <p:spPr>
          <a:xfrm>
            <a:off x="4114800" y="1417320"/>
            <a:ext cx="82296" cy="219456"/>
          </a:xfrm>
          <a:prstGeom prst="roundRect">
            <a:avLst>
              <a:gd name="adj" fmla="val 33333"/>
            </a:avLst>
          </a:prstGeom>
          <a:solidFill>
            <a:srgbClr val="2B64AB"/>
          </a:solidFill>
          <a:ln/>
        </p:spPr>
      </p:sp>
      <p:sp>
        <p:nvSpPr>
          <p:cNvPr id="16" name="Text 14"/>
          <p:cNvSpPr/>
          <p:nvPr/>
        </p:nvSpPr>
        <p:spPr>
          <a:xfrm>
            <a:off x="4297680" y="1353312"/>
            <a:ext cx="7315200" cy="310896"/>
          </a:xfrm>
          <a:prstGeom prst="rect">
            <a:avLst/>
          </a:prstGeom>
          <a:noFill/>
          <a:ln/>
        </p:spPr>
        <p:txBody>
          <a:bodyPr wrap="square" lIns="0" tIns="0" rIns="0" bIns="0" rtlCol="0" anchor="ctr"/>
          <a:lstStyle/>
          <a:p>
            <a:pPr indent="0" marL="0">
              <a:buNone/>
            </a:pPr>
            <a:r>
              <a:rPr lang="en-US" sz="1250" b="1" dirty="0">
                <a:solidFill>
                  <a:srgbClr val="2B64AB"/>
                </a:solidFill>
                <a:latin typeface="Meiryo" pitchFamily="34" charset="0"/>
                <a:ea typeface="Meiryo" pitchFamily="34" charset="-122"/>
                <a:cs typeface="Meiryo" pitchFamily="34" charset="-120"/>
              </a:rPr>
              <a:t>事例の概要</a:t>
            </a:r>
            <a:endParaRPr lang="en-US" sz="1250" dirty="0"/>
          </a:p>
        </p:txBody>
      </p:sp>
      <p:sp>
        <p:nvSpPr>
          <p:cNvPr id="17" name="Text 15"/>
          <p:cNvSpPr/>
          <p:nvPr/>
        </p:nvSpPr>
        <p:spPr>
          <a:xfrm>
            <a:off x="4114800" y="1682496"/>
            <a:ext cx="7708392" cy="676656"/>
          </a:xfrm>
          <a:prstGeom prst="rect">
            <a:avLst/>
          </a:prstGeom>
          <a:noFill/>
          <a:ln/>
        </p:spPr>
        <p:txBody>
          <a:bodyPr wrap="square" lIns="0" tIns="0" rIns="0" bIns="0" rtlCol="0" anchor="t"/>
          <a:lstStyle/>
          <a:p>
            <a:pPr indent="0" marL="0">
              <a:lnSpc>
                <a:spcPct val="116000"/>
              </a:lnSpc>
              <a:buNone/>
            </a:pPr>
            <a:r>
              <a:rPr lang="en-US" sz="1000" dirty="0">
                <a:solidFill>
                  <a:srgbClr val="45566A"/>
                </a:solidFill>
                <a:latin typeface="Meiryo" pitchFamily="34" charset="0"/>
                <a:ea typeface="Meiryo" pitchFamily="34" charset="-122"/>
                <a:cs typeface="Meiryo" pitchFamily="34" charset="-120"/>
              </a:rPr>
              <a:t>大手IT企業出身の技術者が創業。独自のシステム開発やAI活用支援を展開するも、新規営業のノウハウ・体制が皆無だったため「セールスユニット」等を導入。アプローチ前半をアイドマに委託し、代表は確度の高い商談・開発実務に専念する分業体制を構築した。</a:t>
            </a:r>
            <a:endParaRPr lang="en-US" sz="1000" dirty="0"/>
          </a:p>
        </p:txBody>
      </p:sp>
      <p:sp>
        <p:nvSpPr>
          <p:cNvPr id="18" name="Shape 16"/>
          <p:cNvSpPr/>
          <p:nvPr/>
        </p:nvSpPr>
        <p:spPr>
          <a:xfrm>
            <a:off x="4114800" y="2395728"/>
            <a:ext cx="7708392" cy="950976"/>
          </a:xfrm>
          <a:prstGeom prst="roundRect">
            <a:avLst>
              <a:gd name="adj" fmla="val 4808"/>
            </a:avLst>
          </a:prstGeom>
          <a:solidFill>
            <a:srgbClr val="E9F4EE"/>
          </a:solidFill>
          <a:ln w="12700">
            <a:solidFill>
              <a:srgbClr val="BADFC9"/>
            </a:solidFill>
            <a:prstDash val="solid"/>
          </a:ln>
        </p:spPr>
      </p:sp>
      <p:sp>
        <p:nvSpPr>
          <p:cNvPr id="19" name="Shape 17"/>
          <p:cNvSpPr/>
          <p:nvPr/>
        </p:nvSpPr>
        <p:spPr>
          <a:xfrm>
            <a:off x="4352544" y="2542032"/>
            <a:ext cx="82296" cy="219456"/>
          </a:xfrm>
          <a:prstGeom prst="roundRect">
            <a:avLst>
              <a:gd name="adj" fmla="val 33333"/>
            </a:avLst>
          </a:prstGeom>
          <a:solidFill>
            <a:srgbClr val="1F7A4D"/>
          </a:solidFill>
          <a:ln/>
        </p:spPr>
      </p:sp>
      <p:sp>
        <p:nvSpPr>
          <p:cNvPr id="20" name="Text 18"/>
          <p:cNvSpPr/>
          <p:nvPr/>
        </p:nvSpPr>
        <p:spPr>
          <a:xfrm>
            <a:off x="4535424" y="2487168"/>
            <a:ext cx="7159752" cy="292608"/>
          </a:xfrm>
          <a:prstGeom prst="rect">
            <a:avLst/>
          </a:prstGeom>
          <a:noFill/>
          <a:ln/>
        </p:spPr>
        <p:txBody>
          <a:bodyPr wrap="square" lIns="0" tIns="0" rIns="0" bIns="0" rtlCol="0" anchor="ctr"/>
          <a:lstStyle/>
          <a:p>
            <a:pPr indent="0" marL="0">
              <a:buNone/>
            </a:pPr>
            <a:r>
              <a:rPr lang="en-US" sz="1200" b="1" dirty="0">
                <a:solidFill>
                  <a:srgbClr val="1F7A4D"/>
                </a:solidFill>
                <a:latin typeface="Meiryo" pitchFamily="34" charset="0"/>
                <a:ea typeface="Meiryo" pitchFamily="34" charset="-122"/>
                <a:cs typeface="Meiryo" pitchFamily="34" charset="-120"/>
              </a:rPr>
              <a:t>結果</a:t>
            </a:r>
            <a:endParaRPr lang="en-US" sz="1200" dirty="0"/>
          </a:p>
        </p:txBody>
      </p:sp>
      <p:sp>
        <p:nvSpPr>
          <p:cNvPr id="21" name="Text 19"/>
          <p:cNvSpPr/>
          <p:nvPr/>
        </p:nvSpPr>
        <p:spPr>
          <a:xfrm>
            <a:off x="4352544" y="2798064"/>
            <a:ext cx="7232904" cy="457200"/>
          </a:xfrm>
          <a:prstGeom prst="rect">
            <a:avLst/>
          </a:prstGeom>
          <a:noFill/>
          <a:ln/>
        </p:spPr>
        <p:txBody>
          <a:bodyPr wrap="square" lIns="0" tIns="0" rIns="0" bIns="0" rtlCol="0" anchor="t"/>
          <a:lstStyle/>
          <a:p>
            <a:pPr indent="0" marL="0">
              <a:lnSpc>
                <a:spcPct val="113000"/>
              </a:lnSpc>
              <a:buNone/>
            </a:pPr>
            <a:r>
              <a:rPr lang="en-US" sz="1000" dirty="0">
                <a:solidFill>
                  <a:srgbClr val="1C3A29"/>
                </a:solidFill>
                <a:latin typeface="Meiryo" pitchFamily="34" charset="0"/>
                <a:ea typeface="Meiryo" pitchFamily="34" charset="-122"/>
                <a:cs typeface="Meiryo" pitchFamily="34" charset="-120"/>
              </a:rPr>
              <a:t>月間約10件の高品質な商談を獲得し、開発に専念しながら事業戦略や適正な受託価格設定の整理にも成功した。</a:t>
            </a:r>
            <a:endParaRPr lang="en-US" sz="1000" dirty="0"/>
          </a:p>
        </p:txBody>
      </p:sp>
      <p:sp>
        <p:nvSpPr>
          <p:cNvPr id="22" name="Shape 20"/>
          <p:cNvSpPr/>
          <p:nvPr/>
        </p:nvSpPr>
        <p:spPr>
          <a:xfrm>
            <a:off x="4114800" y="3456432"/>
            <a:ext cx="7708392" cy="1572768"/>
          </a:xfrm>
          <a:prstGeom prst="roundRect">
            <a:avLst>
              <a:gd name="adj" fmla="val 2907"/>
            </a:avLst>
          </a:prstGeom>
          <a:solidFill>
            <a:srgbClr val="EAF1FA"/>
          </a:solidFill>
          <a:ln w="12700">
            <a:solidFill>
              <a:srgbClr val="C6D8EF"/>
            </a:solidFill>
            <a:prstDash val="solid"/>
          </a:ln>
        </p:spPr>
      </p:sp>
      <p:sp>
        <p:nvSpPr>
          <p:cNvPr id="23" name="Shape 21"/>
          <p:cNvSpPr/>
          <p:nvPr/>
        </p:nvSpPr>
        <p:spPr>
          <a:xfrm>
            <a:off x="4352544" y="3602736"/>
            <a:ext cx="82296" cy="219456"/>
          </a:xfrm>
          <a:prstGeom prst="roundRect">
            <a:avLst>
              <a:gd name="adj" fmla="val 33333"/>
            </a:avLst>
          </a:prstGeom>
          <a:solidFill>
            <a:srgbClr val="2B64AB"/>
          </a:solidFill>
          <a:ln/>
        </p:spPr>
      </p:sp>
      <p:sp>
        <p:nvSpPr>
          <p:cNvPr id="24" name="Text 22"/>
          <p:cNvSpPr/>
          <p:nvPr/>
        </p:nvSpPr>
        <p:spPr>
          <a:xfrm>
            <a:off x="4535424" y="3547872"/>
            <a:ext cx="7159752" cy="292608"/>
          </a:xfrm>
          <a:prstGeom prst="rect">
            <a:avLst/>
          </a:prstGeom>
          <a:noFill/>
          <a:ln/>
        </p:spPr>
        <p:txBody>
          <a:bodyPr wrap="square" lIns="0" tIns="0" rIns="0" bIns="0" rtlCol="0" anchor="ctr"/>
          <a:lstStyle/>
          <a:p>
            <a:pPr indent="0" marL="0">
              <a:buNone/>
            </a:pPr>
            <a:r>
              <a:rPr lang="en-US" sz="1200" b="1" dirty="0">
                <a:solidFill>
                  <a:srgbClr val="2B64AB"/>
                </a:solidFill>
                <a:latin typeface="Meiryo" pitchFamily="34" charset="0"/>
                <a:ea typeface="Meiryo" pitchFamily="34" charset="-122"/>
                <a:cs typeface="Meiryo" pitchFamily="34" charset="-120"/>
              </a:rPr>
              <a:t>今回ご検討をされている企業様への活用ポイント</a:t>
            </a:r>
            <a:endParaRPr lang="en-US" sz="1200" dirty="0"/>
          </a:p>
        </p:txBody>
      </p:sp>
      <p:sp>
        <p:nvSpPr>
          <p:cNvPr id="25" name="Text 23"/>
          <p:cNvSpPr/>
          <p:nvPr/>
        </p:nvSpPr>
        <p:spPr>
          <a:xfrm>
            <a:off x="4352544" y="3858768"/>
            <a:ext cx="7232904" cy="1078992"/>
          </a:xfrm>
          <a:prstGeom prst="rect">
            <a:avLst/>
          </a:prstGeom>
          <a:noFill/>
          <a:ln/>
        </p:spPr>
        <p:txBody>
          <a:bodyPr wrap="square" lIns="0" tIns="0" rIns="0" bIns="0" rtlCol="0" anchor="t"/>
          <a:lstStyle/>
          <a:p>
            <a:pPr indent="0" marL="0">
              <a:lnSpc>
                <a:spcPct val="113000"/>
              </a:lnSpc>
              <a:buNone/>
            </a:pPr>
            <a:r>
              <a:rPr lang="en-US" sz="1000" dirty="0">
                <a:solidFill>
                  <a:srgbClr val="1C2530"/>
                </a:solidFill>
                <a:latin typeface="Meiryo" pitchFamily="34" charset="0"/>
                <a:ea typeface="Meiryo" pitchFamily="34" charset="-122"/>
                <a:cs typeface="Meiryo" pitchFamily="34" charset="-120"/>
              </a:rPr>
              <a:t>KIHALABOworks様のように、優れたAIシステム開発力やWeb制作技術がありながら「営業体制・ノウハウがない」という企業様が、営業支援ユニットを活用して月10件規模の商談を自動創出するための最適事例です。</a:t>
            </a:r>
            <a:endParaRPr lang="en-US" sz="1000" dirty="0"/>
          </a:p>
        </p:txBody>
      </p:sp>
      <p:sp>
        <p:nvSpPr>
          <p:cNvPr id="26" name="Shape 24"/>
          <p:cNvSpPr/>
          <p:nvPr/>
        </p:nvSpPr>
        <p:spPr>
          <a:xfrm>
            <a:off x="4114800" y="5138928"/>
            <a:ext cx="7708392" cy="1060704"/>
          </a:xfrm>
          <a:prstGeom prst="roundRect">
            <a:avLst>
              <a:gd name="adj" fmla="val 4310"/>
            </a:avLst>
          </a:prstGeom>
          <a:solidFill>
            <a:srgbClr val="FBF4E6"/>
          </a:solidFill>
          <a:ln w="12700">
            <a:solidFill>
              <a:srgbClr val="E7D6AC"/>
            </a:solidFill>
            <a:prstDash val="solid"/>
          </a:ln>
        </p:spPr>
      </p:sp>
      <p:sp>
        <p:nvSpPr>
          <p:cNvPr id="27" name="Shape 25"/>
          <p:cNvSpPr/>
          <p:nvPr/>
        </p:nvSpPr>
        <p:spPr>
          <a:xfrm>
            <a:off x="4352544" y="5285232"/>
            <a:ext cx="82296" cy="219456"/>
          </a:xfrm>
          <a:prstGeom prst="roundRect">
            <a:avLst>
              <a:gd name="adj" fmla="val 33333"/>
            </a:avLst>
          </a:prstGeom>
          <a:solidFill>
            <a:srgbClr val="9A6B12"/>
          </a:solidFill>
          <a:ln/>
        </p:spPr>
      </p:sp>
      <p:sp>
        <p:nvSpPr>
          <p:cNvPr id="28" name="Text 26"/>
          <p:cNvSpPr/>
          <p:nvPr/>
        </p:nvSpPr>
        <p:spPr>
          <a:xfrm>
            <a:off x="4535424" y="5230368"/>
            <a:ext cx="7159752" cy="292608"/>
          </a:xfrm>
          <a:prstGeom prst="rect">
            <a:avLst/>
          </a:prstGeom>
          <a:noFill/>
          <a:ln/>
        </p:spPr>
        <p:txBody>
          <a:bodyPr wrap="square" lIns="0" tIns="0" rIns="0" bIns="0" rtlCol="0" anchor="ctr"/>
          <a:lstStyle/>
          <a:p>
            <a:pPr indent="0" marL="0">
              <a:buNone/>
            </a:pPr>
            <a:r>
              <a:rPr lang="en-US" sz="1200" b="1" dirty="0">
                <a:solidFill>
                  <a:srgbClr val="9A6B12"/>
                </a:solidFill>
                <a:latin typeface="Meiryo" pitchFamily="34" charset="0"/>
                <a:ea typeface="Meiryo" pitchFamily="34" charset="-122"/>
                <a:cs typeface="Meiryo" pitchFamily="34" charset="-120"/>
              </a:rPr>
              <a:t>導入を検討されえいる企業様へのアドバイス</a:t>
            </a:r>
            <a:endParaRPr lang="en-US" sz="1200" dirty="0"/>
          </a:p>
        </p:txBody>
      </p:sp>
      <p:sp>
        <p:nvSpPr>
          <p:cNvPr id="29" name="Text 27"/>
          <p:cNvSpPr/>
          <p:nvPr/>
        </p:nvSpPr>
        <p:spPr>
          <a:xfrm>
            <a:off x="4352544" y="5541264"/>
            <a:ext cx="7232904" cy="566928"/>
          </a:xfrm>
          <a:prstGeom prst="rect">
            <a:avLst/>
          </a:prstGeom>
          <a:noFill/>
          <a:ln/>
        </p:spPr>
        <p:txBody>
          <a:bodyPr wrap="square" lIns="0" tIns="0" rIns="0" bIns="0" rtlCol="0" anchor="t"/>
          <a:lstStyle/>
          <a:p>
            <a:pPr indent="0" marL="0">
              <a:lnSpc>
                <a:spcPct val="113000"/>
              </a:lnSpc>
              <a:buNone/>
            </a:pPr>
            <a:r>
              <a:rPr lang="en-US" sz="1000" i="1" dirty="0">
                <a:solidFill>
                  <a:srgbClr val="4A3A18"/>
                </a:solidFill>
                <a:latin typeface="Meiryo" pitchFamily="34" charset="0"/>
                <a:ea typeface="Meiryo" pitchFamily="34" charset="-122"/>
                <a:cs typeface="Meiryo" pitchFamily="34" charset="-120"/>
              </a:rPr>
              <a:t>「費用対効果を見極めリスクを許容できるのであれば、外部リソースの活用はやるべきだと思います。電話営業の支援だけでなくビジネス全体の相談にも乗ってもらえるため、自社の課題をブレイクスルーする大きな力になるはずです。」</a:t>
            </a:r>
            <a:endParaRPr lang="en-US" sz="1000" dirty="0"/>
          </a:p>
        </p:txBody>
      </p:sp>
      <p:sp>
        <p:nvSpPr>
          <p:cNvPr id="30" name="Text 28"/>
          <p:cNvSpPr/>
          <p:nvPr/>
        </p:nvSpPr>
        <p:spPr>
          <a:xfrm>
            <a:off x="4114800" y="6291072"/>
            <a:ext cx="7708392" cy="219456"/>
          </a:xfrm>
          <a:prstGeom prst="rect">
            <a:avLst/>
          </a:prstGeom>
          <a:noFill/>
          <a:ln/>
        </p:spPr>
        <p:txBody>
          <a:bodyPr wrap="square" lIns="0" tIns="0" rIns="0" bIns="0" rtlCol="0" anchor="ctr"/>
          <a:lstStyle/>
          <a:p>
            <a:pPr indent="0" marL="0">
              <a:buNone/>
            </a:pPr>
            <a:r>
              <a:rPr lang="en-US" sz="950" b="1" dirty="0">
                <a:solidFill>
                  <a:srgbClr val="8593A4"/>
                </a:solidFill>
                <a:latin typeface="Meiryo" pitchFamily="34" charset="0"/>
                <a:ea typeface="Meiryo" pitchFamily="34" charset="-122"/>
                <a:cs typeface="Meiryo" pitchFamily="34" charset="-120"/>
              </a:rPr>
              <a:t>引用URL　</a:t>
            </a:r>
            <a:pPr indent="0" marL="0">
              <a:buNone/>
            </a:pPr>
            <a:r>
              <a:rPr lang="en-US" sz="950" u="sng" dirty="0">
                <a:solidFill>
                  <a:srgbClr val="2B64AB"/>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https://www.aidma-hd.jp/case/zirei-517/</a:t>
            </a:r>
            <a:endParaRPr lang="en-US" sz="950" dirty="0"/>
          </a:p>
        </p:txBody>
      </p:sp>
      <p:sp>
        <p:nvSpPr>
          <p:cNvPr id="31" name="Text 29"/>
          <p:cNvSpPr/>
          <p:nvPr/>
        </p:nvSpPr>
        <p:spPr>
          <a:xfrm>
            <a:off x="365760" y="6537960"/>
            <a:ext cx="8229600" cy="219456"/>
          </a:xfrm>
          <a:prstGeom prst="rect">
            <a:avLst/>
          </a:prstGeom>
          <a:noFill/>
          <a:ln/>
        </p:spPr>
        <p:txBody>
          <a:bodyPr wrap="square" lIns="0" tIns="0" rIns="0" bIns="0" rtlCol="0" anchor="ctr"/>
          <a:lstStyle/>
          <a:p>
            <a:pPr indent="0" marL="0">
              <a:buNone/>
            </a:pPr>
            <a:r>
              <a:rPr lang="en-US" sz="900" dirty="0">
                <a:solidFill>
                  <a:srgbClr val="9AA7B6"/>
                </a:solidFill>
                <a:latin typeface="Meiryo" pitchFamily="34" charset="0"/>
                <a:ea typeface="Meiryo" pitchFamily="34" charset="-122"/>
                <a:cs typeface="Meiryo" pitchFamily="34" charset="-120"/>
              </a:rPr>
              <a:t>KIHALABOworks株式会社様　提案引用実績5選</a:t>
            </a:r>
            <a:endParaRPr lang="en-US" sz="900" dirty="0"/>
          </a:p>
        </p:txBody>
      </p:sp>
      <p:sp>
        <p:nvSpPr>
          <p:cNvPr id="32" name="Text 30"/>
          <p:cNvSpPr/>
          <p:nvPr/>
        </p:nvSpPr>
        <p:spPr>
          <a:xfrm>
            <a:off x="10424160" y="6537960"/>
            <a:ext cx="1399032" cy="219456"/>
          </a:xfrm>
          <a:prstGeom prst="rect">
            <a:avLst/>
          </a:prstGeom>
          <a:noFill/>
          <a:ln/>
        </p:spPr>
        <p:txBody>
          <a:bodyPr wrap="square" lIns="0" tIns="0" rIns="0" bIns="0" rtlCol="0" anchor="ctr"/>
          <a:lstStyle/>
          <a:p>
            <a:pPr algn="r" indent="0" marL="0">
              <a:buNone/>
            </a:pPr>
            <a:r>
              <a:rPr lang="en-US" sz="900" dirty="0">
                <a:solidFill>
                  <a:srgbClr val="9AA7B6"/>
                </a:solidFill>
                <a:latin typeface="Meiryo" pitchFamily="34" charset="0"/>
                <a:ea typeface="Meiryo" pitchFamily="34" charset="-122"/>
                <a:cs typeface="Meiryo" pitchFamily="34" charset="-120"/>
              </a:rPr>
              <a:t>4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932688"/>
          </a:xfrm>
          <a:prstGeom prst="roundRect">
            <a:avLst>
              <a:gd name="adj" fmla="val 5882"/>
            </a:avLst>
          </a:prstGeom>
          <a:solidFill>
            <a:srgbClr val="16407A"/>
          </a:solidFill>
          <a:ln/>
          <a:effectLst>
            <a:outerShdw sx="100000" sy="100000" kx="0" ky="0" algn="bl" rotWithShape="0" blurRad="76200" dist="25400" dir="5400000">
              <a:srgbClr val="0F2F5C">
                <a:alpha val="35000"/>
              </a:srgbClr>
            </a:outerShdw>
          </a:effectLst>
        </p:spPr>
      </p:sp>
      <p:sp>
        <p:nvSpPr>
          <p:cNvPr id="3" name="Shape 1"/>
          <p:cNvSpPr/>
          <p:nvPr/>
        </p:nvSpPr>
        <p:spPr>
          <a:xfrm>
            <a:off x="566928" y="566928"/>
            <a:ext cx="530352" cy="530352"/>
          </a:xfrm>
          <a:prstGeom prst="roundRect">
            <a:avLst>
              <a:gd name="adj" fmla="val 13793"/>
            </a:avLst>
          </a:prstGeom>
          <a:solidFill>
            <a:srgbClr val="FFFFFF">
              <a:alpha val="16000"/>
            </a:srgbClr>
          </a:solidFill>
          <a:ln w="12700">
            <a:solidFill>
              <a:srgbClr val="FFFFFF">
                <a:alpha val="40000"/>
              </a:srgbClr>
            </a:solidFill>
            <a:prstDash val="solid"/>
          </a:ln>
        </p:spPr>
      </p:sp>
      <p:sp>
        <p:nvSpPr>
          <p:cNvPr id="4" name="Text 2"/>
          <p:cNvSpPr/>
          <p:nvPr/>
        </p:nvSpPr>
        <p:spPr>
          <a:xfrm>
            <a:off x="566928" y="566928"/>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5</a:t>
            </a:r>
            <a:endParaRPr lang="en-US" sz="2400" dirty="0"/>
          </a:p>
        </p:txBody>
      </p:sp>
      <p:sp>
        <p:nvSpPr>
          <p:cNvPr id="5" name="Text 3"/>
          <p:cNvSpPr/>
          <p:nvPr/>
        </p:nvSpPr>
        <p:spPr>
          <a:xfrm>
            <a:off x="1280160" y="420624"/>
            <a:ext cx="10378440" cy="822960"/>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Meiryo" pitchFamily="34" charset="0"/>
                <a:ea typeface="Meiryo" pitchFamily="34" charset="-122"/>
                <a:cs typeface="Meiryo" pitchFamily="34" charset="-120"/>
              </a:rPr>
              <a:t>現役エンジニアが営業時間ゼロでも決裁部門へ直接アプローチ。直請け大口案件を次々開拓</a:t>
            </a:r>
            <a:endParaRPr lang="en-US" sz="1400" dirty="0"/>
          </a:p>
        </p:txBody>
      </p:sp>
      <p:sp>
        <p:nvSpPr>
          <p:cNvPr id="6" name="Shape 4"/>
          <p:cNvSpPr/>
          <p:nvPr/>
        </p:nvSpPr>
        <p:spPr>
          <a:xfrm>
            <a:off x="365760" y="1481328"/>
            <a:ext cx="3566160" cy="5029200"/>
          </a:xfrm>
          <a:prstGeom prst="roundRect">
            <a:avLst>
              <a:gd name="adj" fmla="val 1282"/>
            </a:avLst>
          </a:prstGeom>
          <a:solidFill>
            <a:srgbClr val="EAF1FA"/>
          </a:solidFill>
          <a:ln w="12700">
            <a:solidFill>
              <a:srgbClr val="D2DCEA"/>
            </a:solidFill>
            <a:prstDash val="solid"/>
          </a:ln>
        </p:spPr>
      </p:sp>
      <p:sp>
        <p:nvSpPr>
          <p:cNvPr id="7" name="Text 5"/>
          <p:cNvSpPr/>
          <p:nvPr/>
        </p:nvSpPr>
        <p:spPr>
          <a:xfrm>
            <a:off x="585216" y="1664208"/>
            <a:ext cx="3127248" cy="822960"/>
          </a:xfrm>
          <a:prstGeom prst="rect">
            <a:avLst/>
          </a:prstGeom>
          <a:noFill/>
          <a:ln/>
        </p:spPr>
        <p:txBody>
          <a:bodyPr wrap="square" lIns="0" tIns="0" rIns="0" bIns="0" rtlCol="0" anchor="t"/>
          <a:lstStyle/>
          <a:p>
            <a:pPr indent="0" marL="0">
              <a:lnSpc>
                <a:spcPct val="105000"/>
              </a:lnSpc>
              <a:buNone/>
            </a:pPr>
            <a:r>
              <a:rPr lang="en-US" sz="1300" b="1" dirty="0">
                <a:solidFill>
                  <a:srgbClr val="1C2530"/>
                </a:solidFill>
                <a:latin typeface="Meiryo" pitchFamily="34" charset="0"/>
                <a:ea typeface="Meiryo" pitchFamily="34" charset="-122"/>
                <a:cs typeface="Meiryo" pitchFamily="34" charset="-120"/>
              </a:rPr>
              <a:t>株式会社ゼファクト　様</a:t>
            </a:r>
            <a:endParaRPr lang="en-US" sz="1300" dirty="0"/>
          </a:p>
        </p:txBody>
      </p:sp>
      <p:sp>
        <p:nvSpPr>
          <p:cNvPr id="8" name="Text 6"/>
          <p:cNvSpPr/>
          <p:nvPr/>
        </p:nvSpPr>
        <p:spPr>
          <a:xfrm>
            <a:off x="585216" y="2615184"/>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事業内容</a:t>
            </a:r>
            <a:endParaRPr lang="en-US" sz="950" dirty="0"/>
          </a:p>
        </p:txBody>
      </p:sp>
      <p:sp>
        <p:nvSpPr>
          <p:cNvPr id="9" name="Text 7"/>
          <p:cNvSpPr/>
          <p:nvPr/>
        </p:nvSpPr>
        <p:spPr>
          <a:xfrm>
            <a:off x="585216" y="2834640"/>
            <a:ext cx="3127248" cy="1051560"/>
          </a:xfrm>
          <a:prstGeom prst="rect">
            <a:avLst/>
          </a:prstGeom>
          <a:noFill/>
          <a:ln/>
        </p:spPr>
        <p:txBody>
          <a:bodyPr wrap="square" lIns="0" tIns="0" rIns="0" bIns="0" rtlCol="0" anchor="ctr"/>
          <a:lstStyle/>
          <a:p>
            <a:pPr indent="0" marL="0">
              <a:lnSpc>
                <a:spcPct val="113000"/>
              </a:lnSpc>
              <a:buNone/>
            </a:pPr>
            <a:r>
              <a:rPr lang="en-US" sz="950" dirty="0">
                <a:solidFill>
                  <a:srgbClr val="45566A"/>
                </a:solidFill>
                <a:latin typeface="Meiryo" pitchFamily="34" charset="0"/>
                <a:ea typeface="Meiryo" pitchFamily="34" charset="-122"/>
                <a:cs typeface="Meiryo" pitchFamily="34" charset="-120"/>
              </a:rPr>
              <a:t>Webサイト制作、各種クリエイティブ制作、業務システム受託開発、SES技術支援。</a:t>
            </a:r>
            <a:endParaRPr lang="en-US" sz="950" dirty="0"/>
          </a:p>
        </p:txBody>
      </p:sp>
      <p:sp>
        <p:nvSpPr>
          <p:cNvPr id="10" name="Text 8"/>
          <p:cNvSpPr/>
          <p:nvPr/>
        </p:nvSpPr>
        <p:spPr>
          <a:xfrm>
            <a:off x="585216" y="3931920"/>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解決した課題</a:t>
            </a:r>
            <a:endParaRPr lang="en-US" sz="950" dirty="0"/>
          </a:p>
        </p:txBody>
      </p:sp>
      <p:sp>
        <p:nvSpPr>
          <p:cNvPr id="11" name="Shape 9"/>
          <p:cNvSpPr/>
          <p:nvPr/>
        </p:nvSpPr>
        <p:spPr>
          <a:xfrm>
            <a:off x="585216" y="4206240"/>
            <a:ext cx="3093466" cy="274320"/>
          </a:xfrm>
          <a:prstGeom prst="roundRect">
            <a:avLst>
              <a:gd name="adj" fmla="val 50000"/>
            </a:avLst>
          </a:prstGeom>
          <a:solidFill>
            <a:srgbClr val="DCE8F6"/>
          </a:solidFill>
          <a:ln w="9525">
            <a:solidFill>
              <a:srgbClr val="BFD3EC"/>
            </a:solidFill>
            <a:prstDash val="solid"/>
          </a:ln>
        </p:spPr>
      </p:sp>
      <p:sp>
        <p:nvSpPr>
          <p:cNvPr id="12" name="Text 10"/>
          <p:cNvSpPr/>
          <p:nvPr/>
        </p:nvSpPr>
        <p:spPr>
          <a:xfrm>
            <a:off x="585216" y="4206240"/>
            <a:ext cx="3093466"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Web制作・開発の技術はあるが営業担当が少ない</a:t>
            </a:r>
            <a:endParaRPr lang="en-US" sz="950" dirty="0"/>
          </a:p>
        </p:txBody>
      </p:sp>
      <p:sp>
        <p:nvSpPr>
          <p:cNvPr id="13" name="Shape 11"/>
          <p:cNvSpPr/>
          <p:nvPr/>
        </p:nvSpPr>
        <p:spPr>
          <a:xfrm>
            <a:off x="585216" y="4553712"/>
            <a:ext cx="4266184" cy="274320"/>
          </a:xfrm>
          <a:prstGeom prst="roundRect">
            <a:avLst>
              <a:gd name="adj" fmla="val 50000"/>
            </a:avLst>
          </a:prstGeom>
          <a:solidFill>
            <a:srgbClr val="DCE8F6"/>
          </a:solidFill>
          <a:ln w="9525">
            <a:solidFill>
              <a:srgbClr val="BFD3EC"/>
            </a:solidFill>
            <a:prstDash val="solid"/>
          </a:ln>
        </p:spPr>
      </p:sp>
      <p:sp>
        <p:nvSpPr>
          <p:cNvPr id="14" name="Text 12"/>
          <p:cNvSpPr/>
          <p:nvPr/>
        </p:nvSpPr>
        <p:spPr>
          <a:xfrm>
            <a:off x="585216" y="4553712"/>
            <a:ext cx="4266184"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自社のみでは直請け・高単価なWeb・システム開発案件を獲得できず</a:t>
            </a:r>
            <a:endParaRPr lang="en-US" sz="950" dirty="0"/>
          </a:p>
        </p:txBody>
      </p:sp>
      <p:sp>
        <p:nvSpPr>
          <p:cNvPr id="15" name="Shape 13"/>
          <p:cNvSpPr/>
          <p:nvPr/>
        </p:nvSpPr>
        <p:spPr>
          <a:xfrm>
            <a:off x="4114800" y="1417320"/>
            <a:ext cx="82296" cy="219456"/>
          </a:xfrm>
          <a:prstGeom prst="roundRect">
            <a:avLst>
              <a:gd name="adj" fmla="val 33333"/>
            </a:avLst>
          </a:prstGeom>
          <a:solidFill>
            <a:srgbClr val="2B64AB"/>
          </a:solidFill>
          <a:ln/>
        </p:spPr>
      </p:sp>
      <p:sp>
        <p:nvSpPr>
          <p:cNvPr id="16" name="Text 14"/>
          <p:cNvSpPr/>
          <p:nvPr/>
        </p:nvSpPr>
        <p:spPr>
          <a:xfrm>
            <a:off x="4297680" y="1353312"/>
            <a:ext cx="7315200" cy="310896"/>
          </a:xfrm>
          <a:prstGeom prst="rect">
            <a:avLst/>
          </a:prstGeom>
          <a:noFill/>
          <a:ln/>
        </p:spPr>
        <p:txBody>
          <a:bodyPr wrap="square" lIns="0" tIns="0" rIns="0" bIns="0" rtlCol="0" anchor="ctr"/>
          <a:lstStyle/>
          <a:p>
            <a:pPr indent="0" marL="0">
              <a:buNone/>
            </a:pPr>
            <a:r>
              <a:rPr lang="en-US" sz="1250" b="1" dirty="0">
                <a:solidFill>
                  <a:srgbClr val="2B64AB"/>
                </a:solidFill>
                <a:latin typeface="Meiryo" pitchFamily="34" charset="0"/>
                <a:ea typeface="Meiryo" pitchFamily="34" charset="-122"/>
                <a:cs typeface="Meiryo" pitchFamily="34" charset="-120"/>
              </a:rPr>
              <a:t>事例の概要</a:t>
            </a:r>
            <a:endParaRPr lang="en-US" sz="1250" dirty="0"/>
          </a:p>
        </p:txBody>
      </p:sp>
      <p:sp>
        <p:nvSpPr>
          <p:cNvPr id="17" name="Text 15"/>
          <p:cNvSpPr/>
          <p:nvPr/>
        </p:nvSpPr>
        <p:spPr>
          <a:xfrm>
            <a:off x="4114800" y="1682496"/>
            <a:ext cx="7708392" cy="676656"/>
          </a:xfrm>
          <a:prstGeom prst="rect">
            <a:avLst/>
          </a:prstGeom>
          <a:noFill/>
          <a:ln/>
        </p:spPr>
        <p:txBody>
          <a:bodyPr wrap="square" lIns="0" tIns="0" rIns="0" bIns="0" rtlCol="0" anchor="t"/>
          <a:lstStyle/>
          <a:p>
            <a:pPr indent="0" marL="0">
              <a:lnSpc>
                <a:spcPct val="116000"/>
              </a:lnSpc>
              <a:buNone/>
            </a:pPr>
            <a:r>
              <a:rPr lang="en-US" sz="1000" dirty="0">
                <a:solidFill>
                  <a:srgbClr val="45566A"/>
                </a:solidFill>
                <a:latin typeface="Meiryo" pitchFamily="34" charset="0"/>
                <a:ea typeface="Meiryo" pitchFamily="34" charset="-122"/>
                <a:cs typeface="Meiryo" pitchFamily="34" charset="-120"/>
              </a:rPr>
              <a:t>トップが現役エンジニアで技術力のある開発企業。制作・開発実務で営業の時間が取れなかったが、ターゲット企業の決裁部門に絞り込んで営業支援ユニットでアプローチしたことで、直請け商談を次々と獲得した。</a:t>
            </a:r>
            <a:endParaRPr lang="en-US" sz="1000" dirty="0"/>
          </a:p>
        </p:txBody>
      </p:sp>
      <p:sp>
        <p:nvSpPr>
          <p:cNvPr id="18" name="Shape 16"/>
          <p:cNvSpPr/>
          <p:nvPr/>
        </p:nvSpPr>
        <p:spPr>
          <a:xfrm>
            <a:off x="4114800" y="2395728"/>
            <a:ext cx="7708392" cy="950976"/>
          </a:xfrm>
          <a:prstGeom prst="roundRect">
            <a:avLst>
              <a:gd name="adj" fmla="val 4808"/>
            </a:avLst>
          </a:prstGeom>
          <a:solidFill>
            <a:srgbClr val="E9F4EE"/>
          </a:solidFill>
          <a:ln w="12700">
            <a:solidFill>
              <a:srgbClr val="BADFC9"/>
            </a:solidFill>
            <a:prstDash val="solid"/>
          </a:ln>
        </p:spPr>
      </p:sp>
      <p:sp>
        <p:nvSpPr>
          <p:cNvPr id="19" name="Shape 17"/>
          <p:cNvSpPr/>
          <p:nvPr/>
        </p:nvSpPr>
        <p:spPr>
          <a:xfrm>
            <a:off x="4352544" y="2542032"/>
            <a:ext cx="82296" cy="219456"/>
          </a:xfrm>
          <a:prstGeom prst="roundRect">
            <a:avLst>
              <a:gd name="adj" fmla="val 33333"/>
            </a:avLst>
          </a:prstGeom>
          <a:solidFill>
            <a:srgbClr val="1F7A4D"/>
          </a:solidFill>
          <a:ln/>
        </p:spPr>
      </p:sp>
      <p:sp>
        <p:nvSpPr>
          <p:cNvPr id="20" name="Text 18"/>
          <p:cNvSpPr/>
          <p:nvPr/>
        </p:nvSpPr>
        <p:spPr>
          <a:xfrm>
            <a:off x="4535424" y="2487168"/>
            <a:ext cx="7159752" cy="292608"/>
          </a:xfrm>
          <a:prstGeom prst="rect">
            <a:avLst/>
          </a:prstGeom>
          <a:noFill/>
          <a:ln/>
        </p:spPr>
        <p:txBody>
          <a:bodyPr wrap="square" lIns="0" tIns="0" rIns="0" bIns="0" rtlCol="0" anchor="ctr"/>
          <a:lstStyle/>
          <a:p>
            <a:pPr indent="0" marL="0">
              <a:buNone/>
            </a:pPr>
            <a:r>
              <a:rPr lang="en-US" sz="1200" b="1" dirty="0">
                <a:solidFill>
                  <a:srgbClr val="1F7A4D"/>
                </a:solidFill>
                <a:latin typeface="Meiryo" pitchFamily="34" charset="0"/>
                <a:ea typeface="Meiryo" pitchFamily="34" charset="-122"/>
                <a:cs typeface="Meiryo" pitchFamily="34" charset="-120"/>
              </a:rPr>
              <a:t>結果</a:t>
            </a:r>
            <a:endParaRPr lang="en-US" sz="1200" dirty="0"/>
          </a:p>
        </p:txBody>
      </p:sp>
      <p:sp>
        <p:nvSpPr>
          <p:cNvPr id="21" name="Text 19"/>
          <p:cNvSpPr/>
          <p:nvPr/>
        </p:nvSpPr>
        <p:spPr>
          <a:xfrm>
            <a:off x="4352544" y="2798064"/>
            <a:ext cx="7232904" cy="457200"/>
          </a:xfrm>
          <a:prstGeom prst="rect">
            <a:avLst/>
          </a:prstGeom>
          <a:noFill/>
          <a:ln/>
        </p:spPr>
        <p:txBody>
          <a:bodyPr wrap="square" lIns="0" tIns="0" rIns="0" bIns="0" rtlCol="0" anchor="t"/>
          <a:lstStyle/>
          <a:p>
            <a:pPr indent="0" marL="0">
              <a:lnSpc>
                <a:spcPct val="113000"/>
              </a:lnSpc>
              <a:buNone/>
            </a:pPr>
            <a:r>
              <a:rPr lang="en-US" sz="1000" dirty="0">
                <a:solidFill>
                  <a:srgbClr val="1C3A29"/>
                </a:solidFill>
                <a:latin typeface="Meiryo" pitchFamily="34" charset="0"/>
                <a:ea typeface="Meiryo" pitchFamily="34" charset="-122"/>
                <a:cs typeface="Meiryo" pitchFamily="34" charset="-120"/>
              </a:rPr>
              <a:t>「Sales Platform」を導入し、アプローチが届かなかった企業へのBtoBアプローチを実施した結果、アポイント取得率が大幅に向上し、直請けの大口案件窓口を次々と開拓。</a:t>
            </a:r>
            <a:endParaRPr lang="en-US" sz="1000" dirty="0"/>
          </a:p>
        </p:txBody>
      </p:sp>
      <p:sp>
        <p:nvSpPr>
          <p:cNvPr id="22" name="Shape 20"/>
          <p:cNvSpPr/>
          <p:nvPr/>
        </p:nvSpPr>
        <p:spPr>
          <a:xfrm>
            <a:off x="4114800" y="3456432"/>
            <a:ext cx="7708392" cy="1572768"/>
          </a:xfrm>
          <a:prstGeom prst="roundRect">
            <a:avLst>
              <a:gd name="adj" fmla="val 2907"/>
            </a:avLst>
          </a:prstGeom>
          <a:solidFill>
            <a:srgbClr val="EAF1FA"/>
          </a:solidFill>
          <a:ln w="12700">
            <a:solidFill>
              <a:srgbClr val="C6D8EF"/>
            </a:solidFill>
            <a:prstDash val="solid"/>
          </a:ln>
        </p:spPr>
      </p:sp>
      <p:sp>
        <p:nvSpPr>
          <p:cNvPr id="23" name="Shape 21"/>
          <p:cNvSpPr/>
          <p:nvPr/>
        </p:nvSpPr>
        <p:spPr>
          <a:xfrm>
            <a:off x="4352544" y="3602736"/>
            <a:ext cx="82296" cy="219456"/>
          </a:xfrm>
          <a:prstGeom prst="roundRect">
            <a:avLst>
              <a:gd name="adj" fmla="val 33333"/>
            </a:avLst>
          </a:prstGeom>
          <a:solidFill>
            <a:srgbClr val="2B64AB"/>
          </a:solidFill>
          <a:ln/>
        </p:spPr>
      </p:sp>
      <p:sp>
        <p:nvSpPr>
          <p:cNvPr id="24" name="Text 22"/>
          <p:cNvSpPr/>
          <p:nvPr/>
        </p:nvSpPr>
        <p:spPr>
          <a:xfrm>
            <a:off x="4535424" y="3547872"/>
            <a:ext cx="7159752" cy="292608"/>
          </a:xfrm>
          <a:prstGeom prst="rect">
            <a:avLst/>
          </a:prstGeom>
          <a:noFill/>
          <a:ln/>
        </p:spPr>
        <p:txBody>
          <a:bodyPr wrap="square" lIns="0" tIns="0" rIns="0" bIns="0" rtlCol="0" anchor="ctr"/>
          <a:lstStyle/>
          <a:p>
            <a:pPr indent="0" marL="0">
              <a:buNone/>
            </a:pPr>
            <a:r>
              <a:rPr lang="en-US" sz="1200" b="1" dirty="0">
                <a:solidFill>
                  <a:srgbClr val="2B64AB"/>
                </a:solidFill>
                <a:latin typeface="Meiryo" pitchFamily="34" charset="0"/>
                <a:ea typeface="Meiryo" pitchFamily="34" charset="-122"/>
                <a:cs typeface="Meiryo" pitchFamily="34" charset="-120"/>
              </a:rPr>
              <a:t>今回ご検討をされている企業様への活用ポイント</a:t>
            </a:r>
            <a:endParaRPr lang="en-US" sz="1200" dirty="0"/>
          </a:p>
        </p:txBody>
      </p:sp>
      <p:sp>
        <p:nvSpPr>
          <p:cNvPr id="25" name="Text 23"/>
          <p:cNvSpPr/>
          <p:nvPr/>
        </p:nvSpPr>
        <p:spPr>
          <a:xfrm>
            <a:off x="4352544" y="3858768"/>
            <a:ext cx="7232904" cy="1078992"/>
          </a:xfrm>
          <a:prstGeom prst="rect">
            <a:avLst/>
          </a:prstGeom>
          <a:noFill/>
          <a:ln/>
        </p:spPr>
        <p:txBody>
          <a:bodyPr wrap="square" lIns="0" tIns="0" rIns="0" bIns="0" rtlCol="0" anchor="t"/>
          <a:lstStyle/>
          <a:p>
            <a:pPr indent="0" marL="0">
              <a:lnSpc>
                <a:spcPct val="113000"/>
              </a:lnSpc>
              <a:buNone/>
            </a:pPr>
            <a:r>
              <a:rPr lang="en-US" sz="1000" dirty="0">
                <a:solidFill>
                  <a:srgbClr val="1C2530"/>
                </a:solidFill>
                <a:latin typeface="Meiryo" pitchFamily="34" charset="0"/>
                <a:ea typeface="Meiryo" pitchFamily="34" charset="-122"/>
                <a:cs typeface="Meiryo" pitchFamily="34" charset="-120"/>
              </a:rPr>
              <a:t>KIHALABOworks様が展開する「AIシステム開発」「Web制作」において、代理店挟みや下請けではなく、高い利益率を確保できる「企業からの直請け開発・制作案件」を営業支援ユニットで能動的かつ確実に獲得するための手本となります。</a:t>
            </a:r>
            <a:endParaRPr lang="en-US" sz="1000" dirty="0"/>
          </a:p>
        </p:txBody>
      </p:sp>
      <p:sp>
        <p:nvSpPr>
          <p:cNvPr id="26" name="Shape 24"/>
          <p:cNvSpPr/>
          <p:nvPr/>
        </p:nvSpPr>
        <p:spPr>
          <a:xfrm>
            <a:off x="4114800" y="5138928"/>
            <a:ext cx="7708392" cy="1060704"/>
          </a:xfrm>
          <a:prstGeom prst="roundRect">
            <a:avLst>
              <a:gd name="adj" fmla="val 4310"/>
            </a:avLst>
          </a:prstGeom>
          <a:solidFill>
            <a:srgbClr val="FBF4E6"/>
          </a:solidFill>
          <a:ln w="12700">
            <a:solidFill>
              <a:srgbClr val="E7D6AC"/>
            </a:solidFill>
            <a:prstDash val="solid"/>
          </a:ln>
        </p:spPr>
      </p:sp>
      <p:sp>
        <p:nvSpPr>
          <p:cNvPr id="27" name="Shape 25"/>
          <p:cNvSpPr/>
          <p:nvPr/>
        </p:nvSpPr>
        <p:spPr>
          <a:xfrm>
            <a:off x="4352544" y="5285232"/>
            <a:ext cx="82296" cy="219456"/>
          </a:xfrm>
          <a:prstGeom prst="roundRect">
            <a:avLst>
              <a:gd name="adj" fmla="val 33333"/>
            </a:avLst>
          </a:prstGeom>
          <a:solidFill>
            <a:srgbClr val="9A6B12"/>
          </a:solidFill>
          <a:ln/>
        </p:spPr>
      </p:sp>
      <p:sp>
        <p:nvSpPr>
          <p:cNvPr id="28" name="Text 26"/>
          <p:cNvSpPr/>
          <p:nvPr/>
        </p:nvSpPr>
        <p:spPr>
          <a:xfrm>
            <a:off x="4535424" y="5230368"/>
            <a:ext cx="7159752" cy="292608"/>
          </a:xfrm>
          <a:prstGeom prst="rect">
            <a:avLst/>
          </a:prstGeom>
          <a:noFill/>
          <a:ln/>
        </p:spPr>
        <p:txBody>
          <a:bodyPr wrap="square" lIns="0" tIns="0" rIns="0" bIns="0" rtlCol="0" anchor="ctr"/>
          <a:lstStyle/>
          <a:p>
            <a:pPr indent="0" marL="0">
              <a:buNone/>
            </a:pPr>
            <a:r>
              <a:rPr lang="en-US" sz="1200" b="1" dirty="0">
                <a:solidFill>
                  <a:srgbClr val="9A6B12"/>
                </a:solidFill>
                <a:latin typeface="Meiryo" pitchFamily="34" charset="0"/>
                <a:ea typeface="Meiryo" pitchFamily="34" charset="-122"/>
                <a:cs typeface="Meiryo" pitchFamily="34" charset="-120"/>
              </a:rPr>
              <a:t>導入を検討されえいる企業様へのアドバイス</a:t>
            </a:r>
            <a:endParaRPr lang="en-US" sz="1200" dirty="0"/>
          </a:p>
        </p:txBody>
      </p:sp>
      <p:sp>
        <p:nvSpPr>
          <p:cNvPr id="29" name="Text 27"/>
          <p:cNvSpPr/>
          <p:nvPr/>
        </p:nvSpPr>
        <p:spPr>
          <a:xfrm>
            <a:off x="4352544" y="5541264"/>
            <a:ext cx="7232904" cy="566928"/>
          </a:xfrm>
          <a:prstGeom prst="rect">
            <a:avLst/>
          </a:prstGeom>
          <a:noFill/>
          <a:ln/>
        </p:spPr>
        <p:txBody>
          <a:bodyPr wrap="square" lIns="0" tIns="0" rIns="0" bIns="0" rtlCol="0" anchor="t"/>
          <a:lstStyle/>
          <a:p>
            <a:pPr indent="0" marL="0">
              <a:lnSpc>
                <a:spcPct val="113000"/>
              </a:lnSpc>
              <a:buNone/>
            </a:pPr>
            <a:r>
              <a:rPr lang="en-US" sz="1000" i="1" dirty="0">
                <a:solidFill>
                  <a:srgbClr val="4A3A18"/>
                </a:solidFill>
                <a:latin typeface="Meiryo" pitchFamily="34" charset="0"/>
                <a:ea typeface="Meiryo" pitchFamily="34" charset="-122"/>
                <a:cs typeface="Meiryo" pitchFamily="34" charset="-120"/>
              </a:rPr>
              <a:t>「自社での営業活動には限界があり、専門外のコンサルに頼っても結果が出ません。アイドマさんは豊富なデータベースとアプローチ後のデータがあるため、自社の提供価値を理解してくれた確実な商談へスムーズに進めます。」</a:t>
            </a:r>
            <a:endParaRPr lang="en-US" sz="1000" dirty="0"/>
          </a:p>
        </p:txBody>
      </p:sp>
      <p:sp>
        <p:nvSpPr>
          <p:cNvPr id="30" name="Text 28"/>
          <p:cNvSpPr/>
          <p:nvPr/>
        </p:nvSpPr>
        <p:spPr>
          <a:xfrm>
            <a:off x="4114800" y="6291072"/>
            <a:ext cx="7708392" cy="219456"/>
          </a:xfrm>
          <a:prstGeom prst="rect">
            <a:avLst/>
          </a:prstGeom>
          <a:noFill/>
          <a:ln/>
        </p:spPr>
        <p:txBody>
          <a:bodyPr wrap="square" lIns="0" tIns="0" rIns="0" bIns="0" rtlCol="0" anchor="ctr"/>
          <a:lstStyle/>
          <a:p>
            <a:pPr indent="0" marL="0">
              <a:buNone/>
            </a:pPr>
            <a:r>
              <a:rPr lang="en-US" sz="950" b="1" dirty="0">
                <a:solidFill>
                  <a:srgbClr val="8593A4"/>
                </a:solidFill>
                <a:latin typeface="Meiryo" pitchFamily="34" charset="0"/>
                <a:ea typeface="Meiryo" pitchFamily="34" charset="-122"/>
                <a:cs typeface="Meiryo" pitchFamily="34" charset="-120"/>
              </a:rPr>
              <a:t>引用URL　</a:t>
            </a:r>
            <a:pPr indent="0" marL="0">
              <a:buNone/>
            </a:pPr>
            <a:r>
              <a:rPr lang="en-US" sz="950" u="sng" dirty="0">
                <a:solidFill>
                  <a:srgbClr val="2B64AB"/>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https://www.aidma-hd.jp/case/zirei-132/</a:t>
            </a:r>
            <a:endParaRPr lang="en-US" sz="950" dirty="0"/>
          </a:p>
        </p:txBody>
      </p:sp>
      <p:sp>
        <p:nvSpPr>
          <p:cNvPr id="31" name="Text 29"/>
          <p:cNvSpPr/>
          <p:nvPr/>
        </p:nvSpPr>
        <p:spPr>
          <a:xfrm>
            <a:off x="365760" y="6537960"/>
            <a:ext cx="8229600" cy="219456"/>
          </a:xfrm>
          <a:prstGeom prst="rect">
            <a:avLst/>
          </a:prstGeom>
          <a:noFill/>
          <a:ln/>
        </p:spPr>
        <p:txBody>
          <a:bodyPr wrap="square" lIns="0" tIns="0" rIns="0" bIns="0" rtlCol="0" anchor="ctr"/>
          <a:lstStyle/>
          <a:p>
            <a:pPr indent="0" marL="0">
              <a:buNone/>
            </a:pPr>
            <a:r>
              <a:rPr lang="en-US" sz="900" dirty="0">
                <a:solidFill>
                  <a:srgbClr val="9AA7B6"/>
                </a:solidFill>
                <a:latin typeface="Meiryo" pitchFamily="34" charset="0"/>
                <a:ea typeface="Meiryo" pitchFamily="34" charset="-122"/>
                <a:cs typeface="Meiryo" pitchFamily="34" charset="-120"/>
              </a:rPr>
              <a:t>KIHALABOworks株式会社様　提案引用実績5選</a:t>
            </a:r>
            <a:endParaRPr lang="en-US" sz="900" dirty="0"/>
          </a:p>
        </p:txBody>
      </p:sp>
      <p:sp>
        <p:nvSpPr>
          <p:cNvPr id="32" name="Text 30"/>
          <p:cNvSpPr/>
          <p:nvPr/>
        </p:nvSpPr>
        <p:spPr>
          <a:xfrm>
            <a:off x="10424160" y="6537960"/>
            <a:ext cx="1399032" cy="219456"/>
          </a:xfrm>
          <a:prstGeom prst="rect">
            <a:avLst/>
          </a:prstGeom>
          <a:noFill/>
          <a:ln/>
        </p:spPr>
        <p:txBody>
          <a:bodyPr wrap="square" lIns="0" tIns="0" rIns="0" bIns="0" rtlCol="0" anchor="ctr"/>
          <a:lstStyle/>
          <a:p>
            <a:pPr algn="r" indent="0" marL="0">
              <a:buNone/>
            </a:pPr>
            <a:r>
              <a:rPr lang="en-US" sz="900" dirty="0">
                <a:solidFill>
                  <a:srgbClr val="9AA7B6"/>
                </a:solidFill>
                <a:latin typeface="Meiryo" pitchFamily="34" charset="0"/>
                <a:ea typeface="Meiryo" pitchFamily="34" charset="-122"/>
                <a:cs typeface="Meiryo" pitchFamily="34" charset="-120"/>
              </a:rPr>
              <a:t>5 / 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749808"/>
          </a:xfrm>
          <a:prstGeom prst="roundRect">
            <a:avLst>
              <a:gd name="adj" fmla="val 7317"/>
            </a:avLst>
          </a:prstGeom>
          <a:solidFill>
            <a:srgbClr val="16407A"/>
          </a:solidFill>
          <a:ln/>
        </p:spPr>
      </p:sp>
      <p:sp>
        <p:nvSpPr>
          <p:cNvPr id="3" name="Text 1"/>
          <p:cNvSpPr/>
          <p:nvPr/>
        </p:nvSpPr>
        <p:spPr>
          <a:xfrm>
            <a:off x="640080" y="365760"/>
            <a:ext cx="10972800" cy="749808"/>
          </a:xfrm>
          <a:prstGeom prst="rect">
            <a:avLst/>
          </a:prstGeom>
          <a:noFill/>
          <a:ln/>
        </p:spPr>
        <p:txBody>
          <a:bodyPr wrap="square" lIns="0" tIns="0" rIns="0" bIns="0" rtlCol="0" anchor="ctr"/>
          <a:lstStyle/>
          <a:p>
            <a:pPr indent="0" marL="0">
              <a:buNone/>
            </a:pPr>
            <a:r>
              <a:rPr lang="en-US" sz="1300" b="1" dirty="0">
                <a:solidFill>
                  <a:srgbClr val="FFFFFF"/>
                </a:solidFill>
                <a:latin typeface="Meiryo" pitchFamily="34" charset="0"/>
                <a:ea typeface="Meiryo" pitchFamily="34" charset="-122"/>
                <a:cs typeface="Meiryo" pitchFamily="34" charset="-120"/>
              </a:rPr>
              <a:t>まとめ ─ AI・Web・IT開発：HP/営業不在 → 直請けAI・Web開発案件を自動獲得（Before → After）</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65760" y="1316736"/>
          <a:ext cx="11457432" cy="914400"/>
        </p:xfrm>
        <a:graphic>
          <a:graphicData uri="http://schemas.openxmlformats.org/drawingml/2006/table">
            <a:tbl>
              <a:tblPr/>
              <a:tblGrid>
                <a:gridCol w="2286000"/>
                <a:gridCol w="1828800"/>
                <a:gridCol w="2651760"/>
                <a:gridCol w="2176272"/>
                <a:gridCol w="2514600"/>
              </a:tblGrid>
              <a:tr h="365760">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企業名</a:t>
                      </a:r>
                      <a:endParaRPr lang="en-US" sz="1050" dirty="0">
                        <a:latin typeface="Meiryo" charset="0"/>
                        <a:ea typeface="Meiryo" charset="0"/>
                        <a:cs typeface="Meiryo" charset="0"/>
                      </a:endParaRPr>
                    </a:p>
                  </a:txBody>
                  <a:tcPr marL="25400" marR="254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2B64AB"/>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業種</a:t>
                      </a:r>
                      <a:endParaRPr lang="en-US" sz="1050" dirty="0">
                        <a:latin typeface="Meiryo" charset="0"/>
                        <a:ea typeface="Meiryo" charset="0"/>
                        <a:cs typeface="Meiryo" charset="0"/>
                      </a:endParaRPr>
                    </a:p>
                  </a:txBody>
                  <a:tcPr marL="25400" marR="254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2B64AB"/>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Before（課題）</a:t>
                      </a:r>
                      <a:endParaRPr lang="en-US" sz="1050" dirty="0">
                        <a:latin typeface="Meiryo" charset="0"/>
                        <a:ea typeface="Meiryo" charset="0"/>
                        <a:cs typeface="Meiryo" charset="0"/>
                      </a:endParaRPr>
                    </a:p>
                  </a:txBody>
                  <a:tcPr marL="25400" marR="254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2B64AB"/>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導入した支援</a:t>
                      </a:r>
                      <a:endParaRPr lang="en-US" sz="1050" dirty="0">
                        <a:latin typeface="Meiryo" charset="0"/>
                        <a:ea typeface="Meiryo" charset="0"/>
                        <a:cs typeface="Meiryo" charset="0"/>
                      </a:endParaRPr>
                    </a:p>
                  </a:txBody>
                  <a:tcPr marL="25400" marR="254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2B64AB"/>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After（成果）</a:t>
                      </a:r>
                      <a:endParaRPr lang="en-US" sz="1050" dirty="0">
                        <a:latin typeface="Meiryo" charset="0"/>
                        <a:ea typeface="Meiryo" charset="0"/>
                        <a:cs typeface="Meiryo" charset="0"/>
                      </a:endParaRPr>
                    </a:p>
                  </a:txBody>
                  <a:tcPr marL="25400" marR="254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2B64AB"/>
                    </a:solidFill>
                  </a:tcPr>
                </a:tc>
              </a:tr>
              <a:tr h="896112">
                <a:tc>
                  <a:txBody>
                    <a:bodyPr/>
                    <a:lstStyle/>
                    <a:p>
                      <a:pPr algn="l" indent="0" marL="0">
                        <a:buNone/>
                      </a:pPr>
                      <a:r>
                        <a:rPr lang="en-US" sz="850" b="1" dirty="0">
                          <a:solidFill>
                            <a:srgbClr val="1C2530"/>
                          </a:solidFill>
                          <a:latin typeface="Meiryo" pitchFamily="34" charset="0"/>
                          <a:ea typeface="Meiryo" pitchFamily="34" charset="-122"/>
                          <a:cs typeface="Meiryo" pitchFamily="34" charset="-120"/>
                        </a:rPr>
                        <a:t>株式会社A-forza</a:t>
                      </a:r>
                      <a:endParaRPr lang="en-US" sz="850" dirty="0">
                        <a:latin typeface="Meiryo" charset="0"/>
                        <a:ea typeface="Meiryo" charset="0"/>
                        <a:cs typeface="Meiryo" charset="0"/>
                      </a:endParaRPr>
                    </a:p>
                    <a:p>
                      <a:pPr algn="l" indent="0" marL="0">
                        <a:buNone/>
                      </a:pPr>
                      <a:r>
                        <a:rPr lang="en-US" sz="850" b="1" dirty="0">
                          <a:solidFill>
                            <a:srgbClr val="1C2530"/>
                          </a:solidFill>
                          <a:latin typeface="Meiryo" pitchFamily="34" charset="0"/>
                          <a:ea typeface="Meiryo" pitchFamily="34" charset="-122"/>
                          <a:cs typeface="Meiryo" pitchFamily="34" charset="-120"/>
                        </a:rPr>
                        <a:t>様</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6407A"/>
                          </a:solidFill>
                          <a:latin typeface="Meiryo" pitchFamily="34" charset="0"/>
                          <a:ea typeface="Meiryo" pitchFamily="34" charset="-122"/>
                          <a:cs typeface="Meiryo" pitchFamily="34" charset="-120"/>
                        </a:rPr>
                        <a:t>AI導入支援・AI教育コンサル</a:t>
                      </a:r>
                      <a:endParaRPr lang="en-US" sz="850" dirty="0">
                        <a:latin typeface="Meiryo" charset="0"/>
                        <a:ea typeface="Meiryo" charset="0"/>
                        <a:cs typeface="Meiryo" charset="0"/>
                      </a:endParaRPr>
                    </a:p>
                  </a:txBody>
                  <a:tcPr marL="38100" marR="381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45566A"/>
                          </a:solidFill>
                          <a:latin typeface="Meiryo" pitchFamily="34" charset="0"/>
                          <a:ea typeface="Meiryo" pitchFamily="34" charset="-122"/>
                          <a:cs typeface="Meiryo" pitchFamily="34" charset="-120"/>
                        </a:rPr>
                        <a:t>AI導入・開発事業を広げたいが人的リソースが限定的／営業アプローチが停滞</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3A2F5C"/>
                          </a:solidFill>
                          <a:latin typeface="Meiryo" pitchFamily="34" charset="0"/>
                          <a:ea typeface="Meiryo" pitchFamily="34" charset="-122"/>
                          <a:cs typeface="Meiryo" pitchFamily="34" charset="-120"/>
                        </a:rPr>
                        <a:t>Sales Platform（アプローチを自動化）</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1C3A29"/>
                          </a:solidFill>
                          <a:latin typeface="Meiryo" pitchFamily="34" charset="0"/>
                          <a:ea typeface="Meiryo" pitchFamily="34" charset="-122"/>
                          <a:cs typeface="Meiryo" pitchFamily="34" charset="-120"/>
                        </a:rPr>
                        <a:t>初月からオンライン商談を獲得、行政・医療・製造等の多業種へAI接点を創出</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r>
              <a:tr h="896112">
                <a:tc>
                  <a:txBody>
                    <a:bodyPr/>
                    <a:lstStyle/>
                    <a:p>
                      <a:pPr algn="l" indent="0" marL="0">
                        <a:buNone/>
                      </a:pPr>
                      <a:r>
                        <a:rPr lang="en-US" sz="850" b="1" dirty="0">
                          <a:solidFill>
                            <a:srgbClr val="1C2530"/>
                          </a:solidFill>
                          <a:latin typeface="Meiryo" pitchFamily="34" charset="0"/>
                          <a:ea typeface="Meiryo" pitchFamily="34" charset="-122"/>
                          <a:cs typeface="Meiryo" pitchFamily="34" charset="-120"/>
                        </a:rPr>
                        <a:t>株式会社ELU</a:t>
                      </a:r>
                      <a:endParaRPr lang="en-US" sz="850" dirty="0">
                        <a:latin typeface="Meiryo" charset="0"/>
                        <a:ea typeface="Meiryo" charset="0"/>
                        <a:cs typeface="Meiryo" charset="0"/>
                      </a:endParaRPr>
                    </a:p>
                    <a:p>
                      <a:pPr algn="l" indent="0" marL="0">
                        <a:buNone/>
                      </a:pPr>
                      <a:r>
                        <a:rPr lang="en-US" sz="850" b="1" dirty="0">
                          <a:solidFill>
                            <a:srgbClr val="1C2530"/>
                          </a:solidFill>
                          <a:latin typeface="Meiryo" pitchFamily="34" charset="0"/>
                          <a:ea typeface="Meiryo" pitchFamily="34" charset="-122"/>
                          <a:cs typeface="Meiryo" pitchFamily="34" charset="-120"/>
                        </a:rPr>
                        <a:t>様</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ctr" indent="0" marL="0">
                        <a:buNone/>
                      </a:pPr>
                      <a:r>
                        <a:rPr lang="en-US" sz="850" b="1" dirty="0">
                          <a:solidFill>
                            <a:srgbClr val="16407A"/>
                          </a:solidFill>
                          <a:latin typeface="Meiryo" pitchFamily="34" charset="0"/>
                          <a:ea typeface="Meiryo" pitchFamily="34" charset="-122"/>
                          <a:cs typeface="Meiryo" pitchFamily="34" charset="-120"/>
                        </a:rPr>
                        <a:t>HP制作・Webシステム開発</a:t>
                      </a:r>
                      <a:endParaRPr lang="en-US" sz="850" dirty="0">
                        <a:latin typeface="Meiryo" charset="0"/>
                        <a:ea typeface="Meiryo" charset="0"/>
                        <a:cs typeface="Meiryo" charset="0"/>
                      </a:endParaRPr>
                    </a:p>
                  </a:txBody>
                  <a:tcPr marL="38100" marR="381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45566A"/>
                          </a:solidFill>
                          <a:latin typeface="Meiryo" pitchFamily="34" charset="0"/>
                          <a:ea typeface="Meiryo" pitchFamily="34" charset="-122"/>
                          <a:cs typeface="Meiryo" pitchFamily="34" charset="-120"/>
                        </a:rPr>
                        <a:t>社長一人の人脈・紹介頼みで新規開拓の仕組みなし／売上が伸び悩み</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3A2F5C"/>
                          </a:solidFill>
                          <a:latin typeface="Meiryo" pitchFamily="34" charset="0"/>
                          <a:ea typeface="Meiryo" pitchFamily="34" charset="-122"/>
                          <a:cs typeface="Meiryo" pitchFamily="34" charset="-120"/>
                        </a:rPr>
                        <a:t>Sales Platform（初期アプローチを完全委託・自動化）</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1C3A29"/>
                          </a:solidFill>
                          <a:latin typeface="Meiryo" pitchFamily="34" charset="0"/>
                          <a:ea typeface="Meiryo" pitchFamily="34" charset="-122"/>
                          <a:cs typeface="Meiryo" pitchFamily="34" charset="-120"/>
                        </a:rPr>
                        <a:t>5ヵ月でアポ33件（26件商談化）、成約率約30%で大型受注5件を獲得</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r>
              <a:tr h="896112">
                <a:tc>
                  <a:txBody>
                    <a:bodyPr/>
                    <a:lstStyle/>
                    <a:p>
                      <a:pPr algn="l" indent="0" marL="0">
                        <a:buNone/>
                      </a:pPr>
                      <a:r>
                        <a:rPr lang="en-US" sz="850" b="1" dirty="0">
                          <a:solidFill>
                            <a:srgbClr val="1C2530"/>
                          </a:solidFill>
                          <a:latin typeface="Meiryo" pitchFamily="34" charset="0"/>
                          <a:ea typeface="Meiryo" pitchFamily="34" charset="-122"/>
                          <a:cs typeface="Meiryo" pitchFamily="34" charset="-120"/>
                        </a:rPr>
                        <a:t>雲楼システムパートナーズ</a:t>
                      </a:r>
                      <a:endParaRPr lang="en-US" sz="850" dirty="0">
                        <a:latin typeface="Meiryo" charset="0"/>
                        <a:ea typeface="Meiryo" charset="0"/>
                        <a:cs typeface="Meiryo" charset="0"/>
                      </a:endParaRPr>
                    </a:p>
                    <a:p>
                      <a:pPr algn="l" indent="0" marL="0">
                        <a:buNone/>
                      </a:pPr>
                      <a:r>
                        <a:rPr lang="en-US" sz="850" b="1" dirty="0">
                          <a:solidFill>
                            <a:srgbClr val="1C2530"/>
                          </a:solidFill>
                          <a:latin typeface="Meiryo" pitchFamily="34" charset="0"/>
                          <a:ea typeface="Meiryo" pitchFamily="34" charset="-122"/>
                          <a:cs typeface="Meiryo" pitchFamily="34" charset="-120"/>
                        </a:rPr>
                        <a:t>様</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6407A"/>
                          </a:solidFill>
                          <a:latin typeface="Meiryo" pitchFamily="34" charset="0"/>
                          <a:ea typeface="Meiryo" pitchFamily="34" charset="-122"/>
                          <a:cs typeface="Meiryo" pitchFamily="34" charset="-120"/>
                        </a:rPr>
                        <a:t>生成AI・業務システム構築／AI研修</a:t>
                      </a:r>
                      <a:endParaRPr lang="en-US" sz="850" dirty="0">
                        <a:latin typeface="Meiryo" charset="0"/>
                        <a:ea typeface="Meiryo" charset="0"/>
                        <a:cs typeface="Meiryo" charset="0"/>
                      </a:endParaRPr>
                    </a:p>
                  </a:txBody>
                  <a:tcPr marL="38100" marR="381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45566A"/>
                          </a:solidFill>
                          <a:latin typeface="Meiryo" pitchFamily="34" charset="0"/>
                          <a:ea typeface="Meiryo" pitchFamily="34" charset="-122"/>
                          <a:cs typeface="Meiryo" pitchFamily="34" charset="-120"/>
                        </a:rPr>
                        <a:t>創業1人体制・自社HPや営業ノウハウなし／AI開発の価値伝達と新規獲得が壁</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3A2F5C"/>
                          </a:solidFill>
                          <a:latin typeface="Meiryo" pitchFamily="34" charset="0"/>
                          <a:ea typeface="Meiryo" pitchFamily="34" charset="-122"/>
                          <a:cs typeface="Meiryo" pitchFamily="34" charset="-120"/>
                        </a:rPr>
                        <a:t>Sales Platform・セールスユニット（技術をコンテンツ化し営業連携）</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1C3A29"/>
                          </a:solidFill>
                          <a:latin typeface="Meiryo" pitchFamily="34" charset="0"/>
                          <a:ea typeface="Meiryo" pitchFamily="34" charset="-122"/>
                          <a:cs typeface="Meiryo" pitchFamily="34" charset="-120"/>
                        </a:rPr>
                        <a:t>創業期の信頼を構築、自社の稼働をかけずにAI開発案件を獲得する営業基盤を確立</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r>
              <a:tr h="896112">
                <a:tc>
                  <a:txBody>
                    <a:bodyPr/>
                    <a:lstStyle/>
                    <a:p>
                      <a:pPr algn="l" indent="0" marL="0">
                        <a:buNone/>
                      </a:pPr>
                      <a:r>
                        <a:rPr lang="en-US" sz="850" b="1" dirty="0">
                          <a:solidFill>
                            <a:srgbClr val="1C2530"/>
                          </a:solidFill>
                          <a:latin typeface="Meiryo" pitchFamily="34" charset="0"/>
                          <a:ea typeface="Meiryo" pitchFamily="34" charset="-122"/>
                          <a:cs typeface="Meiryo" pitchFamily="34" charset="-120"/>
                        </a:rPr>
                        <a:t>株式会社ワンビッツ</a:t>
                      </a:r>
                      <a:endParaRPr lang="en-US" sz="850" dirty="0">
                        <a:latin typeface="Meiryo" charset="0"/>
                        <a:ea typeface="Meiryo" charset="0"/>
                        <a:cs typeface="Meiryo" charset="0"/>
                      </a:endParaRPr>
                    </a:p>
                    <a:p>
                      <a:pPr algn="l" indent="0" marL="0">
                        <a:buNone/>
                      </a:pPr>
                      <a:r>
                        <a:rPr lang="en-US" sz="850" b="1" dirty="0">
                          <a:solidFill>
                            <a:srgbClr val="1C2530"/>
                          </a:solidFill>
                          <a:latin typeface="Meiryo" pitchFamily="34" charset="0"/>
                          <a:ea typeface="Meiryo" pitchFamily="34" charset="-122"/>
                          <a:cs typeface="Meiryo" pitchFamily="34" charset="-120"/>
                        </a:rPr>
                        <a:t>様</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ctr" indent="0" marL="0">
                        <a:buNone/>
                      </a:pPr>
                      <a:r>
                        <a:rPr lang="en-US" sz="850" b="1" dirty="0">
                          <a:solidFill>
                            <a:srgbClr val="16407A"/>
                          </a:solidFill>
                          <a:latin typeface="Meiryo" pitchFamily="34" charset="0"/>
                          <a:ea typeface="Meiryo" pitchFamily="34" charset="-122"/>
                          <a:cs typeface="Meiryo" pitchFamily="34" charset="-120"/>
                        </a:rPr>
                        <a:t>AI活用支援・システム受託開発／DX</a:t>
                      </a:r>
                      <a:endParaRPr lang="en-US" sz="850" dirty="0">
                        <a:latin typeface="Meiryo" charset="0"/>
                        <a:ea typeface="Meiryo" charset="0"/>
                        <a:cs typeface="Meiryo" charset="0"/>
                      </a:endParaRPr>
                    </a:p>
                  </a:txBody>
                  <a:tcPr marL="38100" marR="381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45566A"/>
                          </a:solidFill>
                          <a:latin typeface="Meiryo" pitchFamily="34" charset="0"/>
                          <a:ea typeface="Meiryo" pitchFamily="34" charset="-122"/>
                          <a:cs typeface="Meiryo" pitchFamily="34" charset="-120"/>
                        </a:rPr>
                        <a:t>AI・システム開発力はあるがHP・プッシュ型開拓ノウハウなし／BtoB案件獲得に課題</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3A2F5C"/>
                          </a:solidFill>
                          <a:latin typeface="Meiryo" pitchFamily="34" charset="0"/>
                          <a:ea typeface="Meiryo" pitchFamily="34" charset="-122"/>
                          <a:cs typeface="Meiryo" pitchFamily="34" charset="-120"/>
                        </a:rPr>
                        <a:t>セールスユニット（アプローチ前半を委託し分業体制を構築）</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1C3A29"/>
                          </a:solidFill>
                          <a:latin typeface="Meiryo" pitchFamily="34" charset="0"/>
                          <a:ea typeface="Meiryo" pitchFamily="34" charset="-122"/>
                          <a:cs typeface="Meiryo" pitchFamily="34" charset="-120"/>
                        </a:rPr>
                        <a:t>月間約10件の高品質商談を獲得、開発に専念しつつ事業戦略・価格設定を整理</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r>
              <a:tr h="896112">
                <a:tc>
                  <a:txBody>
                    <a:bodyPr/>
                    <a:lstStyle/>
                    <a:p>
                      <a:pPr algn="l" indent="0" marL="0">
                        <a:buNone/>
                      </a:pPr>
                      <a:r>
                        <a:rPr lang="en-US" sz="850" b="1" dirty="0">
                          <a:solidFill>
                            <a:srgbClr val="1C2530"/>
                          </a:solidFill>
                          <a:latin typeface="Meiryo" pitchFamily="34" charset="0"/>
                          <a:ea typeface="Meiryo" pitchFamily="34" charset="-122"/>
                          <a:cs typeface="Meiryo" pitchFamily="34" charset="-120"/>
                        </a:rPr>
                        <a:t>株式会社ゼファクト</a:t>
                      </a:r>
                      <a:endParaRPr lang="en-US" sz="850" dirty="0">
                        <a:latin typeface="Meiryo" charset="0"/>
                        <a:ea typeface="Meiryo" charset="0"/>
                        <a:cs typeface="Meiryo" charset="0"/>
                      </a:endParaRPr>
                    </a:p>
                    <a:p>
                      <a:pPr algn="l" indent="0" marL="0">
                        <a:buNone/>
                      </a:pPr>
                      <a:r>
                        <a:rPr lang="en-US" sz="850" b="1" dirty="0">
                          <a:solidFill>
                            <a:srgbClr val="1C2530"/>
                          </a:solidFill>
                          <a:latin typeface="Meiryo" pitchFamily="34" charset="0"/>
                          <a:ea typeface="Meiryo" pitchFamily="34" charset="-122"/>
                          <a:cs typeface="Meiryo" pitchFamily="34" charset="-120"/>
                        </a:rPr>
                        <a:t>様</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6407A"/>
                          </a:solidFill>
                          <a:latin typeface="Meiryo" pitchFamily="34" charset="0"/>
                          <a:ea typeface="Meiryo" pitchFamily="34" charset="-122"/>
                          <a:cs typeface="Meiryo" pitchFamily="34" charset="-120"/>
                        </a:rPr>
                        <a:t>Web制作・業務システム受託開発／SES</a:t>
                      </a:r>
                      <a:endParaRPr lang="en-US" sz="850" dirty="0">
                        <a:latin typeface="Meiryo" charset="0"/>
                        <a:ea typeface="Meiryo" charset="0"/>
                        <a:cs typeface="Meiryo" charset="0"/>
                      </a:endParaRPr>
                    </a:p>
                  </a:txBody>
                  <a:tcPr marL="38100" marR="381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45566A"/>
                          </a:solidFill>
                          <a:latin typeface="Meiryo" pitchFamily="34" charset="0"/>
                          <a:ea typeface="Meiryo" pitchFamily="34" charset="-122"/>
                          <a:cs typeface="Meiryo" pitchFamily="34" charset="-120"/>
                        </a:rPr>
                        <a:t>開発技術はあるが営業担当が少ない／直請け・高単価なWeb・システム開発案件を獲得できず</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3A2F5C"/>
                          </a:solidFill>
                          <a:latin typeface="Meiryo" pitchFamily="34" charset="0"/>
                          <a:ea typeface="Meiryo" pitchFamily="34" charset="-122"/>
                          <a:cs typeface="Meiryo" pitchFamily="34" charset="-120"/>
                        </a:rPr>
                        <a:t>Sales Platform（決裁部門に絞り込みBtoBアプローチ）</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1C3A29"/>
                          </a:solidFill>
                          <a:latin typeface="Meiryo" pitchFamily="34" charset="0"/>
                          <a:ea typeface="Meiryo" pitchFamily="34" charset="-122"/>
                          <a:cs typeface="Meiryo" pitchFamily="34" charset="-120"/>
                        </a:rPr>
                        <a:t>アポイント取得率が大幅向上、直請けの大口案件窓口を次々開拓</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r>
            </a:tbl>
          </a:graphicData>
        </a:graphic>
      </p:graphicFrame>
      <p:sp>
        <p:nvSpPr>
          <p:cNvPr id="5" name="Shape 2"/>
          <p:cNvSpPr/>
          <p:nvPr/>
        </p:nvSpPr>
        <p:spPr>
          <a:xfrm>
            <a:off x="365760" y="6089904"/>
            <a:ext cx="11457432" cy="548640"/>
          </a:xfrm>
          <a:prstGeom prst="roundRect">
            <a:avLst>
              <a:gd name="adj" fmla="val 8333"/>
            </a:avLst>
          </a:prstGeom>
          <a:solidFill>
            <a:srgbClr val="EAF1FA"/>
          </a:solidFill>
          <a:ln w="12700">
            <a:solidFill>
              <a:srgbClr val="C6D8EF"/>
            </a:solidFill>
            <a:prstDash val="solid"/>
          </a:ln>
        </p:spPr>
      </p:sp>
      <p:sp>
        <p:nvSpPr>
          <p:cNvPr id="6" name="Text 3"/>
          <p:cNvSpPr/>
          <p:nvPr/>
        </p:nvSpPr>
        <p:spPr>
          <a:xfrm>
            <a:off x="566928" y="6089904"/>
            <a:ext cx="11064240" cy="548640"/>
          </a:xfrm>
          <a:prstGeom prst="rect">
            <a:avLst/>
          </a:prstGeom>
          <a:noFill/>
          <a:ln/>
        </p:spPr>
        <p:txBody>
          <a:bodyPr wrap="square" lIns="0" tIns="0" rIns="0" bIns="0" rtlCol="0" anchor="ctr"/>
          <a:lstStyle/>
          <a:p>
            <a:pPr indent="0" marL="0">
              <a:buNone/>
            </a:pPr>
            <a:r>
              <a:rPr lang="en-US" sz="1050" b="1" dirty="0">
                <a:solidFill>
                  <a:srgbClr val="16407A"/>
                </a:solidFill>
                <a:latin typeface="Meiryo" pitchFamily="34" charset="0"/>
                <a:ea typeface="Meiryo" pitchFamily="34" charset="-122"/>
                <a:cs typeface="Meiryo" pitchFamily="34" charset="-120"/>
              </a:rPr>
              <a:t>HPや営業専任が不在で開発実務に手一杯でも、自社の稼働を消費せずに営業支援ユニットでAIシステム開発・Web制作の直請け・高単価なBtoB案件を能動的に獲得できることを示す、AI・Web・IT開発業界の実績です。</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2026-10-09T10:51:42Z</dcterms:created>
  <dcterms:modified xsi:type="dcterms:W3CDTF">2026-10-09T10:51:42Z</dcterms:modified>
</cp:coreProperties>
</file>