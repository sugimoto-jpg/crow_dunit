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idma-hd.jp/case/zirei-118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idma-hd.jp/case/zirei-524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idma-hd.jp/case/zirei-456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idma-hd.jp/case/zirei-425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idma-hd.jp/case/zirei-513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F5C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2011680"/>
            <a:ext cx="5029200" cy="50292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595360" y="4023360"/>
            <a:ext cx="3840480" cy="384048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887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CASE STUDIES ─ 営業支援ユニット × 解体・建設・施工／元請け直案件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627632"/>
            <a:ext cx="10789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藤井工業様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提案引用実績 5選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10149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DDE8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藤井工業様（解体工事／課題：下請け構造からの脱却・自社で価格をコントロールできる元請け直接受注の獲得、繁忙期の自社職人不足、HPなし）と同じ解体・建設・施工業界で、「下請け脱却と元請け直案件の獲得」「職人が現場に集中できる営業自動化」「施工パートナー・協力会社ネットワークの開拓」を解決した実績を5件厳選しました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5074920"/>
            <a:ext cx="10515600" cy="0"/>
          </a:xfrm>
          <a:prstGeom prst="line">
            <a:avLst/>
          </a:prstGeom>
          <a:noFill/>
          <a:ln w="12700">
            <a:solidFill>
              <a:srgbClr val="3A5A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3036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提案の狙い　</a:t>
            </a:r>
            <a:pPr indent="0" marL="0">
              <a:buNone/>
            </a:pPr>
            <a:r>
              <a:rPr lang="en-US" sz="1000" dirty="0">
                <a:solidFill>
                  <a:srgbClr val="C9D8E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下請け脱却と価格をコントロールできる元請け直案件の獲得／職人が現場に専念できる営業自動化／繁忙期の協力会社・応援職人ネットワーク開拓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557784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提供サービス　</a:t>
            </a:r>
            <a:pPr indent="0" marL="0">
              <a:buNone/>
            </a:pPr>
            <a:r>
              <a:rPr lang="en-US" sz="1100" dirty="0">
                <a:solidFill>
                  <a:srgbClr val="C9D8E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営業支援ユニット（Sales Platform・セールスユニット・秘書ユニット連携）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607161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9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株式会社アイドマ・ホールディングス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1457432" cy="932688"/>
          </a:xfrm>
          <a:prstGeom prst="roundRect">
            <a:avLst>
              <a:gd name="adj" fmla="val 5882"/>
            </a:avLst>
          </a:prstGeom>
          <a:solidFill>
            <a:srgbClr val="16407A"/>
          </a:solidFill>
          <a:ln/>
          <a:effectLst>
            <a:outerShdw sx="100000" sy="100000" kx="0" ky="0" algn="bl" rotWithShape="0" blurRad="76200" dist="25400" dir="5400000">
              <a:srgbClr val="0F2F5C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66928" y="566928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5669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80160" y="420624"/>
            <a:ext cx="10378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下請け・反響営業の限界を突破。価格決定権を持つ大型直案件を受注し利益率が飛躍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3566160" cy="5029200"/>
          </a:xfrm>
          <a:prstGeom prst="roundRect">
            <a:avLst>
              <a:gd name="adj" fmla="val 1282"/>
            </a:avLst>
          </a:prstGeom>
          <a:solidFill>
            <a:srgbClr val="EAF1FA"/>
          </a:solidFill>
          <a:ln w="12700">
            <a:solidFill>
              <a:srgbClr val="D2D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664208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C25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八木塗装株式会社　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85216" y="2615184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64A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事業内容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85216" y="2834640"/>
            <a:ext cx="31272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4556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外壁塗装、各種建築塗装工事、解体・大規模改修施工。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85216" y="3931920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64A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解決した課題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85216" y="4206240"/>
            <a:ext cx="2615692" cy="274320"/>
          </a:xfrm>
          <a:prstGeom prst="roundRect">
            <a:avLst>
              <a:gd name="adj" fmla="val 50000"/>
            </a:avLst>
          </a:prstGeom>
          <a:solidFill>
            <a:srgbClr val="DCE8F6"/>
          </a:solidFill>
          <a:ln w="9525">
            <a:solidFill>
              <a:srgbClr val="BFD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4206240"/>
            <a:ext cx="2615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548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下請け構造・反響営業・紹介だけに依存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85216" y="4553712"/>
            <a:ext cx="4049014" cy="274320"/>
          </a:xfrm>
          <a:prstGeom prst="roundRect">
            <a:avLst>
              <a:gd name="adj" fmla="val 50000"/>
            </a:avLst>
          </a:prstGeom>
          <a:solidFill>
            <a:srgbClr val="DCE8F6"/>
          </a:solidFill>
          <a:ln w="9525">
            <a:solidFill>
              <a:srgbClr val="BFD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4553712"/>
            <a:ext cx="4049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548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価格・案件をコントロールできる元請け直案件の営業体制がなし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0" y="1417320"/>
            <a:ext cx="82296" cy="219456"/>
          </a:xfrm>
          <a:prstGeom prst="roundRect">
            <a:avLst>
              <a:gd name="adj" fmla="val 33333"/>
            </a:avLst>
          </a:prstGeom>
          <a:solidFill>
            <a:srgbClr val="2B64AB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0" y="135331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64A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事例の概要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114800" y="1682496"/>
            <a:ext cx="77083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4556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職人主体の組織において、下請け仕事中心の価格競争から脱却するため導入。営業支援ユニットを通じて、建物を所有・管理する法人や不動産・建築会社へダイレクトアプローチを実施。営業マンを直接採用・育成することなく、高利益率な直接受注ルートを確立した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0" y="2395728"/>
            <a:ext cx="7708392" cy="950976"/>
          </a:xfrm>
          <a:prstGeom prst="roundRect">
            <a:avLst>
              <a:gd name="adj" fmla="val 4808"/>
            </a:avLst>
          </a:prstGeom>
          <a:solidFill>
            <a:srgbClr val="E9F4EE"/>
          </a:solidFill>
          <a:ln w="12700">
            <a:solidFill>
              <a:srgbClr val="BADFC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52544" y="2542032"/>
            <a:ext cx="82296" cy="219456"/>
          </a:xfrm>
          <a:prstGeom prst="roundRect">
            <a:avLst>
              <a:gd name="adj" fmla="val 33333"/>
            </a:avLst>
          </a:prstGeom>
          <a:solidFill>
            <a:srgbClr val="1F7A4D"/>
          </a:solidFill>
          <a:ln/>
        </p:spPr>
      </p:sp>
      <p:sp>
        <p:nvSpPr>
          <p:cNvPr id="20" name="Text 18"/>
          <p:cNvSpPr/>
          <p:nvPr/>
        </p:nvSpPr>
        <p:spPr>
          <a:xfrm>
            <a:off x="4535424" y="2487168"/>
            <a:ext cx="7159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52544" y="2798064"/>
            <a:ext cx="7232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1C3A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営業支援ユニット（Sales Platform）を活用した能動的なBtoB開拓により、下請け脱却・反響営業の限界を突破。自社で価格決定権を持つ大型案件・直案件の受注に成功し、職人の労働環境改善と売上・利益率の飛躍的向上を達成した。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0" y="3456432"/>
            <a:ext cx="7708392" cy="1572768"/>
          </a:xfrm>
          <a:prstGeom prst="roundRect">
            <a:avLst>
              <a:gd name="adj" fmla="val 2907"/>
            </a:avLst>
          </a:prstGeom>
          <a:solidFill>
            <a:srgbClr val="EAF1FA"/>
          </a:solidFill>
          <a:ln w="12700">
            <a:solidFill>
              <a:srgbClr val="C6D8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52544" y="3602736"/>
            <a:ext cx="82296" cy="219456"/>
          </a:xfrm>
          <a:prstGeom prst="roundRect">
            <a:avLst>
              <a:gd name="adj" fmla="val 33333"/>
            </a:avLst>
          </a:prstGeom>
          <a:solidFill>
            <a:srgbClr val="2B64AB"/>
          </a:solidFill>
          <a:ln/>
        </p:spPr>
      </p:sp>
      <p:sp>
        <p:nvSpPr>
          <p:cNvPr id="24" name="Text 22"/>
          <p:cNvSpPr/>
          <p:nvPr/>
        </p:nvSpPr>
        <p:spPr>
          <a:xfrm>
            <a:off x="4535424" y="3547872"/>
            <a:ext cx="7159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64A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今回ご検討をされている企業様への活用ポイント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52544" y="3858768"/>
            <a:ext cx="723290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1C25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藤井工業様が最も解決したい「下請け構造から脱却し、元請け直接受注で案件と施工価格を自社でコントロールする」ための最高のモデルです。自社HPがない状態であっても、営業支援ユニットを通じて不動産管理会社、ハウスメーカー、建設会社、解体ニーズを持つ法人へ直接打診し、適正価格での直接請け案件を獲得できます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0" y="5138928"/>
            <a:ext cx="7708392" cy="1060704"/>
          </a:xfrm>
          <a:prstGeom prst="roundRect">
            <a:avLst>
              <a:gd name="adj" fmla="val 4310"/>
            </a:avLst>
          </a:prstGeom>
          <a:solidFill>
            <a:srgbClr val="FBF4E6"/>
          </a:solidFill>
          <a:ln w="12700">
            <a:solidFill>
              <a:srgbClr val="E7D6A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52544" y="5285232"/>
            <a:ext cx="82296" cy="219456"/>
          </a:xfrm>
          <a:prstGeom prst="roundRect">
            <a:avLst>
              <a:gd name="adj" fmla="val 33333"/>
            </a:avLst>
          </a:prstGeom>
          <a:solidFill>
            <a:srgbClr val="9A6B12"/>
          </a:solidFill>
          <a:ln/>
        </p:spPr>
      </p:sp>
      <p:sp>
        <p:nvSpPr>
          <p:cNvPr id="28" name="Text 26"/>
          <p:cNvSpPr/>
          <p:nvPr/>
        </p:nvSpPr>
        <p:spPr>
          <a:xfrm>
            <a:off x="4535424" y="5230368"/>
            <a:ext cx="7159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導入を検討されえいる企業様へのアドバイス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352544" y="5541264"/>
            <a:ext cx="7232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000" i="1" dirty="0">
                <a:solidFill>
                  <a:srgbClr val="4A3A1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下請け依存や既存の反響営業だけに頼っていては、価格決定権を持てず成長に限界が来ます。プロの営業仕組みを活用して能動的に元請け・直接取引を開拓することが、自社の職人を守り事業を大きく伸ばす最大のポイントです。」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0" y="6291072"/>
            <a:ext cx="7708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593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引用URL　</a:t>
            </a:r>
            <a:pPr indent="0" marL="0">
              <a:buNone/>
            </a:pPr>
            <a:r>
              <a:rPr lang="en-US" sz="950" u="sng" dirty="0">
                <a:solidFill>
                  <a:srgbClr val="2B64AB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https://www.aidma-hd.jp/case/zirei-118/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65760" y="65379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藤井工業様　提案引用実績5選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424160" y="6537960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1457432" cy="932688"/>
          </a:xfrm>
          <a:prstGeom prst="roundRect">
            <a:avLst>
              <a:gd name="adj" fmla="val 5882"/>
            </a:avLst>
          </a:prstGeom>
          <a:solidFill>
            <a:srgbClr val="16407A"/>
          </a:solidFill>
          <a:ln/>
          <a:effectLst>
            <a:outerShdw sx="100000" sy="100000" kx="0" ky="0" algn="bl" rotWithShape="0" blurRad="76200" dist="25400" dir="5400000">
              <a:srgbClr val="0F2F5C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66928" y="566928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5669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80160" y="420624"/>
            <a:ext cx="10378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営業専任ゼロの現場主義でも下請け・紹介頼みから完全脱却。自走型の直請け営業体制を構築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3566160" cy="5029200"/>
          </a:xfrm>
          <a:prstGeom prst="roundRect">
            <a:avLst>
              <a:gd name="adj" fmla="val 1282"/>
            </a:avLst>
          </a:prstGeom>
          <a:solidFill>
            <a:srgbClr val="EAF1FA"/>
          </a:solidFill>
          <a:ln w="12700">
            <a:solidFill>
              <a:srgbClr val="D2D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664208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C25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ミヤサト塗装　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85216" y="2615184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64A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事業内容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85216" y="2834640"/>
            <a:ext cx="31272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4556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外壁塗装、屋根・解体・防水工事、外部リフォーム全般。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85216" y="3931920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64A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解決した課題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85216" y="4206240"/>
            <a:ext cx="3006598" cy="274320"/>
          </a:xfrm>
          <a:prstGeom prst="roundRect">
            <a:avLst>
              <a:gd name="adj" fmla="val 50000"/>
            </a:avLst>
          </a:prstGeom>
          <a:solidFill>
            <a:srgbClr val="DCE8F6"/>
          </a:solidFill>
          <a:ln w="9525">
            <a:solidFill>
              <a:srgbClr val="BFD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4206240"/>
            <a:ext cx="3006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548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職人出身代表・少人数体制で営業リソースなし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85216" y="4553712"/>
            <a:ext cx="3397504" cy="274320"/>
          </a:xfrm>
          <a:prstGeom prst="roundRect">
            <a:avLst>
              <a:gd name="adj" fmla="val 50000"/>
            </a:avLst>
          </a:prstGeom>
          <a:solidFill>
            <a:srgbClr val="DCE8F6"/>
          </a:solidFill>
          <a:ln w="9525">
            <a:solidFill>
              <a:srgbClr val="BFD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4553712"/>
            <a:ext cx="3397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548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下請け・紹介頼みで能動的な新規開拓の仕組みが皆無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0" y="1417320"/>
            <a:ext cx="82296" cy="219456"/>
          </a:xfrm>
          <a:prstGeom prst="roundRect">
            <a:avLst>
              <a:gd name="adj" fmla="val 33333"/>
            </a:avLst>
          </a:prstGeom>
          <a:solidFill>
            <a:srgbClr val="2B64AB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0" y="135331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64A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事例の概要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114800" y="1682496"/>
            <a:ext cx="77083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4556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施工に追われる少人数の施工業者。新規開拓を自動化するため導入。初期アプローチから商談設定までを営業支援ユニットと専門チームへ任せることで、職人が現場仕事に100%集中できる環境を維持したまま直請け商談を安定創出した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0" y="2395728"/>
            <a:ext cx="7708392" cy="950976"/>
          </a:xfrm>
          <a:prstGeom prst="roundRect">
            <a:avLst>
              <a:gd name="adj" fmla="val 4808"/>
            </a:avLst>
          </a:prstGeom>
          <a:solidFill>
            <a:srgbClr val="E9F4EE"/>
          </a:solidFill>
          <a:ln w="12700">
            <a:solidFill>
              <a:srgbClr val="BADFC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52544" y="2542032"/>
            <a:ext cx="82296" cy="219456"/>
          </a:xfrm>
          <a:prstGeom prst="roundRect">
            <a:avLst>
              <a:gd name="adj" fmla="val 33333"/>
            </a:avLst>
          </a:prstGeom>
          <a:solidFill>
            <a:srgbClr val="1F7A4D"/>
          </a:solidFill>
          <a:ln/>
        </p:spPr>
      </p:sp>
      <p:sp>
        <p:nvSpPr>
          <p:cNvPr id="20" name="Text 18"/>
          <p:cNvSpPr/>
          <p:nvPr/>
        </p:nvSpPr>
        <p:spPr>
          <a:xfrm>
            <a:off x="4535424" y="2487168"/>
            <a:ext cx="7159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52544" y="2798064"/>
            <a:ext cx="7232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1C3A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「Sales Platform」「セールスユニット」等の導入により、下請け・紹介頼みから完全脱却。現場の手を止めることなく能動的な商談・直請け案件を獲得し、高利益率な自走型営業体制を構築した。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0" y="3456432"/>
            <a:ext cx="7708392" cy="1572768"/>
          </a:xfrm>
          <a:prstGeom prst="roundRect">
            <a:avLst>
              <a:gd name="adj" fmla="val 2907"/>
            </a:avLst>
          </a:prstGeom>
          <a:solidFill>
            <a:srgbClr val="EAF1FA"/>
          </a:solidFill>
          <a:ln w="12700">
            <a:solidFill>
              <a:srgbClr val="C6D8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52544" y="3602736"/>
            <a:ext cx="82296" cy="219456"/>
          </a:xfrm>
          <a:prstGeom prst="roundRect">
            <a:avLst>
              <a:gd name="adj" fmla="val 33333"/>
            </a:avLst>
          </a:prstGeom>
          <a:solidFill>
            <a:srgbClr val="2B64AB"/>
          </a:solidFill>
          <a:ln/>
        </p:spPr>
      </p:sp>
      <p:sp>
        <p:nvSpPr>
          <p:cNvPr id="24" name="Text 22"/>
          <p:cNvSpPr/>
          <p:nvPr/>
        </p:nvSpPr>
        <p:spPr>
          <a:xfrm>
            <a:off x="4535424" y="3547872"/>
            <a:ext cx="7159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64A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今回ご検討をされている企業様への活用ポイント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52544" y="3858768"/>
            <a:ext cx="723290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1C25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社職人12名体制で「現場仕事で多忙を極め、自社で営業に動く時間やノウハウがない」という構造的課題を解決する事例です。営業支援ユニットがアプローチと事前ヒアリングを代行するため、藤井工業様は現場施工に専念したまま、質の高い直接案件を獲得できます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0" y="5138928"/>
            <a:ext cx="7708392" cy="1060704"/>
          </a:xfrm>
          <a:prstGeom prst="roundRect">
            <a:avLst>
              <a:gd name="adj" fmla="val 4310"/>
            </a:avLst>
          </a:prstGeom>
          <a:solidFill>
            <a:srgbClr val="FBF4E6"/>
          </a:solidFill>
          <a:ln w="12700">
            <a:solidFill>
              <a:srgbClr val="E7D6A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52544" y="5285232"/>
            <a:ext cx="82296" cy="219456"/>
          </a:xfrm>
          <a:prstGeom prst="roundRect">
            <a:avLst>
              <a:gd name="adj" fmla="val 33333"/>
            </a:avLst>
          </a:prstGeom>
          <a:solidFill>
            <a:srgbClr val="9A6B12"/>
          </a:solidFill>
          <a:ln/>
        </p:spPr>
      </p:sp>
      <p:sp>
        <p:nvSpPr>
          <p:cNvPr id="28" name="Text 26"/>
          <p:cNvSpPr/>
          <p:nvPr/>
        </p:nvSpPr>
        <p:spPr>
          <a:xfrm>
            <a:off x="4535424" y="5230368"/>
            <a:ext cx="7159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導入を検討されえいる企業様へのアドバイス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352544" y="5541264"/>
            <a:ext cx="7232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000" i="1" dirty="0">
                <a:solidFill>
                  <a:srgbClr val="4A3A1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「営業専任がいない現場主義の会社であっても、外部の営業仕組みとプロチームを活用することで、下請けに頼らず能動的に高単価案件を獲得できるようになります。」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0" y="6291072"/>
            <a:ext cx="7708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593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引用URL　</a:t>
            </a:r>
            <a:pPr indent="0" marL="0">
              <a:buNone/>
            </a:pPr>
            <a:r>
              <a:rPr lang="en-US" sz="950" u="sng" dirty="0">
                <a:solidFill>
                  <a:srgbClr val="2B64AB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https://www.aidma-hd.jp/case/zirei-524/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65760" y="65379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藤井工業様　提案引用実績5選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424160" y="6537960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1457432" cy="932688"/>
          </a:xfrm>
          <a:prstGeom prst="roundRect">
            <a:avLst>
              <a:gd name="adj" fmla="val 5882"/>
            </a:avLst>
          </a:prstGeom>
          <a:solidFill>
            <a:srgbClr val="16407A"/>
          </a:solidFill>
          <a:ln/>
          <a:effectLst>
            <a:outerShdw sx="100000" sy="100000" kx="0" ky="0" algn="bl" rotWithShape="0" blurRad="76200" dist="25400" dir="5400000">
              <a:srgbClr val="0F2F5C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66928" y="566928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5669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80160" y="420624"/>
            <a:ext cx="10378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職人出身代表でも中間マージンを排除。適正価格での直接施工・元請け提案の体制を構築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3566160" cy="5029200"/>
          </a:xfrm>
          <a:prstGeom prst="roundRect">
            <a:avLst>
              <a:gd name="adj" fmla="val 1282"/>
            </a:avLst>
          </a:prstGeom>
          <a:solidFill>
            <a:srgbClr val="EAF1FA"/>
          </a:solidFill>
          <a:ln w="12700">
            <a:solidFill>
              <a:srgbClr val="D2D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664208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C25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株式会社塗巧　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85216" y="2615184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64A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事業内容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85216" y="2834640"/>
            <a:ext cx="31272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4556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建築・改修工事、各種塗装・解体補修工事、インフラ設備保護。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85216" y="3931920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64A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解決した課題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85216" y="4206240"/>
            <a:ext cx="3267202" cy="274320"/>
          </a:xfrm>
          <a:prstGeom prst="roundRect">
            <a:avLst>
              <a:gd name="adj" fmla="val 50000"/>
            </a:avLst>
          </a:prstGeom>
          <a:solidFill>
            <a:srgbClr val="DCE8F6"/>
          </a:solidFill>
          <a:ln w="9525">
            <a:solidFill>
              <a:srgbClr val="BFD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4206240"/>
            <a:ext cx="32672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548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職人出身代表で営業・バックオフィスリソース不足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85216" y="4553712"/>
            <a:ext cx="4049014" cy="274320"/>
          </a:xfrm>
          <a:prstGeom prst="roundRect">
            <a:avLst>
              <a:gd name="adj" fmla="val 50000"/>
            </a:avLst>
          </a:prstGeom>
          <a:solidFill>
            <a:srgbClr val="DCE8F6"/>
          </a:solidFill>
          <a:ln w="9525">
            <a:solidFill>
              <a:srgbClr val="BFD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4553712"/>
            <a:ext cx="4049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548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ゼネコン・下請け構造から抜け出せず中間マージンで利益率低迷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0" y="1417320"/>
            <a:ext cx="82296" cy="219456"/>
          </a:xfrm>
          <a:prstGeom prst="roundRect">
            <a:avLst>
              <a:gd name="adj" fmla="val 33333"/>
            </a:avLst>
          </a:prstGeom>
          <a:solidFill>
            <a:srgbClr val="2B64AB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0" y="135331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64A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事例の概要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114800" y="1682496"/>
            <a:ext cx="77083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4556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施工技術を持つ専門施工店。職人出身の代表が現場と事務作業に追われる中、アイドマの支援により営業アプローチと業務効率化を推進。ゼネコン頼みを脱し、施工価値を直接評価してくれる法人顧客との直接取引を確立した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0" y="2395728"/>
            <a:ext cx="7708392" cy="950976"/>
          </a:xfrm>
          <a:prstGeom prst="roundRect">
            <a:avLst>
              <a:gd name="adj" fmla="val 4808"/>
            </a:avLst>
          </a:prstGeom>
          <a:solidFill>
            <a:srgbClr val="E9F4EE"/>
          </a:solidFill>
          <a:ln w="12700">
            <a:solidFill>
              <a:srgbClr val="BADFC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52544" y="2542032"/>
            <a:ext cx="82296" cy="219456"/>
          </a:xfrm>
          <a:prstGeom prst="roundRect">
            <a:avLst>
              <a:gd name="adj" fmla="val 33333"/>
            </a:avLst>
          </a:prstGeom>
          <a:solidFill>
            <a:srgbClr val="1F7A4D"/>
          </a:solidFill>
          <a:ln/>
        </p:spPr>
      </p:sp>
      <p:sp>
        <p:nvSpPr>
          <p:cNvPr id="20" name="Text 18"/>
          <p:cNvSpPr/>
          <p:nvPr/>
        </p:nvSpPr>
        <p:spPr>
          <a:xfrm>
            <a:off x="4535424" y="2487168"/>
            <a:ext cx="7159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52544" y="2798064"/>
            <a:ext cx="7232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1C3A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「Sales Platform」と「秘書ユニット」を導入。中間マージンを排除した適正価格での直接施工・元請け提案の商談獲得体制を構築し、高利益率な直接受託を実現した。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0" y="3456432"/>
            <a:ext cx="7708392" cy="1572768"/>
          </a:xfrm>
          <a:prstGeom prst="roundRect">
            <a:avLst>
              <a:gd name="adj" fmla="val 2907"/>
            </a:avLst>
          </a:prstGeom>
          <a:solidFill>
            <a:srgbClr val="EAF1FA"/>
          </a:solidFill>
          <a:ln w="12700">
            <a:solidFill>
              <a:srgbClr val="C6D8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52544" y="3602736"/>
            <a:ext cx="82296" cy="219456"/>
          </a:xfrm>
          <a:prstGeom prst="roundRect">
            <a:avLst>
              <a:gd name="adj" fmla="val 33333"/>
            </a:avLst>
          </a:prstGeom>
          <a:solidFill>
            <a:srgbClr val="2B64AB"/>
          </a:solidFill>
          <a:ln/>
        </p:spPr>
      </p:sp>
      <p:sp>
        <p:nvSpPr>
          <p:cNvPr id="24" name="Text 22"/>
          <p:cNvSpPr/>
          <p:nvPr/>
        </p:nvSpPr>
        <p:spPr>
          <a:xfrm>
            <a:off x="4535424" y="3547872"/>
            <a:ext cx="7159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64A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今回ご検討をされている企業様への活用ポイント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52544" y="3858768"/>
            <a:ext cx="723290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1C25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間マージンを引かれる下請け工事から、自社で単価を設定できる直接施工への転換手法を示す事例です。解体工事の強みを直接アピールする営業ストーリーを営業支援ユニットで配信し、自社に主導権のある案件取引を増やすことができます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0" y="5138928"/>
            <a:ext cx="7708392" cy="1060704"/>
          </a:xfrm>
          <a:prstGeom prst="roundRect">
            <a:avLst>
              <a:gd name="adj" fmla="val 4310"/>
            </a:avLst>
          </a:prstGeom>
          <a:solidFill>
            <a:srgbClr val="FBF4E6"/>
          </a:solidFill>
          <a:ln w="12700">
            <a:solidFill>
              <a:srgbClr val="E7D6A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52544" y="5285232"/>
            <a:ext cx="82296" cy="219456"/>
          </a:xfrm>
          <a:prstGeom prst="roundRect">
            <a:avLst>
              <a:gd name="adj" fmla="val 33333"/>
            </a:avLst>
          </a:prstGeom>
          <a:solidFill>
            <a:srgbClr val="9A6B12"/>
          </a:solidFill>
          <a:ln/>
        </p:spPr>
      </p:sp>
      <p:sp>
        <p:nvSpPr>
          <p:cNvPr id="28" name="Text 26"/>
          <p:cNvSpPr/>
          <p:nvPr/>
        </p:nvSpPr>
        <p:spPr>
          <a:xfrm>
            <a:off x="4535424" y="5230368"/>
            <a:ext cx="7159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導入を検討されえいる企業様へのアドバイス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352544" y="5541264"/>
            <a:ext cx="7232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000" i="1" dirty="0">
                <a:solidFill>
                  <a:srgbClr val="4A3A1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「現場の職人が技術に集中しながら、営業の仕組みを外部と連携して作ることで、中間マージンを排除した高利益率な直接受注を実現できます。」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0" y="6291072"/>
            <a:ext cx="7708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593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引用URL　</a:t>
            </a:r>
            <a:pPr indent="0" marL="0">
              <a:buNone/>
            </a:pPr>
            <a:r>
              <a:rPr lang="en-US" sz="950" u="sng" dirty="0">
                <a:solidFill>
                  <a:srgbClr val="2B64AB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https://www.aidma-hd.jp/case/zirei-456/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65760" y="65379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藤井工業様　提案引用実績5選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424160" y="6537960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1457432" cy="932688"/>
          </a:xfrm>
          <a:prstGeom prst="roundRect">
            <a:avLst>
              <a:gd name="adj" fmla="val 5882"/>
            </a:avLst>
          </a:prstGeom>
          <a:solidFill>
            <a:srgbClr val="16407A"/>
          </a:solidFill>
          <a:ln/>
          <a:effectLst>
            <a:outerShdw sx="100000" sy="100000" kx="0" ky="0" algn="bl" rotWithShape="0" blurRad="76200" dist="25400" dir="5400000">
              <a:srgbClr val="0F2F5C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66928" y="566928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5669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80160" y="420624"/>
            <a:ext cx="10378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営業専任ゼロでも法人（施主・ビルオーナー）への直接商談を計画的・継続的に創出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3566160" cy="5029200"/>
          </a:xfrm>
          <a:prstGeom prst="roundRect">
            <a:avLst>
              <a:gd name="adj" fmla="val 1282"/>
            </a:avLst>
          </a:prstGeom>
          <a:solidFill>
            <a:srgbClr val="EAF1FA"/>
          </a:solidFill>
          <a:ln w="12700">
            <a:solidFill>
              <a:srgbClr val="D2D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664208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C25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株式会社荒木塗装　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85216" y="2615184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64A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事業内容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85216" y="2834640"/>
            <a:ext cx="31272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4556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外壁塗装、屋根塗装、防水工事、工場・倉庫・ビルの大規模解体・改修工事。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85216" y="3931920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64A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解決した課題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85216" y="4206240"/>
            <a:ext cx="2355088" cy="274320"/>
          </a:xfrm>
          <a:prstGeom prst="roundRect">
            <a:avLst>
              <a:gd name="adj" fmla="val 50000"/>
            </a:avLst>
          </a:prstGeom>
          <a:solidFill>
            <a:srgbClr val="DCE8F6"/>
          </a:solidFill>
          <a:ln w="9525">
            <a:solidFill>
              <a:srgbClr val="BFD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4206240"/>
            <a:ext cx="2355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548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自社内に営業専任スタッフがいない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85216" y="4553712"/>
            <a:ext cx="4830826" cy="274320"/>
          </a:xfrm>
          <a:prstGeom prst="roundRect">
            <a:avLst>
              <a:gd name="adj" fmla="val 50000"/>
            </a:avLst>
          </a:prstGeom>
          <a:solidFill>
            <a:srgbClr val="DCE8F6"/>
          </a:solidFill>
          <a:ln w="9525">
            <a:solidFill>
              <a:srgbClr val="BFD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4553712"/>
            <a:ext cx="4830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548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自社のみでは元請け法人（工場・ビルオーナー等）の新規開拓に時間を割けず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0" y="1417320"/>
            <a:ext cx="82296" cy="219456"/>
          </a:xfrm>
          <a:prstGeom prst="roundRect">
            <a:avLst>
              <a:gd name="adj" fmla="val 33333"/>
            </a:avLst>
          </a:prstGeom>
          <a:solidFill>
            <a:srgbClr val="2B64AB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0" y="135331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64A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事例の概要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114800" y="1682496"/>
            <a:ext cx="77083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4556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老舗の施工工事会社。一般工事から大型施設まで手がけるが、営業リソース不足から直請け法人開拓が課題だった。Sales Platformの導入により、法人ターゲットへのアプローチを自動化し、自社でコントロールできる元請け案件を獲得した。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0" y="2395728"/>
            <a:ext cx="7708392" cy="950976"/>
          </a:xfrm>
          <a:prstGeom prst="roundRect">
            <a:avLst>
              <a:gd name="adj" fmla="val 4808"/>
            </a:avLst>
          </a:prstGeom>
          <a:solidFill>
            <a:srgbClr val="E9F4EE"/>
          </a:solidFill>
          <a:ln w="12700">
            <a:solidFill>
              <a:srgbClr val="BADFC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52544" y="2542032"/>
            <a:ext cx="82296" cy="219456"/>
          </a:xfrm>
          <a:prstGeom prst="roundRect">
            <a:avLst>
              <a:gd name="adj" fmla="val 33333"/>
            </a:avLst>
          </a:prstGeom>
          <a:solidFill>
            <a:srgbClr val="1F7A4D"/>
          </a:solidFill>
          <a:ln/>
        </p:spPr>
      </p:sp>
      <p:sp>
        <p:nvSpPr>
          <p:cNvPr id="20" name="Text 18"/>
          <p:cNvSpPr/>
          <p:nvPr/>
        </p:nvSpPr>
        <p:spPr>
          <a:xfrm>
            <a:off x="4535424" y="2487168"/>
            <a:ext cx="7159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52544" y="2798064"/>
            <a:ext cx="7232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1C3A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「Sales Platform」を導入し、ターゲット設定や営業アプローチを可視化。法人顧客や施主との直接商談機会を計画的・継続的に作り出すことに成功した。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0" y="3456432"/>
            <a:ext cx="7708392" cy="1572768"/>
          </a:xfrm>
          <a:prstGeom prst="roundRect">
            <a:avLst>
              <a:gd name="adj" fmla="val 2907"/>
            </a:avLst>
          </a:prstGeom>
          <a:solidFill>
            <a:srgbClr val="EAF1FA"/>
          </a:solidFill>
          <a:ln w="12700">
            <a:solidFill>
              <a:srgbClr val="C6D8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52544" y="3602736"/>
            <a:ext cx="82296" cy="219456"/>
          </a:xfrm>
          <a:prstGeom prst="roundRect">
            <a:avLst>
              <a:gd name="adj" fmla="val 33333"/>
            </a:avLst>
          </a:prstGeom>
          <a:solidFill>
            <a:srgbClr val="2B64AB"/>
          </a:solidFill>
          <a:ln/>
        </p:spPr>
      </p:sp>
      <p:sp>
        <p:nvSpPr>
          <p:cNvPr id="24" name="Text 22"/>
          <p:cNvSpPr/>
          <p:nvPr/>
        </p:nvSpPr>
        <p:spPr>
          <a:xfrm>
            <a:off x="4535424" y="3547872"/>
            <a:ext cx="7159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64A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今回ご検討をされている企業様への活用ポイント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52544" y="3858768"/>
            <a:ext cx="723290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1C25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体工事を検討している解体施主や法人オーナー、不動産開発会社へアプローチする際のロールモデルです。営業支援ユニットを通じて「解体工事の直接見積もり・施工提案」を届けることで、下請けに流れる前の最上流で案件を捕捉できます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0" y="5138928"/>
            <a:ext cx="7708392" cy="1060704"/>
          </a:xfrm>
          <a:prstGeom prst="roundRect">
            <a:avLst>
              <a:gd name="adj" fmla="val 4310"/>
            </a:avLst>
          </a:prstGeom>
          <a:solidFill>
            <a:srgbClr val="FBF4E6"/>
          </a:solidFill>
          <a:ln w="12700">
            <a:solidFill>
              <a:srgbClr val="E7D6A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52544" y="5285232"/>
            <a:ext cx="82296" cy="219456"/>
          </a:xfrm>
          <a:prstGeom prst="roundRect">
            <a:avLst>
              <a:gd name="adj" fmla="val 33333"/>
            </a:avLst>
          </a:prstGeom>
          <a:solidFill>
            <a:srgbClr val="9A6B12"/>
          </a:solidFill>
          <a:ln/>
        </p:spPr>
      </p:sp>
      <p:sp>
        <p:nvSpPr>
          <p:cNvPr id="28" name="Text 26"/>
          <p:cNvSpPr/>
          <p:nvPr/>
        </p:nvSpPr>
        <p:spPr>
          <a:xfrm>
            <a:off x="4535424" y="5230368"/>
            <a:ext cx="7159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導入を検討されえいる企業様へのアドバイス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352544" y="5541264"/>
            <a:ext cx="7232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000" i="1" dirty="0">
                <a:solidFill>
                  <a:srgbClr val="4A3A1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「自社に営業専任がいなくても、プロのデータベースとアプローチ仕組みを活用することで、法人・大口顧客との新規商談を計画的に作り出すことができます。」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0" y="6291072"/>
            <a:ext cx="7708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593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引用URL　</a:t>
            </a:r>
            <a:pPr indent="0" marL="0">
              <a:buNone/>
            </a:pPr>
            <a:r>
              <a:rPr lang="en-US" sz="950" u="sng" dirty="0">
                <a:solidFill>
                  <a:srgbClr val="2B64AB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https://www.aidma-hd.jp/case/zirei-425/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65760" y="65379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藤井工業様　提案引用実績5選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424160" y="6537960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1457432" cy="932688"/>
          </a:xfrm>
          <a:prstGeom prst="roundRect">
            <a:avLst>
              <a:gd name="adj" fmla="val 5882"/>
            </a:avLst>
          </a:prstGeom>
          <a:solidFill>
            <a:srgbClr val="16407A"/>
          </a:solidFill>
          <a:ln/>
          <a:effectLst>
            <a:outerShdw sx="100000" sy="100000" kx="0" ky="0" algn="bl" rotWithShape="0" blurRad="76200" dist="25400" dir="5400000">
              <a:srgbClr val="0F2F5C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66928" y="566928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5669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80160" y="420624"/>
            <a:ext cx="10378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飛び込みを排除し協力会社・提携ネットワークを自動構築。質の高いBtoB商談を1日1件ペースで確保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3566160" cy="5029200"/>
          </a:xfrm>
          <a:prstGeom prst="roundRect">
            <a:avLst>
              <a:gd name="adj" fmla="val 1282"/>
            </a:avLst>
          </a:prstGeom>
          <a:solidFill>
            <a:srgbClr val="EAF1FA"/>
          </a:solidFill>
          <a:ln w="12700">
            <a:solidFill>
              <a:srgbClr val="D2D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664208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C25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株式会社宏企画　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85216" y="2615184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64A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事業内容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85216" y="2834640"/>
            <a:ext cx="31272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950" dirty="0">
                <a:solidFill>
                  <a:srgbClr val="4556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不動産仲介・管理、注文住宅請負、リフォーム・解体改修・施工事業。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85216" y="3931920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64A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解決した課題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85216" y="4206240"/>
            <a:ext cx="2224786" cy="274320"/>
          </a:xfrm>
          <a:prstGeom prst="roundRect">
            <a:avLst>
              <a:gd name="adj" fmla="val 50000"/>
            </a:avLst>
          </a:prstGeom>
          <a:solidFill>
            <a:srgbClr val="DCE8F6"/>
          </a:solidFill>
          <a:ln w="9525">
            <a:solidFill>
              <a:srgbClr val="BFD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4206240"/>
            <a:ext cx="22247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548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足で稼ぐ古い飛び込み営業の限界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85216" y="4553712"/>
            <a:ext cx="5091430" cy="274320"/>
          </a:xfrm>
          <a:prstGeom prst="roundRect">
            <a:avLst>
              <a:gd name="adj" fmla="val 50000"/>
            </a:avLst>
          </a:prstGeom>
          <a:solidFill>
            <a:srgbClr val="DCE8F6"/>
          </a:solidFill>
          <a:ln w="9525">
            <a:solidFill>
              <a:srgbClr val="BFD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4553712"/>
            <a:ext cx="50914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548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新規ターゲット企業・協力施工パートナーとの効率的なネットワーク構築ができず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0" y="1417320"/>
            <a:ext cx="82296" cy="219456"/>
          </a:xfrm>
          <a:prstGeom prst="roundRect">
            <a:avLst>
              <a:gd name="adj" fmla="val 33333"/>
            </a:avLst>
          </a:prstGeom>
          <a:solidFill>
            <a:srgbClr val="2B64AB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0" y="135331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64A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事例の概要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114800" y="1682496"/>
            <a:ext cx="77083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4556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少人数体制で建築・施工・仲介事業を展開する企業。新人を雇用して自社で育成するコストやリスクを避け、営業支援ユニットを活用して新規アプローチを自動化。高効率なBtoB営業・提携アプローチフローを確立した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0" y="2395728"/>
            <a:ext cx="7708392" cy="950976"/>
          </a:xfrm>
          <a:prstGeom prst="roundRect">
            <a:avLst>
              <a:gd name="adj" fmla="val 4808"/>
            </a:avLst>
          </a:prstGeom>
          <a:solidFill>
            <a:srgbClr val="E9F4EE"/>
          </a:solidFill>
          <a:ln w="12700">
            <a:solidFill>
              <a:srgbClr val="BADFC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52544" y="2542032"/>
            <a:ext cx="82296" cy="219456"/>
          </a:xfrm>
          <a:prstGeom prst="roundRect">
            <a:avLst>
              <a:gd name="adj" fmla="val 33333"/>
            </a:avLst>
          </a:prstGeom>
          <a:solidFill>
            <a:srgbClr val="1F7A4D"/>
          </a:solidFill>
          <a:ln/>
        </p:spPr>
      </p:sp>
      <p:sp>
        <p:nvSpPr>
          <p:cNvPr id="20" name="Text 18"/>
          <p:cNvSpPr/>
          <p:nvPr/>
        </p:nvSpPr>
        <p:spPr>
          <a:xfrm>
            <a:off x="4535424" y="2487168"/>
            <a:ext cx="7159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A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52544" y="2798064"/>
            <a:ext cx="7232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1C3A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「Sales Platform」を導入し、無駄な飛び込みや訪問を排除。条件に合致するターゲット企業へ自動アプローチを行い、質の高い新規BtoB商談・提携ネットワーク（1日1件ペース）を安定確保した。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0" y="3456432"/>
            <a:ext cx="7708392" cy="1572768"/>
          </a:xfrm>
          <a:prstGeom prst="roundRect">
            <a:avLst>
              <a:gd name="adj" fmla="val 2907"/>
            </a:avLst>
          </a:prstGeom>
          <a:solidFill>
            <a:srgbClr val="EAF1FA"/>
          </a:solidFill>
          <a:ln w="12700">
            <a:solidFill>
              <a:srgbClr val="C6D8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52544" y="3602736"/>
            <a:ext cx="82296" cy="219456"/>
          </a:xfrm>
          <a:prstGeom prst="roundRect">
            <a:avLst>
              <a:gd name="adj" fmla="val 33333"/>
            </a:avLst>
          </a:prstGeom>
          <a:solidFill>
            <a:srgbClr val="2B64AB"/>
          </a:solidFill>
          <a:ln/>
        </p:spPr>
      </p:sp>
      <p:sp>
        <p:nvSpPr>
          <p:cNvPr id="24" name="Text 22"/>
          <p:cNvSpPr/>
          <p:nvPr/>
        </p:nvSpPr>
        <p:spPr>
          <a:xfrm>
            <a:off x="4535424" y="3547872"/>
            <a:ext cx="7159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64A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今回ご検討をされている企業様への活用ポイント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52544" y="3858768"/>
            <a:ext cx="723290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1C25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藤井工業様の第2の課題である「繁忙期に自社職人12名だけでは人員が不足する」という問題に対し、営業支援ユニットを活用して「近隣の協力会社（同業者・施工パートナー・応援職人ネットワーク）」へアプローチをかけ、繁忙期にお互い助け合えるパートナー関係を自動構築する手段としても絶大な効果を発揮します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0" y="5138928"/>
            <a:ext cx="7708392" cy="1060704"/>
          </a:xfrm>
          <a:prstGeom prst="roundRect">
            <a:avLst>
              <a:gd name="adj" fmla="val 4310"/>
            </a:avLst>
          </a:prstGeom>
          <a:solidFill>
            <a:srgbClr val="FBF4E6"/>
          </a:solidFill>
          <a:ln w="12700">
            <a:solidFill>
              <a:srgbClr val="E7D6A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52544" y="5285232"/>
            <a:ext cx="82296" cy="219456"/>
          </a:xfrm>
          <a:prstGeom prst="roundRect">
            <a:avLst>
              <a:gd name="adj" fmla="val 33333"/>
            </a:avLst>
          </a:prstGeom>
          <a:solidFill>
            <a:srgbClr val="9A6B12"/>
          </a:solidFill>
          <a:ln/>
        </p:spPr>
      </p:sp>
      <p:sp>
        <p:nvSpPr>
          <p:cNvPr id="28" name="Text 26"/>
          <p:cNvSpPr/>
          <p:nvPr/>
        </p:nvSpPr>
        <p:spPr>
          <a:xfrm>
            <a:off x="4535424" y="5230368"/>
            <a:ext cx="7159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B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導入を検討されえいる企業様へのアドバイス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352544" y="5541264"/>
            <a:ext cx="7232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000" i="1" dirty="0">
                <a:solidFill>
                  <a:srgbClr val="4A3A1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「社内に営業担当がいなかったりリソースが不足している場合は、外部の専門家を活用して環境を整えることが最も効率的です。時代に合わせたやり方を取り入れ、生産性を上げることが不可欠です。」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0" y="6291072"/>
            <a:ext cx="7708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593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引用URL　</a:t>
            </a:r>
            <a:pPr indent="0" marL="0">
              <a:buNone/>
            </a:pPr>
            <a:r>
              <a:rPr lang="en-US" sz="950" u="sng" dirty="0">
                <a:solidFill>
                  <a:srgbClr val="2B64AB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https://www.aidma-hd.jp/case/zirei-513/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65760" y="65379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藤井工業様　提案引用実績5選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424160" y="6537960"/>
            <a:ext cx="1399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 / 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1457432" cy="749808"/>
          </a:xfrm>
          <a:prstGeom prst="roundRect">
            <a:avLst>
              <a:gd name="adj" fmla="val 7317"/>
            </a:avLst>
          </a:prstGeom>
          <a:solidFill>
            <a:srgbClr val="16407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 ─ 解体・建設・施工：下請け/反響依存 → 元請け直案件・協力ネットワークを自動獲得（Before → After）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16736"/>
          <a:ext cx="1145743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2651760"/>
                <a:gridCol w="2176272"/>
                <a:gridCol w="2514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企業名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4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業種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4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Before（課題）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4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導入した支援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4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After（成果）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4AB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C25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八木塗装株式会社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C25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様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3500" marR="50800" marT="25400" marB="25400" anchor="ctr">
                    <a:lnL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40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建築塗装・解体・大規模改修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25400" marB="25400" anchor="ctr">
                    <a:lnL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5566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下請け構造・反響営業・紹介に依存／価格をコントロールできる元請け直案件の体制なし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3500" marR="50800" marT="25400" marB="25400" anchor="ctr">
                    <a:lnL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2F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Sales Platform（法人・不動産/建築会社へ能動的BtoB開拓）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3500" marR="50800" marT="25400" marB="25400" anchor="ctr">
                    <a:lnL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3A2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下請け・反響営業の限界を突破、価格決定権を持つ大型直案件を受注し利益率が飛躍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3500" marR="50800" marT="25400" marB="25400" anchor="ctr">
                    <a:lnL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C25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ミヤサト塗装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C25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様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3500" marR="50800" marT="25400" marB="25400" anchor="ctr">
                    <a:lnL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40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外壁・屋根・解体・防水工事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25400" marB="25400" anchor="ctr">
                    <a:lnL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5566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職人出身代表・少人数で営業リソースなし／下請け・紹介頼みで新規開拓の仕組み皆無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3500" marR="50800" marT="25400" marB="25400" anchor="ctr">
                    <a:lnL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2F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Sales Platform・セールスユニット（初期アプローチ〜商談設定を代行）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3500" marR="50800" marT="25400" marB="25400" anchor="ctr">
                    <a:lnL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3A2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下請け・紹介頼みから完全脱却、現場に集中したまま自走型の直請け営業体制を構築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3500" marR="50800" marT="25400" marB="25400" anchor="ctr">
                    <a:lnL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C25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株式会社塗巧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C25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様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3500" marR="50800" marT="25400" marB="25400" anchor="ctr">
                    <a:lnL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40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建築・改修／塗装・解体補修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25400" marB="25400" anchor="ctr">
                    <a:lnL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5566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職人出身代表で営業・事務リソース不足／ゼネコン・下請け構造で中間マージンにより利益率低迷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3500" marR="50800" marT="25400" marB="25400" anchor="ctr">
                    <a:lnL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2F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Sales Platform＋秘書ユニット（営業アプローチと業務効率化を推進）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3500" marR="50800" marT="25400" marB="25400" anchor="ctr">
                    <a:lnL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3A2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中間マージンを排除、適正価格での直接施工・元請け提案の体制を構築し高利益率な直接受託を実現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3500" marR="50800" marT="25400" marB="25400" anchor="ctr">
                    <a:lnL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C25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株式会社荒木塗装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C25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様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3500" marR="50800" marT="25400" marB="25400" anchor="ctr">
                    <a:lnL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40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工場・倉庫・ビル大規模解体/改修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25400" marB="25400" anchor="ctr">
                    <a:lnL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5566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営業専任スタッフ不在／自社のみでは元請け法人の新規開拓に時間を割けず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3500" marR="50800" marT="25400" marB="25400" anchor="ctr">
                    <a:lnL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2F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Sales Platform（法人ターゲットへのアプローチを自動化・可視化）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3500" marR="50800" marT="25400" marB="25400" anchor="ctr">
                    <a:lnL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3A2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法人・施主との直接商談を計画的・継続的に創出、自社でコントロールできる元請け案件を獲得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3500" marR="50800" marT="25400" marB="25400" anchor="ctr">
                    <a:lnL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C25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株式会社宏企画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C25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様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3500" marR="50800" marT="25400" marB="25400" anchor="ctr">
                    <a:lnL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407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不動産・施工／リフォーム・解体改修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38100" marR="38100" marT="25400" marB="25400" anchor="ctr">
                    <a:lnL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5566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飛び込み営業の限界／新規ターゲット・協力施工パートナーとのネットワーク構築ができず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3500" marR="50800" marT="25400" marB="25400" anchor="ctr">
                    <a:lnL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A2F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Sales Platform（条件に合致するターゲットへ自動アプローチ）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3500" marR="50800" marT="25400" marB="25400" anchor="ctr">
                    <a:lnL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C3A2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飛び込みを排除、質の高い新規BtoB商談・提携ネットワークを1日1件ペースで安定確保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3500" marR="50800" marT="25400" marB="25400" anchor="ctr">
                    <a:lnL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6089904"/>
            <a:ext cx="11457432" cy="548640"/>
          </a:xfrm>
          <a:prstGeom prst="roundRect">
            <a:avLst>
              <a:gd name="adj" fmla="val 8333"/>
            </a:avLst>
          </a:prstGeom>
          <a:solidFill>
            <a:srgbClr val="EAF1FA"/>
          </a:solidFill>
          <a:ln w="12700">
            <a:solidFill>
              <a:srgbClr val="C6D8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608990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40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職人が現場施工に専念したまま、自社の工数を消費せずに営業支援ユニットで価格をコントロールできる元請け直案件を獲得し、繁忙期の協力会社・応援職人ネットワークまで自動開拓できることを示す、解体・建設・施工業界の実績です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2026-10-09T10:29:28Z</dcterms:created>
  <dcterms:modified xsi:type="dcterms:W3CDTF">2026-10-09T10:29:28Z</dcterms:modified>
</cp:coreProperties>
</file>