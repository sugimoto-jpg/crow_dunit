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513/"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510/"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89/"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260/"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458/"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aidma-hd.jp/case/zirei-447/"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店舗開発・出店/リーシング・BtoB不動産</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株式会社OUT RIGGER様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6選</a:t>
            </a:r>
            <a:endParaRPr lang="en-US" sz="3400" dirty="0"/>
          </a:p>
        </p:txBody>
      </p:sp>
      <p:sp>
        <p:nvSpPr>
          <p:cNvPr id="7" name="Text 5"/>
          <p:cNvSpPr/>
          <p:nvPr/>
        </p:nvSpPr>
        <p:spPr>
          <a:xfrm>
            <a:off x="822960" y="3474720"/>
            <a:ext cx="10149840" cy="1188720"/>
          </a:xfrm>
          <a:prstGeom prst="rect">
            <a:avLst/>
          </a:prstGeom>
          <a:noFill/>
          <a:ln/>
        </p:spPr>
        <p:txBody>
          <a:bodyPr wrap="square" rtlCol="0" anchor="ctr"/>
          <a:lstStyle/>
          <a:p>
            <a:pPr indent="0" marL="0">
              <a:lnSpc>
                <a:spcPct val="124000"/>
              </a:lnSpc>
              <a:buNone/>
            </a:pPr>
            <a:r>
              <a:rPr lang="en-US" sz="1200" dirty="0">
                <a:solidFill>
                  <a:srgbClr val="DDE8F6"/>
                </a:solidFill>
                <a:latin typeface="Meiryo" pitchFamily="34" charset="0"/>
                <a:ea typeface="Meiryo" pitchFamily="34" charset="-122"/>
                <a:cs typeface="Meiryo" pitchFamily="34" charset="-120"/>
              </a:rPr>
              <a:t>OUT RIGGER様（出店場所の提案・条件交渉・店舗開発/改装・販促支援・施設側のリーシング支援・資産家/地主向け都市部物件運用提案など）と同業界で、「待ち営業・紹介頼みからの脱却」「出店意欲のある企業や物件運用オーナーとの能動的な新規接点の自動創出」「BtoBアプローチの仕組み化」を解決した実績を6件厳選しました（外食大手・株式会社トリドールHDの最新事例を含む）。</a:t>
            </a:r>
            <a:endParaRPr lang="en-US" sz="120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多店舗展開・出店検討企業との能動的な新規接点の自動創出／資産家・地主へのリーシング・運用提案の開拓／待ち営業・紹介頼みからの脱却（外食大手トリドールHDの最新事例を含む）</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飛び込みを排除。多店舗展開・出店検討の法人へ自動アプローチで新規案件を掘り起こし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株式会社宏企画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不動産売買仲介、賃貸物件仲介、注文住宅の請負、リフォーム、賃貸管理、開発事業部での「不動産仕入れ・店舗/物件開発」など。</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22478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飛び込み営業中心から脱却できず</a:t>
            </a:r>
            <a:endParaRPr lang="en-US" sz="950" dirty="0"/>
          </a:p>
        </p:txBody>
      </p:sp>
      <p:sp>
        <p:nvSpPr>
          <p:cNvPr id="13" name="Shape 11"/>
          <p:cNvSpPr/>
          <p:nvPr/>
        </p:nvSpPr>
        <p:spPr>
          <a:xfrm>
            <a:off x="585216" y="464515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出店・仕入れ・物件開発の新規接点創出ができていない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約30年続く不動産会社。仕入れ・店舗開発事業の強化に伴い導入。新人を採用して自社で育成するリスクを回避し、営業支援ユニットを活用して新規アプローチを自動化。無駄のない高効率なBtoB営業・アプローチフロー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見込みのない訪問営業を完全に排除。得意エリアや条件に合致するターゲット企業（法人・事業主等）へ自動アプローチを行い、質の高い新規商談（1日1件ペース）を安定確保すること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が課題とされる「店舗展開・出店意欲のある企業との接点激減」に対し、従来のアナログな紹介や飛び込みに頼らず、営業支援ユニットで「多店舗展開企業や新規出店・移転を検討する法人ターゲット」へダイレクトかつ能動的にアプローチ（条件提案や出店場所提案）を自動配信し、新規案件を継続的に掘り起こす体制を構築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員を1名確保するコストを考えれば、こうした外部の専門家を活用して環境を整えることは決して高くない投資。不動産業界の経営者はアナログ世代が多くデジタル化に懐疑的な方も少なくありませんが、これからの時代、生産性を上げるためにネットや外部サービスを活用することが必要不可欠だと思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https://www.aidma-hd.jp/case/zirei-513/</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提案引用実績6選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「出店地・物件提案」をフックに潜在出店企業と商談を継続創出。大口成約を連続獲得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東日本サポートセンター株式会社（RE/MAX STELLA）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不動産事業（RE/MAX STELLA）、土地・建物売買、店舗・施設の開業出店支援（物件探し・土地提案・建設一括サポート）、医療・介護施設向けシステム販売。</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61569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既存顧客・コネクション頼みからの脱却</a:t>
            </a:r>
            <a:endParaRPr lang="en-US" sz="950" dirty="0"/>
          </a:p>
        </p:txBody>
      </p:sp>
      <p:sp>
        <p:nvSpPr>
          <p:cNvPr id="13" name="Shape 11"/>
          <p:cNvSpPr/>
          <p:nvPr/>
        </p:nvSpPr>
        <p:spPr>
          <a:xfrm>
            <a:off x="585216" y="4645152"/>
            <a:ext cx="483082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483082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出店地を求める法人・開業者との継続的な新規接点の創出・営業ノウハウ不足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既存顧客依存の構造に危機感を持ち導入。「不動産・出店地のご提案」というターゲット企業が最も関心を持つ具体的なソリューションをフックにアプローチストーリーを構築。アイドマの仕組みで一次対応からアポ獲得までを完結させ、自社は勝てる商談にのみ専念する体制を完成させ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営業支援ユニット（Sales Platform）を活用し、物件情報や出店地提案をフックにしたプッシュ型アプローチを実施。高品質なターゲットリストを獲得し、初期アプローチを自動化することで大口の出店・不動産取引成約を連続獲得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のコア事業「店舗出店場所の提案・リーシング・施設提案」を求めている法人に対し、営業支援ユニットで「希望条件に応じた都市部優良物件や出店立地の特別提案」をダイレクトに投げかけることで、競合他社がアプローチできていない「潜在的に出店・移転を模索している企業」との商談機会を継続的に創出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誰がどこで何をするのかが明確に設定されているため、新しい事業のアプローチを委託することに不安はありません。何日に誰が何時間稼働しどんな結果だったかが可視化され、安定して稼働する仕組みが整いました。自社で作れない高品質なターゲットリストは大きな財産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提案引用実績6選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同業の店舗開発・出店マッチング。全国の店舗展開企業へ網羅的に打診し新規ニーズ発掘</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有限会社近江企画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調剤薬局・各種店舗の開発事業（出店地マッチング・開業出店コンサルティング）、紙図面の電子化事業。</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03657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03657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社長1人の飛び込み営業の限界</a:t>
            </a:r>
            <a:endParaRPr lang="en-US" sz="950" dirty="0"/>
          </a:p>
        </p:txBody>
      </p:sp>
      <p:sp>
        <p:nvSpPr>
          <p:cNvPr id="13" name="Shape 11"/>
          <p:cNvSpPr/>
          <p:nvPr/>
        </p:nvSpPr>
        <p:spPr>
          <a:xfrm>
            <a:off x="585216" y="4645152"/>
            <a:ext cx="417931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417931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全国的な出店・店舗展開企業との接点獲得ノウハウ・リソース不足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店舗開発や出店マッチングを手がける同社。社長1人の営業稼働に依存した体制から脱却するため「Sales Platform」を導入。アプローチデータの分析やスクリプト構築まで一貫したサポートを受け、全国規模に出店意欲のある新規ターゲットを開拓する仕組みを構築した。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飛び込み営業から完全に脱却し、「Sales Platform」を活用したデータ駆動型アプローチにより、自社のみでは接点を持てなかった日本全国の優良な店舗展開企業・医療機関・関係者との強固なネットワーク獲得に成功した。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と同じ「店舗開発・出店場所の提案・マッチング」に特化した同業事例です。「出店意欲のある企業が減少傾向にある」という厳しい市況であっても、営業支援ユニットの豊富な法人データベースを活用して全業種のアパレル・飲食・サービス・物販などの店舗展開企業へ網羅的に打診をかけ、今までアプローチできていなかった新規出店ニーズを掘り起こ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アイドマさんは単純にテレアポをおこなって終わりというわけではなく、データの分析やトークスクリプトの作成などを実施してくれることに大きな魅力を感じました。自社に営業ノウハウがなくても、プロの仕組みを導入することで全国に顧客をつく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https://www.aidma-hd.jp/case/zirei-89/</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提案引用実績6選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代表1人の限界を突破。地主・資産家へ運用/リーシング提案を自動アプローチ</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不動産相続アーキテクツ株式会社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資産家・地主向け都市部物件運用提案、不動産売却・建築コンサルティング、不動産売買・セミナー運営。</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315137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315137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代表1人体制で運用提案・地主/投資家開拓の限界</a:t>
            </a:r>
            <a:endParaRPr lang="en-US" sz="950" dirty="0"/>
          </a:p>
        </p:txBody>
      </p:sp>
      <p:sp>
        <p:nvSpPr>
          <p:cNvPr id="13" name="Shape 11"/>
          <p:cNvSpPr/>
          <p:nvPr/>
        </p:nvSpPr>
        <p:spPr>
          <a:xfrm>
            <a:off x="585216" y="4645152"/>
            <a:ext cx="381736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381736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高額プロモ費なしでBtoB新規接点を継続創出する体制の欠如</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不動産・建築の知見を持つ代表が独立。自社内に営業マンを抱え込む採用リスクを回避し、アイドマの営業支援ユニットを活用。自分はトスアップされた確度の高いオーナー・事業者からの相談のみに対応する高効率な営業フロー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営業支援ユニット（テレアポ・BtoBアプローチ）を導入し営業アプローチを自動化。代表1人営業の限界を突破して自走型のリモート営業組織を構築し、物件運用提案や売買案件の継続獲得に成功した。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のもう一つの柱「資産家・地主向け都市部物件運用提案や施設側のリーシング支援」の新規顧客開拓に直結します。地主や資産家、物件所有企業に対して、営業支援ユニットで「都市部物件の収益最大化・店舗誘致（リーシング）プラン」を自動アプローチし、優良な物件運用案件を継続的に受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開業してすぐに社員を採用するのはハードルが高いと感じていましたが、外部の仕組みをうまく活用して組織化できないかと考えていました。ママワークスや営業支援の話を聞いたとき『まさにこの仕組みだ』とピンときてすぐお願いしました。理想に近い形を作れたと感じて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https://www.aidma-hd.jp/case/zirei-260/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提案引用実績6選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「待ち」から脱却。全国の多店舗企業・施設へ出店優遇提案を能動的に働きかけ</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ZERO株式会社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オフィス・工場・商業施設等への出店・設置提案（サステナブル無人自販機「ZERO BOX」導入・店舗開発支援）。</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391871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39187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出店・設置意欲ある企業の開拓リソース・テレアポ体制が不足</a:t>
            </a:r>
            <a:endParaRPr lang="en-US" sz="950" dirty="0"/>
          </a:p>
        </p:txBody>
      </p:sp>
      <p:sp>
        <p:nvSpPr>
          <p:cNvPr id="13" name="Shape 11"/>
          <p:cNvSpPr/>
          <p:nvPr/>
        </p:nvSpPr>
        <p:spPr>
          <a:xfrm>
            <a:off x="585216" y="4645152"/>
            <a:ext cx="355676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355676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BtoBの新規出店・設置接点をスピーディに生み出せない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施設・法人向けに出店・設置ソリューションを展開するベンチャー。営業担当不在の状態からアイドマの営業支援ユニットを導入。特定の働く環境や施設へターゲットを絞り、出店・設置のメリットを訴求するプッシュ型アプローチを展開。新規案件と見込み顧客リストを自動蓄積することに成功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と「セールスユニット」の導入により、オフィス・病院・工場等の施設・法人へ能動的アプローチを実施。大手企業の関連施設等での出店・設置契約を連続獲得し、新規出店・開発アプローチの仕組み化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既存の「待ち」の営業スタイルでは出店企業が集まらない現代において、営業支援ユニットを用いて全国の多店舗展開企業や施設運営主体へ「出店条件の優遇提案」「店舗開発・改装のワンストップ支援」を能動的に働きかけることで、出店検討の波が来ている企業をいち早く捉えて商談化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に営業担当がいなかったり、リソースが不足している場合は、外部のプロフェッショナルを活用することが最も効率化を図る上で良いと思います。業界や業種に幅広くアプローチでき、テストマーケティングできた点は大きなメリットでした。」</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https://www.aidma-hd.jp/case/zirei-458/</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提案引用実績6選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6</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「Sales Platform」で地方都市への出店攻勢を加速。5ヵ月で3件の条件交渉が進展</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株式会社トリドールホールディングス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食の感動で、この星を満たす」を理念に世界31の国・地域で2,000店舗以上を展開するグローバルフードカンパニー。「丸亀製麺」「コナズ珈琲」「ずんどう屋」等を多角展開し、店舗開発本部が新規出店を推進。</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22478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地方新規出店の多大な出張コスト</a:t>
            </a:r>
            <a:endParaRPr lang="en-US" sz="950" dirty="0"/>
          </a:p>
        </p:txBody>
      </p:sp>
      <p:sp>
        <p:nvSpPr>
          <p:cNvPr id="13" name="Shape 11"/>
          <p:cNvSpPr/>
          <p:nvPr/>
        </p:nvSpPr>
        <p:spPr>
          <a:xfrm>
            <a:off x="585216" y="4645152"/>
            <a:ext cx="222478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現地調査に伴う担当者の業務負荷</a:t>
            </a:r>
            <a:endParaRPr lang="en-US" sz="950" dirty="0"/>
          </a:p>
        </p:txBody>
      </p:sp>
      <p:sp>
        <p:nvSpPr>
          <p:cNvPr id="15" name="Shape 13"/>
          <p:cNvSpPr/>
          <p:nvPr/>
        </p:nvSpPr>
        <p:spPr>
          <a:xfrm>
            <a:off x="585216" y="4992624"/>
            <a:ext cx="2441956" cy="274320"/>
          </a:xfrm>
          <a:prstGeom prst="roundRect">
            <a:avLst>
              <a:gd name="adj" fmla="val 50000"/>
            </a:avLst>
          </a:prstGeom>
          <a:solidFill>
            <a:srgbClr val="DCE8F6"/>
          </a:solidFill>
          <a:ln w="9525">
            <a:solidFill>
              <a:srgbClr val="BFD3EC"/>
            </a:solidFill>
            <a:prstDash val="solid"/>
          </a:ln>
        </p:spPr>
      </p:sp>
      <p:sp>
        <p:nvSpPr>
          <p:cNvPr id="16" name="Text 14"/>
          <p:cNvSpPr/>
          <p:nvPr/>
        </p:nvSpPr>
        <p:spPr>
          <a:xfrm>
            <a:off x="585216" y="4992624"/>
            <a:ext cx="244195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150の未出店都市を自力調査する限界</a:t>
            </a:r>
            <a:endParaRPr lang="en-US" sz="950" dirty="0"/>
          </a:p>
        </p:txBody>
      </p:sp>
      <p:sp>
        <p:nvSpPr>
          <p:cNvPr id="17" name="Shape 15"/>
          <p:cNvSpPr/>
          <p:nvPr/>
        </p:nvSpPr>
        <p:spPr>
          <a:xfrm>
            <a:off x="4114800" y="1417320"/>
            <a:ext cx="82296" cy="219456"/>
          </a:xfrm>
          <a:prstGeom prst="roundRect">
            <a:avLst>
              <a:gd name="adj" fmla="val 33333"/>
            </a:avLst>
          </a:prstGeom>
          <a:solidFill>
            <a:srgbClr val="2B64AB"/>
          </a:solidFill>
          <a:ln/>
        </p:spPr>
      </p:sp>
      <p:sp>
        <p:nvSpPr>
          <p:cNvPr id="18" name="Text 16"/>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9" name="Text 17"/>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主力「丸亀製麺」は主要都市の出店が一巡し、次の成長の鍵は地方都市開拓へ。だが現地調査は1回往復10万円超の経費と移動負荷で非効率だった。SNS広告で知った「Sales Platform」を導入し、全国150の未出店都市をターゲットに、アイドマ担当が“影武者”として現地の不動産会社へ丁寧に電話営業。空き地検索ソフトで月極駐車場を狙う等、主体的な提案も得た。</a:t>
            </a:r>
            <a:endParaRPr lang="en-US" sz="1000" dirty="0"/>
          </a:p>
        </p:txBody>
      </p:sp>
      <p:sp>
        <p:nvSpPr>
          <p:cNvPr id="20" name="Shape 18"/>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21" name="Shape 19"/>
          <p:cNvSpPr/>
          <p:nvPr/>
        </p:nvSpPr>
        <p:spPr>
          <a:xfrm>
            <a:off x="4352544" y="2542032"/>
            <a:ext cx="82296" cy="219456"/>
          </a:xfrm>
          <a:prstGeom prst="roundRect">
            <a:avLst>
              <a:gd name="adj" fmla="val 33333"/>
            </a:avLst>
          </a:prstGeom>
          <a:solidFill>
            <a:srgbClr val="1F7A4D"/>
          </a:solidFill>
          <a:ln/>
        </p:spPr>
      </p:sp>
      <p:sp>
        <p:nvSpPr>
          <p:cNvPr id="22" name="Text 20"/>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3" name="Text 21"/>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導入5ヵ月で3件の具体的な条件交渉が進展。出張経費を抑制しながら質の高い物件情報を網羅的に収集し、接点のなかった地域の不動産会社と太いパイプを構築。1人を新規雇用する以上の価値をアウトソーシングで実現し、担当者の出張負荷・ストレスも大幅に抑制した。</a:t>
            </a:r>
            <a:endParaRPr lang="en-US" sz="1000" dirty="0"/>
          </a:p>
        </p:txBody>
      </p:sp>
      <p:sp>
        <p:nvSpPr>
          <p:cNvPr id="24" name="Shape 22"/>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5" name="Shape 23"/>
          <p:cNvSpPr/>
          <p:nvPr/>
        </p:nvSpPr>
        <p:spPr>
          <a:xfrm>
            <a:off x="4352544" y="3602736"/>
            <a:ext cx="82296" cy="219456"/>
          </a:xfrm>
          <a:prstGeom prst="roundRect">
            <a:avLst>
              <a:gd name="adj" fmla="val 33333"/>
            </a:avLst>
          </a:prstGeom>
          <a:solidFill>
            <a:srgbClr val="2B64AB"/>
          </a:solidFill>
          <a:ln/>
        </p:spPr>
      </p:sp>
      <p:sp>
        <p:nvSpPr>
          <p:cNvPr id="26" name="Text 24"/>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7" name="Text 25"/>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の「出店場所の提案・条件交渉・店舗開発」というコア事業に、業界トップクラスの説得力を持つ最新事例です。現地に赴く前に営業支援ユニットで全国の不動産会社へ「出店候補物件はありませんか」と網羅的に打診し、紹介を受けてから動く“ワンクッション”の仕組みにより、出張コストと担当者負荷を抑えつつ質の高い物件・出店案件情報を継続的に収集できます。地方ロードサイドだけでなく都市部ビルイン物件の掘り起こしにも横展開できます。</a:t>
            </a:r>
            <a:endParaRPr lang="en-US" sz="1000" dirty="0"/>
          </a:p>
        </p:txBody>
      </p:sp>
      <p:sp>
        <p:nvSpPr>
          <p:cNvPr id="28" name="Shape 26"/>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9" name="Shape 27"/>
          <p:cNvSpPr/>
          <p:nvPr/>
        </p:nvSpPr>
        <p:spPr>
          <a:xfrm>
            <a:off x="4352544" y="5285232"/>
            <a:ext cx="82296" cy="219456"/>
          </a:xfrm>
          <a:prstGeom prst="roundRect">
            <a:avLst>
              <a:gd name="adj" fmla="val 33333"/>
            </a:avLst>
          </a:prstGeom>
          <a:solidFill>
            <a:srgbClr val="9A6B12"/>
          </a:solidFill>
          <a:ln/>
        </p:spPr>
      </p:sp>
      <p:sp>
        <p:nvSpPr>
          <p:cNvPr id="30" name="Text 28"/>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31" name="Text 29"/>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分が実現したいことを相談すれば、アイドマさん側からそれをさらに良くするためのアイデアを何個もいただけます。答えは1つではありません。従来のやり方に固執せず、外部の知見を融合させることで新たな営業販路は確実に広げられます。非常に信頼できるパートナーだと感じています。」（店舗開発本部 本部長 大久保 勇 様）</a:t>
            </a:r>
            <a:endParaRPr lang="en-US" sz="1000" dirty="0"/>
          </a:p>
        </p:txBody>
      </p:sp>
      <p:sp>
        <p:nvSpPr>
          <p:cNvPr id="32" name="Text 30"/>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https://www.aidma-hd.jp/case/zirei-447/</a:t>
            </a:r>
            <a:endParaRPr lang="en-US" sz="950" dirty="0"/>
          </a:p>
        </p:txBody>
      </p:sp>
      <p:sp>
        <p:nvSpPr>
          <p:cNvPr id="33" name="Text 31"/>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提案引用実績6選</a:t>
            </a:r>
            <a:endParaRPr lang="en-US" sz="900" dirty="0"/>
          </a:p>
        </p:txBody>
      </p:sp>
      <p:sp>
        <p:nvSpPr>
          <p:cNvPr id="34" name="Text 32"/>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6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まとめ ─ 店舗開発・出店/リーシング：待ち/飛び込み → 能動的な新規接点創出（Before → After）</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57432" cy="914400"/>
        </p:xfrm>
        <a:graphic>
          <a:graphicData uri="http://schemas.openxmlformats.org/drawingml/2006/table">
            <a:tbl>
              <a:tblPr/>
              <a:tblGrid>
                <a:gridCol w="2286000"/>
                <a:gridCol w="1783080"/>
                <a:gridCol w="2651760"/>
                <a:gridCol w="2221992"/>
                <a:gridCol w="2514600"/>
              </a:tblGrid>
              <a:tr h="329184">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768096">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株式会社宏企画</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不動産・店舗/物件開発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飛び込み営業中心から脱却できず／出店・仕入れ・物件開発の新規接点が創出できていない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Platform（条件合致ターゲットへ自動アプローチ）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見込みのない訪問を排除、質の高い新規商談を1日1件ペースで安定確保</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768096">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東日本サポートセンター株式会社（RE/MAX STELLA）</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不動産・店舗/施設出店支援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既存顧客・コネクション頼み／出店地を求める法人との継続的な新規接点・ノウハウ不足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Platform（物件・出店地提案をフックにプッシュ営業＋一次対応代行）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高品質リストを獲得し初期アプローチを自動化、大口の出店・不動産取引成約を連続獲得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768096">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有限会社近江企画</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店舗開発・出店マッチング</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社長1人の飛び込み営業の限界／全国的な出店企業との接点獲得ノウハウ・リソース不足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Platform（データ分析・スクリプト構築まで一貫支援）</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飛び込みから脱却、全国の店舗展開企業・医療機関と強固なネットワークを獲得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768096">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不動産相続アーキテクツ株式会社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資産運用・リーシング提案</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代表1人体制で運用提案・地主/投資家開拓の限界／高額プロモなしのBtoB接点創出の欠如</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営業支援ユニット（テレアポ・BtoBアプローチを自動化）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代表1人営業の限界を突破、自走型組織で物件運用提案・売買案件を継続獲得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768096">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ZERO株式会社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出店・設置提案（施設/法人）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出店・設置意欲ある企業の開拓リソース・テレアポ体制が不足／新規接点をスピーディに生み出せない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Platform＋セールスユニット（施設・法人へプッシュ営業）</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オフィス・病院・工場等へ能動アプローチ、出店・設置契約を連続獲得し仕組み化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768096">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株式会社トリドールホールディングス</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外食（店舗開発・出店）</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地方新規出店の出張コスト大（往復10万円超）／担当者の業務負荷／150未出店都市の自力調査の限界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Platform（全国150都市の不動産会社へ効率的に電話営業）</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5ヵ月で3件の条件交渉が進展、出張費を抑制し質の高い物件情報を網羅収集</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bl>
          </a:graphicData>
        </a:graphic>
      </p:graphicFrame>
      <p:sp>
        <p:nvSpPr>
          <p:cNvPr id="5" name="Shape 2"/>
          <p:cNvSpPr/>
          <p:nvPr/>
        </p:nvSpPr>
        <p:spPr>
          <a:xfrm>
            <a:off x="365760" y="6309360"/>
            <a:ext cx="11457432" cy="402336"/>
          </a:xfrm>
          <a:prstGeom prst="roundRect">
            <a:avLst>
              <a:gd name="adj" fmla="val 11364"/>
            </a:avLst>
          </a:prstGeom>
          <a:solidFill>
            <a:srgbClr val="EAF1FA"/>
          </a:solidFill>
          <a:ln w="12700">
            <a:solidFill>
              <a:srgbClr val="C6D8EF"/>
            </a:solidFill>
            <a:prstDash val="solid"/>
          </a:ln>
        </p:spPr>
      </p:sp>
      <p:sp>
        <p:nvSpPr>
          <p:cNvPr id="6" name="Text 3"/>
          <p:cNvSpPr/>
          <p:nvPr/>
        </p:nvSpPr>
        <p:spPr>
          <a:xfrm>
            <a:off x="566928" y="6309360"/>
            <a:ext cx="11064240" cy="402336"/>
          </a:xfrm>
          <a:prstGeom prst="rect">
            <a:avLst/>
          </a:prstGeom>
          <a:noFill/>
          <a:ln/>
        </p:spPr>
        <p:txBody>
          <a:bodyPr wrap="square" lIns="0" tIns="0" rIns="0" bIns="0" rtlCol="0" anchor="ctr"/>
          <a:lstStyle/>
          <a:p>
            <a:pPr indent="0" marL="0">
              <a:buNone/>
            </a:pPr>
            <a:r>
              <a:rPr lang="en-US" sz="950" b="1" dirty="0">
                <a:solidFill>
                  <a:srgbClr val="16407A"/>
                </a:solidFill>
                <a:latin typeface="Meiryo" pitchFamily="34" charset="0"/>
                <a:ea typeface="Meiryo" pitchFamily="34" charset="-122"/>
                <a:cs typeface="Meiryo" pitchFamily="34" charset="-120"/>
              </a:rPr>
              <a:t>出店検討企業が減少する市況でも、自社の工数を消費することなく、営業支援ユニットで多店舗展開企業や物件所有者との質の高い商談を自動で獲得し、新規接点を継続創出できることを示す実績です。</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2026-10-01T00:55:55Z</dcterms:created>
  <dcterms:modified xsi:type="dcterms:W3CDTF">2026-10-01T00:55:55Z</dcterms:modified>
</cp:coreProperties>
</file>