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aidma-hd.jp/case/zirei-195/"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aidma-hd.jp/case/zirei-524/"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aidma-hd.jp/case/zirei-346/"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aidma-hd.jp/case/zirei-384/"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aidma-hd.jp/case/zirei-508/"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F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2F5C"/>
          </a:solidFill>
          <a:ln/>
        </p:spPr>
      </p:sp>
      <p:sp>
        <p:nvSpPr>
          <p:cNvPr id="3" name="Shape 1"/>
          <p:cNvSpPr/>
          <p:nvPr/>
        </p:nvSpPr>
        <p:spPr>
          <a:xfrm>
            <a:off x="9326880" y="-2011680"/>
            <a:ext cx="5029200" cy="5029200"/>
          </a:xfrm>
          <a:prstGeom prst="ellipse">
            <a:avLst/>
          </a:prstGeom>
          <a:solidFill>
            <a:srgbClr val="FFFFFF">
              <a:alpha val="8000"/>
            </a:srgbClr>
          </a:solidFill>
          <a:ln/>
        </p:spPr>
      </p:sp>
      <p:sp>
        <p:nvSpPr>
          <p:cNvPr id="4" name="Shape 2"/>
          <p:cNvSpPr/>
          <p:nvPr/>
        </p:nvSpPr>
        <p:spPr>
          <a:xfrm>
            <a:off x="8595360" y="4023360"/>
            <a:ext cx="3840480" cy="3840480"/>
          </a:xfrm>
          <a:prstGeom prst="ellipse">
            <a:avLst/>
          </a:prstGeom>
          <a:solidFill>
            <a:srgbClr val="FFFFFF">
              <a:alpha val="6000"/>
            </a:srgbClr>
          </a:solidFill>
          <a:ln/>
        </p:spPr>
      </p:sp>
      <p:sp>
        <p:nvSpPr>
          <p:cNvPr id="5" name="Text 3"/>
          <p:cNvSpPr/>
          <p:nvPr/>
        </p:nvSpPr>
        <p:spPr>
          <a:xfrm>
            <a:off x="822960" y="1188720"/>
            <a:ext cx="10607040" cy="365760"/>
          </a:xfrm>
          <a:prstGeom prst="rect">
            <a:avLst/>
          </a:prstGeom>
          <a:noFill/>
          <a:ln/>
        </p:spPr>
        <p:txBody>
          <a:bodyPr wrap="square" rtlCol="0" anchor="ctr"/>
          <a:lstStyle/>
          <a:p>
            <a:pPr indent="0" marL="0">
              <a:buNone/>
            </a:pPr>
            <a:r>
              <a:rPr lang="en-US" sz="1200" b="1" spc="100" kern="0" dirty="0">
                <a:solidFill>
                  <a:srgbClr val="CADCFC"/>
                </a:solidFill>
                <a:latin typeface="Meiryo" pitchFamily="34" charset="0"/>
                <a:ea typeface="Meiryo" pitchFamily="34" charset="-122"/>
                <a:cs typeface="Meiryo" pitchFamily="34" charset="-120"/>
              </a:rPr>
              <a:t>CASE STUDIES ─ クラプロ・HRユニット × 採用難・人手不足の解決</a:t>
            </a:r>
            <a:endParaRPr lang="en-US" sz="1200" dirty="0"/>
          </a:p>
        </p:txBody>
      </p:sp>
      <p:sp>
        <p:nvSpPr>
          <p:cNvPr id="6" name="Text 4"/>
          <p:cNvSpPr/>
          <p:nvPr/>
        </p:nvSpPr>
        <p:spPr>
          <a:xfrm>
            <a:off x="822960" y="1627632"/>
            <a:ext cx="10789920" cy="1737360"/>
          </a:xfrm>
          <a:prstGeom prst="rect">
            <a:avLst/>
          </a:prstGeom>
          <a:noFill/>
          <a:ln/>
        </p:spPr>
        <p:txBody>
          <a:bodyPr wrap="square" rtlCol="0" anchor="ctr"/>
          <a:lstStyle/>
          <a:p>
            <a:pPr indent="0" marL="0">
              <a:lnSpc>
                <a:spcPct val="110000"/>
              </a:lnSpc>
              <a:buNone/>
            </a:pPr>
            <a:r>
              <a:rPr lang="en-US" sz="3300" b="1" dirty="0">
                <a:solidFill>
                  <a:srgbClr val="FFFFFF"/>
                </a:solidFill>
                <a:latin typeface="Meiryo" pitchFamily="34" charset="0"/>
                <a:ea typeface="Meiryo" pitchFamily="34" charset="-122"/>
                <a:cs typeface="Meiryo" pitchFamily="34" charset="-120"/>
              </a:rPr>
              <a:t>Integrasol合同会社様</a:t>
            </a:r>
            <a:endParaRPr lang="en-US" sz="3300" dirty="0"/>
          </a:p>
          <a:p>
            <a:pPr indent="0" marL="0">
              <a:lnSpc>
                <a:spcPct val="110000"/>
              </a:lnSpc>
              <a:buNone/>
            </a:pPr>
            <a:r>
              <a:rPr lang="en-US" sz="3100" b="1" dirty="0">
                <a:solidFill>
                  <a:srgbClr val="FFFFFF"/>
                </a:solidFill>
                <a:latin typeface="Meiryo" pitchFamily="34" charset="0"/>
                <a:ea typeface="Meiryo" pitchFamily="34" charset="-122"/>
                <a:cs typeface="Meiryo" pitchFamily="34" charset="-120"/>
              </a:rPr>
              <a:t>提案引用実績 5選</a:t>
            </a:r>
            <a:endParaRPr lang="en-US" sz="3300" dirty="0"/>
          </a:p>
        </p:txBody>
      </p:sp>
      <p:sp>
        <p:nvSpPr>
          <p:cNvPr id="7" name="Text 5"/>
          <p:cNvSpPr/>
          <p:nvPr/>
        </p:nvSpPr>
        <p:spPr>
          <a:xfrm>
            <a:off x="822960" y="3401568"/>
            <a:ext cx="10241280" cy="1371600"/>
          </a:xfrm>
          <a:prstGeom prst="rect">
            <a:avLst/>
          </a:prstGeom>
          <a:noFill/>
          <a:ln/>
        </p:spPr>
        <p:txBody>
          <a:bodyPr wrap="square" rtlCol="0" anchor="ctr"/>
          <a:lstStyle/>
          <a:p>
            <a:pPr indent="0" marL="0">
              <a:lnSpc>
                <a:spcPct val="120000"/>
              </a:lnSpc>
              <a:buNone/>
            </a:pPr>
            <a:r>
              <a:rPr lang="en-US" sz="1100" dirty="0">
                <a:solidFill>
                  <a:srgbClr val="DDE8F6"/>
                </a:solidFill>
                <a:latin typeface="Meiryo" pitchFamily="34" charset="0"/>
                <a:ea typeface="Meiryo" pitchFamily="34" charset="-122"/>
                <a:cs typeface="Meiryo" pitchFamily="34" charset="-120"/>
              </a:rPr>
              <a:t>Integrasol合同会社様（お庭サポート事業／課題：人材採用・人手不足・現場と事務/採用業務の両立／提案ユニット：クラプロユニット・HRユニット）と同じお庭・住まい・現場サービス業を中心に、「クラプロ/HRユニット（ママワークス等）を活用した全国からの優秀な人材の即座獲得」「現場職人がコア業務に集中できる採用・組織体制の構築」を成功させた実績を5件厳選しました。</a:t>
            </a:r>
            <a:endParaRPr lang="en-US" sz="1100" dirty="0"/>
          </a:p>
        </p:txBody>
      </p:sp>
      <p:sp>
        <p:nvSpPr>
          <p:cNvPr id="8" name="Shape 6"/>
          <p:cNvSpPr/>
          <p:nvPr/>
        </p:nvSpPr>
        <p:spPr>
          <a:xfrm>
            <a:off x="822960" y="5102352"/>
            <a:ext cx="10515600" cy="0"/>
          </a:xfrm>
          <a:prstGeom prst="line">
            <a:avLst/>
          </a:prstGeom>
          <a:noFill/>
          <a:ln w="12700">
            <a:solidFill>
              <a:srgbClr val="3A5A87"/>
            </a:solidFill>
            <a:prstDash val="solid"/>
          </a:ln>
        </p:spPr>
      </p:sp>
      <p:sp>
        <p:nvSpPr>
          <p:cNvPr id="9" name="Text 7"/>
          <p:cNvSpPr/>
          <p:nvPr/>
        </p:nvSpPr>
        <p:spPr>
          <a:xfrm>
            <a:off x="822960" y="5248656"/>
            <a:ext cx="10607040" cy="320040"/>
          </a:xfrm>
          <a:prstGeom prst="rect">
            <a:avLst/>
          </a:prstGeom>
          <a:noFill/>
          <a:ln/>
        </p:spPr>
        <p:txBody>
          <a:bodyPr wrap="square" rtlCol="0" anchor="ctr"/>
          <a:lstStyle/>
          <a:p>
            <a:pPr indent="0" marL="0">
              <a:buNone/>
            </a:pPr>
            <a:r>
              <a:rPr lang="en-US" sz="1000" b="1" dirty="0">
                <a:solidFill>
                  <a:srgbClr val="CADCFC"/>
                </a:solidFill>
                <a:latin typeface="Meiryo" pitchFamily="34" charset="0"/>
                <a:ea typeface="Meiryo" pitchFamily="34" charset="-122"/>
                <a:cs typeface="Meiryo" pitchFamily="34" charset="-120"/>
              </a:rPr>
              <a:t>提案の狙い　</a:t>
            </a:r>
            <a:pPr indent="0" marL="0">
              <a:buNone/>
            </a:pPr>
            <a:r>
              <a:rPr lang="en-US" sz="1000" dirty="0">
                <a:solidFill>
                  <a:srgbClr val="C9D8ED"/>
                </a:solidFill>
                <a:latin typeface="Meiryo" pitchFamily="34" charset="0"/>
                <a:ea typeface="Meiryo" pitchFamily="34" charset="-122"/>
                <a:cs typeface="Meiryo" pitchFamily="34" charset="-120"/>
              </a:rPr>
              <a:t>地元求人難を越え全国から即戦力人材を低コストで獲得／求人票作成・スカウト・一次選考の自動化／現場職人がコア業務に集中できる組織体制の構築</a:t>
            </a:r>
            <a:endParaRPr lang="en-US" sz="1000" dirty="0"/>
          </a:p>
        </p:txBody>
      </p:sp>
      <p:sp>
        <p:nvSpPr>
          <p:cNvPr id="10" name="Text 8"/>
          <p:cNvSpPr/>
          <p:nvPr/>
        </p:nvSpPr>
        <p:spPr>
          <a:xfrm>
            <a:off x="822960" y="5596128"/>
            <a:ext cx="10607040" cy="320040"/>
          </a:xfrm>
          <a:prstGeom prst="rect">
            <a:avLst/>
          </a:prstGeom>
          <a:noFill/>
          <a:ln/>
        </p:spPr>
        <p:txBody>
          <a:bodyPr wrap="square" rtlCol="0" anchor="ctr"/>
          <a:lstStyle/>
          <a:p>
            <a:pPr indent="0" marL="0">
              <a:buNone/>
            </a:pPr>
            <a:r>
              <a:rPr lang="en-US" sz="1100" b="1" dirty="0">
                <a:solidFill>
                  <a:srgbClr val="CADCFC"/>
                </a:solidFill>
                <a:latin typeface="Meiryo" pitchFamily="34" charset="0"/>
                <a:ea typeface="Meiryo" pitchFamily="34" charset="-122"/>
                <a:cs typeface="Meiryo" pitchFamily="34" charset="-120"/>
              </a:rPr>
              <a:t>提供サービス　</a:t>
            </a:r>
            <a:pPr indent="0" marL="0">
              <a:buNone/>
            </a:pPr>
            <a:r>
              <a:rPr lang="en-US" sz="1100" dirty="0">
                <a:solidFill>
                  <a:srgbClr val="C9D8ED"/>
                </a:solidFill>
                <a:latin typeface="Meiryo" pitchFamily="34" charset="0"/>
                <a:ea typeface="Meiryo" pitchFamily="34" charset="-122"/>
                <a:cs typeface="Meiryo" pitchFamily="34" charset="-120"/>
              </a:rPr>
              <a:t>クラプロユニット・HRユニット（ママワークス／Crowd Members 連携）</a:t>
            </a:r>
            <a:endParaRPr lang="en-US" sz="1100" dirty="0"/>
          </a:p>
        </p:txBody>
      </p:sp>
      <p:sp>
        <p:nvSpPr>
          <p:cNvPr id="11" name="Text 9"/>
          <p:cNvSpPr/>
          <p:nvPr/>
        </p:nvSpPr>
        <p:spPr>
          <a:xfrm>
            <a:off x="822960" y="6089904"/>
            <a:ext cx="7315200" cy="320040"/>
          </a:xfrm>
          <a:prstGeom prst="rect">
            <a:avLst/>
          </a:prstGeom>
          <a:noFill/>
          <a:ln/>
        </p:spPr>
        <p:txBody>
          <a:bodyPr wrap="square" rtlCol="0" anchor="ctr"/>
          <a:lstStyle/>
          <a:p>
            <a:pPr indent="0" marL="0">
              <a:buNone/>
            </a:pPr>
            <a:r>
              <a:rPr lang="en-US" sz="1100" dirty="0">
                <a:solidFill>
                  <a:srgbClr val="8FA9CC"/>
                </a:solidFill>
                <a:latin typeface="Meiryo" pitchFamily="34" charset="0"/>
                <a:ea typeface="Meiryo" pitchFamily="34" charset="-122"/>
                <a:cs typeface="Meiryo" pitchFamily="34" charset="-120"/>
              </a:rPr>
              <a:t>株式会社アイドマ・ホールディングス</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1</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地元求人難を越え全国からリモート人材を獲得。現場職人が施工に100%集中できる体制を構築</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有限会社田中製材工業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住宅建築、住まい造り、お庭・外構・木材加工・施工。</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2876296"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287629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地方・地域特有の採用難と慢性的な人手不足</a:t>
            </a:r>
            <a:endParaRPr lang="en-US" sz="950" dirty="0"/>
          </a:p>
        </p:txBody>
      </p:sp>
      <p:sp>
        <p:nvSpPr>
          <p:cNvPr id="13" name="Shape 11"/>
          <p:cNvSpPr/>
          <p:nvPr/>
        </p:nvSpPr>
        <p:spPr>
          <a:xfrm>
            <a:off x="585216" y="4553712"/>
            <a:ext cx="3527806"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352780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問い合わせ増加に伴う現場・バックオフィス人員の不足</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地域密着でお庭・住まい・施工を手がける同社。地元の求人広告では人が集まらず社内スタッフの業務負担が増大していたが、在宅・リモート求人活用にシフト。現場職人が施工業務に100%集中できる環境を構築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「ママワークス（HR・クラプロ支援）」の導入により、地域や通勤の垣根を越えて全国から優秀なリモート人材を獲得。人手不足を解消し、業務効率化と施工・顧客対応のスピード向上を達成した。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Integrasol合同会社様と同じ「お庭・住まい・現場サポート」領域において、地元の求人難でスタッフが集まらない課題を直接解決するモデルです。現地作業以外の顧客対応、見積り作成、Webプロモーション、採用実務をクラプロ/HRユニットで自動化・体制化し、現場作業に集中できる組織を構築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「地元の求人広告だけに頼っていては欲しい人材に出会えない時代です。リモートや外部のHR仕組みを採り入れることで、全国から即戦力となる優秀なスタッフを短期間で獲得できます。」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https://www.aidma-hd.jp/case/zirei-195/</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Integrasol合同会社様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1 / 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2</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採用・集客・営業サポートを外部化。人手不足を克服し職人の労働環境改善と生産性向上を両立</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ミヤサト塗装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外壁塗装、屋根・お庭周辺の外部改修・施工全般。</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2745994"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2745994"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地元の採用難による現場・事務人員の不足</a:t>
            </a:r>
            <a:endParaRPr lang="en-US" sz="950" dirty="0"/>
          </a:p>
        </p:txBody>
      </p:sp>
      <p:sp>
        <p:nvSpPr>
          <p:cNvPr id="13" name="Shape 11"/>
          <p:cNvSpPr/>
          <p:nvPr/>
        </p:nvSpPr>
        <p:spPr>
          <a:xfrm>
            <a:off x="585216" y="4553712"/>
            <a:ext cx="3078988"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3078988"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現場実務とバックオフィス/採用活動の両立困難</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少数精鋭の施工事業者。現場の施工に追われ自社で採用活動や集客に動けなかったが、外部の仕組みを活用して業務を切り分け。安定した施工品質と組織運用を可能にした。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アイドマのクラプロ・HR支援ユニットを導入し、採用・集客・営業サポート業務を外部化。人手不足を克服し、現場職人の労働環境改善と生産性向上を両立させた。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お庭サポート事業において、現場作業で多忙な職人様が採用面接や求人作成に時間を取られるのを防ぎます。クラプロユニット・HRユニットを活用して求人票作成やスカウト、一次選考を自動化し、質の高い人材を効率的に確保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「現場主義の事業者こそ、採用や事務を自前で抱え込まずプロの仕組みを使うべきです。専門人材をすぐ補強できるため、事業拡大のスピードが劇的に変わります。」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https://www.aidma-hd.jp/case/zirei-524/</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Integrasol合同会社様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2 / 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3</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全国から300名以上のリモートワーカーを採用。高額な紹介手数料なしで組織を急拡大</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株式会社3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各種サービス事業、マネジメント・店舗サポート。</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3267202"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326720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急激な事業拡大に伴う大規模採用・組織展開の限界</a:t>
            </a:r>
            <a:endParaRPr lang="en-US" sz="950" dirty="0"/>
          </a:p>
        </p:txBody>
      </p:sp>
      <p:sp>
        <p:nvSpPr>
          <p:cNvPr id="13" name="Shape 11"/>
          <p:cNvSpPr/>
          <p:nvPr/>
        </p:nvSpPr>
        <p:spPr>
          <a:xfrm>
            <a:off x="585216" y="4553712"/>
            <a:ext cx="3527806"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352780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従来の求人媒体・人材紹介会社による高額な採用コスト</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人手不足と採用難に悩み導入。登録者の母集団の大きさとスキルの高さを活かし、スカウト送信や一次選考を効率的に実施。圧倒的な「数の力」と高スペック人材の確保により、短期間での組織構築に成功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「ママワークス（HR・クラプロ支援）」を活用し、全国から300名以上の優秀なリモートワーカーを素早く採用・獲得。高額な紹介手数料をかけることなく、スピーディーな組織拡大を達成した。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Integrasol合同会社様が事業拡大に向けて「お庭サポートの問い合わせ対応・カスタマーサポート・予約管理・マーケティング人材」を低コストで大量かつ迅速に採用・補強したい際の最高の活用手本となり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「人材紹介会社へ高い手数料を払う前に、母集団が大きく自発的に動けるプラットフォームを活用すべきです。使いこなせばコストを抑えて驚くほど早く組織構築ができます。」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https://www.aidma-hd.jp/case/zirei-346/</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Integrasol合同会社様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3 / 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4</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「やりたくても人手がない」を解消。全国からWebマーケ・事務の即戦力を獲得し組織構築を加速</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行政書士佐藤秀樹事務所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士業・許認可申請・各種手続きサポート。</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3093466"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309346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Webプロモ・事業拡大をやりたくても人手がない</a:t>
            </a:r>
            <a:endParaRPr lang="en-US" sz="950" dirty="0"/>
          </a:p>
        </p:txBody>
      </p:sp>
      <p:sp>
        <p:nvSpPr>
          <p:cNvPr id="13" name="Shape 11"/>
          <p:cNvSpPr/>
          <p:nvPr/>
        </p:nvSpPr>
        <p:spPr>
          <a:xfrm>
            <a:off x="585216" y="4553712"/>
            <a:ext cx="3527806"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352780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地元の求人広告では欲しい専門人材が集まらない採用難</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地元での人員確保に限界を感じ導入。通勤にとらわれない在宅採用メソッドを活用し、専門スタッフのサポートを受けながらWeb・集客・事務の体制を短期間で完成させた。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ママワークス（HR・クラプロ支援）を活用し、全国からWebマーケターや事務・サポートスタッフなど即戦力人材を獲得。求人募集から組織構築までを劇的にスピードアップさせた。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「お庭サポート」の知名度向上やWeb予約導線の構築に必要な「Webマーケターや広告運用人材、CSスタッフ」を、地理的制約なく全国から即座に採用し、事業拡大のエンジンとして組み込むことができます。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「地元の求人を使うより確実に早く、幅広い職種の人材を獲得できます。採用や組織構築のプロが間に入ってサポートしてくれるため、安心して新しいチャレンジができます。」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https://www.aidma-hd.jp/case/zirei-384/</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Integrasol合同会社様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4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5</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周辺業務・採用を外部化し現場・指導に専念。業績のV字回復と業務効率化を達成</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株式会社CROSS-networks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各種施工・技術サービス・教育事業。</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2355088"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2355088"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施工・技術現場の慢性的な人手不足</a:t>
            </a:r>
            <a:endParaRPr lang="en-US" sz="950" dirty="0"/>
          </a:p>
        </p:txBody>
      </p:sp>
      <p:sp>
        <p:nvSpPr>
          <p:cNvPr id="13" name="Shape 11"/>
          <p:cNvSpPr/>
          <p:nvPr/>
        </p:nvSpPr>
        <p:spPr>
          <a:xfrm>
            <a:off x="585216" y="4553712"/>
            <a:ext cx="3006598"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3006598"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採用難による業務逼迫・現場担当者の負担過多</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人手不足による経営課題を解決するため導入。段階的にサービスを活用し、現場スタッフがコア業務に集中できる組織基盤を再構築した。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クラプロ（Webマーケティング/採用支援）やHRユニット（在宅チーム構築支援）を導入し、バックオフィス・集客・採用業務を外部化。指導や現場施工に専念できる環境を整え、業績のV字回復と業務効率化を達成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お庭サポート事業の現場スタッフが本来の施工・顧客サービス（コア業務）に専念できるよう、クラプロ・HRユニットで周辺業務・採用実務を自動化し、労働環境の改善と顧客満足度の向上を同時に実現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「人手不足で業務が回らない時こそ、外部の採用・業務支援サービスを頼るべきです。仕組みを変えることで、本来力を注ぐべき指導や施工サービスに専念できます。」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https://www.aidma-hd.jp/case/zirei-508/</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Integrasol合同会社様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5 / 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749808"/>
          </a:xfrm>
          <a:prstGeom prst="roundRect">
            <a:avLst>
              <a:gd name="adj" fmla="val 7317"/>
            </a:avLst>
          </a:prstGeom>
          <a:solidFill>
            <a:srgbClr val="16407A"/>
          </a:solidFill>
          <a:ln/>
        </p:spPr>
      </p:sp>
      <p:sp>
        <p:nvSpPr>
          <p:cNvPr id="3" name="Text 1"/>
          <p:cNvSpPr/>
          <p:nvPr/>
        </p:nvSpPr>
        <p:spPr>
          <a:xfrm>
            <a:off x="640080" y="365760"/>
            <a:ext cx="10972800" cy="749808"/>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まとめ ─ 採用難・人手不足：地元求人頼み → 全国から即戦力を獲得し現場に集中（Before → After）</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316736"/>
          <a:ext cx="11457432" cy="914400"/>
        </p:xfrm>
        <a:graphic>
          <a:graphicData uri="http://schemas.openxmlformats.org/drawingml/2006/table">
            <a:tbl>
              <a:tblPr/>
              <a:tblGrid>
                <a:gridCol w="2286000"/>
                <a:gridCol w="1828800"/>
                <a:gridCol w="2651760"/>
                <a:gridCol w="2176272"/>
                <a:gridCol w="2514600"/>
              </a:tblGrid>
              <a:tr h="365760">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企業名</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業種</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Before（課題）</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導入した支援</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After（成果）</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有限会社田中製材工業</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住宅建築・お庭/外構・木材加工施工</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地方特有の採用難・慢性的な人手不足／問い合わせ増加で現場・バックオフィス人員が不足</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ママワークス（HR・クラプロ支援／在宅・リモート求人を活用）</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全国から優秀なリモート人材を獲得し人手不足を解消、現場職人が施工に100%集中</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ミヤサト塗装</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外壁塗装・お庭周辺の外部改修施工</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地元の採用難による現場・事務人員の不足／現場実務と採用活動の両立困難</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クラプロ・HR支援ユニット（採用・集客・営業サポートを外部化）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人手不足を克服、現場職人の労働環境改善と生産性向上を両立</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株式会社3</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各種サービス事業・店舗サポート</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急激な事業拡大に伴う大規模採用の限界／求人媒体・人材紹介会社による高額な採用コスト</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ママワークス（HR・クラプロ支援／大きな母集団からスカウト・一次選考）</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全国から300名以上のリモートワーカーを採用、紹介手数料なしで組織を急拡大</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行政書士佐藤秀樹事務所</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士業・許認可申請・各種手続きサポート</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やりたくても人手がない／地元の求人広告では欲しい専門人材が集まらない採用難</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ママワークス（HR・クラプロ支援／在宅採用メソッド＋専門スタッフ伴走）</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全国からWebマーケ・事務の即戦力を獲得、求人〜組織構築を劇的にスピードアップ</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株式会社CROSS-networks</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各種施工・技術サービス・教育事業</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施工・技術現場の慢性的な人手不足／採用難による業務逼迫・現場担当者の負担過多</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クラプロ（Webマーケ/採用支援）・HRユニット（在宅チーム構築支援）</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バックオフィス・集客・採用を外部化し現場・指導に専念、業績のV字回復と業務効率化を達成</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bl>
          </a:graphicData>
        </a:graphic>
      </p:graphicFrame>
      <p:sp>
        <p:nvSpPr>
          <p:cNvPr id="5" name="Shape 2"/>
          <p:cNvSpPr/>
          <p:nvPr/>
        </p:nvSpPr>
        <p:spPr>
          <a:xfrm>
            <a:off x="365760" y="6089904"/>
            <a:ext cx="11457432" cy="548640"/>
          </a:xfrm>
          <a:prstGeom prst="roundRect">
            <a:avLst>
              <a:gd name="adj" fmla="val 8333"/>
            </a:avLst>
          </a:prstGeom>
          <a:solidFill>
            <a:srgbClr val="EAF1FA"/>
          </a:solidFill>
          <a:ln w="12700">
            <a:solidFill>
              <a:srgbClr val="C6D8EF"/>
            </a:solidFill>
            <a:prstDash val="solid"/>
          </a:ln>
        </p:spPr>
      </p:sp>
      <p:sp>
        <p:nvSpPr>
          <p:cNvPr id="6" name="Text 3"/>
          <p:cNvSpPr/>
          <p:nvPr/>
        </p:nvSpPr>
        <p:spPr>
          <a:xfrm>
            <a:off x="566928" y="6089904"/>
            <a:ext cx="11064240" cy="548640"/>
          </a:xfrm>
          <a:prstGeom prst="rect">
            <a:avLst/>
          </a:prstGeom>
          <a:noFill/>
          <a:ln/>
        </p:spPr>
        <p:txBody>
          <a:bodyPr wrap="square" lIns="0" tIns="0" rIns="0" bIns="0" rtlCol="0" anchor="ctr"/>
          <a:lstStyle/>
          <a:p>
            <a:pPr indent="0" marL="0">
              <a:buNone/>
            </a:pPr>
            <a:r>
              <a:rPr lang="en-US" sz="1000" b="1" dirty="0">
                <a:solidFill>
                  <a:srgbClr val="16407A"/>
                </a:solidFill>
                <a:latin typeface="Meiryo" pitchFamily="34" charset="0"/>
                <a:ea typeface="Meiryo" pitchFamily="34" charset="-122"/>
                <a:cs typeface="Meiryo" pitchFamily="34" charset="-120"/>
              </a:rPr>
              <a:t>現場職人が施工・顧客サービスに専念したまま、クラプロ・HRユニットで全国から即戦力人材を低コストで獲得し、採用・事務・集客の周辺業務を仕組み化できることを示す、お庭・住まい・現場サービス業の実績です。</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2026-10-25T14:33:36Z</dcterms:created>
  <dcterms:modified xsi:type="dcterms:W3CDTF">2026-10-25T14:33:36Z</dcterms:modified>
</cp:coreProperties>
</file>