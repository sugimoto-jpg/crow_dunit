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hyperlink" Target="https://www.aidma-hd.jp/case/zirei-413/" TargetMode="External"/><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hyperlink" Target="https://www.aidma-hd.jp/case/zirei-505/" TargetMode="External"/><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hyperlink" Target="https://www.aidma-hd.jp/case/zirei-513/" TargetMode="Externa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hyperlink" Target="https://www.aidma-hd.jp/case/zirei-130/" TargetMode="Externa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hyperlink" Target="https://www.aidma-hd.jp/case/zirei-414/" TargetMode="Externa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2F5C"/>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F2F5C"/>
          </a:solidFill>
          <a:ln/>
        </p:spPr>
      </p:sp>
      <p:sp>
        <p:nvSpPr>
          <p:cNvPr id="3" name="Shape 1"/>
          <p:cNvSpPr/>
          <p:nvPr/>
        </p:nvSpPr>
        <p:spPr>
          <a:xfrm>
            <a:off x="9326880" y="-2011680"/>
            <a:ext cx="5029200" cy="5029200"/>
          </a:xfrm>
          <a:prstGeom prst="ellipse">
            <a:avLst/>
          </a:prstGeom>
          <a:solidFill>
            <a:srgbClr val="FFFFFF">
              <a:alpha val="8000"/>
            </a:srgbClr>
          </a:solidFill>
          <a:ln/>
        </p:spPr>
      </p:sp>
      <p:sp>
        <p:nvSpPr>
          <p:cNvPr id="4" name="Shape 2"/>
          <p:cNvSpPr/>
          <p:nvPr/>
        </p:nvSpPr>
        <p:spPr>
          <a:xfrm>
            <a:off x="8595360" y="4023360"/>
            <a:ext cx="3840480" cy="3840480"/>
          </a:xfrm>
          <a:prstGeom prst="ellipse">
            <a:avLst/>
          </a:prstGeom>
          <a:solidFill>
            <a:srgbClr val="FFFFFF">
              <a:alpha val="6000"/>
            </a:srgbClr>
          </a:solidFill>
          <a:ln/>
        </p:spPr>
      </p:sp>
      <p:sp>
        <p:nvSpPr>
          <p:cNvPr id="5" name="Text 3"/>
          <p:cNvSpPr/>
          <p:nvPr/>
        </p:nvSpPr>
        <p:spPr>
          <a:xfrm>
            <a:off x="822960" y="1188720"/>
            <a:ext cx="10607040" cy="365760"/>
          </a:xfrm>
          <a:prstGeom prst="rect">
            <a:avLst/>
          </a:prstGeom>
          <a:noFill/>
          <a:ln/>
        </p:spPr>
        <p:txBody>
          <a:bodyPr wrap="square" rtlCol="0" anchor="ctr"/>
          <a:lstStyle/>
          <a:p>
            <a:pPr indent="0" marL="0">
              <a:buNone/>
            </a:pPr>
            <a:r>
              <a:rPr lang="en-US" sz="1200" b="1" spc="200" kern="0" dirty="0">
                <a:solidFill>
                  <a:srgbClr val="CADCFC"/>
                </a:solidFill>
                <a:latin typeface="Meiryo" pitchFamily="34" charset="0"/>
                <a:ea typeface="Meiryo" pitchFamily="34" charset="-122"/>
                <a:cs typeface="Meiryo" pitchFamily="34" charset="-120"/>
              </a:rPr>
              <a:t>CASE STUDIES ─ 営業支援ユニット × 自動車・カーケア・BtoB開拓</a:t>
            </a:r>
            <a:endParaRPr lang="en-US" sz="1200" dirty="0"/>
          </a:p>
        </p:txBody>
      </p:sp>
      <p:sp>
        <p:nvSpPr>
          <p:cNvPr id="6" name="Text 4"/>
          <p:cNvSpPr/>
          <p:nvPr/>
        </p:nvSpPr>
        <p:spPr>
          <a:xfrm>
            <a:off x="822960" y="1627632"/>
            <a:ext cx="10789920" cy="1737360"/>
          </a:xfrm>
          <a:prstGeom prst="rect">
            <a:avLst/>
          </a:prstGeom>
          <a:noFill/>
          <a:ln/>
        </p:spPr>
        <p:txBody>
          <a:bodyPr wrap="square" rtlCol="0" anchor="ctr"/>
          <a:lstStyle/>
          <a:p>
            <a:pPr indent="0" marL="0">
              <a:lnSpc>
                <a:spcPct val="110000"/>
              </a:lnSpc>
              <a:buNone/>
            </a:pPr>
            <a:r>
              <a:rPr lang="en-US" sz="3800" b="1" dirty="0">
                <a:solidFill>
                  <a:srgbClr val="FFFFFF"/>
                </a:solidFill>
                <a:latin typeface="Meiryo" pitchFamily="34" charset="0"/>
                <a:ea typeface="Meiryo" pitchFamily="34" charset="-122"/>
                <a:cs typeface="Meiryo" pitchFamily="34" charset="-120"/>
              </a:rPr>
              <a:t>興拓 様</a:t>
            </a:r>
            <a:endParaRPr lang="en-US" sz="3800" dirty="0"/>
          </a:p>
          <a:p>
            <a:pPr indent="0" marL="0">
              <a:lnSpc>
                <a:spcPct val="110000"/>
              </a:lnSpc>
              <a:buNone/>
            </a:pPr>
            <a:r>
              <a:rPr lang="en-US" sz="3400" b="1" dirty="0">
                <a:solidFill>
                  <a:srgbClr val="FFFFFF"/>
                </a:solidFill>
                <a:latin typeface="Meiryo" pitchFamily="34" charset="0"/>
                <a:ea typeface="Meiryo" pitchFamily="34" charset="-122"/>
                <a:cs typeface="Meiryo" pitchFamily="34" charset="-120"/>
              </a:rPr>
              <a:t>提案引用実績 5選</a:t>
            </a:r>
            <a:endParaRPr lang="en-US" sz="3800" dirty="0"/>
          </a:p>
        </p:txBody>
      </p:sp>
      <p:sp>
        <p:nvSpPr>
          <p:cNvPr id="7" name="Text 5"/>
          <p:cNvSpPr/>
          <p:nvPr/>
        </p:nvSpPr>
        <p:spPr>
          <a:xfrm>
            <a:off x="822960" y="3456432"/>
            <a:ext cx="10149840" cy="1188720"/>
          </a:xfrm>
          <a:prstGeom prst="rect">
            <a:avLst/>
          </a:prstGeom>
          <a:noFill/>
          <a:ln/>
        </p:spPr>
        <p:txBody>
          <a:bodyPr wrap="square" rtlCol="0" anchor="ctr"/>
          <a:lstStyle/>
          <a:p>
            <a:pPr indent="0" marL="0">
              <a:lnSpc>
                <a:spcPct val="124000"/>
              </a:lnSpc>
              <a:buNone/>
            </a:pPr>
            <a:r>
              <a:rPr lang="en-US" sz="1250" dirty="0">
                <a:solidFill>
                  <a:srgbClr val="DDE8F6"/>
                </a:solidFill>
                <a:latin typeface="Meiryo" pitchFamily="34" charset="0"/>
                <a:ea typeface="Meiryo" pitchFamily="34" charset="-122"/>
                <a:cs typeface="Meiryo" pitchFamily="34" charset="-120"/>
              </a:rPr>
              <a:t>興拓様（車のコーティング事業／課題：新規営業・BtoB取引先開拓・営業体制の構築［自社HPなし・少人数体制］）と同業界で、「自社HPや営業マンがいない中でのBtoB新規開拓」「下請け・紹介頼みからの脱却」「車関連の法人顧客や提携店舗との直取引・商談の自動創出」を解決した実績を5件厳選しました。</a:t>
            </a:r>
            <a:endParaRPr lang="en-US" sz="1250" dirty="0"/>
          </a:p>
        </p:txBody>
      </p:sp>
      <p:sp>
        <p:nvSpPr>
          <p:cNvPr id="8" name="Shape 6"/>
          <p:cNvSpPr/>
          <p:nvPr/>
        </p:nvSpPr>
        <p:spPr>
          <a:xfrm>
            <a:off x="822960" y="5074920"/>
            <a:ext cx="10515600" cy="0"/>
          </a:xfrm>
          <a:prstGeom prst="line">
            <a:avLst/>
          </a:prstGeom>
          <a:noFill/>
          <a:ln w="12700">
            <a:solidFill>
              <a:srgbClr val="3A5A87"/>
            </a:solidFill>
            <a:prstDash val="solid"/>
          </a:ln>
        </p:spPr>
      </p:sp>
      <p:sp>
        <p:nvSpPr>
          <p:cNvPr id="9" name="Text 7"/>
          <p:cNvSpPr/>
          <p:nvPr/>
        </p:nvSpPr>
        <p:spPr>
          <a:xfrm>
            <a:off x="822960" y="5230368"/>
            <a:ext cx="10607040" cy="320040"/>
          </a:xfrm>
          <a:prstGeom prst="rect">
            <a:avLst/>
          </a:prstGeom>
          <a:noFill/>
          <a:ln/>
        </p:spPr>
        <p:txBody>
          <a:bodyPr wrap="square" rtlCol="0" anchor="ctr"/>
          <a:lstStyle/>
          <a:p>
            <a:pPr indent="0" marL="0">
              <a:buNone/>
            </a:pPr>
            <a:r>
              <a:rPr lang="en-US" sz="1050" b="1" dirty="0">
                <a:solidFill>
                  <a:srgbClr val="CADCFC"/>
                </a:solidFill>
                <a:latin typeface="Meiryo" pitchFamily="34" charset="0"/>
                <a:ea typeface="Meiryo" pitchFamily="34" charset="-122"/>
                <a:cs typeface="Meiryo" pitchFamily="34" charset="-120"/>
              </a:rPr>
              <a:t>提案の狙い　</a:t>
            </a:r>
            <a:pPr indent="0" marL="0">
              <a:buNone/>
            </a:pPr>
            <a:r>
              <a:rPr lang="en-US" sz="1050" dirty="0">
                <a:solidFill>
                  <a:srgbClr val="C9D8ED"/>
                </a:solidFill>
                <a:latin typeface="Meiryo" pitchFamily="34" charset="0"/>
                <a:ea typeface="Meiryo" pitchFamily="34" charset="-122"/>
                <a:cs typeface="Meiryo" pitchFamily="34" charset="-120"/>
              </a:rPr>
              <a:t>自社HP・営業マン不在でもBtoB新規開拓／下請け・紹介頼みからの脱却／車関連法人・提携店舗との直取引・商談の自動創出</a:t>
            </a:r>
            <a:endParaRPr lang="en-US" sz="1050" dirty="0"/>
          </a:p>
        </p:txBody>
      </p:sp>
      <p:sp>
        <p:nvSpPr>
          <p:cNvPr id="10" name="Text 8"/>
          <p:cNvSpPr/>
          <p:nvPr/>
        </p:nvSpPr>
        <p:spPr>
          <a:xfrm>
            <a:off x="822960" y="5577840"/>
            <a:ext cx="10607040" cy="320040"/>
          </a:xfrm>
          <a:prstGeom prst="rect">
            <a:avLst/>
          </a:prstGeom>
          <a:noFill/>
          <a:ln/>
        </p:spPr>
        <p:txBody>
          <a:bodyPr wrap="square" rtlCol="0" anchor="ctr"/>
          <a:lstStyle/>
          <a:p>
            <a:pPr indent="0" marL="0">
              <a:buNone/>
            </a:pPr>
            <a:r>
              <a:rPr lang="en-US" sz="1100" b="1" dirty="0">
                <a:solidFill>
                  <a:srgbClr val="CADCFC"/>
                </a:solidFill>
                <a:latin typeface="Meiryo" pitchFamily="34" charset="0"/>
                <a:ea typeface="Meiryo" pitchFamily="34" charset="-122"/>
                <a:cs typeface="Meiryo" pitchFamily="34" charset="-120"/>
              </a:rPr>
              <a:t>提供サービス　</a:t>
            </a:r>
            <a:pPr indent="0" marL="0">
              <a:buNone/>
            </a:pPr>
            <a:r>
              <a:rPr lang="en-US" sz="1100" dirty="0">
                <a:solidFill>
                  <a:srgbClr val="C9D8ED"/>
                </a:solidFill>
                <a:latin typeface="Meiryo" pitchFamily="34" charset="0"/>
                <a:ea typeface="Meiryo" pitchFamily="34" charset="-122"/>
                <a:cs typeface="Meiryo" pitchFamily="34" charset="-120"/>
              </a:rPr>
              <a:t>営業支援ユニット（Sales Platform・ママワークス連携）</a:t>
            </a:r>
            <a:endParaRPr lang="en-US" sz="1100" dirty="0"/>
          </a:p>
        </p:txBody>
      </p:sp>
      <p:sp>
        <p:nvSpPr>
          <p:cNvPr id="11" name="Text 9"/>
          <p:cNvSpPr/>
          <p:nvPr/>
        </p:nvSpPr>
        <p:spPr>
          <a:xfrm>
            <a:off x="822960" y="6071616"/>
            <a:ext cx="7315200" cy="320040"/>
          </a:xfrm>
          <a:prstGeom prst="rect">
            <a:avLst/>
          </a:prstGeom>
          <a:noFill/>
          <a:ln/>
        </p:spPr>
        <p:txBody>
          <a:bodyPr wrap="square" rtlCol="0" anchor="ctr"/>
          <a:lstStyle/>
          <a:p>
            <a:pPr indent="0" marL="0">
              <a:buNone/>
            </a:pPr>
            <a:r>
              <a:rPr lang="en-US" sz="1100" dirty="0">
                <a:solidFill>
                  <a:srgbClr val="8FA9CC"/>
                </a:solidFill>
                <a:latin typeface="Meiryo" pitchFamily="34" charset="0"/>
                <a:ea typeface="Meiryo" pitchFamily="34" charset="-122"/>
                <a:cs typeface="Meiryo" pitchFamily="34" charset="-120"/>
              </a:rPr>
              <a:t>株式会社アイドマ・ホールディングス</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3F6FB"/>
        </a:solidFill>
      </p:bgPr>
    </p:bg>
    <p:spTree>
      <p:nvGrpSpPr>
        <p:cNvPr id="1" name=""/>
        <p:cNvGrpSpPr/>
        <p:nvPr/>
      </p:nvGrpSpPr>
      <p:grpSpPr>
        <a:xfrm>
          <a:off x="0" y="0"/>
          <a:ext cx="0" cy="0"/>
          <a:chOff x="0" y="0"/>
          <a:chExt cx="0" cy="0"/>
        </a:xfrm>
      </p:grpSpPr>
      <p:sp>
        <p:nvSpPr>
          <p:cNvPr id="2" name="Shape 0"/>
          <p:cNvSpPr/>
          <p:nvPr/>
        </p:nvSpPr>
        <p:spPr>
          <a:xfrm>
            <a:off x="365760" y="365760"/>
            <a:ext cx="11457432" cy="932688"/>
          </a:xfrm>
          <a:prstGeom prst="roundRect">
            <a:avLst>
              <a:gd name="adj" fmla="val 5882"/>
            </a:avLst>
          </a:prstGeom>
          <a:solidFill>
            <a:srgbClr val="16407A"/>
          </a:solidFill>
          <a:ln/>
          <a:effectLst>
            <a:outerShdw sx="100000" sy="100000" kx="0" ky="0" algn="bl" rotWithShape="0" blurRad="76200" dist="25400" dir="5400000">
              <a:srgbClr val="0F2F5C">
                <a:alpha val="35000"/>
              </a:srgbClr>
            </a:outerShdw>
          </a:effectLst>
        </p:spPr>
      </p:sp>
      <p:sp>
        <p:nvSpPr>
          <p:cNvPr id="3" name="Shape 1"/>
          <p:cNvSpPr/>
          <p:nvPr/>
        </p:nvSpPr>
        <p:spPr>
          <a:xfrm>
            <a:off x="566928" y="566928"/>
            <a:ext cx="530352" cy="530352"/>
          </a:xfrm>
          <a:prstGeom prst="roundRect">
            <a:avLst>
              <a:gd name="adj" fmla="val 13793"/>
            </a:avLst>
          </a:prstGeom>
          <a:solidFill>
            <a:srgbClr val="FFFFFF">
              <a:alpha val="16000"/>
            </a:srgbClr>
          </a:solidFill>
          <a:ln w="12700">
            <a:solidFill>
              <a:srgbClr val="FFFFFF">
                <a:alpha val="40000"/>
              </a:srgbClr>
            </a:solidFill>
            <a:prstDash val="solid"/>
          </a:ln>
        </p:spPr>
      </p:sp>
      <p:sp>
        <p:nvSpPr>
          <p:cNvPr id="4" name="Text 2"/>
          <p:cNvSpPr/>
          <p:nvPr/>
        </p:nvSpPr>
        <p:spPr>
          <a:xfrm>
            <a:off x="566928" y="566928"/>
            <a:ext cx="530352" cy="530352"/>
          </a:xfrm>
          <a:prstGeom prst="rect">
            <a:avLst/>
          </a:prstGeom>
          <a:noFill/>
          <a:ln/>
        </p:spPr>
        <p:txBody>
          <a:bodyPr wrap="square" lIns="0" tIns="0" rIns="0" bIns="0" rtlCol="0" anchor="ctr"/>
          <a:lstStyle/>
          <a:p>
            <a:pPr algn="ctr" indent="0" marL="0">
              <a:buNone/>
            </a:pPr>
            <a:r>
              <a:rPr lang="en-US" sz="2400" b="1" dirty="0">
                <a:solidFill>
                  <a:srgbClr val="FFFFFF"/>
                </a:solidFill>
                <a:latin typeface="Meiryo" pitchFamily="34" charset="0"/>
                <a:ea typeface="Meiryo" pitchFamily="34" charset="-122"/>
                <a:cs typeface="Meiryo" pitchFamily="34" charset="-120"/>
              </a:rPr>
              <a:t>1</a:t>
            </a:r>
            <a:endParaRPr lang="en-US" sz="2400" dirty="0"/>
          </a:p>
        </p:txBody>
      </p:sp>
      <p:sp>
        <p:nvSpPr>
          <p:cNvPr id="5" name="Text 3"/>
          <p:cNvSpPr/>
          <p:nvPr/>
        </p:nvSpPr>
        <p:spPr>
          <a:xfrm>
            <a:off x="1280160" y="420624"/>
            <a:ext cx="10378440" cy="822960"/>
          </a:xfrm>
          <a:prstGeom prst="rect">
            <a:avLst/>
          </a:prstGeom>
          <a:noFill/>
          <a:ln/>
        </p:spPr>
        <p:txBody>
          <a:bodyPr wrap="square" lIns="0" tIns="0" rIns="0" bIns="0" rtlCol="0" anchor="ctr"/>
          <a:lstStyle/>
          <a:p>
            <a:pPr indent="0" marL="0">
              <a:lnSpc>
                <a:spcPct val="105000"/>
              </a:lnSpc>
              <a:buNone/>
            </a:pPr>
            <a:r>
              <a:rPr lang="en-US" sz="1400" b="1" dirty="0">
                <a:solidFill>
                  <a:srgbClr val="FFFFFF"/>
                </a:solidFill>
                <a:latin typeface="Meiryo" pitchFamily="34" charset="0"/>
                <a:ea typeface="Meiryo" pitchFamily="34" charset="-122"/>
                <a:cs typeface="Meiryo" pitchFamily="34" charset="-120"/>
              </a:rPr>
              <a:t>同業「自動車・車両関連」の直接事例。紹介依存から脱却し新規法人・定期取引先を継続獲得</a:t>
            </a:r>
            <a:endParaRPr lang="en-US" sz="1400" dirty="0"/>
          </a:p>
        </p:txBody>
      </p:sp>
      <p:sp>
        <p:nvSpPr>
          <p:cNvPr id="6" name="Shape 4"/>
          <p:cNvSpPr/>
          <p:nvPr/>
        </p:nvSpPr>
        <p:spPr>
          <a:xfrm>
            <a:off x="365760" y="1481328"/>
            <a:ext cx="3566160" cy="5029200"/>
          </a:xfrm>
          <a:prstGeom prst="roundRect">
            <a:avLst>
              <a:gd name="adj" fmla="val 1282"/>
            </a:avLst>
          </a:prstGeom>
          <a:solidFill>
            <a:srgbClr val="EAF1FA"/>
          </a:solidFill>
          <a:ln w="12700">
            <a:solidFill>
              <a:srgbClr val="D2DCEA"/>
            </a:solidFill>
            <a:prstDash val="solid"/>
          </a:ln>
        </p:spPr>
      </p:sp>
      <p:sp>
        <p:nvSpPr>
          <p:cNvPr id="7" name="Text 5"/>
          <p:cNvSpPr/>
          <p:nvPr/>
        </p:nvSpPr>
        <p:spPr>
          <a:xfrm>
            <a:off x="585216" y="1664208"/>
            <a:ext cx="3127248" cy="640080"/>
          </a:xfrm>
          <a:prstGeom prst="rect">
            <a:avLst/>
          </a:prstGeom>
          <a:noFill/>
          <a:ln/>
        </p:spPr>
        <p:txBody>
          <a:bodyPr wrap="square" lIns="0" tIns="0" rIns="0" bIns="0" rtlCol="0" anchor="t"/>
          <a:lstStyle/>
          <a:p>
            <a:pPr indent="0" marL="0">
              <a:lnSpc>
                <a:spcPct val="105000"/>
              </a:lnSpc>
              <a:buNone/>
            </a:pPr>
            <a:r>
              <a:rPr lang="en-US" sz="1300" b="1" dirty="0">
                <a:solidFill>
                  <a:srgbClr val="1C2530"/>
                </a:solidFill>
                <a:latin typeface="Meiryo" pitchFamily="34" charset="0"/>
                <a:ea typeface="Meiryo" pitchFamily="34" charset="-122"/>
                <a:cs typeface="Meiryo" pitchFamily="34" charset="-120"/>
              </a:rPr>
              <a:t>三栄自動車リース株式会社　様</a:t>
            </a:r>
            <a:endParaRPr lang="en-US" sz="1300" dirty="0"/>
          </a:p>
        </p:txBody>
      </p:sp>
      <p:sp>
        <p:nvSpPr>
          <p:cNvPr id="8" name="Text 6"/>
          <p:cNvSpPr/>
          <p:nvPr/>
        </p:nvSpPr>
        <p:spPr>
          <a:xfrm>
            <a:off x="585216" y="2377440"/>
            <a:ext cx="3127248" cy="219456"/>
          </a:xfrm>
          <a:prstGeom prst="rect">
            <a:avLst/>
          </a:prstGeom>
          <a:noFill/>
          <a:ln/>
        </p:spPr>
        <p:txBody>
          <a:bodyPr wrap="square" lIns="0" tIns="0" rIns="0" bIns="0" rtlCol="0" anchor="ctr"/>
          <a:lstStyle/>
          <a:p>
            <a:pPr indent="0" marL="0">
              <a:buNone/>
            </a:pPr>
            <a:r>
              <a:rPr lang="en-US" sz="950" b="1" spc="100" kern="0" dirty="0">
                <a:solidFill>
                  <a:srgbClr val="2B64AB"/>
                </a:solidFill>
                <a:latin typeface="Meiryo" pitchFamily="34" charset="0"/>
                <a:ea typeface="Meiryo" pitchFamily="34" charset="-122"/>
                <a:cs typeface="Meiryo" pitchFamily="34" charset="-120"/>
              </a:rPr>
              <a:t>事業内容</a:t>
            </a:r>
            <a:endParaRPr lang="en-US" sz="950" dirty="0"/>
          </a:p>
        </p:txBody>
      </p:sp>
      <p:sp>
        <p:nvSpPr>
          <p:cNvPr id="9" name="Text 7"/>
          <p:cNvSpPr/>
          <p:nvPr/>
        </p:nvSpPr>
        <p:spPr>
          <a:xfrm>
            <a:off x="585216" y="2596896"/>
            <a:ext cx="3127248" cy="1143000"/>
          </a:xfrm>
          <a:prstGeom prst="rect">
            <a:avLst/>
          </a:prstGeom>
          <a:noFill/>
          <a:ln/>
        </p:spPr>
        <p:txBody>
          <a:bodyPr wrap="square" lIns="0" tIns="0" rIns="0" bIns="0" rtlCol="0" anchor="ctr"/>
          <a:lstStyle/>
          <a:p>
            <a:pPr indent="0" marL="0">
              <a:lnSpc>
                <a:spcPct val="113000"/>
              </a:lnSpc>
              <a:buNone/>
            </a:pPr>
            <a:r>
              <a:rPr lang="en-US" sz="950" dirty="0">
                <a:solidFill>
                  <a:srgbClr val="45566A"/>
                </a:solidFill>
                <a:latin typeface="Meiryo" pitchFamily="34" charset="0"/>
                <a:ea typeface="Meiryo" pitchFamily="34" charset="-122"/>
                <a:cs typeface="Meiryo" pitchFamily="34" charset="-120"/>
              </a:rPr>
              <a:t>自動車販売・自動車リース販売、車検整備・板金・コーティング、保険代理店等。</a:t>
            </a:r>
            <a:endParaRPr lang="en-US" sz="950" dirty="0"/>
          </a:p>
        </p:txBody>
      </p:sp>
      <p:sp>
        <p:nvSpPr>
          <p:cNvPr id="10" name="Text 8"/>
          <p:cNvSpPr/>
          <p:nvPr/>
        </p:nvSpPr>
        <p:spPr>
          <a:xfrm>
            <a:off x="585216" y="3785616"/>
            <a:ext cx="3127248" cy="219456"/>
          </a:xfrm>
          <a:prstGeom prst="rect">
            <a:avLst/>
          </a:prstGeom>
          <a:noFill/>
          <a:ln/>
        </p:spPr>
        <p:txBody>
          <a:bodyPr wrap="square" lIns="0" tIns="0" rIns="0" bIns="0" rtlCol="0" anchor="ctr"/>
          <a:lstStyle/>
          <a:p>
            <a:pPr indent="0" marL="0">
              <a:buNone/>
            </a:pPr>
            <a:r>
              <a:rPr lang="en-US" sz="950" b="1" spc="100" kern="0" dirty="0">
                <a:solidFill>
                  <a:srgbClr val="2B64AB"/>
                </a:solidFill>
                <a:latin typeface="Meiryo" pitchFamily="34" charset="0"/>
                <a:ea typeface="Meiryo" pitchFamily="34" charset="-122"/>
                <a:cs typeface="Meiryo" pitchFamily="34" charset="-120"/>
              </a:rPr>
              <a:t>解決した課題</a:t>
            </a:r>
            <a:endParaRPr lang="en-US" sz="950" dirty="0"/>
          </a:p>
        </p:txBody>
      </p:sp>
      <p:sp>
        <p:nvSpPr>
          <p:cNvPr id="11" name="Shape 9"/>
          <p:cNvSpPr/>
          <p:nvPr/>
        </p:nvSpPr>
        <p:spPr>
          <a:xfrm>
            <a:off x="585216" y="4059936"/>
            <a:ext cx="2355088" cy="274320"/>
          </a:xfrm>
          <a:prstGeom prst="roundRect">
            <a:avLst>
              <a:gd name="adj" fmla="val 50000"/>
            </a:avLst>
          </a:prstGeom>
          <a:solidFill>
            <a:srgbClr val="DCE8F6"/>
          </a:solidFill>
          <a:ln w="9525">
            <a:solidFill>
              <a:srgbClr val="BFD3EC"/>
            </a:solidFill>
            <a:prstDash val="solid"/>
          </a:ln>
        </p:spPr>
      </p:sp>
      <p:sp>
        <p:nvSpPr>
          <p:cNvPr id="12" name="Text 10"/>
          <p:cNvSpPr/>
          <p:nvPr/>
        </p:nvSpPr>
        <p:spPr>
          <a:xfrm>
            <a:off x="585216" y="4059936"/>
            <a:ext cx="2355088" cy="274320"/>
          </a:xfrm>
          <a:prstGeom prst="rect">
            <a:avLst/>
          </a:prstGeom>
          <a:noFill/>
          <a:ln/>
        </p:spPr>
        <p:txBody>
          <a:bodyPr wrap="square" lIns="0" tIns="0" rIns="0" bIns="0" rtlCol="0" anchor="ctr"/>
          <a:lstStyle/>
          <a:p>
            <a:pPr algn="ctr" indent="0" marL="0">
              <a:buNone/>
            </a:pPr>
            <a:r>
              <a:rPr lang="en-US" sz="950" b="1" dirty="0">
                <a:solidFill>
                  <a:srgbClr val="24548F"/>
                </a:solidFill>
                <a:latin typeface="Meiryo" pitchFamily="34" charset="0"/>
                <a:ea typeface="Meiryo" pitchFamily="34" charset="-122"/>
                <a:cs typeface="Meiryo" pitchFamily="34" charset="-120"/>
              </a:rPr>
              <a:t>紹介・口コミ頼みの営業からの脱却</a:t>
            </a:r>
            <a:endParaRPr lang="en-US" sz="950" dirty="0"/>
          </a:p>
        </p:txBody>
      </p:sp>
      <p:sp>
        <p:nvSpPr>
          <p:cNvPr id="13" name="Shape 11"/>
          <p:cNvSpPr/>
          <p:nvPr/>
        </p:nvSpPr>
        <p:spPr>
          <a:xfrm>
            <a:off x="585216" y="4407408"/>
            <a:ext cx="3165856" cy="274320"/>
          </a:xfrm>
          <a:prstGeom prst="roundRect">
            <a:avLst>
              <a:gd name="adj" fmla="val 50000"/>
            </a:avLst>
          </a:prstGeom>
          <a:solidFill>
            <a:srgbClr val="DCE8F6"/>
          </a:solidFill>
          <a:ln w="9525">
            <a:solidFill>
              <a:srgbClr val="BFD3EC"/>
            </a:solidFill>
            <a:prstDash val="solid"/>
          </a:ln>
        </p:spPr>
      </p:sp>
      <p:sp>
        <p:nvSpPr>
          <p:cNvPr id="14" name="Text 12"/>
          <p:cNvSpPr/>
          <p:nvPr/>
        </p:nvSpPr>
        <p:spPr>
          <a:xfrm>
            <a:off x="585216" y="4407408"/>
            <a:ext cx="3165856" cy="274320"/>
          </a:xfrm>
          <a:prstGeom prst="rect">
            <a:avLst/>
          </a:prstGeom>
          <a:noFill/>
          <a:ln/>
        </p:spPr>
        <p:txBody>
          <a:bodyPr wrap="square" lIns="0" tIns="0" rIns="0" bIns="0" rtlCol="0" anchor="ctr"/>
          <a:lstStyle/>
          <a:p>
            <a:pPr algn="ctr" indent="0" marL="0">
              <a:buNone/>
            </a:pPr>
            <a:r>
              <a:rPr lang="en-US" sz="950" b="1" dirty="0">
                <a:solidFill>
                  <a:srgbClr val="24548F"/>
                </a:solidFill>
                <a:latin typeface="Meiryo" pitchFamily="34" charset="0"/>
                <a:ea typeface="Meiryo" pitchFamily="34" charset="-122"/>
                <a:cs typeface="Meiryo" pitchFamily="34" charset="-120"/>
              </a:rPr>
              <a:t>法人（社用車・車両保有企業）BtoB直契約の開拓</a:t>
            </a:r>
            <a:endParaRPr lang="en-US" sz="950" dirty="0"/>
          </a:p>
        </p:txBody>
      </p:sp>
      <p:sp>
        <p:nvSpPr>
          <p:cNvPr id="15" name="Shape 13"/>
          <p:cNvSpPr/>
          <p:nvPr/>
        </p:nvSpPr>
        <p:spPr>
          <a:xfrm>
            <a:off x="585216" y="4754880"/>
            <a:ext cx="2224786" cy="274320"/>
          </a:xfrm>
          <a:prstGeom prst="roundRect">
            <a:avLst>
              <a:gd name="adj" fmla="val 50000"/>
            </a:avLst>
          </a:prstGeom>
          <a:solidFill>
            <a:srgbClr val="DCE8F6"/>
          </a:solidFill>
          <a:ln w="9525">
            <a:solidFill>
              <a:srgbClr val="BFD3EC"/>
            </a:solidFill>
            <a:prstDash val="solid"/>
          </a:ln>
        </p:spPr>
      </p:sp>
      <p:sp>
        <p:nvSpPr>
          <p:cNvPr id="16" name="Text 14"/>
          <p:cNvSpPr/>
          <p:nvPr/>
        </p:nvSpPr>
        <p:spPr>
          <a:xfrm>
            <a:off x="585216" y="4754880"/>
            <a:ext cx="2224786" cy="274320"/>
          </a:xfrm>
          <a:prstGeom prst="rect">
            <a:avLst/>
          </a:prstGeom>
          <a:noFill/>
          <a:ln/>
        </p:spPr>
        <p:txBody>
          <a:bodyPr wrap="square" lIns="0" tIns="0" rIns="0" bIns="0" rtlCol="0" anchor="ctr"/>
          <a:lstStyle/>
          <a:p>
            <a:pPr algn="ctr" indent="0" marL="0">
              <a:buNone/>
            </a:pPr>
            <a:r>
              <a:rPr lang="en-US" sz="950" b="1" dirty="0">
                <a:solidFill>
                  <a:srgbClr val="24548F"/>
                </a:solidFill>
                <a:latin typeface="Meiryo" pitchFamily="34" charset="0"/>
                <a:ea typeface="Meiryo" pitchFamily="34" charset="-122"/>
                <a:cs typeface="Meiryo" pitchFamily="34" charset="-120"/>
              </a:rPr>
              <a:t>営業ノウハウ・人的リソース不足</a:t>
            </a:r>
            <a:endParaRPr lang="en-US" sz="950" dirty="0"/>
          </a:p>
        </p:txBody>
      </p:sp>
      <p:sp>
        <p:nvSpPr>
          <p:cNvPr id="17" name="Shape 15"/>
          <p:cNvSpPr/>
          <p:nvPr/>
        </p:nvSpPr>
        <p:spPr>
          <a:xfrm>
            <a:off x="4114800" y="1417320"/>
            <a:ext cx="82296" cy="219456"/>
          </a:xfrm>
          <a:prstGeom prst="roundRect">
            <a:avLst>
              <a:gd name="adj" fmla="val 33333"/>
            </a:avLst>
          </a:prstGeom>
          <a:solidFill>
            <a:srgbClr val="2B64AB"/>
          </a:solidFill>
          <a:ln/>
        </p:spPr>
      </p:sp>
      <p:sp>
        <p:nvSpPr>
          <p:cNvPr id="18" name="Text 16"/>
          <p:cNvSpPr/>
          <p:nvPr/>
        </p:nvSpPr>
        <p:spPr>
          <a:xfrm>
            <a:off x="4297680" y="1353312"/>
            <a:ext cx="7315200" cy="310896"/>
          </a:xfrm>
          <a:prstGeom prst="rect">
            <a:avLst/>
          </a:prstGeom>
          <a:noFill/>
          <a:ln/>
        </p:spPr>
        <p:txBody>
          <a:bodyPr wrap="square" lIns="0" tIns="0" rIns="0" bIns="0" rtlCol="0" anchor="ctr"/>
          <a:lstStyle/>
          <a:p>
            <a:pPr indent="0" marL="0">
              <a:buNone/>
            </a:pPr>
            <a:r>
              <a:rPr lang="en-US" sz="1250" b="1" dirty="0">
                <a:solidFill>
                  <a:srgbClr val="2B64AB"/>
                </a:solidFill>
                <a:latin typeface="Meiryo" pitchFamily="34" charset="0"/>
                <a:ea typeface="Meiryo" pitchFamily="34" charset="-122"/>
                <a:cs typeface="Meiryo" pitchFamily="34" charset="-120"/>
              </a:rPr>
              <a:t>事例の概要</a:t>
            </a:r>
            <a:endParaRPr lang="en-US" sz="1250" dirty="0"/>
          </a:p>
        </p:txBody>
      </p:sp>
      <p:sp>
        <p:nvSpPr>
          <p:cNvPr id="19" name="Text 17"/>
          <p:cNvSpPr/>
          <p:nvPr/>
        </p:nvSpPr>
        <p:spPr>
          <a:xfrm>
            <a:off x="4114800" y="1682496"/>
            <a:ext cx="7708392" cy="676656"/>
          </a:xfrm>
          <a:prstGeom prst="rect">
            <a:avLst/>
          </a:prstGeom>
          <a:noFill/>
          <a:ln/>
        </p:spPr>
        <p:txBody>
          <a:bodyPr wrap="square" lIns="0" tIns="0" rIns="0" bIns="0" rtlCol="0" anchor="t"/>
          <a:lstStyle/>
          <a:p>
            <a:pPr indent="0" marL="0">
              <a:lnSpc>
                <a:spcPct val="116000"/>
              </a:lnSpc>
              <a:buNone/>
            </a:pPr>
            <a:r>
              <a:rPr lang="en-US" sz="1000" dirty="0">
                <a:solidFill>
                  <a:srgbClr val="45566A"/>
                </a:solidFill>
                <a:latin typeface="Meiryo" pitchFamily="34" charset="0"/>
                <a:ea typeface="Meiryo" pitchFamily="34" charset="-122"/>
                <a:cs typeface="Meiryo" pitchFamily="34" charset="-120"/>
              </a:rPr>
              <a:t>歴史ある自動車関連企業。新規法人開拓のため導入。ターゲット選定から架電・初期アプローチを仕組み化し、関心を示した確度の高い法人との商談のみを自社が担当する分業体制を確立した。</a:t>
            </a:r>
            <a:endParaRPr lang="en-US" sz="1000" dirty="0"/>
          </a:p>
        </p:txBody>
      </p:sp>
      <p:sp>
        <p:nvSpPr>
          <p:cNvPr id="20" name="Shape 18"/>
          <p:cNvSpPr/>
          <p:nvPr/>
        </p:nvSpPr>
        <p:spPr>
          <a:xfrm>
            <a:off x="4114800" y="2395728"/>
            <a:ext cx="7708392" cy="950976"/>
          </a:xfrm>
          <a:prstGeom prst="roundRect">
            <a:avLst>
              <a:gd name="adj" fmla="val 4808"/>
            </a:avLst>
          </a:prstGeom>
          <a:solidFill>
            <a:srgbClr val="E9F4EE"/>
          </a:solidFill>
          <a:ln w="12700">
            <a:solidFill>
              <a:srgbClr val="BADFC9"/>
            </a:solidFill>
            <a:prstDash val="solid"/>
          </a:ln>
        </p:spPr>
      </p:sp>
      <p:sp>
        <p:nvSpPr>
          <p:cNvPr id="21" name="Shape 19"/>
          <p:cNvSpPr/>
          <p:nvPr/>
        </p:nvSpPr>
        <p:spPr>
          <a:xfrm>
            <a:off x="4352544" y="2542032"/>
            <a:ext cx="82296" cy="219456"/>
          </a:xfrm>
          <a:prstGeom prst="roundRect">
            <a:avLst>
              <a:gd name="adj" fmla="val 33333"/>
            </a:avLst>
          </a:prstGeom>
          <a:solidFill>
            <a:srgbClr val="1F7A4D"/>
          </a:solidFill>
          <a:ln/>
        </p:spPr>
      </p:sp>
      <p:sp>
        <p:nvSpPr>
          <p:cNvPr id="22" name="Text 20"/>
          <p:cNvSpPr/>
          <p:nvPr/>
        </p:nvSpPr>
        <p:spPr>
          <a:xfrm>
            <a:off x="4535424" y="2487168"/>
            <a:ext cx="7159752" cy="292608"/>
          </a:xfrm>
          <a:prstGeom prst="rect">
            <a:avLst/>
          </a:prstGeom>
          <a:noFill/>
          <a:ln/>
        </p:spPr>
        <p:txBody>
          <a:bodyPr wrap="square" lIns="0" tIns="0" rIns="0" bIns="0" rtlCol="0" anchor="ctr"/>
          <a:lstStyle/>
          <a:p>
            <a:pPr indent="0" marL="0">
              <a:buNone/>
            </a:pPr>
            <a:r>
              <a:rPr lang="en-US" sz="1200" b="1" dirty="0">
                <a:solidFill>
                  <a:srgbClr val="1F7A4D"/>
                </a:solidFill>
                <a:latin typeface="Meiryo" pitchFamily="34" charset="0"/>
                <a:ea typeface="Meiryo" pitchFamily="34" charset="-122"/>
                <a:cs typeface="Meiryo" pitchFamily="34" charset="-120"/>
              </a:rPr>
              <a:t>結果</a:t>
            </a:r>
            <a:endParaRPr lang="en-US" sz="1200" dirty="0"/>
          </a:p>
        </p:txBody>
      </p:sp>
      <p:sp>
        <p:nvSpPr>
          <p:cNvPr id="23" name="Text 21"/>
          <p:cNvSpPr/>
          <p:nvPr/>
        </p:nvSpPr>
        <p:spPr>
          <a:xfrm>
            <a:off x="4352544" y="2798064"/>
            <a:ext cx="7232904" cy="457200"/>
          </a:xfrm>
          <a:prstGeom prst="rect">
            <a:avLst/>
          </a:prstGeom>
          <a:noFill/>
          <a:ln/>
        </p:spPr>
        <p:txBody>
          <a:bodyPr wrap="square" lIns="0" tIns="0" rIns="0" bIns="0" rtlCol="0" anchor="t"/>
          <a:lstStyle/>
          <a:p>
            <a:pPr indent="0" marL="0">
              <a:lnSpc>
                <a:spcPct val="113000"/>
              </a:lnSpc>
              <a:buNone/>
            </a:pPr>
            <a:r>
              <a:rPr lang="en-US" sz="1000" dirty="0">
                <a:solidFill>
                  <a:srgbClr val="1C3A29"/>
                </a:solidFill>
                <a:latin typeface="Meiryo" pitchFamily="34" charset="0"/>
                <a:ea typeface="Meiryo" pitchFamily="34" charset="-122"/>
                <a:cs typeface="Meiryo" pitchFamily="34" charset="-120"/>
              </a:rPr>
              <a:t>営業支援ユニット（Sales Platform／ママワークス）の導入により、紹介依存から完全脱却。社内スタッフの負担を増やすことなく、新規の法人顧客や定期取引先を継続獲得できるBtoB営業体制を構築した。</a:t>
            </a:r>
            <a:endParaRPr lang="en-US" sz="1000" dirty="0"/>
          </a:p>
        </p:txBody>
      </p:sp>
      <p:sp>
        <p:nvSpPr>
          <p:cNvPr id="24" name="Shape 22"/>
          <p:cNvSpPr/>
          <p:nvPr/>
        </p:nvSpPr>
        <p:spPr>
          <a:xfrm>
            <a:off x="4114800" y="3456432"/>
            <a:ext cx="7708392" cy="1572768"/>
          </a:xfrm>
          <a:prstGeom prst="roundRect">
            <a:avLst>
              <a:gd name="adj" fmla="val 2907"/>
            </a:avLst>
          </a:prstGeom>
          <a:solidFill>
            <a:srgbClr val="EAF1FA"/>
          </a:solidFill>
          <a:ln w="12700">
            <a:solidFill>
              <a:srgbClr val="C6D8EF"/>
            </a:solidFill>
            <a:prstDash val="solid"/>
          </a:ln>
        </p:spPr>
      </p:sp>
      <p:sp>
        <p:nvSpPr>
          <p:cNvPr id="25" name="Shape 23"/>
          <p:cNvSpPr/>
          <p:nvPr/>
        </p:nvSpPr>
        <p:spPr>
          <a:xfrm>
            <a:off x="4352544" y="3602736"/>
            <a:ext cx="82296" cy="219456"/>
          </a:xfrm>
          <a:prstGeom prst="roundRect">
            <a:avLst>
              <a:gd name="adj" fmla="val 33333"/>
            </a:avLst>
          </a:prstGeom>
          <a:solidFill>
            <a:srgbClr val="2B64AB"/>
          </a:solidFill>
          <a:ln/>
        </p:spPr>
      </p:sp>
      <p:sp>
        <p:nvSpPr>
          <p:cNvPr id="26" name="Text 24"/>
          <p:cNvSpPr/>
          <p:nvPr/>
        </p:nvSpPr>
        <p:spPr>
          <a:xfrm>
            <a:off x="4535424" y="3547872"/>
            <a:ext cx="7159752" cy="292608"/>
          </a:xfrm>
          <a:prstGeom prst="rect">
            <a:avLst/>
          </a:prstGeom>
          <a:noFill/>
          <a:ln/>
        </p:spPr>
        <p:txBody>
          <a:bodyPr wrap="square" lIns="0" tIns="0" rIns="0" bIns="0" rtlCol="0" anchor="ctr"/>
          <a:lstStyle/>
          <a:p>
            <a:pPr indent="0" marL="0">
              <a:buNone/>
            </a:pPr>
            <a:r>
              <a:rPr lang="en-US" sz="1200" b="1" dirty="0">
                <a:solidFill>
                  <a:srgbClr val="2B64AB"/>
                </a:solidFill>
                <a:latin typeface="Meiryo" pitchFamily="34" charset="0"/>
                <a:ea typeface="Meiryo" pitchFamily="34" charset="-122"/>
                <a:cs typeface="Meiryo" pitchFamily="34" charset="-120"/>
              </a:rPr>
              <a:t>今回ご検討をされている企業様への活用ポイント</a:t>
            </a:r>
            <a:endParaRPr lang="en-US" sz="1200" dirty="0"/>
          </a:p>
        </p:txBody>
      </p:sp>
      <p:sp>
        <p:nvSpPr>
          <p:cNvPr id="27" name="Text 25"/>
          <p:cNvSpPr/>
          <p:nvPr/>
        </p:nvSpPr>
        <p:spPr>
          <a:xfrm>
            <a:off x="4352544" y="3858768"/>
            <a:ext cx="7232904" cy="1078992"/>
          </a:xfrm>
          <a:prstGeom prst="rect">
            <a:avLst/>
          </a:prstGeom>
          <a:noFill/>
          <a:ln/>
        </p:spPr>
        <p:txBody>
          <a:bodyPr wrap="square" lIns="0" tIns="0" rIns="0" bIns="0" rtlCol="0" anchor="t"/>
          <a:lstStyle/>
          <a:p>
            <a:pPr indent="0" marL="0">
              <a:lnSpc>
                <a:spcPct val="113000"/>
              </a:lnSpc>
              <a:buNone/>
            </a:pPr>
            <a:r>
              <a:rPr lang="en-US" sz="1000" dirty="0">
                <a:solidFill>
                  <a:srgbClr val="1C2530"/>
                </a:solidFill>
                <a:latin typeface="Meiryo" pitchFamily="34" charset="0"/>
                <a:ea typeface="Meiryo" pitchFamily="34" charset="-122"/>
                <a:cs typeface="Meiryo" pitchFamily="34" charset="-120"/>
              </a:rPr>
              <a:t>興拓様と同じ「自動車・車両関連」の直接事例です。自社HPや専任の営業マンがいない状態でも、営業支援ユニットを活用して近隣の中古車販売店、ディーラー、レンタカー会社、社用車を多数保有する法人へ「車のコーティング施工提携や定期メンテナンステスト施工」を自動打診し、新規のBtoB取引先を効率的に獲得できます。</a:t>
            </a:r>
            <a:endParaRPr lang="en-US" sz="1000" dirty="0"/>
          </a:p>
        </p:txBody>
      </p:sp>
      <p:sp>
        <p:nvSpPr>
          <p:cNvPr id="28" name="Shape 26"/>
          <p:cNvSpPr/>
          <p:nvPr/>
        </p:nvSpPr>
        <p:spPr>
          <a:xfrm>
            <a:off x="4114800" y="5138928"/>
            <a:ext cx="7708392" cy="1060704"/>
          </a:xfrm>
          <a:prstGeom prst="roundRect">
            <a:avLst>
              <a:gd name="adj" fmla="val 4310"/>
            </a:avLst>
          </a:prstGeom>
          <a:solidFill>
            <a:srgbClr val="FBF4E6"/>
          </a:solidFill>
          <a:ln w="12700">
            <a:solidFill>
              <a:srgbClr val="E7D6AC"/>
            </a:solidFill>
            <a:prstDash val="solid"/>
          </a:ln>
        </p:spPr>
      </p:sp>
      <p:sp>
        <p:nvSpPr>
          <p:cNvPr id="29" name="Shape 27"/>
          <p:cNvSpPr/>
          <p:nvPr/>
        </p:nvSpPr>
        <p:spPr>
          <a:xfrm>
            <a:off x="4352544" y="5285232"/>
            <a:ext cx="82296" cy="219456"/>
          </a:xfrm>
          <a:prstGeom prst="roundRect">
            <a:avLst>
              <a:gd name="adj" fmla="val 33333"/>
            </a:avLst>
          </a:prstGeom>
          <a:solidFill>
            <a:srgbClr val="9A6B12"/>
          </a:solidFill>
          <a:ln/>
        </p:spPr>
      </p:sp>
      <p:sp>
        <p:nvSpPr>
          <p:cNvPr id="30" name="Text 28"/>
          <p:cNvSpPr/>
          <p:nvPr/>
        </p:nvSpPr>
        <p:spPr>
          <a:xfrm>
            <a:off x="4535424" y="5230368"/>
            <a:ext cx="7159752" cy="292608"/>
          </a:xfrm>
          <a:prstGeom prst="rect">
            <a:avLst/>
          </a:prstGeom>
          <a:noFill/>
          <a:ln/>
        </p:spPr>
        <p:txBody>
          <a:bodyPr wrap="square" lIns="0" tIns="0" rIns="0" bIns="0" rtlCol="0" anchor="ctr"/>
          <a:lstStyle/>
          <a:p>
            <a:pPr indent="0" marL="0">
              <a:buNone/>
            </a:pPr>
            <a:r>
              <a:rPr lang="en-US" sz="1200" b="1" dirty="0">
                <a:solidFill>
                  <a:srgbClr val="9A6B12"/>
                </a:solidFill>
                <a:latin typeface="Meiryo" pitchFamily="34" charset="0"/>
                <a:ea typeface="Meiryo" pitchFamily="34" charset="-122"/>
                <a:cs typeface="Meiryo" pitchFamily="34" charset="-120"/>
              </a:rPr>
              <a:t>導入を検討されえいる企業様へのアドバイス</a:t>
            </a:r>
            <a:endParaRPr lang="en-US" sz="1200" dirty="0"/>
          </a:p>
        </p:txBody>
      </p:sp>
      <p:sp>
        <p:nvSpPr>
          <p:cNvPr id="31" name="Text 29"/>
          <p:cNvSpPr/>
          <p:nvPr/>
        </p:nvSpPr>
        <p:spPr>
          <a:xfrm>
            <a:off x="4352544" y="5541264"/>
            <a:ext cx="7232904" cy="566928"/>
          </a:xfrm>
          <a:prstGeom prst="rect">
            <a:avLst/>
          </a:prstGeom>
          <a:noFill/>
          <a:ln/>
        </p:spPr>
        <p:txBody>
          <a:bodyPr wrap="square" lIns="0" tIns="0" rIns="0" bIns="0" rtlCol="0" anchor="t"/>
          <a:lstStyle/>
          <a:p>
            <a:pPr indent="0" marL="0">
              <a:lnSpc>
                <a:spcPct val="113000"/>
              </a:lnSpc>
              <a:buNone/>
            </a:pPr>
            <a:r>
              <a:rPr lang="en-US" sz="1000" i="1" dirty="0">
                <a:solidFill>
                  <a:srgbClr val="4A3A18"/>
                </a:solidFill>
                <a:latin typeface="Meiryo" pitchFamily="34" charset="0"/>
                <a:ea typeface="Meiryo" pitchFamily="34" charset="-122"/>
                <a:cs typeface="Meiryo" pitchFamily="34" charset="-120"/>
              </a:rPr>
              <a:t>「既存の紹介や口コミだけに頼る営業から脱却し、外部の仕組みを使って能動的にBtoB開拓を行うことで、自社の技術・サービス価値を必要とする新たな顧客層を確実に増やすことができます。」</a:t>
            </a:r>
            <a:endParaRPr lang="en-US" sz="1000" dirty="0"/>
          </a:p>
        </p:txBody>
      </p:sp>
      <p:sp>
        <p:nvSpPr>
          <p:cNvPr id="32" name="Text 30"/>
          <p:cNvSpPr/>
          <p:nvPr/>
        </p:nvSpPr>
        <p:spPr>
          <a:xfrm>
            <a:off x="4114800" y="6291072"/>
            <a:ext cx="7708392" cy="219456"/>
          </a:xfrm>
          <a:prstGeom prst="rect">
            <a:avLst/>
          </a:prstGeom>
          <a:noFill/>
          <a:ln/>
        </p:spPr>
        <p:txBody>
          <a:bodyPr wrap="square" lIns="0" tIns="0" rIns="0" bIns="0" rtlCol="0" anchor="ctr"/>
          <a:lstStyle/>
          <a:p>
            <a:pPr indent="0" marL="0">
              <a:buNone/>
            </a:pPr>
            <a:r>
              <a:rPr lang="en-US" sz="950" b="1" dirty="0">
                <a:solidFill>
                  <a:srgbClr val="8593A4"/>
                </a:solidFill>
                <a:latin typeface="Meiryo" pitchFamily="34" charset="0"/>
                <a:ea typeface="Meiryo" pitchFamily="34" charset="-122"/>
                <a:cs typeface="Meiryo" pitchFamily="34" charset="-120"/>
              </a:rPr>
              <a:t>引用URL　</a:t>
            </a:r>
            <a:pPr indent="0" marL="0">
              <a:buNone/>
            </a:pPr>
            <a:r>
              <a:rPr lang="en-US" sz="950" u="sng" dirty="0">
                <a:solidFill>
                  <a:srgbClr val="2B64AB"/>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https://www.aidma-hd.jp/case/zirei-413/</a:t>
            </a:r>
            <a:endParaRPr lang="en-US" sz="950" dirty="0"/>
          </a:p>
        </p:txBody>
      </p:sp>
      <p:sp>
        <p:nvSpPr>
          <p:cNvPr id="33" name="Text 31"/>
          <p:cNvSpPr/>
          <p:nvPr/>
        </p:nvSpPr>
        <p:spPr>
          <a:xfrm>
            <a:off x="365760" y="6537960"/>
            <a:ext cx="8229600" cy="219456"/>
          </a:xfrm>
          <a:prstGeom prst="rect">
            <a:avLst/>
          </a:prstGeom>
          <a:noFill/>
          <a:ln/>
        </p:spPr>
        <p:txBody>
          <a:bodyPr wrap="square" lIns="0" tIns="0" rIns="0" bIns="0" rtlCol="0" anchor="ctr"/>
          <a:lstStyle/>
          <a:p>
            <a:pPr indent="0" marL="0">
              <a:buNone/>
            </a:pPr>
            <a:r>
              <a:rPr lang="en-US" sz="900" dirty="0">
                <a:solidFill>
                  <a:srgbClr val="9AA7B6"/>
                </a:solidFill>
                <a:latin typeface="Meiryo" pitchFamily="34" charset="0"/>
                <a:ea typeface="Meiryo" pitchFamily="34" charset="-122"/>
                <a:cs typeface="Meiryo" pitchFamily="34" charset="-120"/>
              </a:rPr>
              <a:t>興拓 様　提案引用実績5選</a:t>
            </a:r>
            <a:endParaRPr lang="en-US" sz="900" dirty="0"/>
          </a:p>
        </p:txBody>
      </p:sp>
      <p:sp>
        <p:nvSpPr>
          <p:cNvPr id="34" name="Text 32"/>
          <p:cNvSpPr/>
          <p:nvPr/>
        </p:nvSpPr>
        <p:spPr>
          <a:xfrm>
            <a:off x="10424160" y="6537960"/>
            <a:ext cx="1399032" cy="219456"/>
          </a:xfrm>
          <a:prstGeom prst="rect">
            <a:avLst/>
          </a:prstGeom>
          <a:noFill/>
          <a:ln/>
        </p:spPr>
        <p:txBody>
          <a:bodyPr wrap="square" lIns="0" tIns="0" rIns="0" bIns="0" rtlCol="0" anchor="ctr"/>
          <a:lstStyle/>
          <a:p>
            <a:pPr algn="r" indent="0" marL="0">
              <a:buNone/>
            </a:pPr>
            <a:r>
              <a:rPr lang="en-US" sz="900" dirty="0">
                <a:solidFill>
                  <a:srgbClr val="9AA7B6"/>
                </a:solidFill>
                <a:latin typeface="Meiryo" pitchFamily="34" charset="0"/>
                <a:ea typeface="Meiryo" pitchFamily="34" charset="-122"/>
                <a:cs typeface="Meiryo" pitchFamily="34" charset="-120"/>
              </a:rPr>
              <a:t>1 / 5</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3F6FB"/>
        </a:solidFill>
      </p:bgPr>
    </p:bg>
    <p:spTree>
      <p:nvGrpSpPr>
        <p:cNvPr id="1" name=""/>
        <p:cNvGrpSpPr/>
        <p:nvPr/>
      </p:nvGrpSpPr>
      <p:grpSpPr>
        <a:xfrm>
          <a:off x="0" y="0"/>
          <a:ext cx="0" cy="0"/>
          <a:chOff x="0" y="0"/>
          <a:chExt cx="0" cy="0"/>
        </a:xfrm>
      </p:grpSpPr>
      <p:sp>
        <p:nvSpPr>
          <p:cNvPr id="2" name="Shape 0"/>
          <p:cNvSpPr/>
          <p:nvPr/>
        </p:nvSpPr>
        <p:spPr>
          <a:xfrm>
            <a:off x="365760" y="365760"/>
            <a:ext cx="11457432" cy="932688"/>
          </a:xfrm>
          <a:prstGeom prst="roundRect">
            <a:avLst>
              <a:gd name="adj" fmla="val 5882"/>
            </a:avLst>
          </a:prstGeom>
          <a:solidFill>
            <a:srgbClr val="16407A"/>
          </a:solidFill>
          <a:ln/>
          <a:effectLst>
            <a:outerShdw sx="100000" sy="100000" kx="0" ky="0" algn="bl" rotWithShape="0" blurRad="76200" dist="25400" dir="5400000">
              <a:srgbClr val="0F2F5C">
                <a:alpha val="35000"/>
              </a:srgbClr>
            </a:outerShdw>
          </a:effectLst>
        </p:spPr>
      </p:sp>
      <p:sp>
        <p:nvSpPr>
          <p:cNvPr id="3" name="Shape 1"/>
          <p:cNvSpPr/>
          <p:nvPr/>
        </p:nvSpPr>
        <p:spPr>
          <a:xfrm>
            <a:off x="566928" y="566928"/>
            <a:ext cx="530352" cy="530352"/>
          </a:xfrm>
          <a:prstGeom prst="roundRect">
            <a:avLst>
              <a:gd name="adj" fmla="val 13793"/>
            </a:avLst>
          </a:prstGeom>
          <a:solidFill>
            <a:srgbClr val="FFFFFF">
              <a:alpha val="16000"/>
            </a:srgbClr>
          </a:solidFill>
          <a:ln w="12700">
            <a:solidFill>
              <a:srgbClr val="FFFFFF">
                <a:alpha val="40000"/>
              </a:srgbClr>
            </a:solidFill>
            <a:prstDash val="solid"/>
          </a:ln>
        </p:spPr>
      </p:sp>
      <p:sp>
        <p:nvSpPr>
          <p:cNvPr id="4" name="Text 2"/>
          <p:cNvSpPr/>
          <p:nvPr/>
        </p:nvSpPr>
        <p:spPr>
          <a:xfrm>
            <a:off x="566928" y="566928"/>
            <a:ext cx="530352" cy="530352"/>
          </a:xfrm>
          <a:prstGeom prst="rect">
            <a:avLst/>
          </a:prstGeom>
          <a:noFill/>
          <a:ln/>
        </p:spPr>
        <p:txBody>
          <a:bodyPr wrap="square" lIns="0" tIns="0" rIns="0" bIns="0" rtlCol="0" anchor="ctr"/>
          <a:lstStyle/>
          <a:p>
            <a:pPr algn="ctr" indent="0" marL="0">
              <a:buNone/>
            </a:pPr>
            <a:r>
              <a:rPr lang="en-US" sz="2400" b="1" dirty="0">
                <a:solidFill>
                  <a:srgbClr val="FFFFFF"/>
                </a:solidFill>
                <a:latin typeface="Meiryo" pitchFamily="34" charset="0"/>
                <a:ea typeface="Meiryo" pitchFamily="34" charset="-122"/>
                <a:cs typeface="Meiryo" pitchFamily="34" charset="-120"/>
              </a:rPr>
              <a:t>2</a:t>
            </a:r>
            <a:endParaRPr lang="en-US" sz="2400" dirty="0"/>
          </a:p>
        </p:txBody>
      </p:sp>
      <p:sp>
        <p:nvSpPr>
          <p:cNvPr id="5" name="Text 3"/>
          <p:cNvSpPr/>
          <p:nvPr/>
        </p:nvSpPr>
        <p:spPr>
          <a:xfrm>
            <a:off x="1280160" y="420624"/>
            <a:ext cx="10378440" cy="822960"/>
          </a:xfrm>
          <a:prstGeom prst="rect">
            <a:avLst/>
          </a:prstGeom>
          <a:noFill/>
          <a:ln/>
        </p:spPr>
        <p:txBody>
          <a:bodyPr wrap="square" lIns="0" tIns="0" rIns="0" bIns="0" rtlCol="0" anchor="ctr"/>
          <a:lstStyle/>
          <a:p>
            <a:pPr indent="0" marL="0">
              <a:lnSpc>
                <a:spcPct val="105000"/>
              </a:lnSpc>
              <a:buNone/>
            </a:pPr>
            <a:r>
              <a:rPr lang="en-US" sz="1400" b="1" dirty="0">
                <a:solidFill>
                  <a:srgbClr val="FFFFFF"/>
                </a:solidFill>
                <a:latin typeface="Meiryo" pitchFamily="34" charset="0"/>
                <a:ea typeface="Meiryo" pitchFamily="34" charset="-122"/>
                <a:cs typeface="Meiryo" pitchFamily="34" charset="-120"/>
              </a:rPr>
              <a:t>営業マンなしで直契約を開拓。下請け・紹介依存から脱却し収益性を改善</a:t>
            </a:r>
            <a:endParaRPr lang="en-US" sz="1400" dirty="0"/>
          </a:p>
        </p:txBody>
      </p:sp>
      <p:sp>
        <p:nvSpPr>
          <p:cNvPr id="6" name="Shape 4"/>
          <p:cNvSpPr/>
          <p:nvPr/>
        </p:nvSpPr>
        <p:spPr>
          <a:xfrm>
            <a:off x="365760" y="1481328"/>
            <a:ext cx="3566160" cy="5029200"/>
          </a:xfrm>
          <a:prstGeom prst="roundRect">
            <a:avLst>
              <a:gd name="adj" fmla="val 1282"/>
            </a:avLst>
          </a:prstGeom>
          <a:solidFill>
            <a:srgbClr val="EAF1FA"/>
          </a:solidFill>
          <a:ln w="12700">
            <a:solidFill>
              <a:srgbClr val="D2DCEA"/>
            </a:solidFill>
            <a:prstDash val="solid"/>
          </a:ln>
        </p:spPr>
      </p:sp>
      <p:sp>
        <p:nvSpPr>
          <p:cNvPr id="7" name="Text 5"/>
          <p:cNvSpPr/>
          <p:nvPr/>
        </p:nvSpPr>
        <p:spPr>
          <a:xfrm>
            <a:off x="585216" y="1664208"/>
            <a:ext cx="3127248" cy="640080"/>
          </a:xfrm>
          <a:prstGeom prst="rect">
            <a:avLst/>
          </a:prstGeom>
          <a:noFill/>
          <a:ln/>
        </p:spPr>
        <p:txBody>
          <a:bodyPr wrap="square" lIns="0" tIns="0" rIns="0" bIns="0" rtlCol="0" anchor="t"/>
          <a:lstStyle/>
          <a:p>
            <a:pPr indent="0" marL="0">
              <a:lnSpc>
                <a:spcPct val="105000"/>
              </a:lnSpc>
              <a:buNone/>
            </a:pPr>
            <a:r>
              <a:rPr lang="en-US" sz="1300" b="1" dirty="0">
                <a:solidFill>
                  <a:srgbClr val="1C2530"/>
                </a:solidFill>
                <a:latin typeface="Meiryo" pitchFamily="34" charset="0"/>
                <a:ea typeface="Meiryo" pitchFamily="34" charset="-122"/>
                <a:cs typeface="Meiryo" pitchFamily="34" charset="-120"/>
              </a:rPr>
              <a:t>豊田運送有限会社　様</a:t>
            </a:r>
            <a:endParaRPr lang="en-US" sz="1300" dirty="0"/>
          </a:p>
        </p:txBody>
      </p:sp>
      <p:sp>
        <p:nvSpPr>
          <p:cNvPr id="8" name="Text 6"/>
          <p:cNvSpPr/>
          <p:nvPr/>
        </p:nvSpPr>
        <p:spPr>
          <a:xfrm>
            <a:off x="585216" y="2377440"/>
            <a:ext cx="3127248" cy="219456"/>
          </a:xfrm>
          <a:prstGeom prst="rect">
            <a:avLst/>
          </a:prstGeom>
          <a:noFill/>
          <a:ln/>
        </p:spPr>
        <p:txBody>
          <a:bodyPr wrap="square" lIns="0" tIns="0" rIns="0" bIns="0" rtlCol="0" anchor="ctr"/>
          <a:lstStyle/>
          <a:p>
            <a:pPr indent="0" marL="0">
              <a:buNone/>
            </a:pPr>
            <a:r>
              <a:rPr lang="en-US" sz="950" b="1" spc="100" kern="0" dirty="0">
                <a:solidFill>
                  <a:srgbClr val="2B64AB"/>
                </a:solidFill>
                <a:latin typeface="Meiryo" pitchFamily="34" charset="0"/>
                <a:ea typeface="Meiryo" pitchFamily="34" charset="-122"/>
                <a:cs typeface="Meiryo" pitchFamily="34" charset="-120"/>
              </a:rPr>
              <a:t>事業内容</a:t>
            </a:r>
            <a:endParaRPr lang="en-US" sz="950" dirty="0"/>
          </a:p>
        </p:txBody>
      </p:sp>
      <p:sp>
        <p:nvSpPr>
          <p:cNvPr id="9" name="Text 7"/>
          <p:cNvSpPr/>
          <p:nvPr/>
        </p:nvSpPr>
        <p:spPr>
          <a:xfrm>
            <a:off x="585216" y="2596896"/>
            <a:ext cx="3127248" cy="1143000"/>
          </a:xfrm>
          <a:prstGeom prst="rect">
            <a:avLst/>
          </a:prstGeom>
          <a:noFill/>
          <a:ln/>
        </p:spPr>
        <p:txBody>
          <a:bodyPr wrap="square" lIns="0" tIns="0" rIns="0" bIns="0" rtlCol="0" anchor="ctr"/>
          <a:lstStyle/>
          <a:p>
            <a:pPr indent="0" marL="0">
              <a:lnSpc>
                <a:spcPct val="113000"/>
              </a:lnSpc>
              <a:buNone/>
            </a:pPr>
            <a:r>
              <a:rPr lang="en-US" sz="950" dirty="0">
                <a:solidFill>
                  <a:srgbClr val="45566A"/>
                </a:solidFill>
                <a:latin typeface="Meiryo" pitchFamily="34" charset="0"/>
                <a:ea typeface="Meiryo" pitchFamily="34" charset="-122"/>
                <a:cs typeface="Meiryo" pitchFamily="34" charset="-120"/>
              </a:rPr>
              <a:t>一般貨物自動車運送事業、車両定期配送・物流ソリューション（車両関連事業）。</a:t>
            </a:r>
            <a:endParaRPr lang="en-US" sz="950" dirty="0"/>
          </a:p>
        </p:txBody>
      </p:sp>
      <p:sp>
        <p:nvSpPr>
          <p:cNvPr id="10" name="Text 8"/>
          <p:cNvSpPr/>
          <p:nvPr/>
        </p:nvSpPr>
        <p:spPr>
          <a:xfrm>
            <a:off x="585216" y="3785616"/>
            <a:ext cx="3127248" cy="219456"/>
          </a:xfrm>
          <a:prstGeom prst="rect">
            <a:avLst/>
          </a:prstGeom>
          <a:noFill/>
          <a:ln/>
        </p:spPr>
        <p:txBody>
          <a:bodyPr wrap="square" lIns="0" tIns="0" rIns="0" bIns="0" rtlCol="0" anchor="ctr"/>
          <a:lstStyle/>
          <a:p>
            <a:pPr indent="0" marL="0">
              <a:buNone/>
            </a:pPr>
            <a:r>
              <a:rPr lang="en-US" sz="950" b="1" spc="100" kern="0" dirty="0">
                <a:solidFill>
                  <a:srgbClr val="2B64AB"/>
                </a:solidFill>
                <a:latin typeface="Meiryo" pitchFamily="34" charset="0"/>
                <a:ea typeface="Meiryo" pitchFamily="34" charset="-122"/>
                <a:cs typeface="Meiryo" pitchFamily="34" charset="-120"/>
              </a:rPr>
              <a:t>解決した課題</a:t>
            </a:r>
            <a:endParaRPr lang="en-US" sz="950" dirty="0"/>
          </a:p>
        </p:txBody>
      </p:sp>
      <p:sp>
        <p:nvSpPr>
          <p:cNvPr id="11" name="Shape 9"/>
          <p:cNvSpPr/>
          <p:nvPr/>
        </p:nvSpPr>
        <p:spPr>
          <a:xfrm>
            <a:off x="585216" y="4059936"/>
            <a:ext cx="1964182" cy="274320"/>
          </a:xfrm>
          <a:prstGeom prst="roundRect">
            <a:avLst>
              <a:gd name="adj" fmla="val 50000"/>
            </a:avLst>
          </a:prstGeom>
          <a:solidFill>
            <a:srgbClr val="DCE8F6"/>
          </a:solidFill>
          <a:ln w="9525">
            <a:solidFill>
              <a:srgbClr val="BFD3EC"/>
            </a:solidFill>
            <a:prstDash val="solid"/>
          </a:ln>
        </p:spPr>
      </p:sp>
      <p:sp>
        <p:nvSpPr>
          <p:cNvPr id="12" name="Text 10"/>
          <p:cNvSpPr/>
          <p:nvPr/>
        </p:nvSpPr>
        <p:spPr>
          <a:xfrm>
            <a:off x="585216" y="4059936"/>
            <a:ext cx="1964182" cy="274320"/>
          </a:xfrm>
          <a:prstGeom prst="rect">
            <a:avLst/>
          </a:prstGeom>
          <a:noFill/>
          <a:ln/>
        </p:spPr>
        <p:txBody>
          <a:bodyPr wrap="square" lIns="0" tIns="0" rIns="0" bIns="0" rtlCol="0" anchor="ctr"/>
          <a:lstStyle/>
          <a:p>
            <a:pPr algn="ctr" indent="0" marL="0">
              <a:buNone/>
            </a:pPr>
            <a:r>
              <a:rPr lang="en-US" sz="950" b="1" dirty="0">
                <a:solidFill>
                  <a:srgbClr val="24548F"/>
                </a:solidFill>
                <a:latin typeface="Meiryo" pitchFamily="34" charset="0"/>
                <a:ea typeface="Meiryo" pitchFamily="34" charset="-122"/>
                <a:cs typeface="Meiryo" pitchFamily="34" charset="-120"/>
              </a:rPr>
              <a:t>下請け・紹介依存からの脱却</a:t>
            </a:r>
            <a:endParaRPr lang="en-US" sz="950" dirty="0"/>
          </a:p>
        </p:txBody>
      </p:sp>
      <p:sp>
        <p:nvSpPr>
          <p:cNvPr id="13" name="Shape 11"/>
          <p:cNvSpPr/>
          <p:nvPr/>
        </p:nvSpPr>
        <p:spPr>
          <a:xfrm>
            <a:off x="585216" y="4407408"/>
            <a:ext cx="3267202" cy="274320"/>
          </a:xfrm>
          <a:prstGeom prst="roundRect">
            <a:avLst>
              <a:gd name="adj" fmla="val 50000"/>
            </a:avLst>
          </a:prstGeom>
          <a:solidFill>
            <a:srgbClr val="DCE8F6"/>
          </a:solidFill>
          <a:ln w="9525">
            <a:solidFill>
              <a:srgbClr val="BFD3EC"/>
            </a:solidFill>
            <a:prstDash val="solid"/>
          </a:ln>
        </p:spPr>
      </p:sp>
      <p:sp>
        <p:nvSpPr>
          <p:cNvPr id="14" name="Text 12"/>
          <p:cNvSpPr/>
          <p:nvPr/>
        </p:nvSpPr>
        <p:spPr>
          <a:xfrm>
            <a:off x="585216" y="4407408"/>
            <a:ext cx="3267202" cy="274320"/>
          </a:xfrm>
          <a:prstGeom prst="rect">
            <a:avLst/>
          </a:prstGeom>
          <a:noFill/>
          <a:ln/>
        </p:spPr>
        <p:txBody>
          <a:bodyPr wrap="square" lIns="0" tIns="0" rIns="0" bIns="0" rtlCol="0" anchor="ctr"/>
          <a:lstStyle/>
          <a:p>
            <a:pPr algn="ctr" indent="0" marL="0">
              <a:buNone/>
            </a:pPr>
            <a:r>
              <a:rPr lang="en-US" sz="950" b="1" dirty="0">
                <a:solidFill>
                  <a:srgbClr val="24548F"/>
                </a:solidFill>
                <a:latin typeface="Meiryo" pitchFamily="34" charset="0"/>
                <a:ea typeface="Meiryo" pitchFamily="34" charset="-122"/>
                <a:cs typeface="Meiryo" pitchFamily="34" charset="-120"/>
              </a:rPr>
              <a:t>営業専任不在で直契約の開拓ノウハウ・体制がない</a:t>
            </a:r>
            <a:endParaRPr lang="en-US" sz="950" dirty="0"/>
          </a:p>
        </p:txBody>
      </p:sp>
      <p:sp>
        <p:nvSpPr>
          <p:cNvPr id="15" name="Shape 13"/>
          <p:cNvSpPr/>
          <p:nvPr/>
        </p:nvSpPr>
        <p:spPr>
          <a:xfrm>
            <a:off x="4114800" y="1417320"/>
            <a:ext cx="82296" cy="219456"/>
          </a:xfrm>
          <a:prstGeom prst="roundRect">
            <a:avLst>
              <a:gd name="adj" fmla="val 33333"/>
            </a:avLst>
          </a:prstGeom>
          <a:solidFill>
            <a:srgbClr val="2B64AB"/>
          </a:solidFill>
          <a:ln/>
        </p:spPr>
      </p:sp>
      <p:sp>
        <p:nvSpPr>
          <p:cNvPr id="16" name="Text 14"/>
          <p:cNvSpPr/>
          <p:nvPr/>
        </p:nvSpPr>
        <p:spPr>
          <a:xfrm>
            <a:off x="4297680" y="1353312"/>
            <a:ext cx="7315200" cy="310896"/>
          </a:xfrm>
          <a:prstGeom prst="rect">
            <a:avLst/>
          </a:prstGeom>
          <a:noFill/>
          <a:ln/>
        </p:spPr>
        <p:txBody>
          <a:bodyPr wrap="square" lIns="0" tIns="0" rIns="0" bIns="0" rtlCol="0" anchor="ctr"/>
          <a:lstStyle/>
          <a:p>
            <a:pPr indent="0" marL="0">
              <a:buNone/>
            </a:pPr>
            <a:r>
              <a:rPr lang="en-US" sz="1250" b="1" dirty="0">
                <a:solidFill>
                  <a:srgbClr val="2B64AB"/>
                </a:solidFill>
                <a:latin typeface="Meiryo" pitchFamily="34" charset="0"/>
                <a:ea typeface="Meiryo" pitchFamily="34" charset="-122"/>
                <a:cs typeface="Meiryo" pitchFamily="34" charset="-120"/>
              </a:rPr>
              <a:t>事例の概要</a:t>
            </a:r>
            <a:endParaRPr lang="en-US" sz="1250" dirty="0"/>
          </a:p>
        </p:txBody>
      </p:sp>
      <p:sp>
        <p:nvSpPr>
          <p:cNvPr id="17" name="Text 15"/>
          <p:cNvSpPr/>
          <p:nvPr/>
        </p:nvSpPr>
        <p:spPr>
          <a:xfrm>
            <a:off x="4114800" y="1682496"/>
            <a:ext cx="7708392" cy="676656"/>
          </a:xfrm>
          <a:prstGeom prst="rect">
            <a:avLst/>
          </a:prstGeom>
          <a:noFill/>
          <a:ln/>
        </p:spPr>
        <p:txBody>
          <a:bodyPr wrap="square" lIns="0" tIns="0" rIns="0" bIns="0" rtlCol="0" anchor="t"/>
          <a:lstStyle/>
          <a:p>
            <a:pPr indent="0" marL="0">
              <a:lnSpc>
                <a:spcPct val="116000"/>
              </a:lnSpc>
              <a:buNone/>
            </a:pPr>
            <a:r>
              <a:rPr lang="en-US" sz="1000" dirty="0">
                <a:solidFill>
                  <a:srgbClr val="45566A"/>
                </a:solidFill>
                <a:latin typeface="Meiryo" pitchFamily="34" charset="0"/>
                <a:ea typeface="Meiryo" pitchFamily="34" charset="-122"/>
                <a:cs typeface="Meiryo" pitchFamily="34" charset="-120"/>
              </a:rPr>
              <a:t>専任営業がいない小規模車両関連会社。アイドマのシステムとアプローチ代行を活用し、自社で営業マンを置くリスクを回避しながら、車両関連ニーズを持つ法人へダイレクト提案。質の高い商談のみを自社が対応する仕組みを構築した。</a:t>
            </a:r>
            <a:endParaRPr lang="en-US" sz="1000" dirty="0"/>
          </a:p>
        </p:txBody>
      </p:sp>
      <p:sp>
        <p:nvSpPr>
          <p:cNvPr id="18" name="Shape 16"/>
          <p:cNvSpPr/>
          <p:nvPr/>
        </p:nvSpPr>
        <p:spPr>
          <a:xfrm>
            <a:off x="4114800" y="2395728"/>
            <a:ext cx="7708392" cy="950976"/>
          </a:xfrm>
          <a:prstGeom prst="roundRect">
            <a:avLst>
              <a:gd name="adj" fmla="val 4808"/>
            </a:avLst>
          </a:prstGeom>
          <a:solidFill>
            <a:srgbClr val="E9F4EE"/>
          </a:solidFill>
          <a:ln w="12700">
            <a:solidFill>
              <a:srgbClr val="BADFC9"/>
            </a:solidFill>
            <a:prstDash val="solid"/>
          </a:ln>
        </p:spPr>
      </p:sp>
      <p:sp>
        <p:nvSpPr>
          <p:cNvPr id="19" name="Shape 17"/>
          <p:cNvSpPr/>
          <p:nvPr/>
        </p:nvSpPr>
        <p:spPr>
          <a:xfrm>
            <a:off x="4352544" y="2542032"/>
            <a:ext cx="82296" cy="219456"/>
          </a:xfrm>
          <a:prstGeom prst="roundRect">
            <a:avLst>
              <a:gd name="adj" fmla="val 33333"/>
            </a:avLst>
          </a:prstGeom>
          <a:solidFill>
            <a:srgbClr val="1F7A4D"/>
          </a:solidFill>
          <a:ln/>
        </p:spPr>
      </p:sp>
      <p:sp>
        <p:nvSpPr>
          <p:cNvPr id="20" name="Text 18"/>
          <p:cNvSpPr/>
          <p:nvPr/>
        </p:nvSpPr>
        <p:spPr>
          <a:xfrm>
            <a:off x="4535424" y="2487168"/>
            <a:ext cx="7159752" cy="292608"/>
          </a:xfrm>
          <a:prstGeom prst="rect">
            <a:avLst/>
          </a:prstGeom>
          <a:noFill/>
          <a:ln/>
        </p:spPr>
        <p:txBody>
          <a:bodyPr wrap="square" lIns="0" tIns="0" rIns="0" bIns="0" rtlCol="0" anchor="ctr"/>
          <a:lstStyle/>
          <a:p>
            <a:pPr indent="0" marL="0">
              <a:buNone/>
            </a:pPr>
            <a:r>
              <a:rPr lang="en-US" sz="1200" b="1" dirty="0">
                <a:solidFill>
                  <a:srgbClr val="1F7A4D"/>
                </a:solidFill>
                <a:latin typeface="Meiryo" pitchFamily="34" charset="0"/>
                <a:ea typeface="Meiryo" pitchFamily="34" charset="-122"/>
                <a:cs typeface="Meiryo" pitchFamily="34" charset="-120"/>
              </a:rPr>
              <a:t>結果</a:t>
            </a:r>
            <a:endParaRPr lang="en-US" sz="1200" dirty="0"/>
          </a:p>
        </p:txBody>
      </p:sp>
      <p:sp>
        <p:nvSpPr>
          <p:cNvPr id="21" name="Text 19"/>
          <p:cNvSpPr/>
          <p:nvPr/>
        </p:nvSpPr>
        <p:spPr>
          <a:xfrm>
            <a:off x="4352544" y="2798064"/>
            <a:ext cx="7232904" cy="457200"/>
          </a:xfrm>
          <a:prstGeom prst="rect">
            <a:avLst/>
          </a:prstGeom>
          <a:noFill/>
          <a:ln/>
        </p:spPr>
        <p:txBody>
          <a:bodyPr wrap="square" lIns="0" tIns="0" rIns="0" bIns="0" rtlCol="0" anchor="t"/>
          <a:lstStyle/>
          <a:p>
            <a:pPr indent="0" marL="0">
              <a:lnSpc>
                <a:spcPct val="113000"/>
              </a:lnSpc>
              <a:buNone/>
            </a:pPr>
            <a:r>
              <a:rPr lang="en-US" sz="1000" dirty="0">
                <a:solidFill>
                  <a:srgbClr val="1C3A29"/>
                </a:solidFill>
                <a:latin typeface="Meiryo" pitchFamily="34" charset="0"/>
                <a:ea typeface="Meiryo" pitchFamily="34" charset="-122"/>
                <a:cs typeface="Meiryo" pitchFamily="34" charset="-120"/>
              </a:rPr>
              <a:t>「Sales Platform」を導入し、自前で高額な営業マンを雇用することなく直契約での新規BtoB顧客開拓に成功。適正価格での受注を獲得し、売上UPと収益性の劇的改善を達成した。</a:t>
            </a:r>
            <a:endParaRPr lang="en-US" sz="1000" dirty="0"/>
          </a:p>
        </p:txBody>
      </p:sp>
      <p:sp>
        <p:nvSpPr>
          <p:cNvPr id="22" name="Shape 20"/>
          <p:cNvSpPr/>
          <p:nvPr/>
        </p:nvSpPr>
        <p:spPr>
          <a:xfrm>
            <a:off x="4114800" y="3456432"/>
            <a:ext cx="7708392" cy="1572768"/>
          </a:xfrm>
          <a:prstGeom prst="roundRect">
            <a:avLst>
              <a:gd name="adj" fmla="val 2907"/>
            </a:avLst>
          </a:prstGeom>
          <a:solidFill>
            <a:srgbClr val="EAF1FA"/>
          </a:solidFill>
          <a:ln w="12700">
            <a:solidFill>
              <a:srgbClr val="C6D8EF"/>
            </a:solidFill>
            <a:prstDash val="solid"/>
          </a:ln>
        </p:spPr>
      </p:sp>
      <p:sp>
        <p:nvSpPr>
          <p:cNvPr id="23" name="Shape 21"/>
          <p:cNvSpPr/>
          <p:nvPr/>
        </p:nvSpPr>
        <p:spPr>
          <a:xfrm>
            <a:off x="4352544" y="3602736"/>
            <a:ext cx="82296" cy="219456"/>
          </a:xfrm>
          <a:prstGeom prst="roundRect">
            <a:avLst>
              <a:gd name="adj" fmla="val 33333"/>
            </a:avLst>
          </a:prstGeom>
          <a:solidFill>
            <a:srgbClr val="2B64AB"/>
          </a:solidFill>
          <a:ln/>
        </p:spPr>
      </p:sp>
      <p:sp>
        <p:nvSpPr>
          <p:cNvPr id="24" name="Text 22"/>
          <p:cNvSpPr/>
          <p:nvPr/>
        </p:nvSpPr>
        <p:spPr>
          <a:xfrm>
            <a:off x="4535424" y="3547872"/>
            <a:ext cx="7159752" cy="292608"/>
          </a:xfrm>
          <a:prstGeom prst="rect">
            <a:avLst/>
          </a:prstGeom>
          <a:noFill/>
          <a:ln/>
        </p:spPr>
        <p:txBody>
          <a:bodyPr wrap="square" lIns="0" tIns="0" rIns="0" bIns="0" rtlCol="0" anchor="ctr"/>
          <a:lstStyle/>
          <a:p>
            <a:pPr indent="0" marL="0">
              <a:buNone/>
            </a:pPr>
            <a:r>
              <a:rPr lang="en-US" sz="1200" b="1" dirty="0">
                <a:solidFill>
                  <a:srgbClr val="2B64AB"/>
                </a:solidFill>
                <a:latin typeface="Meiryo" pitchFamily="34" charset="0"/>
                <a:ea typeface="Meiryo" pitchFamily="34" charset="-122"/>
                <a:cs typeface="Meiryo" pitchFamily="34" charset="-120"/>
              </a:rPr>
              <a:t>今回ご検討をされている企業様への活用ポイント</a:t>
            </a:r>
            <a:endParaRPr lang="en-US" sz="1200" dirty="0"/>
          </a:p>
        </p:txBody>
      </p:sp>
      <p:sp>
        <p:nvSpPr>
          <p:cNvPr id="25" name="Text 23"/>
          <p:cNvSpPr/>
          <p:nvPr/>
        </p:nvSpPr>
        <p:spPr>
          <a:xfrm>
            <a:off x="4352544" y="3858768"/>
            <a:ext cx="7232904" cy="1078992"/>
          </a:xfrm>
          <a:prstGeom prst="rect">
            <a:avLst/>
          </a:prstGeom>
          <a:noFill/>
          <a:ln/>
        </p:spPr>
        <p:txBody>
          <a:bodyPr wrap="square" lIns="0" tIns="0" rIns="0" bIns="0" rtlCol="0" anchor="t"/>
          <a:lstStyle/>
          <a:p>
            <a:pPr indent="0" marL="0">
              <a:lnSpc>
                <a:spcPct val="113000"/>
              </a:lnSpc>
              <a:buNone/>
            </a:pPr>
            <a:r>
              <a:rPr lang="en-US" sz="1000" dirty="0">
                <a:solidFill>
                  <a:srgbClr val="1C2530"/>
                </a:solidFill>
                <a:latin typeface="Meiryo" pitchFamily="34" charset="0"/>
                <a:ea typeface="Meiryo" pitchFamily="34" charset="-122"/>
                <a:cs typeface="Meiryo" pitchFamily="34" charset="-120"/>
              </a:rPr>
              <a:t>興拓様が「紹介や下請け頼みから脱却し、車のコーティング事業で直接取引（BtoB施工提携・直請け）」を獲得するための手本となる事例です。営業支援ユニットがアプローチを自動代行するため、興拓様はコーティング施工技術の提供に専念したまま直契約案件を増やせます。</a:t>
            </a:r>
            <a:endParaRPr lang="en-US" sz="1000" dirty="0"/>
          </a:p>
        </p:txBody>
      </p:sp>
      <p:sp>
        <p:nvSpPr>
          <p:cNvPr id="26" name="Shape 24"/>
          <p:cNvSpPr/>
          <p:nvPr/>
        </p:nvSpPr>
        <p:spPr>
          <a:xfrm>
            <a:off x="4114800" y="5138928"/>
            <a:ext cx="7708392" cy="1060704"/>
          </a:xfrm>
          <a:prstGeom prst="roundRect">
            <a:avLst>
              <a:gd name="adj" fmla="val 4310"/>
            </a:avLst>
          </a:prstGeom>
          <a:solidFill>
            <a:srgbClr val="FBF4E6"/>
          </a:solidFill>
          <a:ln w="12700">
            <a:solidFill>
              <a:srgbClr val="E7D6AC"/>
            </a:solidFill>
            <a:prstDash val="solid"/>
          </a:ln>
        </p:spPr>
      </p:sp>
      <p:sp>
        <p:nvSpPr>
          <p:cNvPr id="27" name="Shape 25"/>
          <p:cNvSpPr/>
          <p:nvPr/>
        </p:nvSpPr>
        <p:spPr>
          <a:xfrm>
            <a:off x="4352544" y="5285232"/>
            <a:ext cx="82296" cy="219456"/>
          </a:xfrm>
          <a:prstGeom prst="roundRect">
            <a:avLst>
              <a:gd name="adj" fmla="val 33333"/>
            </a:avLst>
          </a:prstGeom>
          <a:solidFill>
            <a:srgbClr val="9A6B12"/>
          </a:solidFill>
          <a:ln/>
        </p:spPr>
      </p:sp>
      <p:sp>
        <p:nvSpPr>
          <p:cNvPr id="28" name="Text 26"/>
          <p:cNvSpPr/>
          <p:nvPr/>
        </p:nvSpPr>
        <p:spPr>
          <a:xfrm>
            <a:off x="4535424" y="5230368"/>
            <a:ext cx="7159752" cy="292608"/>
          </a:xfrm>
          <a:prstGeom prst="rect">
            <a:avLst/>
          </a:prstGeom>
          <a:noFill/>
          <a:ln/>
        </p:spPr>
        <p:txBody>
          <a:bodyPr wrap="square" lIns="0" tIns="0" rIns="0" bIns="0" rtlCol="0" anchor="ctr"/>
          <a:lstStyle/>
          <a:p>
            <a:pPr indent="0" marL="0">
              <a:buNone/>
            </a:pPr>
            <a:r>
              <a:rPr lang="en-US" sz="1200" b="1" dirty="0">
                <a:solidFill>
                  <a:srgbClr val="9A6B12"/>
                </a:solidFill>
                <a:latin typeface="Meiryo" pitchFamily="34" charset="0"/>
                <a:ea typeface="Meiryo" pitchFamily="34" charset="-122"/>
                <a:cs typeface="Meiryo" pitchFamily="34" charset="-120"/>
              </a:rPr>
              <a:t>導入を検討されえいる企業様へのアドバイス</a:t>
            </a:r>
            <a:endParaRPr lang="en-US" sz="1200" dirty="0"/>
          </a:p>
        </p:txBody>
      </p:sp>
      <p:sp>
        <p:nvSpPr>
          <p:cNvPr id="29" name="Text 27"/>
          <p:cNvSpPr/>
          <p:nvPr/>
        </p:nvSpPr>
        <p:spPr>
          <a:xfrm>
            <a:off x="4352544" y="5541264"/>
            <a:ext cx="7232904" cy="566928"/>
          </a:xfrm>
          <a:prstGeom prst="rect">
            <a:avLst/>
          </a:prstGeom>
          <a:noFill/>
          <a:ln/>
        </p:spPr>
        <p:txBody>
          <a:bodyPr wrap="square" lIns="0" tIns="0" rIns="0" bIns="0" rtlCol="0" anchor="t"/>
          <a:lstStyle/>
          <a:p>
            <a:pPr indent="0" marL="0">
              <a:lnSpc>
                <a:spcPct val="113000"/>
              </a:lnSpc>
              <a:buNone/>
            </a:pPr>
            <a:r>
              <a:rPr lang="en-US" sz="1000" i="1" dirty="0">
                <a:solidFill>
                  <a:srgbClr val="4A3A18"/>
                </a:solidFill>
                <a:latin typeface="Meiryo" pitchFamily="34" charset="0"/>
                <a:ea typeface="Meiryo" pitchFamily="34" charset="-122"/>
                <a:cs typeface="Meiryo" pitchFamily="34" charset="-120"/>
              </a:rPr>
              <a:t>「営業担当者が自社にいなくても、仕組み（Sales Platform）を使えば直接お客様を開拓できます。下請けや既存任せをやめ、直接取引を開拓することが利益率向上の近道です。」</a:t>
            </a:r>
            <a:endParaRPr lang="en-US" sz="1000" dirty="0"/>
          </a:p>
        </p:txBody>
      </p:sp>
      <p:sp>
        <p:nvSpPr>
          <p:cNvPr id="30" name="Text 28"/>
          <p:cNvSpPr/>
          <p:nvPr/>
        </p:nvSpPr>
        <p:spPr>
          <a:xfrm>
            <a:off x="4114800" y="6291072"/>
            <a:ext cx="7708392" cy="219456"/>
          </a:xfrm>
          <a:prstGeom prst="rect">
            <a:avLst/>
          </a:prstGeom>
          <a:noFill/>
          <a:ln/>
        </p:spPr>
        <p:txBody>
          <a:bodyPr wrap="square" lIns="0" tIns="0" rIns="0" bIns="0" rtlCol="0" anchor="ctr"/>
          <a:lstStyle/>
          <a:p>
            <a:pPr indent="0" marL="0">
              <a:buNone/>
            </a:pPr>
            <a:r>
              <a:rPr lang="en-US" sz="950" b="1" dirty="0">
                <a:solidFill>
                  <a:srgbClr val="8593A4"/>
                </a:solidFill>
                <a:latin typeface="Meiryo" pitchFamily="34" charset="0"/>
                <a:ea typeface="Meiryo" pitchFamily="34" charset="-122"/>
                <a:cs typeface="Meiryo" pitchFamily="34" charset="-120"/>
              </a:rPr>
              <a:t>引用URL　</a:t>
            </a:r>
            <a:pPr indent="0" marL="0">
              <a:buNone/>
            </a:pPr>
            <a:r>
              <a:rPr lang="en-US" sz="950" u="sng" dirty="0">
                <a:solidFill>
                  <a:srgbClr val="2B64AB"/>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https://www.aidma-hd.jp/case/zirei-505/</a:t>
            </a:r>
            <a:endParaRPr lang="en-US" sz="950" dirty="0"/>
          </a:p>
        </p:txBody>
      </p:sp>
      <p:sp>
        <p:nvSpPr>
          <p:cNvPr id="31" name="Text 29"/>
          <p:cNvSpPr/>
          <p:nvPr/>
        </p:nvSpPr>
        <p:spPr>
          <a:xfrm>
            <a:off x="365760" y="6537960"/>
            <a:ext cx="8229600" cy="219456"/>
          </a:xfrm>
          <a:prstGeom prst="rect">
            <a:avLst/>
          </a:prstGeom>
          <a:noFill/>
          <a:ln/>
        </p:spPr>
        <p:txBody>
          <a:bodyPr wrap="square" lIns="0" tIns="0" rIns="0" bIns="0" rtlCol="0" anchor="ctr"/>
          <a:lstStyle/>
          <a:p>
            <a:pPr indent="0" marL="0">
              <a:buNone/>
            </a:pPr>
            <a:r>
              <a:rPr lang="en-US" sz="900" dirty="0">
                <a:solidFill>
                  <a:srgbClr val="9AA7B6"/>
                </a:solidFill>
                <a:latin typeface="Meiryo" pitchFamily="34" charset="0"/>
                <a:ea typeface="Meiryo" pitchFamily="34" charset="-122"/>
                <a:cs typeface="Meiryo" pitchFamily="34" charset="-120"/>
              </a:rPr>
              <a:t>興拓 様　提案引用実績5選</a:t>
            </a:r>
            <a:endParaRPr lang="en-US" sz="900" dirty="0"/>
          </a:p>
        </p:txBody>
      </p:sp>
      <p:sp>
        <p:nvSpPr>
          <p:cNvPr id="32" name="Text 30"/>
          <p:cNvSpPr/>
          <p:nvPr/>
        </p:nvSpPr>
        <p:spPr>
          <a:xfrm>
            <a:off x="10424160" y="6537960"/>
            <a:ext cx="1399032" cy="219456"/>
          </a:xfrm>
          <a:prstGeom prst="rect">
            <a:avLst/>
          </a:prstGeom>
          <a:noFill/>
          <a:ln/>
        </p:spPr>
        <p:txBody>
          <a:bodyPr wrap="square" lIns="0" tIns="0" rIns="0" bIns="0" rtlCol="0" anchor="ctr"/>
          <a:lstStyle/>
          <a:p>
            <a:pPr algn="r" indent="0" marL="0">
              <a:buNone/>
            </a:pPr>
            <a:r>
              <a:rPr lang="en-US" sz="900" dirty="0">
                <a:solidFill>
                  <a:srgbClr val="9AA7B6"/>
                </a:solidFill>
                <a:latin typeface="Meiryo" pitchFamily="34" charset="0"/>
                <a:ea typeface="Meiryo" pitchFamily="34" charset="-122"/>
                <a:cs typeface="Meiryo" pitchFamily="34" charset="-120"/>
              </a:rPr>
              <a:t>2 / 5</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3F6FB"/>
        </a:solidFill>
      </p:bgPr>
    </p:bg>
    <p:spTree>
      <p:nvGrpSpPr>
        <p:cNvPr id="1" name=""/>
        <p:cNvGrpSpPr/>
        <p:nvPr/>
      </p:nvGrpSpPr>
      <p:grpSpPr>
        <a:xfrm>
          <a:off x="0" y="0"/>
          <a:ext cx="0" cy="0"/>
          <a:chOff x="0" y="0"/>
          <a:chExt cx="0" cy="0"/>
        </a:xfrm>
      </p:grpSpPr>
      <p:sp>
        <p:nvSpPr>
          <p:cNvPr id="2" name="Shape 0"/>
          <p:cNvSpPr/>
          <p:nvPr/>
        </p:nvSpPr>
        <p:spPr>
          <a:xfrm>
            <a:off x="365760" y="365760"/>
            <a:ext cx="11457432" cy="932688"/>
          </a:xfrm>
          <a:prstGeom prst="roundRect">
            <a:avLst>
              <a:gd name="adj" fmla="val 5882"/>
            </a:avLst>
          </a:prstGeom>
          <a:solidFill>
            <a:srgbClr val="16407A"/>
          </a:solidFill>
          <a:ln/>
          <a:effectLst>
            <a:outerShdw sx="100000" sy="100000" kx="0" ky="0" algn="bl" rotWithShape="0" blurRad="76200" dist="25400" dir="5400000">
              <a:srgbClr val="0F2F5C">
                <a:alpha val="35000"/>
              </a:srgbClr>
            </a:outerShdw>
          </a:effectLst>
        </p:spPr>
      </p:sp>
      <p:sp>
        <p:nvSpPr>
          <p:cNvPr id="3" name="Shape 1"/>
          <p:cNvSpPr/>
          <p:nvPr/>
        </p:nvSpPr>
        <p:spPr>
          <a:xfrm>
            <a:off x="566928" y="566928"/>
            <a:ext cx="530352" cy="530352"/>
          </a:xfrm>
          <a:prstGeom prst="roundRect">
            <a:avLst>
              <a:gd name="adj" fmla="val 13793"/>
            </a:avLst>
          </a:prstGeom>
          <a:solidFill>
            <a:srgbClr val="FFFFFF">
              <a:alpha val="16000"/>
            </a:srgbClr>
          </a:solidFill>
          <a:ln w="12700">
            <a:solidFill>
              <a:srgbClr val="FFFFFF">
                <a:alpha val="40000"/>
              </a:srgbClr>
            </a:solidFill>
            <a:prstDash val="solid"/>
          </a:ln>
        </p:spPr>
      </p:sp>
      <p:sp>
        <p:nvSpPr>
          <p:cNvPr id="4" name="Text 2"/>
          <p:cNvSpPr/>
          <p:nvPr/>
        </p:nvSpPr>
        <p:spPr>
          <a:xfrm>
            <a:off x="566928" y="566928"/>
            <a:ext cx="530352" cy="530352"/>
          </a:xfrm>
          <a:prstGeom prst="rect">
            <a:avLst/>
          </a:prstGeom>
          <a:noFill/>
          <a:ln/>
        </p:spPr>
        <p:txBody>
          <a:bodyPr wrap="square" lIns="0" tIns="0" rIns="0" bIns="0" rtlCol="0" anchor="ctr"/>
          <a:lstStyle/>
          <a:p>
            <a:pPr algn="ctr" indent="0" marL="0">
              <a:buNone/>
            </a:pPr>
            <a:r>
              <a:rPr lang="en-US" sz="2400" b="1" dirty="0">
                <a:solidFill>
                  <a:srgbClr val="FFFFFF"/>
                </a:solidFill>
                <a:latin typeface="Meiryo" pitchFamily="34" charset="0"/>
                <a:ea typeface="Meiryo" pitchFamily="34" charset="-122"/>
                <a:cs typeface="Meiryo" pitchFamily="34" charset="-120"/>
              </a:rPr>
              <a:t>3</a:t>
            </a:r>
            <a:endParaRPr lang="en-US" sz="2400" dirty="0"/>
          </a:p>
        </p:txBody>
      </p:sp>
      <p:sp>
        <p:nvSpPr>
          <p:cNvPr id="5" name="Text 3"/>
          <p:cNvSpPr/>
          <p:nvPr/>
        </p:nvSpPr>
        <p:spPr>
          <a:xfrm>
            <a:off x="1280160" y="420624"/>
            <a:ext cx="10378440" cy="822960"/>
          </a:xfrm>
          <a:prstGeom prst="rect">
            <a:avLst/>
          </a:prstGeom>
          <a:noFill/>
          <a:ln/>
        </p:spPr>
        <p:txBody>
          <a:bodyPr wrap="square" lIns="0" tIns="0" rIns="0" bIns="0" rtlCol="0" anchor="ctr"/>
          <a:lstStyle/>
          <a:p>
            <a:pPr indent="0" marL="0">
              <a:lnSpc>
                <a:spcPct val="105000"/>
              </a:lnSpc>
              <a:buNone/>
            </a:pPr>
            <a:r>
              <a:rPr lang="en-US" sz="1400" b="1" dirty="0">
                <a:solidFill>
                  <a:srgbClr val="FFFFFF"/>
                </a:solidFill>
                <a:latin typeface="Meiryo" pitchFamily="34" charset="0"/>
                <a:ea typeface="Meiryo" pitchFamily="34" charset="-122"/>
                <a:cs typeface="Meiryo" pitchFamily="34" charset="-120"/>
              </a:rPr>
              <a:t>飛び込みを排除。条件合致ターゲットへ自動アプローチし質の高い商談を安定確保</a:t>
            </a:r>
            <a:endParaRPr lang="en-US" sz="1400" dirty="0"/>
          </a:p>
        </p:txBody>
      </p:sp>
      <p:sp>
        <p:nvSpPr>
          <p:cNvPr id="6" name="Shape 4"/>
          <p:cNvSpPr/>
          <p:nvPr/>
        </p:nvSpPr>
        <p:spPr>
          <a:xfrm>
            <a:off x="365760" y="1481328"/>
            <a:ext cx="3566160" cy="5029200"/>
          </a:xfrm>
          <a:prstGeom prst="roundRect">
            <a:avLst>
              <a:gd name="adj" fmla="val 1282"/>
            </a:avLst>
          </a:prstGeom>
          <a:solidFill>
            <a:srgbClr val="EAF1FA"/>
          </a:solidFill>
          <a:ln w="12700">
            <a:solidFill>
              <a:srgbClr val="D2DCEA"/>
            </a:solidFill>
            <a:prstDash val="solid"/>
          </a:ln>
        </p:spPr>
      </p:sp>
      <p:sp>
        <p:nvSpPr>
          <p:cNvPr id="7" name="Text 5"/>
          <p:cNvSpPr/>
          <p:nvPr/>
        </p:nvSpPr>
        <p:spPr>
          <a:xfrm>
            <a:off x="585216" y="1664208"/>
            <a:ext cx="3127248" cy="640080"/>
          </a:xfrm>
          <a:prstGeom prst="rect">
            <a:avLst/>
          </a:prstGeom>
          <a:noFill/>
          <a:ln/>
        </p:spPr>
        <p:txBody>
          <a:bodyPr wrap="square" lIns="0" tIns="0" rIns="0" bIns="0" rtlCol="0" anchor="t"/>
          <a:lstStyle/>
          <a:p>
            <a:pPr indent="0" marL="0">
              <a:lnSpc>
                <a:spcPct val="105000"/>
              </a:lnSpc>
              <a:buNone/>
            </a:pPr>
            <a:r>
              <a:rPr lang="en-US" sz="1300" b="1" dirty="0">
                <a:solidFill>
                  <a:srgbClr val="1C2530"/>
                </a:solidFill>
                <a:latin typeface="Meiryo" pitchFamily="34" charset="0"/>
                <a:ea typeface="Meiryo" pitchFamily="34" charset="-122"/>
                <a:cs typeface="Meiryo" pitchFamily="34" charset="-120"/>
              </a:rPr>
              <a:t>株式会社宏企画　様</a:t>
            </a:r>
            <a:endParaRPr lang="en-US" sz="1300" dirty="0"/>
          </a:p>
        </p:txBody>
      </p:sp>
      <p:sp>
        <p:nvSpPr>
          <p:cNvPr id="8" name="Text 6"/>
          <p:cNvSpPr/>
          <p:nvPr/>
        </p:nvSpPr>
        <p:spPr>
          <a:xfrm>
            <a:off x="585216" y="2377440"/>
            <a:ext cx="3127248" cy="219456"/>
          </a:xfrm>
          <a:prstGeom prst="rect">
            <a:avLst/>
          </a:prstGeom>
          <a:noFill/>
          <a:ln/>
        </p:spPr>
        <p:txBody>
          <a:bodyPr wrap="square" lIns="0" tIns="0" rIns="0" bIns="0" rtlCol="0" anchor="ctr"/>
          <a:lstStyle/>
          <a:p>
            <a:pPr indent="0" marL="0">
              <a:buNone/>
            </a:pPr>
            <a:r>
              <a:rPr lang="en-US" sz="950" b="1" spc="100" kern="0" dirty="0">
                <a:solidFill>
                  <a:srgbClr val="2B64AB"/>
                </a:solidFill>
                <a:latin typeface="Meiryo" pitchFamily="34" charset="0"/>
                <a:ea typeface="Meiryo" pitchFamily="34" charset="-122"/>
                <a:cs typeface="Meiryo" pitchFamily="34" charset="-120"/>
              </a:rPr>
              <a:t>事業内容</a:t>
            </a:r>
            <a:endParaRPr lang="en-US" sz="950" dirty="0"/>
          </a:p>
        </p:txBody>
      </p:sp>
      <p:sp>
        <p:nvSpPr>
          <p:cNvPr id="9" name="Text 7"/>
          <p:cNvSpPr/>
          <p:nvPr/>
        </p:nvSpPr>
        <p:spPr>
          <a:xfrm>
            <a:off x="585216" y="2596896"/>
            <a:ext cx="3127248" cy="1143000"/>
          </a:xfrm>
          <a:prstGeom prst="rect">
            <a:avLst/>
          </a:prstGeom>
          <a:noFill/>
          <a:ln/>
        </p:spPr>
        <p:txBody>
          <a:bodyPr wrap="square" lIns="0" tIns="0" rIns="0" bIns="0" rtlCol="0" anchor="ctr"/>
          <a:lstStyle/>
          <a:p>
            <a:pPr indent="0" marL="0">
              <a:lnSpc>
                <a:spcPct val="113000"/>
              </a:lnSpc>
              <a:buNone/>
            </a:pPr>
            <a:r>
              <a:rPr lang="en-US" sz="950" dirty="0">
                <a:solidFill>
                  <a:srgbClr val="45566A"/>
                </a:solidFill>
                <a:latin typeface="Meiryo" pitchFamily="34" charset="0"/>
                <a:ea typeface="Meiryo" pitchFamily="34" charset="-122"/>
                <a:cs typeface="Meiryo" pitchFamily="34" charset="-120"/>
              </a:rPr>
              <a:t>不動産売買仲介、賃貸管理、開発事業部での施工・仕入れ・物件メンテナンス業務。</a:t>
            </a:r>
            <a:endParaRPr lang="en-US" sz="950" dirty="0"/>
          </a:p>
        </p:txBody>
      </p:sp>
      <p:sp>
        <p:nvSpPr>
          <p:cNvPr id="10" name="Text 8"/>
          <p:cNvSpPr/>
          <p:nvPr/>
        </p:nvSpPr>
        <p:spPr>
          <a:xfrm>
            <a:off x="585216" y="3785616"/>
            <a:ext cx="3127248" cy="219456"/>
          </a:xfrm>
          <a:prstGeom prst="rect">
            <a:avLst/>
          </a:prstGeom>
          <a:noFill/>
          <a:ln/>
        </p:spPr>
        <p:txBody>
          <a:bodyPr wrap="square" lIns="0" tIns="0" rIns="0" bIns="0" rtlCol="0" anchor="ctr"/>
          <a:lstStyle/>
          <a:p>
            <a:pPr indent="0" marL="0">
              <a:buNone/>
            </a:pPr>
            <a:r>
              <a:rPr lang="en-US" sz="950" b="1" spc="100" kern="0" dirty="0">
                <a:solidFill>
                  <a:srgbClr val="2B64AB"/>
                </a:solidFill>
                <a:latin typeface="Meiryo" pitchFamily="34" charset="0"/>
                <a:ea typeface="Meiryo" pitchFamily="34" charset="-122"/>
                <a:cs typeface="Meiryo" pitchFamily="34" charset="-120"/>
              </a:rPr>
              <a:t>解決した課題</a:t>
            </a:r>
            <a:endParaRPr lang="en-US" sz="950" dirty="0"/>
          </a:p>
        </p:txBody>
      </p:sp>
      <p:sp>
        <p:nvSpPr>
          <p:cNvPr id="11" name="Shape 9"/>
          <p:cNvSpPr/>
          <p:nvPr/>
        </p:nvSpPr>
        <p:spPr>
          <a:xfrm>
            <a:off x="585216" y="4059936"/>
            <a:ext cx="2224786" cy="274320"/>
          </a:xfrm>
          <a:prstGeom prst="roundRect">
            <a:avLst>
              <a:gd name="adj" fmla="val 50000"/>
            </a:avLst>
          </a:prstGeom>
          <a:solidFill>
            <a:srgbClr val="DCE8F6"/>
          </a:solidFill>
          <a:ln w="9525">
            <a:solidFill>
              <a:srgbClr val="BFD3EC"/>
            </a:solidFill>
            <a:prstDash val="solid"/>
          </a:ln>
        </p:spPr>
      </p:sp>
      <p:sp>
        <p:nvSpPr>
          <p:cNvPr id="12" name="Text 10"/>
          <p:cNvSpPr/>
          <p:nvPr/>
        </p:nvSpPr>
        <p:spPr>
          <a:xfrm>
            <a:off x="585216" y="4059936"/>
            <a:ext cx="2224786" cy="274320"/>
          </a:xfrm>
          <a:prstGeom prst="rect">
            <a:avLst/>
          </a:prstGeom>
          <a:noFill/>
          <a:ln/>
        </p:spPr>
        <p:txBody>
          <a:bodyPr wrap="square" lIns="0" tIns="0" rIns="0" bIns="0" rtlCol="0" anchor="ctr"/>
          <a:lstStyle/>
          <a:p>
            <a:pPr algn="ctr" indent="0" marL="0">
              <a:buNone/>
            </a:pPr>
            <a:r>
              <a:rPr lang="en-US" sz="950" b="1" dirty="0">
                <a:solidFill>
                  <a:srgbClr val="24548F"/>
                </a:solidFill>
                <a:latin typeface="Meiryo" pitchFamily="34" charset="0"/>
                <a:ea typeface="Meiryo" pitchFamily="34" charset="-122"/>
                <a:cs typeface="Meiryo" pitchFamily="34" charset="-120"/>
              </a:rPr>
              <a:t>飛び込み営業中心から脱却できず</a:t>
            </a:r>
            <a:endParaRPr lang="en-US" sz="950" dirty="0"/>
          </a:p>
        </p:txBody>
      </p:sp>
      <p:sp>
        <p:nvSpPr>
          <p:cNvPr id="13" name="Shape 11"/>
          <p:cNvSpPr/>
          <p:nvPr/>
        </p:nvSpPr>
        <p:spPr>
          <a:xfrm>
            <a:off x="585216" y="4407408"/>
            <a:ext cx="4309618" cy="274320"/>
          </a:xfrm>
          <a:prstGeom prst="roundRect">
            <a:avLst>
              <a:gd name="adj" fmla="val 50000"/>
            </a:avLst>
          </a:prstGeom>
          <a:solidFill>
            <a:srgbClr val="DCE8F6"/>
          </a:solidFill>
          <a:ln w="9525">
            <a:solidFill>
              <a:srgbClr val="BFD3EC"/>
            </a:solidFill>
            <a:prstDash val="solid"/>
          </a:ln>
        </p:spPr>
      </p:sp>
      <p:sp>
        <p:nvSpPr>
          <p:cNvPr id="14" name="Text 12"/>
          <p:cNvSpPr/>
          <p:nvPr/>
        </p:nvSpPr>
        <p:spPr>
          <a:xfrm>
            <a:off x="585216" y="4407408"/>
            <a:ext cx="4309618" cy="274320"/>
          </a:xfrm>
          <a:prstGeom prst="rect">
            <a:avLst/>
          </a:prstGeom>
          <a:noFill/>
          <a:ln/>
        </p:spPr>
        <p:txBody>
          <a:bodyPr wrap="square" lIns="0" tIns="0" rIns="0" bIns="0" rtlCol="0" anchor="ctr"/>
          <a:lstStyle/>
          <a:p>
            <a:pPr algn="ctr" indent="0" marL="0">
              <a:buNone/>
            </a:pPr>
            <a:r>
              <a:rPr lang="en-US" sz="950" b="1" dirty="0">
                <a:solidFill>
                  <a:srgbClr val="24548F"/>
                </a:solidFill>
                <a:latin typeface="Meiryo" pitchFamily="34" charset="0"/>
                <a:ea typeface="Meiryo" pitchFamily="34" charset="-122"/>
                <a:cs typeface="Meiryo" pitchFamily="34" charset="-120"/>
              </a:rPr>
              <a:t>施工・メンテの新規ターゲットとの効率的な接点創出ができていない</a:t>
            </a:r>
            <a:endParaRPr lang="en-US" sz="950" dirty="0"/>
          </a:p>
        </p:txBody>
      </p:sp>
      <p:sp>
        <p:nvSpPr>
          <p:cNvPr id="15" name="Shape 13"/>
          <p:cNvSpPr/>
          <p:nvPr/>
        </p:nvSpPr>
        <p:spPr>
          <a:xfrm>
            <a:off x="4114800" y="1417320"/>
            <a:ext cx="82296" cy="219456"/>
          </a:xfrm>
          <a:prstGeom prst="roundRect">
            <a:avLst>
              <a:gd name="adj" fmla="val 33333"/>
            </a:avLst>
          </a:prstGeom>
          <a:solidFill>
            <a:srgbClr val="2B64AB"/>
          </a:solidFill>
          <a:ln/>
        </p:spPr>
      </p:sp>
      <p:sp>
        <p:nvSpPr>
          <p:cNvPr id="16" name="Text 14"/>
          <p:cNvSpPr/>
          <p:nvPr/>
        </p:nvSpPr>
        <p:spPr>
          <a:xfrm>
            <a:off x="4297680" y="1353312"/>
            <a:ext cx="7315200" cy="310896"/>
          </a:xfrm>
          <a:prstGeom prst="rect">
            <a:avLst/>
          </a:prstGeom>
          <a:noFill/>
          <a:ln/>
        </p:spPr>
        <p:txBody>
          <a:bodyPr wrap="square" lIns="0" tIns="0" rIns="0" bIns="0" rtlCol="0" anchor="ctr"/>
          <a:lstStyle/>
          <a:p>
            <a:pPr indent="0" marL="0">
              <a:buNone/>
            </a:pPr>
            <a:r>
              <a:rPr lang="en-US" sz="1250" b="1" dirty="0">
                <a:solidFill>
                  <a:srgbClr val="2B64AB"/>
                </a:solidFill>
                <a:latin typeface="Meiryo" pitchFamily="34" charset="0"/>
                <a:ea typeface="Meiryo" pitchFamily="34" charset="-122"/>
                <a:cs typeface="Meiryo" pitchFamily="34" charset="-120"/>
              </a:rPr>
              <a:t>事例の概要</a:t>
            </a:r>
            <a:endParaRPr lang="en-US" sz="1250" dirty="0"/>
          </a:p>
        </p:txBody>
      </p:sp>
      <p:sp>
        <p:nvSpPr>
          <p:cNvPr id="17" name="Text 15"/>
          <p:cNvSpPr/>
          <p:nvPr/>
        </p:nvSpPr>
        <p:spPr>
          <a:xfrm>
            <a:off x="4114800" y="1682496"/>
            <a:ext cx="7708392" cy="676656"/>
          </a:xfrm>
          <a:prstGeom prst="rect">
            <a:avLst/>
          </a:prstGeom>
          <a:noFill/>
          <a:ln/>
        </p:spPr>
        <p:txBody>
          <a:bodyPr wrap="square" lIns="0" tIns="0" rIns="0" bIns="0" rtlCol="0" anchor="t"/>
          <a:lstStyle/>
          <a:p>
            <a:pPr indent="0" marL="0">
              <a:lnSpc>
                <a:spcPct val="116000"/>
              </a:lnSpc>
              <a:buNone/>
            </a:pPr>
            <a:r>
              <a:rPr lang="en-US" sz="1000" dirty="0">
                <a:solidFill>
                  <a:srgbClr val="45566A"/>
                </a:solidFill>
                <a:latin typeface="Meiryo" pitchFamily="34" charset="0"/>
                <a:ea typeface="Meiryo" pitchFamily="34" charset="-122"/>
                <a:cs typeface="Meiryo" pitchFamily="34" charset="-120"/>
              </a:rPr>
              <a:t>少人数体制で施工・開発事業を展開する企業。新人を採用・教育するコストとリスクを避け、営業支援ユニットを活用して新規アプローチを自動化。無駄のない高効率なBtoB営業・アプローチフローを確立した。</a:t>
            </a:r>
            <a:endParaRPr lang="en-US" sz="1000" dirty="0"/>
          </a:p>
        </p:txBody>
      </p:sp>
      <p:sp>
        <p:nvSpPr>
          <p:cNvPr id="18" name="Shape 16"/>
          <p:cNvSpPr/>
          <p:nvPr/>
        </p:nvSpPr>
        <p:spPr>
          <a:xfrm>
            <a:off x="4114800" y="2395728"/>
            <a:ext cx="7708392" cy="950976"/>
          </a:xfrm>
          <a:prstGeom prst="roundRect">
            <a:avLst>
              <a:gd name="adj" fmla="val 4808"/>
            </a:avLst>
          </a:prstGeom>
          <a:solidFill>
            <a:srgbClr val="E9F4EE"/>
          </a:solidFill>
          <a:ln w="12700">
            <a:solidFill>
              <a:srgbClr val="BADFC9"/>
            </a:solidFill>
            <a:prstDash val="solid"/>
          </a:ln>
        </p:spPr>
      </p:sp>
      <p:sp>
        <p:nvSpPr>
          <p:cNvPr id="19" name="Shape 17"/>
          <p:cNvSpPr/>
          <p:nvPr/>
        </p:nvSpPr>
        <p:spPr>
          <a:xfrm>
            <a:off x="4352544" y="2542032"/>
            <a:ext cx="82296" cy="219456"/>
          </a:xfrm>
          <a:prstGeom prst="roundRect">
            <a:avLst>
              <a:gd name="adj" fmla="val 33333"/>
            </a:avLst>
          </a:prstGeom>
          <a:solidFill>
            <a:srgbClr val="1F7A4D"/>
          </a:solidFill>
          <a:ln/>
        </p:spPr>
      </p:sp>
      <p:sp>
        <p:nvSpPr>
          <p:cNvPr id="20" name="Text 18"/>
          <p:cNvSpPr/>
          <p:nvPr/>
        </p:nvSpPr>
        <p:spPr>
          <a:xfrm>
            <a:off x="4535424" y="2487168"/>
            <a:ext cx="7159752" cy="292608"/>
          </a:xfrm>
          <a:prstGeom prst="rect">
            <a:avLst/>
          </a:prstGeom>
          <a:noFill/>
          <a:ln/>
        </p:spPr>
        <p:txBody>
          <a:bodyPr wrap="square" lIns="0" tIns="0" rIns="0" bIns="0" rtlCol="0" anchor="ctr"/>
          <a:lstStyle/>
          <a:p>
            <a:pPr indent="0" marL="0">
              <a:buNone/>
            </a:pPr>
            <a:r>
              <a:rPr lang="en-US" sz="1200" b="1" dirty="0">
                <a:solidFill>
                  <a:srgbClr val="1F7A4D"/>
                </a:solidFill>
                <a:latin typeface="Meiryo" pitchFamily="34" charset="0"/>
                <a:ea typeface="Meiryo" pitchFamily="34" charset="-122"/>
                <a:cs typeface="Meiryo" pitchFamily="34" charset="-120"/>
              </a:rPr>
              <a:t>結果</a:t>
            </a:r>
            <a:endParaRPr lang="en-US" sz="1200" dirty="0"/>
          </a:p>
        </p:txBody>
      </p:sp>
      <p:sp>
        <p:nvSpPr>
          <p:cNvPr id="21" name="Text 19"/>
          <p:cNvSpPr/>
          <p:nvPr/>
        </p:nvSpPr>
        <p:spPr>
          <a:xfrm>
            <a:off x="4352544" y="2798064"/>
            <a:ext cx="7232904" cy="457200"/>
          </a:xfrm>
          <a:prstGeom prst="rect">
            <a:avLst/>
          </a:prstGeom>
          <a:noFill/>
          <a:ln/>
        </p:spPr>
        <p:txBody>
          <a:bodyPr wrap="square" lIns="0" tIns="0" rIns="0" bIns="0" rtlCol="0" anchor="t"/>
          <a:lstStyle/>
          <a:p>
            <a:pPr indent="0" marL="0">
              <a:lnSpc>
                <a:spcPct val="113000"/>
              </a:lnSpc>
              <a:buNone/>
            </a:pPr>
            <a:r>
              <a:rPr lang="en-US" sz="1000" dirty="0">
                <a:solidFill>
                  <a:srgbClr val="1C3A29"/>
                </a:solidFill>
                <a:latin typeface="Meiryo" pitchFamily="34" charset="0"/>
                <a:ea typeface="Meiryo" pitchFamily="34" charset="-122"/>
                <a:cs typeface="Meiryo" pitchFamily="34" charset="-120"/>
              </a:rPr>
              <a:t>「Sales Platform」を導入し、見込みのない訪問営業を完全に排除。条件に合致するターゲット企業へ自動アプローチを行い、質の高い新規商談（1日1件ペース）を安定確保することに成功した。</a:t>
            </a:r>
            <a:endParaRPr lang="en-US" sz="1000" dirty="0"/>
          </a:p>
        </p:txBody>
      </p:sp>
      <p:sp>
        <p:nvSpPr>
          <p:cNvPr id="22" name="Shape 20"/>
          <p:cNvSpPr/>
          <p:nvPr/>
        </p:nvSpPr>
        <p:spPr>
          <a:xfrm>
            <a:off x="4114800" y="3456432"/>
            <a:ext cx="7708392" cy="1572768"/>
          </a:xfrm>
          <a:prstGeom prst="roundRect">
            <a:avLst>
              <a:gd name="adj" fmla="val 2907"/>
            </a:avLst>
          </a:prstGeom>
          <a:solidFill>
            <a:srgbClr val="EAF1FA"/>
          </a:solidFill>
          <a:ln w="12700">
            <a:solidFill>
              <a:srgbClr val="C6D8EF"/>
            </a:solidFill>
            <a:prstDash val="solid"/>
          </a:ln>
        </p:spPr>
      </p:sp>
      <p:sp>
        <p:nvSpPr>
          <p:cNvPr id="23" name="Shape 21"/>
          <p:cNvSpPr/>
          <p:nvPr/>
        </p:nvSpPr>
        <p:spPr>
          <a:xfrm>
            <a:off x="4352544" y="3602736"/>
            <a:ext cx="82296" cy="219456"/>
          </a:xfrm>
          <a:prstGeom prst="roundRect">
            <a:avLst>
              <a:gd name="adj" fmla="val 33333"/>
            </a:avLst>
          </a:prstGeom>
          <a:solidFill>
            <a:srgbClr val="2B64AB"/>
          </a:solidFill>
          <a:ln/>
        </p:spPr>
      </p:sp>
      <p:sp>
        <p:nvSpPr>
          <p:cNvPr id="24" name="Text 22"/>
          <p:cNvSpPr/>
          <p:nvPr/>
        </p:nvSpPr>
        <p:spPr>
          <a:xfrm>
            <a:off x="4535424" y="3547872"/>
            <a:ext cx="7159752" cy="292608"/>
          </a:xfrm>
          <a:prstGeom prst="rect">
            <a:avLst/>
          </a:prstGeom>
          <a:noFill/>
          <a:ln/>
        </p:spPr>
        <p:txBody>
          <a:bodyPr wrap="square" lIns="0" tIns="0" rIns="0" bIns="0" rtlCol="0" anchor="ctr"/>
          <a:lstStyle/>
          <a:p>
            <a:pPr indent="0" marL="0">
              <a:buNone/>
            </a:pPr>
            <a:r>
              <a:rPr lang="en-US" sz="1200" b="1" dirty="0">
                <a:solidFill>
                  <a:srgbClr val="2B64AB"/>
                </a:solidFill>
                <a:latin typeface="Meiryo" pitchFamily="34" charset="0"/>
                <a:ea typeface="Meiryo" pitchFamily="34" charset="-122"/>
                <a:cs typeface="Meiryo" pitchFamily="34" charset="-120"/>
              </a:rPr>
              <a:t>今回ご検討をされている企業様への活用ポイント</a:t>
            </a:r>
            <a:endParaRPr lang="en-US" sz="1200" dirty="0"/>
          </a:p>
        </p:txBody>
      </p:sp>
      <p:sp>
        <p:nvSpPr>
          <p:cNvPr id="25" name="Text 23"/>
          <p:cNvSpPr/>
          <p:nvPr/>
        </p:nvSpPr>
        <p:spPr>
          <a:xfrm>
            <a:off x="4352544" y="3858768"/>
            <a:ext cx="7232904" cy="1078992"/>
          </a:xfrm>
          <a:prstGeom prst="rect">
            <a:avLst/>
          </a:prstGeom>
          <a:noFill/>
          <a:ln/>
        </p:spPr>
        <p:txBody>
          <a:bodyPr wrap="square" lIns="0" tIns="0" rIns="0" bIns="0" rtlCol="0" anchor="t"/>
          <a:lstStyle/>
          <a:p>
            <a:pPr indent="0" marL="0">
              <a:lnSpc>
                <a:spcPct val="113000"/>
              </a:lnSpc>
              <a:buNone/>
            </a:pPr>
            <a:r>
              <a:rPr lang="en-US" sz="1000" dirty="0">
                <a:solidFill>
                  <a:srgbClr val="1C2530"/>
                </a:solidFill>
                <a:latin typeface="Meiryo" pitchFamily="34" charset="0"/>
                <a:ea typeface="Meiryo" pitchFamily="34" charset="-122"/>
                <a:cs typeface="Meiryo" pitchFamily="34" charset="-120"/>
              </a:rPr>
              <a:t>自社HPや飛び込み営業に頼ることなく、営業支援ユニットの膨大な企業データベースを活用して「車のコーティング施工ニーズがある地域法人・店舗・整備工場」へピンポイントでアプローチし、無駄な営業稼働ゼロで確実な商談を獲得できます。</a:t>
            </a:r>
            <a:endParaRPr lang="en-US" sz="1000" dirty="0"/>
          </a:p>
        </p:txBody>
      </p:sp>
      <p:sp>
        <p:nvSpPr>
          <p:cNvPr id="26" name="Shape 24"/>
          <p:cNvSpPr/>
          <p:nvPr/>
        </p:nvSpPr>
        <p:spPr>
          <a:xfrm>
            <a:off x="4114800" y="5138928"/>
            <a:ext cx="7708392" cy="1060704"/>
          </a:xfrm>
          <a:prstGeom prst="roundRect">
            <a:avLst>
              <a:gd name="adj" fmla="val 4310"/>
            </a:avLst>
          </a:prstGeom>
          <a:solidFill>
            <a:srgbClr val="FBF4E6"/>
          </a:solidFill>
          <a:ln w="12700">
            <a:solidFill>
              <a:srgbClr val="E7D6AC"/>
            </a:solidFill>
            <a:prstDash val="solid"/>
          </a:ln>
        </p:spPr>
      </p:sp>
      <p:sp>
        <p:nvSpPr>
          <p:cNvPr id="27" name="Shape 25"/>
          <p:cNvSpPr/>
          <p:nvPr/>
        </p:nvSpPr>
        <p:spPr>
          <a:xfrm>
            <a:off x="4352544" y="5285232"/>
            <a:ext cx="82296" cy="219456"/>
          </a:xfrm>
          <a:prstGeom prst="roundRect">
            <a:avLst>
              <a:gd name="adj" fmla="val 33333"/>
            </a:avLst>
          </a:prstGeom>
          <a:solidFill>
            <a:srgbClr val="9A6B12"/>
          </a:solidFill>
          <a:ln/>
        </p:spPr>
      </p:sp>
      <p:sp>
        <p:nvSpPr>
          <p:cNvPr id="28" name="Text 26"/>
          <p:cNvSpPr/>
          <p:nvPr/>
        </p:nvSpPr>
        <p:spPr>
          <a:xfrm>
            <a:off x="4535424" y="5230368"/>
            <a:ext cx="7159752" cy="292608"/>
          </a:xfrm>
          <a:prstGeom prst="rect">
            <a:avLst/>
          </a:prstGeom>
          <a:noFill/>
          <a:ln/>
        </p:spPr>
        <p:txBody>
          <a:bodyPr wrap="square" lIns="0" tIns="0" rIns="0" bIns="0" rtlCol="0" anchor="ctr"/>
          <a:lstStyle/>
          <a:p>
            <a:pPr indent="0" marL="0">
              <a:buNone/>
            </a:pPr>
            <a:r>
              <a:rPr lang="en-US" sz="1200" b="1" dirty="0">
                <a:solidFill>
                  <a:srgbClr val="9A6B12"/>
                </a:solidFill>
                <a:latin typeface="Meiryo" pitchFamily="34" charset="0"/>
                <a:ea typeface="Meiryo" pitchFamily="34" charset="-122"/>
                <a:cs typeface="Meiryo" pitchFamily="34" charset="-120"/>
              </a:rPr>
              <a:t>導入を検討されえいる企業様へのアドバイス</a:t>
            </a:r>
            <a:endParaRPr lang="en-US" sz="1200" dirty="0"/>
          </a:p>
        </p:txBody>
      </p:sp>
      <p:sp>
        <p:nvSpPr>
          <p:cNvPr id="29" name="Text 27"/>
          <p:cNvSpPr/>
          <p:nvPr/>
        </p:nvSpPr>
        <p:spPr>
          <a:xfrm>
            <a:off x="4352544" y="5541264"/>
            <a:ext cx="7232904" cy="566928"/>
          </a:xfrm>
          <a:prstGeom prst="rect">
            <a:avLst/>
          </a:prstGeom>
          <a:noFill/>
          <a:ln/>
        </p:spPr>
        <p:txBody>
          <a:bodyPr wrap="square" lIns="0" tIns="0" rIns="0" bIns="0" rtlCol="0" anchor="t"/>
          <a:lstStyle/>
          <a:p>
            <a:pPr indent="0" marL="0">
              <a:lnSpc>
                <a:spcPct val="113000"/>
              </a:lnSpc>
              <a:buNone/>
            </a:pPr>
            <a:r>
              <a:rPr lang="en-US" sz="1000" i="1" dirty="0">
                <a:solidFill>
                  <a:srgbClr val="4A3A18"/>
                </a:solidFill>
                <a:latin typeface="Meiryo" pitchFamily="34" charset="0"/>
                <a:ea typeface="Meiryo" pitchFamily="34" charset="-122"/>
                <a:cs typeface="Meiryo" pitchFamily="34" charset="-120"/>
              </a:rPr>
              <a:t>「社内に営業担当がいなかったりリソースが不足している場合は、外部の専門家を活用して環境を整えることが最も効率的です。時代に合わせたやり方を取り入れ、生産性を上げることが不可欠です。」</a:t>
            </a:r>
            <a:endParaRPr lang="en-US" sz="1000" dirty="0"/>
          </a:p>
        </p:txBody>
      </p:sp>
      <p:sp>
        <p:nvSpPr>
          <p:cNvPr id="30" name="Text 28"/>
          <p:cNvSpPr/>
          <p:nvPr/>
        </p:nvSpPr>
        <p:spPr>
          <a:xfrm>
            <a:off x="4114800" y="6291072"/>
            <a:ext cx="7708392" cy="219456"/>
          </a:xfrm>
          <a:prstGeom prst="rect">
            <a:avLst/>
          </a:prstGeom>
          <a:noFill/>
          <a:ln/>
        </p:spPr>
        <p:txBody>
          <a:bodyPr wrap="square" lIns="0" tIns="0" rIns="0" bIns="0" rtlCol="0" anchor="ctr"/>
          <a:lstStyle/>
          <a:p>
            <a:pPr indent="0" marL="0">
              <a:buNone/>
            </a:pPr>
            <a:r>
              <a:rPr lang="en-US" sz="950" b="1" dirty="0">
                <a:solidFill>
                  <a:srgbClr val="8593A4"/>
                </a:solidFill>
                <a:latin typeface="Meiryo" pitchFamily="34" charset="0"/>
                <a:ea typeface="Meiryo" pitchFamily="34" charset="-122"/>
                <a:cs typeface="Meiryo" pitchFamily="34" charset="-120"/>
              </a:rPr>
              <a:t>引用URL　</a:t>
            </a:r>
            <a:pPr indent="0" marL="0">
              <a:buNone/>
            </a:pPr>
            <a:r>
              <a:rPr lang="en-US" sz="950" u="sng" dirty="0">
                <a:solidFill>
                  <a:srgbClr val="2B64AB"/>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https://www.aidma-hd.jp/case/zirei-513/</a:t>
            </a:r>
            <a:endParaRPr lang="en-US" sz="950" dirty="0"/>
          </a:p>
        </p:txBody>
      </p:sp>
      <p:sp>
        <p:nvSpPr>
          <p:cNvPr id="31" name="Text 29"/>
          <p:cNvSpPr/>
          <p:nvPr/>
        </p:nvSpPr>
        <p:spPr>
          <a:xfrm>
            <a:off x="365760" y="6537960"/>
            <a:ext cx="8229600" cy="219456"/>
          </a:xfrm>
          <a:prstGeom prst="rect">
            <a:avLst/>
          </a:prstGeom>
          <a:noFill/>
          <a:ln/>
        </p:spPr>
        <p:txBody>
          <a:bodyPr wrap="square" lIns="0" tIns="0" rIns="0" bIns="0" rtlCol="0" anchor="ctr"/>
          <a:lstStyle/>
          <a:p>
            <a:pPr indent="0" marL="0">
              <a:buNone/>
            </a:pPr>
            <a:r>
              <a:rPr lang="en-US" sz="900" dirty="0">
                <a:solidFill>
                  <a:srgbClr val="9AA7B6"/>
                </a:solidFill>
                <a:latin typeface="Meiryo" pitchFamily="34" charset="0"/>
                <a:ea typeface="Meiryo" pitchFamily="34" charset="-122"/>
                <a:cs typeface="Meiryo" pitchFamily="34" charset="-120"/>
              </a:rPr>
              <a:t>興拓 様　提案引用実績5選</a:t>
            </a:r>
            <a:endParaRPr lang="en-US" sz="900" dirty="0"/>
          </a:p>
        </p:txBody>
      </p:sp>
      <p:sp>
        <p:nvSpPr>
          <p:cNvPr id="32" name="Text 30"/>
          <p:cNvSpPr/>
          <p:nvPr/>
        </p:nvSpPr>
        <p:spPr>
          <a:xfrm>
            <a:off x="10424160" y="6537960"/>
            <a:ext cx="1399032" cy="219456"/>
          </a:xfrm>
          <a:prstGeom prst="rect">
            <a:avLst/>
          </a:prstGeom>
          <a:noFill/>
          <a:ln/>
        </p:spPr>
        <p:txBody>
          <a:bodyPr wrap="square" lIns="0" tIns="0" rIns="0" bIns="0" rtlCol="0" anchor="ctr"/>
          <a:lstStyle/>
          <a:p>
            <a:pPr algn="r" indent="0" marL="0">
              <a:buNone/>
            </a:pPr>
            <a:r>
              <a:rPr lang="en-US" sz="900" dirty="0">
                <a:solidFill>
                  <a:srgbClr val="9AA7B6"/>
                </a:solidFill>
                <a:latin typeface="Meiryo" pitchFamily="34" charset="0"/>
                <a:ea typeface="Meiryo" pitchFamily="34" charset="-122"/>
                <a:cs typeface="Meiryo" pitchFamily="34" charset="-120"/>
              </a:rPr>
              <a:t>3 / 5</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3F6FB"/>
        </a:solidFill>
      </p:bgPr>
    </p:bg>
    <p:spTree>
      <p:nvGrpSpPr>
        <p:cNvPr id="1" name=""/>
        <p:cNvGrpSpPr/>
        <p:nvPr/>
      </p:nvGrpSpPr>
      <p:grpSpPr>
        <a:xfrm>
          <a:off x="0" y="0"/>
          <a:ext cx="0" cy="0"/>
          <a:chOff x="0" y="0"/>
          <a:chExt cx="0" cy="0"/>
        </a:xfrm>
      </p:grpSpPr>
      <p:sp>
        <p:nvSpPr>
          <p:cNvPr id="2" name="Shape 0"/>
          <p:cNvSpPr/>
          <p:nvPr/>
        </p:nvSpPr>
        <p:spPr>
          <a:xfrm>
            <a:off x="365760" y="365760"/>
            <a:ext cx="11457432" cy="932688"/>
          </a:xfrm>
          <a:prstGeom prst="roundRect">
            <a:avLst>
              <a:gd name="adj" fmla="val 5882"/>
            </a:avLst>
          </a:prstGeom>
          <a:solidFill>
            <a:srgbClr val="16407A"/>
          </a:solidFill>
          <a:ln/>
          <a:effectLst>
            <a:outerShdw sx="100000" sy="100000" kx="0" ky="0" algn="bl" rotWithShape="0" blurRad="76200" dist="25400" dir="5400000">
              <a:srgbClr val="0F2F5C">
                <a:alpha val="35000"/>
              </a:srgbClr>
            </a:outerShdw>
          </a:effectLst>
        </p:spPr>
      </p:sp>
      <p:sp>
        <p:nvSpPr>
          <p:cNvPr id="3" name="Shape 1"/>
          <p:cNvSpPr/>
          <p:nvPr/>
        </p:nvSpPr>
        <p:spPr>
          <a:xfrm>
            <a:off x="566928" y="566928"/>
            <a:ext cx="530352" cy="530352"/>
          </a:xfrm>
          <a:prstGeom prst="roundRect">
            <a:avLst>
              <a:gd name="adj" fmla="val 13793"/>
            </a:avLst>
          </a:prstGeom>
          <a:solidFill>
            <a:srgbClr val="FFFFFF">
              <a:alpha val="16000"/>
            </a:srgbClr>
          </a:solidFill>
          <a:ln w="12700">
            <a:solidFill>
              <a:srgbClr val="FFFFFF">
                <a:alpha val="40000"/>
              </a:srgbClr>
            </a:solidFill>
            <a:prstDash val="solid"/>
          </a:ln>
        </p:spPr>
      </p:sp>
      <p:sp>
        <p:nvSpPr>
          <p:cNvPr id="4" name="Text 2"/>
          <p:cNvSpPr/>
          <p:nvPr/>
        </p:nvSpPr>
        <p:spPr>
          <a:xfrm>
            <a:off x="566928" y="566928"/>
            <a:ext cx="530352" cy="530352"/>
          </a:xfrm>
          <a:prstGeom prst="rect">
            <a:avLst/>
          </a:prstGeom>
          <a:noFill/>
          <a:ln/>
        </p:spPr>
        <p:txBody>
          <a:bodyPr wrap="square" lIns="0" tIns="0" rIns="0" bIns="0" rtlCol="0" anchor="ctr"/>
          <a:lstStyle/>
          <a:p>
            <a:pPr algn="ctr" indent="0" marL="0">
              <a:buNone/>
            </a:pPr>
            <a:r>
              <a:rPr lang="en-US" sz="2400" b="1" dirty="0">
                <a:solidFill>
                  <a:srgbClr val="FFFFFF"/>
                </a:solidFill>
                <a:latin typeface="Meiryo" pitchFamily="34" charset="0"/>
                <a:ea typeface="Meiryo" pitchFamily="34" charset="-122"/>
                <a:cs typeface="Meiryo" pitchFamily="34" charset="-120"/>
              </a:rPr>
              <a:t>4</a:t>
            </a:r>
            <a:endParaRPr lang="en-US" sz="2400" dirty="0"/>
          </a:p>
        </p:txBody>
      </p:sp>
      <p:sp>
        <p:nvSpPr>
          <p:cNvPr id="5" name="Text 3"/>
          <p:cNvSpPr/>
          <p:nvPr/>
        </p:nvSpPr>
        <p:spPr>
          <a:xfrm>
            <a:off x="1280160" y="420624"/>
            <a:ext cx="10378440" cy="822960"/>
          </a:xfrm>
          <a:prstGeom prst="rect">
            <a:avLst/>
          </a:prstGeom>
          <a:noFill/>
          <a:ln/>
        </p:spPr>
        <p:txBody>
          <a:bodyPr wrap="square" lIns="0" tIns="0" rIns="0" bIns="0" rtlCol="0" anchor="ctr"/>
          <a:lstStyle/>
          <a:p>
            <a:pPr indent="0" marL="0">
              <a:lnSpc>
                <a:spcPct val="105000"/>
              </a:lnSpc>
              <a:buNone/>
            </a:pPr>
            <a:r>
              <a:rPr lang="en-US" sz="1400" b="1" dirty="0">
                <a:solidFill>
                  <a:srgbClr val="FFFFFF"/>
                </a:solidFill>
                <a:latin typeface="Meiryo" pitchFamily="34" charset="0"/>
                <a:ea typeface="Meiryo" pitchFamily="34" charset="-122"/>
                <a:cs typeface="Meiryo" pitchFamily="34" charset="-120"/>
              </a:rPr>
              <a:t>HP・営業マンなしの少人数でも工数ほぼゼロで見込み客33件を獲得</a:t>
            </a:r>
            <a:endParaRPr lang="en-US" sz="1400" dirty="0"/>
          </a:p>
        </p:txBody>
      </p:sp>
      <p:sp>
        <p:nvSpPr>
          <p:cNvPr id="6" name="Shape 4"/>
          <p:cNvSpPr/>
          <p:nvPr/>
        </p:nvSpPr>
        <p:spPr>
          <a:xfrm>
            <a:off x="365760" y="1481328"/>
            <a:ext cx="3566160" cy="5029200"/>
          </a:xfrm>
          <a:prstGeom prst="roundRect">
            <a:avLst>
              <a:gd name="adj" fmla="val 1282"/>
            </a:avLst>
          </a:prstGeom>
          <a:solidFill>
            <a:srgbClr val="EAF1FA"/>
          </a:solidFill>
          <a:ln w="12700">
            <a:solidFill>
              <a:srgbClr val="D2DCEA"/>
            </a:solidFill>
            <a:prstDash val="solid"/>
          </a:ln>
        </p:spPr>
      </p:sp>
      <p:sp>
        <p:nvSpPr>
          <p:cNvPr id="7" name="Text 5"/>
          <p:cNvSpPr/>
          <p:nvPr/>
        </p:nvSpPr>
        <p:spPr>
          <a:xfrm>
            <a:off x="585216" y="1664208"/>
            <a:ext cx="3127248" cy="640080"/>
          </a:xfrm>
          <a:prstGeom prst="rect">
            <a:avLst/>
          </a:prstGeom>
          <a:noFill/>
          <a:ln/>
        </p:spPr>
        <p:txBody>
          <a:bodyPr wrap="square" lIns="0" tIns="0" rIns="0" bIns="0" rtlCol="0" anchor="t"/>
          <a:lstStyle/>
          <a:p>
            <a:pPr indent="0" marL="0">
              <a:lnSpc>
                <a:spcPct val="105000"/>
              </a:lnSpc>
              <a:buNone/>
            </a:pPr>
            <a:r>
              <a:rPr lang="en-US" sz="1300" b="1" dirty="0">
                <a:solidFill>
                  <a:srgbClr val="1C2530"/>
                </a:solidFill>
                <a:latin typeface="Meiryo" pitchFamily="34" charset="0"/>
                <a:ea typeface="Meiryo" pitchFamily="34" charset="-122"/>
                <a:cs typeface="Meiryo" pitchFamily="34" charset="-120"/>
              </a:rPr>
              <a:t>株式会社テイクオーバル　様</a:t>
            </a:r>
            <a:endParaRPr lang="en-US" sz="1300" dirty="0"/>
          </a:p>
        </p:txBody>
      </p:sp>
      <p:sp>
        <p:nvSpPr>
          <p:cNvPr id="8" name="Text 6"/>
          <p:cNvSpPr/>
          <p:nvPr/>
        </p:nvSpPr>
        <p:spPr>
          <a:xfrm>
            <a:off x="585216" y="2377440"/>
            <a:ext cx="3127248" cy="219456"/>
          </a:xfrm>
          <a:prstGeom prst="rect">
            <a:avLst/>
          </a:prstGeom>
          <a:noFill/>
          <a:ln/>
        </p:spPr>
        <p:txBody>
          <a:bodyPr wrap="square" lIns="0" tIns="0" rIns="0" bIns="0" rtlCol="0" anchor="ctr"/>
          <a:lstStyle/>
          <a:p>
            <a:pPr indent="0" marL="0">
              <a:buNone/>
            </a:pPr>
            <a:r>
              <a:rPr lang="en-US" sz="950" b="1" spc="100" kern="0" dirty="0">
                <a:solidFill>
                  <a:srgbClr val="2B64AB"/>
                </a:solidFill>
                <a:latin typeface="Meiryo" pitchFamily="34" charset="0"/>
                <a:ea typeface="Meiryo" pitchFamily="34" charset="-122"/>
                <a:cs typeface="Meiryo" pitchFamily="34" charset="-120"/>
              </a:rPr>
              <a:t>事業内容</a:t>
            </a:r>
            <a:endParaRPr lang="en-US" sz="950" dirty="0"/>
          </a:p>
        </p:txBody>
      </p:sp>
      <p:sp>
        <p:nvSpPr>
          <p:cNvPr id="9" name="Text 7"/>
          <p:cNvSpPr/>
          <p:nvPr/>
        </p:nvSpPr>
        <p:spPr>
          <a:xfrm>
            <a:off x="585216" y="2596896"/>
            <a:ext cx="3127248" cy="1143000"/>
          </a:xfrm>
          <a:prstGeom prst="rect">
            <a:avLst/>
          </a:prstGeom>
          <a:noFill/>
          <a:ln/>
        </p:spPr>
        <p:txBody>
          <a:bodyPr wrap="square" lIns="0" tIns="0" rIns="0" bIns="0" rtlCol="0" anchor="ctr"/>
          <a:lstStyle/>
          <a:p>
            <a:pPr indent="0" marL="0">
              <a:lnSpc>
                <a:spcPct val="113000"/>
              </a:lnSpc>
              <a:buNone/>
            </a:pPr>
            <a:r>
              <a:rPr lang="en-US" sz="950" dirty="0">
                <a:solidFill>
                  <a:srgbClr val="45566A"/>
                </a:solidFill>
                <a:latin typeface="Meiryo" pitchFamily="34" charset="0"/>
                <a:ea typeface="Meiryo" pitchFamily="34" charset="-122"/>
                <a:cs typeface="Meiryo" pitchFamily="34" charset="-120"/>
              </a:rPr>
              <a:t>ネットワークソリューション事業、各種代行・プロデュース事業。</a:t>
            </a:r>
            <a:endParaRPr lang="en-US" sz="950" dirty="0"/>
          </a:p>
        </p:txBody>
      </p:sp>
      <p:sp>
        <p:nvSpPr>
          <p:cNvPr id="10" name="Text 8"/>
          <p:cNvSpPr/>
          <p:nvPr/>
        </p:nvSpPr>
        <p:spPr>
          <a:xfrm>
            <a:off x="585216" y="3785616"/>
            <a:ext cx="3127248" cy="219456"/>
          </a:xfrm>
          <a:prstGeom prst="rect">
            <a:avLst/>
          </a:prstGeom>
          <a:noFill/>
          <a:ln/>
        </p:spPr>
        <p:txBody>
          <a:bodyPr wrap="square" lIns="0" tIns="0" rIns="0" bIns="0" rtlCol="0" anchor="ctr"/>
          <a:lstStyle/>
          <a:p>
            <a:pPr indent="0" marL="0">
              <a:buNone/>
            </a:pPr>
            <a:r>
              <a:rPr lang="en-US" sz="950" b="1" spc="100" kern="0" dirty="0">
                <a:solidFill>
                  <a:srgbClr val="2B64AB"/>
                </a:solidFill>
                <a:latin typeface="Meiryo" pitchFamily="34" charset="0"/>
                <a:ea typeface="Meiryo" pitchFamily="34" charset="-122"/>
                <a:cs typeface="Meiryo" pitchFamily="34" charset="-120"/>
              </a:rPr>
              <a:t>解決した課題</a:t>
            </a:r>
            <a:endParaRPr lang="en-US" sz="950" dirty="0"/>
          </a:p>
        </p:txBody>
      </p:sp>
      <p:sp>
        <p:nvSpPr>
          <p:cNvPr id="11" name="Shape 9"/>
          <p:cNvSpPr/>
          <p:nvPr/>
        </p:nvSpPr>
        <p:spPr>
          <a:xfrm>
            <a:off x="585216" y="4059936"/>
            <a:ext cx="1906270" cy="274320"/>
          </a:xfrm>
          <a:prstGeom prst="roundRect">
            <a:avLst>
              <a:gd name="adj" fmla="val 50000"/>
            </a:avLst>
          </a:prstGeom>
          <a:solidFill>
            <a:srgbClr val="DCE8F6"/>
          </a:solidFill>
          <a:ln w="9525">
            <a:solidFill>
              <a:srgbClr val="BFD3EC"/>
            </a:solidFill>
            <a:prstDash val="solid"/>
          </a:ln>
        </p:spPr>
      </p:sp>
      <p:sp>
        <p:nvSpPr>
          <p:cNvPr id="12" name="Text 10"/>
          <p:cNvSpPr/>
          <p:nvPr/>
        </p:nvSpPr>
        <p:spPr>
          <a:xfrm>
            <a:off x="585216" y="4059936"/>
            <a:ext cx="1906270" cy="274320"/>
          </a:xfrm>
          <a:prstGeom prst="rect">
            <a:avLst/>
          </a:prstGeom>
          <a:noFill/>
          <a:ln/>
        </p:spPr>
        <p:txBody>
          <a:bodyPr wrap="square" lIns="0" tIns="0" rIns="0" bIns="0" rtlCol="0" anchor="ctr"/>
          <a:lstStyle/>
          <a:p>
            <a:pPr algn="ctr" indent="0" marL="0">
              <a:buNone/>
            </a:pPr>
            <a:r>
              <a:rPr lang="en-US" sz="950" b="1" dirty="0">
                <a:solidFill>
                  <a:srgbClr val="24548F"/>
                </a:solidFill>
                <a:latin typeface="Meiryo" pitchFamily="34" charset="0"/>
                <a:ea typeface="Meiryo" pitchFamily="34" charset="-122"/>
                <a:cs typeface="Meiryo" pitchFamily="34" charset="-120"/>
              </a:rPr>
              <a:t>代表＋社員1人の少人数体制</a:t>
            </a:r>
            <a:endParaRPr lang="en-US" sz="950" dirty="0"/>
          </a:p>
        </p:txBody>
      </p:sp>
      <p:sp>
        <p:nvSpPr>
          <p:cNvPr id="13" name="Shape 11"/>
          <p:cNvSpPr/>
          <p:nvPr/>
        </p:nvSpPr>
        <p:spPr>
          <a:xfrm>
            <a:off x="585216" y="4407408"/>
            <a:ext cx="2630170" cy="274320"/>
          </a:xfrm>
          <a:prstGeom prst="roundRect">
            <a:avLst>
              <a:gd name="adj" fmla="val 50000"/>
            </a:avLst>
          </a:prstGeom>
          <a:solidFill>
            <a:srgbClr val="DCE8F6"/>
          </a:solidFill>
          <a:ln w="9525">
            <a:solidFill>
              <a:srgbClr val="BFD3EC"/>
            </a:solidFill>
            <a:prstDash val="solid"/>
          </a:ln>
        </p:spPr>
      </p:sp>
      <p:sp>
        <p:nvSpPr>
          <p:cNvPr id="14" name="Text 12"/>
          <p:cNvSpPr/>
          <p:nvPr/>
        </p:nvSpPr>
        <p:spPr>
          <a:xfrm>
            <a:off x="585216" y="4407408"/>
            <a:ext cx="2630170" cy="274320"/>
          </a:xfrm>
          <a:prstGeom prst="rect">
            <a:avLst/>
          </a:prstGeom>
          <a:noFill/>
          <a:ln/>
        </p:spPr>
        <p:txBody>
          <a:bodyPr wrap="square" lIns="0" tIns="0" rIns="0" bIns="0" rtlCol="0" anchor="ctr"/>
          <a:lstStyle/>
          <a:p>
            <a:pPr algn="ctr" indent="0" marL="0">
              <a:buNone/>
            </a:pPr>
            <a:r>
              <a:rPr lang="en-US" sz="950" b="1" dirty="0">
                <a:solidFill>
                  <a:srgbClr val="24548F"/>
                </a:solidFill>
                <a:latin typeface="Meiryo" pitchFamily="34" charset="0"/>
                <a:ea typeface="Meiryo" pitchFamily="34" charset="-122"/>
                <a:cs typeface="Meiryo" pitchFamily="34" charset="-120"/>
              </a:rPr>
              <a:t>自社にHPや営業ツール・ノウハウがない</a:t>
            </a:r>
            <a:endParaRPr lang="en-US" sz="950" dirty="0"/>
          </a:p>
        </p:txBody>
      </p:sp>
      <p:sp>
        <p:nvSpPr>
          <p:cNvPr id="15" name="Shape 13"/>
          <p:cNvSpPr/>
          <p:nvPr/>
        </p:nvSpPr>
        <p:spPr>
          <a:xfrm>
            <a:off x="585216" y="4754880"/>
            <a:ext cx="2094484" cy="274320"/>
          </a:xfrm>
          <a:prstGeom prst="roundRect">
            <a:avLst>
              <a:gd name="adj" fmla="val 50000"/>
            </a:avLst>
          </a:prstGeom>
          <a:solidFill>
            <a:srgbClr val="DCE8F6"/>
          </a:solidFill>
          <a:ln w="9525">
            <a:solidFill>
              <a:srgbClr val="BFD3EC"/>
            </a:solidFill>
            <a:prstDash val="solid"/>
          </a:ln>
        </p:spPr>
      </p:sp>
      <p:sp>
        <p:nvSpPr>
          <p:cNvPr id="16" name="Text 14"/>
          <p:cNvSpPr/>
          <p:nvPr/>
        </p:nvSpPr>
        <p:spPr>
          <a:xfrm>
            <a:off x="585216" y="4754880"/>
            <a:ext cx="2094484" cy="274320"/>
          </a:xfrm>
          <a:prstGeom prst="rect">
            <a:avLst/>
          </a:prstGeom>
          <a:noFill/>
          <a:ln/>
        </p:spPr>
        <p:txBody>
          <a:bodyPr wrap="square" lIns="0" tIns="0" rIns="0" bIns="0" rtlCol="0" anchor="ctr"/>
          <a:lstStyle/>
          <a:p>
            <a:pPr algn="ctr" indent="0" marL="0">
              <a:buNone/>
            </a:pPr>
            <a:r>
              <a:rPr lang="en-US" sz="950" b="1" dirty="0">
                <a:solidFill>
                  <a:srgbClr val="24548F"/>
                </a:solidFill>
                <a:latin typeface="Meiryo" pitchFamily="34" charset="0"/>
                <a:ea typeface="Meiryo" pitchFamily="34" charset="-122"/>
                <a:cs typeface="Meiryo" pitchFamily="34" charset="-120"/>
              </a:rPr>
              <a:t>新規開拓を自動化・外注したい</a:t>
            </a:r>
            <a:endParaRPr lang="en-US" sz="950" dirty="0"/>
          </a:p>
        </p:txBody>
      </p:sp>
      <p:sp>
        <p:nvSpPr>
          <p:cNvPr id="17" name="Shape 15"/>
          <p:cNvSpPr/>
          <p:nvPr/>
        </p:nvSpPr>
        <p:spPr>
          <a:xfrm>
            <a:off x="4114800" y="1417320"/>
            <a:ext cx="82296" cy="219456"/>
          </a:xfrm>
          <a:prstGeom prst="roundRect">
            <a:avLst>
              <a:gd name="adj" fmla="val 33333"/>
            </a:avLst>
          </a:prstGeom>
          <a:solidFill>
            <a:srgbClr val="2B64AB"/>
          </a:solidFill>
          <a:ln/>
        </p:spPr>
      </p:sp>
      <p:sp>
        <p:nvSpPr>
          <p:cNvPr id="18" name="Text 16"/>
          <p:cNvSpPr/>
          <p:nvPr/>
        </p:nvSpPr>
        <p:spPr>
          <a:xfrm>
            <a:off x="4297680" y="1353312"/>
            <a:ext cx="7315200" cy="310896"/>
          </a:xfrm>
          <a:prstGeom prst="rect">
            <a:avLst/>
          </a:prstGeom>
          <a:noFill/>
          <a:ln/>
        </p:spPr>
        <p:txBody>
          <a:bodyPr wrap="square" lIns="0" tIns="0" rIns="0" bIns="0" rtlCol="0" anchor="ctr"/>
          <a:lstStyle/>
          <a:p>
            <a:pPr indent="0" marL="0">
              <a:buNone/>
            </a:pPr>
            <a:r>
              <a:rPr lang="en-US" sz="1250" b="1" dirty="0">
                <a:solidFill>
                  <a:srgbClr val="2B64AB"/>
                </a:solidFill>
                <a:latin typeface="Meiryo" pitchFamily="34" charset="0"/>
                <a:ea typeface="Meiryo" pitchFamily="34" charset="-122"/>
                <a:cs typeface="Meiryo" pitchFamily="34" charset="-120"/>
              </a:rPr>
              <a:t>事例の概要</a:t>
            </a:r>
            <a:endParaRPr lang="en-US" sz="1250" dirty="0"/>
          </a:p>
        </p:txBody>
      </p:sp>
      <p:sp>
        <p:nvSpPr>
          <p:cNvPr id="19" name="Text 17"/>
          <p:cNvSpPr/>
          <p:nvPr/>
        </p:nvSpPr>
        <p:spPr>
          <a:xfrm>
            <a:off x="4114800" y="1682496"/>
            <a:ext cx="7708392" cy="676656"/>
          </a:xfrm>
          <a:prstGeom prst="rect">
            <a:avLst/>
          </a:prstGeom>
          <a:noFill/>
          <a:ln/>
        </p:spPr>
        <p:txBody>
          <a:bodyPr wrap="square" lIns="0" tIns="0" rIns="0" bIns="0" rtlCol="0" anchor="t"/>
          <a:lstStyle/>
          <a:p>
            <a:pPr indent="0" marL="0">
              <a:lnSpc>
                <a:spcPct val="116000"/>
              </a:lnSpc>
              <a:buNone/>
            </a:pPr>
            <a:r>
              <a:rPr lang="en-US" sz="1000" dirty="0">
                <a:solidFill>
                  <a:srgbClr val="45566A"/>
                </a:solidFill>
                <a:latin typeface="Meiryo" pitchFamily="34" charset="0"/>
                <a:ea typeface="Meiryo" pitchFamily="34" charset="-122"/>
                <a:cs typeface="Meiryo" pitchFamily="34" charset="-120"/>
              </a:rPr>
              <a:t>自社営業マンを持たない「持たない経営」を追求。新規アプローチを完全アウトソースし、自社はサービス提供実務とお膳立てされた商談の対応のみに専念する「営業プロセスの完全外部化」を確立した。</a:t>
            </a:r>
            <a:endParaRPr lang="en-US" sz="1000" dirty="0"/>
          </a:p>
        </p:txBody>
      </p:sp>
      <p:sp>
        <p:nvSpPr>
          <p:cNvPr id="20" name="Shape 18"/>
          <p:cNvSpPr/>
          <p:nvPr/>
        </p:nvSpPr>
        <p:spPr>
          <a:xfrm>
            <a:off x="4114800" y="2395728"/>
            <a:ext cx="7708392" cy="950976"/>
          </a:xfrm>
          <a:prstGeom prst="roundRect">
            <a:avLst>
              <a:gd name="adj" fmla="val 4808"/>
            </a:avLst>
          </a:prstGeom>
          <a:solidFill>
            <a:srgbClr val="E9F4EE"/>
          </a:solidFill>
          <a:ln w="12700">
            <a:solidFill>
              <a:srgbClr val="BADFC9"/>
            </a:solidFill>
            <a:prstDash val="solid"/>
          </a:ln>
        </p:spPr>
      </p:sp>
      <p:sp>
        <p:nvSpPr>
          <p:cNvPr id="21" name="Shape 19"/>
          <p:cNvSpPr/>
          <p:nvPr/>
        </p:nvSpPr>
        <p:spPr>
          <a:xfrm>
            <a:off x="4352544" y="2542032"/>
            <a:ext cx="82296" cy="219456"/>
          </a:xfrm>
          <a:prstGeom prst="roundRect">
            <a:avLst>
              <a:gd name="adj" fmla="val 33333"/>
            </a:avLst>
          </a:prstGeom>
          <a:solidFill>
            <a:srgbClr val="1F7A4D"/>
          </a:solidFill>
          <a:ln/>
        </p:spPr>
      </p:sp>
      <p:sp>
        <p:nvSpPr>
          <p:cNvPr id="22" name="Text 20"/>
          <p:cNvSpPr/>
          <p:nvPr/>
        </p:nvSpPr>
        <p:spPr>
          <a:xfrm>
            <a:off x="4535424" y="2487168"/>
            <a:ext cx="7159752" cy="292608"/>
          </a:xfrm>
          <a:prstGeom prst="rect">
            <a:avLst/>
          </a:prstGeom>
          <a:noFill/>
          <a:ln/>
        </p:spPr>
        <p:txBody>
          <a:bodyPr wrap="square" lIns="0" tIns="0" rIns="0" bIns="0" rtlCol="0" anchor="ctr"/>
          <a:lstStyle/>
          <a:p>
            <a:pPr indent="0" marL="0">
              <a:buNone/>
            </a:pPr>
            <a:r>
              <a:rPr lang="en-US" sz="1200" b="1" dirty="0">
                <a:solidFill>
                  <a:srgbClr val="1F7A4D"/>
                </a:solidFill>
                <a:latin typeface="Meiryo" pitchFamily="34" charset="0"/>
                <a:ea typeface="Meiryo" pitchFamily="34" charset="-122"/>
                <a:cs typeface="Meiryo" pitchFamily="34" charset="-120"/>
              </a:rPr>
              <a:t>結果</a:t>
            </a:r>
            <a:endParaRPr lang="en-US" sz="1200" dirty="0"/>
          </a:p>
        </p:txBody>
      </p:sp>
      <p:sp>
        <p:nvSpPr>
          <p:cNvPr id="23" name="Text 21"/>
          <p:cNvSpPr/>
          <p:nvPr/>
        </p:nvSpPr>
        <p:spPr>
          <a:xfrm>
            <a:off x="4352544" y="2798064"/>
            <a:ext cx="7232904" cy="457200"/>
          </a:xfrm>
          <a:prstGeom prst="rect">
            <a:avLst/>
          </a:prstGeom>
          <a:noFill/>
          <a:ln/>
        </p:spPr>
        <p:txBody>
          <a:bodyPr wrap="square" lIns="0" tIns="0" rIns="0" bIns="0" rtlCol="0" anchor="t"/>
          <a:lstStyle/>
          <a:p>
            <a:pPr indent="0" marL="0">
              <a:lnSpc>
                <a:spcPct val="113000"/>
              </a:lnSpc>
              <a:buNone/>
            </a:pPr>
            <a:r>
              <a:rPr lang="en-US" sz="1000" dirty="0">
                <a:solidFill>
                  <a:srgbClr val="1C3A29"/>
                </a:solidFill>
                <a:latin typeface="Meiryo" pitchFamily="34" charset="0"/>
                <a:ea typeface="Meiryo" pitchFamily="34" charset="-122"/>
                <a:cs typeface="Meiryo" pitchFamily="34" charset="-120"/>
              </a:rPr>
              <a:t>アイドマの「Sales Platform」を導入し、見込み客33件および多数の資料請求という自社工数ほぼゼロでの強力な新規リードを獲得。高い人件費の営業社員を雇用するリスクを100%回避し、最少リソースで新規BtoB案件を獲得する仕組み作りに成功した。</a:t>
            </a:r>
            <a:endParaRPr lang="en-US" sz="1000" dirty="0"/>
          </a:p>
        </p:txBody>
      </p:sp>
      <p:sp>
        <p:nvSpPr>
          <p:cNvPr id="24" name="Shape 22"/>
          <p:cNvSpPr/>
          <p:nvPr/>
        </p:nvSpPr>
        <p:spPr>
          <a:xfrm>
            <a:off x="4114800" y="3456432"/>
            <a:ext cx="7708392" cy="1572768"/>
          </a:xfrm>
          <a:prstGeom prst="roundRect">
            <a:avLst>
              <a:gd name="adj" fmla="val 2907"/>
            </a:avLst>
          </a:prstGeom>
          <a:solidFill>
            <a:srgbClr val="EAF1FA"/>
          </a:solidFill>
          <a:ln w="12700">
            <a:solidFill>
              <a:srgbClr val="C6D8EF"/>
            </a:solidFill>
            <a:prstDash val="solid"/>
          </a:ln>
        </p:spPr>
      </p:sp>
      <p:sp>
        <p:nvSpPr>
          <p:cNvPr id="25" name="Shape 23"/>
          <p:cNvSpPr/>
          <p:nvPr/>
        </p:nvSpPr>
        <p:spPr>
          <a:xfrm>
            <a:off x="4352544" y="3602736"/>
            <a:ext cx="82296" cy="219456"/>
          </a:xfrm>
          <a:prstGeom prst="roundRect">
            <a:avLst>
              <a:gd name="adj" fmla="val 33333"/>
            </a:avLst>
          </a:prstGeom>
          <a:solidFill>
            <a:srgbClr val="2B64AB"/>
          </a:solidFill>
          <a:ln/>
        </p:spPr>
      </p:sp>
      <p:sp>
        <p:nvSpPr>
          <p:cNvPr id="26" name="Text 24"/>
          <p:cNvSpPr/>
          <p:nvPr/>
        </p:nvSpPr>
        <p:spPr>
          <a:xfrm>
            <a:off x="4535424" y="3547872"/>
            <a:ext cx="7159752" cy="292608"/>
          </a:xfrm>
          <a:prstGeom prst="rect">
            <a:avLst/>
          </a:prstGeom>
          <a:noFill/>
          <a:ln/>
        </p:spPr>
        <p:txBody>
          <a:bodyPr wrap="square" lIns="0" tIns="0" rIns="0" bIns="0" rtlCol="0" anchor="ctr"/>
          <a:lstStyle/>
          <a:p>
            <a:pPr indent="0" marL="0">
              <a:buNone/>
            </a:pPr>
            <a:r>
              <a:rPr lang="en-US" sz="1200" b="1" dirty="0">
                <a:solidFill>
                  <a:srgbClr val="2B64AB"/>
                </a:solidFill>
                <a:latin typeface="Meiryo" pitchFamily="34" charset="0"/>
                <a:ea typeface="Meiryo" pitchFamily="34" charset="-122"/>
                <a:cs typeface="Meiryo" pitchFamily="34" charset="-120"/>
              </a:rPr>
              <a:t>今回ご検討をされている企業様への活用ポイント</a:t>
            </a:r>
            <a:endParaRPr lang="en-US" sz="1200" dirty="0"/>
          </a:p>
        </p:txBody>
      </p:sp>
      <p:sp>
        <p:nvSpPr>
          <p:cNvPr id="27" name="Text 25"/>
          <p:cNvSpPr/>
          <p:nvPr/>
        </p:nvSpPr>
        <p:spPr>
          <a:xfrm>
            <a:off x="4352544" y="3858768"/>
            <a:ext cx="7232904" cy="1078992"/>
          </a:xfrm>
          <a:prstGeom prst="rect">
            <a:avLst/>
          </a:prstGeom>
          <a:noFill/>
          <a:ln/>
        </p:spPr>
        <p:txBody>
          <a:bodyPr wrap="square" lIns="0" tIns="0" rIns="0" bIns="0" rtlCol="0" anchor="t"/>
          <a:lstStyle/>
          <a:p>
            <a:pPr indent="0" marL="0">
              <a:lnSpc>
                <a:spcPct val="113000"/>
              </a:lnSpc>
              <a:buNone/>
            </a:pPr>
            <a:r>
              <a:rPr lang="en-US" sz="1000" dirty="0">
                <a:solidFill>
                  <a:srgbClr val="1C2530"/>
                </a:solidFill>
                <a:latin typeface="Meiryo" pitchFamily="34" charset="0"/>
                <a:ea typeface="Meiryo" pitchFamily="34" charset="-122"/>
                <a:cs typeface="Meiryo" pitchFamily="34" charset="-120"/>
              </a:rPr>
              <a:t>興拓様のように「HPがなく、自前で営業マンを雇う余裕がない少人数体制」において、最も現実的で効果の高い営業自動化モデルです。営業支援ユニットへ初期アプローチを任せることで、コーティング施工技術の提供に専念しながら、毎月新しい法人商談を獲得できます。</a:t>
            </a:r>
            <a:endParaRPr lang="en-US" sz="1000" dirty="0"/>
          </a:p>
        </p:txBody>
      </p:sp>
      <p:sp>
        <p:nvSpPr>
          <p:cNvPr id="28" name="Shape 26"/>
          <p:cNvSpPr/>
          <p:nvPr/>
        </p:nvSpPr>
        <p:spPr>
          <a:xfrm>
            <a:off x="4114800" y="5138928"/>
            <a:ext cx="7708392" cy="1060704"/>
          </a:xfrm>
          <a:prstGeom prst="roundRect">
            <a:avLst>
              <a:gd name="adj" fmla="val 4310"/>
            </a:avLst>
          </a:prstGeom>
          <a:solidFill>
            <a:srgbClr val="FBF4E6"/>
          </a:solidFill>
          <a:ln w="12700">
            <a:solidFill>
              <a:srgbClr val="E7D6AC"/>
            </a:solidFill>
            <a:prstDash val="solid"/>
          </a:ln>
        </p:spPr>
      </p:sp>
      <p:sp>
        <p:nvSpPr>
          <p:cNvPr id="29" name="Shape 27"/>
          <p:cNvSpPr/>
          <p:nvPr/>
        </p:nvSpPr>
        <p:spPr>
          <a:xfrm>
            <a:off x="4352544" y="5285232"/>
            <a:ext cx="82296" cy="219456"/>
          </a:xfrm>
          <a:prstGeom prst="roundRect">
            <a:avLst>
              <a:gd name="adj" fmla="val 33333"/>
            </a:avLst>
          </a:prstGeom>
          <a:solidFill>
            <a:srgbClr val="9A6B12"/>
          </a:solidFill>
          <a:ln/>
        </p:spPr>
      </p:sp>
      <p:sp>
        <p:nvSpPr>
          <p:cNvPr id="30" name="Text 28"/>
          <p:cNvSpPr/>
          <p:nvPr/>
        </p:nvSpPr>
        <p:spPr>
          <a:xfrm>
            <a:off x="4535424" y="5230368"/>
            <a:ext cx="7159752" cy="292608"/>
          </a:xfrm>
          <a:prstGeom prst="rect">
            <a:avLst/>
          </a:prstGeom>
          <a:noFill/>
          <a:ln/>
        </p:spPr>
        <p:txBody>
          <a:bodyPr wrap="square" lIns="0" tIns="0" rIns="0" bIns="0" rtlCol="0" anchor="ctr"/>
          <a:lstStyle/>
          <a:p>
            <a:pPr indent="0" marL="0">
              <a:buNone/>
            </a:pPr>
            <a:r>
              <a:rPr lang="en-US" sz="1200" b="1" dirty="0">
                <a:solidFill>
                  <a:srgbClr val="9A6B12"/>
                </a:solidFill>
                <a:latin typeface="Meiryo" pitchFamily="34" charset="0"/>
                <a:ea typeface="Meiryo" pitchFamily="34" charset="-122"/>
                <a:cs typeface="Meiryo" pitchFamily="34" charset="-120"/>
              </a:rPr>
              <a:t>導入を検討されえいる企業様へのアドバイス</a:t>
            </a:r>
            <a:endParaRPr lang="en-US" sz="1200" dirty="0"/>
          </a:p>
        </p:txBody>
      </p:sp>
      <p:sp>
        <p:nvSpPr>
          <p:cNvPr id="31" name="Text 29"/>
          <p:cNvSpPr/>
          <p:nvPr/>
        </p:nvSpPr>
        <p:spPr>
          <a:xfrm>
            <a:off x="4352544" y="5541264"/>
            <a:ext cx="7232904" cy="566928"/>
          </a:xfrm>
          <a:prstGeom prst="rect">
            <a:avLst/>
          </a:prstGeom>
          <a:noFill/>
          <a:ln/>
        </p:spPr>
        <p:txBody>
          <a:bodyPr wrap="square" lIns="0" tIns="0" rIns="0" bIns="0" rtlCol="0" anchor="t"/>
          <a:lstStyle/>
          <a:p>
            <a:pPr indent="0" marL="0">
              <a:lnSpc>
                <a:spcPct val="113000"/>
              </a:lnSpc>
              <a:buNone/>
            </a:pPr>
            <a:r>
              <a:rPr lang="en-US" sz="1000" i="1" dirty="0">
                <a:solidFill>
                  <a:srgbClr val="4A3A18"/>
                </a:solidFill>
                <a:latin typeface="Meiryo" pitchFamily="34" charset="0"/>
                <a:ea typeface="Meiryo" pitchFamily="34" charset="-122"/>
                <a:cs typeface="Meiryo" pitchFamily="34" charset="-120"/>
              </a:rPr>
              <a:t>「優れた技術やサービスがあるならば、営業担当者を雇用するリスクや教育の手間を考えれば、営業活動は最初から仕組みとしてアウトソーシング（外注）するほうが圧倒的にメリットが大きいです。」</a:t>
            </a:r>
            <a:endParaRPr lang="en-US" sz="1000" dirty="0"/>
          </a:p>
        </p:txBody>
      </p:sp>
      <p:sp>
        <p:nvSpPr>
          <p:cNvPr id="32" name="Text 30"/>
          <p:cNvSpPr/>
          <p:nvPr/>
        </p:nvSpPr>
        <p:spPr>
          <a:xfrm>
            <a:off x="4114800" y="6291072"/>
            <a:ext cx="7708392" cy="219456"/>
          </a:xfrm>
          <a:prstGeom prst="rect">
            <a:avLst/>
          </a:prstGeom>
          <a:noFill/>
          <a:ln/>
        </p:spPr>
        <p:txBody>
          <a:bodyPr wrap="square" lIns="0" tIns="0" rIns="0" bIns="0" rtlCol="0" anchor="ctr"/>
          <a:lstStyle/>
          <a:p>
            <a:pPr indent="0" marL="0">
              <a:buNone/>
            </a:pPr>
            <a:r>
              <a:rPr lang="en-US" sz="950" b="1" dirty="0">
                <a:solidFill>
                  <a:srgbClr val="8593A4"/>
                </a:solidFill>
                <a:latin typeface="Meiryo" pitchFamily="34" charset="0"/>
                <a:ea typeface="Meiryo" pitchFamily="34" charset="-122"/>
                <a:cs typeface="Meiryo" pitchFamily="34" charset="-120"/>
              </a:rPr>
              <a:t>引用URL　</a:t>
            </a:r>
            <a:pPr indent="0" marL="0">
              <a:buNone/>
            </a:pPr>
            <a:r>
              <a:rPr lang="en-US" sz="950" u="sng" dirty="0">
                <a:solidFill>
                  <a:srgbClr val="2B64AB"/>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https://www.aidma-hd.jp/case/zirei-130/</a:t>
            </a:r>
            <a:endParaRPr lang="en-US" sz="950" dirty="0"/>
          </a:p>
        </p:txBody>
      </p:sp>
      <p:sp>
        <p:nvSpPr>
          <p:cNvPr id="33" name="Text 31"/>
          <p:cNvSpPr/>
          <p:nvPr/>
        </p:nvSpPr>
        <p:spPr>
          <a:xfrm>
            <a:off x="365760" y="6537960"/>
            <a:ext cx="8229600" cy="219456"/>
          </a:xfrm>
          <a:prstGeom prst="rect">
            <a:avLst/>
          </a:prstGeom>
          <a:noFill/>
          <a:ln/>
        </p:spPr>
        <p:txBody>
          <a:bodyPr wrap="square" lIns="0" tIns="0" rIns="0" bIns="0" rtlCol="0" anchor="ctr"/>
          <a:lstStyle/>
          <a:p>
            <a:pPr indent="0" marL="0">
              <a:buNone/>
            </a:pPr>
            <a:r>
              <a:rPr lang="en-US" sz="900" dirty="0">
                <a:solidFill>
                  <a:srgbClr val="9AA7B6"/>
                </a:solidFill>
                <a:latin typeface="Meiryo" pitchFamily="34" charset="0"/>
                <a:ea typeface="Meiryo" pitchFamily="34" charset="-122"/>
                <a:cs typeface="Meiryo" pitchFamily="34" charset="-120"/>
              </a:rPr>
              <a:t>興拓 様　提案引用実績5選</a:t>
            </a:r>
            <a:endParaRPr lang="en-US" sz="900" dirty="0"/>
          </a:p>
        </p:txBody>
      </p:sp>
      <p:sp>
        <p:nvSpPr>
          <p:cNvPr id="34" name="Text 32"/>
          <p:cNvSpPr/>
          <p:nvPr/>
        </p:nvSpPr>
        <p:spPr>
          <a:xfrm>
            <a:off x="10424160" y="6537960"/>
            <a:ext cx="1399032" cy="219456"/>
          </a:xfrm>
          <a:prstGeom prst="rect">
            <a:avLst/>
          </a:prstGeom>
          <a:noFill/>
          <a:ln/>
        </p:spPr>
        <p:txBody>
          <a:bodyPr wrap="square" lIns="0" tIns="0" rIns="0" bIns="0" rtlCol="0" anchor="ctr"/>
          <a:lstStyle/>
          <a:p>
            <a:pPr algn="r" indent="0" marL="0">
              <a:buNone/>
            </a:pPr>
            <a:r>
              <a:rPr lang="en-US" sz="900" dirty="0">
                <a:solidFill>
                  <a:srgbClr val="9AA7B6"/>
                </a:solidFill>
                <a:latin typeface="Meiryo" pitchFamily="34" charset="0"/>
                <a:ea typeface="Meiryo" pitchFamily="34" charset="-122"/>
                <a:cs typeface="Meiryo" pitchFamily="34" charset="-120"/>
              </a:rPr>
              <a:t>4 / 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3F6FB"/>
        </a:solidFill>
      </p:bgPr>
    </p:bg>
    <p:spTree>
      <p:nvGrpSpPr>
        <p:cNvPr id="1" name=""/>
        <p:cNvGrpSpPr/>
        <p:nvPr/>
      </p:nvGrpSpPr>
      <p:grpSpPr>
        <a:xfrm>
          <a:off x="0" y="0"/>
          <a:ext cx="0" cy="0"/>
          <a:chOff x="0" y="0"/>
          <a:chExt cx="0" cy="0"/>
        </a:xfrm>
      </p:grpSpPr>
      <p:sp>
        <p:nvSpPr>
          <p:cNvPr id="2" name="Shape 0"/>
          <p:cNvSpPr/>
          <p:nvPr/>
        </p:nvSpPr>
        <p:spPr>
          <a:xfrm>
            <a:off x="365760" y="365760"/>
            <a:ext cx="11457432" cy="932688"/>
          </a:xfrm>
          <a:prstGeom prst="roundRect">
            <a:avLst>
              <a:gd name="adj" fmla="val 5882"/>
            </a:avLst>
          </a:prstGeom>
          <a:solidFill>
            <a:srgbClr val="16407A"/>
          </a:solidFill>
          <a:ln/>
          <a:effectLst>
            <a:outerShdw sx="100000" sy="100000" kx="0" ky="0" algn="bl" rotWithShape="0" blurRad="76200" dist="25400" dir="5400000">
              <a:srgbClr val="0F2F5C">
                <a:alpha val="35000"/>
              </a:srgbClr>
            </a:outerShdw>
          </a:effectLst>
        </p:spPr>
      </p:sp>
      <p:sp>
        <p:nvSpPr>
          <p:cNvPr id="3" name="Shape 1"/>
          <p:cNvSpPr/>
          <p:nvPr/>
        </p:nvSpPr>
        <p:spPr>
          <a:xfrm>
            <a:off x="566928" y="566928"/>
            <a:ext cx="530352" cy="530352"/>
          </a:xfrm>
          <a:prstGeom prst="roundRect">
            <a:avLst>
              <a:gd name="adj" fmla="val 13793"/>
            </a:avLst>
          </a:prstGeom>
          <a:solidFill>
            <a:srgbClr val="FFFFFF">
              <a:alpha val="16000"/>
            </a:srgbClr>
          </a:solidFill>
          <a:ln w="12700">
            <a:solidFill>
              <a:srgbClr val="FFFFFF">
                <a:alpha val="40000"/>
              </a:srgbClr>
            </a:solidFill>
            <a:prstDash val="solid"/>
          </a:ln>
        </p:spPr>
      </p:sp>
      <p:sp>
        <p:nvSpPr>
          <p:cNvPr id="4" name="Text 2"/>
          <p:cNvSpPr/>
          <p:nvPr/>
        </p:nvSpPr>
        <p:spPr>
          <a:xfrm>
            <a:off x="566928" y="566928"/>
            <a:ext cx="530352" cy="530352"/>
          </a:xfrm>
          <a:prstGeom prst="rect">
            <a:avLst/>
          </a:prstGeom>
          <a:noFill/>
          <a:ln/>
        </p:spPr>
        <p:txBody>
          <a:bodyPr wrap="square" lIns="0" tIns="0" rIns="0" bIns="0" rtlCol="0" anchor="ctr"/>
          <a:lstStyle/>
          <a:p>
            <a:pPr algn="ctr" indent="0" marL="0">
              <a:buNone/>
            </a:pPr>
            <a:r>
              <a:rPr lang="en-US" sz="2400" b="1" dirty="0">
                <a:solidFill>
                  <a:srgbClr val="FFFFFF"/>
                </a:solidFill>
                <a:latin typeface="Meiryo" pitchFamily="34" charset="0"/>
                <a:ea typeface="Meiryo" pitchFamily="34" charset="-122"/>
                <a:cs typeface="Meiryo" pitchFamily="34" charset="-120"/>
              </a:rPr>
              <a:t>5</a:t>
            </a:r>
            <a:endParaRPr lang="en-US" sz="2400" dirty="0"/>
          </a:p>
        </p:txBody>
      </p:sp>
      <p:sp>
        <p:nvSpPr>
          <p:cNvPr id="5" name="Text 3"/>
          <p:cNvSpPr/>
          <p:nvPr/>
        </p:nvSpPr>
        <p:spPr>
          <a:xfrm>
            <a:off x="1280160" y="420624"/>
            <a:ext cx="10378440" cy="822960"/>
          </a:xfrm>
          <a:prstGeom prst="rect">
            <a:avLst/>
          </a:prstGeom>
          <a:noFill/>
          <a:ln/>
        </p:spPr>
        <p:txBody>
          <a:bodyPr wrap="square" lIns="0" tIns="0" rIns="0" bIns="0" rtlCol="0" anchor="ctr"/>
          <a:lstStyle/>
          <a:p>
            <a:pPr indent="0" marL="0">
              <a:lnSpc>
                <a:spcPct val="105000"/>
              </a:lnSpc>
              <a:buNone/>
            </a:pPr>
            <a:r>
              <a:rPr lang="en-US" sz="1400" b="1" dirty="0">
                <a:solidFill>
                  <a:srgbClr val="FFFFFF"/>
                </a:solidFill>
                <a:latin typeface="Meiryo" pitchFamily="34" charset="0"/>
                <a:ea typeface="Meiryo" pitchFamily="34" charset="-122"/>
                <a:cs typeface="Meiryo" pitchFamily="34" charset="-120"/>
              </a:rPr>
              <a:t>紹介頼みから自走型へ。約5ヶ月でアポ33件・成約率約30%</a:t>
            </a:r>
            <a:endParaRPr lang="en-US" sz="1400" dirty="0"/>
          </a:p>
        </p:txBody>
      </p:sp>
      <p:sp>
        <p:nvSpPr>
          <p:cNvPr id="6" name="Shape 4"/>
          <p:cNvSpPr/>
          <p:nvPr/>
        </p:nvSpPr>
        <p:spPr>
          <a:xfrm>
            <a:off x="365760" y="1481328"/>
            <a:ext cx="3566160" cy="5029200"/>
          </a:xfrm>
          <a:prstGeom prst="roundRect">
            <a:avLst>
              <a:gd name="adj" fmla="val 1282"/>
            </a:avLst>
          </a:prstGeom>
          <a:solidFill>
            <a:srgbClr val="EAF1FA"/>
          </a:solidFill>
          <a:ln w="12700">
            <a:solidFill>
              <a:srgbClr val="D2DCEA"/>
            </a:solidFill>
            <a:prstDash val="solid"/>
          </a:ln>
        </p:spPr>
      </p:sp>
      <p:sp>
        <p:nvSpPr>
          <p:cNvPr id="7" name="Text 5"/>
          <p:cNvSpPr/>
          <p:nvPr/>
        </p:nvSpPr>
        <p:spPr>
          <a:xfrm>
            <a:off x="585216" y="1664208"/>
            <a:ext cx="3127248" cy="640080"/>
          </a:xfrm>
          <a:prstGeom prst="rect">
            <a:avLst/>
          </a:prstGeom>
          <a:noFill/>
          <a:ln/>
        </p:spPr>
        <p:txBody>
          <a:bodyPr wrap="square" lIns="0" tIns="0" rIns="0" bIns="0" rtlCol="0" anchor="t"/>
          <a:lstStyle/>
          <a:p>
            <a:pPr indent="0" marL="0">
              <a:lnSpc>
                <a:spcPct val="105000"/>
              </a:lnSpc>
              <a:buNone/>
            </a:pPr>
            <a:r>
              <a:rPr lang="en-US" sz="1300" b="1" dirty="0">
                <a:solidFill>
                  <a:srgbClr val="1C2530"/>
                </a:solidFill>
                <a:latin typeface="Meiryo" pitchFamily="34" charset="0"/>
                <a:ea typeface="Meiryo" pitchFamily="34" charset="-122"/>
                <a:cs typeface="Meiryo" pitchFamily="34" charset="-120"/>
              </a:rPr>
              <a:t>株式会社ELU　様</a:t>
            </a:r>
            <a:endParaRPr lang="en-US" sz="1300" dirty="0"/>
          </a:p>
        </p:txBody>
      </p:sp>
      <p:sp>
        <p:nvSpPr>
          <p:cNvPr id="8" name="Text 6"/>
          <p:cNvSpPr/>
          <p:nvPr/>
        </p:nvSpPr>
        <p:spPr>
          <a:xfrm>
            <a:off x="585216" y="2377440"/>
            <a:ext cx="3127248" cy="219456"/>
          </a:xfrm>
          <a:prstGeom prst="rect">
            <a:avLst/>
          </a:prstGeom>
          <a:noFill/>
          <a:ln/>
        </p:spPr>
        <p:txBody>
          <a:bodyPr wrap="square" lIns="0" tIns="0" rIns="0" bIns="0" rtlCol="0" anchor="ctr"/>
          <a:lstStyle/>
          <a:p>
            <a:pPr indent="0" marL="0">
              <a:buNone/>
            </a:pPr>
            <a:r>
              <a:rPr lang="en-US" sz="950" b="1" spc="100" kern="0" dirty="0">
                <a:solidFill>
                  <a:srgbClr val="2B64AB"/>
                </a:solidFill>
                <a:latin typeface="Meiryo" pitchFamily="34" charset="0"/>
                <a:ea typeface="Meiryo" pitchFamily="34" charset="-122"/>
                <a:cs typeface="Meiryo" pitchFamily="34" charset="-120"/>
              </a:rPr>
              <a:t>事業内容</a:t>
            </a:r>
            <a:endParaRPr lang="en-US" sz="950" dirty="0"/>
          </a:p>
        </p:txBody>
      </p:sp>
      <p:sp>
        <p:nvSpPr>
          <p:cNvPr id="9" name="Text 7"/>
          <p:cNvSpPr/>
          <p:nvPr/>
        </p:nvSpPr>
        <p:spPr>
          <a:xfrm>
            <a:off x="585216" y="2596896"/>
            <a:ext cx="3127248" cy="1143000"/>
          </a:xfrm>
          <a:prstGeom prst="rect">
            <a:avLst/>
          </a:prstGeom>
          <a:noFill/>
          <a:ln/>
        </p:spPr>
        <p:txBody>
          <a:bodyPr wrap="square" lIns="0" tIns="0" rIns="0" bIns="0" rtlCol="0" anchor="ctr"/>
          <a:lstStyle/>
          <a:p>
            <a:pPr indent="0" marL="0">
              <a:lnSpc>
                <a:spcPct val="113000"/>
              </a:lnSpc>
              <a:buNone/>
            </a:pPr>
            <a:r>
              <a:rPr lang="en-US" sz="950" dirty="0">
                <a:solidFill>
                  <a:srgbClr val="45566A"/>
                </a:solidFill>
                <a:latin typeface="Meiryo" pitchFamily="34" charset="0"/>
                <a:ea typeface="Meiryo" pitchFamily="34" charset="-122"/>
                <a:cs typeface="Meiryo" pitchFamily="34" charset="-120"/>
              </a:rPr>
              <a:t>BtoB販促支援、ITインフラ導入支援、デザイン・施工プロモーション。</a:t>
            </a:r>
            <a:endParaRPr lang="en-US" sz="950" dirty="0"/>
          </a:p>
        </p:txBody>
      </p:sp>
      <p:sp>
        <p:nvSpPr>
          <p:cNvPr id="10" name="Text 8"/>
          <p:cNvSpPr/>
          <p:nvPr/>
        </p:nvSpPr>
        <p:spPr>
          <a:xfrm>
            <a:off x="585216" y="3785616"/>
            <a:ext cx="3127248" cy="219456"/>
          </a:xfrm>
          <a:prstGeom prst="rect">
            <a:avLst/>
          </a:prstGeom>
          <a:noFill/>
          <a:ln/>
        </p:spPr>
        <p:txBody>
          <a:bodyPr wrap="square" lIns="0" tIns="0" rIns="0" bIns="0" rtlCol="0" anchor="ctr"/>
          <a:lstStyle/>
          <a:p>
            <a:pPr indent="0" marL="0">
              <a:buNone/>
            </a:pPr>
            <a:r>
              <a:rPr lang="en-US" sz="950" b="1" spc="100" kern="0" dirty="0">
                <a:solidFill>
                  <a:srgbClr val="2B64AB"/>
                </a:solidFill>
                <a:latin typeface="Meiryo" pitchFamily="34" charset="0"/>
                <a:ea typeface="Meiryo" pitchFamily="34" charset="-122"/>
                <a:cs typeface="Meiryo" pitchFamily="34" charset="-120"/>
              </a:rPr>
              <a:t>解決した課題</a:t>
            </a:r>
            <a:endParaRPr lang="en-US" sz="950" dirty="0"/>
          </a:p>
        </p:txBody>
      </p:sp>
      <p:sp>
        <p:nvSpPr>
          <p:cNvPr id="11" name="Shape 9"/>
          <p:cNvSpPr/>
          <p:nvPr/>
        </p:nvSpPr>
        <p:spPr>
          <a:xfrm>
            <a:off x="585216" y="4059936"/>
            <a:ext cx="1833880" cy="274320"/>
          </a:xfrm>
          <a:prstGeom prst="roundRect">
            <a:avLst>
              <a:gd name="adj" fmla="val 50000"/>
            </a:avLst>
          </a:prstGeom>
          <a:solidFill>
            <a:srgbClr val="DCE8F6"/>
          </a:solidFill>
          <a:ln w="9525">
            <a:solidFill>
              <a:srgbClr val="BFD3EC"/>
            </a:solidFill>
            <a:prstDash val="solid"/>
          </a:ln>
        </p:spPr>
      </p:sp>
      <p:sp>
        <p:nvSpPr>
          <p:cNvPr id="12" name="Text 10"/>
          <p:cNvSpPr/>
          <p:nvPr/>
        </p:nvSpPr>
        <p:spPr>
          <a:xfrm>
            <a:off x="585216" y="4059936"/>
            <a:ext cx="1833880" cy="274320"/>
          </a:xfrm>
          <a:prstGeom prst="rect">
            <a:avLst/>
          </a:prstGeom>
          <a:noFill/>
          <a:ln/>
        </p:spPr>
        <p:txBody>
          <a:bodyPr wrap="square" lIns="0" tIns="0" rIns="0" bIns="0" rtlCol="0" anchor="ctr"/>
          <a:lstStyle/>
          <a:p>
            <a:pPr algn="ctr" indent="0" marL="0">
              <a:buNone/>
            </a:pPr>
            <a:r>
              <a:rPr lang="en-US" sz="950" b="1" dirty="0">
                <a:solidFill>
                  <a:srgbClr val="24548F"/>
                </a:solidFill>
                <a:latin typeface="Meiryo" pitchFamily="34" charset="0"/>
                <a:ea typeface="Meiryo" pitchFamily="34" charset="-122"/>
                <a:cs typeface="Meiryo" pitchFamily="34" charset="-120"/>
              </a:rPr>
              <a:t>社長一人の人脈・紹介頼み</a:t>
            </a:r>
            <a:endParaRPr lang="en-US" sz="950" dirty="0"/>
          </a:p>
        </p:txBody>
      </p:sp>
      <p:sp>
        <p:nvSpPr>
          <p:cNvPr id="13" name="Shape 11"/>
          <p:cNvSpPr/>
          <p:nvPr/>
        </p:nvSpPr>
        <p:spPr>
          <a:xfrm>
            <a:off x="585216" y="4407408"/>
            <a:ext cx="2224786" cy="274320"/>
          </a:xfrm>
          <a:prstGeom prst="roundRect">
            <a:avLst>
              <a:gd name="adj" fmla="val 50000"/>
            </a:avLst>
          </a:prstGeom>
          <a:solidFill>
            <a:srgbClr val="DCE8F6"/>
          </a:solidFill>
          <a:ln w="9525">
            <a:solidFill>
              <a:srgbClr val="BFD3EC"/>
            </a:solidFill>
            <a:prstDash val="solid"/>
          </a:ln>
        </p:spPr>
      </p:sp>
      <p:sp>
        <p:nvSpPr>
          <p:cNvPr id="14" name="Text 12"/>
          <p:cNvSpPr/>
          <p:nvPr/>
        </p:nvSpPr>
        <p:spPr>
          <a:xfrm>
            <a:off x="585216" y="4407408"/>
            <a:ext cx="2224786" cy="274320"/>
          </a:xfrm>
          <a:prstGeom prst="rect">
            <a:avLst/>
          </a:prstGeom>
          <a:noFill/>
          <a:ln/>
        </p:spPr>
        <p:txBody>
          <a:bodyPr wrap="square" lIns="0" tIns="0" rIns="0" bIns="0" rtlCol="0" anchor="ctr"/>
          <a:lstStyle/>
          <a:p>
            <a:pPr algn="ctr" indent="0" marL="0">
              <a:buNone/>
            </a:pPr>
            <a:r>
              <a:rPr lang="en-US" sz="950" b="1" dirty="0">
                <a:solidFill>
                  <a:srgbClr val="24548F"/>
                </a:solidFill>
                <a:latin typeface="Meiryo" pitchFamily="34" charset="0"/>
                <a:ea typeface="Meiryo" pitchFamily="34" charset="-122"/>
                <a:cs typeface="Meiryo" pitchFamily="34" charset="-120"/>
              </a:rPr>
              <a:t>能動的な新規獲得の仕組みがない</a:t>
            </a:r>
            <a:endParaRPr lang="en-US" sz="950" dirty="0"/>
          </a:p>
        </p:txBody>
      </p:sp>
      <p:sp>
        <p:nvSpPr>
          <p:cNvPr id="15" name="Shape 13"/>
          <p:cNvSpPr/>
          <p:nvPr/>
        </p:nvSpPr>
        <p:spPr>
          <a:xfrm>
            <a:off x="585216" y="4754880"/>
            <a:ext cx="1182370" cy="274320"/>
          </a:xfrm>
          <a:prstGeom prst="roundRect">
            <a:avLst>
              <a:gd name="adj" fmla="val 50000"/>
            </a:avLst>
          </a:prstGeom>
          <a:solidFill>
            <a:srgbClr val="DCE8F6"/>
          </a:solidFill>
          <a:ln w="9525">
            <a:solidFill>
              <a:srgbClr val="BFD3EC"/>
            </a:solidFill>
            <a:prstDash val="solid"/>
          </a:ln>
        </p:spPr>
      </p:sp>
      <p:sp>
        <p:nvSpPr>
          <p:cNvPr id="16" name="Text 14"/>
          <p:cNvSpPr/>
          <p:nvPr/>
        </p:nvSpPr>
        <p:spPr>
          <a:xfrm>
            <a:off x="585216" y="4754880"/>
            <a:ext cx="1182370" cy="274320"/>
          </a:xfrm>
          <a:prstGeom prst="rect">
            <a:avLst/>
          </a:prstGeom>
          <a:noFill/>
          <a:ln/>
        </p:spPr>
        <p:txBody>
          <a:bodyPr wrap="square" lIns="0" tIns="0" rIns="0" bIns="0" rtlCol="0" anchor="ctr"/>
          <a:lstStyle/>
          <a:p>
            <a:pPr algn="ctr" indent="0" marL="0">
              <a:buNone/>
            </a:pPr>
            <a:r>
              <a:rPr lang="en-US" sz="950" b="1" dirty="0">
                <a:solidFill>
                  <a:srgbClr val="24548F"/>
                </a:solidFill>
                <a:latin typeface="Meiryo" pitchFamily="34" charset="0"/>
                <a:ea typeface="Meiryo" pitchFamily="34" charset="-122"/>
                <a:cs typeface="Meiryo" pitchFamily="34" charset="-120"/>
              </a:rPr>
              <a:t>売上が伸び悩み</a:t>
            </a:r>
            <a:endParaRPr lang="en-US" sz="950" dirty="0"/>
          </a:p>
        </p:txBody>
      </p:sp>
      <p:sp>
        <p:nvSpPr>
          <p:cNvPr id="17" name="Shape 15"/>
          <p:cNvSpPr/>
          <p:nvPr/>
        </p:nvSpPr>
        <p:spPr>
          <a:xfrm>
            <a:off x="4114800" y="1417320"/>
            <a:ext cx="82296" cy="219456"/>
          </a:xfrm>
          <a:prstGeom prst="roundRect">
            <a:avLst>
              <a:gd name="adj" fmla="val 33333"/>
            </a:avLst>
          </a:prstGeom>
          <a:solidFill>
            <a:srgbClr val="2B64AB"/>
          </a:solidFill>
          <a:ln/>
        </p:spPr>
      </p:sp>
      <p:sp>
        <p:nvSpPr>
          <p:cNvPr id="18" name="Text 16"/>
          <p:cNvSpPr/>
          <p:nvPr/>
        </p:nvSpPr>
        <p:spPr>
          <a:xfrm>
            <a:off x="4297680" y="1353312"/>
            <a:ext cx="7315200" cy="310896"/>
          </a:xfrm>
          <a:prstGeom prst="rect">
            <a:avLst/>
          </a:prstGeom>
          <a:noFill/>
          <a:ln/>
        </p:spPr>
        <p:txBody>
          <a:bodyPr wrap="square" lIns="0" tIns="0" rIns="0" bIns="0" rtlCol="0" anchor="ctr"/>
          <a:lstStyle/>
          <a:p>
            <a:pPr indent="0" marL="0">
              <a:buNone/>
            </a:pPr>
            <a:r>
              <a:rPr lang="en-US" sz="1250" b="1" dirty="0">
                <a:solidFill>
                  <a:srgbClr val="2B64AB"/>
                </a:solidFill>
                <a:latin typeface="Meiryo" pitchFamily="34" charset="0"/>
                <a:ea typeface="Meiryo" pitchFamily="34" charset="-122"/>
                <a:cs typeface="Meiryo" pitchFamily="34" charset="-120"/>
              </a:rPr>
              <a:t>事例の概要</a:t>
            </a:r>
            <a:endParaRPr lang="en-US" sz="1250" dirty="0"/>
          </a:p>
        </p:txBody>
      </p:sp>
      <p:sp>
        <p:nvSpPr>
          <p:cNvPr id="19" name="Text 17"/>
          <p:cNvSpPr/>
          <p:nvPr/>
        </p:nvSpPr>
        <p:spPr>
          <a:xfrm>
            <a:off x="4114800" y="1682496"/>
            <a:ext cx="7708392" cy="676656"/>
          </a:xfrm>
          <a:prstGeom prst="rect">
            <a:avLst/>
          </a:prstGeom>
          <a:noFill/>
          <a:ln/>
        </p:spPr>
        <p:txBody>
          <a:bodyPr wrap="square" lIns="0" tIns="0" rIns="0" bIns="0" rtlCol="0" anchor="t"/>
          <a:lstStyle/>
          <a:p>
            <a:pPr indent="0" marL="0">
              <a:lnSpc>
                <a:spcPct val="116000"/>
              </a:lnSpc>
              <a:buNone/>
            </a:pPr>
            <a:r>
              <a:rPr lang="en-US" sz="1000" dirty="0">
                <a:solidFill>
                  <a:srgbClr val="45566A"/>
                </a:solidFill>
                <a:latin typeface="Meiryo" pitchFamily="34" charset="0"/>
                <a:ea typeface="Meiryo" pitchFamily="34" charset="-122"/>
                <a:cs typeface="Meiryo" pitchFamily="34" charset="-120"/>
              </a:rPr>
              <a:t>自社メンバーが施工・制作等の実務に追われ営業にリソースを割けなかったため、「Sales Platform」に初期アプローチを完全委託。アイドマが自律的にトークやアプローチを自動化した。</a:t>
            </a:r>
            <a:endParaRPr lang="en-US" sz="1000" dirty="0"/>
          </a:p>
        </p:txBody>
      </p:sp>
      <p:sp>
        <p:nvSpPr>
          <p:cNvPr id="20" name="Shape 18"/>
          <p:cNvSpPr/>
          <p:nvPr/>
        </p:nvSpPr>
        <p:spPr>
          <a:xfrm>
            <a:off x="4114800" y="2395728"/>
            <a:ext cx="7708392" cy="950976"/>
          </a:xfrm>
          <a:prstGeom prst="roundRect">
            <a:avLst>
              <a:gd name="adj" fmla="val 4808"/>
            </a:avLst>
          </a:prstGeom>
          <a:solidFill>
            <a:srgbClr val="E9F4EE"/>
          </a:solidFill>
          <a:ln w="12700">
            <a:solidFill>
              <a:srgbClr val="BADFC9"/>
            </a:solidFill>
            <a:prstDash val="solid"/>
          </a:ln>
        </p:spPr>
      </p:sp>
      <p:sp>
        <p:nvSpPr>
          <p:cNvPr id="21" name="Shape 19"/>
          <p:cNvSpPr/>
          <p:nvPr/>
        </p:nvSpPr>
        <p:spPr>
          <a:xfrm>
            <a:off x="4352544" y="2542032"/>
            <a:ext cx="82296" cy="219456"/>
          </a:xfrm>
          <a:prstGeom prst="roundRect">
            <a:avLst>
              <a:gd name="adj" fmla="val 33333"/>
            </a:avLst>
          </a:prstGeom>
          <a:solidFill>
            <a:srgbClr val="1F7A4D"/>
          </a:solidFill>
          <a:ln/>
        </p:spPr>
      </p:sp>
      <p:sp>
        <p:nvSpPr>
          <p:cNvPr id="22" name="Text 20"/>
          <p:cNvSpPr/>
          <p:nvPr/>
        </p:nvSpPr>
        <p:spPr>
          <a:xfrm>
            <a:off x="4535424" y="2487168"/>
            <a:ext cx="7159752" cy="292608"/>
          </a:xfrm>
          <a:prstGeom prst="rect">
            <a:avLst/>
          </a:prstGeom>
          <a:noFill/>
          <a:ln/>
        </p:spPr>
        <p:txBody>
          <a:bodyPr wrap="square" lIns="0" tIns="0" rIns="0" bIns="0" rtlCol="0" anchor="ctr"/>
          <a:lstStyle/>
          <a:p>
            <a:pPr indent="0" marL="0">
              <a:buNone/>
            </a:pPr>
            <a:r>
              <a:rPr lang="en-US" sz="1200" b="1" dirty="0">
                <a:solidFill>
                  <a:srgbClr val="1F7A4D"/>
                </a:solidFill>
                <a:latin typeface="Meiryo" pitchFamily="34" charset="0"/>
                <a:ea typeface="Meiryo" pitchFamily="34" charset="-122"/>
                <a:cs typeface="Meiryo" pitchFamily="34" charset="-120"/>
              </a:rPr>
              <a:t>結果</a:t>
            </a:r>
            <a:endParaRPr lang="en-US" sz="1200" dirty="0"/>
          </a:p>
        </p:txBody>
      </p:sp>
      <p:sp>
        <p:nvSpPr>
          <p:cNvPr id="23" name="Text 21"/>
          <p:cNvSpPr/>
          <p:nvPr/>
        </p:nvSpPr>
        <p:spPr>
          <a:xfrm>
            <a:off x="4352544" y="2798064"/>
            <a:ext cx="7232904" cy="457200"/>
          </a:xfrm>
          <a:prstGeom prst="rect">
            <a:avLst/>
          </a:prstGeom>
          <a:noFill/>
          <a:ln/>
        </p:spPr>
        <p:txBody>
          <a:bodyPr wrap="square" lIns="0" tIns="0" rIns="0" bIns="0" rtlCol="0" anchor="t"/>
          <a:lstStyle/>
          <a:p>
            <a:pPr indent="0" marL="0">
              <a:lnSpc>
                <a:spcPct val="113000"/>
              </a:lnSpc>
              <a:buNone/>
            </a:pPr>
            <a:r>
              <a:rPr lang="en-US" sz="1000" dirty="0">
                <a:solidFill>
                  <a:srgbClr val="1C3A29"/>
                </a:solidFill>
                <a:latin typeface="Meiryo" pitchFamily="34" charset="0"/>
                <a:ea typeface="Meiryo" pitchFamily="34" charset="-122"/>
                <a:cs typeface="Meiryo" pitchFamily="34" charset="-120"/>
              </a:rPr>
              <a:t>導入から約5ヵ月でアポイント33件を獲得（うち26件が商談化）。成約率約30%（5件の新規大型受注決定）という非常に高い営業成果を達成し、紹介依存からの脱却に成功した。</a:t>
            </a:r>
            <a:endParaRPr lang="en-US" sz="1000" dirty="0"/>
          </a:p>
        </p:txBody>
      </p:sp>
      <p:sp>
        <p:nvSpPr>
          <p:cNvPr id="24" name="Shape 22"/>
          <p:cNvSpPr/>
          <p:nvPr/>
        </p:nvSpPr>
        <p:spPr>
          <a:xfrm>
            <a:off x="4114800" y="3456432"/>
            <a:ext cx="7708392" cy="1572768"/>
          </a:xfrm>
          <a:prstGeom prst="roundRect">
            <a:avLst>
              <a:gd name="adj" fmla="val 2907"/>
            </a:avLst>
          </a:prstGeom>
          <a:solidFill>
            <a:srgbClr val="EAF1FA"/>
          </a:solidFill>
          <a:ln w="12700">
            <a:solidFill>
              <a:srgbClr val="C6D8EF"/>
            </a:solidFill>
            <a:prstDash val="solid"/>
          </a:ln>
        </p:spPr>
      </p:sp>
      <p:sp>
        <p:nvSpPr>
          <p:cNvPr id="25" name="Shape 23"/>
          <p:cNvSpPr/>
          <p:nvPr/>
        </p:nvSpPr>
        <p:spPr>
          <a:xfrm>
            <a:off x="4352544" y="3602736"/>
            <a:ext cx="82296" cy="219456"/>
          </a:xfrm>
          <a:prstGeom prst="roundRect">
            <a:avLst>
              <a:gd name="adj" fmla="val 33333"/>
            </a:avLst>
          </a:prstGeom>
          <a:solidFill>
            <a:srgbClr val="2B64AB"/>
          </a:solidFill>
          <a:ln/>
        </p:spPr>
      </p:sp>
      <p:sp>
        <p:nvSpPr>
          <p:cNvPr id="26" name="Text 24"/>
          <p:cNvSpPr/>
          <p:nvPr/>
        </p:nvSpPr>
        <p:spPr>
          <a:xfrm>
            <a:off x="4535424" y="3547872"/>
            <a:ext cx="7159752" cy="292608"/>
          </a:xfrm>
          <a:prstGeom prst="rect">
            <a:avLst/>
          </a:prstGeom>
          <a:noFill/>
          <a:ln/>
        </p:spPr>
        <p:txBody>
          <a:bodyPr wrap="square" lIns="0" tIns="0" rIns="0" bIns="0" rtlCol="0" anchor="ctr"/>
          <a:lstStyle/>
          <a:p>
            <a:pPr indent="0" marL="0">
              <a:buNone/>
            </a:pPr>
            <a:r>
              <a:rPr lang="en-US" sz="1200" b="1" dirty="0">
                <a:solidFill>
                  <a:srgbClr val="2B64AB"/>
                </a:solidFill>
                <a:latin typeface="Meiryo" pitchFamily="34" charset="0"/>
                <a:ea typeface="Meiryo" pitchFamily="34" charset="-122"/>
                <a:cs typeface="Meiryo" pitchFamily="34" charset="-120"/>
              </a:rPr>
              <a:t>今回ご検討をされている企業様への活用ポイント</a:t>
            </a:r>
            <a:endParaRPr lang="en-US" sz="1200" dirty="0"/>
          </a:p>
        </p:txBody>
      </p:sp>
      <p:sp>
        <p:nvSpPr>
          <p:cNvPr id="27" name="Text 25"/>
          <p:cNvSpPr/>
          <p:nvPr/>
        </p:nvSpPr>
        <p:spPr>
          <a:xfrm>
            <a:off x="4352544" y="3858768"/>
            <a:ext cx="7232904" cy="1078992"/>
          </a:xfrm>
          <a:prstGeom prst="rect">
            <a:avLst/>
          </a:prstGeom>
          <a:noFill/>
          <a:ln/>
        </p:spPr>
        <p:txBody>
          <a:bodyPr wrap="square" lIns="0" tIns="0" rIns="0" bIns="0" rtlCol="0" anchor="t"/>
          <a:lstStyle/>
          <a:p>
            <a:pPr indent="0" marL="0">
              <a:lnSpc>
                <a:spcPct val="113000"/>
              </a:lnSpc>
              <a:buNone/>
            </a:pPr>
            <a:r>
              <a:rPr lang="en-US" sz="1000" dirty="0">
                <a:solidFill>
                  <a:srgbClr val="1C2530"/>
                </a:solidFill>
                <a:latin typeface="Meiryo" pitchFamily="34" charset="0"/>
                <a:ea typeface="Meiryo" pitchFamily="34" charset="-122"/>
                <a:cs typeface="Meiryo" pitchFamily="34" charset="-120"/>
              </a:rPr>
              <a:t>コーティング施工の実務で忙しい興拓様が、紹介頼みから脱却して自走型の新規アプローチフローを構築する参考事例です。初期アプローチを自動化することで、高い成約率（30%）を維持したまま、取引先店舗や法人顧客を順調に増やしていけます。</a:t>
            </a:r>
            <a:endParaRPr lang="en-US" sz="1000" dirty="0"/>
          </a:p>
        </p:txBody>
      </p:sp>
      <p:sp>
        <p:nvSpPr>
          <p:cNvPr id="28" name="Shape 26"/>
          <p:cNvSpPr/>
          <p:nvPr/>
        </p:nvSpPr>
        <p:spPr>
          <a:xfrm>
            <a:off x="4114800" y="5138928"/>
            <a:ext cx="7708392" cy="1060704"/>
          </a:xfrm>
          <a:prstGeom prst="roundRect">
            <a:avLst>
              <a:gd name="adj" fmla="val 4310"/>
            </a:avLst>
          </a:prstGeom>
          <a:solidFill>
            <a:srgbClr val="FBF4E6"/>
          </a:solidFill>
          <a:ln w="12700">
            <a:solidFill>
              <a:srgbClr val="E7D6AC"/>
            </a:solidFill>
            <a:prstDash val="solid"/>
          </a:ln>
        </p:spPr>
      </p:sp>
      <p:sp>
        <p:nvSpPr>
          <p:cNvPr id="29" name="Shape 27"/>
          <p:cNvSpPr/>
          <p:nvPr/>
        </p:nvSpPr>
        <p:spPr>
          <a:xfrm>
            <a:off x="4352544" y="5285232"/>
            <a:ext cx="82296" cy="219456"/>
          </a:xfrm>
          <a:prstGeom prst="roundRect">
            <a:avLst>
              <a:gd name="adj" fmla="val 33333"/>
            </a:avLst>
          </a:prstGeom>
          <a:solidFill>
            <a:srgbClr val="9A6B12"/>
          </a:solidFill>
          <a:ln/>
        </p:spPr>
      </p:sp>
      <p:sp>
        <p:nvSpPr>
          <p:cNvPr id="30" name="Text 28"/>
          <p:cNvSpPr/>
          <p:nvPr/>
        </p:nvSpPr>
        <p:spPr>
          <a:xfrm>
            <a:off x="4535424" y="5230368"/>
            <a:ext cx="7159752" cy="292608"/>
          </a:xfrm>
          <a:prstGeom prst="rect">
            <a:avLst/>
          </a:prstGeom>
          <a:noFill/>
          <a:ln/>
        </p:spPr>
        <p:txBody>
          <a:bodyPr wrap="square" lIns="0" tIns="0" rIns="0" bIns="0" rtlCol="0" anchor="ctr"/>
          <a:lstStyle/>
          <a:p>
            <a:pPr indent="0" marL="0">
              <a:buNone/>
            </a:pPr>
            <a:r>
              <a:rPr lang="en-US" sz="1200" b="1" dirty="0">
                <a:solidFill>
                  <a:srgbClr val="9A6B12"/>
                </a:solidFill>
                <a:latin typeface="Meiryo" pitchFamily="34" charset="0"/>
                <a:ea typeface="Meiryo" pitchFamily="34" charset="-122"/>
                <a:cs typeface="Meiryo" pitchFamily="34" charset="-120"/>
              </a:rPr>
              <a:t>導入を検討されえいる企業様へのアドバイス</a:t>
            </a:r>
            <a:endParaRPr lang="en-US" sz="1200" dirty="0"/>
          </a:p>
        </p:txBody>
      </p:sp>
      <p:sp>
        <p:nvSpPr>
          <p:cNvPr id="31" name="Text 29"/>
          <p:cNvSpPr/>
          <p:nvPr/>
        </p:nvSpPr>
        <p:spPr>
          <a:xfrm>
            <a:off x="4352544" y="5541264"/>
            <a:ext cx="7232904" cy="566928"/>
          </a:xfrm>
          <a:prstGeom prst="rect">
            <a:avLst/>
          </a:prstGeom>
          <a:noFill/>
          <a:ln/>
        </p:spPr>
        <p:txBody>
          <a:bodyPr wrap="square" lIns="0" tIns="0" rIns="0" bIns="0" rtlCol="0" anchor="t"/>
          <a:lstStyle/>
          <a:p>
            <a:pPr indent="0" marL="0">
              <a:lnSpc>
                <a:spcPct val="113000"/>
              </a:lnSpc>
              <a:buNone/>
            </a:pPr>
            <a:r>
              <a:rPr lang="en-US" sz="1000" i="1" dirty="0">
                <a:solidFill>
                  <a:srgbClr val="4A3A18"/>
                </a:solidFill>
                <a:latin typeface="Meiryo" pitchFamily="34" charset="0"/>
                <a:ea typeface="Meiryo" pitchFamily="34" charset="-122"/>
                <a:cs typeface="Meiryo" pitchFamily="34" charset="-120"/>
              </a:rPr>
              <a:t>「正直、タイミングだと思ったら使ってみるのが一番だと思います。そのタイミングだと感じたなら、アイドマさんはおすすめできます。」</a:t>
            </a:r>
            <a:endParaRPr lang="en-US" sz="1000" dirty="0"/>
          </a:p>
        </p:txBody>
      </p:sp>
      <p:sp>
        <p:nvSpPr>
          <p:cNvPr id="32" name="Text 30"/>
          <p:cNvSpPr/>
          <p:nvPr/>
        </p:nvSpPr>
        <p:spPr>
          <a:xfrm>
            <a:off x="4114800" y="6291072"/>
            <a:ext cx="7708392" cy="219456"/>
          </a:xfrm>
          <a:prstGeom prst="rect">
            <a:avLst/>
          </a:prstGeom>
          <a:noFill/>
          <a:ln/>
        </p:spPr>
        <p:txBody>
          <a:bodyPr wrap="square" lIns="0" tIns="0" rIns="0" bIns="0" rtlCol="0" anchor="ctr"/>
          <a:lstStyle/>
          <a:p>
            <a:pPr indent="0" marL="0">
              <a:buNone/>
            </a:pPr>
            <a:r>
              <a:rPr lang="en-US" sz="950" b="1" dirty="0">
                <a:solidFill>
                  <a:srgbClr val="8593A4"/>
                </a:solidFill>
                <a:latin typeface="Meiryo" pitchFamily="34" charset="0"/>
                <a:ea typeface="Meiryo" pitchFamily="34" charset="-122"/>
                <a:cs typeface="Meiryo" pitchFamily="34" charset="-120"/>
              </a:rPr>
              <a:t>引用URL　</a:t>
            </a:r>
            <a:pPr indent="0" marL="0">
              <a:buNone/>
            </a:pPr>
            <a:r>
              <a:rPr lang="en-US" sz="950" u="sng" dirty="0">
                <a:solidFill>
                  <a:srgbClr val="2B64AB"/>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https://www.aidma-hd.jp/case/zirei-414/</a:t>
            </a:r>
            <a:endParaRPr lang="en-US" sz="950" dirty="0"/>
          </a:p>
        </p:txBody>
      </p:sp>
      <p:sp>
        <p:nvSpPr>
          <p:cNvPr id="33" name="Text 31"/>
          <p:cNvSpPr/>
          <p:nvPr/>
        </p:nvSpPr>
        <p:spPr>
          <a:xfrm>
            <a:off x="365760" y="6537960"/>
            <a:ext cx="8229600" cy="219456"/>
          </a:xfrm>
          <a:prstGeom prst="rect">
            <a:avLst/>
          </a:prstGeom>
          <a:noFill/>
          <a:ln/>
        </p:spPr>
        <p:txBody>
          <a:bodyPr wrap="square" lIns="0" tIns="0" rIns="0" bIns="0" rtlCol="0" anchor="ctr"/>
          <a:lstStyle/>
          <a:p>
            <a:pPr indent="0" marL="0">
              <a:buNone/>
            </a:pPr>
            <a:r>
              <a:rPr lang="en-US" sz="900" dirty="0">
                <a:solidFill>
                  <a:srgbClr val="9AA7B6"/>
                </a:solidFill>
                <a:latin typeface="Meiryo" pitchFamily="34" charset="0"/>
                <a:ea typeface="Meiryo" pitchFamily="34" charset="-122"/>
                <a:cs typeface="Meiryo" pitchFamily="34" charset="-120"/>
              </a:rPr>
              <a:t>興拓 様　提案引用実績5選</a:t>
            </a:r>
            <a:endParaRPr lang="en-US" sz="900" dirty="0"/>
          </a:p>
        </p:txBody>
      </p:sp>
      <p:sp>
        <p:nvSpPr>
          <p:cNvPr id="34" name="Text 32"/>
          <p:cNvSpPr/>
          <p:nvPr/>
        </p:nvSpPr>
        <p:spPr>
          <a:xfrm>
            <a:off x="10424160" y="6537960"/>
            <a:ext cx="1399032" cy="219456"/>
          </a:xfrm>
          <a:prstGeom prst="rect">
            <a:avLst/>
          </a:prstGeom>
          <a:noFill/>
          <a:ln/>
        </p:spPr>
        <p:txBody>
          <a:bodyPr wrap="square" lIns="0" tIns="0" rIns="0" bIns="0" rtlCol="0" anchor="ctr"/>
          <a:lstStyle/>
          <a:p>
            <a:pPr algn="r" indent="0" marL="0">
              <a:buNone/>
            </a:pPr>
            <a:r>
              <a:rPr lang="en-US" sz="900" dirty="0">
                <a:solidFill>
                  <a:srgbClr val="9AA7B6"/>
                </a:solidFill>
                <a:latin typeface="Meiryo" pitchFamily="34" charset="0"/>
                <a:ea typeface="Meiryo" pitchFamily="34" charset="-122"/>
                <a:cs typeface="Meiryo" pitchFamily="34" charset="-120"/>
              </a:rPr>
              <a:t>5 / 5</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3F6FB"/>
        </a:solidFill>
      </p:bgPr>
    </p:bg>
    <p:spTree>
      <p:nvGrpSpPr>
        <p:cNvPr id="1" name=""/>
        <p:cNvGrpSpPr/>
        <p:nvPr/>
      </p:nvGrpSpPr>
      <p:grpSpPr>
        <a:xfrm>
          <a:off x="0" y="0"/>
          <a:ext cx="0" cy="0"/>
          <a:chOff x="0" y="0"/>
          <a:chExt cx="0" cy="0"/>
        </a:xfrm>
      </p:grpSpPr>
      <p:sp>
        <p:nvSpPr>
          <p:cNvPr id="2" name="Shape 0"/>
          <p:cNvSpPr/>
          <p:nvPr/>
        </p:nvSpPr>
        <p:spPr>
          <a:xfrm>
            <a:off x="365760" y="365760"/>
            <a:ext cx="11457432" cy="749808"/>
          </a:xfrm>
          <a:prstGeom prst="roundRect">
            <a:avLst>
              <a:gd name="adj" fmla="val 7317"/>
            </a:avLst>
          </a:prstGeom>
          <a:solidFill>
            <a:srgbClr val="16407A"/>
          </a:solidFill>
          <a:ln/>
        </p:spPr>
      </p:sp>
      <p:sp>
        <p:nvSpPr>
          <p:cNvPr id="3" name="Text 1"/>
          <p:cNvSpPr/>
          <p:nvPr/>
        </p:nvSpPr>
        <p:spPr>
          <a:xfrm>
            <a:off x="640080" y="365760"/>
            <a:ext cx="10972800" cy="749808"/>
          </a:xfrm>
          <a:prstGeom prst="rect">
            <a:avLst/>
          </a:prstGeom>
          <a:noFill/>
          <a:ln/>
        </p:spPr>
        <p:txBody>
          <a:bodyPr wrap="square" lIns="0" tIns="0" rIns="0" bIns="0" rtlCol="0" anchor="ctr"/>
          <a:lstStyle/>
          <a:p>
            <a:pPr indent="0" marL="0">
              <a:buNone/>
            </a:pPr>
            <a:r>
              <a:rPr lang="en-US" sz="1400" b="1" dirty="0">
                <a:solidFill>
                  <a:srgbClr val="FFFFFF"/>
                </a:solidFill>
                <a:latin typeface="Meiryo" pitchFamily="34" charset="0"/>
                <a:ea typeface="Meiryo" pitchFamily="34" charset="-122"/>
                <a:cs typeface="Meiryo" pitchFamily="34" charset="-120"/>
              </a:rPr>
              <a:t>まとめ ─ 自動車・カーケア：紹介/下請け依存 → BtoB直取引の自動開拓（Before → After）</a:t>
            </a:r>
            <a:endParaRPr lang="en-US" sz="14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365760" y="1316736"/>
          <a:ext cx="11457432" cy="914400"/>
        </p:xfrm>
        <a:graphic>
          <a:graphicData uri="http://schemas.openxmlformats.org/drawingml/2006/table">
            <a:tbl>
              <a:tblPr/>
              <a:tblGrid>
                <a:gridCol w="2286000"/>
                <a:gridCol w="1920240"/>
                <a:gridCol w="2606040"/>
                <a:gridCol w="2176272"/>
                <a:gridCol w="2468880"/>
              </a:tblGrid>
              <a:tr h="365760">
                <a:tc>
                  <a:txBody>
                    <a:bodyPr/>
                    <a:lstStyle/>
                    <a:p>
                      <a:pPr algn="ctr" indent="0" marL="0">
                        <a:buNone/>
                      </a:pPr>
                      <a:r>
                        <a:rPr lang="en-US" sz="1050" b="1" dirty="0">
                          <a:solidFill>
                            <a:srgbClr val="FFFFFF"/>
                          </a:solidFill>
                          <a:latin typeface="Meiryo" pitchFamily="34" charset="0"/>
                          <a:ea typeface="Meiryo" pitchFamily="34" charset="-122"/>
                          <a:cs typeface="Meiryo" pitchFamily="34" charset="-120"/>
                        </a:rPr>
                        <a:t>企業名</a:t>
                      </a:r>
                      <a:endParaRPr lang="en-US" sz="1050" dirty="0">
                        <a:latin typeface="Meiryo" charset="0"/>
                        <a:ea typeface="Meiryo" charset="0"/>
                        <a:cs typeface="Meiryo" charset="0"/>
                      </a:endParaRPr>
                    </a:p>
                  </a:txBody>
                  <a:tcPr marL="25400" marR="254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2B64AB"/>
                    </a:solidFill>
                  </a:tcPr>
                </a:tc>
                <a:tc>
                  <a:txBody>
                    <a:bodyPr/>
                    <a:lstStyle/>
                    <a:p>
                      <a:pPr algn="ctr" indent="0" marL="0">
                        <a:buNone/>
                      </a:pPr>
                      <a:r>
                        <a:rPr lang="en-US" sz="1050" b="1" dirty="0">
                          <a:solidFill>
                            <a:srgbClr val="FFFFFF"/>
                          </a:solidFill>
                          <a:latin typeface="Meiryo" pitchFamily="34" charset="0"/>
                          <a:ea typeface="Meiryo" pitchFamily="34" charset="-122"/>
                          <a:cs typeface="Meiryo" pitchFamily="34" charset="-120"/>
                        </a:rPr>
                        <a:t>業種</a:t>
                      </a:r>
                      <a:endParaRPr lang="en-US" sz="1050" dirty="0">
                        <a:latin typeface="Meiryo" charset="0"/>
                        <a:ea typeface="Meiryo" charset="0"/>
                        <a:cs typeface="Meiryo" charset="0"/>
                      </a:endParaRPr>
                    </a:p>
                  </a:txBody>
                  <a:tcPr marL="25400" marR="254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2B64AB"/>
                    </a:solidFill>
                  </a:tcPr>
                </a:tc>
                <a:tc>
                  <a:txBody>
                    <a:bodyPr/>
                    <a:lstStyle/>
                    <a:p>
                      <a:pPr algn="ctr" indent="0" marL="0">
                        <a:buNone/>
                      </a:pPr>
                      <a:r>
                        <a:rPr lang="en-US" sz="1050" b="1" dirty="0">
                          <a:solidFill>
                            <a:srgbClr val="FFFFFF"/>
                          </a:solidFill>
                          <a:latin typeface="Meiryo" pitchFamily="34" charset="0"/>
                          <a:ea typeface="Meiryo" pitchFamily="34" charset="-122"/>
                          <a:cs typeface="Meiryo" pitchFamily="34" charset="-120"/>
                        </a:rPr>
                        <a:t>Before（課題）</a:t>
                      </a:r>
                      <a:endParaRPr lang="en-US" sz="1050" dirty="0">
                        <a:latin typeface="Meiryo" charset="0"/>
                        <a:ea typeface="Meiryo" charset="0"/>
                        <a:cs typeface="Meiryo" charset="0"/>
                      </a:endParaRPr>
                    </a:p>
                  </a:txBody>
                  <a:tcPr marL="25400" marR="254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2B64AB"/>
                    </a:solidFill>
                  </a:tcPr>
                </a:tc>
                <a:tc>
                  <a:txBody>
                    <a:bodyPr/>
                    <a:lstStyle/>
                    <a:p>
                      <a:pPr algn="ctr" indent="0" marL="0">
                        <a:buNone/>
                      </a:pPr>
                      <a:r>
                        <a:rPr lang="en-US" sz="1050" b="1" dirty="0">
                          <a:solidFill>
                            <a:srgbClr val="FFFFFF"/>
                          </a:solidFill>
                          <a:latin typeface="Meiryo" pitchFamily="34" charset="0"/>
                          <a:ea typeface="Meiryo" pitchFamily="34" charset="-122"/>
                          <a:cs typeface="Meiryo" pitchFamily="34" charset="-120"/>
                        </a:rPr>
                        <a:t>導入した支援</a:t>
                      </a:r>
                      <a:endParaRPr lang="en-US" sz="1050" dirty="0">
                        <a:latin typeface="Meiryo" charset="0"/>
                        <a:ea typeface="Meiryo" charset="0"/>
                        <a:cs typeface="Meiryo" charset="0"/>
                      </a:endParaRPr>
                    </a:p>
                  </a:txBody>
                  <a:tcPr marL="25400" marR="254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2B64AB"/>
                    </a:solidFill>
                  </a:tcPr>
                </a:tc>
                <a:tc>
                  <a:txBody>
                    <a:bodyPr/>
                    <a:lstStyle/>
                    <a:p>
                      <a:pPr algn="ctr" indent="0" marL="0">
                        <a:buNone/>
                      </a:pPr>
                      <a:r>
                        <a:rPr lang="en-US" sz="1050" b="1" dirty="0">
                          <a:solidFill>
                            <a:srgbClr val="FFFFFF"/>
                          </a:solidFill>
                          <a:latin typeface="Meiryo" pitchFamily="34" charset="0"/>
                          <a:ea typeface="Meiryo" pitchFamily="34" charset="-122"/>
                          <a:cs typeface="Meiryo" pitchFamily="34" charset="-120"/>
                        </a:rPr>
                        <a:t>After（成果）</a:t>
                      </a:r>
                      <a:endParaRPr lang="en-US" sz="1050" dirty="0">
                        <a:latin typeface="Meiryo" charset="0"/>
                        <a:ea typeface="Meiryo" charset="0"/>
                        <a:cs typeface="Meiryo" charset="0"/>
                      </a:endParaRPr>
                    </a:p>
                  </a:txBody>
                  <a:tcPr marL="25400" marR="254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2B64AB"/>
                    </a:solidFill>
                  </a:tcPr>
                </a:tc>
              </a:tr>
              <a:tr h="896112">
                <a:tc>
                  <a:txBody>
                    <a:bodyPr/>
                    <a:lstStyle/>
                    <a:p>
                      <a:pPr algn="l" indent="0" marL="0">
                        <a:buNone/>
                      </a:pPr>
                      <a:r>
                        <a:rPr lang="en-US" sz="850" b="1" dirty="0">
                          <a:solidFill>
                            <a:srgbClr val="1C2530"/>
                          </a:solidFill>
                          <a:latin typeface="Meiryo" pitchFamily="34" charset="0"/>
                          <a:ea typeface="Meiryo" pitchFamily="34" charset="-122"/>
                          <a:cs typeface="Meiryo" pitchFamily="34" charset="-120"/>
                        </a:rPr>
                        <a:t>三栄自動車リース株式会社</a:t>
                      </a:r>
                      <a:endParaRPr lang="en-US" sz="850" dirty="0">
                        <a:latin typeface="Meiryo" charset="0"/>
                        <a:ea typeface="Meiryo" charset="0"/>
                        <a:cs typeface="Meiryo" charset="0"/>
                      </a:endParaRPr>
                    </a:p>
                    <a:p>
                      <a:pPr algn="l" indent="0" marL="0">
                        <a:buNone/>
                      </a:pPr>
                      <a:r>
                        <a:rPr lang="en-US" sz="850" b="1" dirty="0">
                          <a:solidFill>
                            <a:srgbClr val="1C2530"/>
                          </a:solidFill>
                          <a:latin typeface="Meiryo" pitchFamily="34" charset="0"/>
                          <a:ea typeface="Meiryo" pitchFamily="34" charset="-122"/>
                          <a:cs typeface="Meiryo" pitchFamily="34" charset="-120"/>
                        </a:rPr>
                        <a:t>様</a:t>
                      </a:r>
                      <a:endParaRPr lang="en-US" sz="850" dirty="0">
                        <a:latin typeface="Meiryo" charset="0"/>
                        <a:ea typeface="Meiryo" charset="0"/>
                        <a:cs typeface="Meiryo" charset="0"/>
                      </a:endParaRPr>
                    </a:p>
                  </a:txBody>
                  <a:tcPr marL="63500" marR="508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16407A"/>
                          </a:solidFill>
                          <a:latin typeface="Meiryo" pitchFamily="34" charset="0"/>
                          <a:ea typeface="Meiryo" pitchFamily="34" charset="-122"/>
                          <a:cs typeface="Meiryo" pitchFamily="34" charset="-120"/>
                        </a:rPr>
                        <a:t>自動車販売・リース・整備</a:t>
                      </a:r>
                      <a:endParaRPr lang="en-US" sz="850" dirty="0">
                        <a:latin typeface="Meiryo" charset="0"/>
                        <a:ea typeface="Meiryo" charset="0"/>
                        <a:cs typeface="Meiryo" charset="0"/>
                      </a:endParaRPr>
                    </a:p>
                  </a:txBody>
                  <a:tcPr marL="38100" marR="381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FFFFFF"/>
                    </a:solidFill>
                  </a:tcPr>
                </a:tc>
                <a:tc>
                  <a:txBody>
                    <a:bodyPr/>
                    <a:lstStyle/>
                    <a:p>
                      <a:pPr algn="l" indent="0" marL="0">
                        <a:buNone/>
                      </a:pPr>
                      <a:r>
                        <a:rPr lang="en-US" sz="850" dirty="0">
                          <a:solidFill>
                            <a:srgbClr val="45566A"/>
                          </a:solidFill>
                          <a:latin typeface="Meiryo" pitchFamily="34" charset="0"/>
                          <a:ea typeface="Meiryo" pitchFamily="34" charset="-122"/>
                          <a:cs typeface="Meiryo" pitchFamily="34" charset="-120"/>
                        </a:rPr>
                        <a:t>紹介・口コミ頼みの営業／法人BtoB直契約の開拓／営業ノウハウ・リソース不足</a:t>
                      </a:r>
                      <a:endParaRPr lang="en-US" sz="850" dirty="0">
                        <a:latin typeface="Meiryo" charset="0"/>
                        <a:ea typeface="Meiryo" charset="0"/>
                        <a:cs typeface="Meiryo" charset="0"/>
                      </a:endParaRPr>
                    </a:p>
                  </a:txBody>
                  <a:tcPr marL="63500" marR="508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FFFFFF"/>
                    </a:solidFill>
                  </a:tcPr>
                </a:tc>
                <a:tc>
                  <a:txBody>
                    <a:bodyPr/>
                    <a:lstStyle/>
                    <a:p>
                      <a:pPr algn="l" indent="0" marL="0">
                        <a:buNone/>
                      </a:pPr>
                      <a:r>
                        <a:rPr lang="en-US" sz="850" dirty="0">
                          <a:solidFill>
                            <a:srgbClr val="3A2F5C"/>
                          </a:solidFill>
                          <a:latin typeface="Meiryo" pitchFamily="34" charset="0"/>
                          <a:ea typeface="Meiryo" pitchFamily="34" charset="-122"/>
                          <a:cs typeface="Meiryo" pitchFamily="34" charset="-120"/>
                        </a:rPr>
                        <a:t>Sales Platform／ママワークス（ターゲット選定〜初期アプローチを仕組み化）</a:t>
                      </a:r>
                      <a:endParaRPr lang="en-US" sz="850" dirty="0">
                        <a:latin typeface="Meiryo" charset="0"/>
                        <a:ea typeface="Meiryo" charset="0"/>
                        <a:cs typeface="Meiryo" charset="0"/>
                      </a:endParaRPr>
                    </a:p>
                  </a:txBody>
                  <a:tcPr marL="63500" marR="508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FFFFFF"/>
                    </a:solidFill>
                  </a:tcPr>
                </a:tc>
                <a:tc>
                  <a:txBody>
                    <a:bodyPr/>
                    <a:lstStyle/>
                    <a:p>
                      <a:pPr algn="l" indent="0" marL="0">
                        <a:buNone/>
                      </a:pPr>
                      <a:r>
                        <a:rPr lang="en-US" sz="850" dirty="0">
                          <a:solidFill>
                            <a:srgbClr val="1C3A29"/>
                          </a:solidFill>
                          <a:latin typeface="Meiryo" pitchFamily="34" charset="0"/>
                          <a:ea typeface="Meiryo" pitchFamily="34" charset="-122"/>
                          <a:cs typeface="Meiryo" pitchFamily="34" charset="-120"/>
                        </a:rPr>
                        <a:t>紹介依存から脱却、社内負担を増やさず新規法人・定期取引先を継続獲得</a:t>
                      </a:r>
                      <a:endParaRPr lang="en-US" sz="850" dirty="0">
                        <a:latin typeface="Meiryo" charset="0"/>
                        <a:ea typeface="Meiryo" charset="0"/>
                        <a:cs typeface="Meiryo" charset="0"/>
                      </a:endParaRPr>
                    </a:p>
                  </a:txBody>
                  <a:tcPr marL="63500" marR="508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FFFFFF"/>
                    </a:solidFill>
                  </a:tcPr>
                </a:tc>
              </a:tr>
              <a:tr h="896112">
                <a:tc>
                  <a:txBody>
                    <a:bodyPr/>
                    <a:lstStyle/>
                    <a:p>
                      <a:pPr algn="l" indent="0" marL="0">
                        <a:buNone/>
                      </a:pPr>
                      <a:r>
                        <a:rPr lang="en-US" sz="850" b="1" dirty="0">
                          <a:solidFill>
                            <a:srgbClr val="1C2530"/>
                          </a:solidFill>
                          <a:latin typeface="Meiryo" pitchFamily="34" charset="0"/>
                          <a:ea typeface="Meiryo" pitchFamily="34" charset="-122"/>
                          <a:cs typeface="Meiryo" pitchFamily="34" charset="-120"/>
                        </a:rPr>
                        <a:t>豊田運送有限会社</a:t>
                      </a:r>
                      <a:endParaRPr lang="en-US" sz="850" dirty="0">
                        <a:latin typeface="Meiryo" charset="0"/>
                        <a:ea typeface="Meiryo" charset="0"/>
                        <a:cs typeface="Meiryo" charset="0"/>
                      </a:endParaRPr>
                    </a:p>
                    <a:p>
                      <a:pPr algn="l" indent="0" marL="0">
                        <a:buNone/>
                      </a:pPr>
                      <a:r>
                        <a:rPr lang="en-US" sz="850" b="1" dirty="0">
                          <a:solidFill>
                            <a:srgbClr val="1C2530"/>
                          </a:solidFill>
                          <a:latin typeface="Meiryo" pitchFamily="34" charset="0"/>
                          <a:ea typeface="Meiryo" pitchFamily="34" charset="-122"/>
                          <a:cs typeface="Meiryo" pitchFamily="34" charset="-120"/>
                        </a:rPr>
                        <a:t>様</a:t>
                      </a:r>
                      <a:endParaRPr lang="en-US" sz="850" dirty="0">
                        <a:latin typeface="Meiryo" charset="0"/>
                        <a:ea typeface="Meiryo" charset="0"/>
                        <a:cs typeface="Meiryo" charset="0"/>
                      </a:endParaRPr>
                    </a:p>
                  </a:txBody>
                  <a:tcPr marL="63500" marR="508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EEF3FA"/>
                    </a:solidFill>
                  </a:tcPr>
                </a:tc>
                <a:tc>
                  <a:txBody>
                    <a:bodyPr/>
                    <a:lstStyle/>
                    <a:p>
                      <a:pPr algn="ctr" indent="0" marL="0">
                        <a:buNone/>
                      </a:pPr>
                      <a:r>
                        <a:rPr lang="en-US" sz="850" b="1" dirty="0">
                          <a:solidFill>
                            <a:srgbClr val="16407A"/>
                          </a:solidFill>
                          <a:latin typeface="Meiryo" pitchFamily="34" charset="0"/>
                          <a:ea typeface="Meiryo" pitchFamily="34" charset="-122"/>
                          <a:cs typeface="Meiryo" pitchFamily="34" charset="-120"/>
                        </a:rPr>
                        <a:t>運送・車両関連</a:t>
                      </a:r>
                      <a:endParaRPr lang="en-US" sz="850" dirty="0">
                        <a:latin typeface="Meiryo" charset="0"/>
                        <a:ea typeface="Meiryo" charset="0"/>
                        <a:cs typeface="Meiryo" charset="0"/>
                      </a:endParaRPr>
                    </a:p>
                  </a:txBody>
                  <a:tcPr marL="38100" marR="381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EEF3FA"/>
                    </a:solidFill>
                  </a:tcPr>
                </a:tc>
                <a:tc>
                  <a:txBody>
                    <a:bodyPr/>
                    <a:lstStyle/>
                    <a:p>
                      <a:pPr algn="l" indent="0" marL="0">
                        <a:buNone/>
                      </a:pPr>
                      <a:r>
                        <a:rPr lang="en-US" sz="850" dirty="0">
                          <a:solidFill>
                            <a:srgbClr val="45566A"/>
                          </a:solidFill>
                          <a:latin typeface="Meiryo" pitchFamily="34" charset="0"/>
                          <a:ea typeface="Meiryo" pitchFamily="34" charset="-122"/>
                          <a:cs typeface="Meiryo" pitchFamily="34" charset="-120"/>
                        </a:rPr>
                        <a:t>下請け・紹介依存／営業専任不在で直契約の開拓ノウハウ・体制がない</a:t>
                      </a:r>
                      <a:endParaRPr lang="en-US" sz="850" dirty="0">
                        <a:latin typeface="Meiryo" charset="0"/>
                        <a:ea typeface="Meiryo" charset="0"/>
                        <a:cs typeface="Meiryo" charset="0"/>
                      </a:endParaRPr>
                    </a:p>
                  </a:txBody>
                  <a:tcPr marL="63500" marR="508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EEF3FA"/>
                    </a:solidFill>
                  </a:tcPr>
                </a:tc>
                <a:tc>
                  <a:txBody>
                    <a:bodyPr/>
                    <a:lstStyle/>
                    <a:p>
                      <a:pPr algn="l" indent="0" marL="0">
                        <a:buNone/>
                      </a:pPr>
                      <a:r>
                        <a:rPr lang="en-US" sz="850" dirty="0">
                          <a:solidFill>
                            <a:srgbClr val="3A2F5C"/>
                          </a:solidFill>
                          <a:latin typeface="Meiryo" pitchFamily="34" charset="0"/>
                          <a:ea typeface="Meiryo" pitchFamily="34" charset="-122"/>
                          <a:cs typeface="Meiryo" pitchFamily="34" charset="-120"/>
                        </a:rPr>
                        <a:t>Sales Platform（車両関連ニーズ企業へダイレクト提案・アプローチ代行）</a:t>
                      </a:r>
                      <a:endParaRPr lang="en-US" sz="850" dirty="0">
                        <a:latin typeface="Meiryo" charset="0"/>
                        <a:ea typeface="Meiryo" charset="0"/>
                        <a:cs typeface="Meiryo" charset="0"/>
                      </a:endParaRPr>
                    </a:p>
                  </a:txBody>
                  <a:tcPr marL="63500" marR="508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EEF3FA"/>
                    </a:solidFill>
                  </a:tcPr>
                </a:tc>
                <a:tc>
                  <a:txBody>
                    <a:bodyPr/>
                    <a:lstStyle/>
                    <a:p>
                      <a:pPr algn="l" indent="0" marL="0">
                        <a:buNone/>
                      </a:pPr>
                      <a:r>
                        <a:rPr lang="en-US" sz="850" dirty="0">
                          <a:solidFill>
                            <a:srgbClr val="1C3A29"/>
                          </a:solidFill>
                          <a:latin typeface="Meiryo" pitchFamily="34" charset="0"/>
                          <a:ea typeface="Meiryo" pitchFamily="34" charset="-122"/>
                          <a:cs typeface="Meiryo" pitchFamily="34" charset="-120"/>
                        </a:rPr>
                        <a:t>営業マンなしで直契約の新規BtoB開拓に成功、適正価格受注で収益性を改善</a:t>
                      </a:r>
                      <a:endParaRPr lang="en-US" sz="850" dirty="0">
                        <a:latin typeface="Meiryo" charset="0"/>
                        <a:ea typeface="Meiryo" charset="0"/>
                        <a:cs typeface="Meiryo" charset="0"/>
                      </a:endParaRPr>
                    </a:p>
                  </a:txBody>
                  <a:tcPr marL="63500" marR="508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EEF3FA"/>
                    </a:solidFill>
                  </a:tcPr>
                </a:tc>
              </a:tr>
              <a:tr h="896112">
                <a:tc>
                  <a:txBody>
                    <a:bodyPr/>
                    <a:lstStyle/>
                    <a:p>
                      <a:pPr algn="l" indent="0" marL="0">
                        <a:buNone/>
                      </a:pPr>
                      <a:r>
                        <a:rPr lang="en-US" sz="850" b="1" dirty="0">
                          <a:solidFill>
                            <a:srgbClr val="1C2530"/>
                          </a:solidFill>
                          <a:latin typeface="Meiryo" pitchFamily="34" charset="0"/>
                          <a:ea typeface="Meiryo" pitchFamily="34" charset="-122"/>
                          <a:cs typeface="Meiryo" pitchFamily="34" charset="-120"/>
                        </a:rPr>
                        <a:t>株式会社宏企画</a:t>
                      </a:r>
                      <a:endParaRPr lang="en-US" sz="850" dirty="0">
                        <a:latin typeface="Meiryo" charset="0"/>
                        <a:ea typeface="Meiryo" charset="0"/>
                        <a:cs typeface="Meiryo" charset="0"/>
                      </a:endParaRPr>
                    </a:p>
                    <a:p>
                      <a:pPr algn="l" indent="0" marL="0">
                        <a:buNone/>
                      </a:pPr>
                      <a:r>
                        <a:rPr lang="en-US" sz="850" b="1" dirty="0">
                          <a:solidFill>
                            <a:srgbClr val="1C2530"/>
                          </a:solidFill>
                          <a:latin typeface="Meiryo" pitchFamily="34" charset="0"/>
                          <a:ea typeface="Meiryo" pitchFamily="34" charset="-122"/>
                          <a:cs typeface="Meiryo" pitchFamily="34" charset="-120"/>
                        </a:rPr>
                        <a:t>様</a:t>
                      </a:r>
                      <a:endParaRPr lang="en-US" sz="850" dirty="0">
                        <a:latin typeface="Meiryo" charset="0"/>
                        <a:ea typeface="Meiryo" charset="0"/>
                        <a:cs typeface="Meiryo" charset="0"/>
                      </a:endParaRPr>
                    </a:p>
                  </a:txBody>
                  <a:tcPr marL="63500" marR="508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16407A"/>
                          </a:solidFill>
                          <a:latin typeface="Meiryo" pitchFamily="34" charset="0"/>
                          <a:ea typeface="Meiryo" pitchFamily="34" charset="-122"/>
                          <a:cs typeface="Meiryo" pitchFamily="34" charset="-120"/>
                        </a:rPr>
                        <a:t>施工・開発・メンテナンス</a:t>
                      </a:r>
                      <a:endParaRPr lang="en-US" sz="850" dirty="0">
                        <a:latin typeface="Meiryo" charset="0"/>
                        <a:ea typeface="Meiryo" charset="0"/>
                        <a:cs typeface="Meiryo" charset="0"/>
                      </a:endParaRPr>
                    </a:p>
                  </a:txBody>
                  <a:tcPr marL="38100" marR="381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FFFFFF"/>
                    </a:solidFill>
                  </a:tcPr>
                </a:tc>
                <a:tc>
                  <a:txBody>
                    <a:bodyPr/>
                    <a:lstStyle/>
                    <a:p>
                      <a:pPr algn="l" indent="0" marL="0">
                        <a:buNone/>
                      </a:pPr>
                      <a:r>
                        <a:rPr lang="en-US" sz="850" dirty="0">
                          <a:solidFill>
                            <a:srgbClr val="45566A"/>
                          </a:solidFill>
                          <a:latin typeface="Meiryo" pitchFamily="34" charset="0"/>
                          <a:ea typeface="Meiryo" pitchFamily="34" charset="-122"/>
                          <a:cs typeface="Meiryo" pitchFamily="34" charset="-120"/>
                        </a:rPr>
                        <a:t>飛び込み営業中心から脱却できず／施工・メンテの新規接点が効率的に創出できていない</a:t>
                      </a:r>
                      <a:endParaRPr lang="en-US" sz="850" dirty="0">
                        <a:latin typeface="Meiryo" charset="0"/>
                        <a:ea typeface="Meiryo" charset="0"/>
                        <a:cs typeface="Meiryo" charset="0"/>
                      </a:endParaRPr>
                    </a:p>
                  </a:txBody>
                  <a:tcPr marL="63500" marR="508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FFFFFF"/>
                    </a:solidFill>
                  </a:tcPr>
                </a:tc>
                <a:tc>
                  <a:txBody>
                    <a:bodyPr/>
                    <a:lstStyle/>
                    <a:p>
                      <a:pPr algn="l" indent="0" marL="0">
                        <a:buNone/>
                      </a:pPr>
                      <a:r>
                        <a:rPr lang="en-US" sz="850" dirty="0">
                          <a:solidFill>
                            <a:srgbClr val="3A2F5C"/>
                          </a:solidFill>
                          <a:latin typeface="Meiryo" pitchFamily="34" charset="0"/>
                          <a:ea typeface="Meiryo" pitchFamily="34" charset="-122"/>
                          <a:cs typeface="Meiryo" pitchFamily="34" charset="-120"/>
                        </a:rPr>
                        <a:t>Sales Platform（条件合致ターゲットへ自動アプローチ）</a:t>
                      </a:r>
                      <a:endParaRPr lang="en-US" sz="850" dirty="0">
                        <a:latin typeface="Meiryo" charset="0"/>
                        <a:ea typeface="Meiryo" charset="0"/>
                        <a:cs typeface="Meiryo" charset="0"/>
                      </a:endParaRPr>
                    </a:p>
                  </a:txBody>
                  <a:tcPr marL="63500" marR="508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FFFFFF"/>
                    </a:solidFill>
                  </a:tcPr>
                </a:tc>
                <a:tc>
                  <a:txBody>
                    <a:bodyPr/>
                    <a:lstStyle/>
                    <a:p>
                      <a:pPr algn="l" indent="0" marL="0">
                        <a:buNone/>
                      </a:pPr>
                      <a:r>
                        <a:rPr lang="en-US" sz="850" dirty="0">
                          <a:solidFill>
                            <a:srgbClr val="1C3A29"/>
                          </a:solidFill>
                          <a:latin typeface="Meiryo" pitchFamily="34" charset="0"/>
                          <a:ea typeface="Meiryo" pitchFamily="34" charset="-122"/>
                          <a:cs typeface="Meiryo" pitchFamily="34" charset="-120"/>
                        </a:rPr>
                        <a:t>見込みのない訪問を排除、質の高い新規商談を1日1件ペースで安定確保</a:t>
                      </a:r>
                      <a:endParaRPr lang="en-US" sz="850" dirty="0">
                        <a:latin typeface="Meiryo" charset="0"/>
                        <a:ea typeface="Meiryo" charset="0"/>
                        <a:cs typeface="Meiryo" charset="0"/>
                      </a:endParaRPr>
                    </a:p>
                  </a:txBody>
                  <a:tcPr marL="63500" marR="508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FFFFFF"/>
                    </a:solidFill>
                  </a:tcPr>
                </a:tc>
              </a:tr>
              <a:tr h="896112">
                <a:tc>
                  <a:txBody>
                    <a:bodyPr/>
                    <a:lstStyle/>
                    <a:p>
                      <a:pPr algn="l" indent="0" marL="0">
                        <a:buNone/>
                      </a:pPr>
                      <a:r>
                        <a:rPr lang="en-US" sz="850" b="1" dirty="0">
                          <a:solidFill>
                            <a:srgbClr val="1C2530"/>
                          </a:solidFill>
                          <a:latin typeface="Meiryo" pitchFamily="34" charset="0"/>
                          <a:ea typeface="Meiryo" pitchFamily="34" charset="-122"/>
                          <a:cs typeface="Meiryo" pitchFamily="34" charset="-120"/>
                        </a:rPr>
                        <a:t>株式会社テイクオーバル</a:t>
                      </a:r>
                      <a:endParaRPr lang="en-US" sz="850" dirty="0">
                        <a:latin typeface="Meiryo" charset="0"/>
                        <a:ea typeface="Meiryo" charset="0"/>
                        <a:cs typeface="Meiryo" charset="0"/>
                      </a:endParaRPr>
                    </a:p>
                    <a:p>
                      <a:pPr algn="l" indent="0" marL="0">
                        <a:buNone/>
                      </a:pPr>
                      <a:r>
                        <a:rPr lang="en-US" sz="850" b="1" dirty="0">
                          <a:solidFill>
                            <a:srgbClr val="1C2530"/>
                          </a:solidFill>
                          <a:latin typeface="Meiryo" pitchFamily="34" charset="0"/>
                          <a:ea typeface="Meiryo" pitchFamily="34" charset="-122"/>
                          <a:cs typeface="Meiryo" pitchFamily="34" charset="-120"/>
                        </a:rPr>
                        <a:t>様</a:t>
                      </a:r>
                      <a:endParaRPr lang="en-US" sz="850" dirty="0">
                        <a:latin typeface="Meiryo" charset="0"/>
                        <a:ea typeface="Meiryo" charset="0"/>
                        <a:cs typeface="Meiryo" charset="0"/>
                      </a:endParaRPr>
                    </a:p>
                  </a:txBody>
                  <a:tcPr marL="63500" marR="508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EEF3FA"/>
                    </a:solidFill>
                  </a:tcPr>
                </a:tc>
                <a:tc>
                  <a:txBody>
                    <a:bodyPr/>
                    <a:lstStyle/>
                    <a:p>
                      <a:pPr algn="ctr" indent="0" marL="0">
                        <a:buNone/>
                      </a:pPr>
                      <a:r>
                        <a:rPr lang="en-US" sz="850" b="1" dirty="0">
                          <a:solidFill>
                            <a:srgbClr val="16407A"/>
                          </a:solidFill>
                          <a:latin typeface="Meiryo" pitchFamily="34" charset="0"/>
                          <a:ea typeface="Meiryo" pitchFamily="34" charset="-122"/>
                          <a:cs typeface="Meiryo" pitchFamily="34" charset="-120"/>
                        </a:rPr>
                        <a:t>ネットワーク・代行/プロデュース</a:t>
                      </a:r>
                      <a:endParaRPr lang="en-US" sz="850" dirty="0">
                        <a:latin typeface="Meiryo" charset="0"/>
                        <a:ea typeface="Meiryo" charset="0"/>
                        <a:cs typeface="Meiryo" charset="0"/>
                      </a:endParaRPr>
                    </a:p>
                  </a:txBody>
                  <a:tcPr marL="38100" marR="381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EEF3FA"/>
                    </a:solidFill>
                  </a:tcPr>
                </a:tc>
                <a:tc>
                  <a:txBody>
                    <a:bodyPr/>
                    <a:lstStyle/>
                    <a:p>
                      <a:pPr algn="l" indent="0" marL="0">
                        <a:buNone/>
                      </a:pPr>
                      <a:r>
                        <a:rPr lang="en-US" sz="850" dirty="0">
                          <a:solidFill>
                            <a:srgbClr val="45566A"/>
                          </a:solidFill>
                          <a:latin typeface="Meiryo" pitchFamily="34" charset="0"/>
                          <a:ea typeface="Meiryo" pitchFamily="34" charset="-122"/>
                          <a:cs typeface="Meiryo" pitchFamily="34" charset="-120"/>
                        </a:rPr>
                        <a:t>代表＋社員1人／HP・営業ツール・ノウハウがない／自動化・外注したい</a:t>
                      </a:r>
                      <a:endParaRPr lang="en-US" sz="850" dirty="0">
                        <a:latin typeface="Meiryo" charset="0"/>
                        <a:ea typeface="Meiryo" charset="0"/>
                        <a:cs typeface="Meiryo" charset="0"/>
                      </a:endParaRPr>
                    </a:p>
                  </a:txBody>
                  <a:tcPr marL="63500" marR="508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EEF3FA"/>
                    </a:solidFill>
                  </a:tcPr>
                </a:tc>
                <a:tc>
                  <a:txBody>
                    <a:bodyPr/>
                    <a:lstStyle/>
                    <a:p>
                      <a:pPr algn="l" indent="0" marL="0">
                        <a:buNone/>
                      </a:pPr>
                      <a:r>
                        <a:rPr lang="en-US" sz="850" dirty="0">
                          <a:solidFill>
                            <a:srgbClr val="3A2F5C"/>
                          </a:solidFill>
                          <a:latin typeface="Meiryo" pitchFamily="34" charset="0"/>
                          <a:ea typeface="Meiryo" pitchFamily="34" charset="-122"/>
                          <a:cs typeface="Meiryo" pitchFamily="34" charset="-120"/>
                        </a:rPr>
                        <a:t>Sales Platform（新規アプローチを完全外部化）</a:t>
                      </a:r>
                      <a:endParaRPr lang="en-US" sz="850" dirty="0">
                        <a:latin typeface="Meiryo" charset="0"/>
                        <a:ea typeface="Meiryo" charset="0"/>
                        <a:cs typeface="Meiryo" charset="0"/>
                      </a:endParaRPr>
                    </a:p>
                  </a:txBody>
                  <a:tcPr marL="63500" marR="508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EEF3FA"/>
                    </a:solidFill>
                  </a:tcPr>
                </a:tc>
                <a:tc>
                  <a:txBody>
                    <a:bodyPr/>
                    <a:lstStyle/>
                    <a:p>
                      <a:pPr algn="l" indent="0" marL="0">
                        <a:buNone/>
                      </a:pPr>
                      <a:r>
                        <a:rPr lang="en-US" sz="850" dirty="0">
                          <a:solidFill>
                            <a:srgbClr val="1C3A29"/>
                          </a:solidFill>
                          <a:latin typeface="Meiryo" pitchFamily="34" charset="0"/>
                          <a:ea typeface="Meiryo" pitchFamily="34" charset="-122"/>
                          <a:cs typeface="Meiryo" pitchFamily="34" charset="-120"/>
                        </a:rPr>
                        <a:t>工数ほぼゼロで見込み客33件・多数の資料請求を獲得、雇用リスクを回避</a:t>
                      </a:r>
                      <a:endParaRPr lang="en-US" sz="850" dirty="0">
                        <a:latin typeface="Meiryo" charset="0"/>
                        <a:ea typeface="Meiryo" charset="0"/>
                        <a:cs typeface="Meiryo" charset="0"/>
                      </a:endParaRPr>
                    </a:p>
                  </a:txBody>
                  <a:tcPr marL="63500" marR="508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EEF3FA"/>
                    </a:solidFill>
                  </a:tcPr>
                </a:tc>
              </a:tr>
              <a:tr h="896112">
                <a:tc>
                  <a:txBody>
                    <a:bodyPr/>
                    <a:lstStyle/>
                    <a:p>
                      <a:pPr algn="l" indent="0" marL="0">
                        <a:buNone/>
                      </a:pPr>
                      <a:r>
                        <a:rPr lang="en-US" sz="850" b="1" dirty="0">
                          <a:solidFill>
                            <a:srgbClr val="1C2530"/>
                          </a:solidFill>
                          <a:latin typeface="Meiryo" pitchFamily="34" charset="0"/>
                          <a:ea typeface="Meiryo" pitchFamily="34" charset="-122"/>
                          <a:cs typeface="Meiryo" pitchFamily="34" charset="-120"/>
                        </a:rPr>
                        <a:t>株式会社ELU</a:t>
                      </a:r>
                      <a:endParaRPr lang="en-US" sz="850" dirty="0">
                        <a:latin typeface="Meiryo" charset="0"/>
                        <a:ea typeface="Meiryo" charset="0"/>
                        <a:cs typeface="Meiryo" charset="0"/>
                      </a:endParaRPr>
                    </a:p>
                    <a:p>
                      <a:pPr algn="l" indent="0" marL="0">
                        <a:buNone/>
                      </a:pPr>
                      <a:r>
                        <a:rPr lang="en-US" sz="850" b="1" dirty="0">
                          <a:solidFill>
                            <a:srgbClr val="1C2530"/>
                          </a:solidFill>
                          <a:latin typeface="Meiryo" pitchFamily="34" charset="0"/>
                          <a:ea typeface="Meiryo" pitchFamily="34" charset="-122"/>
                          <a:cs typeface="Meiryo" pitchFamily="34" charset="-120"/>
                        </a:rPr>
                        <a:t>様</a:t>
                      </a:r>
                      <a:endParaRPr lang="en-US" sz="850" dirty="0">
                        <a:latin typeface="Meiryo" charset="0"/>
                        <a:ea typeface="Meiryo" charset="0"/>
                        <a:cs typeface="Meiryo" charset="0"/>
                      </a:endParaRPr>
                    </a:p>
                  </a:txBody>
                  <a:tcPr marL="63500" marR="508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16407A"/>
                          </a:solidFill>
                          <a:latin typeface="Meiryo" pitchFamily="34" charset="0"/>
                          <a:ea typeface="Meiryo" pitchFamily="34" charset="-122"/>
                          <a:cs typeface="Meiryo" pitchFamily="34" charset="-120"/>
                        </a:rPr>
                        <a:t>BtoB販促・施工プロモ</a:t>
                      </a:r>
                      <a:endParaRPr lang="en-US" sz="850" dirty="0">
                        <a:latin typeface="Meiryo" charset="0"/>
                        <a:ea typeface="Meiryo" charset="0"/>
                        <a:cs typeface="Meiryo" charset="0"/>
                      </a:endParaRPr>
                    </a:p>
                  </a:txBody>
                  <a:tcPr marL="38100" marR="381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FFFFFF"/>
                    </a:solidFill>
                  </a:tcPr>
                </a:tc>
                <a:tc>
                  <a:txBody>
                    <a:bodyPr/>
                    <a:lstStyle/>
                    <a:p>
                      <a:pPr algn="l" indent="0" marL="0">
                        <a:buNone/>
                      </a:pPr>
                      <a:r>
                        <a:rPr lang="en-US" sz="850" dirty="0">
                          <a:solidFill>
                            <a:srgbClr val="45566A"/>
                          </a:solidFill>
                          <a:latin typeface="Meiryo" pitchFamily="34" charset="0"/>
                          <a:ea typeface="Meiryo" pitchFamily="34" charset="-122"/>
                          <a:cs typeface="Meiryo" pitchFamily="34" charset="-120"/>
                        </a:rPr>
                        <a:t>社長一人の人脈・紹介頼み／能動的な新規獲得の仕組みがない／売上が伸び悩み</a:t>
                      </a:r>
                      <a:endParaRPr lang="en-US" sz="850" dirty="0">
                        <a:latin typeface="Meiryo" charset="0"/>
                        <a:ea typeface="Meiryo" charset="0"/>
                        <a:cs typeface="Meiryo" charset="0"/>
                      </a:endParaRPr>
                    </a:p>
                  </a:txBody>
                  <a:tcPr marL="63500" marR="508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FFFFFF"/>
                    </a:solidFill>
                  </a:tcPr>
                </a:tc>
                <a:tc>
                  <a:txBody>
                    <a:bodyPr/>
                    <a:lstStyle/>
                    <a:p>
                      <a:pPr algn="l" indent="0" marL="0">
                        <a:buNone/>
                      </a:pPr>
                      <a:r>
                        <a:rPr lang="en-US" sz="850" dirty="0">
                          <a:solidFill>
                            <a:srgbClr val="3A2F5C"/>
                          </a:solidFill>
                          <a:latin typeface="Meiryo" pitchFamily="34" charset="0"/>
                          <a:ea typeface="Meiryo" pitchFamily="34" charset="-122"/>
                          <a:cs typeface="Meiryo" pitchFamily="34" charset="-120"/>
                        </a:rPr>
                        <a:t>Sales Platform（初期アプローチを完全委託・自動化）</a:t>
                      </a:r>
                      <a:endParaRPr lang="en-US" sz="850" dirty="0">
                        <a:latin typeface="Meiryo" charset="0"/>
                        <a:ea typeface="Meiryo" charset="0"/>
                        <a:cs typeface="Meiryo" charset="0"/>
                      </a:endParaRPr>
                    </a:p>
                  </a:txBody>
                  <a:tcPr marL="63500" marR="508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FFFFFF"/>
                    </a:solidFill>
                  </a:tcPr>
                </a:tc>
                <a:tc>
                  <a:txBody>
                    <a:bodyPr/>
                    <a:lstStyle/>
                    <a:p>
                      <a:pPr algn="l" indent="0" marL="0">
                        <a:buNone/>
                      </a:pPr>
                      <a:r>
                        <a:rPr lang="en-US" sz="850" dirty="0">
                          <a:solidFill>
                            <a:srgbClr val="1C3A29"/>
                          </a:solidFill>
                          <a:latin typeface="Meiryo" pitchFamily="34" charset="0"/>
                          <a:ea typeface="Meiryo" pitchFamily="34" charset="-122"/>
                          <a:cs typeface="Meiryo" pitchFamily="34" charset="-120"/>
                        </a:rPr>
                        <a:t>約5ヶ月でアポ33件・商談26件・成約率約30%（大型受注5件）</a:t>
                      </a:r>
                      <a:endParaRPr lang="en-US" sz="850" dirty="0">
                        <a:latin typeface="Meiryo" charset="0"/>
                        <a:ea typeface="Meiryo" charset="0"/>
                        <a:cs typeface="Meiryo" charset="0"/>
                      </a:endParaRPr>
                    </a:p>
                  </a:txBody>
                  <a:tcPr marL="63500" marR="508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FFFFFF"/>
                    </a:solidFill>
                  </a:tcPr>
                </a:tc>
              </a:tr>
            </a:tbl>
          </a:graphicData>
        </a:graphic>
      </p:graphicFrame>
      <p:sp>
        <p:nvSpPr>
          <p:cNvPr id="5" name="Shape 2"/>
          <p:cNvSpPr/>
          <p:nvPr/>
        </p:nvSpPr>
        <p:spPr>
          <a:xfrm>
            <a:off x="365760" y="6089904"/>
            <a:ext cx="11457432" cy="548640"/>
          </a:xfrm>
          <a:prstGeom prst="roundRect">
            <a:avLst>
              <a:gd name="adj" fmla="val 8333"/>
            </a:avLst>
          </a:prstGeom>
          <a:solidFill>
            <a:srgbClr val="EAF1FA"/>
          </a:solidFill>
          <a:ln w="12700">
            <a:solidFill>
              <a:srgbClr val="C6D8EF"/>
            </a:solidFill>
            <a:prstDash val="solid"/>
          </a:ln>
        </p:spPr>
      </p:sp>
      <p:sp>
        <p:nvSpPr>
          <p:cNvPr id="6" name="Text 3"/>
          <p:cNvSpPr/>
          <p:nvPr/>
        </p:nvSpPr>
        <p:spPr>
          <a:xfrm>
            <a:off x="566928" y="6089904"/>
            <a:ext cx="11064240" cy="548640"/>
          </a:xfrm>
          <a:prstGeom prst="rect">
            <a:avLst/>
          </a:prstGeom>
          <a:noFill/>
          <a:ln/>
        </p:spPr>
        <p:txBody>
          <a:bodyPr wrap="square" lIns="0" tIns="0" rIns="0" bIns="0" rtlCol="0" anchor="ctr"/>
          <a:lstStyle/>
          <a:p>
            <a:pPr indent="0" marL="0">
              <a:buNone/>
            </a:pPr>
            <a:r>
              <a:rPr lang="en-US" sz="1050" b="1" dirty="0">
                <a:solidFill>
                  <a:srgbClr val="16407A"/>
                </a:solidFill>
                <a:latin typeface="Meiryo" pitchFamily="34" charset="0"/>
                <a:ea typeface="Meiryo" pitchFamily="34" charset="-122"/>
                <a:cs typeface="Meiryo" pitchFamily="34" charset="-120"/>
              </a:rPr>
              <a:t>自社HPや営業マンがいなくても、自社の稼働を消費することなく営業支援ユニットで車関連の法人・提携店舗へ能動アプローチし、下請け・紹介依存から脱却してBtoB直取引・商談を自動で獲得できることを示す実績です。</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2026-10-01T08:56:46Z</dcterms:created>
  <dcterms:modified xsi:type="dcterms:W3CDTF">2026-10-01T08:56:46Z</dcterms:modified>
</cp:coreProperties>
</file>