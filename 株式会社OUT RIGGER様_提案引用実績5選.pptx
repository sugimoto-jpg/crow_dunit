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513/"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510/"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89/"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260/"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458/"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100" kern="0" dirty="0">
                <a:solidFill>
                  <a:srgbClr val="CADCFC"/>
                </a:solidFill>
                <a:latin typeface="Meiryo" pitchFamily="34" charset="0"/>
                <a:ea typeface="Meiryo" pitchFamily="34" charset="-122"/>
                <a:cs typeface="Meiryo" pitchFamily="34" charset="-120"/>
              </a:rPr>
              <a:t>CASE STUDIES ─ 営業支援ユニット × 店舗開発・出店/リーシング・BtoB不動産</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400" b="1" dirty="0">
                <a:solidFill>
                  <a:srgbClr val="FFFFFF"/>
                </a:solidFill>
                <a:latin typeface="Meiryo" pitchFamily="34" charset="0"/>
                <a:ea typeface="Meiryo" pitchFamily="34" charset="-122"/>
                <a:cs typeface="Meiryo" pitchFamily="34" charset="-120"/>
              </a:rPr>
              <a:t>株式会社OUT RIGGER様</a:t>
            </a:r>
            <a:endParaRPr lang="en-US" sz="3400" dirty="0"/>
          </a:p>
          <a:p>
            <a:pPr indent="0" marL="0">
              <a:lnSpc>
                <a:spcPct val="110000"/>
              </a:lnSpc>
              <a:buNone/>
            </a:pPr>
            <a:r>
              <a:rPr lang="en-US" sz="3200" b="1" dirty="0">
                <a:solidFill>
                  <a:srgbClr val="FFFFFF"/>
                </a:solidFill>
                <a:latin typeface="Meiryo" pitchFamily="34" charset="0"/>
                <a:ea typeface="Meiryo" pitchFamily="34" charset="-122"/>
                <a:cs typeface="Meiryo" pitchFamily="34" charset="-120"/>
              </a:rPr>
              <a:t>提案引用実績 5選</a:t>
            </a:r>
            <a:endParaRPr lang="en-US" sz="3400" dirty="0"/>
          </a:p>
        </p:txBody>
      </p:sp>
      <p:sp>
        <p:nvSpPr>
          <p:cNvPr id="7" name="Text 5"/>
          <p:cNvSpPr/>
          <p:nvPr/>
        </p:nvSpPr>
        <p:spPr>
          <a:xfrm>
            <a:off x="822960" y="3474720"/>
            <a:ext cx="10149840" cy="1188720"/>
          </a:xfrm>
          <a:prstGeom prst="rect">
            <a:avLst/>
          </a:prstGeom>
          <a:noFill/>
          <a:ln/>
        </p:spPr>
        <p:txBody>
          <a:bodyPr wrap="square" rtlCol="0" anchor="ctr"/>
          <a:lstStyle/>
          <a:p>
            <a:pPr indent="0" marL="0">
              <a:lnSpc>
                <a:spcPct val="124000"/>
              </a:lnSpc>
              <a:buNone/>
            </a:pPr>
            <a:r>
              <a:rPr lang="en-US" sz="1200" dirty="0">
                <a:solidFill>
                  <a:srgbClr val="DDE8F6"/>
                </a:solidFill>
                <a:latin typeface="Meiryo" pitchFamily="34" charset="0"/>
                <a:ea typeface="Meiryo" pitchFamily="34" charset="-122"/>
                <a:cs typeface="Meiryo" pitchFamily="34" charset="-120"/>
              </a:rPr>
              <a:t>OUT RIGGER様（出店場所の提案・条件交渉・店舗開発/改装・販促支援・施設側のリーシング支援・資産家/地主向け都市部物件運用提案など）と同業界で、「待ち営業・紹介頼みからの脱却」「出店意欲のある企業や物件運用オーナーとの能動的な新規接点の自動創出」「BtoBアプローチの仕組み化」を解決した実績を5件厳選しました。</a:t>
            </a:r>
            <a:endParaRPr lang="en-US" sz="1200" dirty="0"/>
          </a:p>
        </p:txBody>
      </p:sp>
      <p:sp>
        <p:nvSpPr>
          <p:cNvPr id="8" name="Shape 6"/>
          <p:cNvSpPr/>
          <p:nvPr/>
        </p:nvSpPr>
        <p:spPr>
          <a:xfrm>
            <a:off x="822960" y="5074920"/>
            <a:ext cx="10515600" cy="0"/>
          </a:xfrm>
          <a:prstGeom prst="line">
            <a:avLst/>
          </a:prstGeom>
          <a:noFill/>
          <a:ln w="12700">
            <a:solidFill>
              <a:srgbClr val="3A5A87"/>
            </a:solidFill>
            <a:prstDash val="solid"/>
          </a:ln>
        </p:spPr>
      </p:sp>
      <p:sp>
        <p:nvSpPr>
          <p:cNvPr id="9" name="Text 7"/>
          <p:cNvSpPr/>
          <p:nvPr/>
        </p:nvSpPr>
        <p:spPr>
          <a:xfrm>
            <a:off x="822960" y="5230368"/>
            <a:ext cx="10607040" cy="320040"/>
          </a:xfrm>
          <a:prstGeom prst="rect">
            <a:avLst/>
          </a:prstGeom>
          <a:noFill/>
          <a:ln/>
        </p:spPr>
        <p:txBody>
          <a:bodyPr wrap="square" rtlCol="0" anchor="ctr"/>
          <a:lstStyle/>
          <a:p>
            <a:pPr indent="0" marL="0">
              <a:buNone/>
            </a:pPr>
            <a:r>
              <a:rPr lang="en-US" sz="1050" b="1" dirty="0">
                <a:solidFill>
                  <a:srgbClr val="CADCFC"/>
                </a:solidFill>
                <a:latin typeface="Meiryo" pitchFamily="34" charset="0"/>
                <a:ea typeface="Meiryo" pitchFamily="34" charset="-122"/>
                <a:cs typeface="Meiryo" pitchFamily="34" charset="-120"/>
              </a:rPr>
              <a:t>提案の狙い　</a:t>
            </a:r>
            <a:pPr indent="0" marL="0">
              <a:buNone/>
            </a:pPr>
            <a:r>
              <a:rPr lang="en-US" sz="1050" dirty="0">
                <a:solidFill>
                  <a:srgbClr val="C9D8ED"/>
                </a:solidFill>
                <a:latin typeface="Meiryo" pitchFamily="34" charset="0"/>
                <a:ea typeface="Meiryo" pitchFamily="34" charset="-122"/>
                <a:cs typeface="Meiryo" pitchFamily="34" charset="-120"/>
              </a:rPr>
              <a:t>多店舗展開・出店検討企業との能動的な新規接点の自動創出／資産家・地主へのリーシング・運用提案の開拓／待ち営業・紹介頼みからの脱却</a:t>
            </a:r>
            <a:endParaRPr lang="en-US" sz="1050" dirty="0"/>
          </a:p>
        </p:txBody>
      </p:sp>
      <p:sp>
        <p:nvSpPr>
          <p:cNvPr id="10" name="Text 8"/>
          <p:cNvSpPr/>
          <p:nvPr/>
        </p:nvSpPr>
        <p:spPr>
          <a:xfrm>
            <a:off x="822960" y="5577840"/>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Platform・セールスユニット連携）</a:t>
            </a:r>
            <a:endParaRPr lang="en-US" sz="1100" dirty="0"/>
          </a:p>
        </p:txBody>
      </p:sp>
      <p:sp>
        <p:nvSpPr>
          <p:cNvPr id="11" name="Text 9"/>
          <p:cNvSpPr/>
          <p:nvPr/>
        </p:nvSpPr>
        <p:spPr>
          <a:xfrm>
            <a:off x="822960" y="6071616"/>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飛び込みを排除。多店舗展開・出店検討の法人へ自動アプローチで新規案件を掘り起こし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株式会社宏企画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不動産売買仲介、賃貸物件仲介、注文住宅の請負、リフォーム、賃貸管理、開発事業部での「不動産仕入れ・店舗/物件開発」など。</a:t>
            </a:r>
            <a:endParaRPr lang="en-US" sz="950" dirty="0"/>
          </a:p>
        </p:txBody>
      </p:sp>
      <p:sp>
        <p:nvSpPr>
          <p:cNvPr id="10" name="Text 8"/>
          <p:cNvSpPr/>
          <p:nvPr/>
        </p:nvSpPr>
        <p:spPr>
          <a:xfrm>
            <a:off x="585216" y="402336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97680"/>
            <a:ext cx="222478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97680"/>
            <a:ext cx="222478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飛び込み営業中心から脱却できず</a:t>
            </a:r>
            <a:endParaRPr lang="en-US" sz="950" dirty="0"/>
          </a:p>
        </p:txBody>
      </p:sp>
      <p:sp>
        <p:nvSpPr>
          <p:cNvPr id="13" name="Shape 11"/>
          <p:cNvSpPr/>
          <p:nvPr/>
        </p:nvSpPr>
        <p:spPr>
          <a:xfrm>
            <a:off x="585216" y="4645152"/>
            <a:ext cx="352780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645152"/>
            <a:ext cx="352780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出店・仕入れ・物件開発の新規接点創出ができていない</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約30年続く不動産会社。仕入れ・店舗開発事業の強化に伴い導入。新人を採用して自社で育成するリスクを回避し、営業支援ユニットを活用して新規アプローチを自動化。無駄のない高効率なBtoB営業・アプローチフロー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導入し、見込みのない訪問営業を完全に排除。得意エリアや条件に合致するターゲット企業（法人・事業主等）へ自動アプローチを行い、質の高い新規商談（1日1件ペース）を安定確保すること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OUT RIGGER様が課題とされる「店舗展開・出店意欲のある企業との接点激減」に対し、従来のアナログな紹介や飛び込みに頼らず、営業支援ユニットで「多店舗展開企業や新規出店・移転を検討する法人ターゲット」へダイレクトかつ能動的にアプローチ（条件提案や出店場所提案）を自動配信し、新規案件を継続的に掘り起こす体制を構築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員を1名確保するコストを考えれば、こうした外部の専門家を活用して環境を整えることは決して高くない投資。不動産業界の経営者はアナログ世代が多くデジタル化に懐疑的な方も少なくありませんが、これからの時代、生産性を上げるためにネットや外部サービスを活用することが必要不可欠だと思い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https://www.aidma-hd.jp/case/zirei-513/</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株式会社OUT RIGGER様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「出店地・物件提案」をフックに潜在出店企業と商談を継続創出。大口成約を連続獲得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東日本サポートセンター株式会社（RE/MAX STELLA）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不動産事業（RE/MAX STELLA）、土地・建物売買、店舗・施設の開業出店支援（物件探し・土地提案・建設一括サポート）、医療・介護施設向けシステム販売。</a:t>
            </a:r>
            <a:endParaRPr lang="en-US" sz="950" dirty="0"/>
          </a:p>
        </p:txBody>
      </p:sp>
      <p:sp>
        <p:nvSpPr>
          <p:cNvPr id="10" name="Text 8"/>
          <p:cNvSpPr/>
          <p:nvPr/>
        </p:nvSpPr>
        <p:spPr>
          <a:xfrm>
            <a:off x="585216" y="402336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97680"/>
            <a:ext cx="261569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97680"/>
            <a:ext cx="261569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既存顧客・コネクション頼みからの脱却</a:t>
            </a:r>
            <a:endParaRPr lang="en-US" sz="950" dirty="0"/>
          </a:p>
        </p:txBody>
      </p:sp>
      <p:sp>
        <p:nvSpPr>
          <p:cNvPr id="13" name="Shape 11"/>
          <p:cNvSpPr/>
          <p:nvPr/>
        </p:nvSpPr>
        <p:spPr>
          <a:xfrm>
            <a:off x="585216" y="4645152"/>
            <a:ext cx="483082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645152"/>
            <a:ext cx="483082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出店地を求める法人・開業者との継続的な新規接点の創出・営業ノウハウ不足</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既存顧客依存の構造に危機感を持ち導入。「不動産・出店地のご提案」というターゲット企業が最も関心を持つ具体的なソリューションをフックにアプローチストーリーを構築。アイドマの仕組みで一次対応からアポ獲得までを完結させ、自社は勝てる商談にのみ専念する体制を完成させ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営業支援ユニット（Sales Platform）を活用し、物件情報や出店地提案をフックにしたプッシュ型アプローチを実施。高品質なターゲットリストを獲得し、初期アプローチを自動化することで大口の出店・不動産取引成約を連続獲得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OUT RIGGER様のコア事業「店舗出店場所の提案・リーシング・施設提案」を求めている法人に対し、営業支援ユニットで「希望条件に応じた都市部優良物件や出店立地の特別提案」をダイレクトに投げかけることで、競合他社がアプローチできていない「潜在的に出店・移転を模索している企業」との商談機会を継続的に創出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誰がどこで何をするのかが明確に設定されているため、新しい事業のアプローチを委託することに不安はありません。何日に誰が何時間稼働しどんな結果だったかが可視化され、安定して稼働する仕組みが整いました。自社で作れない高品質なターゲットリストは大きな財産に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https://www.aidma-hd.jp/case/zirei-510/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株式会社OUT RIGGER様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同業の店舗開発・出店マッチング。全国の店舗展開企業へ網羅的に打診し新規ニーズ発掘</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有限会社近江企画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調剤薬局・各種店舗の開発事業（出店地マッチング・開業出店コンサルティング）、紙図面の電子化事業。</a:t>
            </a:r>
            <a:endParaRPr lang="en-US" sz="950" dirty="0"/>
          </a:p>
        </p:txBody>
      </p:sp>
      <p:sp>
        <p:nvSpPr>
          <p:cNvPr id="10" name="Text 8"/>
          <p:cNvSpPr/>
          <p:nvPr/>
        </p:nvSpPr>
        <p:spPr>
          <a:xfrm>
            <a:off x="585216" y="402336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97680"/>
            <a:ext cx="203657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97680"/>
            <a:ext cx="203657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社長1人の飛び込み営業の限界</a:t>
            </a:r>
            <a:endParaRPr lang="en-US" sz="950" dirty="0"/>
          </a:p>
        </p:txBody>
      </p:sp>
      <p:sp>
        <p:nvSpPr>
          <p:cNvPr id="13" name="Shape 11"/>
          <p:cNvSpPr/>
          <p:nvPr/>
        </p:nvSpPr>
        <p:spPr>
          <a:xfrm>
            <a:off x="585216" y="4645152"/>
            <a:ext cx="417931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645152"/>
            <a:ext cx="417931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全国的な出店・店舗展開企業との接点獲得ノウハウ・リソース不足</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店舗開発や出店マッチングを手がける同社。社長1人の営業稼働に依存した体制から脱却するため「Sales Platform」を導入。アプローチデータの分析やスクリプト構築まで一貫したサポートを受け、全国規模に出店意欲のある新規ターゲットを開拓する仕組みを構築した。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飛び込み営業から完全に脱却し、「Sales Platform」を活用したデータ駆動型アプローチにより、自社のみでは接点を持てなかった日本全国の優良な店舗展開企業・医療機関・関係者との強固なネットワーク獲得に成功した。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OUT RIGGER様と同じ「店舗開発・出店場所の提案・マッチング」に特化した同業事例です。「出店意欲のある企業が減少傾向にある」という厳しい市況であっても、営業支援ユニットの豊富な法人データベースを活用して全業種のアパレル・飲食・サービス・物販などの店舗展開企業へ網羅的に打診をかけ、今までアプローチできていなかった新規出店ニーズを掘り起こせ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アイドマさんは単純にテレアポをおこなって終わりというわけではなく、データの分析やトークスクリプトの作成などを実施してくれることに大きな魅力を感じました。自社に営業ノウハウがなくても、プロの仕組みを導入することで全国に顧客をつくることが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https://www.aidma-hd.jp/case/zirei-89/</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株式会社OUT RIGGER様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代表1人の限界を突破。地主・資産家へ運用/リーシング提案を自動アプローチ</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不動産相続アーキテクツ株式会社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資産家・地主向け都市部物件運用提案、不動産売却・建築コンサルティング、不動産売買・セミナー運営。</a:t>
            </a:r>
            <a:endParaRPr lang="en-US" sz="950" dirty="0"/>
          </a:p>
        </p:txBody>
      </p:sp>
      <p:sp>
        <p:nvSpPr>
          <p:cNvPr id="10" name="Text 8"/>
          <p:cNvSpPr/>
          <p:nvPr/>
        </p:nvSpPr>
        <p:spPr>
          <a:xfrm>
            <a:off x="585216" y="402336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97680"/>
            <a:ext cx="315137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97680"/>
            <a:ext cx="315137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代表1人体制で運用提案・地主/投資家開拓の限界</a:t>
            </a:r>
            <a:endParaRPr lang="en-US" sz="950" dirty="0"/>
          </a:p>
        </p:txBody>
      </p:sp>
      <p:sp>
        <p:nvSpPr>
          <p:cNvPr id="13" name="Shape 11"/>
          <p:cNvSpPr/>
          <p:nvPr/>
        </p:nvSpPr>
        <p:spPr>
          <a:xfrm>
            <a:off x="585216" y="4645152"/>
            <a:ext cx="381736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645152"/>
            <a:ext cx="381736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高額プロモ費なしでBtoB新規接点を継続創出する体制の欠如</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不動産・建築の知見を持つ代表が独立。自社内に営業マンを抱え込む採用リスクを回避し、アイドマの営業支援ユニットを活用。自分はトスアップされた確度の高いオーナー・事業者からの相談のみに対応する高効率な営業フロー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営業支援ユニット（テレアポ・BtoBアプローチ）を導入し営業アプローチを自動化。代表1人営業の限界を突破して自走型のリモート営業組織を構築し、物件運用提案や売買案件の継続獲得に成功した。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OUT RIGGER様のもう一つの柱「資産家・地主向け都市部物件運用提案や施設側のリーシング支援」の新規顧客開拓に直結します。地主や資産家、物件所有企業に対して、営業支援ユニットで「都市部物件の収益最大化・店舗誘致（リーシング）プラン」を自動アプローチし、優良な物件運用案件を継続的に受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開業してすぐに社員を採用するのはハードルが高いと感じていましたが、外部の仕組みをうまく活用して組織化できないかと考えていました。ママワークスや営業支援の話を聞いたとき『まさにこの仕組みだ』とピンときてすぐお願いしました。理想に近い形を作れたと感じてい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https://www.aidma-hd.jp/case/zirei-260/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株式会社OUT RIGGER様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「待ち」から脱却。全国の多店舗企業・施設へ出店優遇提案を能動的に働きかけ</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ZERO株式会社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オフィス・工場・商業施設等への出店・設置提案（サステナブル無人自販機「ZERO BOX」導入・店舗開発支援）。</a:t>
            </a:r>
            <a:endParaRPr lang="en-US" sz="950" dirty="0"/>
          </a:p>
        </p:txBody>
      </p:sp>
      <p:sp>
        <p:nvSpPr>
          <p:cNvPr id="10" name="Text 8"/>
          <p:cNvSpPr/>
          <p:nvPr/>
        </p:nvSpPr>
        <p:spPr>
          <a:xfrm>
            <a:off x="585216" y="402336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97680"/>
            <a:ext cx="391871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97680"/>
            <a:ext cx="391871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出店・設置意欲ある企業の開拓リソース・テレアポ体制が不足</a:t>
            </a:r>
            <a:endParaRPr lang="en-US" sz="950" dirty="0"/>
          </a:p>
        </p:txBody>
      </p:sp>
      <p:sp>
        <p:nvSpPr>
          <p:cNvPr id="13" name="Shape 11"/>
          <p:cNvSpPr/>
          <p:nvPr/>
        </p:nvSpPr>
        <p:spPr>
          <a:xfrm>
            <a:off x="585216" y="4645152"/>
            <a:ext cx="355676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645152"/>
            <a:ext cx="355676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BtoBの新規出店・設置接点をスピーディに生み出せない</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施設・法人向けに出店・設置ソリューションを展開するベンチャー。営業担当不在の状態からアイドマの営業支援ユニットを導入。特定の働く環境や施設へターゲットを絞り、出店・設置のメリットを訴求するプッシュ型アプローチを展開。新規案件と見込み顧客リストを自動蓄積することに成功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と「セールスユニット」の導入により、オフィス・病院・工場等の施設・法人へ能動的アプローチを実施。大手企業の関連施設等での出店・設置契約を連続獲得し、新規出店・開発アプローチの仕組み化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既存の「待ち」の営業スタイルでは出店企業が集まらない現代において、営業支援ユニットを用いて全国の多店舗展開企業や施設運営主体へ「出店条件の優遇提案」「店舗開発・改装のワンストップ支援」を能動的に働きかけることで、出店検討の波が来ている企業をいち早く捉えて商談化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内に営業担当がいなかったり、リソースが不足している場合は、外部のプロフェッショナルを活用することが最も効率化を図る上で良いと思います。業界や業種に幅広くアプローチでき、テストマーケティングできた点は大きなメリットでした。」</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https://www.aidma-hd.jp/case/zirei-458/</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株式会社OUT RIGGER様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まとめ ─ 店舗開発・出店/リーシング：待ち/飛び込み → 能動的な新規接点創出（Before → After）</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783080"/>
                <a:gridCol w="2651760"/>
                <a:gridCol w="2221992"/>
                <a:gridCol w="251460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株式会社宏企画</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不動産・店舗/物件開発</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飛び込み営業中心から脱却できず／出店・仕入れ・物件開発の新規接点が創出できていない</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Platform（条件合致ターゲットへ自動アプローチ）</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見込みのない訪問を排除、質の高い新規商談を1日1件ペースで安定確保</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東日本サポートセンター株式会社（RE/MAX STELLA）</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不動産・店舗/施設出店支援</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既存顧客・コネクション頼み／出店地を求める法人との継続的な新規接点・ノウハウ不足</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Platform（物件・出店地提案をフックにプッシュ営業＋一次対応代行）</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高品質リストを獲得し初期アプローチを自動化、大口の出店・不動産取引成約を連続獲得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有限会社近江企画</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店舗開発・出店マッチング</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社長1人の飛び込み営業の限界／全国的な出店企業との接点獲得ノウハウ・リソース不足</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Platform（データ分析・スクリプト構築まで一貫支援）</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飛び込みから脱却、全国の店舗展開企業・医療機関と強固なネットワークを獲得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不動産相続アーキテクツ株式会社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資産運用・リーシング提案</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代表1人体制で運用提案・地主/投資家開拓の限界／高額プロモなしのBtoB接点創出の欠如</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営業支援ユニット（テレアポ・BtoBアプローチを自動化）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代表1人営業の限界を突破、自走型組織で物件運用提案・売買案件を継続獲得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ZERO株式会社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出店・設置提案（施設/法人）</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出店・設置意欲ある企業の開拓リソース・テレアポ体制が不足／新規接点をスピーディに生み出せない</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Platform＋セールスユニット（施設・法人へプッシュ営業）</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オフィス・病院・工場等へ能動アプローチ、出店・設置契約を連続獲得し仕組み化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50" b="1" dirty="0">
                <a:solidFill>
                  <a:srgbClr val="16407A"/>
                </a:solidFill>
                <a:latin typeface="Meiryo" pitchFamily="34" charset="0"/>
                <a:ea typeface="Meiryo" pitchFamily="34" charset="-122"/>
                <a:cs typeface="Meiryo" pitchFamily="34" charset="-120"/>
              </a:rPr>
              <a:t>出店検討企業が減少する市況でも、自社の工数を消費することなく、営業支援ユニットで多店舗展開企業や物件所有者との質の高い商談を自動で獲得し、新規接点を継続創出できることを示す実績です。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2026-10-01T00:36:02Z</dcterms:created>
  <dcterms:modified xsi:type="dcterms:W3CDTF">2026-10-01T00:36:02Z</dcterms:modified>
</cp:coreProperties>
</file>