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www.aidma-hd.jp/case/zirei-414/"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www.aidma-hd.jp/case/zirei-130/"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aidma-hd.jp/case/zirei-132/"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www.aidma-hd.jp/case/zirei-278/"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www.aidma-hd.jp/case/zirei-232/"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F5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2F5C"/>
          </a:solidFill>
          <a:ln/>
        </p:spPr>
      </p:sp>
      <p:sp>
        <p:nvSpPr>
          <p:cNvPr id="3" name="Shape 1"/>
          <p:cNvSpPr/>
          <p:nvPr/>
        </p:nvSpPr>
        <p:spPr>
          <a:xfrm>
            <a:off x="9326880" y="-2011680"/>
            <a:ext cx="5029200" cy="5029200"/>
          </a:xfrm>
          <a:prstGeom prst="ellipse">
            <a:avLst/>
          </a:prstGeom>
          <a:solidFill>
            <a:srgbClr val="FFFFFF">
              <a:alpha val="8000"/>
            </a:srgbClr>
          </a:solidFill>
          <a:ln/>
        </p:spPr>
      </p:sp>
      <p:sp>
        <p:nvSpPr>
          <p:cNvPr id="4" name="Shape 2"/>
          <p:cNvSpPr/>
          <p:nvPr/>
        </p:nvSpPr>
        <p:spPr>
          <a:xfrm>
            <a:off x="8595360" y="4023360"/>
            <a:ext cx="3840480" cy="3840480"/>
          </a:xfrm>
          <a:prstGeom prst="ellipse">
            <a:avLst/>
          </a:prstGeom>
          <a:solidFill>
            <a:srgbClr val="FFFFFF">
              <a:alpha val="6000"/>
            </a:srgbClr>
          </a:solidFill>
          <a:ln/>
        </p:spPr>
      </p:sp>
      <p:sp>
        <p:nvSpPr>
          <p:cNvPr id="5" name="Text 3"/>
          <p:cNvSpPr/>
          <p:nvPr/>
        </p:nvSpPr>
        <p:spPr>
          <a:xfrm>
            <a:off x="822960" y="1188720"/>
            <a:ext cx="10607040" cy="365760"/>
          </a:xfrm>
          <a:prstGeom prst="rect">
            <a:avLst/>
          </a:prstGeom>
          <a:noFill/>
          <a:ln/>
        </p:spPr>
        <p:txBody>
          <a:bodyPr wrap="square" rtlCol="0" anchor="ctr"/>
          <a:lstStyle/>
          <a:p>
            <a:pPr indent="0" marL="0">
              <a:buNone/>
            </a:pPr>
            <a:r>
              <a:rPr lang="en-US" sz="1200" b="1" spc="100" kern="0" dirty="0">
                <a:solidFill>
                  <a:srgbClr val="CADCFC"/>
                </a:solidFill>
                <a:latin typeface="Meiryo" pitchFamily="34" charset="0"/>
                <a:ea typeface="Meiryo" pitchFamily="34" charset="-122"/>
                <a:cs typeface="Meiryo" pitchFamily="34" charset="-120"/>
              </a:rPr>
              <a:t>CASE STUDIES ─ 営業支援ユニット × デザイン・印刷・販促クリエイティブ</a:t>
            </a:r>
            <a:endParaRPr lang="en-US" sz="1200" dirty="0"/>
          </a:p>
        </p:txBody>
      </p:sp>
      <p:sp>
        <p:nvSpPr>
          <p:cNvPr id="6" name="Text 4"/>
          <p:cNvSpPr/>
          <p:nvPr/>
        </p:nvSpPr>
        <p:spPr>
          <a:xfrm>
            <a:off x="822960" y="1627632"/>
            <a:ext cx="10789920" cy="1737360"/>
          </a:xfrm>
          <a:prstGeom prst="rect">
            <a:avLst/>
          </a:prstGeom>
          <a:noFill/>
          <a:ln/>
        </p:spPr>
        <p:txBody>
          <a:bodyPr wrap="square" rtlCol="0" anchor="ctr"/>
          <a:lstStyle/>
          <a:p>
            <a:pPr indent="0" marL="0">
              <a:lnSpc>
                <a:spcPct val="110000"/>
              </a:lnSpc>
              <a:buNone/>
            </a:pPr>
            <a:r>
              <a:rPr lang="en-US" sz="3400" b="1" dirty="0">
                <a:solidFill>
                  <a:srgbClr val="FFFFFF"/>
                </a:solidFill>
                <a:latin typeface="Meiryo" pitchFamily="34" charset="0"/>
                <a:ea typeface="Meiryo" pitchFamily="34" charset="-122"/>
                <a:cs typeface="Meiryo" pitchFamily="34" charset="-120"/>
              </a:rPr>
              <a:t>株式会社capi design様</a:t>
            </a:r>
            <a:endParaRPr lang="en-US" sz="3400" dirty="0"/>
          </a:p>
          <a:p>
            <a:pPr indent="0" marL="0">
              <a:lnSpc>
                <a:spcPct val="110000"/>
              </a:lnSpc>
              <a:buNone/>
            </a:pPr>
            <a:r>
              <a:rPr lang="en-US" sz="3200" b="1" dirty="0">
                <a:solidFill>
                  <a:srgbClr val="FFFFFF"/>
                </a:solidFill>
                <a:latin typeface="Meiryo" pitchFamily="34" charset="0"/>
                <a:ea typeface="Meiryo" pitchFamily="34" charset="-122"/>
                <a:cs typeface="Meiryo" pitchFamily="34" charset="-120"/>
              </a:rPr>
              <a:t>提案引用実績 5選</a:t>
            </a:r>
            <a:endParaRPr lang="en-US" sz="3400" dirty="0"/>
          </a:p>
        </p:txBody>
      </p:sp>
      <p:sp>
        <p:nvSpPr>
          <p:cNvPr id="7" name="Text 5"/>
          <p:cNvSpPr/>
          <p:nvPr/>
        </p:nvSpPr>
        <p:spPr>
          <a:xfrm>
            <a:off x="822960" y="3474720"/>
            <a:ext cx="10149840" cy="1188720"/>
          </a:xfrm>
          <a:prstGeom prst="rect">
            <a:avLst/>
          </a:prstGeom>
          <a:noFill/>
          <a:ln/>
        </p:spPr>
        <p:txBody>
          <a:bodyPr wrap="square" rtlCol="0" anchor="ctr"/>
          <a:lstStyle/>
          <a:p>
            <a:pPr indent="0" marL="0">
              <a:lnSpc>
                <a:spcPct val="124000"/>
              </a:lnSpc>
              <a:buNone/>
            </a:pPr>
            <a:r>
              <a:rPr lang="en-US" sz="1250" dirty="0">
                <a:solidFill>
                  <a:srgbClr val="DDE8F6"/>
                </a:solidFill>
                <a:latin typeface="Meiryo" pitchFamily="34" charset="0"/>
                <a:ea typeface="Meiryo" pitchFamily="34" charset="-122"/>
                <a:cs typeface="Meiryo" pitchFamily="34" charset="-120"/>
              </a:rPr>
              <a:t>株式会社capi design様（デザイン・販促・印刷・加工／課題：新規営業・顧客開拓・営業体制の構築）と同じデザイン・印刷・販促クリエイティブ業界で、「制作・加工実務で多忙で営業リソースがない」「紹介頼みから脱却し直請け・高単価な販促デザイン案件を能動獲得したい」を解決した実績を5件厳選しました。</a:t>
            </a:r>
            <a:endParaRPr lang="en-US" sz="1250" dirty="0"/>
          </a:p>
        </p:txBody>
      </p:sp>
      <p:sp>
        <p:nvSpPr>
          <p:cNvPr id="8" name="Shape 6"/>
          <p:cNvSpPr/>
          <p:nvPr/>
        </p:nvSpPr>
        <p:spPr>
          <a:xfrm>
            <a:off x="822960" y="5074920"/>
            <a:ext cx="10515600" cy="0"/>
          </a:xfrm>
          <a:prstGeom prst="line">
            <a:avLst/>
          </a:prstGeom>
          <a:noFill/>
          <a:ln w="12700">
            <a:solidFill>
              <a:srgbClr val="3A5A87"/>
            </a:solidFill>
            <a:prstDash val="solid"/>
          </a:ln>
        </p:spPr>
      </p:sp>
      <p:sp>
        <p:nvSpPr>
          <p:cNvPr id="9" name="Text 7"/>
          <p:cNvSpPr/>
          <p:nvPr/>
        </p:nvSpPr>
        <p:spPr>
          <a:xfrm>
            <a:off x="822960" y="5230368"/>
            <a:ext cx="10607040" cy="320040"/>
          </a:xfrm>
          <a:prstGeom prst="rect">
            <a:avLst/>
          </a:prstGeom>
          <a:noFill/>
          <a:ln/>
        </p:spPr>
        <p:txBody>
          <a:bodyPr wrap="square" rtlCol="0" anchor="ctr"/>
          <a:lstStyle/>
          <a:p>
            <a:pPr indent="0" marL="0">
              <a:buNone/>
            </a:pPr>
            <a:r>
              <a:rPr lang="en-US" sz="1050" b="1" dirty="0">
                <a:solidFill>
                  <a:srgbClr val="CADCFC"/>
                </a:solidFill>
                <a:latin typeface="Meiryo" pitchFamily="34" charset="0"/>
                <a:ea typeface="Meiryo" pitchFamily="34" charset="-122"/>
                <a:cs typeface="Meiryo" pitchFamily="34" charset="-120"/>
              </a:rPr>
              <a:t>提案の狙い　</a:t>
            </a:r>
            <a:pPr indent="0" marL="0">
              <a:buNone/>
            </a:pPr>
            <a:r>
              <a:rPr lang="en-US" sz="1050" dirty="0">
                <a:solidFill>
                  <a:srgbClr val="C9D8ED"/>
                </a:solidFill>
                <a:latin typeface="Meiryo" pitchFamily="34" charset="0"/>
                <a:ea typeface="Meiryo" pitchFamily="34" charset="-122"/>
                <a:cs typeface="Meiryo" pitchFamily="34" charset="-120"/>
              </a:rPr>
              <a:t>制作・加工に専念したまま直請けBtoB商談を能動獲得／紹介頼みから脱却／大手・中堅企業の販促・広報部門への直接開拓を自動化</a:t>
            </a:r>
            <a:endParaRPr lang="en-US" sz="1050" dirty="0"/>
          </a:p>
        </p:txBody>
      </p:sp>
      <p:sp>
        <p:nvSpPr>
          <p:cNvPr id="10" name="Text 8"/>
          <p:cNvSpPr/>
          <p:nvPr/>
        </p:nvSpPr>
        <p:spPr>
          <a:xfrm>
            <a:off x="822960" y="5577840"/>
            <a:ext cx="10607040" cy="320040"/>
          </a:xfrm>
          <a:prstGeom prst="rect">
            <a:avLst/>
          </a:prstGeom>
          <a:noFill/>
          <a:ln/>
        </p:spPr>
        <p:txBody>
          <a:bodyPr wrap="square" rtlCol="0" anchor="ctr"/>
          <a:lstStyle/>
          <a:p>
            <a:pPr indent="0" marL="0">
              <a:buNone/>
            </a:pPr>
            <a:r>
              <a:rPr lang="en-US" sz="1100" b="1" dirty="0">
                <a:solidFill>
                  <a:srgbClr val="CADCFC"/>
                </a:solidFill>
                <a:latin typeface="Meiryo" pitchFamily="34" charset="0"/>
                <a:ea typeface="Meiryo" pitchFamily="34" charset="-122"/>
                <a:cs typeface="Meiryo" pitchFamily="34" charset="-120"/>
              </a:rPr>
              <a:t>提供サービス　</a:t>
            </a:r>
            <a:pPr indent="0" marL="0">
              <a:buNone/>
            </a:pPr>
            <a:r>
              <a:rPr lang="en-US" sz="1100" dirty="0">
                <a:solidFill>
                  <a:srgbClr val="C9D8ED"/>
                </a:solidFill>
                <a:latin typeface="Meiryo" pitchFamily="34" charset="0"/>
                <a:ea typeface="Meiryo" pitchFamily="34" charset="-122"/>
                <a:cs typeface="Meiryo" pitchFamily="34" charset="-120"/>
              </a:rPr>
              <a:t>営業支援ユニット（Sales Platform・セールスユニット連携）</a:t>
            </a:r>
            <a:endParaRPr lang="en-US" sz="1100" dirty="0"/>
          </a:p>
        </p:txBody>
      </p:sp>
      <p:sp>
        <p:nvSpPr>
          <p:cNvPr id="11" name="Text 9"/>
          <p:cNvSpPr/>
          <p:nvPr/>
        </p:nvSpPr>
        <p:spPr>
          <a:xfrm>
            <a:off x="822960" y="6071616"/>
            <a:ext cx="7315200" cy="320040"/>
          </a:xfrm>
          <a:prstGeom prst="rect">
            <a:avLst/>
          </a:prstGeom>
          <a:noFill/>
          <a:ln/>
        </p:spPr>
        <p:txBody>
          <a:bodyPr wrap="square" rtlCol="0" anchor="ctr"/>
          <a:lstStyle/>
          <a:p>
            <a:pPr indent="0" marL="0">
              <a:buNone/>
            </a:pPr>
            <a:r>
              <a:rPr lang="en-US" sz="1100" dirty="0">
                <a:solidFill>
                  <a:srgbClr val="8FA9CC"/>
                </a:solidFill>
                <a:latin typeface="Meiryo" pitchFamily="34" charset="0"/>
                <a:ea typeface="Meiryo" pitchFamily="34" charset="-122"/>
                <a:cs typeface="Meiryo" pitchFamily="34" charset="-120"/>
              </a:rPr>
              <a:t>株式会社アイドマ・ホールディングス</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1</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社長一人の紹介頼みから脱却。5ヵ月でアポ33件・成約率約30%で大型受注5件を獲得</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82296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株式会社ELU　様</a:t>
            </a:r>
            <a:endParaRPr lang="en-US" sz="1300" dirty="0"/>
          </a:p>
        </p:txBody>
      </p:sp>
      <p:sp>
        <p:nvSpPr>
          <p:cNvPr id="8" name="Text 6"/>
          <p:cNvSpPr/>
          <p:nvPr/>
        </p:nvSpPr>
        <p:spPr>
          <a:xfrm>
            <a:off x="585216" y="2615184"/>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834640"/>
            <a:ext cx="3127248" cy="105156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ホームページ企画制作、デザイン・映像制作、販促プロモーション支援、ITインフラ導入支援。</a:t>
            </a:r>
            <a:endParaRPr lang="en-US" sz="950" dirty="0"/>
          </a:p>
        </p:txBody>
      </p:sp>
      <p:sp>
        <p:nvSpPr>
          <p:cNvPr id="10" name="Text 8"/>
          <p:cNvSpPr/>
          <p:nvPr/>
        </p:nvSpPr>
        <p:spPr>
          <a:xfrm>
            <a:off x="585216" y="393192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206240"/>
            <a:ext cx="3267202"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206240"/>
            <a:ext cx="3267202"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社長一人の人脈・紹介頼みで新規開拓の仕組みなし</a:t>
            </a:r>
            <a:endParaRPr lang="en-US" sz="950" dirty="0"/>
          </a:p>
        </p:txBody>
      </p:sp>
      <p:sp>
        <p:nvSpPr>
          <p:cNvPr id="13" name="Shape 11"/>
          <p:cNvSpPr/>
          <p:nvPr/>
        </p:nvSpPr>
        <p:spPr>
          <a:xfrm>
            <a:off x="585216" y="4553712"/>
            <a:ext cx="2615692"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553712"/>
            <a:ext cx="2615692"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リソースの物理的限界で売上が伸び悩み</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デザイン・制作等の実務に追われ営業にリソースを割けなかったため、「Sales Platform」に初期アプローチを完全委託。アイドマが自律的にトークやアプローチを自動化し、質の高い直請け商談のみに社長が対応する体制を構築した。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導入から約5ヵ月でアポイント33件を獲得（うち26件が商談化）。商談からの成約率（受注率）約30％（5件の新規大型受注決定）という非常に高い営業成果を達成。</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株式会社capi design様と同じデザイン・販促・クリエイティブ領域において、「デザインや加工制作の実務で多忙で営業に動けない」という状況を完全に解決するモデルです。営業支援ユニットが新規の法人顧客開拓を自動で行うことで、高単価な直接取引（直請け）の販促・デザイン案件を獲得できま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「正直、タイミングだと思ったら使ってみるのが一番だと思います。そのタイミングだと感じたなら、アイドマさんはおすすめできます。」</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https://www.aidma-hd.jp/case/zirei-414/</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株式会社capi design様　提案引用実績5選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1 / 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2</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営業マンを持たない経営を実現。自社工数ほぼゼロで見込み客33件・多数の資料請求を獲得</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82296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株式会社テイクオーバル　様</a:t>
            </a:r>
            <a:endParaRPr lang="en-US" sz="1300" dirty="0"/>
          </a:p>
        </p:txBody>
      </p:sp>
      <p:sp>
        <p:nvSpPr>
          <p:cNvPr id="8" name="Text 6"/>
          <p:cNvSpPr/>
          <p:nvPr/>
        </p:nvSpPr>
        <p:spPr>
          <a:xfrm>
            <a:off x="585216" y="2615184"/>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834640"/>
            <a:ext cx="3127248" cy="105156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コンテンツデザイン・プロデュース事業、印刷・販促支援、ネットワークソリューション事業。</a:t>
            </a:r>
            <a:endParaRPr lang="en-US" sz="950" dirty="0"/>
          </a:p>
        </p:txBody>
      </p:sp>
      <p:sp>
        <p:nvSpPr>
          <p:cNvPr id="10" name="Text 8"/>
          <p:cNvSpPr/>
          <p:nvPr/>
        </p:nvSpPr>
        <p:spPr>
          <a:xfrm>
            <a:off x="585216" y="393192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206240"/>
            <a:ext cx="1906270"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206240"/>
            <a:ext cx="1906270"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代表と社員1人の少人数体制</a:t>
            </a:r>
            <a:endParaRPr lang="en-US" sz="950" dirty="0"/>
          </a:p>
        </p:txBody>
      </p:sp>
      <p:sp>
        <p:nvSpPr>
          <p:cNvPr id="13" name="Shape 11"/>
          <p:cNvSpPr/>
          <p:nvPr/>
        </p:nvSpPr>
        <p:spPr>
          <a:xfrm>
            <a:off x="585216" y="4553712"/>
            <a:ext cx="3556762"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553712"/>
            <a:ext cx="3556762"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自社内に新規営業（BtoB）のノウハウも架電体制も皆無</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自社営業マンを持たない「持たない経営」を追求。新規アプローチを完全アウトソースし、自社はデザイン・コンテンツ制作・サービス提供実務とお膳立てされた商談の対応のみに専念する「営業プロセスの完全外部化」を確立し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アイドマの「Sales Platform」を導入したことで、見込み客33件、および多数の資料請求という自社工数ほぼゼロでの強力な新規リード・商談を獲得。自前で高額な営業マンを雇用するリスクを回避し、最少リソースで新規BtoB案件を獲得する仕組み作りに成功した。</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少人数体制でデザイン・印刷・加工実務を抱えるcapi design様が、高額な営業社員を自前で雇用することなく、営業支援ユニットを通じて「販促物・デザイン・印刷加工の発注を検討している企業」へ自動アプローチし、効率的に直請け商談を獲得できます。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「優れた技術やサービスがあるならば、営業担当者を雇用するリスクや教育の手間を考えれば、営業活動は最初から仕組みとしてアウトソーシング（外注）するほうが圧倒的にメリットが大きいです。」</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https://www.aidma-hd.jp/case/zirei-130/</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株式会社capi design様　提案引用実績5選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2 / 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3</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制作兼任で営業時間ゼロでも大手・中堅へ直接アプローチ。高単価な直請け案件を次々獲得</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82296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株式会社ゼファクト　様</a:t>
            </a:r>
            <a:endParaRPr lang="en-US" sz="1300" dirty="0"/>
          </a:p>
        </p:txBody>
      </p:sp>
      <p:sp>
        <p:nvSpPr>
          <p:cNvPr id="8" name="Text 6"/>
          <p:cNvSpPr/>
          <p:nvPr/>
        </p:nvSpPr>
        <p:spPr>
          <a:xfrm>
            <a:off x="585216" y="2615184"/>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834640"/>
            <a:ext cx="3127248" cy="105156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Webサイト・デザイン制作、各種クリエイティブ制作、業務システム受託開発。</a:t>
            </a:r>
            <a:endParaRPr lang="en-US" sz="950" dirty="0"/>
          </a:p>
        </p:txBody>
      </p:sp>
      <p:sp>
        <p:nvSpPr>
          <p:cNvPr id="10" name="Text 8"/>
          <p:cNvSpPr/>
          <p:nvPr/>
        </p:nvSpPr>
        <p:spPr>
          <a:xfrm>
            <a:off x="585216" y="393192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206240"/>
            <a:ext cx="3006598"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206240"/>
            <a:ext cx="3006598"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制作・デザイン技術はあるが営業担当が少ない</a:t>
            </a:r>
            <a:endParaRPr lang="en-US" sz="950" dirty="0"/>
          </a:p>
        </p:txBody>
      </p:sp>
      <p:sp>
        <p:nvSpPr>
          <p:cNvPr id="13" name="Shape 11"/>
          <p:cNvSpPr/>
          <p:nvPr/>
        </p:nvSpPr>
        <p:spPr>
          <a:xfrm>
            <a:off x="585216" y="4553712"/>
            <a:ext cx="3527806"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553712"/>
            <a:ext cx="3527806"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大手・中堅企業からの直接受注（直請け）を獲得できず</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クリエイティブ・デザイン制作を行う専門企業。トップが制作現場を兼任しており営業の時間が取れなかったが、ターゲットを大手・中堅企業の適切な部門（マーケティング・販促・広報部門等）に絞り込みアプローチしたことで、直請けの商談窓口を次々と開拓し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「Sales Platform」を導入し、アプローチが届かなかった大手・中堅企業へのBtoBアプローチを実施した結果、アポイント取得率が大幅に向上し、高単価な直請け案件を次々と獲得。</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capi design様が持つデザイン・印刷・加工という技術を、代理店や下請けを介さず「大手・中堅企業の販促・広報・マーケティング担当者」へ直接届けるための手本となります。営業支援ユニットでターゲットを厳選して打診することで、利益率の高い直請け販促デザイン案件を獲得できま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「自社での営業活動には限界があります。アイドマさんは豊富なデータベースとアプローチ後の可視化されたデータがあるため、自社の提供価値を深く理解してくれた確実な商談へスムーズに進めます。」</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https://www.aidma-hd.jp/case/zirei-132/</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株式会社capi design様　提案引用実績5選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3 / 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4</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プロモ・新規開拓のノウハウ不足を外部化。相談・アポ数が急増し継続獲得ルートを確立</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82296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一般社団法人日本相続知財センター札幌　様</a:t>
            </a:r>
            <a:endParaRPr lang="en-US" sz="1300" dirty="0"/>
          </a:p>
        </p:txBody>
      </p:sp>
      <p:sp>
        <p:nvSpPr>
          <p:cNvPr id="8" name="Text 6"/>
          <p:cNvSpPr/>
          <p:nvPr/>
        </p:nvSpPr>
        <p:spPr>
          <a:xfrm>
            <a:off x="585216" y="2615184"/>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834640"/>
            <a:ext cx="3127248" cy="105156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販促・広報プロモーション、Web・デザイン制作、情報提供サービス。</a:t>
            </a:r>
            <a:endParaRPr lang="en-US" sz="950" dirty="0"/>
          </a:p>
        </p:txBody>
      </p:sp>
      <p:sp>
        <p:nvSpPr>
          <p:cNvPr id="10" name="Text 8"/>
          <p:cNvSpPr/>
          <p:nvPr/>
        </p:nvSpPr>
        <p:spPr>
          <a:xfrm>
            <a:off x="585216" y="393192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206240"/>
            <a:ext cx="3947668"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206240"/>
            <a:ext cx="3947668"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BtoB新規開拓・プロモーションのノウハウ・人的リソース不足</a:t>
            </a:r>
            <a:endParaRPr lang="en-US" sz="950" dirty="0"/>
          </a:p>
        </p:txBody>
      </p:sp>
      <p:sp>
        <p:nvSpPr>
          <p:cNvPr id="13" name="Shape 11"/>
          <p:cNvSpPr/>
          <p:nvPr/>
        </p:nvSpPr>
        <p:spPr>
          <a:xfrm>
            <a:off x="585216" y="4553712"/>
            <a:ext cx="3006598"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553712"/>
            <a:ext cx="3006598"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見込み客・提携先へ効率的にアプローチできず</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新規のプロモーション・アプローチを強化するため導入。自社のリソースを消費せず、プロの営業アプローチによってターゲット企業へダイレクトアプローチを実施。質の高い問い合わせとアポイントを連続獲得し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営業支援ユニット（BtoBアプローチ・テレアポ）とプロモーションの仕組みを導入。ターゲット企業やアライアンス先からの相談・アポイント数が急増し、継続的な案件獲得ルートを確立した。</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capi design様が「自社のデザイン制作や加工実務」に集中しながら、営業支援ユニットを通じてデザイン・販促・印刷ニーズのある企業へ能動的に働きかけ、新規案件を自動創出する参考となります。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「外部の営業仕組みを導入できれば、自分の時間を本来力を注ぐべき部分（クリエイティブ・デザイン制作・経営戦略）に持っていけるようになります。」</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https://www.aidma-hd.jp/case/zirei-278/</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株式会社capi design様　提案引用実績5選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4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5</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デザイン性の高い商品のBtoB販路開拓を自動化。現場負担を削減しつつ新規取引先を拡大</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82296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日商デリカ株式会社　様</a:t>
            </a:r>
            <a:endParaRPr lang="en-US" sz="1300" dirty="0"/>
          </a:p>
        </p:txBody>
      </p:sp>
      <p:sp>
        <p:nvSpPr>
          <p:cNvPr id="8" name="Text 6"/>
          <p:cNvSpPr/>
          <p:nvPr/>
        </p:nvSpPr>
        <p:spPr>
          <a:xfrm>
            <a:off x="585216" y="2615184"/>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834640"/>
            <a:ext cx="3127248" cy="105156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高付加価値商品の企画・デザイン・製造・BtoB販売。</a:t>
            </a:r>
            <a:endParaRPr lang="en-US" sz="950" dirty="0"/>
          </a:p>
        </p:txBody>
      </p:sp>
      <p:sp>
        <p:nvSpPr>
          <p:cNvPr id="10" name="Text 8"/>
          <p:cNvSpPr/>
          <p:nvPr/>
        </p:nvSpPr>
        <p:spPr>
          <a:xfrm>
            <a:off x="585216" y="393192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206240"/>
            <a:ext cx="4338574"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206240"/>
            <a:ext cx="4338574"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デザイン性・付加価値の高い商品のBtoB販路・新規開拓リソース不足</a:t>
            </a:r>
            <a:endParaRPr lang="en-US" sz="950" dirty="0"/>
          </a:p>
        </p:txBody>
      </p:sp>
      <p:sp>
        <p:nvSpPr>
          <p:cNvPr id="13" name="Shape 11"/>
          <p:cNvSpPr/>
          <p:nvPr/>
        </p:nvSpPr>
        <p:spPr>
          <a:xfrm>
            <a:off x="585216" y="4553712"/>
            <a:ext cx="2485390"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553712"/>
            <a:ext cx="2485390"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新規アプローチにパワーを集中できず</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商品企画やデザイン加工を手がける同社が、人手不足の中で新規販路拡大を推進するため導入。初期アプローチを仕組み化・外部化することで、社内メンバーがデザイン開発や質の高い商談に専念できる体制を構築し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外部の営業支援仕組み（Sales Platform等）を活用し、アプローチ業務を自動化・効率化。現場の負担を大幅に削減しながら、新規BtoB取引先の獲得と案件拡大を達成した。</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capi design様のように「デザイン・加工・印刷という現場実務」で多忙な企業が、営業リソース不足を解消して新規顧客を増やすための最適事例です。初期アプローチを営業支援ユニットに任せることで、capi design様はデザイン制作と加工クオリティの追求に専念したまま直契約案件を増やせます。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「社内の限られたリソースだけで営業や販路拡大の全てを抱え込むのではなく、外部の仕組みを上手に活用して、未来に向けた重要度の高いコア業務にパワーを集中させることが成長への鍵となります。」</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https://www.aidma-hd.jp/case/zirei-232/</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株式会社capi design様　提案引用実績5選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5 / 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749808"/>
          </a:xfrm>
          <a:prstGeom prst="roundRect">
            <a:avLst>
              <a:gd name="adj" fmla="val 7317"/>
            </a:avLst>
          </a:prstGeom>
          <a:solidFill>
            <a:srgbClr val="16407A"/>
          </a:solidFill>
          <a:ln/>
        </p:spPr>
      </p:sp>
      <p:sp>
        <p:nvSpPr>
          <p:cNvPr id="3" name="Text 1"/>
          <p:cNvSpPr/>
          <p:nvPr/>
        </p:nvSpPr>
        <p:spPr>
          <a:xfrm>
            <a:off x="640080" y="365760"/>
            <a:ext cx="10972800" cy="749808"/>
          </a:xfrm>
          <a:prstGeom prst="rect">
            <a:avLst/>
          </a:prstGeom>
          <a:noFill/>
          <a:ln/>
        </p:spPr>
        <p:txBody>
          <a:bodyPr wrap="square" lIns="0" tIns="0" rIns="0" bIns="0" rtlCol="0" anchor="ctr"/>
          <a:lstStyle/>
          <a:p>
            <a:pPr indent="0" marL="0">
              <a:buNone/>
            </a:pPr>
            <a:r>
              <a:rPr lang="en-US" sz="1300" b="1" dirty="0">
                <a:solidFill>
                  <a:srgbClr val="FFFFFF"/>
                </a:solidFill>
                <a:latin typeface="Meiryo" pitchFamily="34" charset="0"/>
                <a:ea typeface="Meiryo" pitchFamily="34" charset="-122"/>
                <a:cs typeface="Meiryo" pitchFamily="34" charset="-120"/>
              </a:rPr>
              <a:t>まとめ ─ デザイン・印刷・販促：制作多忙/紹介依存 → 直請けBtoB案件を自動獲得（Before → After）</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65760" y="1316736"/>
          <a:ext cx="11457432" cy="914400"/>
        </p:xfrm>
        <a:graphic>
          <a:graphicData uri="http://schemas.openxmlformats.org/drawingml/2006/table">
            <a:tbl>
              <a:tblPr/>
              <a:tblGrid>
                <a:gridCol w="2286000"/>
                <a:gridCol w="1828800"/>
                <a:gridCol w="2651760"/>
                <a:gridCol w="2176272"/>
                <a:gridCol w="2514600"/>
              </a:tblGrid>
              <a:tr h="365760">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企業名</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業種</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Before（課題）</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導入した支援</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After（成果）</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株式会社ELU</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HP制作・デザイン映像・販促プロモ</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社長一人の人脈・紹介頼みで新規開拓の仕組みなし／売上が伸び悩み</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Sales Platform（初期アプローチを完全委託・自動化）</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5ヵ月でアポ33件（26件商談化）、成約率約30%で大型受注5件を獲得</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株式会社テイクオーバル</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コンテンツデザイン・印刷販促</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代表＋社員1人の少人数体制／新規営業のノウハウも架電体制も皆無</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Sales Platform（新規アプローチを完全アウトソース）</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自社工数ほぼゼロで見込み客33件・多数の資料請求を獲得、雇用リスクを回避</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株式会社ゼファクト</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Web・デザイン制作／受託開発</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トップが制作兼任で営業時間が取れず／大手・中堅からの直請けを獲得できず</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Sales Platform（大手・中堅の販促/広報/マーケ部門へ厳選アプローチ）</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アポイント取得率が大幅向上、高単価な直請け案件を次々獲得</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一般社団法人日本相続知財センター札幌</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販促・広報プロモ／Web・デザイン制作</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BtoB新規開拓・プロモのノウハウ・人的リソース不足／効率的にアプローチできず</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営業支援ユニット（BtoBアプローチ・テレアポ＋プロモの仕組み）</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相談・アポイント数が急増、継続的な案件獲得ルートを確立</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日商デリカ株式会社</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企画・デザイン・製造／BtoB販売</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付加価値商品のBtoB販路・新規開拓リソース不足／アプローチに集中できず</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Sales Platform等（初期アプローチを自動化・外部化）</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現場負担を大幅削減しつつ新規BtoB取引先の獲得と案件拡大を達成</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r>
            </a:tbl>
          </a:graphicData>
        </a:graphic>
      </p:graphicFrame>
      <p:sp>
        <p:nvSpPr>
          <p:cNvPr id="5" name="Shape 2"/>
          <p:cNvSpPr/>
          <p:nvPr/>
        </p:nvSpPr>
        <p:spPr>
          <a:xfrm>
            <a:off x="365760" y="6089904"/>
            <a:ext cx="11457432" cy="548640"/>
          </a:xfrm>
          <a:prstGeom prst="roundRect">
            <a:avLst>
              <a:gd name="adj" fmla="val 8333"/>
            </a:avLst>
          </a:prstGeom>
          <a:solidFill>
            <a:srgbClr val="EAF1FA"/>
          </a:solidFill>
          <a:ln w="12700">
            <a:solidFill>
              <a:srgbClr val="C6D8EF"/>
            </a:solidFill>
            <a:prstDash val="solid"/>
          </a:ln>
        </p:spPr>
      </p:sp>
      <p:sp>
        <p:nvSpPr>
          <p:cNvPr id="6" name="Text 3"/>
          <p:cNvSpPr/>
          <p:nvPr/>
        </p:nvSpPr>
        <p:spPr>
          <a:xfrm>
            <a:off x="566928" y="6089904"/>
            <a:ext cx="11064240" cy="548640"/>
          </a:xfrm>
          <a:prstGeom prst="rect">
            <a:avLst/>
          </a:prstGeom>
          <a:noFill/>
          <a:ln/>
        </p:spPr>
        <p:txBody>
          <a:bodyPr wrap="square" lIns="0" tIns="0" rIns="0" bIns="0" rtlCol="0" anchor="ctr"/>
          <a:lstStyle/>
          <a:p>
            <a:pPr indent="0" marL="0">
              <a:buNone/>
            </a:pPr>
            <a:r>
              <a:rPr lang="en-US" sz="1050" b="1" dirty="0">
                <a:solidFill>
                  <a:srgbClr val="16407A"/>
                </a:solidFill>
                <a:latin typeface="Meiryo" pitchFamily="34" charset="0"/>
                <a:ea typeface="Meiryo" pitchFamily="34" charset="-122"/>
                <a:cs typeface="Meiryo" pitchFamily="34" charset="-120"/>
              </a:rPr>
              <a:t>デザイン・加工・印刷の現場実務に専念したまま、自社の稼働を消費せずに営業支援ユニットで直請け・高単価なBtoB販促デザイン案件を能動的に獲得できることを示す、デザイン・印刷・販促業界の実績です。</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2026-10-05T16:31:00Z</dcterms:created>
  <dcterms:modified xsi:type="dcterms:W3CDTF">2026-10-05T16:31:00Z</dcterms:modified>
</cp:coreProperties>
</file>