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aidma-hd.jp/case/zirei-306/"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aidma-hd.jp/case/zirei-284/"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aidma-hd.jp/case/zirei-389/"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aidma-hd.jp/case/zirei-413/"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aidma-hd.jp/case/zirei-130/"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F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2F5C"/>
          </a:solidFill>
          <a:ln/>
        </p:spPr>
      </p:sp>
      <p:sp>
        <p:nvSpPr>
          <p:cNvPr id="3" name="Shape 1"/>
          <p:cNvSpPr/>
          <p:nvPr/>
        </p:nvSpPr>
        <p:spPr>
          <a:xfrm>
            <a:off x="9326880" y="-2011680"/>
            <a:ext cx="5029200" cy="5029200"/>
          </a:xfrm>
          <a:prstGeom prst="ellipse">
            <a:avLst/>
          </a:prstGeom>
          <a:solidFill>
            <a:srgbClr val="FFFFFF">
              <a:alpha val="8000"/>
            </a:srgbClr>
          </a:solidFill>
          <a:ln/>
        </p:spPr>
      </p:sp>
      <p:sp>
        <p:nvSpPr>
          <p:cNvPr id="4" name="Shape 2"/>
          <p:cNvSpPr/>
          <p:nvPr/>
        </p:nvSpPr>
        <p:spPr>
          <a:xfrm>
            <a:off x="8595360" y="4023360"/>
            <a:ext cx="3840480" cy="3840480"/>
          </a:xfrm>
          <a:prstGeom prst="ellipse">
            <a:avLst/>
          </a:prstGeom>
          <a:solidFill>
            <a:srgbClr val="FFFFFF">
              <a:alpha val="6000"/>
            </a:srgbClr>
          </a:solidFill>
          <a:ln/>
        </p:spPr>
      </p:sp>
      <p:sp>
        <p:nvSpPr>
          <p:cNvPr id="5" name="Text 3"/>
          <p:cNvSpPr/>
          <p:nvPr/>
        </p:nvSpPr>
        <p:spPr>
          <a:xfrm>
            <a:off x="822960" y="1188720"/>
            <a:ext cx="10789920" cy="365760"/>
          </a:xfrm>
          <a:prstGeom prst="rect">
            <a:avLst/>
          </a:prstGeom>
          <a:noFill/>
          <a:ln/>
        </p:spPr>
        <p:txBody>
          <a:bodyPr wrap="square" rtlCol="0" anchor="ctr"/>
          <a:lstStyle/>
          <a:p>
            <a:pPr indent="0" marL="0">
              <a:buNone/>
            </a:pPr>
            <a:r>
              <a:rPr lang="en-US" sz="1150" b="1" spc="100" kern="0" dirty="0">
                <a:solidFill>
                  <a:srgbClr val="CADCFC"/>
                </a:solidFill>
                <a:latin typeface="Meiryo" pitchFamily="34" charset="0"/>
                <a:ea typeface="Meiryo" pitchFamily="34" charset="-122"/>
                <a:cs typeface="Meiryo" pitchFamily="34" charset="-120"/>
              </a:rPr>
              <a:t>CASE STUDIES ─ 営業支援ユニット × 企業向け研修・金融/労務・福利厚生</a:t>
            </a:r>
            <a:endParaRPr lang="en-US" sz="1150" dirty="0"/>
          </a:p>
        </p:txBody>
      </p:sp>
      <p:sp>
        <p:nvSpPr>
          <p:cNvPr id="6" name="Text 4"/>
          <p:cNvSpPr/>
          <p:nvPr/>
        </p:nvSpPr>
        <p:spPr>
          <a:xfrm>
            <a:off x="822960" y="1627632"/>
            <a:ext cx="10789920" cy="1737360"/>
          </a:xfrm>
          <a:prstGeom prst="rect">
            <a:avLst/>
          </a:prstGeom>
          <a:noFill/>
          <a:ln/>
        </p:spPr>
        <p:txBody>
          <a:bodyPr wrap="square" rtlCol="0" anchor="ctr"/>
          <a:lstStyle/>
          <a:p>
            <a:pPr indent="0" marL="0">
              <a:lnSpc>
                <a:spcPct val="110000"/>
              </a:lnSpc>
              <a:buNone/>
            </a:pPr>
            <a:r>
              <a:rPr lang="en-US" sz="3400" b="1" dirty="0">
                <a:solidFill>
                  <a:srgbClr val="FFFFFF"/>
                </a:solidFill>
                <a:latin typeface="Meiryo" pitchFamily="34" charset="0"/>
                <a:ea typeface="Meiryo" pitchFamily="34" charset="-122"/>
                <a:cs typeface="Meiryo" pitchFamily="34" charset="-120"/>
              </a:rPr>
              <a:t>合同会社Good Loop様</a:t>
            </a:r>
            <a:endParaRPr lang="en-US" sz="3400" dirty="0"/>
          </a:p>
          <a:p>
            <a:pPr indent="0" marL="0">
              <a:lnSpc>
                <a:spcPct val="110000"/>
              </a:lnSpc>
              <a:buNone/>
            </a:pPr>
            <a:r>
              <a:rPr lang="en-US" sz="3200" b="1" dirty="0">
                <a:solidFill>
                  <a:srgbClr val="FFFFFF"/>
                </a:solidFill>
                <a:latin typeface="Meiryo" pitchFamily="34" charset="0"/>
                <a:ea typeface="Meiryo" pitchFamily="34" charset="-122"/>
                <a:cs typeface="Meiryo" pitchFamily="34" charset="-120"/>
              </a:rPr>
              <a:t>提案引用実績 5選</a:t>
            </a:r>
            <a:endParaRPr lang="en-US" sz="3400" dirty="0"/>
          </a:p>
        </p:txBody>
      </p:sp>
      <p:sp>
        <p:nvSpPr>
          <p:cNvPr id="7" name="Text 5"/>
          <p:cNvSpPr/>
          <p:nvPr/>
        </p:nvSpPr>
        <p:spPr>
          <a:xfrm>
            <a:off x="822960" y="3401568"/>
            <a:ext cx="10241280" cy="1371600"/>
          </a:xfrm>
          <a:prstGeom prst="rect">
            <a:avLst/>
          </a:prstGeom>
          <a:noFill/>
          <a:ln/>
        </p:spPr>
        <p:txBody>
          <a:bodyPr wrap="square" rtlCol="0" anchor="ctr"/>
          <a:lstStyle/>
          <a:p>
            <a:pPr indent="0" marL="0">
              <a:lnSpc>
                <a:spcPct val="120000"/>
              </a:lnSpc>
              <a:buNone/>
            </a:pPr>
            <a:r>
              <a:rPr lang="en-US" sz="1100" dirty="0">
                <a:solidFill>
                  <a:srgbClr val="DDE8F6"/>
                </a:solidFill>
                <a:latin typeface="Meiryo" pitchFamily="34" charset="0"/>
                <a:ea typeface="Meiryo" pitchFamily="34" charset="-122"/>
                <a:cs typeface="Meiryo" pitchFamily="34" charset="-120"/>
              </a:rPr>
              <a:t>合同会社Good Loop様（企業向け社員金融教育セミナー事業／課題：新規BtoB営業・企業の総務/人事/福利厚生部門へのアプローチ・自社HPなし・営業体制不在）と同じ企業向け研修・金融/労務コンサル・福利厚生の領域で、「企業の人事・総務・経営陣へのアプローチ自動化」「無形サービス・セミナーの直請け導入獲得」「HP・営業担当不在での営業自動化」を解決した実績を5件厳選しました。</a:t>
            </a:r>
            <a:endParaRPr lang="en-US" sz="1100" dirty="0"/>
          </a:p>
        </p:txBody>
      </p:sp>
      <p:sp>
        <p:nvSpPr>
          <p:cNvPr id="8" name="Shape 6"/>
          <p:cNvSpPr/>
          <p:nvPr/>
        </p:nvSpPr>
        <p:spPr>
          <a:xfrm>
            <a:off x="822960" y="5102352"/>
            <a:ext cx="10515600" cy="0"/>
          </a:xfrm>
          <a:prstGeom prst="line">
            <a:avLst/>
          </a:prstGeom>
          <a:noFill/>
          <a:ln w="12700">
            <a:solidFill>
              <a:srgbClr val="3A5A87"/>
            </a:solidFill>
            <a:prstDash val="solid"/>
          </a:ln>
        </p:spPr>
      </p:sp>
      <p:sp>
        <p:nvSpPr>
          <p:cNvPr id="9" name="Text 7"/>
          <p:cNvSpPr/>
          <p:nvPr/>
        </p:nvSpPr>
        <p:spPr>
          <a:xfrm>
            <a:off x="822960" y="5248656"/>
            <a:ext cx="10607040" cy="320040"/>
          </a:xfrm>
          <a:prstGeom prst="rect">
            <a:avLst/>
          </a:prstGeom>
          <a:noFill/>
          <a:ln/>
        </p:spPr>
        <p:txBody>
          <a:bodyPr wrap="square" rtlCol="0" anchor="ctr"/>
          <a:lstStyle/>
          <a:p>
            <a:pPr indent="0" marL="0">
              <a:buNone/>
            </a:pPr>
            <a:r>
              <a:rPr lang="en-US" sz="1000" b="1" dirty="0">
                <a:solidFill>
                  <a:srgbClr val="CADCFC"/>
                </a:solidFill>
                <a:latin typeface="Meiryo" pitchFamily="34" charset="0"/>
                <a:ea typeface="Meiryo" pitchFamily="34" charset="-122"/>
                <a:cs typeface="Meiryo" pitchFamily="34" charset="-120"/>
              </a:rPr>
              <a:t>提案の狙い　</a:t>
            </a:r>
            <a:pPr indent="0" marL="0">
              <a:buNone/>
            </a:pPr>
            <a:r>
              <a:rPr lang="en-US" sz="1000" dirty="0">
                <a:solidFill>
                  <a:srgbClr val="C9D8ED"/>
                </a:solidFill>
                <a:latin typeface="Meiryo" pitchFamily="34" charset="0"/>
                <a:ea typeface="Meiryo" pitchFamily="34" charset="-122"/>
                <a:cs typeface="Meiryo" pitchFamily="34" charset="-120"/>
              </a:rPr>
              <a:t>企業の総務・人事・経営陣への金融教育セミナー提案を自動配信／無形サービス・セミナーの直請け導入を獲得／HP・営業担当不在でも新規開拓を自動化</a:t>
            </a:r>
            <a:endParaRPr lang="en-US" sz="1000" dirty="0"/>
          </a:p>
        </p:txBody>
      </p:sp>
      <p:sp>
        <p:nvSpPr>
          <p:cNvPr id="10" name="Text 8"/>
          <p:cNvSpPr/>
          <p:nvPr/>
        </p:nvSpPr>
        <p:spPr>
          <a:xfrm>
            <a:off x="822960" y="5596128"/>
            <a:ext cx="10607040" cy="320040"/>
          </a:xfrm>
          <a:prstGeom prst="rect">
            <a:avLst/>
          </a:prstGeom>
          <a:noFill/>
          <a:ln/>
        </p:spPr>
        <p:txBody>
          <a:bodyPr wrap="square" rtlCol="0" anchor="ctr"/>
          <a:lstStyle/>
          <a:p>
            <a:pPr indent="0" marL="0">
              <a:buNone/>
            </a:pPr>
            <a:r>
              <a:rPr lang="en-US" sz="1100" b="1" dirty="0">
                <a:solidFill>
                  <a:srgbClr val="CADCFC"/>
                </a:solidFill>
                <a:latin typeface="Meiryo" pitchFamily="34" charset="0"/>
                <a:ea typeface="Meiryo" pitchFamily="34" charset="-122"/>
                <a:cs typeface="Meiryo" pitchFamily="34" charset="-120"/>
              </a:rPr>
              <a:t>提供サービス　</a:t>
            </a:r>
            <a:pPr indent="0" marL="0">
              <a:buNone/>
            </a:pPr>
            <a:r>
              <a:rPr lang="en-US" sz="1100" dirty="0">
                <a:solidFill>
                  <a:srgbClr val="C9D8ED"/>
                </a:solidFill>
                <a:latin typeface="Meiryo" pitchFamily="34" charset="0"/>
                <a:ea typeface="Meiryo" pitchFamily="34" charset="-122"/>
                <a:cs typeface="Meiryo" pitchFamily="34" charset="-120"/>
              </a:rPr>
              <a:t>営業支援ユニット（Sales Platform・セールスユニット・Crowd Members連携）</a:t>
            </a:r>
            <a:endParaRPr lang="en-US" sz="1100" dirty="0"/>
          </a:p>
        </p:txBody>
      </p:sp>
      <p:sp>
        <p:nvSpPr>
          <p:cNvPr id="11" name="Text 9"/>
          <p:cNvSpPr/>
          <p:nvPr/>
        </p:nvSpPr>
        <p:spPr>
          <a:xfrm>
            <a:off x="822960" y="6089904"/>
            <a:ext cx="7315200" cy="320040"/>
          </a:xfrm>
          <a:prstGeom prst="rect">
            <a:avLst/>
          </a:prstGeom>
          <a:noFill/>
          <a:ln/>
        </p:spPr>
        <p:txBody>
          <a:bodyPr wrap="square" rtlCol="0" anchor="ctr"/>
          <a:lstStyle/>
          <a:p>
            <a:pPr indent="0" marL="0">
              <a:buNone/>
            </a:pPr>
            <a:r>
              <a:rPr lang="en-US" sz="1100" dirty="0">
                <a:solidFill>
                  <a:srgbClr val="8FA9CC"/>
                </a:solidFill>
                <a:latin typeface="Meiryo" pitchFamily="34" charset="0"/>
                <a:ea typeface="Meiryo" pitchFamily="34" charset="-122"/>
                <a:cs typeface="Meiryo" pitchFamily="34" charset="-120"/>
              </a:rPr>
              <a:t>株式会社アイドマ・ホールディングス</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1</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実務多忙でも営業を自動化。アポ率3.5〜5%・成約率30%で企業向け研修・コンサル商談を創出</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坂本コンサルティング株式会社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企業向け経営コンサルティング、各種研修・講座、事業承継・組織アドバイザリー。</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267202"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26720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コンサル・研修実務に追われ新規開拓の営業が停止</a:t>
            </a:r>
            <a:endParaRPr lang="en-US" sz="950" dirty="0"/>
          </a:p>
        </p:txBody>
      </p:sp>
      <p:sp>
        <p:nvSpPr>
          <p:cNvPr id="13" name="Shape 11"/>
          <p:cNvSpPr/>
          <p:nvPr/>
        </p:nvSpPr>
        <p:spPr>
          <a:xfrm>
            <a:off x="585216" y="4553712"/>
            <a:ext cx="287629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287629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企業の人事・経営陣向けアプローチができず</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一人経営で研修・コンサルティング実務を行っていたため営業活動が困難だったが、「Sales Platform」を導入。アプローチの切り口を言語化し、初期営業を自動化。全国の企業へセミナー・コンサル提案を自動配信できる体制を整えた。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営業支援ユニットの導入により、高いアポイント率（3.5%〜5%）と成約率30%を達成。自社の稼働をかけずに継続的に企業向け研修・コンサルティング商談を創出する体制を確立した。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合同会社Good Loop様が手がける「企業向け社員金融教育セミナー」という無形サービスを、全国の企業の決裁者へ効率的にアプローチし、高い成約率（30%）を維持して導入企業を爆発的に増やすための直接的なモデルとなり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「自分一人では不可能な量の営業活動を達成することができ、費用対効果も抜群です。小規模企業であっても素晴らしい営業の仕組みを構築できます。」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https://www.aidma-hd.jp/case/zirei-306/</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合同会社Good Loop様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1 / 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2</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工数をかけず人事・総務部門へのアプローチを自走化。コア業務に集中したまま新規獲得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主治医のような社会保険労務士法人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企業向け労務コンサルティング、健康経営・福利厚生支援、社員向け教育セミナー。</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4049014"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404901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人事・総務部門向けに福利厚生・健康経営・研修提案を行いたい</a:t>
            </a:r>
            <a:endParaRPr lang="en-US" sz="950" dirty="0"/>
          </a:p>
        </p:txBody>
      </p:sp>
      <p:sp>
        <p:nvSpPr>
          <p:cNvPr id="13" name="Shape 11"/>
          <p:cNvSpPr/>
          <p:nvPr/>
        </p:nvSpPr>
        <p:spPr>
          <a:xfrm>
            <a:off x="585216" y="4553712"/>
            <a:ext cx="352780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52780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社内の営業リソース不足で能動的なアプローチができず</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企業向けサービスを展開する法人。自社で営業担当を抱え込まず、外部の仕組みと専門チームを活用して多角的にアプローチ。コア業務に集中したまま新規顧客を獲得した。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営業支援およびマーケティング自動化により、自社の工数をかけることなくターゲット企業（総務・人事部門等）へのアプローチとアポイント獲得の自走化を達成した。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企業の「福利厚生・社員エンゲージメント向上・資産形成（金融教育）」に関心の高い人事・総務決裁者へ営業支援ユニットでダイレクトにアプローチし、セミナー開催の相談案件を自動創出する際の手本となり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「迷っているなら始めたほうがいいと思います。やりたいと願ってはいても時間やスキルの限界で手を付けられなかったことを実現可能にする人材がそろっています。」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https://www.aidma-hd.jp/case/zirei-284/</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合同会社Good Loop様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2 / 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3</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初期アプローチ・リスト作成を切り出し、関心度の高い企業決裁者との商談に専念し受注増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税理士法人Alchemist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財務・会計コンサルティング、資産運用・金融教育プログラム提供、各種法人支援。</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2094484"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209448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専門知識を持つサービスを提供</a:t>
            </a:r>
            <a:endParaRPr lang="en-US" sz="950" dirty="0"/>
          </a:p>
        </p:txBody>
      </p:sp>
      <p:sp>
        <p:nvSpPr>
          <p:cNvPr id="13" name="Shape 11"/>
          <p:cNvSpPr/>
          <p:nvPr/>
        </p:nvSpPr>
        <p:spPr>
          <a:xfrm>
            <a:off x="585216" y="4553712"/>
            <a:ext cx="417931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417931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新規の法人顧客（経営者・人事総務層）開拓に十分な時間を割けず</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企業向けコンサルティング・金融財務提案を行う法人。初期アプローチやリスト作成を切り出し、関心度の高い企業との商談に注力できる分業体制を確立。新規受注数を大幅に増加させた。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外部の営業支援仕組み（Crowd Members/Sales Platform等）を導入し、営業工数を大幅削減。質の高い企業決裁者との商談にのみ専念できる高効率な体制を構築した。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金融・財務領域の専門知識を活かしたセミナー事業において、自社で1件ずつ営業電話をかけることなく、営業支援ユニットを「自社の営業部隊」として即座に稼働させ、金融教育セミナーの導入意欲が高い企業を自動掘り起こし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「やってみないと分からないことが多いので、『うちの業界では無理だ』と決めつけるのはもったいないです。まずは小さく導入してみて改善を重ねて進めることが重要です。」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https://www.aidma-hd.jp/case/zirei-389/</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合同会社Good Loop様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3 / 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4</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紹介・人脈依存から完全脱却。新規アプローチを仕組み化し複数の法人取引を継続獲得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三栄自動車リース株式会社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企業向けBtoB各種提案、法人向け福利厚生・ソリューション提供。</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136900"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13690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既存の紹介・人脈頼みの営業スタイルからの脱却</a:t>
            </a:r>
            <a:endParaRPr lang="en-US" sz="950" dirty="0"/>
          </a:p>
        </p:txBody>
      </p:sp>
      <p:sp>
        <p:nvSpPr>
          <p:cNvPr id="13" name="Shape 11"/>
          <p:cNvSpPr/>
          <p:nvPr/>
        </p:nvSpPr>
        <p:spPr>
          <a:xfrm>
            <a:off x="585216" y="4553712"/>
            <a:ext cx="4700524"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470052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新規の法人顧客（総務・人事・管理部門等）開拓のリソース・ノウハウ不足</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法人向け各種サービスを展開。自前で新規営業担当を新規雇用するリスクを避け、営業支援ユニットでアプローチを自動化。ターゲットリスト精査から初期打診、オンライン商談設定までを外部化した。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「Sales Platform」および「ママワークス」を導入し、紹介依存から完全脱却。新規アプローチを仕組み化し、複数の新規法人取引を継続獲得できる体制を確立した。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Good Loop様が「自社HPなし・営業マン不在」の状態からでも、企業の総務や人事部門へ「社員向け金融教育セミナー（金融ウェルビーイング・新NISA活用等）」の提案を自動配信し、紹介だけに頼らない新規導入案件を獲得するモデルとなり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「社員を新規営業に直接投入して成果が出ない場合の人件費負担やリスクを考えると、外部の仕組みを活用して能動的な新規開拓体制を構築する方が圧倒的に安全で効果的です。」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https://www.aidma-hd.jp/case/zirei-413/</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合同会社Good Loop様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4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5</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営業マンを持たない経営を実現。自社工数ほぼゼロで見込み客33件・多数の資料請求を獲得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株式会社テイクオーバル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法人向けソリューション・研修プログラム開発、受託プロデュース事業。</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1906270"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190627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代表と社員1人の少人数体制</a:t>
            </a:r>
            <a:endParaRPr lang="en-US" sz="950" dirty="0"/>
          </a:p>
        </p:txBody>
      </p:sp>
      <p:sp>
        <p:nvSpPr>
          <p:cNvPr id="13" name="Shape 11"/>
          <p:cNvSpPr/>
          <p:nvPr/>
        </p:nvSpPr>
        <p:spPr>
          <a:xfrm>
            <a:off x="585216" y="4553712"/>
            <a:ext cx="4599178"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4599178"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新規営業（BtoBアプローチ）のノウハウも体制もなく新規開拓が手つかず</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自社営業マンを持たない「持たない経営」を追求。新規アプローチを完全アウトソースし、自社はセミナー・研修コンテンツの提供実務とお膳立てされた商談の対応のみに専念する「営業プロセスの完全外部化」を確立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アイドマの「Sales Platform」を導入したことで、見込み客33件、および多数の資料請求という自社工数ほぼゼロでの強力な新規リード・商談を獲得。最少リソースで新規BtoB案件を獲得する仕組み作りに成功した。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Good Loop様が金融教育セミナーの講師・コンテンツ開発に100%集中しながら、営業支援ユニットを「外部営業部隊」として活用し、セミナー開催を検討している企業との商談を自動的に獲得する実践例です。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「優れたサービスがあるならば、営業担当者を雇用するリスクや教育の手間を考えれば、営業活動は最初から仕組みとしてアウトソーシング（外注）するほうが圧倒的にメリットが大きいです。」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https://www.aidma-hd.jp/case/zirei-130/</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合同会社Good Loop様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5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749808"/>
          </a:xfrm>
          <a:prstGeom prst="roundRect">
            <a:avLst>
              <a:gd name="adj" fmla="val 7317"/>
            </a:avLst>
          </a:prstGeom>
          <a:solidFill>
            <a:srgbClr val="16407A"/>
          </a:solidFill>
          <a:ln/>
        </p:spPr>
      </p:sp>
      <p:sp>
        <p:nvSpPr>
          <p:cNvPr id="3" name="Text 1"/>
          <p:cNvSpPr/>
          <p:nvPr/>
        </p:nvSpPr>
        <p:spPr>
          <a:xfrm>
            <a:off x="640080" y="365760"/>
            <a:ext cx="10972800" cy="749808"/>
          </a:xfrm>
          <a:prstGeom prst="rect">
            <a:avLst/>
          </a:prstGeom>
          <a:noFill/>
          <a:ln/>
        </p:spPr>
        <p:txBody>
          <a:bodyPr wrap="square" lIns="0" tIns="0" rIns="0" bIns="0" rtlCol="0" anchor="ctr"/>
          <a:lstStyle/>
          <a:p>
            <a:pPr indent="0" marL="0">
              <a:buNone/>
            </a:pPr>
            <a:r>
              <a:rPr lang="en-US" sz="1200" b="1" dirty="0">
                <a:solidFill>
                  <a:srgbClr val="FFFFFF"/>
                </a:solidFill>
                <a:latin typeface="Meiryo" pitchFamily="34" charset="0"/>
                <a:ea typeface="Meiryo" pitchFamily="34" charset="-122"/>
                <a:cs typeface="Meiryo" pitchFamily="34" charset="-120"/>
              </a:rPr>
              <a:t>まとめ ─ 企業向け研修・金融/労務：営業不在 → 総務・人事へセミナー提案を自動配信（Before → After）</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316736"/>
          <a:ext cx="11457432" cy="914400"/>
        </p:xfrm>
        <a:graphic>
          <a:graphicData uri="http://schemas.openxmlformats.org/drawingml/2006/table">
            <a:tbl>
              <a:tblPr/>
              <a:tblGrid>
                <a:gridCol w="2286000"/>
                <a:gridCol w="1828800"/>
                <a:gridCol w="2651760"/>
                <a:gridCol w="2176272"/>
                <a:gridCol w="2514600"/>
              </a:tblGrid>
              <a:tr h="365760">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企業名</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業種</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Before（課題）</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導入した支援</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After（成果）</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坂本コンサルティング株式会社</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経営コンサル・研修／事業承継アドバイザリー</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コンサル・研修実務に追われ新規開拓が停止／企業の人事・経営陣向けアプローチができず</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Platform（切り口を言語化し初期営業を自動化）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アポ率3.5〜5%・成約率30%を達成、企業向け研修・コンサル商談を継続創出</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主治医のような社会保険労務士法人</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労務コンサル・健康経営/福利厚生・教育</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人事・総務部門へ福利厚生・健康経営・研修提案を行いたいが営業リソース不足で能動アプローチできず</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営業支援＋マーケティング自動化（総務・人事部門へアプローチ）</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工数をかけず人事・総務部門へのアプローチとアポ獲得を自走化、コア業務に集中したまま新規獲得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税理士法人Alchemist</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財務・会計コンサル／資産運用・金融教育</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専門知識を持つサービスを提供するが新規法人顧客（経営者・人事総務層）開拓に時間を割けず</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Crowd Members／Sales Platform（初期アプローチ・リスト作成を切り出し）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営業工数を大幅削減し企業決裁者との商談に専念、新規受注数を大幅に増加</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三栄自動車リース株式会社</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法人向けBtoB提案・福利厚生ソリューション</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既存の紹介・人脈頼みの営業／新規法人顧客（総務・人事・管理部門）開拓のリソース・ノウハウ不足</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Platform・ママワークス（リスト精査〜初期打診〜商談設定を外部化）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紹介依存から完全脱却、新規アプローチを仕組み化し複数の法人取引を継続獲得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株式会社テイクオーバル</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法人向けソリューション・研修プログラム開発</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代表＋社員1人の少人数体制／新規営業のノウハウも体制もなく新規開拓が手つかず</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Platform（新規アプローチを完全アウトソース）</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自社工数ほぼゼロで見込み客33件・多数の資料請求を獲得、最少リソースで新規BtoB案件の仕組みを構築</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bl>
          </a:graphicData>
        </a:graphic>
      </p:graphicFrame>
      <p:sp>
        <p:nvSpPr>
          <p:cNvPr id="5" name="Shape 2"/>
          <p:cNvSpPr/>
          <p:nvPr/>
        </p:nvSpPr>
        <p:spPr>
          <a:xfrm>
            <a:off x="365760" y="6089904"/>
            <a:ext cx="11457432" cy="548640"/>
          </a:xfrm>
          <a:prstGeom prst="roundRect">
            <a:avLst>
              <a:gd name="adj" fmla="val 8333"/>
            </a:avLst>
          </a:prstGeom>
          <a:solidFill>
            <a:srgbClr val="EAF1FA"/>
          </a:solidFill>
          <a:ln w="12700">
            <a:solidFill>
              <a:srgbClr val="C6D8EF"/>
            </a:solidFill>
            <a:prstDash val="solid"/>
          </a:ln>
        </p:spPr>
      </p:sp>
      <p:sp>
        <p:nvSpPr>
          <p:cNvPr id="6" name="Text 3"/>
          <p:cNvSpPr/>
          <p:nvPr/>
        </p:nvSpPr>
        <p:spPr>
          <a:xfrm>
            <a:off x="566928" y="6089904"/>
            <a:ext cx="11064240" cy="548640"/>
          </a:xfrm>
          <a:prstGeom prst="rect">
            <a:avLst/>
          </a:prstGeom>
          <a:noFill/>
          <a:ln/>
        </p:spPr>
        <p:txBody>
          <a:bodyPr wrap="square" lIns="0" tIns="0" rIns="0" bIns="0" rtlCol="0" anchor="ctr"/>
          <a:lstStyle/>
          <a:p>
            <a:pPr indent="0" marL="0">
              <a:buNone/>
            </a:pPr>
            <a:r>
              <a:rPr lang="en-US" sz="1000" b="1" dirty="0">
                <a:solidFill>
                  <a:srgbClr val="16407A"/>
                </a:solidFill>
                <a:latin typeface="Meiryo" pitchFamily="34" charset="0"/>
                <a:ea typeface="Meiryo" pitchFamily="34" charset="-122"/>
                <a:cs typeface="Meiryo" pitchFamily="34" charset="-120"/>
              </a:rPr>
              <a:t>セミナー開発や講師業務に専念したまま、自社の工数を割かずに営業支援ユニットで企業の総務・人事・経営陣へ金融教育セミナーを自動配信し、無形サービスの直請け導入案件を能動的に獲得できることを示す、企業向け研修・金融/労務領域の実績です。</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2026-10-25T23:56:46Z</dcterms:created>
  <dcterms:modified xsi:type="dcterms:W3CDTF">2026-10-25T23:56:46Z</dcterms:modified>
</cp:coreProperties>
</file>